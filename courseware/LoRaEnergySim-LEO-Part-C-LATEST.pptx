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C 以同一個服務窗口串起佇列、批次、急件、完成期限與端點能量。判讀順序由工作是否完成、期限是否通過、送達資料與端點 J 組成。</a:t>
            </a:r>
          </a:p>
          <a:p/>
          <a:p>
            <a:r>
              <a:t>說法：先指出 lora-energy-lab/student_policy.py、# === LORA EDITABLE: lab-c-batch-urgent ===、BATCH_SIZE = 3、URGENT_MARGIN_S 的當前值與完整 END marker；marker 外 consumer branch 逐字讀出 if observation.urgent_pending and observation.urgent_due_in_s &lt;= URGENT_MARGIN_S:，下一行是 return SEND_URGENT。操作：只改 marked block 內的 URGENT_MARGIN_S 一行，先保存 distinct backup，再以兩種平台命令編輯與 py_compile。預期：py_compile 只回報語法可解析；run 才產生 status、run_id、result_path、artifact_source、claim_boundary 與 endpoint-replay.json。解讀：margin 越大越早進入急件分支，可能增加 endpoint J；service、deadline、action、state、delivery 與 endpoint J 必須一起判讀。復原：命令錯誤、identity 不符或 replay 缺失時保留原 artifact 與原狀態，不把空白資料補成結果。轉場：下一頁沿相同 artifact 讀取欄位，確認唯一改動是否真的改變 action timing 與服務期限。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 student_policy.py 顯示完整 marked block、BATCH_SIZE = 3、URGENT_MARGIN_S = 20 與 marker 外分支入口。這頁只保留 code，避免 branch 卡片遮住 end marker。</a:t>
            </a:r>
          </a:p>
          <a:p/>
          <a:p>
            <a:r>
              <a:t>說法：先指出 lora-energy-lab/student_policy.py、# === LORA EDITABLE: lab-c-batch-urgent ===、BATCH_SIZE = 3、URGENT_MARGIN_S 的當前值與完整 END marker；marker 外 consumer branch 逐字讀出 if observation.urgent_pending and observation.urgent_due_in_s &lt;= URGENT_MARGIN_S:，下一行是 return SEND_URGENT。操作：只改 marked block 內的 URGENT_MARGIN_S 一行，先保存 distinct backup，再以兩種平台命令編輯與 py_compile。預期：py_compile 只回報語法可解析；run 才產生 status、run_id、result_path、artifact_source、claim_boundary 與 endpoint-replay.json。解讀：margin 越大越早進入急件分支，可能增加 endpoint J；service、deadline、action、state、delivery 與 endpoint J 必須一起判讀。復原：命令錯誤、identity 不符或 replay 缺失時保留原 artifact 與原狀態，不把空白資料補成結果。轉場：下一頁沿相同 artifact 讀取欄位，確認唯一改動是否真的改變 action timing 與服務期限。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consumer branch 位於 marked block 外，逐字保留 observation.urgent_pending、observation.urgent_due_in_s 與 SEND_URGENT。窗口、pacing、batch、WAIT 只在 urgent 條件不成立時判讀。</a:t>
            </a:r>
          </a:p>
          <a:p/>
          <a:p>
            <a:r>
              <a:t>說法：先指出 lora-energy-lab/student_policy.py、# === LORA EDITABLE: lab-c-batch-urgent ===、BATCH_SIZE = 3、URGENT_MARGIN_S 的當前值與完整 END marker；marker 外 consumer branch 逐字讀出 if observation.urgent_pending and observation.urgent_due_in_s &lt;= URGENT_MARGIN_S:，下一行是 return SEND_URGENT。操作：只改 marked block 內的 URGENT_MARGIN_S 一行，先保存 distinct backup，再以兩種平台命令編輯與 py_compile。預期：py_compile 只回報語法可解析；run 才產生 status、run_id、result_path、artifact_source、claim_boundary 與 endpoint-replay.json。解讀：margin 越大越早進入急件分支，可能增加 endpoint J；service、deadline、action、state、delivery 與 endpoint J 必須一起判讀。復原：命令錯誤、identity 不符或 replay 缺失時保留原 artifact 與原狀態，不把空白資料補成結果。轉場：下一頁沿相同 artifact 讀取欄位，確認唯一改動是否真的改變 action timing 與服務期限。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baseline 使用原始 policy 建立比較 control，candidate 使用 margin 5 的 policy 產生第二筆 result。每條命令都關聯 result.json、事件 replay 與下一階段的判讀位置。</a:t>
            </a:r>
          </a:p>
          <a:p/>
          <a:p>
            <a:r>
              <a:t>說法：先指出 lora-energy-lab/student_policy.py、# === LORA EDITABLE: lab-c-batch-urgent ===、BATCH_SIZE = 3、URGENT_MARGIN_S 的當前值與完整 END marker；marker 外 consumer branch 逐字讀出 if observation.urgent_pending and observation.urgent_due_in_s &lt;= URGENT_MARGIN_S:，下一行是 return SEND_URGENT。操作：只改 marked block 內的 URGENT_MARGIN_S 一行，先保存 distinct backup，再以兩種平台命令編輯與 py_compile。預期：py_compile 只回報語法可解析；run 才產生 status、run_id、result_path、artifact_source、claim_boundary 與 endpoint-replay.json。解讀：margin 越大越早進入急件分支，可能增加 endpoint J；service、deadline、action、state、delivery 與 endpoint J 必須一起判讀。復原：命令錯誤、identity 不符或 replay 缺失時保留原 artifact 與原狀態，不把空白資料補成結果。轉場：下一頁沿相同 artifact 讀取欄位，確認唯一改動是否真的改變 action timing 與服務期限。baseline｜Windows PowerShell：.\course.cmd run --lab C --case baseline</a:t>
            </a:r>
          </a:p>
          <a:p>
            <a:r>
              <a:t>baseline｜WSL/POSIX：bash course.sh run --lab C --case baseline</a:t>
            </a:r>
          </a:p>
          <a:p>
            <a:r>
              <a:t>candidate｜Windows PowerShell：.\course.cmd run --lab C --case candidate</a:t>
            </a:r>
          </a:p>
          <a:p>
            <a:r>
              <a:t>candidate｜WSL/POSIX：bash course.sh run --lab C --case candidate</a:t>
            </a:r>
          </a:p>
          <a:p>
            <a:r>
              <a:t>讀 stdout 的 status、run_id、result_path、artifact_source、claim_boundary，再以相同 run_id 配對 endpoint-replay.json，接著讀 service、deadline、action、state、endpoint J。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URGENT_MARGIN_S 定義急件距離期限的剩餘秒數門檻；唯一修改由 20 改為 5。修改前後的完整句、具體問題、action timing 與 service 欄位形成同一條因果鏈。</a:t>
            </a:r>
          </a:p>
          <a:p/>
          <a:p>
            <a:r>
              <a:t>說法：先指出 lora-energy-lab/student_policy.py、# === LORA EDITABLE: lab-c-batch-urgent ===、BATCH_SIZE = 3、URGENT_MARGIN_S 的當前值與完整 END marker；marker 外 consumer branch 逐字讀出 if observation.urgent_pending and observation.urgent_due_in_s &lt;= URGENT_MARGIN_S:，下一行是 return SEND_URGENT。操作：只改 marked block 內的 URGENT_MARGIN_S 一行，先保存 distinct backup，再以兩種平台命令編輯與 py_compile。預期：py_compile 只回報語法可解析；run 才產生 status、run_id、result_path、artifact_source、claim_boundary 與 endpoint-replay.json。解讀：margin 越大越早進入急件分支，可能增加 endpoint J；service、deadline、action、state、delivery 與 endpoint J 必須一起判讀。復原：命令錯誤、identity 不符或 replay 缺失時保留原 artifact 與原狀態，不把空白資料補成結果。轉場：下一頁沿相同 artifact 讀取欄位，確認唯一改動是否真的改變 action timing 與服務期限。before：marked block 為 BATCH_SIZE = 3、URGENT_MARGIN_S = 20；after：只改成 URGENT_MARGIN_S = 5；完整 END marker 是 # === LORA END EDITABLE: lab-c-batch-urgent ===。備份／編輯／編譯：cp student_policy.py student_policy.before-C-edit.py；nano student_policy.py；.venv/bin/python -m py_compile student_policy.py；Windows：Copy-Item student_policy.py -Destination student_policy.before-C-edit.py；notepad .\student_policy.py；.\.venv\Scripts\python.exe -m py_compile student_policy.py。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lora-energy-lab/ 根目錄保存 before-C-edit 備份，分列 WSL／POSIX 與 Windows PowerShell 的編輯及 py_compile 命令。py_compile 只檢查語法，run、policy guard、result_path 與 endpoint-replay.json 才驗證行為。</a:t>
            </a:r>
          </a:p>
          <a:p/>
          <a:p>
            <a:r>
              <a:t>說法：先指出 lora-energy-lab/student_policy.py、# === LORA EDITABLE: lab-c-batch-urgent ===、BATCH_SIZE = 3、URGENT_MARGIN_S 的當前值與完整 END marker；marker 外 consumer branch 逐字讀出 if observation.urgent_pending and observation.urgent_due_in_s &lt;= URGENT_MARGIN_S:，下一行是 return SEND_URGENT。操作：只改 marked block 內的 URGENT_MARGIN_S 一行，先保存 distinct backup，再以兩種平台命令編輯與 py_compile。預期：py_compile 只回報語法可解析；run 才產生 status、run_id、result_path、artifact_source、claim_boundary 與 endpoint-replay.json。解讀：margin 越大越早進入急件分支，可能增加 endpoint J；service、deadline、action、state、delivery 與 endpoint J 必須一起判讀。復原：命令錯誤、identity 不符或 replay 缺失時保留原 artifact 與原狀態，不把空白資料補成結果。轉場：下一頁沿相同 artifact 讀取欄位，確認唯一改動是否真的改變 action timing 與服務期限。before：marked block 為 BATCH_SIZE = 3、URGENT_MARGIN_S = 20；after：只改成 URGENT_MARGIN_S = 5；完整 END marker 是 # === LORA END EDITABLE: lab-c-batch-urgent ===。備份／編輯／編譯：cp student_policy.py student_policy.before-C-edit.py；nano student_policy.py；.venv/bin/python -m py_compile student_policy.py；Windows：Copy-Item student_policy.py -Destination student_policy.before-C-edit.py；notepad .\student_policy.py；.\.venv\Scripts\python.exe -m py_compile student_policy.py。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margin 5 的預測連接 action 時點、佇列與封包、服務／期限以及端點 J。每個欄位都標出來源、值型態或單位、作用與 run 後判讀。</a:t>
            </a:r>
          </a:p>
          <a:p/>
          <a:p>
            <a:r>
              <a:t>說法：先指出 lora-energy-lab/student_policy.py、# === LORA EDITABLE: lab-c-batch-urgent ===、BATCH_SIZE = 3、URGENT_MARGIN_S 的當前值與完整 END marker；marker 外 consumer branch 逐字讀出 if observation.urgent_pending and observation.urgent_due_in_s &lt;= URGENT_MARGIN_S:，下一行是 return SEND_URGENT。操作：只改 marked block 內的 URGENT_MARGIN_S 一行，先保存 distinct backup，再以兩種平台命令編輯與 py_compile。預期：py_compile 只回報語法可解析；run 才產生 status、run_id、result_path、artifact_source、claim_boundary 與 endpoint-replay.json。解讀：margin 越大越早進入急件分支，可能增加 endpoint J；service、deadline、action、state、delivery 與 endpoint J 必須一起判讀。復原：命令錯誤、identity 不符或 replay 缺失時保留原 artifact 與原狀態，不把空白資料補成結果。轉場：下一頁沿相同 artifact 讀取欄位，確認唯一改動是否真的改變 action timing 與服務期限。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兩筆 deterministic fallback 來自同一情境與固定 operation contract。服務、期限、送達資料、端點能量與效率都有中文欄名、單位、來源類型與判讀。</a:t>
            </a:r>
          </a:p>
          <a:p/>
          <a:p>
            <a:r>
              <a:t>說法：先指出 lora-energy-lab/student_policy.py、# === LORA EDITABLE: lab-c-batch-urgent ===、BATCH_SIZE = 3、URGENT_MARGIN_S 的當前值與完整 END marker；marker 外 consumer branch 逐字讀出 if observation.urgent_pending and observation.urgent_due_in_s &lt;= URGENT_MARGIN_S:，下一行是 return SEND_URGENT。操作：只改 marked block 內的 URGENT_MARGIN_S 一行，先保存 distinct backup，再以兩種平台命令編輯與 py_compile。預期：py_compile 只回報語法可解析；run 才產生 status、run_id、result_path、artifact_source、claim_boundary 與 endpoint-replay.json。解讀：margin 越大越早進入急件分支，可能增加 endpoint J；service、deadline、action、state、delivery 與 endpoint J 必須一起判讀。復原：命令錯誤、identity 不符或 replay 缺失時保留原 artifact 與原狀態，不把空白資料補成結果。轉場：下一頁沿相同 artifact 讀取欄位，確認唯一改動是否真的改變 action timing 與服務期限。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revision 將門檻由 5 改為 30，保留 candidate 的失敗紀錄並改變 urgent action 的觸發時點。修改前後的完整句與問題連接 deadline、送達資料與端點 J。</a:t>
            </a:r>
          </a:p>
          <a:p/>
          <a:p>
            <a:r>
              <a:t>說法：先指出 lora-energy-lab/student_policy.py、# === LORA EDITABLE: lab-c-batch-urgent ===、BATCH_SIZE = 3、URGENT_MARGIN_S 的當前值與完整 END marker；marker 外 consumer branch 逐字讀出 if observation.urgent_pending and observation.urgent_due_in_s &lt;= URGENT_MARGIN_S:，下一行是 return SEND_URGENT。操作：只改 marked block 內的 URGENT_MARGIN_S 一行，先保存 distinct backup，再以兩種平台命令編輯與 py_compile。預期：py_compile 只回報語法可解析；run 才產生 status、run_id、result_path、artifact_source、claim_boundary 與 endpoint-replay.json。解讀：margin 越大越早進入急件分支，可能增加 endpoint J；service、deadline、action、state、delivery 與 endpoint J 必須一起判讀。復原：命令錯誤、identity 不符或 replay 缺失時保留原 artifact 與原狀態，不把空白資料補成結果。轉場：下一頁沿相同 artifact 讀取欄位，確認唯一改動是否真的改變 action timing 與服務期限。before：URGENT_MARGIN_S = 5；revision after：只改成 URGENT_MARGIN_S = 30，BATCH_SIZE = 3 與兩個 marker 不變。 revision 備份／編輯／編譯：cp student_policy.py student_policy.before-C-revision.py；nano student_policy.py；.venv/bin/python -m py_compile student_policy.py；Windows：Copy-Item student_policy.py -Destination student_policy.before-C-revision.py；notepad .\student_policy.py；.\.venv\Scripts\python.exe -m py_compile student_policy.py。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lora-energy-lab/ 根目錄保存 distinct before-C-revision 備份，分列 WSL／POSIX 與 Windows PowerShell 命令。py_compile 只檢查語法，revision freeze run、policy guard、result_path 與 endpoint-replay.json 驗證行為。</a:t>
            </a:r>
          </a:p>
          <a:p/>
          <a:p>
            <a:r>
              <a:t>說法：先指出 lora-energy-lab/student_policy.py、# === LORA EDITABLE: lab-c-batch-urgent ===、BATCH_SIZE = 3、URGENT_MARGIN_S 的當前值與完整 END marker；marker 外 consumer branch 逐字讀出 if observation.urgent_pending and observation.urgent_due_in_s &lt;= URGENT_MARGIN_S:，下一行是 return SEND_URGENT。操作：只改 marked block 內的 URGENT_MARGIN_S 一行，先保存 distinct backup，再以兩種平台命令編輯與 py_compile。預期：py_compile 只回報語法可解析；run 才產生 status、run_id、result_path、artifact_source、claim_boundary 與 endpoint-replay.json。解讀：margin 越大越早進入急件分支，可能增加 endpoint J；service、deadline、action、state、delivery 與 endpoint J 必須一起判讀。復原：命令錯誤、identity 不符或 replay 缺失時保留原 artifact 與原狀態，不把空白資料補成結果。轉場：下一頁沿相同 artifact 讀取欄位，確認唯一改動是否真的改變 action timing 與服務期限。before：URGENT_MARGIN_S = 5；revision after：只改成 URGENT_MARGIN_S = 30，BATCH_SIZE = 3 與兩個 marker 不變。 revision 備份／編輯／編譯：cp student_policy.py student_policy.before-C-revision.py；nano student_policy.py；.venv/bin/python -m py_compile student_policy.py；Windows：Copy-Item student_policy.py -Destination student_policy.before-C-revision.py；notepad .\student_policy.py；.\.venv\Scripts\python.exe -m py_compile student_policy.py。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margin 30 的預測描述較早 urgent action、required packet、deadline 與端點能量的方向。結果判讀以 service、delivery、state ledger 與 endpoint J 的共同 evidence 定義。</a:t>
            </a:r>
          </a:p>
          <a:p/>
          <a:p>
            <a:r>
              <a:t>說法：先指出 lora-energy-lab/student_policy.py、# === LORA EDITABLE: lab-c-batch-urgent ===、BATCH_SIZE = 3、URGENT_MARGIN_S 的當前值與完整 END marker；marker 外 consumer branch 逐字讀出 if observation.urgent_pending and observation.urgent_due_in_s &lt;= URGENT_MARGIN_S:，下一行是 return SEND_URGENT。操作：只改 marked block 內的 URGENT_MARGIN_S 一行，先保存 distinct backup，再以兩種平台命令編輯與 py_compile。預期：py_compile 只回報語法可解析；run 才產生 status、run_id、result_path、artifact_source、claim_boundary 與 endpoint-replay.json。解讀：margin 越大越早進入急件分支，可能增加 endpoint J；service、deadline、action、state、delivery 與 endpoint J 必須一起判讀。復原：命令錯誤、identity 不符或 replay 缺失時保留原 artifact 與原狀態，不把空白資料補成結果。轉場：下一頁沿相同 artifact 讀取欄位，確認唯一改動是否真的改變 action timing 與服務期限。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第二輪執行 revision 與 surprise；revision 的 policy bytes 維持固定，surprise 使用同一 policy 讀取新的 service condition。每個 result_path 與 replay 都保存為獨立 artifact。</a:t>
            </a:r>
          </a:p>
          <a:p/>
          <a:p>
            <a:r>
              <a:t>說法：先指出 lora-energy-lab/student_policy.py、# === LORA EDITABLE: lab-c-batch-urgent ===、BATCH_SIZE = 3、URGENT_MARGIN_S 的當前值與完整 END marker；marker 外 consumer branch 逐字讀出 if observation.urgent_pending and observation.urgent_due_in_s &lt;= URGENT_MARGIN_S:，下一行是 return SEND_URGENT。操作：只改 marked block 內的 URGENT_MARGIN_S 一行，先保存 distinct backup，再以兩種平台命令編輯與 py_compile。預期：py_compile 只回報語法可解析；run 才產生 status、run_id、result_path、artifact_source、claim_boundary 與 endpoint-replay.json。解讀：margin 越大越早進入急件分支，可能增加 endpoint J；service、deadline、action、state、delivery 與 endpoint J 必須一起判讀。復原：命令錯誤、identity 不符或 replay 缺失時保留原 artifact 與原狀態，不把空白資料補成結果。轉場：下一頁沿相同 artifact 讀取欄位，確認唯一改動是否真的改變 action timing 與服務期限。revision｜Windows PowerShell：.\course.cmd run --lab C --case revision --freeze</a:t>
            </a:r>
          </a:p>
          <a:p>
            <a:r>
              <a:t>revision｜WSL/POSIX：bash course.sh run --lab C --case revision --freeze</a:t>
            </a:r>
          </a:p>
          <a:p>
            <a:r>
              <a:t>surprise｜Windows PowerShell：.\course.cmd run --lab C --case surprise</a:t>
            </a:r>
          </a:p>
          <a:p>
            <a:r>
              <a:t>surprise｜WSL/POSIX：bash course.sh run --lab C --case surprise</a:t>
            </a:r>
          </a:p>
          <a:p>
            <a:r>
              <a:t>讀每筆 stdout 的 status、run_id、result_path、artifact_source、claim_boundary，配對 endpoint-replay.json 後再讀 service、deadline、action、state、endpoint J。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三筆 deterministic fallback 依 service、deadline、delivery 排列。這組 gate 結果提供策略判讀的條件，能量欄位放在下一頁。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result。欄位定位：依頁面標題與可見欄位逐一讀來源、值／單位、作用、成功變化與失敗不變項。操作：先讀左側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endpoint J 與 bit/J 來自同一組固定條件。效率數值描述端點代價，不能替換三筆案例的 service／deadline 狀態。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result。欄位定位：依頁面標題與可見欄位逐一讀來源、值／單位、作用、成功變化與失敗不變項。操作：先讀左側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三筆結果回到同一條 event chain：門檻、action、state、packet、delivery 與 endpoint J。這頁將數值比較還原為可觀察機制。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result。欄位定位：依頁面標題與可見欄位逐一讀來源、值／單位、作用、成功變化與失敗不變項。操作：先讀左側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surprise 保留 margin 30 的 frozen policy，並呈現新的 service condition。2,400 bit、5.41 J、3 次重傳與 3 張逾期封包形成條件式判讀。</a:t>
            </a:r>
          </a:p>
          <a:p/>
          <a:p>
            <a:r>
              <a:t>說法：先指出 lora-energy-lab/student_policy.py、# === LORA EDITABLE: lab-c-batch-urgent ===、BATCH_SIZE = 3、URGENT_MARGIN_S 的當前值與完整 END marker；marker 外 consumer branch 逐字讀出 if observation.urgent_pending and observation.urgent_due_in_s &lt;= URGENT_MARGIN_S:，下一行是 return SEND_URGENT。操作：只改 marked block 內的 URGENT_MARGIN_S 一行，先保存 distinct backup，再以兩種平台命令編輯與 py_compile。預期：py_compile 只回報語法可解析；run 才產生 status、run_id、result_path、artifact_source、claim_boundary 與 endpoint-replay.json。解讀：margin 越大越早進入急件分支，可能增加 endpoint J；service、deadline、action、state、delivery 與 endpoint J 必須一起判讀。復原：命令錯誤、identity 不符或 replay 缺失時保留原 artifact 與原狀態，不把空白資料補成結果。轉場：下一頁沿相同 artifact 讀取欄位，確認唯一改動是否真的改變 action timing 與服務期限。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固定條件下，margin 5、30 與 surprise 的 gate 結果共同界定結論。endpoint J 的比較隨 delivery、deadline 與事件鏈一起解讀。</a:t>
            </a:r>
          </a:p>
          <a:p/>
          <a:p>
            <a:r>
              <a:t>說法：先指出 lora-energy-lab/student_policy.py、# === LORA EDITABLE: lab-c-batch-urgent ===、BATCH_SIZE = 3、URGENT_MARGIN_S 的當前值與完整 END marker；marker 外 consumer branch 逐字讀出 if observation.urgent_pending and observation.urgent_due_in_s &lt;= URGENT_MARGIN_S:，下一行是 return SEND_URGENT。操作：只改 marked block 內的 URGENT_MARGIN_S 一行，先保存 distinct backup，再以兩種平台命令編輯與 py_compile。預期：py_compile 只回報語法可解析；run 才產生 status、run_id、result_path、artifact_source、claim_boundary 與 endpoint-replay.json。解讀：margin 越大越早進入急件分支，可能增加 endpoint J；service、deadline、action、state、delivery 與 endpoint J 必須一起判讀。復原：命令錯誤、identity 不符或 replay 缺失時保留原 artifact 與原狀態，不把空白資料補成結果。轉場：下一頁沿相同 artifact 讀取欄位，確認唯一改動是否真的改變 action timing 與服務期限。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terminal runner 產生 result 與 replay，/course 讀取並驗證 identity，replay 顯示事件，進度備份只保存本機紀錄。READY 只寫 browser-local setup status。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result。欄位定位：terminal runner 產生 result.json 與 replay；課程頁只驗證、重播與保存；進度備份只保存 A／B／C 匯入紀錄與本機存檔點。操作：先讀左側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Lab A capture 顯示 result.json 選擇器與尚未匯入狀態。這張 crop 只記錄目前空狀態；尚未產生 accepted replay 或 endpoint artifact。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result。欄位定位：result.json、units、import state；按鈕先選結果檔，欄位來源是 runner artifact，值與單位待匯入，失敗時原 import state 不變。操作：先讀左側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Lab A 仍要求先選 result.json；目前沒有匯入紀錄。experiment、case、run identity 與 policy lineage 是待核對契約，identity 不配對時目前畫面保持。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result。欄位定位：experiment／case、run identity、policy lineage；來源是 result header 與 receipt，值待匯入，配對失敗時目前畫面保持。操作：先讀左側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Lab A 尚未匯入，故 frame selector 與 current frame 只作欄位契約說明。每欄標出來源、值、作用、成功變化與失敗不變項；沒有 sequence 就不補寫。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result。欄位定位：frame selector、current frame；來源是 endpoint replay，值是 frame identity，作用是固定共同時間點，失敗時原 frame 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八個 replay fields 與 queue／event 的資料責任分開說明。14:12 live capture 沒有 current result，frame identity 或事件值待 result.json 匯入後核對。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result。欄位定位：八欄、queue、event；來源是 endpoint artifact 與 ledger，值待匯入，作用是分頁讀取事件脈絡，失敗時原 event 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進度備份 capture 顯示 A／B／C 匯入紀錄為 0、本機存檔點為 #0、備份格式為 JSON。這是本機進度紀錄，並不會重算 runner result。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result。欄位定位：A／B／C 匯入紀錄、本機存檔點；來源是進度備份，值為 0 與 #0，成功才更新本機 record，並不重算 runner result。操作：先讀左側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來源／角色與復原邊界分開保留資料責任與本機處置。進度備份沒有已保存 runner result；identity 不符時目前紀錄保持。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result。欄位定位：source／role、backup format；來源是本機進度備份，值為來源角色與 JSON，還原失敗時原紀錄保持。操作：先讀左側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進度備份提供下載進度備份與從備份還原。成功才寫入本機紀錄；目前備份內容尚未下載。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result。按鈕定位：下載進度備份、建立本機存檔點；來源是 browser-local progress，成功寫入 JSON 或存檔點，失敗時原進度保持。操作：先讀左側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進度備份提供建立本機存檔點、還原本機存檔點與重設本機進度。這些本機 controls 不重算 runner result。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result。按鈕定位：從備份還原、重設本機進度；來源是 JSON 或 local progress，成功更新本機畫面，失敗時原狀態保持。操作：先讀左側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建立與還原本機存檔點只讀寫進度備份；重設本機進度改變 local state。這些 controls 不改 runner artifact、service gate 或 replay result。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result。狀態定位：下載、建立、還原、重設四種本機進度操作；它們只改 browser-local state，不改 runner artifact、service gate 或 replay result。操作：先讀左側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智慧農場以水位、作物 freshness 與灌溉期限作為 service condition。pump endpoint J 只在服務條件明確後描述；目前未提供 live farm KPI。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result。欄位定位：水位、freshness、灌溉期限與 pump endpoint J；來源是轉移假設，目前未提供 live KPI，先讀 service condition，再解讀端點代價。操作：先讀左側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HVAC 將 urgent branch 對應舒適度、設備保護與尖峰事件。fan／compressor endpoint J 以宣告 scope 保存，沒有現場量測宣稱。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result。欄位定位：舒適度、設備期限與 fan／compressor endpoint J；來源是轉移假設，成功條件是 service 與 deadline，失敗時能源描述不升格。操作：先讀左側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edge inference 將 packet delivery 改為任務 freshness 與完成狀態。edge endpoint Joule 仍跟在 service gate 之後，使用條件式推理。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result。欄位定位：freshness、完成狀態與 edge endpoint Joule；來源是轉移假設，先讀 freshness gate，再讀能源 scope。操作：先讀左側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transfer record 保留 condition、branch、event、service、energy scope 與 claim ceiling。workbook export／reopen 維持 lineage，另開 fresh run 需保持 identity。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result。欄位定位：condition、branch、event、service、energy scope、claim ceiling；來源是 transfer record，成功保留 lineage，失敗時不補結果。操作：先讀左側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Lab A 以 source 與 experiment／case 兩欄說明資料責任與情境配對。目前仍是尚未匯入，不宣稱 accepted upload。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result。欄位定位：source、experiment／case；來源是 result.json 與 header，值待匯入，成功建立 selected state，失敗時 import state 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Lab A 的 import state 與 fallback label 分開說明。尚未匯入與同情境備用各自保留 identity 邊界。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result。欄位定位：import state、fallback label；來源是課程頁 gate 與 README，值為尚未匯入及同情境備用標籤，成功才進 replay，失敗時原 state 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Lab A 沒有 current result。service 與 delivered bits 只說明待匯入欄位契約，值保持待 result.json。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result。欄位定位：service、delivered bits；來源是 result summary 與 endpoint，值待匯入，service 是第一個 gate，失敗時原 record 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Lab A 沒有 current result。endpoint J 與 bit/J 只說明 scope、單位與失敗邊界，不填入數值。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result。欄位定位：endpoint J、bit/J；來源是 endpoint result，單位是 J 與 bit/J，作用是描述端點代價與效率，失敗時不改寫 service。操作：先讀左側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Lab A 尚未匯入。Radio 與 Action 是待 replay 欄位契約，不把列舉值當成目前 frame 結果。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result。欄位定位：Radio、Action；來源是 endpoint replay 與 policy replay，列舉值待匯入，成功更新 frame／event，失敗時原 action 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Lab A 尚未匯入。Queue count 與累積 endpoint J 只說明來源、單位與 frame identity，待 result.json。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result。欄位定位：Queue count、累積 endpoint J；來源是 queue snapshot 與 frame ledger，單位是 packet count 與 J，成功更新同一 frame，失敗時原 queue 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Lab A 尚未匯入。queue item 與 event type 分開說明，事件值待 result.json，不補寫未見事件。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result。欄位定位：queue item、event type；來源是 result queue 與 packet trace，值待匯入，成功配對 service，失敗時原 event 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Lab A 尚未匯入。packet identity 與 delivery state 只定義欄位責任，待配對後才連回 service 與 deadline。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result。欄位定位：packet identity、delivery state；來源是 event ledger 與 service event，成功連回 deadline，失敗時原 identity 與 state 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Lab A 的時間軸尚未載入 sequence。contact 與 quality 只作欄位契約，不捏造 transition。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result。欄位定位：contact、quality；來源是 frame，值為 contact ID／status 與 ordinal band，成功更新欄位，失敗時原 state 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Lab A 尚未匯入。radio state 與 policy branch 待 frame sequence，未知值保持未知。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result。欄位定位：radio state、policy branch；來源是 Radio 與 Action，成功更新 transition，失敗時原 state 與 action 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Lab A 的 execution ledger 尚未建立。experiment／case 與 role 只說明配對契約，案例不符時停止更新。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result。欄位定位：experiment／case、role；來源是 result ledger 與 comparison receipt，成功配對案例，失敗時 selected record 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Lab A 尚未匯入。service／endpoint J 與 source／selected state 只說明 scope，沒有 current result 可升格。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result。欄位定位：service／endpoint J、source／selected state；來源是 result 與 browser-local import state，成功維持 scope，失敗時 terminal record 不改。操作：先讀左側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Evidence capture 顯示真實 Leo scene，但 endpoint replay 區仍為空。scenario metadata 與 endpoint result 分開標示；沒有 replay 就不宣稱結果。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result。欄位定位：Leo scene、scenario input、endpoint result；Evidence 目前只有場景，endpoint replay 空白，沒有 result.json 就不宣稱結果。操作：先讀左側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Evidence capture 只提供 Leo scene 與空 endpoint replay。identity 尚待 result.json 配對；不宣稱 accepted result 或 provider PASS。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result。欄位定位：identity boundary、empty capture；來源是 Evidence scene 與 README，endpoint replay 空白，配對失敗時不宣稱 provider PASS。操作：先讀左側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進度備份的下載 JSON 與建立本機存檔點分開說明。#0、尚未下載保持誠實，成功才更新本機 record。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result。按鈕定位：下載進度備份、建立本機存檔點；來源是 A／B／C 匯入紀錄與 local progress，成功更新 JSON 或 #0，失敗時原紀錄保持。操作：先讀左側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進度備份的從備份還原與目前紀錄分開說明。沒有備份檔時不宣稱可還原。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result。按鈕定位：從備份還原、目前進度紀錄；來源是 JSON 與 browser-local progress，成功更新畫面，失敗時原狀態保持，且不重算 runner result。操作：先讀左側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進度備份的建立／還原本機存檔點分開說明。本機保存點與 runner artifact 分層。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result。按鈕定位：建立本機存檔點、還原本機存檔點；來源是 identity 與 local checkpoint，成功新增或回復 record，失敗時原 progress 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進度備份的重設本機進度與 result boundary 分開說明。重設只改 local progress，不重算 endpoint result。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result。按鈕定位：重設本機進度、result boundary；來源是 local progress 與 runner artifact，重設只改本機紀錄，失敗時原 result 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Lab C 是尚未匯入且沒有 replay 的 empty state。empty import state 與 matching artifact 分開說明，rejection result 尚未出現。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result。欄位定位：empty import state、matching artifact；來源是 Lab C current capture，值為尚未匯入與待配對，成功才回到 record，失敗時原 session 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Lab C 的 same-scenario fallback 與 empty-state boundary 分開說明。未配對時保留原 session。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result。欄位定位：same-scenario fallback、empty-state boundary；來源是 Lab C fallback label，成功更新 selected fallback，失敗時不補 selected result。操作：先讀左側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Prepare capture 顯示目前狀態為尚未記錄；READY 與 fallback source 分開說明。兩個按鈕尚待操作，browser-local state 不等於 terminal receipt。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result。按鈕定位：記錄 READY、記錄備用環境；14:12 live 畫面的目前狀態是尚未記錄，兩個按鈕都尚未操作。記錄 READY 只保存已存在的 terminal READY receipt 到 browser-local progress；它不執行 setup、verify 或 run，也不產生 result.json。記錄備用環境只保存 fallback source，失敗時原狀態保持。操作：先讀左側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Prepare capture 沒有 terminal receipt。install、verify、run、upload 各由自身 receipt 定義，失敗時 browser-local status 保持。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result。欄位定位：terminal receipt、completion boundary；來源是 install／verify／run／upload receipt，成功配對 result_path 與 replay，缺收據時 browser-local status 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Lab A capture 的 global navigation 與 language controls 分開說明。按鈕只改 focus 或 language。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result。按鈕定位：global navigation、繁中／EN；來源是 route 與 language state，成功更新 focus／language，失敗時目前頁面保持。操作：先讀左側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tabs 已改為準備、實驗 A／B／C、證據、進度備份。切頁不重寫 endpoint result。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result。按鈕定位：實驗 A／B／C tabs、endpoint result；切頁只更新 section route，成功顯示新頁，失敗時 current section 保持，切頁不重寫 result。操作：先讀左側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Lab B 是 empty state。fallback loader 與 selected source 分開說明，沒有從空白狀態宣稱 selected result。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result。欄位定位：fallback loader、selected source；來源是 experiment order 與 source list，成功切換 fallback，失敗時原 state 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Lab B 的 identity match 與 empty-state boundary 分開說明。未配對時原 result 保持。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result。欄位定位：identity match、empty-state boundary；來源是 case／run 與 Lab B capture，配對成功才讀 record，失敗時原 result 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進度備份的下載進度備份與建立本機存檔點分開說明。#0、0 筆匯入紀錄保持為 browser-local record。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result。按鈕定位：下載進度備份、建立本機存檔點；來源是 local progress，值為 0 筆與 #0，成功更新本機紀錄，失敗時原紀錄保持。操作：先讀左側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進度備份的從備份還原與重設本機進度分開說明。條件不足時不執行 Python、不重算 replay。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result。按鈕定位：從備份還原、重設本機進度；來源是 JSON 與 browser-local progress，成功更新畫面，失敗時原紀錄保持，不執行 Python。操作：先讀左側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Evidence 有 Leo scene 但 endpoint replay 空白；play 與 pause 只作 replay controls 契約說明。provider cursor identity 保持獨立。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result。按鈕定位：播放結果、暫停重播；來源是 provider frames，值為 playback cursor，成功更新 cursor，失敗時原 cursor 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Evidence 的 endpoint replay 尚未匯入；slider／鄰接畫面與 endpoint selector 分開說明。兩層 frame identity 不混讀。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result。按鈕定位：slider／上一／下一畫面、endpoint selector；來源是 provider frames 與 endpoint frames，成功更新相應 frame，失敗時原 identity 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Lab A 尚未匯入。Elapsed 與 Contact ID 是待 replay 欄位契約，未見 frame 不補值。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result。欄位定位：Elapsed、Contact ID；來源是 trace 與 fallback contact，單位為秒與識別字串，成功跟隨 frame，失敗時原值保持。操作：先讀左側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14:12 live Lab A 尚未匯入。Contact 與 ordinal Quality 是待 replay 欄位契約，Quality 不宣稱 dB 量測。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result。欄位定位：Contact、Quality；來源是 contact state 與 frame quality，值為 open／closed 與 ordinal band，成功更新欄位，失敗時原 frame 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 與 Import controls 讀取 terminal receipt、repository、source 與 identity，成功後更新 browser-local status 或 import state。驗證失敗時原 state 保持。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result。按鈕定位：開啟套件、記錄 READY、記錄備用環境、匯入狀態；成功更新 browser-local status 或 import state，驗證失敗時原 state 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Replay 與進度備份 controls 讀寫 selected frame、cursor、本機存檔點與 lineage。成功後更新對應畫面或 record，失敗時原值保留。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result。按鈕定位：播放／暫停／slider、上一／下一畫面、endpoint selector、下載／還原／存檔點；各自只寫 cursor、frame 或本機 record。操作：先讀左側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controls 讀取 evidence condition，寫入 completion 與 lock。進度備份只保存本機進度與 A／B／C 匯入紀錄，不執行 Python。</a:t>
            </a:r>
          </a:p>
          <a:p/>
          <a:p>
            <a:r>
              <a:t>說法：這是 2026-08-11 14:12 live capture，網址為 http://120.126.151.102:3000/course；目前沒有 accepted result.json，待匯入值維持空白，不能把列舉值說成 current result。按鈕定位：task checkbox、檢查證據並繼續、證據已鎖定、fallback loader；成功更新 completion／focus／lock／source，失敗時原 state 保持。操作：先讀左側 current crop，再按右側欄位或按鈕順序朗讀；每個欄位都說明來源、值／單位、作用、成功變化與失敗不變項。預期：畫面只呈現目前 empty state、Leo scene 或 browser-local progress；成功操作才更新局部 UI，不能改寫 runner artifact。解讀：endpoint result、provider scene 與進度備份分層保存；空 endpoint replay 不升格為 accepted replay。復原：匯入缺失、identity mismatch 或按鈕失敗時保留原 state，回到 README 與 result.json 配對條件。轉場：下一頁繼續相同來源與 claim boundary，先確認資料是否已匯入，再讀下一組欄位。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P064｜Lab C：資料等待、期限與耗能的取捨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Lab C queue timeline"/>
          <p:cNvSpPr/>
          <p:nvPr/>
        </p:nvSpPr>
        <p:spPr>
          <a:xfrm>
            <a:off x="694944" y="1207008"/>
            <a:ext cx="6547104" cy="345643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6" name="Queue timeline heading"/>
          <p:cNvSpPr txBox="1"/>
          <p:nvPr/>
        </p:nvSpPr>
        <p:spPr>
          <a:xfrm>
            <a:off x="914400" y="1408176"/>
            <a:ext cx="6108192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（佇列）中的工作沿 </a:t>
            </a: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window（服務窗口）移動</a:t>
            </a:r>
          </a:p>
        </p:txBody>
      </p:sp>
      <p:cxnSp>
        <p:nvCxnSpPr>
          <p:cNvPr id="7" name="Editable connector"/>
          <p:cNvCxnSpPr/>
          <p:nvPr/>
        </p:nvCxnSpPr>
        <p:spPr>
          <a:xfrm>
            <a:off x="1188720" y="2889504"/>
            <a:ext cx="5522976" cy="0"/>
          </a:xfrm>
          <a:prstGeom prst="line">
            <a:avLst/>
          </a:prstGeom>
          <a:ln w="266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Queue stage marker"/>
          <p:cNvSpPr/>
          <p:nvPr/>
        </p:nvSpPr>
        <p:spPr>
          <a:xfrm>
            <a:off x="1115568" y="2743200"/>
            <a:ext cx="292608" cy="292608"/>
          </a:xfrm>
          <a:prstGeom prst="ellipse">
            <a:avLst/>
          </a:prstGeom>
          <a:solidFill>
            <a:srgbClr val="3D61B9"/>
          </a:solidFill>
          <a:ln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eue stage heading"/>
          <p:cNvSpPr txBox="1"/>
          <p:nvPr/>
        </p:nvSpPr>
        <p:spPr>
          <a:xfrm>
            <a:off x="676656" y="1956816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一般資料</a:t>
            </a:r>
          </a:p>
        </p:txBody>
      </p:sp>
      <p:sp>
        <p:nvSpPr>
          <p:cNvPr id="10" name="Queue stage body"/>
          <p:cNvSpPr txBox="1"/>
          <p:nvPr/>
        </p:nvSpPr>
        <p:spPr>
          <a:xfrm>
            <a:off x="493775" y="3182112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可等待 batch</a:t>
            </a:r>
          </a:p>
        </p:txBody>
      </p:sp>
      <p:sp>
        <p:nvSpPr>
          <p:cNvPr id="11" name="Queue stage marker"/>
          <p:cNvSpPr/>
          <p:nvPr/>
        </p:nvSpPr>
        <p:spPr>
          <a:xfrm>
            <a:off x="2798064" y="2743200"/>
            <a:ext cx="292608" cy="292608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Queue stage heading"/>
          <p:cNvSpPr txBox="1"/>
          <p:nvPr/>
        </p:nvSpPr>
        <p:spPr>
          <a:xfrm>
            <a:off x="2359152" y="1956816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急件</a:t>
            </a:r>
          </a:p>
        </p:txBody>
      </p:sp>
      <p:sp>
        <p:nvSpPr>
          <p:cNvPr id="13" name="Queue stage body"/>
          <p:cNvSpPr txBox="1"/>
          <p:nvPr/>
        </p:nvSpPr>
        <p:spPr>
          <a:xfrm>
            <a:off x="2176272" y="3182112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接近期限</a:t>
            </a:r>
          </a:p>
        </p:txBody>
      </p:sp>
      <p:sp>
        <p:nvSpPr>
          <p:cNvPr id="14" name="Queue stage marker"/>
          <p:cNvSpPr/>
          <p:nvPr/>
        </p:nvSpPr>
        <p:spPr>
          <a:xfrm>
            <a:off x="4498848" y="2743200"/>
            <a:ext cx="292608" cy="292608"/>
          </a:xfrm>
          <a:prstGeom prst="ellipse">
            <a:avLst/>
          </a:prstGeom>
          <a:solidFill>
            <a:srgbClr val="007474"/>
          </a:solidFill>
          <a:ln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Queue stage heading"/>
          <p:cNvSpPr txBox="1"/>
          <p:nvPr/>
        </p:nvSpPr>
        <p:spPr>
          <a:xfrm>
            <a:off x="4059935" y="1956816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送出</a:t>
            </a:r>
          </a:p>
        </p:txBody>
      </p:sp>
      <p:sp>
        <p:nvSpPr>
          <p:cNvPr id="16" name="Queue stage body"/>
          <p:cNvSpPr txBox="1"/>
          <p:nvPr/>
        </p:nvSpPr>
        <p:spPr>
          <a:xfrm>
            <a:off x="3877056" y="3182112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action 產生 packet</a:t>
            </a:r>
          </a:p>
        </p:txBody>
      </p:sp>
      <p:sp>
        <p:nvSpPr>
          <p:cNvPr id="17" name="Queue stage marker"/>
          <p:cNvSpPr/>
          <p:nvPr/>
        </p:nvSpPr>
        <p:spPr>
          <a:xfrm>
            <a:off x="6144768" y="2743200"/>
            <a:ext cx="292608" cy="29260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Queue stage heading"/>
          <p:cNvSpPr txBox="1"/>
          <p:nvPr/>
        </p:nvSpPr>
        <p:spPr>
          <a:xfrm>
            <a:off x="5705856" y="1956816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完成</a:t>
            </a:r>
          </a:p>
        </p:txBody>
      </p:sp>
      <p:sp>
        <p:nvSpPr>
          <p:cNvPr id="19" name="Queue stage body"/>
          <p:cNvSpPr txBox="1"/>
          <p:nvPr/>
        </p:nvSpPr>
        <p:spPr>
          <a:xfrm>
            <a:off x="5522976" y="3182112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判定</a:t>
            </a:r>
          </a:p>
        </p:txBody>
      </p:sp>
      <p:sp>
        <p:nvSpPr>
          <p:cNvPr id="20" name="Lab C deadline definition panel"/>
          <p:cNvSpPr/>
          <p:nvPr/>
        </p:nvSpPr>
        <p:spPr>
          <a:xfrm>
            <a:off x="7479792" y="1207008"/>
            <a:ext cx="4005072" cy="95097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1" name="Lab C deadline definition label"/>
          <p:cNvSpPr txBox="1"/>
          <p:nvPr/>
        </p:nvSpPr>
        <p:spPr>
          <a:xfrm>
            <a:off x="7571231" y="1261872"/>
            <a:ext cx="1225296" cy="8412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deadline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完成期限</a:t>
            </a:r>
          </a:p>
        </p:txBody>
      </p:sp>
      <p:sp>
        <p:nvSpPr>
          <p:cNvPr id="22" name="Lab C deadline definition explanation"/>
          <p:cNvSpPr txBox="1"/>
          <p:nvPr/>
        </p:nvSpPr>
        <p:spPr>
          <a:xfrm>
            <a:off x="8869680" y="1271016"/>
            <a:ext cx="2505456" cy="8229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observation；值 秒；期限通過才算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PASS。</a:t>
            </a:r>
          </a:p>
        </p:txBody>
      </p:sp>
      <p:sp>
        <p:nvSpPr>
          <p:cNvPr id="23" name="Lab C energy definition panel"/>
          <p:cNvSpPr/>
          <p:nvPr/>
        </p:nvSpPr>
        <p:spPr>
          <a:xfrm>
            <a:off x="7479792" y="2322576"/>
            <a:ext cx="4005072" cy="95097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4" name="Lab C energy definition label"/>
          <p:cNvSpPr txBox="1"/>
          <p:nvPr/>
        </p:nvSpPr>
        <p:spPr>
          <a:xfrm>
            <a:off x="7571231" y="2377440"/>
            <a:ext cx="1225296" cy="8412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端點能量</a:t>
            </a:r>
          </a:p>
        </p:txBody>
      </p:sp>
      <p:sp>
        <p:nvSpPr>
          <p:cNvPr id="25" name="Lab C energy definition explanation"/>
          <p:cNvSpPr txBox="1"/>
          <p:nvPr/>
        </p:nvSpPr>
        <p:spPr>
          <a:xfrm>
            <a:off x="8869680" y="2386584"/>
            <a:ext cx="2505456" cy="8229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endpoint scope；值 J；只描述端點代價，不取代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6" name="Lab C causal sentence panel"/>
          <p:cNvSpPr/>
          <p:nvPr/>
        </p:nvSpPr>
        <p:spPr>
          <a:xfrm>
            <a:off x="7479792" y="3493008"/>
            <a:ext cx="4005072" cy="111556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7" name="Lab C causal sentence text"/>
          <p:cNvSpPr txBox="1"/>
          <p:nvPr/>
        </p:nvSpPr>
        <p:spPr>
          <a:xfrm>
            <a:off x="7626096" y="3547872"/>
            <a:ext cx="3712463" cy="10058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因果句：action 改變 packet 完成時點；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定義結果，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描述代價。</a:t>
            </a:r>
          </a:p>
        </p:txBody>
      </p:sp>
      <p:sp>
        <p:nvSpPr>
          <p:cNvPr id="28" name="Lab C question panel"/>
          <p:cNvSpPr/>
          <p:nvPr/>
        </p:nvSpPr>
        <p:spPr>
          <a:xfrm>
            <a:off x="822960" y="4882896"/>
            <a:ext cx="10222992" cy="38404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9" name="Lab C question text"/>
          <p:cNvSpPr txBox="1"/>
          <p:nvPr/>
        </p:nvSpPr>
        <p:spPr>
          <a:xfrm>
            <a:off x="969264" y="4937759"/>
            <a:ext cx="9930384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問題：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bit/J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變高但急件逾期時，先回到哪個 gate？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P065｜原始程式：完整 marked block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1042415"/>
            <a:ext cx="1062532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：exact marked block 與 urgent consumer</a:t>
            </a:r>
          </a:p>
        </p:txBody>
      </p:sp>
      <p:sp>
        <p:nvSpPr>
          <p:cNvPr id="6" name="Original student_policy code panel"/>
          <p:cNvSpPr/>
          <p:nvPr/>
        </p:nvSpPr>
        <p:spPr>
          <a:xfrm>
            <a:off x="694944" y="1078992"/>
            <a:ext cx="10972800" cy="14813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Original student_policy code text"/>
          <p:cNvSpPr txBox="1"/>
          <p:nvPr/>
        </p:nvSpPr>
        <p:spPr>
          <a:xfrm>
            <a:off x="859536" y="1207007"/>
            <a:ext cx="10643616" cy="12252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EDITABLE: lab-c-batch-urgent ===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BATCH_SIZE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3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20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END EDITABLE: lab-c-batch-urgent ===</a:t>
            </a:r>
          </a:p>
        </p:txBody>
      </p:sp>
      <p:sp>
        <p:nvSpPr>
          <p:cNvPr id="8" name="Original urgent branch source panel"/>
          <p:cNvSpPr/>
          <p:nvPr/>
        </p:nvSpPr>
        <p:spPr>
          <a:xfrm>
            <a:off x="694944" y="2724912"/>
            <a:ext cx="10972800" cy="124358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9" name="Original urgent branch source text"/>
          <p:cNvSpPr txBox="1"/>
          <p:nvPr/>
        </p:nvSpPr>
        <p:spPr>
          <a:xfrm>
            <a:off x="859536" y="2852928"/>
            <a:ext cx="10643616" cy="9875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def choose_action(observation):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  if observation.urgent_pending and observation.urgent_due_in_s &lt;=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: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      return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10" name="Original source explanation panel"/>
          <p:cNvSpPr/>
          <p:nvPr/>
        </p:nvSpPr>
        <p:spPr>
          <a:xfrm>
            <a:off x="749808" y="4187952"/>
            <a:ext cx="10552176" cy="65836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1" name="Original source explanation text"/>
          <p:cNvSpPr txBox="1"/>
          <p:nvPr/>
        </p:nvSpPr>
        <p:spPr>
          <a:xfrm>
            <a:off x="896112" y="4242816"/>
            <a:ext cx="10259567" cy="5486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BATCH_SIZE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= 3 固定批次門檻；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= 20 是 baseline 門檻。choose_action(observation) 在急件剩餘期限小於等於門檻時回傳 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SEND_URGENT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Original edit boundary panel"/>
          <p:cNvSpPr/>
          <p:nvPr/>
        </p:nvSpPr>
        <p:spPr>
          <a:xfrm>
            <a:off x="749808" y="4992624"/>
            <a:ext cx="10552176" cy="38404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3" name="Original edit boundary text"/>
          <p:cNvSpPr txBox="1"/>
          <p:nvPr/>
        </p:nvSpPr>
        <p:spPr>
          <a:xfrm>
            <a:off x="896112" y="5047488"/>
            <a:ext cx="10259567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後續只修改 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：20 → 5 → 30；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BATCH_SIZE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保持 3。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P065-B｜原始程式：marker 外 consumer branch 與後續分支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Original consumer branch exact panel"/>
          <p:cNvSpPr/>
          <p:nvPr/>
        </p:nvSpPr>
        <p:spPr>
          <a:xfrm>
            <a:off x="713232" y="1170432"/>
            <a:ext cx="10972800" cy="1627632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6" name="Original consumer branch exact text"/>
          <p:cNvSpPr txBox="1"/>
          <p:nvPr/>
        </p:nvSpPr>
        <p:spPr>
          <a:xfrm>
            <a:off x="877824" y="1298448"/>
            <a:ext cx="10643616" cy="13716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def choose_action(observation):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  if not observation.contact_open: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      return SLEEP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  if observation.urgent_pending and observation.urgent_due_in_s &lt;=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: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      return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7" name="Original branch window detail panel"/>
          <p:cNvSpPr/>
          <p:nvPr/>
        </p:nvSpPr>
        <p:spPr>
          <a:xfrm>
            <a:off x="713232" y="2999232"/>
            <a:ext cx="5266944" cy="13350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8" name="Original branch window detail number marker"/>
          <p:cNvSpPr/>
          <p:nvPr/>
        </p:nvSpPr>
        <p:spPr>
          <a:xfrm>
            <a:off x="841248" y="3163824"/>
            <a:ext cx="329184" cy="329184"/>
          </a:xfrm>
          <a:prstGeom prst="ellipse">
            <a:avLst/>
          </a:prstGeom>
          <a:solidFill>
            <a:srgbClr val="992A2A"/>
          </a:solidFill>
          <a:ln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riginal branch window detail number"/>
          <p:cNvSpPr txBox="1"/>
          <p:nvPr/>
        </p:nvSpPr>
        <p:spPr>
          <a:xfrm>
            <a:off x="841248" y="31455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10" name="Original branch window detail heading"/>
          <p:cNvSpPr txBox="1"/>
          <p:nvPr/>
        </p:nvSpPr>
        <p:spPr>
          <a:xfrm>
            <a:off x="1298448" y="3054096"/>
            <a:ext cx="453542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窗口 gate</a:t>
            </a:r>
          </a:p>
        </p:txBody>
      </p:sp>
      <p:sp>
        <p:nvSpPr>
          <p:cNvPr id="11" name="Original branch window detail body"/>
          <p:cNvSpPr txBox="1"/>
          <p:nvPr/>
        </p:nvSpPr>
        <p:spPr>
          <a:xfrm>
            <a:off x="1298448" y="3419856"/>
            <a:ext cx="4535424" cy="8778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window；closed／open；closed 回傳 SLEEP；開放後續分支；原 state 保持。</a:t>
            </a:r>
          </a:p>
        </p:txBody>
      </p:sp>
      <p:sp>
        <p:nvSpPr>
          <p:cNvPr id="12" name="Original branch pacing detail panel"/>
          <p:cNvSpPr/>
          <p:nvPr/>
        </p:nvSpPr>
        <p:spPr>
          <a:xfrm>
            <a:off x="6144768" y="2999232"/>
            <a:ext cx="5266944" cy="13350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3" name="Original branch pacing detail number marker"/>
          <p:cNvSpPr/>
          <p:nvPr/>
        </p:nvSpPr>
        <p:spPr>
          <a:xfrm>
            <a:off x="6272783" y="3163824"/>
            <a:ext cx="329184" cy="329184"/>
          </a:xfrm>
          <a:prstGeom prst="ellipse">
            <a:avLst/>
          </a:prstGeom>
          <a:solidFill>
            <a:srgbClr val="007474"/>
          </a:solidFill>
          <a:ln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riginal branch pacing detail number"/>
          <p:cNvSpPr txBox="1"/>
          <p:nvPr/>
        </p:nvSpPr>
        <p:spPr>
          <a:xfrm>
            <a:off x="6272783" y="31455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5" name="Original branch pacing detail heading"/>
          <p:cNvSpPr txBox="1"/>
          <p:nvPr/>
        </p:nvSpPr>
        <p:spPr>
          <a:xfrm>
            <a:off x="6729983" y="3054096"/>
            <a:ext cx="453542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pacing／batch／WAIT</a:t>
            </a:r>
          </a:p>
        </p:txBody>
      </p:sp>
      <p:sp>
        <p:nvSpPr>
          <p:cNvPr id="16" name="Original branch pacing detail body"/>
          <p:cNvSpPr txBox="1"/>
          <p:nvPr/>
        </p:nvSpPr>
        <p:spPr>
          <a:xfrm>
            <a:off x="6729983" y="3419856"/>
            <a:ext cx="4535424" cy="8778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steps、quality、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；REST／FLUSH／SEND／WAIT；非急件決定 action；下一 branch 更新；下一 frame 再判讀。</a:t>
            </a:r>
          </a:p>
        </p:txBody>
      </p:sp>
      <p:sp>
        <p:nvSpPr>
          <p:cNvPr id="17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完整 marked block 在 P065；本頁只呈現 marker 外 consumer branch 與後續 action。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P066｜第一輪 run：baseline 與 candidate 的檔案收據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Run package root"/>
          <p:cNvSpPr txBox="1"/>
          <p:nvPr/>
        </p:nvSpPr>
        <p:spPr>
          <a:xfrm>
            <a:off x="768096" y="950976"/>
            <a:ext cx="10643616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 root：lora-energy-lab/</a:t>
            </a:r>
          </a:p>
        </p:txBody>
      </p:sp>
      <p:sp>
        <p:nvSpPr>
          <p:cNvPr id="6" name="Baseline Windows command panel"/>
          <p:cNvSpPr/>
          <p:nvPr/>
        </p:nvSpPr>
        <p:spPr>
          <a:xfrm>
            <a:off x="713232" y="1261872"/>
            <a:ext cx="5321808" cy="84124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Baseline Windows command heading"/>
          <p:cNvSpPr txBox="1"/>
          <p:nvPr/>
        </p:nvSpPr>
        <p:spPr>
          <a:xfrm>
            <a:off x="859536" y="1335024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baseline｜Windows PowerShell</a:t>
            </a:r>
          </a:p>
        </p:txBody>
      </p:sp>
      <p:sp>
        <p:nvSpPr>
          <p:cNvPr id="8" name="Baseline Windows command command"/>
          <p:cNvSpPr txBox="1"/>
          <p:nvPr/>
        </p:nvSpPr>
        <p:spPr>
          <a:xfrm>
            <a:off x="859536" y="1609343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run --lab C --case baseline</a:t>
            </a:r>
          </a:p>
        </p:txBody>
      </p:sp>
      <p:sp>
        <p:nvSpPr>
          <p:cNvPr id="9" name="Candidate Windows command panel"/>
          <p:cNvSpPr/>
          <p:nvPr/>
        </p:nvSpPr>
        <p:spPr>
          <a:xfrm>
            <a:off x="6199632" y="1261872"/>
            <a:ext cx="5321808" cy="84124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0" name="Candidate Windows command heading"/>
          <p:cNvSpPr txBox="1"/>
          <p:nvPr/>
        </p:nvSpPr>
        <p:spPr>
          <a:xfrm>
            <a:off x="6345936" y="1335024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candidate｜Windows PowerShell</a:t>
            </a:r>
          </a:p>
        </p:txBody>
      </p:sp>
      <p:sp>
        <p:nvSpPr>
          <p:cNvPr id="11" name="Candidate Windows command command"/>
          <p:cNvSpPr txBox="1"/>
          <p:nvPr/>
        </p:nvSpPr>
        <p:spPr>
          <a:xfrm>
            <a:off x="6345936" y="1609343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run --lab C --case candidate</a:t>
            </a:r>
          </a:p>
        </p:txBody>
      </p:sp>
      <p:sp>
        <p:nvSpPr>
          <p:cNvPr id="12" name="Baseline WSL command panel"/>
          <p:cNvSpPr/>
          <p:nvPr/>
        </p:nvSpPr>
        <p:spPr>
          <a:xfrm>
            <a:off x="713232" y="2231136"/>
            <a:ext cx="5321808" cy="84124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3" name="Baseline WSL command heading"/>
          <p:cNvSpPr txBox="1"/>
          <p:nvPr/>
        </p:nvSpPr>
        <p:spPr>
          <a:xfrm>
            <a:off x="859536" y="230428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baseline｜WSL/POSIX</a:t>
            </a:r>
          </a:p>
        </p:txBody>
      </p:sp>
      <p:sp>
        <p:nvSpPr>
          <p:cNvPr id="14" name="Baseline WSL command command"/>
          <p:cNvSpPr txBox="1"/>
          <p:nvPr/>
        </p:nvSpPr>
        <p:spPr>
          <a:xfrm>
            <a:off x="859536" y="2578608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 --lab C --case baseline</a:t>
            </a:r>
          </a:p>
        </p:txBody>
      </p:sp>
      <p:sp>
        <p:nvSpPr>
          <p:cNvPr id="15" name="Candidate WSL command panel"/>
          <p:cNvSpPr/>
          <p:nvPr/>
        </p:nvSpPr>
        <p:spPr>
          <a:xfrm>
            <a:off x="6199632" y="2231136"/>
            <a:ext cx="5321808" cy="84124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6" name="Candidate WSL command heading"/>
          <p:cNvSpPr txBox="1"/>
          <p:nvPr/>
        </p:nvSpPr>
        <p:spPr>
          <a:xfrm>
            <a:off x="6345936" y="230428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candidate｜WSL/POSIX</a:t>
            </a:r>
          </a:p>
        </p:txBody>
      </p:sp>
      <p:sp>
        <p:nvSpPr>
          <p:cNvPr id="17" name="Candidate WSL command command"/>
          <p:cNvSpPr txBox="1"/>
          <p:nvPr/>
        </p:nvSpPr>
        <p:spPr>
          <a:xfrm>
            <a:off x="6345936" y="2578608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 --lab C --case candidate</a:t>
            </a:r>
          </a:p>
        </p:txBody>
      </p:sp>
      <p:sp>
        <p:nvSpPr>
          <p:cNvPr id="18" name="Run stdout contract panel"/>
          <p:cNvSpPr/>
          <p:nvPr/>
        </p:nvSpPr>
        <p:spPr>
          <a:xfrm>
            <a:off x="694944" y="3273552"/>
            <a:ext cx="10716768" cy="69494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9" name="Run stdout contract label"/>
          <p:cNvSpPr txBox="1"/>
          <p:nvPr/>
        </p:nvSpPr>
        <p:spPr>
          <a:xfrm>
            <a:off x="786384" y="3328416"/>
            <a:ext cx="2322576" cy="58521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stdout contract（標準輸出）</a:t>
            </a:r>
          </a:p>
        </p:txBody>
      </p:sp>
      <p:sp>
        <p:nvSpPr>
          <p:cNvPr id="20" name="Run stdout contract explanation"/>
          <p:cNvSpPr txBox="1"/>
          <p:nvPr/>
        </p:nvSpPr>
        <p:spPr>
          <a:xfrm>
            <a:off x="3182112" y="3337560"/>
            <a:ext cx="8119872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runner stdout；值 status、run_id、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；定位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；三欄齊全；原 artifact 保持。</a:t>
            </a:r>
          </a:p>
        </p:txBody>
      </p:sp>
      <p:sp>
        <p:nvSpPr>
          <p:cNvPr id="21" name="Run artifact source panel"/>
          <p:cNvSpPr/>
          <p:nvPr/>
        </p:nvSpPr>
        <p:spPr>
          <a:xfrm>
            <a:off x="694944" y="4078224"/>
            <a:ext cx="10716768" cy="69494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2" name="Run artifact source label"/>
          <p:cNvSpPr txBox="1"/>
          <p:nvPr/>
        </p:nvSpPr>
        <p:spPr>
          <a:xfrm>
            <a:off x="786384" y="4133087"/>
            <a:ext cx="2322576" cy="58521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artifact source（來源邊界）</a:t>
            </a:r>
          </a:p>
        </p:txBody>
      </p:sp>
      <p:sp>
        <p:nvSpPr>
          <p:cNvPr id="23" name="Run artifact source explanation"/>
          <p:cNvSpPr txBox="1"/>
          <p:nvPr/>
        </p:nvSpPr>
        <p:spPr>
          <a:xfrm>
            <a:off x="3182112" y="4142232"/>
            <a:ext cx="8119872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header；值 artifact_source、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；配對 replay；identity 一致；claim_boundary 保持。</a:t>
            </a:r>
          </a:p>
        </p:txBody>
      </p:sp>
      <p:sp>
        <p:nvSpPr>
          <p:cNvPr id="24" name="Run receipt interpretation panel"/>
          <p:cNvSpPr/>
          <p:nvPr/>
        </p:nvSpPr>
        <p:spPr>
          <a:xfrm>
            <a:off x="749808" y="4846320"/>
            <a:ext cx="10552176" cy="530352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5" name="Run receipt interpretation text"/>
          <p:cNvSpPr txBox="1"/>
          <p:nvPr/>
        </p:nvSpPr>
        <p:spPr>
          <a:xfrm>
            <a:off x="896112" y="4901183"/>
            <a:ext cx="10259567" cy="42062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Expect／Interpret：配對 replay 後讀 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、action、state、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；claim_boundary 只對此 artifact，不延伸 live KPI。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P067｜exact edit 1：急件門檻由 20 秒改為 5 秒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dit one before code panel"/>
          <p:cNvSpPr/>
          <p:nvPr/>
        </p:nvSpPr>
        <p:spPr>
          <a:xfrm>
            <a:off x="566928" y="1078992"/>
            <a:ext cx="5650992" cy="166420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6" name="Edit one before code text"/>
          <p:cNvSpPr txBox="1"/>
          <p:nvPr/>
        </p:nvSpPr>
        <p:spPr>
          <a:xfrm>
            <a:off x="731520" y="1207007"/>
            <a:ext cx="5321807" cy="14081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lora-energy-lab/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EDITABLE: lab-c-batch-urgent ===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BATCH_SIZE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3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20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END EDITABLE: lab-c-batch-urgent ===</a:t>
            </a:r>
          </a:p>
        </p:txBody>
      </p:sp>
      <p:sp>
        <p:nvSpPr>
          <p:cNvPr id="7" name="Edit one after code panel"/>
          <p:cNvSpPr/>
          <p:nvPr/>
        </p:nvSpPr>
        <p:spPr>
          <a:xfrm>
            <a:off x="6272784" y="1078992"/>
            <a:ext cx="5650992" cy="166420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8" name="Edit one after code text"/>
          <p:cNvSpPr txBox="1"/>
          <p:nvPr/>
        </p:nvSpPr>
        <p:spPr>
          <a:xfrm>
            <a:off x="6437376" y="1207007"/>
            <a:ext cx="5321807" cy="14081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lora-energy-lab/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EDITABLE: lab-c-batch-urgent ===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BATCH_SIZE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3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5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END EDITABLE: lab-c-batch-urgent ===</a:t>
            </a:r>
          </a:p>
        </p:txBody>
      </p:sp>
      <p:sp>
        <p:nvSpPr>
          <p:cNvPr id="9" name="Edit one field definition panel"/>
          <p:cNvSpPr/>
          <p:nvPr/>
        </p:nvSpPr>
        <p:spPr>
          <a:xfrm>
            <a:off x="694944" y="2907792"/>
            <a:ext cx="10716768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0" name="Edit one field definition label"/>
          <p:cNvSpPr txBox="1"/>
          <p:nvPr/>
        </p:nvSpPr>
        <p:spPr>
          <a:xfrm>
            <a:off x="786384" y="2962656"/>
            <a:ext cx="3584447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URGENT_MARGIN_S</a:t>
            </a:r>
          </a:p>
        </p:txBody>
      </p:sp>
      <p:sp>
        <p:nvSpPr>
          <p:cNvPr id="11" name="Edit one field definition explanation"/>
          <p:cNvSpPr txBox="1"/>
          <p:nvPr/>
        </p:nvSpPr>
        <p:spPr>
          <a:xfrm>
            <a:off x="4443983" y="2971800"/>
            <a:ext cx="6858000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marked block；值 20 → 5 秒；只改一行</a:t>
            </a:r>
          </a:p>
        </p:txBody>
      </p:sp>
      <p:sp>
        <p:nvSpPr>
          <p:cNvPr id="12" name="Edit one consumer branch panel"/>
          <p:cNvSpPr/>
          <p:nvPr/>
        </p:nvSpPr>
        <p:spPr>
          <a:xfrm>
            <a:off x="713232" y="3803904"/>
            <a:ext cx="10972800" cy="124358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3" name="Edit one consumer branch text"/>
          <p:cNvSpPr txBox="1"/>
          <p:nvPr/>
        </p:nvSpPr>
        <p:spPr>
          <a:xfrm>
            <a:off x="877824" y="3931920"/>
            <a:ext cx="10643616" cy="9875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marker 外 consumer branch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if observation.urgent_pending and observation.urgent_due_in_s &lt;=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: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  return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P067-B｜exact edit 1：備份、編輯與語法檢查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dit one WSL commands panel"/>
          <p:cNvSpPr/>
          <p:nvPr/>
        </p:nvSpPr>
        <p:spPr>
          <a:xfrm>
            <a:off x="713232" y="1298448"/>
            <a:ext cx="10972800" cy="155448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6" name="Edit one WSL commands text"/>
          <p:cNvSpPr txBox="1"/>
          <p:nvPr/>
        </p:nvSpPr>
        <p:spPr>
          <a:xfrm>
            <a:off x="877824" y="1426464"/>
            <a:ext cx="10643616" cy="1298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WSL／POSIX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cp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student_policy.before-C-edit.py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nano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.venv/bin/python -m py_compile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7" name="Edit one Windows commands panel"/>
          <p:cNvSpPr/>
          <p:nvPr/>
        </p:nvSpPr>
        <p:spPr>
          <a:xfrm>
            <a:off x="713232" y="3090672"/>
            <a:ext cx="10972800" cy="155448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8" name="Edit one Windows commands text"/>
          <p:cNvSpPr txBox="1"/>
          <p:nvPr/>
        </p:nvSpPr>
        <p:spPr>
          <a:xfrm>
            <a:off x="877824" y="3218688"/>
            <a:ext cx="10643616" cy="1298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Windows PowerShell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Copy-Item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-Destination student_policy.before-C-edit.py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notepad .\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.\.venv\Scripts\python.exe -m py_compile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9" name="Edit one command interpretation panel"/>
          <p:cNvSpPr/>
          <p:nvPr/>
        </p:nvSpPr>
        <p:spPr>
          <a:xfrm>
            <a:off x="749808" y="4773168"/>
            <a:ext cx="10552176" cy="54864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0" name="Edit one command interpretation text"/>
          <p:cNvSpPr txBox="1"/>
          <p:nvPr/>
        </p:nvSpPr>
        <p:spPr>
          <a:xfrm>
            <a:off x="896112" y="4828031"/>
            <a:ext cx="10259567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py_compile 只檢查 Python 語法；接著以 run、policy guard、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驗證行為。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P068｜margin 5：四個可觀察欄位的預測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Margin five prediction panel"/>
          <p:cNvSpPr/>
          <p:nvPr/>
        </p:nvSpPr>
        <p:spPr>
          <a:xfrm>
            <a:off x="694944" y="1261872"/>
            <a:ext cx="10716768" cy="6766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6" name="Margin five prediction label"/>
          <p:cNvSpPr txBox="1"/>
          <p:nvPr/>
        </p:nvSpPr>
        <p:spPr>
          <a:xfrm>
            <a:off x="786384" y="1316736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action timing（動作時點）</a:t>
            </a:r>
          </a:p>
        </p:txBody>
      </p:sp>
      <p:sp>
        <p:nvSpPr>
          <p:cNvPr id="7" name="Margin five prediction explanation"/>
          <p:cNvSpPr txBox="1"/>
          <p:nvPr/>
        </p:nvSpPr>
        <p:spPr>
          <a:xfrm>
            <a:off x="3054096" y="1325880"/>
            <a:ext cx="8247888" cy="5486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event trace；值 frame／時間序列；定位 </a:t>
            </a: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SEND_URGENT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；預測較晚觸發。</a:t>
            </a:r>
          </a:p>
        </p:txBody>
      </p:sp>
      <p:sp>
        <p:nvSpPr>
          <p:cNvPr id="8" name="Margin five prediction panel"/>
          <p:cNvSpPr/>
          <p:nvPr/>
        </p:nvSpPr>
        <p:spPr>
          <a:xfrm>
            <a:off x="694944" y="2066543"/>
            <a:ext cx="10716768" cy="6766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9" name="Margin five prediction label"/>
          <p:cNvSpPr txBox="1"/>
          <p:nvPr/>
        </p:nvSpPr>
        <p:spPr>
          <a:xfrm>
            <a:off x="786384" y="2121408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packet（佇列／封包）</a:t>
            </a:r>
          </a:p>
        </p:txBody>
      </p:sp>
      <p:sp>
        <p:nvSpPr>
          <p:cNvPr id="10" name="Margin five prediction explanation"/>
          <p:cNvSpPr txBox="1"/>
          <p:nvPr/>
        </p:nvSpPr>
        <p:spPr>
          <a:xfrm>
            <a:off x="3054096" y="2130551"/>
            <a:ext cx="8247888" cy="5486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</a:t>
            </a: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event；值 count、bit；讀等待與送達</a:t>
            </a:r>
          </a:p>
        </p:txBody>
      </p:sp>
      <p:sp>
        <p:nvSpPr>
          <p:cNvPr id="11" name="Margin five prediction panel"/>
          <p:cNvSpPr/>
          <p:nvPr/>
        </p:nvSpPr>
        <p:spPr>
          <a:xfrm>
            <a:off x="694944" y="2871215"/>
            <a:ext cx="10716768" cy="6766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Margin five prediction label"/>
          <p:cNvSpPr txBox="1"/>
          <p:nvPr/>
        </p:nvSpPr>
        <p:spPr>
          <a:xfrm>
            <a:off x="786384" y="2926079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8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8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（服務／期限）</a:t>
            </a:r>
          </a:p>
        </p:txBody>
      </p:sp>
      <p:sp>
        <p:nvSpPr>
          <p:cNvPr id="13" name="Margin five prediction explanation"/>
          <p:cNvSpPr txBox="1"/>
          <p:nvPr/>
        </p:nvSpPr>
        <p:spPr>
          <a:xfrm>
            <a:off x="3054096" y="2935223"/>
            <a:ext cx="8247888" cy="5486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result summary；值 PASS／FAIL；定義工作結果；任一 FAIL 改變節能解讀。</a:t>
            </a:r>
          </a:p>
        </p:txBody>
      </p:sp>
      <p:sp>
        <p:nvSpPr>
          <p:cNvPr id="14" name="Margin five prediction panel"/>
          <p:cNvSpPr/>
          <p:nvPr/>
        </p:nvSpPr>
        <p:spPr>
          <a:xfrm>
            <a:off x="694944" y="3675887"/>
            <a:ext cx="10716768" cy="6766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5" name="Margin five prediction label"/>
          <p:cNvSpPr txBox="1"/>
          <p:nvPr/>
        </p:nvSpPr>
        <p:spPr>
          <a:xfrm>
            <a:off x="786384" y="3730751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（端點能量）</a:t>
            </a:r>
          </a:p>
        </p:txBody>
      </p:sp>
      <p:sp>
        <p:nvSpPr>
          <p:cNvPr id="16" name="Margin five prediction explanation"/>
          <p:cNvSpPr txBox="1"/>
          <p:nvPr/>
        </p:nvSpPr>
        <p:spPr>
          <a:xfrm>
            <a:off x="3054096" y="3739896"/>
            <a:ext cx="8247888" cy="5486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endpoint ledger；值 J；描述端點代價</a:t>
            </a:r>
          </a:p>
        </p:txBody>
      </p:sp>
      <p:sp>
        <p:nvSpPr>
          <p:cNvPr id="17" name="Margin five prediction sentence panel"/>
          <p:cNvSpPr/>
          <p:nvPr/>
        </p:nvSpPr>
        <p:spPr>
          <a:xfrm>
            <a:off x="749808" y="4590288"/>
            <a:ext cx="10552176" cy="51206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8" name="Margin five prediction sentence text"/>
          <p:cNvSpPr txBox="1"/>
          <p:nvPr/>
        </p:nvSpPr>
        <p:spPr>
          <a:xfrm>
            <a:off x="896112" y="4645151"/>
            <a:ext cx="10259567" cy="40233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完整句：margin 5 的機制預測是 urgent 較晚、早期 TX／wake 可能減少，但 delivery 或 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可能失敗。</a:t>
            </a:r>
          </a:p>
        </p:txBody>
      </p:sp>
      <p:sp>
        <p:nvSpPr>
          <p:cNvPr id="19" name="Margin five prediction question panel"/>
          <p:cNvSpPr/>
          <p:nvPr/>
        </p:nvSpPr>
        <p:spPr>
          <a:xfrm>
            <a:off x="749808" y="5157216"/>
            <a:ext cx="10552176" cy="256032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0" name="Margin five prediction question text"/>
          <p:cNvSpPr txBox="1"/>
          <p:nvPr/>
        </p:nvSpPr>
        <p:spPr>
          <a:xfrm>
            <a:off x="896112" y="5212079"/>
            <a:ext cx="10259567" cy="1463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問題：哪一個 gate 結果會改變節能判讀？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P069｜baseline 與 candidate：gate-first 的比較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Comparison Chinese header"/>
          <p:cNvSpPr/>
          <p:nvPr/>
        </p:nvSpPr>
        <p:spPr>
          <a:xfrm>
            <a:off x="566928" y="1225296"/>
            <a:ext cx="1737360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案例／來源</a:t>
            </a:r>
          </a:p>
        </p:txBody>
      </p:sp>
      <p:sp>
        <p:nvSpPr>
          <p:cNvPr id="6" name="Comparison Chinese header"/>
          <p:cNvSpPr/>
          <p:nvPr/>
        </p:nvSpPr>
        <p:spPr>
          <a:xfrm>
            <a:off x="2359152" y="1225296"/>
            <a:ext cx="1755648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服務結果</a:t>
            </a:r>
          </a:p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7" name="Comparison Chinese header"/>
          <p:cNvSpPr/>
          <p:nvPr/>
        </p:nvSpPr>
        <p:spPr>
          <a:xfrm>
            <a:off x="4169664" y="1225296"/>
            <a:ext cx="1755648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期限結果</a:t>
            </a:r>
          </a:p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deadline</a:t>
            </a:r>
          </a:p>
        </p:txBody>
      </p:sp>
      <p:sp>
        <p:nvSpPr>
          <p:cNvPr id="8" name="Comparison Chinese header"/>
          <p:cNvSpPr/>
          <p:nvPr/>
        </p:nvSpPr>
        <p:spPr>
          <a:xfrm>
            <a:off x="5980176" y="1225296"/>
            <a:ext cx="1719072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已送達</a:t>
            </a:r>
          </a:p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delivered bits</a:t>
            </a:r>
          </a:p>
        </p:txBody>
      </p:sp>
      <p:sp>
        <p:nvSpPr>
          <p:cNvPr id="9" name="Comparison Chinese header"/>
          <p:cNvSpPr/>
          <p:nvPr/>
        </p:nvSpPr>
        <p:spPr>
          <a:xfrm>
            <a:off x="7754112" y="1225296"/>
            <a:ext cx="1810512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端點能量</a:t>
            </a:r>
          </a:p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10" name="Comparison Chinese header"/>
          <p:cNvSpPr/>
          <p:nvPr/>
        </p:nvSpPr>
        <p:spPr>
          <a:xfrm>
            <a:off x="9619488" y="1225296"/>
            <a:ext cx="2139696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能量效率</a:t>
            </a:r>
          </a:p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bit/J</a:t>
            </a:r>
          </a:p>
        </p:txBody>
      </p:sp>
      <p:sp>
        <p:nvSpPr>
          <p:cNvPr id="11" name="Comparison value"/>
          <p:cNvSpPr/>
          <p:nvPr/>
        </p:nvSpPr>
        <p:spPr>
          <a:xfrm>
            <a:off x="566928" y="1883664"/>
            <a:ext cx="1737360" cy="768096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固定原始 control</a:t>
            </a:r>
          </a:p>
        </p:txBody>
      </p:sp>
      <p:sp>
        <p:nvSpPr>
          <p:cNvPr id="12" name="Comparison value"/>
          <p:cNvSpPr/>
          <p:nvPr/>
        </p:nvSpPr>
        <p:spPr>
          <a:xfrm>
            <a:off x="2359152" y="1883664"/>
            <a:ext cx="1755648" cy="768096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PASS</a:t>
            </a:r>
          </a:p>
        </p:txBody>
      </p:sp>
      <p:sp>
        <p:nvSpPr>
          <p:cNvPr id="13" name="Comparison value"/>
          <p:cNvSpPr/>
          <p:nvPr/>
        </p:nvSpPr>
        <p:spPr>
          <a:xfrm>
            <a:off x="4169664" y="1883664"/>
            <a:ext cx="1755648" cy="768096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PASS</a:t>
            </a:r>
          </a:p>
        </p:txBody>
      </p:sp>
      <p:sp>
        <p:nvSpPr>
          <p:cNvPr id="14" name="Comparison value"/>
          <p:cNvSpPr/>
          <p:nvPr/>
        </p:nvSpPr>
        <p:spPr>
          <a:xfrm>
            <a:off x="5980176" y="1883664"/>
            <a:ext cx="1719072" cy="768096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10,400 bit</a:t>
            </a:r>
          </a:p>
        </p:txBody>
      </p:sp>
      <p:sp>
        <p:nvSpPr>
          <p:cNvPr id="15" name="Comparison value"/>
          <p:cNvSpPr/>
          <p:nvPr/>
        </p:nvSpPr>
        <p:spPr>
          <a:xfrm>
            <a:off x="7754112" y="1883664"/>
            <a:ext cx="1810512" cy="768096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10.66 J</a:t>
            </a:r>
          </a:p>
        </p:txBody>
      </p:sp>
      <p:sp>
        <p:nvSpPr>
          <p:cNvPr id="16" name="Comparison value"/>
          <p:cNvSpPr/>
          <p:nvPr/>
        </p:nvSpPr>
        <p:spPr>
          <a:xfrm>
            <a:off x="9619488" y="1883664"/>
            <a:ext cx="2139696" cy="768096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975.609756 </a:t>
            </a: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bit/J</a:t>
            </a:r>
          </a:p>
        </p:txBody>
      </p:sp>
      <p:sp>
        <p:nvSpPr>
          <p:cNvPr id="17" name="Comparison value"/>
          <p:cNvSpPr/>
          <p:nvPr/>
        </p:nvSpPr>
        <p:spPr>
          <a:xfrm>
            <a:off x="566928" y="2889504"/>
            <a:ext cx="1737360" cy="768096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</a:t>
            </a:r>
          </a:p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同情境 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fallback</a:t>
            </a:r>
          </a:p>
        </p:txBody>
      </p:sp>
      <p:sp>
        <p:nvSpPr>
          <p:cNvPr id="18" name="Comparison value"/>
          <p:cNvSpPr/>
          <p:nvPr/>
        </p:nvSpPr>
        <p:spPr>
          <a:xfrm>
            <a:off x="2359152" y="2889504"/>
            <a:ext cx="1755648" cy="768096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FAIL</a:t>
            </a:r>
          </a:p>
        </p:txBody>
      </p:sp>
      <p:sp>
        <p:nvSpPr>
          <p:cNvPr id="19" name="Comparison value"/>
          <p:cNvSpPr/>
          <p:nvPr/>
        </p:nvSpPr>
        <p:spPr>
          <a:xfrm>
            <a:off x="4169664" y="2889504"/>
            <a:ext cx="1755648" cy="768096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FAIL</a:t>
            </a:r>
          </a:p>
        </p:txBody>
      </p:sp>
      <p:sp>
        <p:nvSpPr>
          <p:cNvPr id="20" name="Comparison value"/>
          <p:cNvSpPr/>
          <p:nvPr/>
        </p:nvSpPr>
        <p:spPr>
          <a:xfrm>
            <a:off x="5980176" y="2889504"/>
            <a:ext cx="1719072" cy="768096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9,600 bit</a:t>
            </a:r>
          </a:p>
        </p:txBody>
      </p:sp>
      <p:sp>
        <p:nvSpPr>
          <p:cNvPr id="21" name="Comparison value"/>
          <p:cNvSpPr/>
          <p:nvPr/>
        </p:nvSpPr>
        <p:spPr>
          <a:xfrm>
            <a:off x="7754112" y="2889504"/>
            <a:ext cx="1810512" cy="768096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9.74 J</a:t>
            </a:r>
          </a:p>
        </p:txBody>
      </p:sp>
      <p:sp>
        <p:nvSpPr>
          <p:cNvPr id="22" name="Comparison value"/>
          <p:cNvSpPr/>
          <p:nvPr/>
        </p:nvSpPr>
        <p:spPr>
          <a:xfrm>
            <a:off x="9619488" y="2889504"/>
            <a:ext cx="2139696" cy="768096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985.626283 </a:t>
            </a:r>
            <a:r>
              <a:rPr sz="18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bit/J</a:t>
            </a:r>
          </a:p>
        </p:txBody>
      </p:sp>
      <p:sp>
        <p:nvSpPr>
          <p:cNvPr id="23" name="Evidence source label"/>
          <p:cNvSpPr txBox="1"/>
          <p:nvPr/>
        </p:nvSpPr>
        <p:spPr>
          <a:xfrm>
            <a:off x="822960" y="4041648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資料來源：同情境 deterministic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；固定 scenario、policy edit 與 endpoint scope。</a:t>
            </a:r>
          </a:p>
        </p:txBody>
      </p:sp>
      <p:sp>
        <p:nvSpPr>
          <p:cNvPr id="24" name="Comparison interpretation panel"/>
          <p:cNvSpPr/>
          <p:nvPr/>
        </p:nvSpPr>
        <p:spPr>
          <a:xfrm>
            <a:off x="749808" y="4407408"/>
            <a:ext cx="10552176" cy="530352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5" name="Comparison interpretation text"/>
          <p:cNvSpPr txBox="1"/>
          <p:nvPr/>
        </p:nvSpPr>
        <p:spPr>
          <a:xfrm>
            <a:off x="896112" y="4462272"/>
            <a:ext cx="10259567" cy="42062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判讀句：candidate 少交付 800 bit 且 </a:t>
            </a: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FAIL；較高 </a:t>
            </a: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bit/J</a:t>
            </a: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不改寫 gate 結果。</a:t>
            </a:r>
          </a:p>
        </p:txBody>
      </p:sp>
      <p:sp>
        <p:nvSpPr>
          <p:cNvPr id="26" name="Comparison question panel"/>
          <p:cNvSpPr/>
          <p:nvPr/>
        </p:nvSpPr>
        <p:spPr>
          <a:xfrm>
            <a:off x="749808" y="4992624"/>
            <a:ext cx="10552176" cy="32918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7" name="Comparison question text"/>
          <p:cNvSpPr txBox="1"/>
          <p:nvPr/>
        </p:nvSpPr>
        <p:spPr>
          <a:xfrm>
            <a:off x="896112" y="5047488"/>
            <a:ext cx="10259567" cy="21945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問題：哪兩欄決定工作是否完成？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P070｜exact edit 2：急件門檻由 5 秒修訂為 30 秒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Revision candidate state"/>
          <p:cNvSpPr/>
          <p:nvPr/>
        </p:nvSpPr>
        <p:spPr>
          <a:xfrm>
            <a:off x="749808" y="1261872"/>
            <a:ext cx="3401568" cy="3328416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6" name="Revision candidate heading"/>
          <p:cNvSpPr txBox="1"/>
          <p:nvPr/>
        </p:nvSpPr>
        <p:spPr>
          <a:xfrm>
            <a:off x="950976" y="1481328"/>
            <a:ext cx="2999232" cy="3657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candidate（待修訂狀態）</a:t>
            </a:r>
          </a:p>
        </p:txBody>
      </p:sp>
      <p:sp>
        <p:nvSpPr>
          <p:cNvPr id="7" name="Revision candidate values panel"/>
          <p:cNvSpPr/>
          <p:nvPr/>
        </p:nvSpPr>
        <p:spPr>
          <a:xfrm>
            <a:off x="1005840" y="2029968"/>
            <a:ext cx="2889504" cy="95097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8" name="Revision candidate values text"/>
          <p:cNvSpPr txBox="1"/>
          <p:nvPr/>
        </p:nvSpPr>
        <p:spPr>
          <a:xfrm>
            <a:off x="1170432" y="2157984"/>
            <a:ext cx="2560320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5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</a:t>
            </a:r>
          </a:p>
        </p:txBody>
      </p:sp>
      <p:sp>
        <p:nvSpPr>
          <p:cNvPr id="9" name="Revision candidate explanation"/>
          <p:cNvSpPr txBox="1"/>
          <p:nvPr/>
        </p:nvSpPr>
        <p:spPr>
          <a:xfrm>
            <a:off x="969264" y="3493008"/>
            <a:ext cx="2962656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來源：P069 的同情境 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。作用：保留失敗條件，作為 revision 的比較輸入。</a:t>
            </a:r>
          </a:p>
        </p:txBody>
      </p:sp>
      <p:cxnSp>
        <p:nvCxnSpPr>
          <p:cNvPr id="10" name="Editable connector"/>
          <p:cNvCxnSpPr/>
          <p:nvPr/>
        </p:nvCxnSpPr>
        <p:spPr>
          <a:xfrm>
            <a:off x="4370832" y="2926080"/>
            <a:ext cx="256032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vision edit state"/>
          <p:cNvSpPr/>
          <p:nvPr/>
        </p:nvSpPr>
        <p:spPr>
          <a:xfrm>
            <a:off x="4773168" y="1261872"/>
            <a:ext cx="6437376" cy="3328416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Revision heading"/>
          <p:cNvSpPr txBox="1"/>
          <p:nvPr/>
        </p:nvSpPr>
        <p:spPr>
          <a:xfrm>
            <a:off x="5047488" y="1481328"/>
            <a:ext cx="5888736" cy="3657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2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revision（修訂 policy）：唯一 marked line</a:t>
            </a:r>
          </a:p>
        </p:txBody>
      </p:sp>
      <p:sp>
        <p:nvSpPr>
          <p:cNvPr id="13" name="Revision exact line panel"/>
          <p:cNvSpPr/>
          <p:nvPr/>
        </p:nvSpPr>
        <p:spPr>
          <a:xfrm>
            <a:off x="5138928" y="1828800"/>
            <a:ext cx="5705856" cy="166420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4" name="Revision exact line text"/>
          <p:cNvSpPr txBox="1"/>
          <p:nvPr/>
        </p:nvSpPr>
        <p:spPr>
          <a:xfrm>
            <a:off x="5303520" y="1956816"/>
            <a:ext cx="5376672" cy="14081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lora-energy-lab/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EDITABLE: lab-c-batch-urgent ===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BATCH_SIZE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3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30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END EDITABLE: lab-c-batch-urgent ===</a:t>
            </a:r>
          </a:p>
        </p:txBody>
      </p:sp>
      <p:sp>
        <p:nvSpPr>
          <p:cNvPr id="15" name="Revision field explanation"/>
          <p:cNvSpPr txBox="1"/>
          <p:nvPr/>
        </p:nvSpPr>
        <p:spPr>
          <a:xfrm>
            <a:off x="5084064" y="3712463"/>
            <a:ext cx="5797296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來源：marked block；修改前：5；修改後：30；只改一行。marker 外 branch 見 P067。</a:t>
            </a:r>
          </a:p>
        </p:txBody>
      </p:sp>
      <p:sp>
        <p:nvSpPr>
          <p:cNvPr id="16" name="Revision question panel"/>
          <p:cNvSpPr/>
          <p:nvPr/>
        </p:nvSpPr>
        <p:spPr>
          <a:xfrm>
            <a:off x="749808" y="4828032"/>
            <a:ext cx="10552176" cy="54864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7" name="Revision question text"/>
          <p:cNvSpPr txBox="1"/>
          <p:nvPr/>
        </p:nvSpPr>
        <p:spPr>
          <a:xfrm>
            <a:off x="896112" y="4882896"/>
            <a:ext cx="10259567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Expect／Interpret：5 → 30 代表較早介入急件；失敗時保留 candidate 原 result。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P070-B｜exact edit 2：修訂備份、編輯與語法檢查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Revision WSL commands panel"/>
          <p:cNvSpPr/>
          <p:nvPr/>
        </p:nvSpPr>
        <p:spPr>
          <a:xfrm>
            <a:off x="713232" y="1298448"/>
            <a:ext cx="10972800" cy="155448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6" name="Revision WSL commands text"/>
          <p:cNvSpPr txBox="1"/>
          <p:nvPr/>
        </p:nvSpPr>
        <p:spPr>
          <a:xfrm>
            <a:off x="877824" y="1426464"/>
            <a:ext cx="10643616" cy="1298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WSL／POSIX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cp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student_policy.before-C-revision.py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nano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.venv/bin/python -m py_compile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7" name="Revision Windows commands panel"/>
          <p:cNvSpPr/>
          <p:nvPr/>
        </p:nvSpPr>
        <p:spPr>
          <a:xfrm>
            <a:off x="713232" y="3090672"/>
            <a:ext cx="10972800" cy="155448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8" name="Revision Windows commands text"/>
          <p:cNvSpPr txBox="1"/>
          <p:nvPr/>
        </p:nvSpPr>
        <p:spPr>
          <a:xfrm>
            <a:off x="877824" y="3218688"/>
            <a:ext cx="10643616" cy="1298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Windows PowerShell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Copy-Item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-Destination student_policy.before-C-revision.py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notepad .\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.\.venv\Scripts\python.exe -m py_compile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9" name="Revision command interpretation panel"/>
          <p:cNvSpPr/>
          <p:nvPr/>
        </p:nvSpPr>
        <p:spPr>
          <a:xfrm>
            <a:off x="749808" y="4773168"/>
            <a:ext cx="10552176" cy="54864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0" name="Revision command interpretation text"/>
          <p:cNvSpPr txBox="1"/>
          <p:nvPr/>
        </p:nvSpPr>
        <p:spPr>
          <a:xfrm>
            <a:off x="896112" y="4828031"/>
            <a:ext cx="10259567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py_compile 只檢查語法；revision 仍須以 --freeze run、policy guard、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驗證行為。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P071｜margin 30：修訂後的受控預測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Revision prediction timeline"/>
          <p:cNvSpPr/>
          <p:nvPr/>
        </p:nvSpPr>
        <p:spPr>
          <a:xfrm>
            <a:off x="713232" y="1243584"/>
            <a:ext cx="3749039" cy="3438144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6" name="Revision prediction heading"/>
          <p:cNvSpPr txBox="1"/>
          <p:nvPr/>
        </p:nvSpPr>
        <p:spPr>
          <a:xfrm>
            <a:off x="932688" y="1463040"/>
            <a:ext cx="331012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較早 action 的機制方向</a:t>
            </a:r>
          </a:p>
        </p:txBody>
      </p:sp>
      <p:cxnSp>
        <p:nvCxnSpPr>
          <p:cNvPr id="7" name="Editable connector"/>
          <p:cNvCxnSpPr/>
          <p:nvPr/>
        </p:nvCxnSpPr>
        <p:spPr>
          <a:xfrm>
            <a:off x="1152144" y="2944368"/>
            <a:ext cx="2907792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ision prediction marker"/>
          <p:cNvSpPr/>
          <p:nvPr/>
        </p:nvSpPr>
        <p:spPr>
          <a:xfrm>
            <a:off x="1115568" y="2798064"/>
            <a:ext cx="292608" cy="29260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vision prediction token"/>
          <p:cNvSpPr txBox="1"/>
          <p:nvPr/>
        </p:nvSpPr>
        <p:spPr>
          <a:xfrm>
            <a:off x="768096" y="2048256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urgent</a:t>
            </a:r>
          </a:p>
        </p:txBody>
      </p:sp>
      <p:sp>
        <p:nvSpPr>
          <p:cNvPr id="10" name="Revision prediction body"/>
          <p:cNvSpPr txBox="1"/>
          <p:nvPr/>
        </p:nvSpPr>
        <p:spPr>
          <a:xfrm>
            <a:off x="603503" y="3273552"/>
            <a:ext cx="1298448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較早觸發</a:t>
            </a:r>
          </a:p>
        </p:txBody>
      </p:sp>
      <p:sp>
        <p:nvSpPr>
          <p:cNvPr id="11" name="Revision prediction marker"/>
          <p:cNvSpPr/>
          <p:nvPr/>
        </p:nvSpPr>
        <p:spPr>
          <a:xfrm>
            <a:off x="2432304" y="2798064"/>
            <a:ext cx="292608" cy="29260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vision prediction token"/>
          <p:cNvSpPr txBox="1"/>
          <p:nvPr/>
        </p:nvSpPr>
        <p:spPr>
          <a:xfrm>
            <a:off x="2084832" y="2048256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packet</a:t>
            </a:r>
          </a:p>
        </p:txBody>
      </p:sp>
      <p:sp>
        <p:nvSpPr>
          <p:cNvPr id="13" name="Revision prediction body"/>
          <p:cNvSpPr txBox="1"/>
          <p:nvPr/>
        </p:nvSpPr>
        <p:spPr>
          <a:xfrm>
            <a:off x="1920240" y="3273552"/>
            <a:ext cx="1298448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完成機會</a:t>
            </a:r>
          </a:p>
        </p:txBody>
      </p:sp>
      <p:sp>
        <p:nvSpPr>
          <p:cNvPr id="14" name="Revision prediction marker"/>
          <p:cNvSpPr/>
          <p:nvPr/>
        </p:nvSpPr>
        <p:spPr>
          <a:xfrm>
            <a:off x="3712463" y="2798064"/>
            <a:ext cx="292608" cy="29260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vision prediction token"/>
          <p:cNvSpPr txBox="1"/>
          <p:nvPr/>
        </p:nvSpPr>
        <p:spPr>
          <a:xfrm>
            <a:off x="3364991" y="2048256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deadline</a:t>
            </a:r>
          </a:p>
        </p:txBody>
      </p:sp>
      <p:sp>
        <p:nvSpPr>
          <p:cNvPr id="16" name="Revision prediction body"/>
          <p:cNvSpPr txBox="1"/>
          <p:nvPr/>
        </p:nvSpPr>
        <p:spPr>
          <a:xfrm>
            <a:off x="3200399" y="3273552"/>
            <a:ext cx="1298448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期限判定</a:t>
            </a:r>
          </a:p>
        </p:txBody>
      </p:sp>
      <p:sp>
        <p:nvSpPr>
          <p:cNvPr id="17" name="Revision prediction field panel"/>
          <p:cNvSpPr/>
          <p:nvPr/>
        </p:nvSpPr>
        <p:spPr>
          <a:xfrm>
            <a:off x="4736592" y="1280160"/>
            <a:ext cx="6473952" cy="6766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8" name="Revision prediction field label"/>
          <p:cNvSpPr txBox="1"/>
          <p:nvPr/>
        </p:nvSpPr>
        <p:spPr>
          <a:xfrm>
            <a:off x="4828031" y="1335024"/>
            <a:ext cx="2322576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required packet（必要封包）</a:t>
            </a:r>
          </a:p>
        </p:txBody>
      </p:sp>
      <p:sp>
        <p:nvSpPr>
          <p:cNvPr id="19" name="Revision prediction field explanation"/>
          <p:cNvSpPr txBox="1"/>
          <p:nvPr/>
        </p:nvSpPr>
        <p:spPr>
          <a:xfrm>
            <a:off x="7223760" y="1344168"/>
            <a:ext cx="3877055" cy="5486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packet；值 bit；確認送達</a:t>
            </a:r>
          </a:p>
        </p:txBody>
      </p:sp>
      <p:sp>
        <p:nvSpPr>
          <p:cNvPr id="20" name="Revision prediction field panel"/>
          <p:cNvSpPr/>
          <p:nvPr/>
        </p:nvSpPr>
        <p:spPr>
          <a:xfrm>
            <a:off x="4736592" y="2066543"/>
            <a:ext cx="6473952" cy="6766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1" name="Revision prediction field label"/>
          <p:cNvSpPr txBox="1"/>
          <p:nvPr/>
        </p:nvSpPr>
        <p:spPr>
          <a:xfrm>
            <a:off x="4828031" y="2121408"/>
            <a:ext cx="2322576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（服務／期限）</a:t>
            </a:r>
          </a:p>
        </p:txBody>
      </p:sp>
      <p:sp>
        <p:nvSpPr>
          <p:cNvPr id="22" name="Revision prediction field explanation"/>
          <p:cNvSpPr txBox="1"/>
          <p:nvPr/>
        </p:nvSpPr>
        <p:spPr>
          <a:xfrm>
            <a:off x="7223760" y="2130551"/>
            <a:ext cx="3877055" cy="5486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result；值 PASS／FAIL；判定窗口完成與 revision。</a:t>
            </a:r>
          </a:p>
        </p:txBody>
      </p:sp>
      <p:sp>
        <p:nvSpPr>
          <p:cNvPr id="23" name="Revision prediction field panel"/>
          <p:cNvSpPr/>
          <p:nvPr/>
        </p:nvSpPr>
        <p:spPr>
          <a:xfrm>
            <a:off x="4736592" y="2852928"/>
            <a:ext cx="6473952" cy="6766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4" name="Revision prediction field label"/>
          <p:cNvSpPr txBox="1"/>
          <p:nvPr/>
        </p:nvSpPr>
        <p:spPr>
          <a:xfrm>
            <a:off x="4828031" y="2907792"/>
            <a:ext cx="2322576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state ledger（狀態帳）</a:t>
            </a:r>
          </a:p>
        </p:txBody>
      </p:sp>
      <p:sp>
        <p:nvSpPr>
          <p:cNvPr id="25" name="Revision prediction field explanation"/>
          <p:cNvSpPr txBox="1"/>
          <p:nvPr/>
        </p:nvSpPr>
        <p:spPr>
          <a:xfrm>
            <a:off x="7223760" y="2916936"/>
            <a:ext cx="3877055" cy="5486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replay；值 WAKE／TX／RX／retry；連回 action 與 J。</a:t>
            </a:r>
          </a:p>
        </p:txBody>
      </p:sp>
      <p:sp>
        <p:nvSpPr>
          <p:cNvPr id="26" name="Revision prediction field panel"/>
          <p:cNvSpPr/>
          <p:nvPr/>
        </p:nvSpPr>
        <p:spPr>
          <a:xfrm>
            <a:off x="4736592" y="3639312"/>
            <a:ext cx="6473952" cy="6766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7" name="Revision prediction field label"/>
          <p:cNvSpPr txBox="1"/>
          <p:nvPr/>
        </p:nvSpPr>
        <p:spPr>
          <a:xfrm>
            <a:off x="4828031" y="3694176"/>
            <a:ext cx="2322576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（端點能量）</a:t>
            </a:r>
          </a:p>
        </p:txBody>
      </p:sp>
      <p:sp>
        <p:nvSpPr>
          <p:cNvPr id="28" name="Revision prediction field explanation"/>
          <p:cNvSpPr txBox="1"/>
          <p:nvPr/>
        </p:nvSpPr>
        <p:spPr>
          <a:xfrm>
            <a:off x="7223760" y="3703320"/>
            <a:ext cx="3877055" cy="5486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result；值 J；描述修訂代價</a:t>
            </a:r>
          </a:p>
        </p:txBody>
      </p:sp>
      <p:sp>
        <p:nvSpPr>
          <p:cNvPr id="29" name="Revision prediction sentence panel"/>
          <p:cNvSpPr/>
          <p:nvPr/>
        </p:nvSpPr>
        <p:spPr>
          <a:xfrm>
            <a:off x="749808" y="4590288"/>
            <a:ext cx="10552176" cy="47548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0" name="Revision prediction sentence text"/>
          <p:cNvSpPr txBox="1"/>
          <p:nvPr/>
        </p:nvSpPr>
        <p:spPr>
          <a:xfrm>
            <a:off x="896112" y="4645151"/>
            <a:ext cx="10259567" cy="3657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完整句：margin 30 預測較早送出、較高端點 J，並提高 required packet 在期限前完成的機率。</a:t>
            </a:r>
          </a:p>
        </p:txBody>
      </p:sp>
      <p:sp>
        <p:nvSpPr>
          <p:cNvPr id="31" name="Revision prediction question panel"/>
          <p:cNvSpPr/>
          <p:nvPr/>
        </p:nvSpPr>
        <p:spPr>
          <a:xfrm>
            <a:off x="749808" y="5102352"/>
            <a:ext cx="10552176" cy="27432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2" name="Revision prediction question text"/>
          <p:cNvSpPr txBox="1"/>
          <p:nvPr/>
        </p:nvSpPr>
        <p:spPr>
          <a:xfrm>
            <a:off x="896112" y="5157216"/>
            <a:ext cx="10259567" cy="1645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問題：哪三組 evidence 共同決定預測是否成立？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P072｜第二輪 run：revision freeze 與 surprise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econd run package root"/>
          <p:cNvSpPr txBox="1"/>
          <p:nvPr/>
        </p:nvSpPr>
        <p:spPr>
          <a:xfrm>
            <a:off x="768096" y="950976"/>
            <a:ext cx="10643616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 root：lora-energy-lab/</a:t>
            </a:r>
          </a:p>
        </p:txBody>
      </p:sp>
      <p:sp>
        <p:nvSpPr>
          <p:cNvPr id="6" name="Revision Windows command panel"/>
          <p:cNvSpPr/>
          <p:nvPr/>
        </p:nvSpPr>
        <p:spPr>
          <a:xfrm>
            <a:off x="713232" y="1261872"/>
            <a:ext cx="5321808" cy="84124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Revision Windows command heading"/>
          <p:cNvSpPr txBox="1"/>
          <p:nvPr/>
        </p:nvSpPr>
        <p:spPr>
          <a:xfrm>
            <a:off x="859536" y="1335024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revision｜Windows PowerShell</a:t>
            </a:r>
          </a:p>
        </p:txBody>
      </p:sp>
      <p:sp>
        <p:nvSpPr>
          <p:cNvPr id="8" name="Revision Windows command command"/>
          <p:cNvSpPr txBox="1"/>
          <p:nvPr/>
        </p:nvSpPr>
        <p:spPr>
          <a:xfrm>
            <a:off x="859536" y="1609343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run --lab C --case revision --freeze</a:t>
            </a:r>
          </a:p>
        </p:txBody>
      </p:sp>
      <p:sp>
        <p:nvSpPr>
          <p:cNvPr id="9" name="Surprise Windows command panel"/>
          <p:cNvSpPr/>
          <p:nvPr/>
        </p:nvSpPr>
        <p:spPr>
          <a:xfrm>
            <a:off x="6199632" y="1261872"/>
            <a:ext cx="5321808" cy="84124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0" name="Surprise Windows command heading"/>
          <p:cNvSpPr txBox="1"/>
          <p:nvPr/>
        </p:nvSpPr>
        <p:spPr>
          <a:xfrm>
            <a:off x="6345936" y="1335024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surprise｜Windows PowerShell</a:t>
            </a:r>
          </a:p>
        </p:txBody>
      </p:sp>
      <p:sp>
        <p:nvSpPr>
          <p:cNvPr id="11" name="Surprise Windows command command"/>
          <p:cNvSpPr txBox="1"/>
          <p:nvPr/>
        </p:nvSpPr>
        <p:spPr>
          <a:xfrm>
            <a:off x="6345936" y="1609343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run --lab C --case surprise</a:t>
            </a:r>
          </a:p>
        </p:txBody>
      </p:sp>
      <p:sp>
        <p:nvSpPr>
          <p:cNvPr id="12" name="Revision WSL command panel"/>
          <p:cNvSpPr/>
          <p:nvPr/>
        </p:nvSpPr>
        <p:spPr>
          <a:xfrm>
            <a:off x="713232" y="2231136"/>
            <a:ext cx="5321808" cy="84124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3" name="Revision WSL command heading"/>
          <p:cNvSpPr txBox="1"/>
          <p:nvPr/>
        </p:nvSpPr>
        <p:spPr>
          <a:xfrm>
            <a:off x="859536" y="230428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revision｜WSL/POSIX</a:t>
            </a:r>
          </a:p>
        </p:txBody>
      </p:sp>
      <p:sp>
        <p:nvSpPr>
          <p:cNvPr id="14" name="Revision WSL command command"/>
          <p:cNvSpPr txBox="1"/>
          <p:nvPr/>
        </p:nvSpPr>
        <p:spPr>
          <a:xfrm>
            <a:off x="859536" y="2578608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 --lab C --case revision --freeze</a:t>
            </a:r>
          </a:p>
        </p:txBody>
      </p:sp>
      <p:sp>
        <p:nvSpPr>
          <p:cNvPr id="15" name="Surprise WSL command panel"/>
          <p:cNvSpPr/>
          <p:nvPr/>
        </p:nvSpPr>
        <p:spPr>
          <a:xfrm>
            <a:off x="6199632" y="2231136"/>
            <a:ext cx="5321808" cy="84124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6" name="Surprise WSL command heading"/>
          <p:cNvSpPr txBox="1"/>
          <p:nvPr/>
        </p:nvSpPr>
        <p:spPr>
          <a:xfrm>
            <a:off x="6345936" y="230428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surprise｜WSL/POSIX</a:t>
            </a:r>
          </a:p>
        </p:txBody>
      </p:sp>
      <p:sp>
        <p:nvSpPr>
          <p:cNvPr id="17" name="Surprise WSL command command"/>
          <p:cNvSpPr txBox="1"/>
          <p:nvPr/>
        </p:nvSpPr>
        <p:spPr>
          <a:xfrm>
            <a:off x="6345936" y="2578608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 --lab C --case surprise</a:t>
            </a:r>
          </a:p>
        </p:txBody>
      </p:sp>
      <p:sp>
        <p:nvSpPr>
          <p:cNvPr id="18" name="Second stdout contract panel"/>
          <p:cNvSpPr/>
          <p:nvPr/>
        </p:nvSpPr>
        <p:spPr>
          <a:xfrm>
            <a:off x="694944" y="3273552"/>
            <a:ext cx="10716768" cy="69494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9" name="Second stdout contract label"/>
          <p:cNvSpPr txBox="1"/>
          <p:nvPr/>
        </p:nvSpPr>
        <p:spPr>
          <a:xfrm>
            <a:off x="786384" y="3328416"/>
            <a:ext cx="2322576" cy="58521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stdout contract（標準輸出）</a:t>
            </a:r>
          </a:p>
        </p:txBody>
      </p:sp>
      <p:sp>
        <p:nvSpPr>
          <p:cNvPr id="20" name="Second stdout contract explanation"/>
          <p:cNvSpPr txBox="1"/>
          <p:nvPr/>
        </p:nvSpPr>
        <p:spPr>
          <a:xfrm>
            <a:off x="3182112" y="3337560"/>
            <a:ext cx="8119872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runner stdout；值 status、run_id、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；定位 revision／surprise result；收據齊全；原 artifact 保持。</a:t>
            </a:r>
          </a:p>
        </p:txBody>
      </p:sp>
      <p:sp>
        <p:nvSpPr>
          <p:cNvPr id="21" name="Second artifact source panel"/>
          <p:cNvSpPr/>
          <p:nvPr/>
        </p:nvSpPr>
        <p:spPr>
          <a:xfrm>
            <a:off x="694944" y="4078224"/>
            <a:ext cx="10716768" cy="69494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2" name="Second artifact source label"/>
          <p:cNvSpPr txBox="1"/>
          <p:nvPr/>
        </p:nvSpPr>
        <p:spPr>
          <a:xfrm>
            <a:off x="786384" y="4133087"/>
            <a:ext cx="2322576" cy="58521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artifact source（來源邊界）</a:t>
            </a:r>
          </a:p>
        </p:txBody>
      </p:sp>
      <p:sp>
        <p:nvSpPr>
          <p:cNvPr id="23" name="Second artifact source explanation"/>
          <p:cNvSpPr txBox="1"/>
          <p:nvPr/>
        </p:nvSpPr>
        <p:spPr>
          <a:xfrm>
            <a:off x="3182112" y="4142232"/>
            <a:ext cx="8119872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header；值 artifact_source、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；配對 replay；identity 一致；claim_boundary 保持。</a:t>
            </a:r>
          </a:p>
        </p:txBody>
      </p:sp>
      <p:sp>
        <p:nvSpPr>
          <p:cNvPr id="24" name="Second run interpretation panel"/>
          <p:cNvSpPr/>
          <p:nvPr/>
        </p:nvSpPr>
        <p:spPr>
          <a:xfrm>
            <a:off x="749808" y="4882896"/>
            <a:ext cx="10552176" cy="40233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5" name="Second run interpretation text"/>
          <p:cNvSpPr txBox="1"/>
          <p:nvPr/>
        </p:nvSpPr>
        <p:spPr>
          <a:xfrm>
            <a:off x="896112" y="4937759"/>
            <a:ext cx="10259567" cy="2926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Expect／Interpret：配對 replay 後讀 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、action、state、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；claim_boundary 只對此 artifact。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P073-A｜服務與期限結果：三筆案例的 gate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Gate comparison header"/>
          <p:cNvSpPr/>
          <p:nvPr/>
        </p:nvSpPr>
        <p:spPr>
          <a:xfrm>
            <a:off x="749808" y="1261872"/>
            <a:ext cx="2029968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案例／門檻</a:t>
            </a:r>
          </a:p>
        </p:txBody>
      </p:sp>
      <p:sp>
        <p:nvSpPr>
          <p:cNvPr id="6" name="Gate comparison header"/>
          <p:cNvSpPr/>
          <p:nvPr/>
        </p:nvSpPr>
        <p:spPr>
          <a:xfrm>
            <a:off x="2834640" y="1261872"/>
            <a:ext cx="1874519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服務結果</a:t>
            </a:r>
          </a:p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7" name="Gate comparison header"/>
          <p:cNvSpPr/>
          <p:nvPr/>
        </p:nvSpPr>
        <p:spPr>
          <a:xfrm>
            <a:off x="4764024" y="1261872"/>
            <a:ext cx="1874519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期限結果</a:t>
            </a:r>
          </a:p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deadline</a:t>
            </a:r>
          </a:p>
        </p:txBody>
      </p:sp>
      <p:sp>
        <p:nvSpPr>
          <p:cNvPr id="8" name="Gate comparison header"/>
          <p:cNvSpPr/>
          <p:nvPr/>
        </p:nvSpPr>
        <p:spPr>
          <a:xfrm>
            <a:off x="6693408" y="1261872"/>
            <a:ext cx="1874519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已送達資料</a:t>
            </a:r>
          </a:p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delivered bits</a:t>
            </a:r>
          </a:p>
        </p:txBody>
      </p:sp>
      <p:sp>
        <p:nvSpPr>
          <p:cNvPr id="9" name="Gate comparison header"/>
          <p:cNvSpPr/>
          <p:nvPr/>
        </p:nvSpPr>
        <p:spPr>
          <a:xfrm>
            <a:off x="8622792" y="1261872"/>
            <a:ext cx="2743200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來源與判讀</a:t>
            </a:r>
          </a:p>
        </p:txBody>
      </p:sp>
      <p:sp>
        <p:nvSpPr>
          <p:cNvPr id="10" name="Gate comparison value"/>
          <p:cNvSpPr/>
          <p:nvPr/>
        </p:nvSpPr>
        <p:spPr>
          <a:xfrm>
            <a:off x="749808" y="1956816"/>
            <a:ext cx="2029968" cy="62179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20 秒</a:t>
            </a:r>
          </a:p>
        </p:txBody>
      </p:sp>
      <p:sp>
        <p:nvSpPr>
          <p:cNvPr id="11" name="Gate comparison value"/>
          <p:cNvSpPr/>
          <p:nvPr/>
        </p:nvSpPr>
        <p:spPr>
          <a:xfrm>
            <a:off x="2834640" y="1956816"/>
            <a:ext cx="1874519" cy="62179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1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PASS</a:t>
            </a:r>
          </a:p>
        </p:txBody>
      </p:sp>
      <p:sp>
        <p:nvSpPr>
          <p:cNvPr id="12" name="Gate comparison value"/>
          <p:cNvSpPr/>
          <p:nvPr/>
        </p:nvSpPr>
        <p:spPr>
          <a:xfrm>
            <a:off x="4764024" y="1956816"/>
            <a:ext cx="1874519" cy="62179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1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PASS</a:t>
            </a:r>
          </a:p>
        </p:txBody>
      </p:sp>
      <p:sp>
        <p:nvSpPr>
          <p:cNvPr id="13" name="Gate comparison value"/>
          <p:cNvSpPr/>
          <p:nvPr/>
        </p:nvSpPr>
        <p:spPr>
          <a:xfrm>
            <a:off x="6693408" y="1956816"/>
            <a:ext cx="1874519" cy="62179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1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10,400 bit</a:t>
            </a:r>
          </a:p>
        </p:txBody>
      </p:sp>
      <p:sp>
        <p:nvSpPr>
          <p:cNvPr id="14" name="Gate comparison value"/>
          <p:cNvSpPr/>
          <p:nvPr/>
        </p:nvSpPr>
        <p:spPr>
          <a:xfrm>
            <a:off x="8622792" y="1956816"/>
            <a:ext cx="2743200" cy="62179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同情境 </a:t>
            </a:r>
            <a:r>
              <a:rPr sz="19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19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；control 通過</a:t>
            </a:r>
          </a:p>
        </p:txBody>
      </p:sp>
      <p:sp>
        <p:nvSpPr>
          <p:cNvPr id="15" name="Gate comparison value"/>
          <p:cNvSpPr/>
          <p:nvPr/>
        </p:nvSpPr>
        <p:spPr>
          <a:xfrm>
            <a:off x="749808" y="2798064"/>
            <a:ext cx="2029968" cy="62179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</a:t>
            </a:r>
          </a:p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5 秒</a:t>
            </a:r>
          </a:p>
        </p:txBody>
      </p:sp>
      <p:sp>
        <p:nvSpPr>
          <p:cNvPr id="16" name="Gate comparison value"/>
          <p:cNvSpPr/>
          <p:nvPr/>
        </p:nvSpPr>
        <p:spPr>
          <a:xfrm>
            <a:off x="2834640" y="2798064"/>
            <a:ext cx="1874519" cy="62179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1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FAIL</a:t>
            </a:r>
          </a:p>
        </p:txBody>
      </p:sp>
      <p:sp>
        <p:nvSpPr>
          <p:cNvPr id="17" name="Gate comparison value"/>
          <p:cNvSpPr/>
          <p:nvPr/>
        </p:nvSpPr>
        <p:spPr>
          <a:xfrm>
            <a:off x="4764024" y="2798064"/>
            <a:ext cx="1874519" cy="62179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1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FAIL</a:t>
            </a:r>
          </a:p>
        </p:txBody>
      </p:sp>
      <p:sp>
        <p:nvSpPr>
          <p:cNvPr id="18" name="Gate comparison value"/>
          <p:cNvSpPr/>
          <p:nvPr/>
        </p:nvSpPr>
        <p:spPr>
          <a:xfrm>
            <a:off x="6693408" y="2798064"/>
            <a:ext cx="1874519" cy="62179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1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9,600 bit</a:t>
            </a:r>
          </a:p>
        </p:txBody>
      </p:sp>
      <p:sp>
        <p:nvSpPr>
          <p:cNvPr id="19" name="Gate comparison value"/>
          <p:cNvSpPr/>
          <p:nvPr/>
        </p:nvSpPr>
        <p:spPr>
          <a:xfrm>
            <a:off x="8622792" y="2798064"/>
            <a:ext cx="2743200" cy="62179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同情境 </a:t>
            </a:r>
            <a:r>
              <a:rPr sz="19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19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；兩個 gate 失敗</a:t>
            </a:r>
          </a:p>
        </p:txBody>
      </p:sp>
      <p:sp>
        <p:nvSpPr>
          <p:cNvPr id="20" name="Gate comparison value"/>
          <p:cNvSpPr/>
          <p:nvPr/>
        </p:nvSpPr>
        <p:spPr>
          <a:xfrm>
            <a:off x="749808" y="3639312"/>
            <a:ext cx="2029968" cy="62179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revision</a:t>
            </a:r>
          </a:p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30 秒</a:t>
            </a:r>
          </a:p>
        </p:txBody>
      </p:sp>
      <p:sp>
        <p:nvSpPr>
          <p:cNvPr id="21" name="Gate comparison value"/>
          <p:cNvSpPr/>
          <p:nvPr/>
        </p:nvSpPr>
        <p:spPr>
          <a:xfrm>
            <a:off x="2834640" y="3639312"/>
            <a:ext cx="1874519" cy="62179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1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PASS</a:t>
            </a:r>
          </a:p>
        </p:txBody>
      </p:sp>
      <p:sp>
        <p:nvSpPr>
          <p:cNvPr id="22" name="Gate comparison value"/>
          <p:cNvSpPr/>
          <p:nvPr/>
        </p:nvSpPr>
        <p:spPr>
          <a:xfrm>
            <a:off x="4764024" y="3639312"/>
            <a:ext cx="1874519" cy="62179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1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PASS</a:t>
            </a:r>
          </a:p>
        </p:txBody>
      </p:sp>
      <p:sp>
        <p:nvSpPr>
          <p:cNvPr id="23" name="Gate comparison value"/>
          <p:cNvSpPr/>
          <p:nvPr/>
        </p:nvSpPr>
        <p:spPr>
          <a:xfrm>
            <a:off x="6693408" y="3639312"/>
            <a:ext cx="1874519" cy="62179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1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10,400 bit</a:t>
            </a:r>
          </a:p>
        </p:txBody>
      </p:sp>
      <p:sp>
        <p:nvSpPr>
          <p:cNvPr id="24" name="Gate comparison value"/>
          <p:cNvSpPr/>
          <p:nvPr/>
        </p:nvSpPr>
        <p:spPr>
          <a:xfrm>
            <a:off x="8622792" y="3639312"/>
            <a:ext cx="2743200" cy="62179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同情境 </a:t>
            </a:r>
            <a:r>
              <a:rPr sz="19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19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；固定條件通過</a:t>
            </a:r>
          </a:p>
        </p:txBody>
      </p:sp>
      <p:sp>
        <p:nvSpPr>
          <p:cNvPr id="25" name="Evidence source label"/>
          <p:cNvSpPr txBox="1"/>
          <p:nvPr/>
        </p:nvSpPr>
        <p:spPr>
          <a:xfrm>
            <a:off x="822960" y="4553712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來源類型：operation-contract deterministic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；固定 scenario 與 endpoint scope。</a:t>
            </a:r>
          </a:p>
        </p:txBody>
      </p:sp>
      <p:sp>
        <p:nvSpPr>
          <p:cNvPr id="26" name="Gate comparison interpretation panel"/>
          <p:cNvSpPr/>
          <p:nvPr/>
        </p:nvSpPr>
        <p:spPr>
          <a:xfrm>
            <a:off x="749808" y="4919472"/>
            <a:ext cx="10552176" cy="438912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7" name="Gate comparison interpretation text"/>
          <p:cNvSpPr txBox="1"/>
          <p:nvPr/>
        </p:nvSpPr>
        <p:spPr>
          <a:xfrm>
            <a:off x="896112" y="4974336"/>
            <a:ext cx="10259567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判讀：先讀 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，再讀 delivered bits；result 與 replay 定義 gate。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P073-B｜能量與效率結果：三筆案例的 endpoint ledger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nergy comparison header"/>
          <p:cNvSpPr/>
          <p:nvPr/>
        </p:nvSpPr>
        <p:spPr>
          <a:xfrm>
            <a:off x="822960" y="1298448"/>
            <a:ext cx="2395728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案例／gate</a:t>
            </a:r>
          </a:p>
        </p:txBody>
      </p:sp>
      <p:sp>
        <p:nvSpPr>
          <p:cNvPr id="6" name="Energy comparison header"/>
          <p:cNvSpPr/>
          <p:nvPr/>
        </p:nvSpPr>
        <p:spPr>
          <a:xfrm>
            <a:off x="3291840" y="1298448"/>
            <a:ext cx="2395728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端點能量</a:t>
            </a:r>
          </a:p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7" name="Energy comparison header"/>
          <p:cNvSpPr/>
          <p:nvPr/>
        </p:nvSpPr>
        <p:spPr>
          <a:xfrm>
            <a:off x="5760720" y="1298448"/>
            <a:ext cx="2487168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能量效率</a:t>
            </a:r>
          </a:p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bit/J</a:t>
            </a:r>
          </a:p>
        </p:txBody>
      </p:sp>
      <p:sp>
        <p:nvSpPr>
          <p:cNvPr id="8" name="Energy comparison header"/>
          <p:cNvSpPr/>
          <p:nvPr/>
        </p:nvSpPr>
        <p:spPr>
          <a:xfrm>
            <a:off x="8321040" y="1298448"/>
            <a:ext cx="2779776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來源與讀法</a:t>
            </a:r>
          </a:p>
        </p:txBody>
      </p:sp>
      <p:sp>
        <p:nvSpPr>
          <p:cNvPr id="9" name="Energy comparison value"/>
          <p:cNvSpPr/>
          <p:nvPr/>
        </p:nvSpPr>
        <p:spPr>
          <a:xfrm>
            <a:off x="822960" y="2011680"/>
            <a:ext cx="2395728" cy="603504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PASS／PASS</a:t>
            </a:r>
          </a:p>
        </p:txBody>
      </p:sp>
      <p:sp>
        <p:nvSpPr>
          <p:cNvPr id="10" name="Energy comparison value"/>
          <p:cNvSpPr/>
          <p:nvPr/>
        </p:nvSpPr>
        <p:spPr>
          <a:xfrm>
            <a:off x="3291840" y="2011680"/>
            <a:ext cx="2395728" cy="603504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10.66 J</a:t>
            </a:r>
          </a:p>
        </p:txBody>
      </p:sp>
      <p:sp>
        <p:nvSpPr>
          <p:cNvPr id="11" name="Energy comparison value"/>
          <p:cNvSpPr/>
          <p:nvPr/>
        </p:nvSpPr>
        <p:spPr>
          <a:xfrm>
            <a:off x="5760720" y="2011680"/>
            <a:ext cx="2487168" cy="603504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975.609756 </a:t>
            </a: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bit/J</a:t>
            </a:r>
          </a:p>
        </p:txBody>
      </p:sp>
      <p:sp>
        <p:nvSpPr>
          <p:cNvPr id="12" name="Energy comparison value"/>
          <p:cNvSpPr/>
          <p:nvPr/>
        </p:nvSpPr>
        <p:spPr>
          <a:xfrm>
            <a:off x="8321040" y="2011680"/>
            <a:ext cx="2779776" cy="603504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固定 control；energy scope 為 endpoint</a:t>
            </a:r>
          </a:p>
        </p:txBody>
      </p:sp>
      <p:sp>
        <p:nvSpPr>
          <p:cNvPr id="13" name="Energy comparison value"/>
          <p:cNvSpPr/>
          <p:nvPr/>
        </p:nvSpPr>
        <p:spPr>
          <a:xfrm>
            <a:off x="822960" y="2834640"/>
            <a:ext cx="2395728" cy="603504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</a:t>
            </a:r>
          </a:p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FAIL／FAIL</a:t>
            </a:r>
          </a:p>
        </p:txBody>
      </p:sp>
      <p:sp>
        <p:nvSpPr>
          <p:cNvPr id="14" name="Energy comparison value"/>
          <p:cNvSpPr/>
          <p:nvPr/>
        </p:nvSpPr>
        <p:spPr>
          <a:xfrm>
            <a:off x="3291840" y="2834640"/>
            <a:ext cx="2395728" cy="603504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9.74 J</a:t>
            </a:r>
          </a:p>
        </p:txBody>
      </p:sp>
      <p:sp>
        <p:nvSpPr>
          <p:cNvPr id="15" name="Energy comparison value"/>
          <p:cNvSpPr/>
          <p:nvPr/>
        </p:nvSpPr>
        <p:spPr>
          <a:xfrm>
            <a:off x="5760720" y="2834640"/>
            <a:ext cx="2487168" cy="603504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985.626283 </a:t>
            </a: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bit/J</a:t>
            </a:r>
          </a:p>
        </p:txBody>
      </p:sp>
      <p:sp>
        <p:nvSpPr>
          <p:cNvPr id="16" name="Energy comparison value"/>
          <p:cNvSpPr/>
          <p:nvPr/>
        </p:nvSpPr>
        <p:spPr>
          <a:xfrm>
            <a:off x="8321040" y="2834640"/>
            <a:ext cx="2779776" cy="603504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少 J、少交付；效率不改 gate</a:t>
            </a:r>
          </a:p>
        </p:txBody>
      </p:sp>
      <p:sp>
        <p:nvSpPr>
          <p:cNvPr id="17" name="Energy comparison value"/>
          <p:cNvSpPr/>
          <p:nvPr/>
        </p:nvSpPr>
        <p:spPr>
          <a:xfrm>
            <a:off x="822960" y="3657600"/>
            <a:ext cx="2395728" cy="603504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revision</a:t>
            </a:r>
          </a:p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PASS／PASS</a:t>
            </a:r>
          </a:p>
        </p:txBody>
      </p:sp>
      <p:sp>
        <p:nvSpPr>
          <p:cNvPr id="18" name="Energy comparison value"/>
          <p:cNvSpPr/>
          <p:nvPr/>
        </p:nvSpPr>
        <p:spPr>
          <a:xfrm>
            <a:off x="3291840" y="3657600"/>
            <a:ext cx="2395728" cy="603504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10.66 J</a:t>
            </a:r>
          </a:p>
        </p:txBody>
      </p:sp>
      <p:sp>
        <p:nvSpPr>
          <p:cNvPr id="19" name="Energy comparison value"/>
          <p:cNvSpPr/>
          <p:nvPr/>
        </p:nvSpPr>
        <p:spPr>
          <a:xfrm>
            <a:off x="5760720" y="3657600"/>
            <a:ext cx="2487168" cy="603504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975.609756 </a:t>
            </a: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bit/J</a:t>
            </a:r>
          </a:p>
        </p:txBody>
      </p:sp>
      <p:sp>
        <p:nvSpPr>
          <p:cNvPr id="20" name="Energy comparison value"/>
          <p:cNvSpPr/>
          <p:nvPr/>
        </p:nvSpPr>
        <p:spPr>
          <a:xfrm>
            <a:off x="8321040" y="3657600"/>
            <a:ext cx="2779776" cy="603504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同條件恢復 gate；J 與 control 相同</a:t>
            </a:r>
          </a:p>
        </p:txBody>
      </p:sp>
      <p:sp>
        <p:nvSpPr>
          <p:cNvPr id="21" name="Evidence source label"/>
          <p:cNvSpPr txBox="1"/>
          <p:nvPr/>
        </p:nvSpPr>
        <p:spPr>
          <a:xfrm>
            <a:off x="822960" y="4590288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來源類型：同情境 deterministic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單位為 J，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bit/J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單位為 bit per J。</a:t>
            </a:r>
          </a:p>
        </p:txBody>
      </p:sp>
      <p:sp>
        <p:nvSpPr>
          <p:cNvPr id="22" name="Energy comparison interpretation panel"/>
          <p:cNvSpPr/>
          <p:nvPr/>
        </p:nvSpPr>
        <p:spPr>
          <a:xfrm>
            <a:off x="749808" y="4882896"/>
            <a:ext cx="10552176" cy="49377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3" name="Energy comparison interpretation text"/>
          <p:cNvSpPr txBox="1"/>
          <p:nvPr/>
        </p:nvSpPr>
        <p:spPr>
          <a:xfrm>
            <a:off x="896112" y="4937759"/>
            <a:ext cx="10259567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Expect／Interpret：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bit/J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只描述 endpoint scope；與 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、delivery、replay 一起讀，不產生成功判定。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P073-C｜唯一修改如何改變 state 與 packet 事件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Causal mechanism node"/>
          <p:cNvSpPr/>
          <p:nvPr/>
        </p:nvSpPr>
        <p:spPr>
          <a:xfrm>
            <a:off x="676656" y="1481328"/>
            <a:ext cx="2487168" cy="193852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6" name="Causal node heading"/>
          <p:cNvSpPr txBox="1"/>
          <p:nvPr/>
        </p:nvSpPr>
        <p:spPr>
          <a:xfrm>
            <a:off x="822960" y="1719072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2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門檻</a:t>
            </a:r>
          </a:p>
        </p:txBody>
      </p:sp>
      <p:sp>
        <p:nvSpPr>
          <p:cNvPr id="7" name="Causal node body"/>
          <p:cNvSpPr txBox="1"/>
          <p:nvPr/>
        </p:nvSpPr>
        <p:spPr>
          <a:xfrm>
            <a:off x="859536" y="2267712"/>
            <a:ext cx="2121408" cy="8046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margin</a:t>
            </a:r>
          </a:p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20 → 5 → 30</a:t>
            </a:r>
          </a:p>
        </p:txBody>
      </p:sp>
      <p:cxnSp>
        <p:nvCxnSpPr>
          <p:cNvPr id="8" name="Editable connector"/>
          <p:cNvCxnSpPr/>
          <p:nvPr/>
        </p:nvCxnSpPr>
        <p:spPr>
          <a:xfrm>
            <a:off x="3163824" y="2450592"/>
            <a:ext cx="274320" cy="0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usal mechanism node"/>
          <p:cNvSpPr/>
          <p:nvPr/>
        </p:nvSpPr>
        <p:spPr>
          <a:xfrm>
            <a:off x="3438144" y="1481328"/>
            <a:ext cx="2487168" cy="193852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0" name="Causal node heading"/>
          <p:cNvSpPr txBox="1"/>
          <p:nvPr/>
        </p:nvSpPr>
        <p:spPr>
          <a:xfrm>
            <a:off x="3584448" y="1719072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1" name="Causal node body"/>
          <p:cNvSpPr txBox="1"/>
          <p:nvPr/>
        </p:nvSpPr>
        <p:spPr>
          <a:xfrm>
            <a:off x="3621024" y="2267712"/>
            <a:ext cx="2121408" cy="8046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或正常 pacing</a:t>
            </a:r>
          </a:p>
        </p:txBody>
      </p:sp>
      <p:cxnSp>
        <p:nvCxnSpPr>
          <p:cNvPr id="12" name="Editable connector"/>
          <p:cNvCxnSpPr/>
          <p:nvPr/>
        </p:nvCxnSpPr>
        <p:spPr>
          <a:xfrm>
            <a:off x="5925312" y="2450592"/>
            <a:ext cx="274319" cy="0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usal mechanism node"/>
          <p:cNvSpPr/>
          <p:nvPr/>
        </p:nvSpPr>
        <p:spPr>
          <a:xfrm>
            <a:off x="6199631" y="1481328"/>
            <a:ext cx="2487168" cy="193852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4" name="Causal node heading"/>
          <p:cNvSpPr txBox="1"/>
          <p:nvPr/>
        </p:nvSpPr>
        <p:spPr>
          <a:xfrm>
            <a:off x="6345936" y="1719072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2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state</a:t>
            </a:r>
          </a:p>
        </p:txBody>
      </p:sp>
      <p:sp>
        <p:nvSpPr>
          <p:cNvPr id="15" name="Causal node body"/>
          <p:cNvSpPr txBox="1"/>
          <p:nvPr/>
        </p:nvSpPr>
        <p:spPr>
          <a:xfrm>
            <a:off x="6382512" y="2267712"/>
            <a:ext cx="2121408" cy="8046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WAKE／TX／RX</a:t>
            </a:r>
          </a:p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retry</a:t>
            </a:r>
          </a:p>
        </p:txBody>
      </p:sp>
      <p:cxnSp>
        <p:nvCxnSpPr>
          <p:cNvPr id="16" name="Editable connector"/>
          <p:cNvCxnSpPr/>
          <p:nvPr/>
        </p:nvCxnSpPr>
        <p:spPr>
          <a:xfrm>
            <a:off x="8686800" y="2450592"/>
            <a:ext cx="274319" cy="0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usal mechanism node"/>
          <p:cNvSpPr/>
          <p:nvPr/>
        </p:nvSpPr>
        <p:spPr>
          <a:xfrm>
            <a:off x="8961119" y="1481328"/>
            <a:ext cx="2487168" cy="193852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8" name="Causal node heading"/>
          <p:cNvSpPr txBox="1"/>
          <p:nvPr/>
        </p:nvSpPr>
        <p:spPr>
          <a:xfrm>
            <a:off x="9107424" y="1719072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packet</a:t>
            </a:r>
          </a:p>
        </p:txBody>
      </p:sp>
      <p:sp>
        <p:nvSpPr>
          <p:cNvPr id="19" name="Causal node body"/>
          <p:cNvSpPr txBox="1"/>
          <p:nvPr/>
        </p:nvSpPr>
        <p:spPr>
          <a:xfrm>
            <a:off x="9143999" y="2267712"/>
            <a:ext cx="2121408" cy="8046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delivery／expiry</a:t>
            </a:r>
          </a:p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gate</a:t>
            </a:r>
          </a:p>
        </p:txBody>
      </p:sp>
      <p:sp>
        <p:nvSpPr>
          <p:cNvPr id="20" name="Causal state ledger panel"/>
          <p:cNvSpPr/>
          <p:nvPr/>
        </p:nvSpPr>
        <p:spPr>
          <a:xfrm>
            <a:off x="694944" y="3822191"/>
            <a:ext cx="10716768" cy="6766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1" name="Causal state ledger label"/>
          <p:cNvSpPr txBox="1"/>
          <p:nvPr/>
        </p:nvSpPr>
        <p:spPr>
          <a:xfrm>
            <a:off x="786384" y="3877055"/>
            <a:ext cx="2084831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state ledger（狀態帳）</a:t>
            </a:r>
          </a:p>
        </p:txBody>
      </p:sp>
      <p:sp>
        <p:nvSpPr>
          <p:cNvPr id="22" name="Causal state ledger explanation"/>
          <p:cNvSpPr txBox="1"/>
          <p:nvPr/>
        </p:nvSpPr>
        <p:spPr>
          <a:xfrm>
            <a:off x="2944368" y="3886200"/>
            <a:ext cx="8357616" cy="5486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replay frame；值 WAKE、TX、RX、retry；連回 action 與 J；state 事件解釋 endpoint energy。</a:t>
            </a:r>
          </a:p>
        </p:txBody>
      </p:sp>
      <p:sp>
        <p:nvSpPr>
          <p:cNvPr id="23" name="Causal packet event panel"/>
          <p:cNvSpPr/>
          <p:nvPr/>
        </p:nvSpPr>
        <p:spPr>
          <a:xfrm>
            <a:off x="694944" y="4626864"/>
            <a:ext cx="10716768" cy="6766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4" name="Causal packet event label"/>
          <p:cNvSpPr txBox="1"/>
          <p:nvPr/>
        </p:nvSpPr>
        <p:spPr>
          <a:xfrm>
            <a:off x="786384" y="4681727"/>
            <a:ext cx="2084831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packet event（封包事件）</a:t>
            </a:r>
          </a:p>
        </p:txBody>
      </p:sp>
      <p:sp>
        <p:nvSpPr>
          <p:cNvPr id="25" name="Causal packet event explanation"/>
          <p:cNvSpPr txBox="1"/>
          <p:nvPr/>
        </p:nvSpPr>
        <p:spPr>
          <a:xfrm>
            <a:off x="2944368" y="4690872"/>
            <a:ext cx="8357616" cy="5486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packet trace；值 attempt、delivered、expired；定義 </a:t>
            </a: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；事件結果約束效率解讀。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P074｜surprise：frozen policy 的適用邊界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Frozen policy panel"/>
          <p:cNvSpPr/>
          <p:nvPr/>
        </p:nvSpPr>
        <p:spPr>
          <a:xfrm>
            <a:off x="713232" y="1280160"/>
            <a:ext cx="4846320" cy="3383280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6" name="Frozen policy heading"/>
          <p:cNvSpPr txBox="1"/>
          <p:nvPr/>
        </p:nvSpPr>
        <p:spPr>
          <a:xfrm>
            <a:off x="914400" y="1536192"/>
            <a:ext cx="4443984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2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frozen policy（凍結 policy）</a:t>
            </a:r>
          </a:p>
        </p:txBody>
      </p:sp>
      <p:sp>
        <p:nvSpPr>
          <p:cNvPr id="7" name="Frozen policy code panel"/>
          <p:cNvSpPr/>
          <p:nvPr/>
        </p:nvSpPr>
        <p:spPr>
          <a:xfrm>
            <a:off x="1042415" y="2103120"/>
            <a:ext cx="4169663" cy="84124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8" name="Frozen policy code text"/>
          <p:cNvSpPr txBox="1"/>
          <p:nvPr/>
        </p:nvSpPr>
        <p:spPr>
          <a:xfrm>
            <a:off x="1207007" y="2231136"/>
            <a:ext cx="3840479" cy="58521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30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 bytes unchanged</a:t>
            </a:r>
          </a:p>
        </p:txBody>
      </p:sp>
      <p:sp>
        <p:nvSpPr>
          <p:cNvPr id="9" name="Frozen policy explanation"/>
          <p:cNvSpPr txBox="1"/>
          <p:nvPr/>
        </p:nvSpPr>
        <p:spPr>
          <a:xfrm>
            <a:off x="950976" y="3108960"/>
            <a:ext cx="4370832" cy="10607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來源：revision freeze receipt；唯一 edit 不變。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判讀：surprise 使用同一 policy，只改變 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condition。</a:t>
            </a:r>
          </a:p>
        </p:txBody>
      </p:sp>
      <p:sp>
        <p:nvSpPr>
          <p:cNvPr id="10" name="Surprise result panel"/>
          <p:cNvSpPr/>
          <p:nvPr/>
        </p:nvSpPr>
        <p:spPr>
          <a:xfrm>
            <a:off x="5833872" y="1280160"/>
            <a:ext cx="5358384" cy="3383280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1" name="Surprise heading"/>
          <p:cNvSpPr txBox="1"/>
          <p:nvPr/>
        </p:nvSpPr>
        <p:spPr>
          <a:xfrm>
            <a:off x="6053328" y="1536192"/>
            <a:ext cx="4919472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2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surprise（保留案例）</a:t>
            </a:r>
          </a:p>
        </p:txBody>
      </p:sp>
      <p:sp>
        <p:nvSpPr>
          <p:cNvPr id="12" name="Surprise delivered panel"/>
          <p:cNvSpPr/>
          <p:nvPr/>
        </p:nvSpPr>
        <p:spPr>
          <a:xfrm>
            <a:off x="6053328" y="2029968"/>
            <a:ext cx="4919472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3" name="Surprise delivered label"/>
          <p:cNvSpPr txBox="1"/>
          <p:nvPr/>
        </p:nvSpPr>
        <p:spPr>
          <a:xfrm>
            <a:off x="6144768" y="208483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delivered bits（送達位元）</a:t>
            </a:r>
          </a:p>
        </p:txBody>
      </p:sp>
      <p:sp>
        <p:nvSpPr>
          <p:cNvPr id="14" name="Surprise delivered explanation"/>
          <p:cNvSpPr txBox="1"/>
          <p:nvPr/>
        </p:nvSpPr>
        <p:spPr>
          <a:xfrm>
            <a:off x="8046720" y="2093976"/>
            <a:ext cx="2816351" cy="5303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；值 2,400 bit；量化送達</a:t>
            </a:r>
          </a:p>
        </p:txBody>
      </p:sp>
      <p:sp>
        <p:nvSpPr>
          <p:cNvPr id="15" name="Surprise retries panel"/>
          <p:cNvSpPr/>
          <p:nvPr/>
        </p:nvSpPr>
        <p:spPr>
          <a:xfrm>
            <a:off x="6053328" y="2798064"/>
            <a:ext cx="4919472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6" name="Surprise retries label"/>
          <p:cNvSpPr txBox="1"/>
          <p:nvPr/>
        </p:nvSpPr>
        <p:spPr>
          <a:xfrm>
            <a:off x="6144768" y="2852928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retransmissions（重傳）</a:t>
            </a:r>
          </a:p>
        </p:txBody>
      </p:sp>
      <p:sp>
        <p:nvSpPr>
          <p:cNvPr id="17" name="Surprise retries explanation"/>
          <p:cNvSpPr txBox="1"/>
          <p:nvPr/>
        </p:nvSpPr>
        <p:spPr>
          <a:xfrm>
            <a:off x="8046720" y="2862072"/>
            <a:ext cx="2816351" cy="5303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packet event；值 3 次；顯示傳輸代價並解釋 J。</a:t>
            </a:r>
          </a:p>
        </p:txBody>
      </p:sp>
      <p:sp>
        <p:nvSpPr>
          <p:cNvPr id="18" name="Surprise expired panel"/>
          <p:cNvSpPr/>
          <p:nvPr/>
        </p:nvSpPr>
        <p:spPr>
          <a:xfrm>
            <a:off x="6053328" y="3566160"/>
            <a:ext cx="4919472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9" name="Surprise expired label"/>
          <p:cNvSpPr txBox="1"/>
          <p:nvPr/>
        </p:nvSpPr>
        <p:spPr>
          <a:xfrm>
            <a:off x="6144768" y="3621024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expired packets（逾期封包）</a:t>
            </a:r>
          </a:p>
        </p:txBody>
      </p:sp>
      <p:sp>
        <p:nvSpPr>
          <p:cNvPr id="20" name="Surprise expired explanation"/>
          <p:cNvSpPr txBox="1"/>
          <p:nvPr/>
        </p:nvSpPr>
        <p:spPr>
          <a:xfrm>
            <a:off x="8046720" y="3630168"/>
            <a:ext cx="2816351" cy="5303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event；值 3 張；定義期限失敗</a:t>
            </a:r>
          </a:p>
        </p:txBody>
      </p:sp>
      <p:sp>
        <p:nvSpPr>
          <p:cNvPr id="21" name="Surprise interpretation panel"/>
          <p:cNvSpPr/>
          <p:nvPr/>
        </p:nvSpPr>
        <p:spPr>
          <a:xfrm>
            <a:off x="749808" y="4882896"/>
            <a:ext cx="10552176" cy="49377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2" name="Surprise interpretation text"/>
          <p:cNvSpPr txBox="1"/>
          <p:nvPr/>
        </p:nvSpPr>
        <p:spPr>
          <a:xfrm>
            <a:off x="896112" y="4937759"/>
            <a:ext cx="10259567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Expect／Interpret：2,400 bit、5.41 J、重傳與逾期事件共同說明 FAIL；不以低 J 改寫 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P075｜Lab C 結論：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gate 與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Gate-first conclusion"/>
          <p:cNvSpPr/>
          <p:nvPr/>
        </p:nvSpPr>
        <p:spPr>
          <a:xfrm>
            <a:off x="786384" y="1353312"/>
            <a:ext cx="2414016" cy="1335024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6" name="Gate conclusion heading"/>
          <p:cNvSpPr txBox="1"/>
          <p:nvPr/>
        </p:nvSpPr>
        <p:spPr>
          <a:xfrm>
            <a:off x="896112" y="146304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1｜</a:t>
            </a:r>
            <a:r>
              <a:rPr sz="19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9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（服務結果）</a:t>
            </a:r>
          </a:p>
        </p:txBody>
      </p:sp>
      <p:sp>
        <p:nvSpPr>
          <p:cNvPr id="7" name="Gate conclusion body"/>
          <p:cNvSpPr txBox="1"/>
          <p:nvPr/>
        </p:nvSpPr>
        <p:spPr>
          <a:xfrm>
            <a:off x="950976" y="1883664"/>
            <a:ext cx="2084831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PASS／FAIL；工作是否完成</a:t>
            </a:r>
          </a:p>
        </p:txBody>
      </p:sp>
      <p:cxnSp>
        <p:nvCxnSpPr>
          <p:cNvPr id="8" name="Editable connector"/>
          <p:cNvCxnSpPr/>
          <p:nvPr/>
        </p:nvCxnSpPr>
        <p:spPr>
          <a:xfrm>
            <a:off x="3200400" y="2011680"/>
            <a:ext cx="256032" cy="0"/>
          </a:xfrm>
          <a:prstGeom prst="line">
            <a:avLst/>
          </a:prstGeom>
          <a:ln w="2159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Gate-first conclusion"/>
          <p:cNvSpPr/>
          <p:nvPr/>
        </p:nvSpPr>
        <p:spPr>
          <a:xfrm>
            <a:off x="3547872" y="1554480"/>
            <a:ext cx="2414016" cy="1335024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0" name="Gate conclusion heading"/>
          <p:cNvSpPr txBox="1"/>
          <p:nvPr/>
        </p:nvSpPr>
        <p:spPr>
          <a:xfrm>
            <a:off x="3657600" y="1664207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2｜</a:t>
            </a: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（期限結果）</a:t>
            </a:r>
          </a:p>
        </p:txBody>
      </p:sp>
      <p:sp>
        <p:nvSpPr>
          <p:cNvPr id="11" name="Gate conclusion body"/>
          <p:cNvSpPr txBox="1"/>
          <p:nvPr/>
        </p:nvSpPr>
        <p:spPr>
          <a:xfrm>
            <a:off x="3712463" y="2084831"/>
            <a:ext cx="2084831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PASS／FAIL；是否在期限前完成</a:t>
            </a:r>
          </a:p>
        </p:txBody>
      </p:sp>
      <p:cxnSp>
        <p:nvCxnSpPr>
          <p:cNvPr id="12" name="Editable connector"/>
          <p:cNvCxnSpPr/>
          <p:nvPr/>
        </p:nvCxnSpPr>
        <p:spPr>
          <a:xfrm>
            <a:off x="5961888" y="2212848"/>
            <a:ext cx="256032" cy="0"/>
          </a:xfrm>
          <a:prstGeom prst="line">
            <a:avLst/>
          </a:prstGeom>
          <a:ln w="2159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Gate-first conclusion"/>
          <p:cNvSpPr/>
          <p:nvPr/>
        </p:nvSpPr>
        <p:spPr>
          <a:xfrm>
            <a:off x="6309360" y="1755648"/>
            <a:ext cx="2414016" cy="1335024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4" name="Gate conclusion heading"/>
          <p:cNvSpPr txBox="1"/>
          <p:nvPr/>
        </p:nvSpPr>
        <p:spPr>
          <a:xfrm>
            <a:off x="6419088" y="186537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3｜delivery（送達資料）</a:t>
            </a:r>
          </a:p>
        </p:txBody>
      </p:sp>
      <p:sp>
        <p:nvSpPr>
          <p:cNvPr id="15" name="Gate conclusion body"/>
          <p:cNvSpPr txBox="1"/>
          <p:nvPr/>
        </p:nvSpPr>
        <p:spPr>
          <a:xfrm>
            <a:off x="6473952" y="2286000"/>
            <a:ext cx="2084831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bit、expired、retry；事件證據</a:t>
            </a:r>
          </a:p>
        </p:txBody>
      </p:sp>
      <p:cxnSp>
        <p:nvCxnSpPr>
          <p:cNvPr id="16" name="Editable connector"/>
          <p:cNvCxnSpPr/>
          <p:nvPr/>
        </p:nvCxnSpPr>
        <p:spPr>
          <a:xfrm>
            <a:off x="8723376" y="2414015"/>
            <a:ext cx="256032" cy="0"/>
          </a:xfrm>
          <a:prstGeom prst="line">
            <a:avLst/>
          </a:prstGeom>
          <a:ln w="2159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ate-first conclusion"/>
          <p:cNvSpPr/>
          <p:nvPr/>
        </p:nvSpPr>
        <p:spPr>
          <a:xfrm>
            <a:off x="9070848" y="1956816"/>
            <a:ext cx="2414016" cy="1335024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8" name="Gate conclusion heading"/>
          <p:cNvSpPr txBox="1"/>
          <p:nvPr/>
        </p:nvSpPr>
        <p:spPr>
          <a:xfrm>
            <a:off x="9180576" y="2066544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4｜</a:t>
            </a: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（端點能量）</a:t>
            </a:r>
          </a:p>
        </p:txBody>
      </p:sp>
      <p:sp>
        <p:nvSpPr>
          <p:cNvPr id="19" name="Gate conclusion body"/>
          <p:cNvSpPr txBox="1"/>
          <p:nvPr/>
        </p:nvSpPr>
        <p:spPr>
          <a:xfrm>
            <a:off x="9235440" y="2487168"/>
            <a:ext cx="2084831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J、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bit/J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；端點代價</a:t>
            </a:r>
          </a:p>
        </p:txBody>
      </p:sp>
      <p:sp>
        <p:nvSpPr>
          <p:cNvPr id="20" name="Lab C conclusion sentence panel"/>
          <p:cNvSpPr/>
          <p:nvPr/>
        </p:nvSpPr>
        <p:spPr>
          <a:xfrm>
            <a:off x="749808" y="3438144"/>
            <a:ext cx="10552176" cy="64008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1" name="Lab C conclusion sentence text"/>
          <p:cNvSpPr txBox="1"/>
          <p:nvPr/>
        </p:nvSpPr>
        <p:spPr>
          <a:xfrm>
            <a:off x="896112" y="3493008"/>
            <a:ext cx="10259567" cy="5303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完整句：margin 5 的少 J 伴隨 delivery 與兩個 gate 失敗；margin 30 在固定條件下恢復 gate，</a:t>
            </a: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需隨事件鏈解讀。</a:t>
            </a:r>
          </a:p>
        </p:txBody>
      </p:sp>
      <p:sp>
        <p:nvSpPr>
          <p:cNvPr id="22" name="Lab C claim boundary panel"/>
          <p:cNvSpPr/>
          <p:nvPr/>
        </p:nvSpPr>
        <p:spPr>
          <a:xfrm>
            <a:off x="694944" y="4315968"/>
            <a:ext cx="10716768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3" name="Lab C claim boundary label"/>
          <p:cNvSpPr txBox="1"/>
          <p:nvPr/>
        </p:nvSpPr>
        <p:spPr>
          <a:xfrm>
            <a:off x="786384" y="4370831"/>
            <a:ext cx="2084831" cy="6035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claim boundary（結論範圍）</a:t>
            </a:r>
          </a:p>
        </p:txBody>
      </p:sp>
      <p:sp>
        <p:nvSpPr>
          <p:cNvPr id="24" name="Lab C claim boundary explanation"/>
          <p:cNvSpPr txBox="1"/>
          <p:nvPr/>
        </p:nvSpPr>
        <p:spPr>
          <a:xfrm>
            <a:off x="2944368" y="4379976"/>
            <a:ext cx="8357616" cy="58521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三筆 </a:t>
            </a: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與 surprise；值 固定 scenario；限制推論範圍；margin 30 的結果不延伸到所有窗口。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P076｜執行器、結果檔、課程頁與進度備份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Website responsibility stage panel"/>
          <p:cNvSpPr/>
          <p:nvPr/>
        </p:nvSpPr>
        <p:spPr>
          <a:xfrm>
            <a:off x="694944" y="1280160"/>
            <a:ext cx="5248656" cy="12984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6" name="Website responsibility stage number marker"/>
          <p:cNvSpPr/>
          <p:nvPr/>
        </p:nvSpPr>
        <p:spPr>
          <a:xfrm>
            <a:off x="822960" y="1444751"/>
            <a:ext cx="329184" cy="329184"/>
          </a:xfrm>
          <a:prstGeom prst="ellipse">
            <a:avLst/>
          </a:prstGeom>
          <a:solidFill>
            <a:srgbClr val="3D61B9"/>
          </a:solidFill>
          <a:ln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ebsite responsibility stage number"/>
          <p:cNvSpPr txBox="1"/>
          <p:nvPr/>
        </p:nvSpPr>
        <p:spPr>
          <a:xfrm>
            <a:off x="822960" y="1426463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8" name="Website responsibility stage heading"/>
          <p:cNvSpPr txBox="1"/>
          <p:nvPr/>
        </p:nvSpPr>
        <p:spPr>
          <a:xfrm>
            <a:off x="1280160" y="1335024"/>
            <a:ext cx="4517136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terminal runner（終端執行器）</a:t>
            </a:r>
          </a:p>
        </p:txBody>
      </p:sp>
      <p:sp>
        <p:nvSpPr>
          <p:cNvPr id="9" name="Website responsibility stage body"/>
          <p:cNvSpPr txBox="1"/>
          <p:nvPr/>
        </p:nvSpPr>
        <p:spPr>
          <a:xfrm>
            <a:off x="1280160" y="1700784"/>
            <a:ext cx="4517136" cy="841247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與 scenario；執行 policy；</a:t>
            </a: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、replay。</a:t>
            </a:r>
          </a:p>
        </p:txBody>
      </p:sp>
      <p:cxnSp>
        <p:nvCxnSpPr>
          <p:cNvPr id="10" name="Editable connector"/>
          <p:cNvCxnSpPr/>
          <p:nvPr/>
        </p:nvCxnSpPr>
        <p:spPr>
          <a:xfrm>
            <a:off x="5961888" y="1920240"/>
            <a:ext cx="164592" cy="0"/>
          </a:xfrm>
          <a:prstGeom prst="line">
            <a:avLst/>
          </a:prstGeom>
          <a:ln w="2159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Website responsibility stage panel"/>
          <p:cNvSpPr/>
          <p:nvPr/>
        </p:nvSpPr>
        <p:spPr>
          <a:xfrm>
            <a:off x="6364224" y="1280160"/>
            <a:ext cx="5248656" cy="12984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Website responsibility stage number marker"/>
          <p:cNvSpPr/>
          <p:nvPr/>
        </p:nvSpPr>
        <p:spPr>
          <a:xfrm>
            <a:off x="6492240" y="1444751"/>
            <a:ext cx="329184" cy="329184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ebsite responsibility stage number"/>
          <p:cNvSpPr txBox="1"/>
          <p:nvPr/>
        </p:nvSpPr>
        <p:spPr>
          <a:xfrm>
            <a:off x="6492240" y="1426463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Website responsibility stage heading"/>
          <p:cNvSpPr txBox="1"/>
          <p:nvPr/>
        </p:nvSpPr>
        <p:spPr>
          <a:xfrm>
            <a:off x="6949440" y="1335024"/>
            <a:ext cx="4517136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result files（結果檔）</a:t>
            </a:r>
          </a:p>
        </p:txBody>
      </p:sp>
      <p:sp>
        <p:nvSpPr>
          <p:cNvPr id="15" name="Website responsibility stage body"/>
          <p:cNvSpPr txBox="1"/>
          <p:nvPr/>
        </p:nvSpPr>
        <p:spPr>
          <a:xfrm>
            <a:off x="6949440" y="1700784"/>
            <a:ext cx="4517136" cy="841247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run receipt；保存 source、identity、units；可匯入 artifact。</a:t>
            </a:r>
          </a:p>
        </p:txBody>
      </p:sp>
      <p:cxnSp>
        <p:nvCxnSpPr>
          <p:cNvPr id="16" name="Editable connector"/>
          <p:cNvCxnSpPr/>
          <p:nvPr/>
        </p:nvCxnSpPr>
        <p:spPr>
          <a:xfrm>
            <a:off x="3328416" y="2761488"/>
            <a:ext cx="0" cy="91440"/>
          </a:xfrm>
          <a:prstGeom prst="line">
            <a:avLst/>
          </a:prstGeom>
          <a:ln w="2159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Website responsibility stage panel"/>
          <p:cNvSpPr/>
          <p:nvPr/>
        </p:nvSpPr>
        <p:spPr>
          <a:xfrm>
            <a:off x="694944" y="2852928"/>
            <a:ext cx="5248656" cy="12984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8" name="Website responsibility stage number marker"/>
          <p:cNvSpPr/>
          <p:nvPr/>
        </p:nvSpPr>
        <p:spPr>
          <a:xfrm>
            <a:off x="822960" y="3017520"/>
            <a:ext cx="329184" cy="329184"/>
          </a:xfrm>
          <a:prstGeom prst="ellipse">
            <a:avLst/>
          </a:prstGeom>
          <a:solidFill>
            <a:srgbClr val="007474"/>
          </a:solidFill>
          <a:ln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Website responsibility stage number"/>
          <p:cNvSpPr txBox="1"/>
          <p:nvPr/>
        </p:nvSpPr>
        <p:spPr>
          <a:xfrm>
            <a:off x="822960" y="2999232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  <p:sp>
        <p:nvSpPr>
          <p:cNvPr id="20" name="Website responsibility stage heading"/>
          <p:cNvSpPr txBox="1"/>
          <p:nvPr/>
        </p:nvSpPr>
        <p:spPr>
          <a:xfrm>
            <a:off x="1280160" y="2907792"/>
            <a:ext cx="4517136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課程頁（網站）</a:t>
            </a:r>
          </a:p>
        </p:txBody>
      </p:sp>
      <p:sp>
        <p:nvSpPr>
          <p:cNvPr id="21" name="Website responsibility stage body"/>
          <p:cNvSpPr txBox="1"/>
          <p:nvPr/>
        </p:nvSpPr>
        <p:spPr>
          <a:xfrm>
            <a:off x="1280160" y="3273552"/>
            <a:ext cx="4517136" cy="841247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已產生 artifact；驗證、重播、選取 frame；畫面與欄位狀態。</a:t>
            </a:r>
          </a:p>
        </p:txBody>
      </p:sp>
      <p:cxnSp>
        <p:nvCxnSpPr>
          <p:cNvPr id="22" name="Editable connector"/>
          <p:cNvCxnSpPr/>
          <p:nvPr/>
        </p:nvCxnSpPr>
        <p:spPr>
          <a:xfrm>
            <a:off x="5961888" y="3493008"/>
            <a:ext cx="164592" cy="0"/>
          </a:xfrm>
          <a:prstGeom prst="line">
            <a:avLst/>
          </a:prstGeom>
          <a:ln w="2159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Website responsibility stage panel"/>
          <p:cNvSpPr/>
          <p:nvPr/>
        </p:nvSpPr>
        <p:spPr>
          <a:xfrm>
            <a:off x="6364224" y="2852928"/>
            <a:ext cx="5248656" cy="12984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4" name="Website responsibility stage number marker"/>
          <p:cNvSpPr/>
          <p:nvPr/>
        </p:nvSpPr>
        <p:spPr>
          <a:xfrm>
            <a:off x="6492240" y="3017520"/>
            <a:ext cx="329184" cy="32918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Website responsibility stage number"/>
          <p:cNvSpPr txBox="1"/>
          <p:nvPr/>
        </p:nvSpPr>
        <p:spPr>
          <a:xfrm>
            <a:off x="6492240" y="2999232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4</a:t>
            </a:r>
          </a:p>
        </p:txBody>
      </p:sp>
      <p:sp>
        <p:nvSpPr>
          <p:cNvPr id="26" name="Website responsibility stage heading"/>
          <p:cNvSpPr txBox="1"/>
          <p:nvPr/>
        </p:nvSpPr>
        <p:spPr>
          <a:xfrm>
            <a:off x="6949440" y="2907792"/>
            <a:ext cx="4517136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進度備份（本機紀錄）</a:t>
            </a:r>
          </a:p>
        </p:txBody>
      </p:sp>
      <p:sp>
        <p:nvSpPr>
          <p:cNvPr id="27" name="Website responsibility stage body"/>
          <p:cNvSpPr txBox="1"/>
          <p:nvPr/>
        </p:nvSpPr>
        <p:spPr>
          <a:xfrm>
            <a:off x="6949440" y="3273552"/>
            <a:ext cx="4517136" cy="841247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A／B／C 匯入紀錄；下載 JSON、建立／還原存檔點；本機進度，不重算 runner result。</a:t>
            </a:r>
          </a:p>
        </p:txBody>
      </p:sp>
      <p:sp>
        <p:nvSpPr>
          <p:cNvPr id="28" name="Website boundary sentence panel"/>
          <p:cNvSpPr/>
          <p:nvPr/>
        </p:nvSpPr>
        <p:spPr>
          <a:xfrm>
            <a:off x="749808" y="4590288"/>
            <a:ext cx="10552176" cy="438912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9" name="Website boundary sentence text"/>
          <p:cNvSpPr txBox="1"/>
          <p:nvPr/>
        </p:nvSpPr>
        <p:spPr>
          <a:xfrm>
            <a:off x="896112" y="4645151"/>
            <a:ext cx="10259567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責任邊界：課程頁只驗證、重播與保存；Python 執行與 machine-readable 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來自 terminal receipt。</a:t>
            </a:r>
          </a:p>
        </p:txBody>
      </p:sp>
      <p:sp>
        <p:nvSpPr>
          <p:cNvPr id="30" name="Evidence source label"/>
          <p:cNvSpPr txBox="1"/>
          <p:nvPr/>
        </p:nvSpPr>
        <p:spPr>
          <a:xfrm>
            <a:off x="822960" y="5157216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課程頁：http://120.126.151.102:3000/course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P077-A｜匯入一：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、欄位與單位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Import format current screenshot" descr="08-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207008"/>
            <a:ext cx="5248656" cy="2944368"/>
          </a:xfrm>
          <a:prstGeom prst="rect">
            <a:avLst/>
          </a:prstGeom>
        </p:spPr>
      </p:pic>
      <p:sp>
        <p:nvSpPr>
          <p:cNvPr id="6" name="Import format callout marker"/>
          <p:cNvSpPr/>
          <p:nvPr/>
        </p:nvSpPr>
        <p:spPr>
          <a:xfrm>
            <a:off x="1005840" y="1444752"/>
            <a:ext cx="475488" cy="475488"/>
          </a:xfrm>
          <a:prstGeom prst="ellipse">
            <a:avLst/>
          </a:prstGeom>
          <a:solidFill>
            <a:srgbClr val="992A2A"/>
          </a:solidFill>
          <a:ln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mport format callout number"/>
          <p:cNvSpPr txBox="1"/>
          <p:nvPr/>
        </p:nvSpPr>
        <p:spPr>
          <a:xfrm>
            <a:off x="1005840" y="1472184"/>
            <a:ext cx="475488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8" name="Import format callout marker"/>
          <p:cNvSpPr/>
          <p:nvPr/>
        </p:nvSpPr>
        <p:spPr>
          <a:xfrm>
            <a:off x="4443984" y="2176272"/>
            <a:ext cx="475488" cy="475488"/>
          </a:xfrm>
          <a:prstGeom prst="ellipse">
            <a:avLst/>
          </a:prstGeom>
          <a:solidFill>
            <a:srgbClr val="992A2A"/>
          </a:solidFill>
          <a:ln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mport format callout number"/>
          <p:cNvSpPr txBox="1"/>
          <p:nvPr/>
        </p:nvSpPr>
        <p:spPr>
          <a:xfrm>
            <a:off x="4443984" y="2203703"/>
            <a:ext cx="475488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0" name="Import format callout marker"/>
          <p:cNvSpPr/>
          <p:nvPr/>
        </p:nvSpPr>
        <p:spPr>
          <a:xfrm>
            <a:off x="2560320" y="3310128"/>
            <a:ext cx="475488" cy="475488"/>
          </a:xfrm>
          <a:prstGeom prst="ellipse">
            <a:avLst/>
          </a:prstGeom>
          <a:solidFill>
            <a:srgbClr val="992A2A"/>
          </a:solidFill>
          <a:ln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mport format callout number"/>
          <p:cNvSpPr txBox="1"/>
          <p:nvPr/>
        </p:nvSpPr>
        <p:spPr>
          <a:xfrm>
            <a:off x="2560320" y="3337560"/>
            <a:ext cx="475488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  <p:sp>
        <p:nvSpPr>
          <p:cNvPr id="12" name="Import format file panel"/>
          <p:cNvSpPr/>
          <p:nvPr/>
        </p:nvSpPr>
        <p:spPr>
          <a:xfrm>
            <a:off x="6108192" y="1133856"/>
            <a:ext cx="5157216" cy="11704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3" name="Import format file number marker"/>
          <p:cNvSpPr/>
          <p:nvPr/>
        </p:nvSpPr>
        <p:spPr>
          <a:xfrm>
            <a:off x="6236207" y="1298448"/>
            <a:ext cx="329184" cy="329184"/>
          </a:xfrm>
          <a:prstGeom prst="ellipse">
            <a:avLst/>
          </a:prstGeom>
          <a:solidFill>
            <a:srgbClr val="3D61B9"/>
          </a:solidFill>
          <a:ln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mport format file number"/>
          <p:cNvSpPr txBox="1"/>
          <p:nvPr/>
        </p:nvSpPr>
        <p:spPr>
          <a:xfrm>
            <a:off x="6236207" y="1280160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15" name="Import format file heading"/>
          <p:cNvSpPr txBox="1"/>
          <p:nvPr/>
        </p:nvSpPr>
        <p:spPr>
          <a:xfrm>
            <a:off x="6693407" y="1188720"/>
            <a:ext cx="4425696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（結果檔）</a:t>
            </a:r>
          </a:p>
        </p:txBody>
      </p:sp>
      <p:sp>
        <p:nvSpPr>
          <p:cNvPr id="16" name="Import format file body"/>
          <p:cNvSpPr txBox="1"/>
          <p:nvPr/>
        </p:nvSpPr>
        <p:spPr>
          <a:xfrm>
            <a:off x="6693407" y="1554480"/>
            <a:ext cx="4425696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terminal runner；JSON 物件；提供欄位與單位；格式與 identity 通過；原匯入 state 保持。</a:t>
            </a:r>
          </a:p>
        </p:txBody>
      </p:sp>
      <p:sp>
        <p:nvSpPr>
          <p:cNvPr id="17" name="Import format units panel"/>
          <p:cNvSpPr/>
          <p:nvPr/>
        </p:nvSpPr>
        <p:spPr>
          <a:xfrm>
            <a:off x="6108192" y="2450592"/>
            <a:ext cx="5157216" cy="11704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8" name="Import format units number marker"/>
          <p:cNvSpPr/>
          <p:nvPr/>
        </p:nvSpPr>
        <p:spPr>
          <a:xfrm>
            <a:off x="6236207" y="2615184"/>
            <a:ext cx="329184" cy="329184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mport format units number"/>
          <p:cNvSpPr txBox="1"/>
          <p:nvPr/>
        </p:nvSpPr>
        <p:spPr>
          <a:xfrm>
            <a:off x="6236207" y="259689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20" name="Import format units heading"/>
          <p:cNvSpPr txBox="1"/>
          <p:nvPr/>
        </p:nvSpPr>
        <p:spPr>
          <a:xfrm>
            <a:off x="6693407" y="2505456"/>
            <a:ext cx="4425696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units（單位）</a:t>
            </a:r>
          </a:p>
        </p:txBody>
      </p:sp>
      <p:sp>
        <p:nvSpPr>
          <p:cNvPr id="21" name="Import format units body"/>
          <p:cNvSpPr txBox="1"/>
          <p:nvPr/>
        </p:nvSpPr>
        <p:spPr>
          <a:xfrm>
            <a:off x="6693407" y="2871216"/>
            <a:ext cx="4425696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 schema；J／bit／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bit/J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；統一計算語義；單位齊全；endpoint result 不更新。</a:t>
            </a:r>
          </a:p>
        </p:txBody>
      </p:sp>
      <p:sp>
        <p:nvSpPr>
          <p:cNvPr id="22" name="Import format state panel"/>
          <p:cNvSpPr/>
          <p:nvPr/>
        </p:nvSpPr>
        <p:spPr>
          <a:xfrm>
            <a:off x="6108192" y="3767328"/>
            <a:ext cx="5157216" cy="11704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3" name="Import format state number marker"/>
          <p:cNvSpPr/>
          <p:nvPr/>
        </p:nvSpPr>
        <p:spPr>
          <a:xfrm>
            <a:off x="6236207" y="3931920"/>
            <a:ext cx="329184" cy="329184"/>
          </a:xfrm>
          <a:prstGeom prst="ellipse">
            <a:avLst/>
          </a:prstGeom>
          <a:solidFill>
            <a:srgbClr val="007474"/>
          </a:solidFill>
          <a:ln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mport format state number"/>
          <p:cNvSpPr txBox="1"/>
          <p:nvPr/>
        </p:nvSpPr>
        <p:spPr>
          <a:xfrm>
            <a:off x="6236207" y="3913632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  <p:sp>
        <p:nvSpPr>
          <p:cNvPr id="25" name="Import format state heading"/>
          <p:cNvSpPr txBox="1"/>
          <p:nvPr/>
        </p:nvSpPr>
        <p:spPr>
          <a:xfrm>
            <a:off x="6693407" y="3822191"/>
            <a:ext cx="4425696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import state（匯入狀態）</a:t>
            </a:r>
          </a:p>
        </p:txBody>
      </p:sp>
      <p:sp>
        <p:nvSpPr>
          <p:cNvPr id="26" name="Import format state body"/>
          <p:cNvSpPr txBox="1"/>
          <p:nvPr/>
        </p:nvSpPr>
        <p:spPr>
          <a:xfrm>
            <a:off x="6693407" y="4187952"/>
            <a:ext cx="4425696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http://120.126.151.102:3000/course gate；尚未匯入；控制 artifact 進 replay；匯入後更新；目前狀態保持。</a:t>
            </a:r>
          </a:p>
        </p:txBody>
      </p:sp>
      <p:sp>
        <p:nvSpPr>
          <p:cNvPr id="27" name="Evidence source label"/>
          <p:cNvSpPr txBox="1"/>
          <p:nvPr/>
        </p:nvSpPr>
        <p:spPr>
          <a:xfrm>
            <a:off x="822960" y="5065776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Lab A：選擇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按鈕可見；匯入狀態為尚未匯入。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P077-B｜匯入二：情境、run 與 policy lineage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Import lineage current screenshot" descr="08-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207008"/>
            <a:ext cx="5248656" cy="2944368"/>
          </a:xfrm>
          <a:prstGeom prst="rect">
            <a:avLst/>
          </a:prstGeom>
        </p:spPr>
      </p:pic>
      <p:sp>
        <p:nvSpPr>
          <p:cNvPr id="6" name="Import lineage callout marker"/>
          <p:cNvSpPr/>
          <p:nvPr/>
        </p:nvSpPr>
        <p:spPr>
          <a:xfrm>
            <a:off x="914400" y="1572768"/>
            <a:ext cx="475488" cy="475488"/>
          </a:xfrm>
          <a:prstGeom prst="ellipse">
            <a:avLst/>
          </a:prstGeom>
          <a:solidFill>
            <a:srgbClr val="992A2A"/>
          </a:solidFill>
          <a:ln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mport lineage callout number"/>
          <p:cNvSpPr txBox="1"/>
          <p:nvPr/>
        </p:nvSpPr>
        <p:spPr>
          <a:xfrm>
            <a:off x="914400" y="1600200"/>
            <a:ext cx="475488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8" name="Import lineage callout marker"/>
          <p:cNvSpPr/>
          <p:nvPr/>
        </p:nvSpPr>
        <p:spPr>
          <a:xfrm>
            <a:off x="4370832" y="2157984"/>
            <a:ext cx="475488" cy="475488"/>
          </a:xfrm>
          <a:prstGeom prst="ellipse">
            <a:avLst/>
          </a:prstGeom>
          <a:solidFill>
            <a:srgbClr val="992A2A"/>
          </a:solidFill>
          <a:ln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mport lineage callout number"/>
          <p:cNvSpPr txBox="1"/>
          <p:nvPr/>
        </p:nvSpPr>
        <p:spPr>
          <a:xfrm>
            <a:off x="4370832" y="2185415"/>
            <a:ext cx="475488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0" name="Import lineage callout marker"/>
          <p:cNvSpPr/>
          <p:nvPr/>
        </p:nvSpPr>
        <p:spPr>
          <a:xfrm>
            <a:off x="2487168" y="3383280"/>
            <a:ext cx="475488" cy="475488"/>
          </a:xfrm>
          <a:prstGeom prst="ellipse">
            <a:avLst/>
          </a:prstGeom>
          <a:solidFill>
            <a:srgbClr val="992A2A"/>
          </a:solidFill>
          <a:ln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mport lineage callout number"/>
          <p:cNvSpPr txBox="1"/>
          <p:nvPr/>
        </p:nvSpPr>
        <p:spPr>
          <a:xfrm>
            <a:off x="2487168" y="3410712"/>
            <a:ext cx="475488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  <p:sp>
        <p:nvSpPr>
          <p:cNvPr id="12" name="Import lineage case panel"/>
          <p:cNvSpPr/>
          <p:nvPr/>
        </p:nvSpPr>
        <p:spPr>
          <a:xfrm>
            <a:off x="6108192" y="1133856"/>
            <a:ext cx="5157216" cy="11704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3" name="Import lineage case number marker"/>
          <p:cNvSpPr/>
          <p:nvPr/>
        </p:nvSpPr>
        <p:spPr>
          <a:xfrm>
            <a:off x="6236207" y="1298448"/>
            <a:ext cx="329184" cy="329184"/>
          </a:xfrm>
          <a:prstGeom prst="ellipse">
            <a:avLst/>
          </a:prstGeom>
          <a:solidFill>
            <a:srgbClr val="3D61B9"/>
          </a:solidFill>
          <a:ln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mport lineage case number"/>
          <p:cNvSpPr txBox="1"/>
          <p:nvPr/>
        </p:nvSpPr>
        <p:spPr>
          <a:xfrm>
            <a:off x="6236207" y="1280160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15" name="Import lineage case heading"/>
          <p:cNvSpPr txBox="1"/>
          <p:nvPr/>
        </p:nvSpPr>
        <p:spPr>
          <a:xfrm>
            <a:off x="6693407" y="1188720"/>
            <a:ext cx="4425696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experiment／case（實驗／案例）</a:t>
            </a:r>
          </a:p>
        </p:txBody>
      </p:sp>
      <p:sp>
        <p:nvSpPr>
          <p:cNvPr id="16" name="Import lineage case body"/>
          <p:cNvSpPr txBox="1"/>
          <p:nvPr/>
        </p:nvSpPr>
        <p:spPr>
          <a:xfrm>
            <a:off x="6693407" y="1554480"/>
            <a:ext cx="4425696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header；A／B／C case；配對課程段落；案例一致；停止更新。尚未匯入時值待補。</a:t>
            </a:r>
          </a:p>
        </p:txBody>
      </p:sp>
      <p:sp>
        <p:nvSpPr>
          <p:cNvPr id="17" name="Import lineage run panel"/>
          <p:cNvSpPr/>
          <p:nvPr/>
        </p:nvSpPr>
        <p:spPr>
          <a:xfrm>
            <a:off x="6108192" y="2450592"/>
            <a:ext cx="5157216" cy="11704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8" name="Import lineage run number marker"/>
          <p:cNvSpPr/>
          <p:nvPr/>
        </p:nvSpPr>
        <p:spPr>
          <a:xfrm>
            <a:off x="6236207" y="2615184"/>
            <a:ext cx="329184" cy="329184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mport lineage run number"/>
          <p:cNvSpPr txBox="1"/>
          <p:nvPr/>
        </p:nvSpPr>
        <p:spPr>
          <a:xfrm>
            <a:off x="6236207" y="259689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20" name="Import lineage run heading"/>
          <p:cNvSpPr txBox="1"/>
          <p:nvPr/>
        </p:nvSpPr>
        <p:spPr>
          <a:xfrm>
            <a:off x="6693407" y="2505456"/>
            <a:ext cx="4425696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run identity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（執行識別）</a:t>
            </a:r>
          </a:p>
        </p:txBody>
      </p:sp>
      <p:sp>
        <p:nvSpPr>
          <p:cNvPr id="21" name="Import lineage run body"/>
          <p:cNvSpPr txBox="1"/>
          <p:nvPr/>
        </p:nvSpPr>
        <p:spPr>
          <a:xfrm>
            <a:off x="6693407" y="2871216"/>
            <a:ext cx="4425696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runner receipt；run_id；連結 result、replay、ledger；identity 一致；目前 record 不變。尚未匯入時沒有 run_id。</a:t>
            </a:r>
          </a:p>
        </p:txBody>
      </p:sp>
      <p:sp>
        <p:nvSpPr>
          <p:cNvPr id="22" name="Import lineage policy panel"/>
          <p:cNvSpPr/>
          <p:nvPr/>
        </p:nvSpPr>
        <p:spPr>
          <a:xfrm>
            <a:off x="6108192" y="3767328"/>
            <a:ext cx="5157216" cy="11704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3" name="Import lineage policy number marker"/>
          <p:cNvSpPr/>
          <p:nvPr/>
        </p:nvSpPr>
        <p:spPr>
          <a:xfrm>
            <a:off x="6236207" y="3931920"/>
            <a:ext cx="329184" cy="329184"/>
          </a:xfrm>
          <a:prstGeom prst="ellipse">
            <a:avLst/>
          </a:prstGeom>
          <a:solidFill>
            <a:srgbClr val="007474"/>
          </a:solidFill>
          <a:ln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mport lineage policy number"/>
          <p:cNvSpPr txBox="1"/>
          <p:nvPr/>
        </p:nvSpPr>
        <p:spPr>
          <a:xfrm>
            <a:off x="6236207" y="3913632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  <p:sp>
        <p:nvSpPr>
          <p:cNvPr id="25" name="Import lineage policy heading"/>
          <p:cNvSpPr txBox="1"/>
          <p:nvPr/>
        </p:nvSpPr>
        <p:spPr>
          <a:xfrm>
            <a:off x="6693407" y="3822191"/>
            <a:ext cx="4425696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policy lineage（policy 血緣）</a:t>
            </a:r>
          </a:p>
        </p:txBody>
      </p:sp>
      <p:sp>
        <p:nvSpPr>
          <p:cNvPr id="26" name="Import lineage policy body"/>
          <p:cNvSpPr txBox="1"/>
          <p:nvPr/>
        </p:nvSpPr>
        <p:spPr>
          <a:xfrm>
            <a:off x="6693407" y="4187952"/>
            <a:ext cx="4425696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marked edit／freeze receipt；原始／5 秒／30 秒；說明 result 版本；版本可追；目前 capture 不補版本。</a:t>
            </a:r>
          </a:p>
        </p:txBody>
      </p:sp>
      <p:sp>
        <p:nvSpPr>
          <p:cNvPr id="27" name="Evidence source label"/>
          <p:cNvSpPr txBox="1"/>
          <p:nvPr/>
        </p:nvSpPr>
        <p:spPr>
          <a:xfrm>
            <a:off x="822960" y="5065776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Lab A：匯入狀態仍是尚未匯入；experiment、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run identity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、policy lineage 待 receipt 補足。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P078-A｜frame selector 一：選取畫面與目前 frame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frame selector 一：選取畫面與目前 frame screenshot" descr="08-f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frame selector 一：選取畫面與目前 frame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frame selector 一：選取畫面與目前 frame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3D61B9"/>
          </a:solidFill>
          <a:ln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ame selector 一：選取畫面與目前 frame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frame selector 一：選取畫面與目前 frame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frame selector（畫面選擇器）</a:t>
            </a:r>
          </a:p>
        </p:txBody>
      </p:sp>
      <p:sp>
        <p:nvSpPr>
          <p:cNvPr id="10" name="frame selector 一：選取畫面與目前 frame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replay；frame identity；改變目前觀察畫面；selected frame 更新；原 frame 保持。14:12 live 尚未匯入。</a:t>
            </a:r>
          </a:p>
        </p:txBody>
      </p:sp>
      <p:sp>
        <p:nvSpPr>
          <p:cNvPr id="11" name="frame selector 一：選取畫面與目前 frame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frame selector 一：選取畫面與目前 frame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ame selector 一：選取畫面與目前 frame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frame selector 一：選取畫面與目前 frame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current frame（目前畫面）</a:t>
            </a:r>
          </a:p>
        </p:txBody>
      </p:sp>
      <p:sp>
        <p:nvSpPr>
          <p:cNvPr id="15" name="frame selector 一：選取畫面與目前 frame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result／replay pair；一個 frame；固定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Radio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、event；欄位同 frame；跨 frame 不混讀。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Lab A：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尚未匯入；selector 與 frame 值待 replay。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P078-B｜frame selector 二：八欄與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／event 分工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frame selector 二：八欄與 queue／event 分工 screenshot" descr="08-f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frame selector 二：八欄與 queue／event 分工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frame selector 二：八欄與 queue／event 分工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007474"/>
          </a:solidFill>
          <a:ln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ame selector 二：八欄與 queue／event 分工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frame selector 二：八欄與 queue／event 分工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eight fields（八欄）</a:t>
            </a:r>
          </a:p>
        </p:txBody>
      </p:sp>
      <p:sp>
        <p:nvSpPr>
          <p:cNvPr id="10" name="frame selector 二：八欄與 queue／event 分工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artifact；state、count、J、時間、identity、ordinal band；分頁讀取；欄位跟隨 frame；原 frame 保持。</a:t>
            </a:r>
          </a:p>
        </p:txBody>
      </p:sp>
      <p:sp>
        <p:nvSpPr>
          <p:cNvPr id="11" name="frame selector 二：八欄與 queue／event 分工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frame selector 二：八欄與 queue／event 分工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ame selector 二：八欄與 queue／event 分工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frame selector 二：八欄與 queue／event 分工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／event（佇列／事件）</a:t>
            </a:r>
          </a:p>
        </p:txBody>
      </p:sp>
      <p:sp>
        <p:nvSpPr>
          <p:cNvPr id="15" name="frame selector 二：八欄與 queue／event 分工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／event ledger；item、attempt、delivery、expiry；解釋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；事件配對；原 event 保持。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Lab A：八欄與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／event 的 frame identity 待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；目前沒有 replay。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P079-A｜進度備份記錄一：匯入紀錄與本機存檔點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進度備份記錄一：匯入紀錄與本機存檔點 screenshot" descr="05-work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進度備份記錄一：匯入紀錄與本機存檔點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進度備份記錄一：匯入紀錄與本機存檔點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3D61B9"/>
          </a:solidFill>
          <a:ln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進度備份記錄一：匯入紀錄與本機存檔點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進度備份記錄一：匯入紀錄與本機存檔點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A／B／C 匯入紀錄</a:t>
            </a:r>
          </a:p>
        </p:txBody>
      </p:sp>
      <p:sp>
        <p:nvSpPr>
          <p:cNvPr id="10" name="進度備份記錄一：匯入紀錄與本機存檔點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browser-local progress backup；0 筆；記錄各實驗匯入進度；紀錄更新；原紀錄保持。</a:t>
            </a:r>
          </a:p>
        </p:txBody>
      </p:sp>
      <p:sp>
        <p:nvSpPr>
          <p:cNvPr id="11" name="進度備份記錄一：匯入紀錄與本機存檔點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進度備份記錄一：匯入紀錄與本機存檔點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進度備份記錄一：匯入紀錄與本機存檔點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進度備份記錄一：匯入紀錄與本機存檔點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本機存檔點</a:t>
            </a:r>
          </a:p>
        </p:txBody>
      </p:sp>
      <p:sp>
        <p:nvSpPr>
          <p:cNvPr id="15" name="進度備份記錄一：匯入紀錄與本機存檔點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browser-local progress backup；#0；建立／還原本機進度；存檔點更新；原進度保持。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進度備份：A／B／C 匯入紀錄 0、本機存檔點 #0、格式 JSON。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P079-A2｜進度備份記錄二：來源／角色與復原邊界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進度備份記錄二：來源／角色與復原邊界 screenshot" descr="05-work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進度備份記錄二：來源／角色與復原邊界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進度備份記錄二：來源／角色與復原邊界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007474"/>
          </a:solidFill>
          <a:ln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進度備份記錄二：來源／角色與復原邊界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進度備份記錄二：來源／角色與復原邊界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source／role（來源／角色）</a:t>
            </a:r>
          </a:p>
        </p:txBody>
      </p:sp>
      <p:sp>
        <p:nvSpPr>
          <p:cNvPr id="10" name="進度備份記錄二：來源／角色與復原邊界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A／B／C 匯入紀錄；source、case、role；區分本機紀錄責任；來源一致；原紀錄保持。</a:t>
            </a:r>
          </a:p>
        </p:txBody>
      </p:sp>
      <p:sp>
        <p:nvSpPr>
          <p:cNvPr id="11" name="進度備份記錄二：來源／角色與復原邊界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進度備份記錄二：來源／角色與復原邊界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進度備份記錄二：來源／角色與復原邊界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進度備份記錄二：來源／角色與復原邊界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backup format（備份格式）</a:t>
            </a:r>
          </a:p>
        </p:txBody>
      </p:sp>
      <p:sp>
        <p:nvSpPr>
          <p:cNvPr id="15" name="進度備份記錄二：來源／角色與復原邊界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進度備份頁；JSON；下載與還原本機紀錄；檔案可讀；不重算 runner result。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進度備份：目前沒有下載內容；本機紀錄與 runner result 分層。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P079-B｜進度備份控制一：下載與從備份還原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1042415"/>
            <a:ext cx="1062532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進度備份控制一：下載與建立本機存檔點</a:t>
            </a:r>
          </a:p>
        </p:txBody>
      </p:sp>
      <p:pic>
        <p:nvPicPr>
          <p:cNvPr id="6" name="進度備份控制一：下載與建立本機存檔點 screenshot" descr="05-work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7" name="進度備份控制一：下載與建立本機存檔點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8" name="進度備份控制一：下載與建立本機存檔點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3D61B9"/>
          </a:solidFill>
          <a:ln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進度備份控制一：下載與建立本機存檔點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10" name="進度備份控制一：下載與建立本機存檔點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下載進度備份</a:t>
            </a:r>
          </a:p>
        </p:txBody>
      </p:sp>
      <p:sp>
        <p:nvSpPr>
          <p:cNvPr id="11" name="進度備份控制一：下載與建立本機存檔點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A／B／C 匯入紀錄與本機進度；JSON；下載本機備份；檔案產生；目前紀錄保持。</a:t>
            </a:r>
          </a:p>
        </p:txBody>
      </p:sp>
      <p:sp>
        <p:nvSpPr>
          <p:cNvPr id="12" name="進度備份控制一：下載與建立本機存檔點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3" name="進度備份控制一：下載與建立本機存檔點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進度備份控制一：下載與建立本機存檔點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5" name="進度備份控制一：下載與建立本機存檔點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建立本機存檔點</a:t>
            </a:r>
          </a:p>
        </p:txBody>
      </p:sp>
      <p:sp>
        <p:nvSpPr>
          <p:cNvPr id="16" name="進度備份控制一：下載與建立本機存檔點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目前 browser-local progress；#0 → 新存檔點；建立恢復位置；存檔點更新；原進度保持。</a:t>
            </a:r>
          </a:p>
        </p:txBody>
      </p:sp>
      <p:sp>
        <p:nvSpPr>
          <p:cNvPr id="17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進度備份：下載 JSON 與建立本機存檔點按鈕可見；目前尚未下載。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P079-B2｜進度備份控制二：建立／還原存檔點與重設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1042415"/>
            <a:ext cx="1062532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進度備份控制二：還原與重設本機進度</a:t>
            </a:r>
          </a:p>
        </p:txBody>
      </p:sp>
      <p:pic>
        <p:nvPicPr>
          <p:cNvPr id="6" name="進度備份控制二：還原與重設本機進度 screenshot" descr="05-work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7" name="進度備份控制二：還原與重設本機進度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8" name="進度備份控制二：還原與重設本機進度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007474"/>
          </a:solidFill>
          <a:ln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進度備份控制二：還原與重設本機進度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10" name="進度備份控制二：還原與重設本機進度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從備份還原</a:t>
            </a:r>
          </a:p>
        </p:txBody>
      </p:sp>
      <p:sp>
        <p:nvSpPr>
          <p:cNvPr id="11" name="進度備份控制二：還原與重設本機進度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下載的 JSON；A／B／C 匯入紀錄與進度；還原本機紀錄；畫面更新；沒有備份時原狀態保持。</a:t>
            </a:r>
          </a:p>
        </p:txBody>
      </p:sp>
      <p:sp>
        <p:nvSpPr>
          <p:cNvPr id="12" name="進度備份控制二：還原與重設本機進度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3" name="進度備份控制二：還原與重設本機進度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進度備份控制二：還原與重設本機進度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5" name="進度備份控制二：還原與重設本機進度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重設本機進度</a:t>
            </a:r>
          </a:p>
        </p:txBody>
      </p:sp>
      <p:sp>
        <p:nvSpPr>
          <p:cNvPr id="16" name="進度備份控制二：還原與重設本機進度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browser-local progress；重設後的 0 筆紀錄；清除本機進度；狀態更新；原紀錄保持。</a:t>
            </a:r>
          </a:p>
        </p:txBody>
      </p:sp>
      <p:sp>
        <p:nvSpPr>
          <p:cNvPr id="17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進度備份：從備份還原、還原存檔點、重設本機進度可見；runner result 不受改寫。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P080｜本機進度備份：建立、還原、重設的狀態機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rogress backup state machine"/>
          <p:cNvSpPr/>
          <p:nvPr/>
        </p:nvSpPr>
        <p:spPr>
          <a:xfrm>
            <a:off x="713232" y="1298448"/>
            <a:ext cx="5486400" cy="34015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6" name="Progress backup state marker"/>
          <p:cNvSpPr/>
          <p:nvPr/>
        </p:nvSpPr>
        <p:spPr>
          <a:xfrm>
            <a:off x="1097280" y="2816352"/>
            <a:ext cx="256032" cy="256032"/>
          </a:xfrm>
          <a:prstGeom prst="ellipse">
            <a:avLst/>
          </a:prstGeom>
          <a:solidFill>
            <a:srgbClr val="3D61B9"/>
          </a:solidFill>
          <a:ln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ogress backup state heading"/>
          <p:cNvSpPr txBox="1"/>
          <p:nvPr/>
        </p:nvSpPr>
        <p:spPr>
          <a:xfrm>
            <a:off x="566928" y="1956816"/>
            <a:ext cx="1060704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建立存檔點</a:t>
            </a:r>
          </a:p>
        </p:txBody>
      </p:sp>
      <p:sp>
        <p:nvSpPr>
          <p:cNvPr id="8" name="Progress backup state body"/>
          <p:cNvSpPr txBox="1"/>
          <p:nvPr/>
        </p:nvSpPr>
        <p:spPr>
          <a:xfrm>
            <a:off x="530352" y="3218688"/>
            <a:ext cx="1225296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保存本機進度</a:t>
            </a:r>
          </a:p>
        </p:txBody>
      </p:sp>
      <p:cxnSp>
        <p:nvCxnSpPr>
          <p:cNvPr id="9" name="Editable connector"/>
          <p:cNvCxnSpPr/>
          <p:nvPr/>
        </p:nvCxnSpPr>
        <p:spPr>
          <a:xfrm>
            <a:off x="1371600" y="2944368"/>
            <a:ext cx="786384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rogress backup state marker"/>
          <p:cNvSpPr/>
          <p:nvPr/>
        </p:nvSpPr>
        <p:spPr>
          <a:xfrm>
            <a:off x="2468880" y="2816352"/>
            <a:ext cx="256032" cy="256032"/>
          </a:xfrm>
          <a:prstGeom prst="ellipse">
            <a:avLst/>
          </a:prstGeom>
          <a:solidFill>
            <a:srgbClr val="007474"/>
          </a:solidFill>
          <a:ln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rogress backup state heading"/>
          <p:cNvSpPr txBox="1"/>
          <p:nvPr/>
        </p:nvSpPr>
        <p:spPr>
          <a:xfrm>
            <a:off x="1938528" y="1956816"/>
            <a:ext cx="1060704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還原存檔點</a:t>
            </a:r>
          </a:p>
        </p:txBody>
      </p:sp>
      <p:sp>
        <p:nvSpPr>
          <p:cNvPr id="12" name="Progress backup state body"/>
          <p:cNvSpPr txBox="1"/>
          <p:nvPr/>
        </p:nvSpPr>
        <p:spPr>
          <a:xfrm>
            <a:off x="1901952" y="3218688"/>
            <a:ext cx="1225296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回到保存內容</a:t>
            </a:r>
          </a:p>
        </p:txBody>
      </p:sp>
      <p:cxnSp>
        <p:nvCxnSpPr>
          <p:cNvPr id="13" name="Editable connector"/>
          <p:cNvCxnSpPr/>
          <p:nvPr/>
        </p:nvCxnSpPr>
        <p:spPr>
          <a:xfrm>
            <a:off x="2743200" y="2944368"/>
            <a:ext cx="786384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rogress backup state marker"/>
          <p:cNvSpPr/>
          <p:nvPr/>
        </p:nvSpPr>
        <p:spPr>
          <a:xfrm>
            <a:off x="3840480" y="2816352"/>
            <a:ext cx="256032" cy="256032"/>
          </a:xfrm>
          <a:prstGeom prst="ellipse">
            <a:avLst/>
          </a:prstGeom>
          <a:solidFill>
            <a:srgbClr val="992A2A"/>
          </a:solidFill>
          <a:ln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rogress backup state heading"/>
          <p:cNvSpPr txBox="1"/>
          <p:nvPr/>
        </p:nvSpPr>
        <p:spPr>
          <a:xfrm>
            <a:off x="3310128" y="1956816"/>
            <a:ext cx="1060704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重設進度</a:t>
            </a:r>
          </a:p>
        </p:txBody>
      </p:sp>
      <p:sp>
        <p:nvSpPr>
          <p:cNvPr id="16" name="Progress backup state body"/>
          <p:cNvSpPr txBox="1"/>
          <p:nvPr/>
        </p:nvSpPr>
        <p:spPr>
          <a:xfrm>
            <a:off x="3273552" y="3218688"/>
            <a:ext cx="1225296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清除本機紀錄</a:t>
            </a:r>
          </a:p>
        </p:txBody>
      </p:sp>
      <p:cxnSp>
        <p:nvCxnSpPr>
          <p:cNvPr id="17" name="Editable connector"/>
          <p:cNvCxnSpPr/>
          <p:nvPr/>
        </p:nvCxnSpPr>
        <p:spPr>
          <a:xfrm>
            <a:off x="4114800" y="2944368"/>
            <a:ext cx="786384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rogress backup state marker"/>
          <p:cNvSpPr/>
          <p:nvPr/>
        </p:nvSpPr>
        <p:spPr>
          <a:xfrm>
            <a:off x="5157216" y="2816352"/>
            <a:ext cx="256032" cy="256032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rogress backup state heading"/>
          <p:cNvSpPr txBox="1"/>
          <p:nvPr/>
        </p:nvSpPr>
        <p:spPr>
          <a:xfrm>
            <a:off x="4626864" y="1956816"/>
            <a:ext cx="1060704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下載／還原</a:t>
            </a:r>
          </a:p>
        </p:txBody>
      </p:sp>
      <p:sp>
        <p:nvSpPr>
          <p:cNvPr id="20" name="Progress backup state body"/>
          <p:cNvSpPr txBox="1"/>
          <p:nvPr/>
        </p:nvSpPr>
        <p:spPr>
          <a:xfrm>
            <a:off x="4590288" y="3218688"/>
            <a:ext cx="1225296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交換 JSON 備份</a:t>
            </a:r>
          </a:p>
        </p:txBody>
      </p:sp>
      <p:sp>
        <p:nvSpPr>
          <p:cNvPr id="21" name="Checkpoint definition panel"/>
          <p:cNvSpPr/>
          <p:nvPr/>
        </p:nvSpPr>
        <p:spPr>
          <a:xfrm>
            <a:off x="6510528" y="1335024"/>
            <a:ext cx="4700016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2" name="Checkpoint definition label"/>
          <p:cNvSpPr txBox="1"/>
          <p:nvPr/>
        </p:nvSpPr>
        <p:spPr>
          <a:xfrm>
            <a:off x="6601968" y="1389888"/>
            <a:ext cx="1444752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建立本機存檔點</a:t>
            </a:r>
          </a:p>
        </p:txBody>
      </p:sp>
      <p:sp>
        <p:nvSpPr>
          <p:cNvPr id="23" name="Checkpoint definition explanation"/>
          <p:cNvSpPr txBox="1"/>
          <p:nvPr/>
        </p:nvSpPr>
        <p:spPr>
          <a:xfrm>
            <a:off x="8119872" y="1399032"/>
            <a:ext cx="2980944" cy="67665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browser-local progress；值 #0 或新存檔點；建立可回復狀態；存檔點更新；原進度保持。</a:t>
            </a:r>
          </a:p>
        </p:txBody>
      </p:sp>
      <p:sp>
        <p:nvSpPr>
          <p:cNvPr id="24" name="Restore definition panel"/>
          <p:cNvSpPr/>
          <p:nvPr/>
        </p:nvSpPr>
        <p:spPr>
          <a:xfrm>
            <a:off x="6510528" y="2267712"/>
            <a:ext cx="4700016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5" name="Restore definition label"/>
          <p:cNvSpPr txBox="1"/>
          <p:nvPr/>
        </p:nvSpPr>
        <p:spPr>
          <a:xfrm>
            <a:off x="6601968" y="2322576"/>
            <a:ext cx="1444752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還原本機存檔點</a:t>
            </a:r>
          </a:p>
        </p:txBody>
      </p:sp>
      <p:sp>
        <p:nvSpPr>
          <p:cNvPr id="26" name="Restore definition explanation"/>
          <p:cNvSpPr txBox="1"/>
          <p:nvPr/>
        </p:nvSpPr>
        <p:spPr>
          <a:xfrm>
            <a:off x="8119872" y="2331720"/>
            <a:ext cx="2980944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本機存檔點；值 原保存內容；回到保存狀態；進度更新；runner artifact 不被重算。</a:t>
            </a:r>
          </a:p>
        </p:txBody>
      </p:sp>
      <p:sp>
        <p:nvSpPr>
          <p:cNvPr id="27" name="Reset progress definition panel"/>
          <p:cNvSpPr/>
          <p:nvPr/>
        </p:nvSpPr>
        <p:spPr>
          <a:xfrm>
            <a:off x="6510528" y="3145536"/>
            <a:ext cx="4700016" cy="85953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8" name="Reset progress definition label"/>
          <p:cNvSpPr txBox="1"/>
          <p:nvPr/>
        </p:nvSpPr>
        <p:spPr>
          <a:xfrm>
            <a:off x="6601968" y="3200400"/>
            <a:ext cx="1444752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重設本機進度</a:t>
            </a:r>
          </a:p>
        </p:txBody>
      </p:sp>
      <p:sp>
        <p:nvSpPr>
          <p:cNvPr id="29" name="Reset progress definition explanation"/>
          <p:cNvSpPr txBox="1"/>
          <p:nvPr/>
        </p:nvSpPr>
        <p:spPr>
          <a:xfrm>
            <a:off x="8119872" y="3209544"/>
            <a:ext cx="2980944" cy="73151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local progress；值 重設後紀錄；改變本機進度；狀態更新；result、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gate、replay 維持原值。</a:t>
            </a:r>
          </a:p>
        </p:txBody>
      </p:sp>
      <p:sp>
        <p:nvSpPr>
          <p:cNvPr id="30" name="Progress backup state interpretation panel"/>
          <p:cNvSpPr/>
          <p:nvPr/>
        </p:nvSpPr>
        <p:spPr>
          <a:xfrm>
            <a:off x="749808" y="4297680"/>
            <a:ext cx="10552176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1" name="Progress backup state interpretation text"/>
          <p:cNvSpPr txBox="1"/>
          <p:nvPr/>
        </p:nvSpPr>
        <p:spPr>
          <a:xfrm>
            <a:off x="896112" y="4352544"/>
            <a:ext cx="10259567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狀態結論：進度備份 controls 只改本機 local state；資料來源與 scientific result 的 identity 保持。</a:t>
            </a:r>
          </a:p>
        </p:txBody>
      </p:sp>
      <p:sp>
        <p:nvSpPr>
          <p:cNvPr id="32" name="Evidence source label"/>
          <p:cNvSpPr txBox="1"/>
          <p:nvPr/>
        </p:nvSpPr>
        <p:spPr>
          <a:xfrm>
            <a:off x="822960" y="5010912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進度備份：#0、0 筆匯入紀錄、JSON 格式；操作失敗時保持目前本機紀錄。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P081｜轉移一：智慧農場的灌溉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gate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ransfer farm field panel"/>
          <p:cNvSpPr/>
          <p:nvPr/>
        </p:nvSpPr>
        <p:spPr>
          <a:xfrm>
            <a:off x="694944" y="1298448"/>
            <a:ext cx="10716768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6" name="Transfer farm field label"/>
          <p:cNvSpPr txBox="1"/>
          <p:nvPr/>
        </p:nvSpPr>
        <p:spPr>
          <a:xfrm>
            <a:off x="786384" y="1353312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observation（觀察）</a:t>
            </a:r>
          </a:p>
        </p:txBody>
      </p:sp>
      <p:sp>
        <p:nvSpPr>
          <p:cNvPr id="7" name="Transfer farm field explanation"/>
          <p:cNvSpPr txBox="1"/>
          <p:nvPr/>
        </p:nvSpPr>
        <p:spPr>
          <a:xfrm>
            <a:off x="3054096" y="1362456"/>
            <a:ext cx="8247888" cy="5303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domain input；值 水位、含水、窗口、期限；提供灌溉條件。</a:t>
            </a:r>
          </a:p>
        </p:txBody>
      </p:sp>
      <p:sp>
        <p:nvSpPr>
          <p:cNvPr id="8" name="Transfer farm field panel"/>
          <p:cNvSpPr/>
          <p:nvPr/>
        </p:nvSpPr>
        <p:spPr>
          <a:xfrm>
            <a:off x="694944" y="2066543"/>
            <a:ext cx="10716768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9" name="Transfer farm field label"/>
          <p:cNvSpPr txBox="1"/>
          <p:nvPr/>
        </p:nvSpPr>
        <p:spPr>
          <a:xfrm>
            <a:off x="786384" y="2121408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policy action（策略動作）</a:t>
            </a:r>
          </a:p>
        </p:txBody>
      </p:sp>
      <p:sp>
        <p:nvSpPr>
          <p:cNvPr id="10" name="Transfer farm field explanation"/>
          <p:cNvSpPr txBox="1"/>
          <p:nvPr/>
        </p:nvSpPr>
        <p:spPr>
          <a:xfrm>
            <a:off x="3054096" y="2130551"/>
            <a:ext cx="8247888" cy="5303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policy；值 WAIT／urgent／batch；安排灌溉封包。</a:t>
            </a:r>
          </a:p>
        </p:txBody>
      </p:sp>
      <p:sp>
        <p:nvSpPr>
          <p:cNvPr id="11" name="Transfer farm field panel"/>
          <p:cNvSpPr/>
          <p:nvPr/>
        </p:nvSpPr>
        <p:spPr>
          <a:xfrm>
            <a:off x="694944" y="2834639"/>
            <a:ext cx="10716768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Transfer farm field label"/>
          <p:cNvSpPr txBox="1"/>
          <p:nvPr/>
        </p:nvSpPr>
        <p:spPr>
          <a:xfrm>
            <a:off x="786384" y="2889503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（服務結果）</a:t>
            </a:r>
          </a:p>
        </p:txBody>
      </p:sp>
      <p:sp>
        <p:nvSpPr>
          <p:cNvPr id="13" name="Transfer farm field explanation"/>
          <p:cNvSpPr txBox="1"/>
          <p:nvPr/>
        </p:nvSpPr>
        <p:spPr>
          <a:xfrm>
            <a:off x="3054096" y="2898647"/>
            <a:ext cx="8247888" cy="5303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farm condition；值 達成／未達成；定義完成</a:t>
            </a:r>
          </a:p>
        </p:txBody>
      </p:sp>
      <p:sp>
        <p:nvSpPr>
          <p:cNvPr id="14" name="Transfer farm field panel"/>
          <p:cNvSpPr/>
          <p:nvPr/>
        </p:nvSpPr>
        <p:spPr>
          <a:xfrm>
            <a:off x="694944" y="3602736"/>
            <a:ext cx="10716768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5" name="Transfer farm field label"/>
          <p:cNvSpPr txBox="1"/>
          <p:nvPr/>
        </p:nvSpPr>
        <p:spPr>
          <a:xfrm>
            <a:off x="786384" y="365760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（端點能量）</a:t>
            </a:r>
          </a:p>
        </p:txBody>
      </p:sp>
      <p:sp>
        <p:nvSpPr>
          <p:cNvPr id="16" name="Transfer farm field explanation"/>
          <p:cNvSpPr txBox="1"/>
          <p:nvPr/>
        </p:nvSpPr>
        <p:spPr>
          <a:xfrm>
            <a:off x="3054096" y="3666744"/>
            <a:ext cx="8247888" cy="5303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pump scope；值 J；描述泵浦代價</a:t>
            </a:r>
          </a:p>
        </p:txBody>
      </p:sp>
      <p:sp>
        <p:nvSpPr>
          <p:cNvPr id="17" name="Transfer farm causal sentence panel"/>
          <p:cNvSpPr/>
          <p:nvPr/>
        </p:nvSpPr>
        <p:spPr>
          <a:xfrm>
            <a:off x="749808" y="4553712"/>
            <a:ext cx="10552176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8" name="Transfer farm causal sentence text"/>
          <p:cNvSpPr txBox="1"/>
          <p:nvPr/>
        </p:nvSpPr>
        <p:spPr>
          <a:xfrm>
            <a:off x="896112" y="4608576"/>
            <a:ext cx="10259567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可移植句：觀察欄位決定 action；action 形成 event；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gate 定義完成；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描述宣告 scope 的代價。</a:t>
            </a:r>
          </a:p>
        </p:txBody>
      </p:sp>
      <p:sp>
        <p:nvSpPr>
          <p:cNvPr id="19" name="Transfer farm question panel"/>
          <p:cNvSpPr/>
          <p:nvPr/>
        </p:nvSpPr>
        <p:spPr>
          <a:xfrm>
            <a:off x="749808" y="5175504"/>
            <a:ext cx="10552176" cy="21945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0" name="Transfer farm question text"/>
          <p:cNvSpPr txBox="1"/>
          <p:nvPr/>
        </p:nvSpPr>
        <p:spPr>
          <a:xfrm>
            <a:off x="896112" y="5230368"/>
            <a:ext cx="10259567" cy="1097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問題：若 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下降但 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condition 失敗，結果的主判讀欄位是哪一組？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P082｜轉移二：HVAC 的舒適度與設備期限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ransfer hvac field panel"/>
          <p:cNvSpPr/>
          <p:nvPr/>
        </p:nvSpPr>
        <p:spPr>
          <a:xfrm>
            <a:off x="694944" y="1298448"/>
            <a:ext cx="10716768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6" name="Transfer hvac field label"/>
          <p:cNvSpPr txBox="1"/>
          <p:nvPr/>
        </p:nvSpPr>
        <p:spPr>
          <a:xfrm>
            <a:off x="786384" y="1353312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observation（觀察）</a:t>
            </a:r>
          </a:p>
        </p:txBody>
      </p:sp>
      <p:sp>
        <p:nvSpPr>
          <p:cNvPr id="7" name="Transfer hvac field explanation"/>
          <p:cNvSpPr txBox="1"/>
          <p:nvPr/>
        </p:nvSpPr>
        <p:spPr>
          <a:xfrm>
            <a:off x="3054096" y="1362456"/>
            <a:ext cx="8247888" cy="5303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HVAC input；值 舒適度、設備、尖峰、窗口；提供控制條件。</a:t>
            </a:r>
          </a:p>
        </p:txBody>
      </p:sp>
      <p:sp>
        <p:nvSpPr>
          <p:cNvPr id="8" name="Transfer hvac field panel"/>
          <p:cNvSpPr/>
          <p:nvPr/>
        </p:nvSpPr>
        <p:spPr>
          <a:xfrm>
            <a:off x="694944" y="2066543"/>
            <a:ext cx="10716768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9" name="Transfer hvac field label"/>
          <p:cNvSpPr txBox="1"/>
          <p:nvPr/>
        </p:nvSpPr>
        <p:spPr>
          <a:xfrm>
            <a:off x="786384" y="2121408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policy action（策略動作）</a:t>
            </a:r>
          </a:p>
        </p:txBody>
      </p:sp>
      <p:sp>
        <p:nvSpPr>
          <p:cNvPr id="10" name="Transfer hvac field explanation"/>
          <p:cNvSpPr txBox="1"/>
          <p:nvPr/>
        </p:nvSpPr>
        <p:spPr>
          <a:xfrm>
            <a:off x="3054096" y="2130551"/>
            <a:ext cx="8247888" cy="5303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policy；值 WAIT／urgent／batch；安排感測與控制。</a:t>
            </a:r>
          </a:p>
        </p:txBody>
      </p:sp>
      <p:sp>
        <p:nvSpPr>
          <p:cNvPr id="11" name="Transfer hvac field panel"/>
          <p:cNvSpPr/>
          <p:nvPr/>
        </p:nvSpPr>
        <p:spPr>
          <a:xfrm>
            <a:off x="694944" y="2834639"/>
            <a:ext cx="10716768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Transfer hvac field label"/>
          <p:cNvSpPr txBox="1"/>
          <p:nvPr/>
        </p:nvSpPr>
        <p:spPr>
          <a:xfrm>
            <a:off x="786384" y="2889503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（服務結果）</a:t>
            </a:r>
          </a:p>
        </p:txBody>
      </p:sp>
      <p:sp>
        <p:nvSpPr>
          <p:cNvPr id="13" name="Transfer hvac field explanation"/>
          <p:cNvSpPr txBox="1"/>
          <p:nvPr/>
        </p:nvSpPr>
        <p:spPr>
          <a:xfrm>
            <a:off x="3054096" y="2898647"/>
            <a:ext cx="8247888" cy="5303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HVAC condition；值 達成／未達成；定義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</a:t>
            </a:r>
          </a:p>
        </p:txBody>
      </p:sp>
      <p:sp>
        <p:nvSpPr>
          <p:cNvPr id="14" name="Transfer hvac field panel"/>
          <p:cNvSpPr/>
          <p:nvPr/>
        </p:nvSpPr>
        <p:spPr>
          <a:xfrm>
            <a:off x="694944" y="3602736"/>
            <a:ext cx="10716768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5" name="Transfer hvac field label"/>
          <p:cNvSpPr txBox="1"/>
          <p:nvPr/>
        </p:nvSpPr>
        <p:spPr>
          <a:xfrm>
            <a:off x="786384" y="365760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（端點能量）</a:t>
            </a:r>
          </a:p>
        </p:txBody>
      </p:sp>
      <p:sp>
        <p:nvSpPr>
          <p:cNvPr id="16" name="Transfer hvac field explanation"/>
          <p:cNvSpPr txBox="1"/>
          <p:nvPr/>
        </p:nvSpPr>
        <p:spPr>
          <a:xfrm>
            <a:off x="3054096" y="3666744"/>
            <a:ext cx="8247888" cy="5303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fan／compressor scope；值 J；描述宣告端點</a:t>
            </a:r>
          </a:p>
        </p:txBody>
      </p:sp>
      <p:sp>
        <p:nvSpPr>
          <p:cNvPr id="17" name="Transfer hvac causal sentence panel"/>
          <p:cNvSpPr/>
          <p:nvPr/>
        </p:nvSpPr>
        <p:spPr>
          <a:xfrm>
            <a:off x="749808" y="4553712"/>
            <a:ext cx="10552176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8" name="Transfer hvac causal sentence text"/>
          <p:cNvSpPr txBox="1"/>
          <p:nvPr/>
        </p:nvSpPr>
        <p:spPr>
          <a:xfrm>
            <a:off x="896112" y="4608576"/>
            <a:ext cx="10259567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可移植句：觀察欄位決定 action；action 形成 event；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gate 定義完成；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描述宣告 scope 的代價。</a:t>
            </a:r>
          </a:p>
        </p:txBody>
      </p:sp>
      <p:sp>
        <p:nvSpPr>
          <p:cNvPr id="19" name="Transfer hvac question panel"/>
          <p:cNvSpPr/>
          <p:nvPr/>
        </p:nvSpPr>
        <p:spPr>
          <a:xfrm>
            <a:off x="749808" y="5175504"/>
            <a:ext cx="10552176" cy="21945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0" name="Transfer hvac question text"/>
          <p:cNvSpPr txBox="1"/>
          <p:nvPr/>
        </p:nvSpPr>
        <p:spPr>
          <a:xfrm>
            <a:off x="896112" y="5230368"/>
            <a:ext cx="10259567" cy="1097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問題：若 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下降但 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condition 失敗，結果的主判讀欄位是哪一組？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P083｜轉移三：edge inference 的 freshness gate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ransfer edge field panel"/>
          <p:cNvSpPr/>
          <p:nvPr/>
        </p:nvSpPr>
        <p:spPr>
          <a:xfrm>
            <a:off x="694944" y="1298448"/>
            <a:ext cx="10716768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6" name="Transfer edge field label"/>
          <p:cNvSpPr txBox="1"/>
          <p:nvPr/>
        </p:nvSpPr>
        <p:spPr>
          <a:xfrm>
            <a:off x="786384" y="1353312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observation（觀察）</a:t>
            </a:r>
          </a:p>
        </p:txBody>
      </p:sp>
      <p:sp>
        <p:nvSpPr>
          <p:cNvPr id="7" name="Transfer edge field explanation"/>
          <p:cNvSpPr txBox="1"/>
          <p:nvPr/>
        </p:nvSpPr>
        <p:spPr>
          <a:xfrm>
            <a:off x="3054096" y="1362456"/>
            <a:ext cx="8247888" cy="5303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edge trace；值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、freshness、quality、窗口；提供推論條件。</a:t>
            </a:r>
          </a:p>
        </p:txBody>
      </p:sp>
      <p:sp>
        <p:nvSpPr>
          <p:cNvPr id="8" name="Transfer edge field panel"/>
          <p:cNvSpPr/>
          <p:nvPr/>
        </p:nvSpPr>
        <p:spPr>
          <a:xfrm>
            <a:off x="694944" y="2066543"/>
            <a:ext cx="10716768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9" name="Transfer edge field label"/>
          <p:cNvSpPr txBox="1"/>
          <p:nvPr/>
        </p:nvSpPr>
        <p:spPr>
          <a:xfrm>
            <a:off x="786384" y="2121408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policy action（策略動作）</a:t>
            </a:r>
          </a:p>
        </p:txBody>
      </p:sp>
      <p:sp>
        <p:nvSpPr>
          <p:cNvPr id="10" name="Transfer edge field explanation"/>
          <p:cNvSpPr txBox="1"/>
          <p:nvPr/>
        </p:nvSpPr>
        <p:spPr>
          <a:xfrm>
            <a:off x="3054096" y="2130551"/>
            <a:ext cx="8247888" cy="5303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policy；值 WAIT／urgent／batch；選擇封包時機。</a:t>
            </a:r>
          </a:p>
        </p:txBody>
      </p:sp>
      <p:sp>
        <p:nvSpPr>
          <p:cNvPr id="11" name="Transfer edge field panel"/>
          <p:cNvSpPr/>
          <p:nvPr/>
        </p:nvSpPr>
        <p:spPr>
          <a:xfrm>
            <a:off x="694944" y="2834639"/>
            <a:ext cx="10716768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Transfer edge field label"/>
          <p:cNvSpPr txBox="1"/>
          <p:nvPr/>
        </p:nvSpPr>
        <p:spPr>
          <a:xfrm>
            <a:off x="786384" y="2889503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（服務結果）</a:t>
            </a:r>
          </a:p>
        </p:txBody>
      </p:sp>
      <p:sp>
        <p:nvSpPr>
          <p:cNvPr id="13" name="Transfer edge field explanation"/>
          <p:cNvSpPr txBox="1"/>
          <p:nvPr/>
        </p:nvSpPr>
        <p:spPr>
          <a:xfrm>
            <a:off x="3054096" y="2898647"/>
            <a:ext cx="8247888" cy="5303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edge trace；值 完成／stale；定義 freshness gate。</a:t>
            </a:r>
          </a:p>
        </p:txBody>
      </p:sp>
      <p:sp>
        <p:nvSpPr>
          <p:cNvPr id="14" name="Transfer edge field panel"/>
          <p:cNvSpPr/>
          <p:nvPr/>
        </p:nvSpPr>
        <p:spPr>
          <a:xfrm>
            <a:off x="694944" y="3602736"/>
            <a:ext cx="10716768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5" name="Transfer edge field label"/>
          <p:cNvSpPr txBox="1"/>
          <p:nvPr/>
        </p:nvSpPr>
        <p:spPr>
          <a:xfrm>
            <a:off x="786384" y="365760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oule（端點焦耳）</a:t>
            </a:r>
          </a:p>
        </p:txBody>
      </p:sp>
      <p:sp>
        <p:nvSpPr>
          <p:cNvPr id="16" name="Transfer edge field explanation"/>
          <p:cNvSpPr txBox="1"/>
          <p:nvPr/>
        </p:nvSpPr>
        <p:spPr>
          <a:xfrm>
            <a:off x="3054096" y="3666744"/>
            <a:ext cx="8247888" cy="5303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edge device scope；值 J；描述端點代價</a:t>
            </a:r>
          </a:p>
        </p:txBody>
      </p:sp>
      <p:sp>
        <p:nvSpPr>
          <p:cNvPr id="17" name="Transfer edge causal sentence panel"/>
          <p:cNvSpPr/>
          <p:nvPr/>
        </p:nvSpPr>
        <p:spPr>
          <a:xfrm>
            <a:off x="749808" y="4553712"/>
            <a:ext cx="10552176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8" name="Transfer edge causal sentence text"/>
          <p:cNvSpPr txBox="1"/>
          <p:nvPr/>
        </p:nvSpPr>
        <p:spPr>
          <a:xfrm>
            <a:off x="896112" y="4608576"/>
            <a:ext cx="10259567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可移植句：觀察欄位決定 action；action 形成 event；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gate 定義完成；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描述宣告 scope 的代價。</a:t>
            </a:r>
          </a:p>
        </p:txBody>
      </p:sp>
      <p:sp>
        <p:nvSpPr>
          <p:cNvPr id="19" name="Transfer edge question panel"/>
          <p:cNvSpPr/>
          <p:nvPr/>
        </p:nvSpPr>
        <p:spPr>
          <a:xfrm>
            <a:off x="749808" y="5175504"/>
            <a:ext cx="10552176" cy="21945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0" name="Transfer edge question text"/>
          <p:cNvSpPr txBox="1"/>
          <p:nvPr/>
        </p:nvSpPr>
        <p:spPr>
          <a:xfrm>
            <a:off x="896112" y="5230368"/>
            <a:ext cx="10259567" cy="1097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問題：若 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下降但 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condition 失敗，結果的主判讀欄位是哪一組？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P084｜轉移出口：保留可重播的 policy hypothesis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ransfer exit stage"/>
          <p:cNvSpPr/>
          <p:nvPr/>
        </p:nvSpPr>
        <p:spPr>
          <a:xfrm>
            <a:off x="713232" y="1389888"/>
            <a:ext cx="2414016" cy="160934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6" name="Transfer exit heading"/>
          <p:cNvSpPr txBox="1"/>
          <p:nvPr/>
        </p:nvSpPr>
        <p:spPr>
          <a:xfrm>
            <a:off x="822960" y="1609344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condition（條件）</a:t>
            </a:r>
          </a:p>
        </p:txBody>
      </p:sp>
      <p:sp>
        <p:nvSpPr>
          <p:cNvPr id="7" name="Transfer exit body"/>
          <p:cNvSpPr txBox="1"/>
          <p:nvPr/>
        </p:nvSpPr>
        <p:spPr>
          <a:xfrm>
            <a:off x="877824" y="2084831"/>
            <a:ext cx="2084831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、期限、quality、窗口</a:t>
            </a:r>
          </a:p>
        </p:txBody>
      </p:sp>
      <p:cxnSp>
        <p:nvCxnSpPr>
          <p:cNvPr id="8" name="Editable connector"/>
          <p:cNvCxnSpPr/>
          <p:nvPr/>
        </p:nvCxnSpPr>
        <p:spPr>
          <a:xfrm>
            <a:off x="3127248" y="2194560"/>
            <a:ext cx="256032" cy="0"/>
          </a:xfrm>
          <a:prstGeom prst="line">
            <a:avLst/>
          </a:prstGeom>
          <a:ln w="2159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ransfer exit stage"/>
          <p:cNvSpPr/>
          <p:nvPr/>
        </p:nvSpPr>
        <p:spPr>
          <a:xfrm>
            <a:off x="3474720" y="1389888"/>
            <a:ext cx="2414016" cy="160934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0" name="Transfer exit heading"/>
          <p:cNvSpPr txBox="1"/>
          <p:nvPr/>
        </p:nvSpPr>
        <p:spPr>
          <a:xfrm>
            <a:off x="3584448" y="1609344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branch（分支）</a:t>
            </a:r>
          </a:p>
        </p:txBody>
      </p:sp>
      <p:sp>
        <p:nvSpPr>
          <p:cNvPr id="11" name="Transfer exit body"/>
          <p:cNvSpPr txBox="1"/>
          <p:nvPr/>
        </p:nvSpPr>
        <p:spPr>
          <a:xfrm>
            <a:off x="3639312" y="2084831"/>
            <a:ext cx="2084831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WAIT／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SEND_URGENT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FLUSH_BATCH</a:t>
            </a:r>
          </a:p>
        </p:txBody>
      </p:sp>
      <p:cxnSp>
        <p:nvCxnSpPr>
          <p:cNvPr id="12" name="Editable connector"/>
          <p:cNvCxnSpPr/>
          <p:nvPr/>
        </p:nvCxnSpPr>
        <p:spPr>
          <a:xfrm>
            <a:off x="5888736" y="2194560"/>
            <a:ext cx="256032" cy="0"/>
          </a:xfrm>
          <a:prstGeom prst="line">
            <a:avLst/>
          </a:prstGeom>
          <a:ln w="2159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ransfer exit stage"/>
          <p:cNvSpPr/>
          <p:nvPr/>
        </p:nvSpPr>
        <p:spPr>
          <a:xfrm>
            <a:off x="6236208" y="1389888"/>
            <a:ext cx="2414016" cy="160934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4" name="Transfer exit heading"/>
          <p:cNvSpPr txBox="1"/>
          <p:nvPr/>
        </p:nvSpPr>
        <p:spPr>
          <a:xfrm>
            <a:off x="6345936" y="1609344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event（事件）</a:t>
            </a:r>
          </a:p>
        </p:txBody>
      </p:sp>
      <p:sp>
        <p:nvSpPr>
          <p:cNvPr id="15" name="Transfer exit body"/>
          <p:cNvSpPr txBox="1"/>
          <p:nvPr/>
        </p:nvSpPr>
        <p:spPr>
          <a:xfrm>
            <a:off x="6400800" y="2084831"/>
            <a:ext cx="2084831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state、packet、delivery、expiry</a:t>
            </a:r>
          </a:p>
        </p:txBody>
      </p:sp>
      <p:cxnSp>
        <p:nvCxnSpPr>
          <p:cNvPr id="16" name="Editable connector"/>
          <p:cNvCxnSpPr/>
          <p:nvPr/>
        </p:nvCxnSpPr>
        <p:spPr>
          <a:xfrm>
            <a:off x="8650224" y="2194560"/>
            <a:ext cx="256032" cy="0"/>
          </a:xfrm>
          <a:prstGeom prst="line">
            <a:avLst/>
          </a:prstGeom>
          <a:ln w="2159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ransfer exit stage"/>
          <p:cNvSpPr/>
          <p:nvPr/>
        </p:nvSpPr>
        <p:spPr>
          <a:xfrm>
            <a:off x="8997696" y="1389888"/>
            <a:ext cx="2414016" cy="160934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8" name="Transfer exit heading"/>
          <p:cNvSpPr txBox="1"/>
          <p:nvPr/>
        </p:nvSpPr>
        <p:spPr>
          <a:xfrm>
            <a:off x="9107424" y="1609344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claim（結論）</a:t>
            </a:r>
          </a:p>
        </p:txBody>
      </p:sp>
      <p:sp>
        <p:nvSpPr>
          <p:cNvPr id="19" name="Transfer exit body"/>
          <p:cNvSpPr txBox="1"/>
          <p:nvPr/>
        </p:nvSpPr>
        <p:spPr>
          <a:xfrm>
            <a:off x="9162288" y="2084831"/>
            <a:ext cx="2084831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gate、energy scope、適用邊界</a:t>
            </a:r>
          </a:p>
        </p:txBody>
      </p:sp>
      <p:sp>
        <p:nvSpPr>
          <p:cNvPr id="20" name="Transfer exit export panel"/>
          <p:cNvSpPr/>
          <p:nvPr/>
        </p:nvSpPr>
        <p:spPr>
          <a:xfrm>
            <a:off x="694944" y="3529584"/>
            <a:ext cx="10716768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1" name="Transfer exit export label"/>
          <p:cNvSpPr txBox="1"/>
          <p:nvPr/>
        </p:nvSpPr>
        <p:spPr>
          <a:xfrm>
            <a:off x="786384" y="3584448"/>
            <a:ext cx="2340864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進度備份匯出</a:t>
            </a:r>
          </a:p>
        </p:txBody>
      </p:sp>
      <p:sp>
        <p:nvSpPr>
          <p:cNvPr id="22" name="Transfer exit export explanation"/>
          <p:cNvSpPr txBox="1"/>
          <p:nvPr/>
        </p:nvSpPr>
        <p:spPr>
          <a:xfrm>
            <a:off x="3200400" y="3593591"/>
            <a:ext cx="8101584" cy="6035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本機進度備份；值 可攜 JSON record；攜帶 lineage，還原後配對 identity。</a:t>
            </a:r>
          </a:p>
        </p:txBody>
      </p:sp>
      <p:sp>
        <p:nvSpPr>
          <p:cNvPr id="23" name="Transfer exit claim panel"/>
          <p:cNvSpPr/>
          <p:nvPr/>
        </p:nvSpPr>
        <p:spPr>
          <a:xfrm>
            <a:off x="694944" y="4389120"/>
            <a:ext cx="10716768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4" name="Transfer exit claim label"/>
          <p:cNvSpPr txBox="1"/>
          <p:nvPr/>
        </p:nvSpPr>
        <p:spPr>
          <a:xfrm>
            <a:off x="786384" y="4443983"/>
            <a:ext cx="2340864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claim ceiling（結論上限）</a:t>
            </a:r>
          </a:p>
        </p:txBody>
      </p:sp>
      <p:sp>
        <p:nvSpPr>
          <p:cNvPr id="25" name="Transfer exit claim explanation"/>
          <p:cNvSpPr txBox="1"/>
          <p:nvPr/>
        </p:nvSpPr>
        <p:spPr>
          <a:xfrm>
            <a:off x="3200400" y="4453128"/>
            <a:ext cx="8101584" cy="6035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固定 scope；值 條件式 hypothesis；限制外推，不延伸 live KPI。</a:t>
            </a:r>
          </a:p>
        </p:txBody>
      </p:sp>
      <p:sp>
        <p:nvSpPr>
          <p:cNvPr id="26" name="Transfer exit sentence panel"/>
          <p:cNvSpPr/>
          <p:nvPr/>
        </p:nvSpPr>
        <p:spPr>
          <a:xfrm>
            <a:off x="749808" y="5193792"/>
            <a:ext cx="10552176" cy="21945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27" name="Transfer exit sentence text"/>
          <p:cNvSpPr txBox="1"/>
          <p:nvPr/>
        </p:nvSpPr>
        <p:spPr>
          <a:xfrm>
            <a:off x="896112" y="5248655"/>
            <a:ext cx="10259567" cy="1097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收束句：保留可重跑的條件、事件與 evidence；下一個 domain 重新建立 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condition。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P085-A｜匯入資料：source 與 case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匯入資料：source 與 case screenshot" descr="08-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匯入資料：source 與 case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匯入資料：source 與 case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3D61B9"/>
          </a:solidFill>
          <a:ln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匯入資料：source 與 case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匯入資料：source 與 case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source（來源）</a:t>
            </a:r>
          </a:p>
        </p:txBody>
      </p:sp>
      <p:sp>
        <p:nvSpPr>
          <p:cNvPr id="10" name="匯入資料：source 與 case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／source label；值：待匯入；作用：標示資料責任；成功：建立 selected state；失敗：原 import state 保持。</a:t>
            </a:r>
          </a:p>
        </p:txBody>
      </p:sp>
      <p:sp>
        <p:nvSpPr>
          <p:cNvPr id="11" name="匯入資料：source 與 case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匯入資料：source 與 case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匯入資料：source 與 case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匯入資料：source 與 case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experiment／case（實驗／案例）</a:t>
            </a:r>
          </a:p>
        </p:txBody>
      </p:sp>
      <p:sp>
        <p:nvSpPr>
          <p:cNvPr id="15" name="匯入資料：source 與 case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header；值：A／B／C case 待補；作用：配對情境；成功：案例可讀；失敗：匯入狀態保持。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Lab A：source／case 欄位待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；目前仍是尚未匯入狀態。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P085-B｜匯入狀態與備用標籤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匯入狀態與備用標籤 screenshot" descr="08-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匯入狀態與備用標籤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匯入狀態與備用標籤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007474"/>
          </a:solidFill>
          <a:ln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匯入狀態與備用標籤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匯入狀態與備用標籤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import state（匯入狀態）</a:t>
            </a:r>
          </a:p>
        </p:txBody>
      </p:sp>
      <p:sp>
        <p:nvSpPr>
          <p:cNvPr id="10" name="匯入狀態與備用標籤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來源：http://120.126.151.102:3000/course gate；值：尚未匯入；作用：控制 downstream view；成功：匯入後進 replay；失敗：原 state 保持。</a:t>
            </a:r>
          </a:p>
        </p:txBody>
      </p:sp>
      <p:sp>
        <p:nvSpPr>
          <p:cNvPr id="11" name="匯入狀態與備用標籤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匯入狀態與備用標籤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匯入狀態與備用標籤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匯入狀態與備用標籤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 label（備用標籤）</a:t>
            </a:r>
          </a:p>
        </p:txBody>
      </p:sp>
      <p:sp>
        <p:nvSpPr>
          <p:cNvPr id="15" name="匯入狀態與備用標籤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來源：README／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source；值：同情境備用標籤；作用：支援欄位說明；成功：selected 更新；失敗：terminal record 不改。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Lab A：尚未匯入與備用標籤分開標示；不升格 accepted upload。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P086-A｜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與 delivered bits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service 與 delivered bits screenshot" descr="08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service 與 delivered bits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service 與 delivered bits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992A2A"/>
          </a:solidFill>
          <a:ln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ervice 與 delivered bits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service 與 delivered bits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（服務結果）</a:t>
            </a:r>
          </a:p>
        </p:txBody>
      </p:sp>
      <p:sp>
        <p:nvSpPr>
          <p:cNvPr id="10" name="service 與 delivered bits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summary；值：待匯入；作用：第一個 gate；成功：PASS 才繼續；失敗：目前狀態保持。</a:t>
            </a:r>
          </a:p>
        </p:txBody>
      </p:sp>
      <p:sp>
        <p:nvSpPr>
          <p:cNvPr id="11" name="service 與 delivered bits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service 與 delivered bits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3D61B9"/>
          </a:solidFill>
          <a:ln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ervice 與 delivered bits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service 與 delivered bits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delivered bits（已送達位元）</a:t>
            </a:r>
          </a:p>
        </p:txBody>
      </p:sp>
      <p:sp>
        <p:nvSpPr>
          <p:cNvPr id="15" name="service 與 delivered bits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endpoint；值：bit，待匯入；作用：量化資料並與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同讀；成功：數值可配對；失敗：原 record 保持。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Lab A：服務摘要尚未產生；不填入 FAIL、bit 或 accepted-upload result。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P086-B｜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bit/J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endpoint J 與 bit/J screenshot" descr="08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endpoint J 與 bit/J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endpoint J 與 bit/J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ndpoint J 與 bit/J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endpoint J 與 bit/J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（端點能量）</a:t>
            </a:r>
          </a:p>
        </p:txBody>
      </p:sp>
      <p:sp>
        <p:nvSpPr>
          <p:cNvPr id="10" name="endpoint J 與 bit/J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endpoint；值：J，待匯入；作用：描述端點代價；成功：scope 清楚；失敗：不升格系統能量。</a:t>
            </a:r>
          </a:p>
        </p:txBody>
      </p:sp>
      <p:sp>
        <p:nvSpPr>
          <p:cNvPr id="11" name="endpoint J 與 bit/J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endpoint J 與 bit/J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ndpoint J 與 bit/J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endpoint J 與 bit/J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bit/J</a:t>
            </a: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（能量效率）</a:t>
            </a:r>
          </a:p>
        </p:txBody>
      </p:sp>
      <p:sp>
        <p:nvSpPr>
          <p:cNvPr id="15" name="endpoint J 與 bit/J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來源：bits ÷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；值：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bit/J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，待匯入；作用：描述效率；成功：可比較；失敗：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gate 優先。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Lab A：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bit/J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尚無 current value；只保留單位與 scope。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P087-A｜replay fields 一至二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replay fields 一至二 screenshot" descr="08-f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replay fields 一至二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replay fields 一至二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3D61B9"/>
          </a:solidFill>
          <a:ln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play fields 一至二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replay fields 一至二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Radio</a:t>
            </a: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（無線電狀態）</a:t>
            </a:r>
          </a:p>
        </p:txBody>
      </p:sp>
      <p:sp>
        <p:nvSpPr>
          <p:cNvPr id="10" name="replay fields 一至二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來源：endpoint replay；值：SLEEP／TX／RX，待匯入；作用：描述 radio mode；成功：frame 更新；失敗：原 frame 保持。</a:t>
            </a:r>
          </a:p>
        </p:txBody>
      </p:sp>
      <p:sp>
        <p:nvSpPr>
          <p:cNvPr id="11" name="replay fields 一至二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replay fields 一至二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play fields 一至二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replay fields 一至二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（策略動作）</a:t>
            </a:r>
          </a:p>
        </p:txBody>
      </p:sp>
      <p:sp>
        <p:nvSpPr>
          <p:cNvPr id="15" name="replay fields 一至二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來源：policy replay；值：WAIT／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SEND_URGENT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FLUSH_BATCH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，待匯入；作用：指出 branch output；成功：event 更新；失敗：原 action 保持。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Lab A：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Radio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尚無 current frame；列舉值是欄位契約，不當作目前結果。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P087-B｜replay fields 三至四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replay fields 三至四 screenshot" descr="08-f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replay fields 三至四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replay fields 三至四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007474"/>
          </a:solidFill>
          <a:ln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play fields 三至四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replay fields 三至四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Queue count（佇列數量）</a:t>
            </a:r>
          </a:p>
        </p:txBody>
      </p:sp>
      <p:sp>
        <p:nvSpPr>
          <p:cNvPr id="10" name="replay fields 三至四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snapshot；值：packet count，待匯入；作用：描述待處理工作；成功：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event 更新；失敗：原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保持。</a:t>
            </a:r>
          </a:p>
        </p:txBody>
      </p:sp>
      <p:sp>
        <p:nvSpPr>
          <p:cNvPr id="11" name="replay fields 三至四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replay fields 三至四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play fields 三至四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replay fields 三至四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累積 </a:t>
            </a: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（端點累積能量）</a:t>
            </a:r>
          </a:p>
        </p:txBody>
      </p:sp>
      <p:sp>
        <p:nvSpPr>
          <p:cNvPr id="15" name="replay fields 三至四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來源：frame ledger；值：J，待匯入；作用：顯示目前累積代價；成功：J 更新；失敗：system energy 不在此欄。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Lab A：Queue count、累積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待 current frame；目前沒有 replay。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P088-A｜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與事件一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queue 與事件一 screenshot" descr="08-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queue 與事件一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queue 與事件一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3D61B9"/>
          </a:solidFill>
          <a:ln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eue 與事件一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queue 與事件一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 item（佇列項目）</a:t>
            </a:r>
          </a:p>
        </p:txBody>
      </p:sp>
      <p:sp>
        <p:nvSpPr>
          <p:cNvPr id="10" name="queue 與事件一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來源：result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；值：item／count，待匯入；作用：顯示等待壓力；成功：同 frame 讀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；失敗：原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保持。</a:t>
            </a:r>
          </a:p>
        </p:txBody>
      </p:sp>
      <p:sp>
        <p:nvSpPr>
          <p:cNvPr id="11" name="queue 與事件一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queue 與事件一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eue 與事件一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queue 與事件一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event type（事件類型）</a:t>
            </a:r>
          </a:p>
        </p:txBody>
      </p:sp>
      <p:sp>
        <p:nvSpPr>
          <p:cNvPr id="15" name="queue 與事件一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來源：packet trace；值：attempt／retry／delivered／expired，待匯入；作用：說明 action 結果；成功：回到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；失敗：原 event 保持。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Lab A：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與 packet event 區尚無 current value；不補寫未見事件。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P088-B｜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與事件二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queue 與事件二 screenshot" descr="08-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queue 與事件二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queue 與事件二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007474"/>
          </a:solidFill>
          <a:ln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eue 與事件二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queue 與事件二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packet identity（封包識別）</a:t>
            </a:r>
          </a:p>
        </p:txBody>
      </p:sp>
      <p:sp>
        <p:nvSpPr>
          <p:cNvPr id="10" name="queue 與事件二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來源：event ledger；值：packet label，待匯入；作用：連結重傳與送達；成功：identity 配對；失敗：原 identity 保持。</a:t>
            </a:r>
          </a:p>
        </p:txBody>
      </p:sp>
      <p:sp>
        <p:nvSpPr>
          <p:cNvPr id="11" name="queue 與事件二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queue 與事件二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eue 與事件二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queue 與事件二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delivery state（送達狀態）</a:t>
            </a:r>
          </a:p>
        </p:txBody>
      </p:sp>
      <p:sp>
        <p:nvSpPr>
          <p:cNvPr id="15" name="queue 與事件二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event；值：delivered／expired，待匯入；作用：支撐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；成功：更新 gate；失敗：原 state 保持。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Lab A：packet identity、delivery state 待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；尚無 current event。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P089-A｜timeline 一：contact 與 quality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timeline 一：contact 與 quality screenshot" descr="06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timeline 一：contact 與 quality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timeline 一：contact 與 quality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3D61B9"/>
          </a:solidFill>
          <a:ln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meline 一：contact 與 quality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timeline 一：contact 與 quality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contact（接觸）</a:t>
            </a:r>
          </a:p>
        </p:txBody>
      </p:sp>
      <p:sp>
        <p:nvSpPr>
          <p:cNvPr id="10" name="timeline 一：contact 與 quality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來源：frame；值：contact ID／status，待匯入；作用：界定窗口並連回 SLEEP 或 action；成功：欄位更新；失敗：原 state 保持。</a:t>
            </a:r>
          </a:p>
        </p:txBody>
      </p:sp>
      <p:sp>
        <p:nvSpPr>
          <p:cNvPr id="11" name="timeline 一：contact 與 quality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timeline 一：contact 與 quality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meline 一：contact 與 quality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timeline 一：contact 與 quality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quality（品質）</a:t>
            </a:r>
          </a:p>
        </p:txBody>
      </p:sp>
      <p:sp>
        <p:nvSpPr>
          <p:cNvPr id="15" name="timeline 一：contact 與 quality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來源：frame；值：ordinal band，待匯入；作用：判定 quality_ready；成功：品質欄位更新；失敗：WAIT 與原 state 保持。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Lab A：時間軸收合且尚未匯入；contact、quality 是待 frame 契約。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P089-B｜timeline 二：radio 與 policy branch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timeline 二：radio 與 policy branch screenshot" descr="06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timeline 二：radio 與 policy branch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timeline 二：radio 與 policy branch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007474"/>
          </a:solidFill>
          <a:ln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meline 二：radio 與 policy branch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timeline 二：radio 與 policy branch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radio state（無線電狀態）</a:t>
            </a:r>
          </a:p>
        </p:txBody>
      </p:sp>
      <p:sp>
        <p:nvSpPr>
          <p:cNvPr id="10" name="timeline 二：radio 與 policy branch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Radio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；值：SLEEP／TX／RX，待匯入；作用：描述 state transition 並連接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；成功：state 更新；失敗：原 state 保持。</a:t>
            </a:r>
          </a:p>
        </p:txBody>
      </p:sp>
      <p:sp>
        <p:nvSpPr>
          <p:cNvPr id="11" name="timeline 二：radio 與 policy branch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timeline 二：radio 與 policy branch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meline 二：radio 與 policy branch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timeline 二：radio 與 policy branch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policy branch（策略分支）</a:t>
            </a:r>
          </a:p>
        </p:txBody>
      </p:sp>
      <p:sp>
        <p:nvSpPr>
          <p:cNvPr id="15" name="timeline 二：radio 與 policy branch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；值：urgent／pacing／batch／wait，待匯入；作用：回到 policy branch；成功：action 更新；失敗：原 action 保持。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Lab A：expanded frame sequence 尚未載入；transition 保持未知。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P090-A｜execution ledger 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execution ledger 一 screenshot" descr="08-f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execution ledger 一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execution ledger 一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3D61B9"/>
          </a:solidFill>
          <a:ln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ecution ledger 一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execution ledger 一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experiment／case（實驗／案例）</a:t>
            </a:r>
          </a:p>
        </p:txBody>
      </p:sp>
      <p:sp>
        <p:nvSpPr>
          <p:cNvPr id="10" name="execution ledger 一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／ledger；值：A／B／C case，待匯入；作用：配對 artifact；成功：案例一致；失敗：停止更新。</a:t>
            </a:r>
          </a:p>
        </p:txBody>
      </p:sp>
      <p:sp>
        <p:nvSpPr>
          <p:cNvPr id="11" name="execution ledger 一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execution ledger 一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ecution ledger 一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execution ledger 一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role（案例角色）</a:t>
            </a:r>
          </a:p>
        </p:txBody>
      </p:sp>
      <p:sp>
        <p:nvSpPr>
          <p:cNvPr id="15" name="execution ledger 一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來源：comparison；值：baseline／candidate／revision，待 receipt；作用：定義比較位置；成功：role 可讀；失敗：selected record 不變。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Lab A：execution ledger 尚未建立；experiment、case、role 待 receipt。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P090-B｜execution ledger 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execution ledger 二 screenshot" descr="08-f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execution ledger 二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execution ledger 二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007474"/>
          </a:solidFill>
          <a:ln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ecution ledger 二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execution ledger 二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（服務／端點能量）</a:t>
            </a:r>
          </a:p>
        </p:txBody>
      </p:sp>
      <p:sp>
        <p:nvSpPr>
          <p:cNvPr id="10" name="execution ledger 二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；值：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、J，待匯入；作用：保留 gate 與 scope；成功：scope 清楚；失敗：J 不改寫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1" name="execution ledger 二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execution ledger 二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ecution ledger 二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execution ledger 二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來源與畫面選取</a:t>
            </a:r>
          </a:p>
        </p:txBody>
      </p:sp>
      <p:sp>
        <p:nvSpPr>
          <p:cNvPr id="15" name="execution ledger 二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來源：browser-local import state；值：尚未匯入；作用：區分資料來源與 selected 畫面；成功：selected 更新；失敗：terminal record 不改。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Lab A：selected state 為尚未匯入；沒有 current result 可升格。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P091-A｜Evidence：Leo scene 與空 endpoint replay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vidence current scene frame"/>
          <p:cNvSpPr/>
          <p:nvPr/>
        </p:nvSpPr>
        <p:spPr>
          <a:xfrm>
            <a:off x="658368" y="1133856"/>
            <a:ext cx="5285232" cy="3401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pic>
        <p:nvPicPr>
          <p:cNvPr id="6" name="Current Leo scene evidence" descr="04-pro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7" name="Evidence endpoint empty label"/>
          <p:cNvSpPr/>
          <p:nvPr/>
        </p:nvSpPr>
        <p:spPr>
          <a:xfrm>
            <a:off x="914400" y="3913632"/>
            <a:ext cx="4736592" cy="438912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replay：目前空白；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尚未匯入</a:t>
            </a:r>
          </a:p>
        </p:txBody>
      </p:sp>
      <p:sp>
        <p:nvSpPr>
          <p:cNvPr id="8" name="Evidence scenario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9" name="Evidence scenario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3D61B9"/>
          </a:solidFill>
          <a:ln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vidence scenario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11" name="Evidence scenario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scenario input（情境輸入）</a:t>
            </a:r>
          </a:p>
        </p:txBody>
      </p:sp>
      <p:sp>
        <p:nvSpPr>
          <p:cNvPr id="12" name="Evidence scenario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來源：Evidence README；值：Leo scene context；作用：提供 current context；成功：欄位可讀；失敗：空 endpoint replay 不臆造結果。</a:t>
            </a:r>
          </a:p>
        </p:txBody>
      </p:sp>
      <p:sp>
        <p:nvSpPr>
          <p:cNvPr id="13" name="Evidence endpoint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4" name="Evidence endpoint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007474"/>
          </a:solidFill>
          <a:ln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vidence endpoint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6" name="Evidence endpoint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endpoint result（端點結果）</a:t>
            </a:r>
          </a:p>
        </p:txBody>
      </p:sp>
      <p:sp>
        <p:nvSpPr>
          <p:cNvPr id="17" name="Evidence endpoint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來源：runner artifact；值：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／delivery／J／replay；作用：提供 endpoint evidence；成功：replay 可讀；失敗：目前 endpoint replay 空白。</a:t>
            </a:r>
          </a:p>
        </p:txBody>
      </p:sp>
      <p:sp>
        <p:nvSpPr>
          <p:cNvPr id="18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Evidence：Leo scene 可見；endpoint replay 空白，scenario／result 尚待匯入。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P091-B｜Evidence：identity 與空 replay 邊界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vidence scene identity frame"/>
          <p:cNvSpPr/>
          <p:nvPr/>
        </p:nvSpPr>
        <p:spPr>
          <a:xfrm>
            <a:off x="658368" y="1133856"/>
            <a:ext cx="5285232" cy="3401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pic>
        <p:nvPicPr>
          <p:cNvPr id="6" name="Current Leo scene identity evidence" descr="04-pro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7" name="Evidence identity empty label"/>
          <p:cNvSpPr/>
          <p:nvPr/>
        </p:nvSpPr>
        <p:spPr>
          <a:xfrm>
            <a:off x="914400" y="3913632"/>
            <a:ext cx="4736592" cy="438912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identity 尚待 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；endpoint replay 空白</a:t>
            </a:r>
          </a:p>
        </p:txBody>
      </p:sp>
      <p:sp>
        <p:nvSpPr>
          <p:cNvPr id="8" name="Evidence identity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9" name="Evidence identity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vidence identity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11" name="Evidence identity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identity boundary（識別邊界）</a:t>
            </a:r>
          </a:p>
        </p:txBody>
      </p:sp>
      <p:sp>
        <p:nvSpPr>
          <p:cNvPr id="12" name="Evidence identity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來源：context／result；值：identity label；作用：避免跨層混讀；成功：配對 record；失敗：空 endpoint replay 尚無法核對。</a:t>
            </a:r>
          </a:p>
        </p:txBody>
      </p:sp>
      <p:sp>
        <p:nvSpPr>
          <p:cNvPr id="13" name="Evidence empty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4" name="Evidence empty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vidence empty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6" name="Evidence empty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empty capture（空白證據）</a:t>
            </a:r>
          </a:p>
        </p:txBody>
      </p:sp>
      <p:sp>
        <p:nvSpPr>
          <p:cNvPr id="17" name="Evidence empty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來源：Evidence PNG；值：Leo scene、endpoint replay 空白；作用：標示目前空狀態；成功：空狀態可追；失敗：不臆造 provider PASS。</a:t>
            </a:r>
          </a:p>
        </p:txBody>
      </p:sp>
      <p:sp>
        <p:nvSpPr>
          <p:cNvPr id="18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Evidence：Leo scene 與空 endpoint replay；不宣稱 accepted result 或 provider PASS。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P092-A1｜進度備份：下載與建立本機存檔點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進度備份：下載與建立本機存檔點 screenshot" descr="05-work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進度備份：下載與建立本機存檔點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進度備份：下載與建立本機存檔點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3D61B9"/>
          </a:solidFill>
          <a:ln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進度備份：下載與建立本機存檔點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進度備份：下載與建立本機存檔點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下載進度備份</a:t>
            </a:r>
          </a:p>
        </p:txBody>
      </p:sp>
      <p:sp>
        <p:nvSpPr>
          <p:cNvPr id="10" name="進度備份：下載與建立本機存檔點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來源：A／B／C 匯入紀錄與本機進度；值：JSON；作用：下載本機備份；成功：檔案產生；失敗：目前紀錄保持。</a:t>
            </a:r>
          </a:p>
        </p:txBody>
      </p:sp>
      <p:sp>
        <p:nvSpPr>
          <p:cNvPr id="11" name="進度備份：下載與建立本機存檔點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進度備份：下載與建立本機存檔點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進度備份：下載與建立本機存檔點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進度備份：下載與建立本機存檔點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建立本機存檔點</a:t>
            </a:r>
          </a:p>
        </p:txBody>
      </p:sp>
      <p:sp>
        <p:nvSpPr>
          <p:cNvPr id="15" name="進度備份：下載與建立本機存檔點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來源：目前 browser-local progress；值：#0 或新存檔點；作用：建立恢復位置；成功：存檔點更新；失敗：原進度保持。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進度備份：A／B／C 匯入紀錄 0、本機存檔點 #0、格式 JSON。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P092-A2｜進度備份：從備份還原與目前紀錄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進度備份：從備份還原與目前紀錄 screenshot" descr="05-work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進度備份：從備份還原與目前紀錄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進度備份：從備份還原與目前紀錄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007474"/>
          </a:solidFill>
          <a:ln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進度備份：從備份還原與目前紀錄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進度備份：從備份還原與目前紀錄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從備份還原</a:t>
            </a:r>
          </a:p>
        </p:txBody>
      </p:sp>
      <p:sp>
        <p:nvSpPr>
          <p:cNvPr id="10" name="進度備份：從備份還原與目前紀錄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來源：下載的 JSON；值：A／B／C 匯入紀錄與進度；作用：還原本機紀錄；成功：畫面更新；失敗：沒有備份時原狀態保持。</a:t>
            </a:r>
          </a:p>
        </p:txBody>
      </p:sp>
      <p:sp>
        <p:nvSpPr>
          <p:cNvPr id="11" name="進度備份：從備份還原與目前紀錄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進度備份：從備份還原與目前紀錄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進度備份：從備份還原與目前紀錄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進度備份：從備份還原與目前紀錄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目前進度紀錄</a:t>
            </a:r>
          </a:p>
        </p:txBody>
      </p:sp>
      <p:sp>
        <p:nvSpPr>
          <p:cNvPr id="15" name="進度備份：從備份還原與目前紀錄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來源：browser-local progress backup；值：0 筆匯入、#0；作用：顯示本機狀態；成功：狀態更新；失敗：原紀錄保持。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進度備份：尚未下載內容；從備份還原不重算 runner result。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P092-B1｜進度備份：建立與還原本機存檔點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進度備份：建立與還原本機存檔點 screenshot" descr="05-work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進度備份：建立與還原本機存檔點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進度備份：建立與還原本機存檔點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3D61B9"/>
          </a:solidFill>
          <a:ln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進度備份：建立與還原本機存檔點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進度備份：建立與還原本機存檔點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建立本機存檔點</a:t>
            </a:r>
          </a:p>
        </p:txBody>
      </p:sp>
      <p:sp>
        <p:nvSpPr>
          <p:cNvPr id="10" name="進度備份：建立與還原本機存檔點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來源：identity／A／B／C 匯入紀錄；值：#0 或新存檔點；作用：建立保存點；成功：新增 record；失敗：current state 保持。</a:t>
            </a:r>
          </a:p>
        </p:txBody>
      </p:sp>
      <p:sp>
        <p:nvSpPr>
          <p:cNvPr id="11" name="進度備份：建立與還原本機存檔點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進度備份：建立與還原本機存檔點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007474"/>
          </a:solidFill>
          <a:ln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進度備份：建立與還原本機存檔點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進度備份：建立與還原本機存檔點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還原本機存檔點</a:t>
            </a:r>
          </a:p>
        </p:txBody>
      </p:sp>
      <p:sp>
        <p:nvSpPr>
          <p:cNvPr id="15" name="進度備份：建立與還原本機存檔點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來源：本機存檔點；值：local progress state；作用：回到保存內容；成功：進度回復；失敗：原 progress 保持。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進度備份：本機存檔點 #0；保存與 runner artifact 分層。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P092-B2｜進度備份：重設本機進度與結果邊界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進度備份：重設本機進度與結果邊界 screenshot" descr="05-work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進度備份：重設本機進度與結果邊界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進度備份：重設本機進度與結果邊界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進度備份：重設本機進度與結果邊界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進度備份：重設本機進度與結果邊界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重設本機進度</a:t>
            </a:r>
          </a:p>
        </p:txBody>
      </p:sp>
      <p:sp>
        <p:nvSpPr>
          <p:cNvPr id="10" name="進度備份：重設本機進度與結果邊界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來源：local progress；值：重設後 0 筆紀錄；作用：改變本機進度；成功：progress 更新；失敗：原 progress 保持。</a:t>
            </a:r>
          </a:p>
        </p:txBody>
      </p:sp>
      <p:sp>
        <p:nvSpPr>
          <p:cNvPr id="11" name="進度備份：重設本機進度與結果邊界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進度備份：重設本機進度與結果邊界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進度備份：重設本機進度與結果邊界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進度備份：重設本機進度與結果邊界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result boundary（結果邊界）</a:t>
            </a:r>
          </a:p>
        </p:txBody>
      </p:sp>
      <p:sp>
        <p:nvSpPr>
          <p:cNvPr id="15" name="進度備份：重設本機進度與結果邊界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來源：runner result、replay、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gate；值：原始 artifact；作用：保持科學結果；成功：identity 一致；失敗：不由空白進度備份補出。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進度備份：重設只改 local progress，不重算 endpoint result。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P093-A｜empty-state／recovery：匯入狀態與配對結果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empty-state／recovery：匯入狀態與配對結果 screenshot" descr="07-empty-lab-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empty-state／recovery：匯入狀態與配對結果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empty-state／recovery：匯入狀態與配對結果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992A2A"/>
          </a:solidFill>
          <a:ln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mpty-state／recovery：匯入狀態與配對結果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empty-state／recovery：匯入狀態與配對結果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empty import state（尚未匯入）</a:t>
            </a:r>
          </a:p>
        </p:txBody>
      </p:sp>
      <p:sp>
        <p:nvSpPr>
          <p:cNvPr id="10" name="empty-state／recovery：匯入狀態與配對結果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來源：http://120.126.151.102:3000/course import state；值：尚未匯入；作用：保持 session；成功：rejection result 可讀；失敗：原 state 保持。</a:t>
            </a:r>
          </a:p>
        </p:txBody>
      </p:sp>
      <p:sp>
        <p:nvSpPr>
          <p:cNvPr id="11" name="empty-state／recovery：匯入狀態與配對結果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empty-state／recovery：匯入狀態與配對結果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3D61B9"/>
          </a:solidFill>
          <a:ln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mpty-state／recovery：匯入狀態與配對結果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empty-state／recovery：匯入狀態與配對結果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matching artifact（配對結果）</a:t>
            </a:r>
          </a:p>
        </p:txBody>
      </p:sp>
      <p:sp>
        <p:nvSpPr>
          <p:cNvPr id="15" name="empty-state／recovery：匯入狀態與配對結果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來源：experiment／case／run；值：match／mismatch；作用：選 recovery source；成功：回配對 record；失敗：原 result 保持。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Lab C 是 empty state；rejection result 尚未出現。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P093-B｜empty-state／recovery：同情境備用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1042415"/>
            <a:ext cx="1062532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empty-state／recovery：同情境 </a:t>
            </a:r>
            <a:r>
              <a:rPr sz="2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fallback</a:t>
            </a:r>
          </a:p>
        </p:txBody>
      </p:sp>
      <p:pic>
        <p:nvPicPr>
          <p:cNvPr id="6" name="empty-state／recovery：同情境 fallback screenshot" descr="07-empty-lab-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7" name="empty-state／recovery：同情境 fallback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8" name="empty-state／recovery：同情境 fallback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mpty-state／recovery：同情境 fallback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10" name="empty-state／recovery：同情境 fallback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same-scenario </a:t>
            </a: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（同情境備用）</a:t>
            </a:r>
          </a:p>
        </p:txBody>
      </p:sp>
      <p:sp>
        <p:nvSpPr>
          <p:cNvPr id="11" name="empty-state／recovery：同情境 fallback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label；值：fixed case；作用：更新 selected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；成功：欄位可重播；失敗：terminal record 不改。</a:t>
            </a:r>
          </a:p>
        </p:txBody>
      </p:sp>
      <p:sp>
        <p:nvSpPr>
          <p:cNvPr id="12" name="empty-state／recovery：同情境 fallback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3" name="empty-state／recovery：同情境 fallback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mpty-state／recovery：同情境 fallback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5" name="empty-state／recovery：同情境 fallback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empty-state boundary（空狀態邊界）</a:t>
            </a:r>
          </a:p>
        </p:txBody>
      </p:sp>
      <p:sp>
        <p:nvSpPr>
          <p:cNvPr id="16" name="empty-state／recovery：同情境 fallback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來源：current Lab C capture；值：沒有 replay；作用：標示資料缺口；成功：缺口可追；失敗：不補出 selected result。</a:t>
            </a:r>
          </a:p>
        </p:txBody>
      </p:sp>
      <p:sp>
        <p:nvSpPr>
          <p:cNvPr id="17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Lab C empty state 保持誠實；matching artifact 仍須 identity 配對。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P094-A｜Prepare：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與備用環境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Prepare：READY 與備用環境 screenshot" descr="09-rea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Prepare：READY 與備用環境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Prepare：READY 與備用環境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007474"/>
          </a:solidFill>
          <a:ln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repare：READY 與備用環境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Prepare：READY 與備用環境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記錄 </a:t>
            </a: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READY</a:t>
            </a:r>
          </a:p>
        </p:txBody>
      </p:sp>
      <p:sp>
        <p:nvSpPr>
          <p:cNvPr id="10" name="Prepare：READY 與備用環境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來源：terminal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receipt；目前值：尚未記錄。作用：只保存 browser-local 進度；按鈕不執行 setup／verify／run，也不產生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1" name="Prepare：READY 與備用環境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Prepare：READY 與備用環境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epare：READY 與備用環境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Prepare：READY 與備用環境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記錄備用環境（</a:t>
            </a: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 source）</a:t>
            </a:r>
          </a:p>
        </p:txBody>
      </p:sp>
      <p:sp>
        <p:nvSpPr>
          <p:cNvPr id="15" name="Prepare：READY 與備用環境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來源：setup／verify 受阻紀錄；目前值：尚未記錄。作用：標示 same-scenario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；按鈕不產生 fresh result。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Prepare：目前狀態為尚未記錄；記錄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與記錄備用環境按鈕尚未操作。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P094-B｜Prepare：terminal receipt 與完成邊界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Prepare：terminal receipt 與完成邊界 screenshot" descr="09-rea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Prepare：terminal receipt 與完成邊界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Prepare：terminal receipt 與完成邊界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3D61B9"/>
          </a:solidFill>
          <a:ln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repare：terminal receipt 與完成邊界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Prepare：terminal receipt 與完成邊界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terminal receipt（終端收據）</a:t>
            </a:r>
          </a:p>
        </p:txBody>
      </p:sp>
      <p:sp>
        <p:nvSpPr>
          <p:cNvPr id="10" name="Prepare：terminal receipt 與完成邊界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來源：runner；值：install／verify／run／upload receipt；作用：定義完成；成功：收據可讀；失敗：本 capture 不補收據。</a:t>
            </a:r>
          </a:p>
        </p:txBody>
      </p:sp>
      <p:sp>
        <p:nvSpPr>
          <p:cNvPr id="11" name="Prepare：terminal receipt 與完成邊界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Prepare：terminal receipt 與完成邊界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epare：terminal receipt 與完成邊界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Prepare：terminal receipt 與完成邊界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completion boundary（完成邊界）</a:t>
            </a:r>
          </a:p>
        </p:txBody>
      </p:sp>
      <p:sp>
        <p:nvSpPr>
          <p:cNvPr id="15" name="Prepare：terminal receipt 與完成邊界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來源：Python receipt；值：syntax、guard、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；作用：核對執行鏈；成功：可配對 replay；失敗：browser-local status 保持。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Prepare 沒有 terminal receipt；install、verify、run、upload 各由自身收據定義。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P095-A1｜導覽：global navigation 與語言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導覽：global navigation 與語言 screenshot" descr="08-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導覽：global navigation 與語言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導覽：global navigation 與語言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3D61B9"/>
          </a:solidFill>
          <a:ln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導覽：global navigation 與語言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導覽：global navigation 與語言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global navigation（全站導覽）</a:t>
            </a:r>
          </a:p>
        </p:txBody>
      </p:sp>
      <p:sp>
        <p:nvSpPr>
          <p:cNvPr id="10" name="導覽：global navigation 與語言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來源：route state；值：focus；作用：前往操作區或首頁；成功：頁面切換；失敗：目前頁面保持。</a:t>
            </a:r>
          </a:p>
        </p:txBody>
      </p:sp>
      <p:sp>
        <p:nvSpPr>
          <p:cNvPr id="11" name="導覽：global navigation 與語言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導覽：global navigation 與語言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導覽：global navigation 與語言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導覽：global navigation 與語言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繁中／EN（語言切換）</a:t>
            </a:r>
          </a:p>
        </p:txBody>
      </p:sp>
      <p:sp>
        <p:nvSpPr>
          <p:cNvPr id="15" name="導覽：global navigation 與語言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來源：language state；值：language；作用：切換介面文字；成功：語言更新；失敗：目前語言保持。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Lab A：global navigation、language 可見；狀態屬 browser-local UI。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P095-A2｜導覽：Lab tabs 與結果邊界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導覽：Lab tabs 與結果邊界 screenshot" descr="08-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導覽：Lab tabs 與結果邊界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導覽：Lab tabs 與結果邊界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007474"/>
          </a:solidFill>
          <a:ln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導覽：Lab tabs 與結果邊界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導覽：Lab tabs 與結果邊界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實驗 A／B／C（Lab tabs）</a:t>
            </a:r>
          </a:p>
        </p:txBody>
      </p:sp>
      <p:sp>
        <p:nvSpPr>
          <p:cNvPr id="10" name="導覽：Lab tabs 與結果邊界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來源：section state；值：route；作用：切換工作台；成功：section 更新；失敗：current section 保持。</a:t>
            </a:r>
          </a:p>
        </p:txBody>
      </p:sp>
      <p:sp>
        <p:nvSpPr>
          <p:cNvPr id="11" name="導覽：Lab tabs 與結果邊界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導覽：Lab tabs 與結果邊界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導覽：Lab tabs 與結果邊界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導覽：Lab tabs 與結果邊界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result（端點結果）</a:t>
            </a:r>
          </a:p>
        </p:txBody>
      </p:sp>
      <p:sp>
        <p:nvSpPr>
          <p:cNvPr id="15" name="導覽：Lab tabs 與結果邊界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來源：result／replay artifact；值：原始 identity；作用：保留 endpoint result boundary；成功：配對 record；失敗：切頁不重寫 result。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tabs：準備／實驗 A／B／C／證據／進度備份；切頁不宣稱新的 endpoint result。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P095-B1｜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loader：選取與來源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fallback loader：選取與來源 screenshot" descr="03-fall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fallback loader：選取與來源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fallback loader：選取與來源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3D61B9"/>
          </a:solidFill>
          <a:ln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allback loader：選取與來源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fallback loader：選取與來源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 loader（備用載入器）</a:t>
            </a:r>
          </a:p>
        </p:txBody>
      </p:sp>
      <p:sp>
        <p:nvSpPr>
          <p:cNvPr id="10" name="fallback loader：選取與來源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來源：experiment order／source list；值：selected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；作用：選下一筆；成功：畫面切換；失敗：原 state 保持。</a:t>
            </a:r>
          </a:p>
        </p:txBody>
      </p:sp>
      <p:sp>
        <p:nvSpPr>
          <p:cNvPr id="11" name="fallback loader：選取與來源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fallback loader：選取與來源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allback loader：選取與來源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fallback loader：選取與來源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selected source（選取來源）</a:t>
            </a:r>
          </a:p>
        </p:txBody>
      </p:sp>
      <p:sp>
        <p:nvSpPr>
          <p:cNvPr id="15" name="fallback loader：選取與來源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label／case；值：資料來源；作用：標示責任；成功：source 更新；失敗：terminal record 不改。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Lab B 是 empty state；本頁只定義 loader 與 source 契約。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P095-B2｜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loader：identity 配對與空狀態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fallback loader：identity 配對與空狀態 screenshot" descr="03-fall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fallback loader：identity 配對與空狀態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fallback loader：identity 配對與空狀態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007474"/>
          </a:solidFill>
          <a:ln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allback loader：identity 配對與空狀態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fallback loader：identity 配對與空狀態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identity match（識別配對）</a:t>
            </a:r>
          </a:p>
        </p:txBody>
      </p:sp>
      <p:sp>
        <p:nvSpPr>
          <p:cNvPr id="10" name="fallback loader：identity 配對與空狀態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來源：case／run；值：match／mismatch；作用：保護 replay／workbook；成功：record 可讀；失敗：原 result 保持。</a:t>
            </a:r>
          </a:p>
        </p:txBody>
      </p:sp>
      <p:sp>
        <p:nvSpPr>
          <p:cNvPr id="11" name="fallback loader：identity 配對與空狀態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fallback loader：identity 配對與空狀態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allback loader：identity 配對與空狀態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fallback loader：identity 配對與空狀態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empty-state boundary（空狀態邊界）</a:t>
            </a:r>
          </a:p>
        </p:txBody>
      </p:sp>
      <p:sp>
        <p:nvSpPr>
          <p:cNvPr id="15" name="fallback loader：identity 配對與空狀態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來源：current Lab B capture；值：尚未匯入；作用：標示缺少 replay；成功：缺口可追；失敗：不宣稱 selected result。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Lab B 是 empty state；沒有從畫面宣稱 selected result。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P096-A｜進度備份：下載與建立本機存檔點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進度備份：下載與建立本機存檔點 screenshot" descr="05-work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進度備份：下載與建立本機存檔點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進度備份：下載與建立本機存檔點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3D61B9"/>
          </a:solidFill>
          <a:ln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進度備份：下載與建立本機存檔點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進度備份：下載與建立本機存檔點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下載進度備份</a:t>
            </a:r>
          </a:p>
        </p:txBody>
      </p:sp>
      <p:sp>
        <p:nvSpPr>
          <p:cNvPr id="10" name="進度備份：下載與建立本機存檔點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來源：A／B／C 匯入紀錄與本機進度；值：JSON；作用：下載本機備份；成功：檔案產生；失敗：目前紀錄保持。</a:t>
            </a:r>
          </a:p>
        </p:txBody>
      </p:sp>
      <p:sp>
        <p:nvSpPr>
          <p:cNvPr id="11" name="進度備份：下載與建立本機存檔點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進度備份：下載與建立本機存檔點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進度備份：下載與建立本機存檔點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進度備份：下載與建立本機存檔點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建立本機存檔點</a:t>
            </a:r>
          </a:p>
        </p:txBody>
      </p:sp>
      <p:sp>
        <p:nvSpPr>
          <p:cNvPr id="15" name="進度備份：下載與建立本機存檔點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來源：browser-local progress；值：#0 或新存檔點；作用：建立恢復位置；成功：存檔點更新；失敗：原進度保持。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進度備份：0 筆匯入紀錄、#0；completion 與 lock 不由此頁臆造。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P096-B｜進度備份：還原與重設本機進度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進度備份：還原與重設本機進度 screenshot" descr="05-work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進度備份：還原與重設本機進度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進度備份：還原與重設本機進度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007474"/>
          </a:solidFill>
          <a:ln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進度備份：還原與重設本機進度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進度備份：還原與重設本機進度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從備份還原</a:t>
            </a:r>
          </a:p>
        </p:txBody>
      </p:sp>
      <p:sp>
        <p:nvSpPr>
          <p:cNvPr id="10" name="進度備份：還原與重設本機進度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來源：下載的 JSON；值：A／B／C 匯入紀錄與進度；作用：還原本機紀錄；成功：畫面更新；失敗：沒有備份時原狀態保持。</a:t>
            </a:r>
          </a:p>
        </p:txBody>
      </p:sp>
      <p:sp>
        <p:nvSpPr>
          <p:cNvPr id="11" name="進度備份：還原與重設本機進度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進度備份：還原與重設本機進度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進度備份：還原與重設本機進度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進度備份：還原與重設本機進度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重設本機進度</a:t>
            </a:r>
          </a:p>
        </p:txBody>
      </p:sp>
      <p:sp>
        <p:nvSpPr>
          <p:cNvPr id="15" name="進度備份：還原與重設本機進度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來源：browser-local progress；值：重設後的 0 筆紀錄；作用：清除本機進度；成功：狀態更新；失敗：原紀錄保持。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進度備份：還原與重設只寫本機紀錄；不執行 Python、不重算 replay。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P097-A｜provider replay controls 一：播放與暫停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provider replay controls 一：播放與暫停 screenshot" descr="04-pro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provider replay controls 一：播放與暫停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provider replay controls 一：播放與暫停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007474"/>
          </a:solidFill>
          <a:ln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rovider replay controls 一：播放與暫停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provider replay controls 一：播放與暫停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播放結果（play）</a:t>
            </a:r>
          </a:p>
        </p:txBody>
      </p:sp>
      <p:sp>
        <p:nvSpPr>
          <p:cNvPr id="10" name="provider replay controls 一：播放與暫停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來源：provider frames；值：playback cursor；作用：播放 frame；成功：cursor 前進；失敗：原 cursor 保持。</a:t>
            </a:r>
          </a:p>
        </p:txBody>
      </p:sp>
      <p:sp>
        <p:nvSpPr>
          <p:cNvPr id="11" name="provider replay controls 一：播放與暫停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provider replay controls 一：播放與暫停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vider replay controls 一：播放與暫停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provider replay controls 一：播放與暫停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暫停重播（pause）</a:t>
            </a:r>
          </a:p>
        </p:txBody>
      </p:sp>
      <p:sp>
        <p:nvSpPr>
          <p:cNvPr id="15" name="provider replay controls 一：播放與暫停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來源：目前 cursor；值：paused state；作用：固定 frame；成功：frame 停止；失敗：原 frame 保持。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Evidence：Leo scene 可見但 endpoint replay 空白；play／pause 待匯入 result。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P097-B｜provider replay controls 二：滑桿與端點 selector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provider replay controls 二：滑桿與端點 selector screenshot" descr="04-pro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provider replay controls 二：滑桿與端點 selector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provider replay controls 二：滑桿與端點 selector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3D61B9"/>
          </a:solidFill>
          <a:ln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rovider replay controls 二：滑桿與端點 selector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provider replay controls 二：滑桿與端點 selector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slider／previous／next</a:t>
            </a:r>
          </a:p>
        </p:txBody>
      </p:sp>
      <p:sp>
        <p:nvSpPr>
          <p:cNvPr id="10" name="provider replay controls 二：滑桿與端點 selector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來源：frame sequence／鄰接 frame；值：selected provider cursor；作用：切換 context；成功：frame 更新；失敗：原 cursor 保持。滑桿與鄰接畫面由這組控制。</a:t>
            </a:r>
          </a:p>
        </p:txBody>
      </p:sp>
      <p:sp>
        <p:nvSpPr>
          <p:cNvPr id="11" name="provider replay controls 二：滑桿與端點 selector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provider replay controls 二：滑桿與端點 selector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vider replay controls 二：滑桿與端點 selector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provider replay controls 二：滑桿與端點 selector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selector（端點選擇器）</a:t>
            </a:r>
          </a:p>
        </p:txBody>
      </p:sp>
      <p:sp>
        <p:nvSpPr>
          <p:cNvPr id="15" name="provider replay controls 二：滑桿與端點 selector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來源：endpoint frames；值：selected frame identity；作用：更新八欄、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、event；成功：result frame 更新；失敗：原 frame 保持。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Evidence：endpoint replay 尚未匯入；slider 與 endpoint frame identity 待 result。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P098-A｜replay fields 五至六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replay fields 五至六 screenshot" descr="08-f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replay fields 五至六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replay fields 五至六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3D61B9"/>
          </a:solidFill>
          <a:ln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play fields 五至六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replay fields 五至六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Elapsed（經過時間）</a:t>
            </a:r>
          </a:p>
        </p:txBody>
      </p:sp>
      <p:sp>
        <p:nvSpPr>
          <p:cNvPr id="10" name="replay fields 五至六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來源：trace；值：秒；作用：顯示 frame 進度，不等於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；成功：elapsed 更新；失敗：原 trace 保持。</a:t>
            </a:r>
          </a:p>
        </p:txBody>
      </p:sp>
      <p:sp>
        <p:nvSpPr>
          <p:cNvPr id="11" name="replay fields 五至六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replay fields 五至六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play fields 五至六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replay fields 五至六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Contact ID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（接觸識別）</a:t>
            </a:r>
          </a:p>
        </p:txBody>
      </p:sp>
      <p:sp>
        <p:nvSpPr>
          <p:cNvPr id="15" name="replay fields 五至六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contact；值：識別字串；作用：配對窗口；成功：ID 更新；失敗：原 contact identity 保持。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Lab A：Elapsed、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Contact ID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待 frame selector；目前沒有 current value。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P098-B｜replay fields 七至八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pic>
        <p:nvPicPr>
          <p:cNvPr id="5" name="replay fields 七至八 screenshot" descr="08-f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33856"/>
            <a:ext cx="5285232" cy="3401568"/>
          </a:xfrm>
          <a:prstGeom prst="rect">
            <a:avLst/>
          </a:prstGeom>
        </p:spPr>
      </p:pic>
      <p:sp>
        <p:nvSpPr>
          <p:cNvPr id="6" name="replay fields 七至八 field panel"/>
          <p:cNvSpPr/>
          <p:nvPr/>
        </p:nvSpPr>
        <p:spPr>
          <a:xfrm>
            <a:off x="6144768" y="1170432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7" name="replay fields 七至八 field number marker"/>
          <p:cNvSpPr/>
          <p:nvPr/>
        </p:nvSpPr>
        <p:spPr>
          <a:xfrm>
            <a:off x="6272783" y="1335024"/>
            <a:ext cx="329184" cy="329184"/>
          </a:xfrm>
          <a:prstGeom prst="ellipse">
            <a:avLst/>
          </a:prstGeom>
          <a:solidFill>
            <a:srgbClr val="007474"/>
          </a:solidFill>
          <a:ln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play fields 七至八 field number"/>
          <p:cNvSpPr txBox="1"/>
          <p:nvPr/>
        </p:nvSpPr>
        <p:spPr>
          <a:xfrm>
            <a:off x="6272783" y="1316736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9" name="replay fields 七至八 field heading"/>
          <p:cNvSpPr txBox="1"/>
          <p:nvPr/>
        </p:nvSpPr>
        <p:spPr>
          <a:xfrm>
            <a:off x="6729983" y="1225296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Contact（接觸狀態）</a:t>
            </a:r>
          </a:p>
        </p:txBody>
      </p:sp>
      <p:sp>
        <p:nvSpPr>
          <p:cNvPr id="10" name="replay fields 七至八 field body"/>
          <p:cNvSpPr txBox="1"/>
          <p:nvPr/>
        </p:nvSpPr>
        <p:spPr>
          <a:xfrm>
            <a:off x="6729983" y="1591056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來源：contact state；值：open／closed；作用：判定窗口；成功：state 更新；失敗：原 frame 保持。</a:t>
            </a:r>
          </a:p>
        </p:txBody>
      </p:sp>
      <p:sp>
        <p:nvSpPr>
          <p:cNvPr id="11" name="replay fields 七至八 field panel"/>
          <p:cNvSpPr/>
          <p:nvPr/>
        </p:nvSpPr>
        <p:spPr>
          <a:xfrm>
            <a:off x="6144768" y="3017520"/>
            <a:ext cx="5084064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replay fields 七至八 field number marker"/>
          <p:cNvSpPr/>
          <p:nvPr/>
        </p:nvSpPr>
        <p:spPr>
          <a:xfrm>
            <a:off x="6272783" y="3182112"/>
            <a:ext cx="329184" cy="329184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play fields 七至八 field number"/>
          <p:cNvSpPr txBox="1"/>
          <p:nvPr/>
        </p:nvSpPr>
        <p:spPr>
          <a:xfrm>
            <a:off x="6272783" y="3163824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4" name="replay fields 七至八 field heading"/>
          <p:cNvSpPr txBox="1"/>
          <p:nvPr/>
        </p:nvSpPr>
        <p:spPr>
          <a:xfrm>
            <a:off x="6729983" y="3072384"/>
            <a:ext cx="4352544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（品質等級）</a:t>
            </a:r>
          </a:p>
        </p:txBody>
      </p:sp>
      <p:sp>
        <p:nvSpPr>
          <p:cNvPr id="15" name="replay fields 七至八 field body"/>
          <p:cNvSpPr txBox="1"/>
          <p:nvPr/>
        </p:nvSpPr>
        <p:spPr>
          <a:xfrm>
            <a:off x="6729983" y="3438144"/>
            <a:ext cx="4352544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來源：frame quality；值：ordinal band；作用：提供 quality_ready，不宣稱 dB 量測；成功：band 更新；失敗：原 quality 保持。</a:t>
            </a:r>
          </a:p>
        </p:txBody>
      </p:sp>
      <p:sp>
        <p:nvSpPr>
          <p:cNvPr id="16" name="Evidence source label"/>
          <p:cNvSpPr txBox="1"/>
          <p:nvPr/>
        </p:nvSpPr>
        <p:spPr>
          <a:xfrm>
            <a:off x="822960" y="5212080"/>
            <a:ext cx="10222992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14:12 live Lab A：Contact、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待 frame selector；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為 ordinal band。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P099-A｜控制契約一：Prepare 與 Import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Control contract definition panel"/>
          <p:cNvSpPr/>
          <p:nvPr/>
        </p:nvSpPr>
        <p:spPr>
          <a:xfrm>
            <a:off x="694944" y="1225296"/>
            <a:ext cx="10716768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6" name="Control contract definition label"/>
          <p:cNvSpPr txBox="1"/>
          <p:nvPr/>
        </p:nvSpPr>
        <p:spPr>
          <a:xfrm>
            <a:off x="786384" y="1280160"/>
            <a:ext cx="2432303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開啟 GitHub 課程套件</a:t>
            </a:r>
          </a:p>
        </p:txBody>
      </p:sp>
      <p:sp>
        <p:nvSpPr>
          <p:cNvPr id="7" name="Control contract definition explanation"/>
          <p:cNvSpPr txBox="1"/>
          <p:nvPr/>
        </p:nvSpPr>
        <p:spPr>
          <a:xfrm>
            <a:off x="3291839" y="1289304"/>
            <a:ext cx="8010144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來源：repository／README；寫入：browser focus；成功：套件頁開啟；失敗：Prepare 頁保持。</a:t>
            </a:r>
          </a:p>
        </p:txBody>
      </p:sp>
      <p:sp>
        <p:nvSpPr>
          <p:cNvPr id="8" name="Control contract definition panel"/>
          <p:cNvSpPr/>
          <p:nvPr/>
        </p:nvSpPr>
        <p:spPr>
          <a:xfrm>
            <a:off x="694944" y="2157984"/>
            <a:ext cx="10716768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9" name="Control contract definition label"/>
          <p:cNvSpPr txBox="1"/>
          <p:nvPr/>
        </p:nvSpPr>
        <p:spPr>
          <a:xfrm>
            <a:off x="786384" y="2212848"/>
            <a:ext cx="2432303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記錄 </a:t>
            </a: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READY</a:t>
            </a:r>
          </a:p>
        </p:txBody>
      </p:sp>
      <p:sp>
        <p:nvSpPr>
          <p:cNvPr id="10" name="Control contract definition explanation"/>
          <p:cNvSpPr txBox="1"/>
          <p:nvPr/>
        </p:nvSpPr>
        <p:spPr>
          <a:xfrm>
            <a:off x="3291839" y="2221992"/>
            <a:ext cx="8010144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來源：terminal receipt；寫入：browser-local setup status；成功：顯示已記錄；失敗：原 status 保持。</a:t>
            </a:r>
          </a:p>
        </p:txBody>
      </p:sp>
      <p:sp>
        <p:nvSpPr>
          <p:cNvPr id="11" name="Control contract definition panel"/>
          <p:cNvSpPr/>
          <p:nvPr/>
        </p:nvSpPr>
        <p:spPr>
          <a:xfrm>
            <a:off x="694944" y="3090672"/>
            <a:ext cx="10716768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Control contract definition label"/>
          <p:cNvSpPr txBox="1"/>
          <p:nvPr/>
        </p:nvSpPr>
        <p:spPr>
          <a:xfrm>
            <a:off x="786384" y="3145536"/>
            <a:ext cx="2432303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記錄備用環境</a:t>
            </a:r>
          </a:p>
        </p:txBody>
      </p:sp>
      <p:sp>
        <p:nvSpPr>
          <p:cNvPr id="13" name="Control contract definition explanation"/>
          <p:cNvSpPr txBox="1"/>
          <p:nvPr/>
        </p:nvSpPr>
        <p:spPr>
          <a:xfrm>
            <a:off x="3291839" y="3154679"/>
            <a:ext cx="8010144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來源：setup／verify 狀態；寫入：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source；成功：選定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；失敗：原 source 保持。</a:t>
            </a:r>
          </a:p>
        </p:txBody>
      </p:sp>
      <p:sp>
        <p:nvSpPr>
          <p:cNvPr id="14" name="Control contract definition panel"/>
          <p:cNvSpPr/>
          <p:nvPr/>
        </p:nvSpPr>
        <p:spPr>
          <a:xfrm>
            <a:off x="694944" y="4023360"/>
            <a:ext cx="10716768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5" name="Control contract definition label"/>
          <p:cNvSpPr txBox="1"/>
          <p:nvPr/>
        </p:nvSpPr>
        <p:spPr>
          <a:xfrm>
            <a:off x="786384" y="4078224"/>
            <a:ext cx="2432303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import state（匯入狀態）</a:t>
            </a:r>
          </a:p>
        </p:txBody>
      </p:sp>
      <p:sp>
        <p:nvSpPr>
          <p:cNvPr id="16" name="Control contract definition explanation"/>
          <p:cNvSpPr txBox="1"/>
          <p:nvPr/>
        </p:nvSpPr>
        <p:spPr>
          <a:xfrm>
            <a:off x="3291839" y="4087368"/>
            <a:ext cx="8010144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來源：result schema、identity、units；寫入：accepted／rejected；成功：artifact 進入 replay；失敗：原 selected result 保持。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P099-B｜控制契約二：Replay 與進度備份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Control contract definition panel"/>
          <p:cNvSpPr/>
          <p:nvPr/>
        </p:nvSpPr>
        <p:spPr>
          <a:xfrm>
            <a:off x="694944" y="1225296"/>
            <a:ext cx="10716768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6" name="Control contract definition label"/>
          <p:cNvSpPr txBox="1"/>
          <p:nvPr/>
        </p:nvSpPr>
        <p:spPr>
          <a:xfrm>
            <a:off x="786384" y="1280160"/>
            <a:ext cx="2432303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播放／暫停／slider</a:t>
            </a:r>
          </a:p>
        </p:txBody>
      </p:sp>
      <p:sp>
        <p:nvSpPr>
          <p:cNvPr id="7" name="Control contract definition explanation"/>
          <p:cNvSpPr txBox="1"/>
          <p:nvPr/>
        </p:nvSpPr>
        <p:spPr>
          <a:xfrm>
            <a:off x="3291839" y="1289304"/>
            <a:ext cx="8010144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來源：provider frame sequence；寫入：playback cursor；成功：provider frame 更新；失敗：原 cursor 保持。</a:t>
            </a:r>
          </a:p>
        </p:txBody>
      </p:sp>
      <p:sp>
        <p:nvSpPr>
          <p:cNvPr id="8" name="Control contract definition panel"/>
          <p:cNvSpPr/>
          <p:nvPr/>
        </p:nvSpPr>
        <p:spPr>
          <a:xfrm>
            <a:off x="694944" y="2157984"/>
            <a:ext cx="10716768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9" name="Control contract definition label"/>
          <p:cNvSpPr txBox="1"/>
          <p:nvPr/>
        </p:nvSpPr>
        <p:spPr>
          <a:xfrm>
            <a:off x="786384" y="2212848"/>
            <a:ext cx="2432303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上一／下一畫面</a:t>
            </a:r>
          </a:p>
        </p:txBody>
      </p:sp>
      <p:sp>
        <p:nvSpPr>
          <p:cNvPr id="10" name="Control contract definition explanation"/>
          <p:cNvSpPr txBox="1"/>
          <p:nvPr/>
        </p:nvSpPr>
        <p:spPr>
          <a:xfrm>
            <a:off x="3291839" y="2221992"/>
            <a:ext cx="8010144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來源：鄰接 provider frame；寫入：cursor；成功：切換 context；失敗：目前 frame 保持。</a:t>
            </a:r>
          </a:p>
        </p:txBody>
      </p:sp>
      <p:sp>
        <p:nvSpPr>
          <p:cNvPr id="11" name="Control contract definition panel"/>
          <p:cNvSpPr/>
          <p:nvPr/>
        </p:nvSpPr>
        <p:spPr>
          <a:xfrm>
            <a:off x="694944" y="3090672"/>
            <a:ext cx="10716768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Control contract definition label"/>
          <p:cNvSpPr txBox="1"/>
          <p:nvPr/>
        </p:nvSpPr>
        <p:spPr>
          <a:xfrm>
            <a:off x="786384" y="3145536"/>
            <a:ext cx="2432303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endpoint selector</a:t>
            </a:r>
          </a:p>
        </p:txBody>
      </p:sp>
      <p:sp>
        <p:nvSpPr>
          <p:cNvPr id="13" name="Control contract definition explanation"/>
          <p:cNvSpPr txBox="1"/>
          <p:nvPr/>
        </p:nvSpPr>
        <p:spPr>
          <a:xfrm>
            <a:off x="3291839" y="3154679"/>
            <a:ext cx="8010144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來源：endpoint frames；寫入：selected frame；成功：八欄、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、event 更新；失敗：原 frame 保持。</a:t>
            </a:r>
          </a:p>
        </p:txBody>
      </p:sp>
      <p:sp>
        <p:nvSpPr>
          <p:cNvPr id="14" name="Control contract definition panel"/>
          <p:cNvSpPr/>
          <p:nvPr/>
        </p:nvSpPr>
        <p:spPr>
          <a:xfrm>
            <a:off x="694944" y="4023360"/>
            <a:ext cx="10716768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5" name="Control contract definition label"/>
          <p:cNvSpPr txBox="1"/>
          <p:nvPr/>
        </p:nvSpPr>
        <p:spPr>
          <a:xfrm>
            <a:off x="786384" y="4078224"/>
            <a:ext cx="2432303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下載／還原／存檔點</a:t>
            </a:r>
          </a:p>
        </p:txBody>
      </p:sp>
      <p:sp>
        <p:nvSpPr>
          <p:cNvPr id="16" name="Control contract definition explanation"/>
          <p:cNvSpPr txBox="1"/>
          <p:nvPr/>
        </p:nvSpPr>
        <p:spPr>
          <a:xfrm>
            <a:off x="3291839" y="4087368"/>
            <a:ext cx="8010144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來源：本機進度與 JSON；寫入：下載、還原、存檔點；成功：本機 record 更新；失敗：原進度保持。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36576" rIns="36576" tIns="0" bIns="0" anchor="ctr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P099-C｜控制契約三：Task 與證據狀態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Control contract definition panel"/>
          <p:cNvSpPr/>
          <p:nvPr/>
        </p:nvSpPr>
        <p:spPr>
          <a:xfrm>
            <a:off x="694944" y="1225296"/>
            <a:ext cx="10716768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6" name="Control contract definition label"/>
          <p:cNvSpPr txBox="1"/>
          <p:nvPr/>
        </p:nvSpPr>
        <p:spPr>
          <a:xfrm>
            <a:off x="786384" y="1280160"/>
            <a:ext cx="2432303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標楷體"/>
                <a:cs typeface="Times New Roman"/>
              </a:rPr>
              <a:t>task checkbox（任務勾選）</a:t>
            </a:r>
          </a:p>
        </p:txBody>
      </p:sp>
      <p:sp>
        <p:nvSpPr>
          <p:cNvPr id="7" name="Control contract definition explanation"/>
          <p:cNvSpPr txBox="1"/>
          <p:nvPr/>
        </p:nvSpPr>
        <p:spPr>
          <a:xfrm>
            <a:off x="3291839" y="1289304"/>
            <a:ext cx="8010144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來源：段落 evidence；寫入：completion；成功：任務狀態更新；條件不足：原 completion 保持。</a:t>
            </a:r>
          </a:p>
        </p:txBody>
      </p:sp>
      <p:sp>
        <p:nvSpPr>
          <p:cNvPr id="8" name="Control contract definition panel"/>
          <p:cNvSpPr/>
          <p:nvPr/>
        </p:nvSpPr>
        <p:spPr>
          <a:xfrm>
            <a:off x="694944" y="2157984"/>
            <a:ext cx="10716768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9" name="Control contract definition label"/>
          <p:cNvSpPr txBox="1"/>
          <p:nvPr/>
        </p:nvSpPr>
        <p:spPr>
          <a:xfrm>
            <a:off x="786384" y="2212848"/>
            <a:ext cx="2432303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標楷體"/>
                <a:cs typeface="Times New Roman"/>
              </a:rPr>
              <a:t>檢查證據並繼續</a:t>
            </a:r>
          </a:p>
        </p:txBody>
      </p:sp>
      <p:sp>
        <p:nvSpPr>
          <p:cNvPr id="10" name="Control contract definition explanation"/>
          <p:cNvSpPr txBox="1"/>
          <p:nvPr/>
        </p:nvSpPr>
        <p:spPr>
          <a:xfrm>
            <a:off x="3291839" y="2221992"/>
            <a:ext cx="8010144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來源：目前段落條件；寫入：next-section focus；成功：解鎖下一段；失敗：current section 保持。</a:t>
            </a:r>
          </a:p>
        </p:txBody>
      </p:sp>
      <p:sp>
        <p:nvSpPr>
          <p:cNvPr id="11" name="Control contract definition panel"/>
          <p:cNvSpPr/>
          <p:nvPr/>
        </p:nvSpPr>
        <p:spPr>
          <a:xfrm>
            <a:off x="694944" y="3090672"/>
            <a:ext cx="10716768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2" name="Control contract definition label"/>
          <p:cNvSpPr txBox="1"/>
          <p:nvPr/>
        </p:nvSpPr>
        <p:spPr>
          <a:xfrm>
            <a:off x="786384" y="3145536"/>
            <a:ext cx="2432303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證據已鎖定</a:t>
            </a:r>
          </a:p>
        </p:txBody>
      </p:sp>
      <p:sp>
        <p:nvSpPr>
          <p:cNvPr id="13" name="Control contract definition explanation"/>
          <p:cNvSpPr txBox="1"/>
          <p:nvPr/>
        </p:nvSpPr>
        <p:spPr>
          <a:xfrm>
            <a:off x="3291839" y="3154679"/>
            <a:ext cx="8010144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來源：result、replay、source；寫入：lock state；成功：段落固定；失敗：原 evidence 與進度備份保持。</a:t>
            </a:r>
          </a:p>
        </p:txBody>
      </p:sp>
      <p:sp>
        <p:nvSpPr>
          <p:cNvPr id="14" name="Control contract definition panel"/>
          <p:cNvSpPr/>
          <p:nvPr/>
        </p:nvSpPr>
        <p:spPr>
          <a:xfrm>
            <a:off x="694944" y="4023360"/>
            <a:ext cx="10716768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0" bIns="0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5" name="Control contract definition label"/>
          <p:cNvSpPr txBox="1"/>
          <p:nvPr/>
        </p:nvSpPr>
        <p:spPr>
          <a:xfrm>
            <a:off x="786384" y="4078224"/>
            <a:ext cx="2432303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 loader（備用載入）</a:t>
            </a:r>
          </a:p>
        </p:txBody>
      </p:sp>
      <p:sp>
        <p:nvSpPr>
          <p:cNvPr id="16" name="Control contract definition explanation"/>
          <p:cNvSpPr txBox="1"/>
          <p:nvPr/>
        </p:nvSpPr>
        <p:spPr>
          <a:xfrm>
            <a:off x="3291839" y="4087368"/>
            <a:ext cx="8010144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來源：experiment order 與 source list；寫入：selected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；成功：畫面更新；identity mismatch：原 result 保持。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