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請看箭頭，不要跳到最右邊。先有 observation，policy 才選 action；action 會改變等待、喚醒、處理、收發與封包結果；服務條件確認後，才談功率乘上時間累積出的 endpoint energy。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智慧節能不是只把功率欄位改小，而是讓裝置在工作與等待之間做出可解釋的取捨。相關模型把 sleep、processing、transmit、receive、packet、collision、retry 與 energy 結果連起來。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在這裡不是衛星工程課的終點，而是 changing service window 的例子。可服務的機會會出現、消失、變短或變長，讓現在送還是等一下變得可觀察。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左邊的 endpoint replay 可以回答封包、佇列、radio state、endpoint energy 與 endpoint service；右邊的 system replay 才承擔既有 C-120 canonical fields。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 lab 都先記下預期會變的 state time、packet outcome、service 或 endpoint J，再只改標記區塊，跑 baseline 與 candidate，匯入 result 看 replay，最後用 withheld case 檢驗。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這張卡片只問一件事：你改的那一行透過哪個機制影響哪一筆 evidence？如果結果沒有 consequential diff，就記錄 gate 未通過，不用畫面效果替代。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先把工具與場景的關係講清楚，再完成能回復的 setup；接著建立 endpoint state 與服務邊界的共同語言，最後把機制轉到其他 IoT 場景。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在進入命令前，我們先把能說什麼與不能說什麼放在同一張圖。這是 course-owned、deterministic、simulated 的 endpoint energy lab，不是 live telemetry、量測結果或 canonical parity 通過。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artifact 已凍結為 121,139 bytes；解壓後仍不要從不同 branch 拼檔案，先確認 root 與必要檔案。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ZIP 已核對為 121,139 bytes，SHA-256 為 047e8459988d8bee59fbfdcc39189e00048f3697968901ce5b6e5363dc9e8c8c。這是 local artifact 證據，不擴張成公開 GitHub Release 已可下載。 local hash 不符：停止並重新取得 owner 指定檔案；公開 URL 未發布：保留 placeholder，不改用舊 URL 或其他 branch。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如果畫面開頭是 C:\...&gt;，我們在 CMD；如果是 PS C:\...&gt;，我們在 PowerShell。先執行 py --list，再執行 py -3.11 --version；看到 3.11.x 才進入 setup。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py --list 沒有 3.11，開啟畫面上的官方 Windows 下載頁，選 Python 3.11.x 的 64-bit installer 並保留 Python Launcher。完成後關閉再開 shell，重跑 py --list 與 py -3.11 --version。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當 launcher 找不到 3.11，可以用 uv 取得 exact interpreter。先裝 uv，再跑 uv python install 3.11 與 uv python find 3.11；如果仍找不到，保留錯誤走 fallback。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隔離環境讓 runner 的 dependency graph 不受其他專案污染。Windows interpreter 應落在 .venv\Scripts\python.exe，不能拿 WSL 的 .venv/bin/python 來用。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package root 的 PowerShell，先設定 PYTHON_BIN，再執行 .\setup.cmd，完成後執行 .\course.cmd verify。畫面保留 READY / PLACEHOLDER，因為 Windows native command 尚未 clean-run。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WSL 是另一個 shell 與檔案環境。先用 wsl -l -v 確認 Ubuntu，進入後跑 pwd 與 uname -a；如果看到 Linux home path，才使用 setup.sh。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Ubuntu shell 先更新套件索引並安裝 curl、unzip，再依 installer 安裝 uv。重新開 shell 後跑 uv --version、uv python install 3.11 與 uv python find 3.11。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asset 尚未指定，所以畫面保留 RELEASE_ASSET_PENDING。收到正式 asset 後，從 /mnt/c/Users/&lt;YourName&gt;/Downloads/ 複製到 WSL Linux home，再在 package root 建立 WSL 專用的 .venv/bin/python。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Linux 或 macOS 的 POSIX shell，先以 PYTHON_BIN=python3.11 bash setup.sh 指定 interpreter，再以 bash course.sh verify 做同一份 gate。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receipt 中找 status、Python version、scenario identity、policy API、lock、engine mode 與 claim boundary。READY 只表示可以進入 runner，不表示完成任何節能實驗。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setup 或 verify 出現錯誤，先確認 Python minor、package root、lock 與 scenario，只修目前 gate 指出的最小問題。若仍無法建立 READY，就選同 scenario fallback，並記錄 source mode。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在整個實驗中，我們只改 student_policy.py 的 marked blocks。不要改 upstream framework、scenario、schema、runner、Leo code 或 generated JSON；檔案與 release 不同就回到 package identity。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只能依當下允許的 observation 做選擇，不能偷看未來品質、future energy 或 result summary，也不能回傳契約外的 action。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這裡只需要讀懂變數名稱、等號和允許值。斜體顯示的變數是 policy 控制點；runner 會檢查 bounded range，實際 release line number 尚未凍結。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看一個 Boolean 條件時，先圈出它讀的是哪個 observation，再指出每個分支會回傳什麼 action。若 syntax 或名稱錯誤，修 marked block 的最小行，不碰 runner。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縮排決定條件屬於哪個分支，return 決定 runner 收到哪個 action。若錯誤指向 marked line，只修該行並重新做 policy guard；若指向非 marked 區域，保留錯誤走 recovery。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010912"/>
            <a:ext cx="0" cy="347472"/>
          </a:xfrm>
        </p:spPr>
        <p:txBody>
          <a:bodyPr wrap="square" lIns="73152" tIns="54864" rIns="73152" bIns="54864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C-120｜LoRaEnergySim × 智慧節能與物聯網應用</a:t>
            </a:r>
          </a:p>
        </p:txBody>
      </p:sp>
      <p:sp>
        <p:nvSpPr>
          <p:cNvPr id="4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 SEND、WAIT、SLEEP 都是能源決策</a:t>
            </a:r>
          </a:p>
        </p:txBody>
      </p:sp>
      <p:sp>
        <p:nvSpPr>
          <p:cNvPr id="5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6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 SEND、WAIT、SLEEP 都是能源決策</a:t>
            </a:r>
          </a:p>
        </p:txBody>
      </p:sp>
      <p:sp>
        <p:nvSpPr>
          <p:cNvPr id="7" name="Causal chain ribbon"/>
          <p:cNvSpPr txBox="1"/>
          <p:nvPr/>
        </p:nvSpPr>
        <p:spPr>
          <a:xfrm>
            <a:off x="841248" y="2423160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→ state time → packet / service → endpoint energy</a:t>
            </a:r>
          </a:p>
        </p:txBody>
      </p:sp>
      <p:sp>
        <p:nvSpPr>
          <p:cNvPr id="8" name="Cover state SEND"/>
          <p:cNvSpPr/>
          <p:nvPr/>
        </p:nvSpPr>
        <p:spPr>
          <a:xfrm>
            <a:off x="914400" y="3218688"/>
            <a:ext cx="2468880" cy="91440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 state label SEND"/>
          <p:cNvSpPr txBox="1"/>
          <p:nvPr/>
        </p:nvSpPr>
        <p:spPr>
          <a:xfrm>
            <a:off x="987552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</a:t>
            </a:r>
          </a:p>
        </p:txBody>
      </p:sp>
      <p:cxnSp>
        <p:nvCxnSpPr>
          <p:cNvPr id="10" name="Cover causal arrow"/>
          <p:cNvCxnSpPr/>
          <p:nvPr/>
        </p:nvCxnSpPr>
        <p:spPr>
          <a:xfrm>
            <a:off x="3383280" y="3675887"/>
            <a:ext cx="219456" cy="0"/>
          </a:xfrm>
          <a:prstGeom prst="line">
            <a:avLst/>
          </a:prstGeom>
          <a:ln w="2286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ver state WAIT"/>
          <p:cNvSpPr/>
          <p:nvPr/>
        </p:nvSpPr>
        <p:spPr>
          <a:xfrm>
            <a:off x="3602736" y="3218688"/>
            <a:ext cx="2468880" cy="91440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ver state label WAIT"/>
          <p:cNvSpPr txBox="1"/>
          <p:nvPr/>
        </p:nvSpPr>
        <p:spPr>
          <a:xfrm>
            <a:off x="3675888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cxnSp>
        <p:nvCxnSpPr>
          <p:cNvPr id="13" name="Cover causal arrow"/>
          <p:cNvCxnSpPr/>
          <p:nvPr/>
        </p:nvCxnSpPr>
        <p:spPr>
          <a:xfrm>
            <a:off x="6071616" y="3675887"/>
            <a:ext cx="219456" cy="0"/>
          </a:xfrm>
          <a:prstGeom prst="line">
            <a:avLst/>
          </a:prstGeom>
          <a:ln w="2286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ver state SLEEP"/>
          <p:cNvSpPr/>
          <p:nvPr/>
        </p:nvSpPr>
        <p:spPr>
          <a:xfrm>
            <a:off x="6291072" y="3218688"/>
            <a:ext cx="2468880" cy="91440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ver state label SLEEP"/>
          <p:cNvSpPr txBox="1"/>
          <p:nvPr/>
        </p:nvSpPr>
        <p:spPr>
          <a:xfrm>
            <a:off x="6364224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6" name="Cover causal arrow"/>
          <p:cNvCxnSpPr/>
          <p:nvPr/>
        </p:nvCxnSpPr>
        <p:spPr>
          <a:xfrm>
            <a:off x="8759952" y="3675887"/>
            <a:ext cx="219456" cy="0"/>
          </a:xfrm>
          <a:prstGeom prst="line">
            <a:avLst/>
          </a:prstGeom>
          <a:ln w="2286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ver state SERVICE / J"/>
          <p:cNvSpPr/>
          <p:nvPr/>
        </p:nvSpPr>
        <p:spPr>
          <a:xfrm>
            <a:off x="8979408" y="3218688"/>
            <a:ext cx="2468880" cy="91440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ver state label SERVICE / J"/>
          <p:cNvSpPr txBox="1"/>
          <p:nvPr/>
        </p:nvSpPr>
        <p:spPr>
          <a:xfrm>
            <a:off x="9052560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/ J</a:t>
            </a:r>
          </a:p>
        </p:txBody>
      </p:sp>
      <p:sp>
        <p:nvSpPr>
          <p:cNvPr id="19" name="Simulation boundary"/>
          <p:cNvSpPr txBox="1"/>
          <p:nvPr/>
        </p:nvSpPr>
        <p:spPr>
          <a:xfrm>
            <a:off x="2743200" y="4370832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SIMULATED TEACHING DATA｜先追機制，再讀證據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Flow stage 1"/>
          <p:cNvSpPr/>
          <p:nvPr/>
        </p:nvSpPr>
        <p:spPr>
          <a:xfrm>
            <a:off x="676656" y="2011680"/>
            <a:ext cx="1664208" cy="102412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low stage label 1"/>
          <p:cNvSpPr txBox="1"/>
          <p:nvPr/>
        </p:nvSpPr>
        <p:spPr>
          <a:xfrm>
            <a:off x="740664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6" name="Flow arrow"/>
          <p:cNvCxnSpPr/>
          <p:nvPr/>
        </p:nvCxnSpPr>
        <p:spPr>
          <a:xfrm>
            <a:off x="2340864" y="2523744"/>
            <a:ext cx="237744" cy="0"/>
          </a:xfrm>
          <a:prstGeom prst="line">
            <a:avLst/>
          </a:prstGeom>
          <a:ln w="2032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ow stage 2"/>
          <p:cNvSpPr/>
          <p:nvPr/>
        </p:nvSpPr>
        <p:spPr>
          <a:xfrm>
            <a:off x="2578608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low stage label 2"/>
          <p:cNvSpPr txBox="1"/>
          <p:nvPr/>
        </p:nvSpPr>
        <p:spPr>
          <a:xfrm>
            <a:off x="2642616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cxnSp>
        <p:nvCxnSpPr>
          <p:cNvPr id="9" name="Flow arrow"/>
          <p:cNvCxnSpPr/>
          <p:nvPr/>
        </p:nvCxnSpPr>
        <p:spPr>
          <a:xfrm>
            <a:off x="4242816" y="2523744"/>
            <a:ext cx="237744" cy="0"/>
          </a:xfrm>
          <a:prstGeom prst="line">
            <a:avLst/>
          </a:prstGeom>
          <a:ln w="2032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 stage 3"/>
          <p:cNvSpPr/>
          <p:nvPr/>
        </p:nvSpPr>
        <p:spPr>
          <a:xfrm>
            <a:off x="4480560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ow stage label 3"/>
          <p:cNvSpPr txBox="1"/>
          <p:nvPr/>
        </p:nvSpPr>
        <p:spPr>
          <a:xfrm>
            <a:off x="4544568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cxnSp>
        <p:nvCxnSpPr>
          <p:cNvPr id="12" name="Flow arrow"/>
          <p:cNvCxnSpPr/>
          <p:nvPr/>
        </p:nvCxnSpPr>
        <p:spPr>
          <a:xfrm>
            <a:off x="6144768" y="2523744"/>
            <a:ext cx="237744" cy="0"/>
          </a:xfrm>
          <a:prstGeom prst="line">
            <a:avLst/>
          </a:prstGeom>
          <a:ln w="2032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low stage 4"/>
          <p:cNvSpPr/>
          <p:nvPr/>
        </p:nvSpPr>
        <p:spPr>
          <a:xfrm>
            <a:off x="6382512" y="2011680"/>
            <a:ext cx="1664208" cy="102412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stage label 4"/>
          <p:cNvSpPr txBox="1"/>
          <p:nvPr/>
        </p:nvSpPr>
        <p:spPr>
          <a:xfrm>
            <a:off x="6446520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/ packet</a:t>
            </a:r>
          </a:p>
        </p:txBody>
      </p:sp>
      <p:cxnSp>
        <p:nvCxnSpPr>
          <p:cNvPr id="15" name="Flow arrow"/>
          <p:cNvCxnSpPr/>
          <p:nvPr/>
        </p:nvCxnSpPr>
        <p:spPr>
          <a:xfrm>
            <a:off x="8046720" y="2523744"/>
            <a:ext cx="237744" cy="0"/>
          </a:xfrm>
          <a:prstGeom prst="line">
            <a:avLst/>
          </a:prstGeom>
          <a:ln w="2032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low stage 5"/>
          <p:cNvSpPr/>
          <p:nvPr/>
        </p:nvSpPr>
        <p:spPr>
          <a:xfrm>
            <a:off x="8284464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low stage label 5"/>
          <p:cNvSpPr txBox="1"/>
          <p:nvPr/>
        </p:nvSpPr>
        <p:spPr>
          <a:xfrm>
            <a:off x="8348472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8" name="Flow arrow"/>
          <p:cNvCxnSpPr/>
          <p:nvPr/>
        </p:nvCxnSpPr>
        <p:spPr>
          <a:xfrm>
            <a:off x="9948672" y="2523744"/>
            <a:ext cx="237744" cy="0"/>
          </a:xfrm>
          <a:prstGeom prst="line">
            <a:avLst/>
          </a:prstGeom>
          <a:ln w="2032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low stage 6"/>
          <p:cNvSpPr/>
          <p:nvPr/>
        </p:nvSpPr>
        <p:spPr>
          <a:xfrm>
            <a:off x="10186416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low stage label 6"/>
          <p:cNvSpPr txBox="1"/>
          <p:nvPr/>
        </p:nvSpPr>
        <p:spPr>
          <a:xfrm>
            <a:off x="10250424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21" name="Flow interpretation"/>
          <p:cNvSpPr txBox="1"/>
          <p:nvPr/>
        </p:nvSpPr>
        <p:spPr>
          <a:xfrm>
            <a:off x="914400" y="3502152"/>
            <a:ext cx="1028700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每一段都要能回到 result / replay；沒有 state、packet、service 或 energy 差異，就不能稱為節能證據。</a:t>
            </a:r>
          </a:p>
        </p:txBody>
      </p:sp>
      <p:sp>
        <p:nvSpPr>
          <p:cNvPr id="22" name="Flow rule"/>
          <p:cNvSpPr txBox="1"/>
          <p:nvPr/>
        </p:nvSpPr>
        <p:spPr>
          <a:xfrm>
            <a:off x="1645920" y="4315968"/>
            <a:ext cx="89154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觀察先於選擇｜服務先於 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為什麼直接服務智慧節能與 IoT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Scope card STATE"/>
          <p:cNvSpPr/>
          <p:nvPr/>
        </p:nvSpPr>
        <p:spPr>
          <a:xfrm>
            <a:off x="749808" y="1444752"/>
            <a:ext cx="3401568" cy="301752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cope marker STATE"/>
          <p:cNvSpPr/>
          <p:nvPr/>
        </p:nvSpPr>
        <p:spPr>
          <a:xfrm>
            <a:off x="2103120" y="1700784"/>
            <a:ext cx="658368" cy="65836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cope heading STATE"/>
          <p:cNvSpPr txBox="1"/>
          <p:nvPr/>
        </p:nvSpPr>
        <p:spPr>
          <a:xfrm>
            <a:off x="1005840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7" name="Scope body STATE"/>
          <p:cNvSpPr txBox="1"/>
          <p:nvPr/>
        </p:nvSpPr>
        <p:spPr>
          <a:xfrm>
            <a:off x="1005840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 / processing / TX / RX</a:t>
            </a:r>
          </a:p>
        </p:txBody>
      </p:sp>
      <p:sp>
        <p:nvSpPr>
          <p:cNvPr id="8" name="Scope card PACKET"/>
          <p:cNvSpPr/>
          <p:nvPr/>
        </p:nvSpPr>
        <p:spPr>
          <a:xfrm>
            <a:off x="4562856" y="1444752"/>
            <a:ext cx="3401568" cy="3017520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cope marker PACKET"/>
          <p:cNvSpPr/>
          <p:nvPr/>
        </p:nvSpPr>
        <p:spPr>
          <a:xfrm>
            <a:off x="5916168" y="1700784"/>
            <a:ext cx="658368" cy="658368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cope heading PACKET"/>
          <p:cNvSpPr txBox="1"/>
          <p:nvPr/>
        </p:nvSpPr>
        <p:spPr>
          <a:xfrm>
            <a:off x="4818888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1" name="Scope body PACKET"/>
          <p:cNvSpPr txBox="1"/>
          <p:nvPr/>
        </p:nvSpPr>
        <p:spPr>
          <a:xfrm>
            <a:off x="4818888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collision / retry / delivered</a:t>
            </a:r>
          </a:p>
        </p:txBody>
      </p:sp>
      <p:sp>
        <p:nvSpPr>
          <p:cNvPr id="12" name="Scope card ENERGY"/>
          <p:cNvSpPr/>
          <p:nvPr/>
        </p:nvSpPr>
        <p:spPr>
          <a:xfrm>
            <a:off x="8375904" y="1444752"/>
            <a:ext cx="3401568" cy="301752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cope marker ENERGY"/>
          <p:cNvSpPr/>
          <p:nvPr/>
        </p:nvSpPr>
        <p:spPr>
          <a:xfrm>
            <a:off x="9729216" y="1700784"/>
            <a:ext cx="658368" cy="658368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cope heading ENERGY"/>
          <p:cNvSpPr txBox="1"/>
          <p:nvPr/>
        </p:nvSpPr>
        <p:spPr>
          <a:xfrm>
            <a:off x="8631936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</a:p>
        </p:txBody>
      </p:sp>
      <p:sp>
        <p:nvSpPr>
          <p:cNvPr id="15" name="Scope body ENERGY"/>
          <p:cNvSpPr txBox="1"/>
          <p:nvPr/>
        </p:nvSpPr>
        <p:spPr>
          <a:xfrm>
            <a:off x="8631936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time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6" name="Scope takeaway"/>
          <p:cNvSpPr txBox="1"/>
          <p:nvPr/>
        </p:nvSpPr>
        <p:spPr>
          <a:xfrm>
            <a:off x="1024128" y="4599432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 action 會讓哪一層改變？先說機制，再看結果。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LEO scope tag"/>
          <p:cNvSpPr txBox="1"/>
          <p:nvPr/>
        </p:nvSpPr>
        <p:spPr>
          <a:xfrm>
            <a:off x="868680" y="1353312"/>
            <a:ext cx="103784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LEO = changing service window；本頁只示範窗口機制</a:t>
            </a:r>
          </a:p>
        </p:txBody>
      </p:sp>
      <p:cxnSp>
        <p:nvCxnSpPr>
          <p:cNvPr id="5" name="Service window axis"/>
          <p:cNvCxnSpPr/>
          <p:nvPr/>
        </p:nvCxnSpPr>
        <p:spPr>
          <a:xfrm>
            <a:off x="1051560" y="2788920"/>
            <a:ext cx="9966960" cy="0"/>
          </a:xfrm>
          <a:prstGeom prst="line">
            <a:avLst/>
          </a:prstGeom>
          <a:ln w="266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Window point 機會出現"/>
          <p:cNvSpPr/>
          <p:nvPr/>
        </p:nvSpPr>
        <p:spPr>
          <a:xfrm>
            <a:off x="1170432" y="253288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 label 機會出現"/>
          <p:cNvSpPr txBox="1"/>
          <p:nvPr/>
        </p:nvSpPr>
        <p:spPr>
          <a:xfrm>
            <a:off x="667512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機會出現</a:t>
            </a:r>
          </a:p>
        </p:txBody>
      </p:sp>
      <p:sp>
        <p:nvSpPr>
          <p:cNvPr id="8" name="Window point policy 選擇"/>
          <p:cNvSpPr/>
          <p:nvPr/>
        </p:nvSpPr>
        <p:spPr>
          <a:xfrm>
            <a:off x="3913632" y="2532888"/>
            <a:ext cx="512064" cy="512064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 label policy 選擇"/>
          <p:cNvSpPr txBox="1"/>
          <p:nvPr/>
        </p:nvSpPr>
        <p:spPr>
          <a:xfrm>
            <a:off x="3410712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選擇</a:t>
            </a:r>
          </a:p>
        </p:txBody>
      </p:sp>
      <p:sp>
        <p:nvSpPr>
          <p:cNvPr id="10" name="Window point 送 / 等"/>
          <p:cNvSpPr/>
          <p:nvPr/>
        </p:nvSpPr>
        <p:spPr>
          <a:xfrm>
            <a:off x="6720840" y="253288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ndow label 送 / 等"/>
          <p:cNvSpPr txBox="1"/>
          <p:nvPr/>
        </p:nvSpPr>
        <p:spPr>
          <a:xfrm>
            <a:off x="6217920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送 / 等</a:t>
            </a:r>
          </a:p>
        </p:txBody>
      </p:sp>
      <p:sp>
        <p:nvSpPr>
          <p:cNvPr id="12" name="Window point service / energy"/>
          <p:cNvSpPr/>
          <p:nvPr/>
        </p:nvSpPr>
        <p:spPr>
          <a:xfrm>
            <a:off x="9326880" y="2532888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indow label service / energy"/>
          <p:cNvSpPr txBox="1"/>
          <p:nvPr/>
        </p:nvSpPr>
        <p:spPr>
          <a:xfrm>
            <a:off x="8823959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 / energy</a:t>
            </a:r>
          </a:p>
        </p:txBody>
      </p:sp>
      <p:sp>
        <p:nvSpPr>
          <p:cNvPr id="14" name="Window band"/>
          <p:cNvSpPr/>
          <p:nvPr/>
        </p:nvSpPr>
        <p:spPr>
          <a:xfrm>
            <a:off x="1051560" y="4078224"/>
            <a:ext cx="9921240" cy="621792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indow explanation"/>
          <p:cNvSpPr txBox="1"/>
          <p:nvPr/>
        </p:nvSpPr>
        <p:spPr>
          <a:xfrm>
            <a:off x="1234440" y="4187952"/>
            <a:ext cx="9555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窗口長短改變機會；機會改變 policy；policy 改變 service / </a:t>
            </a:r>
            <a:r>
              <a:rPr sz="2000" b="0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兩層 evidence 不能互相冒充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Evidence layer 1"/>
          <p:cNvSpPr/>
          <p:nvPr/>
        </p:nvSpPr>
        <p:spPr>
          <a:xfrm>
            <a:off x="768096" y="1481328"/>
            <a:ext cx="5074920" cy="321868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yer heading 1"/>
          <p:cNvSpPr txBox="1"/>
          <p:nvPr/>
        </p:nvSpPr>
        <p:spPr>
          <a:xfrm>
            <a:off x="969264" y="1682496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ENDPOINT LAYER</a:t>
            </a:r>
          </a:p>
        </p:txBody>
      </p:sp>
      <p:sp>
        <p:nvSpPr>
          <p:cNvPr id="6" name="Layer body 1"/>
          <p:cNvSpPr txBox="1"/>
          <p:nvPr/>
        </p:nvSpPr>
        <p:spPr>
          <a:xfrm>
            <a:off x="1088136" y="2340864"/>
            <a:ext cx="4425696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7" name="Evidence layer 2"/>
          <p:cNvSpPr/>
          <p:nvPr/>
        </p:nvSpPr>
        <p:spPr>
          <a:xfrm>
            <a:off x="6300216" y="1481328"/>
            <a:ext cx="5074920" cy="321868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yer heading 2"/>
          <p:cNvSpPr txBox="1"/>
          <p:nvPr/>
        </p:nvSpPr>
        <p:spPr>
          <a:xfrm>
            <a:off x="6501383" y="1682496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SYSTEM LAYER</a:t>
            </a:r>
          </a:p>
        </p:txBody>
      </p:sp>
      <p:sp>
        <p:nvSpPr>
          <p:cNvPr id="9" name="Layer body 2"/>
          <p:cNvSpPr txBox="1"/>
          <p:nvPr/>
        </p:nvSpPr>
        <p:spPr>
          <a:xfrm>
            <a:off x="6620255" y="2340864"/>
            <a:ext cx="4425696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既有 C-120 authority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canonical fields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不可互寫</a:t>
            </a:r>
          </a:p>
        </p:txBody>
      </p:sp>
      <p:cxnSp>
        <p:nvCxnSpPr>
          <p:cNvPr id="10" name="Layer boundary"/>
          <p:cNvCxnSpPr/>
          <p:nvPr/>
        </p:nvCxnSpPr>
        <p:spPr>
          <a:xfrm>
            <a:off x="6099048" y="1901952"/>
            <a:ext cx="0" cy="2414016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yer rule"/>
          <p:cNvSpPr txBox="1"/>
          <p:nvPr/>
        </p:nvSpPr>
        <p:spPr>
          <a:xfrm>
            <a:off x="1170432" y="4864608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共享 scenario / clock / workbook，不共享語義與 energy boundary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5" name="Loop node predict"/>
          <p:cNvSpPr/>
          <p:nvPr/>
        </p:nvSpPr>
        <p:spPr>
          <a:xfrm>
            <a:off x="1417320" y="1572768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op label predict"/>
          <p:cNvSpPr txBox="1"/>
          <p:nvPr/>
        </p:nvSpPr>
        <p:spPr>
          <a:xfrm>
            <a:off x="1069848" y="22860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</a:t>
            </a:r>
          </a:p>
        </p:txBody>
      </p:sp>
      <p:cxnSp>
        <p:nvCxnSpPr>
          <p:cNvPr id="7" name="Loop arrow"/>
          <p:cNvCxnSpPr/>
          <p:nvPr/>
        </p:nvCxnSpPr>
        <p:spPr>
          <a:xfrm flipV="1">
            <a:off x="1984248" y="1636776"/>
            <a:ext cx="2176272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oop node edit"/>
          <p:cNvSpPr/>
          <p:nvPr/>
        </p:nvSpPr>
        <p:spPr>
          <a:xfrm>
            <a:off x="4160520" y="1353312"/>
            <a:ext cx="566928" cy="566928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 label edit"/>
          <p:cNvSpPr txBox="1"/>
          <p:nvPr/>
        </p:nvSpPr>
        <p:spPr>
          <a:xfrm>
            <a:off x="3813048" y="2066543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</a:t>
            </a:r>
          </a:p>
        </p:txBody>
      </p:sp>
      <p:cxnSp>
        <p:nvCxnSpPr>
          <p:cNvPr id="10" name="Loop arrow"/>
          <p:cNvCxnSpPr/>
          <p:nvPr/>
        </p:nvCxnSpPr>
        <p:spPr>
          <a:xfrm>
            <a:off x="4727448" y="1636776"/>
            <a:ext cx="2240280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op node run"/>
          <p:cNvSpPr/>
          <p:nvPr/>
        </p:nvSpPr>
        <p:spPr>
          <a:xfrm>
            <a:off x="6967728" y="1572768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op label run"/>
          <p:cNvSpPr txBox="1"/>
          <p:nvPr/>
        </p:nvSpPr>
        <p:spPr>
          <a:xfrm>
            <a:off x="6620256" y="22860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Loop arrow"/>
          <p:cNvCxnSpPr/>
          <p:nvPr/>
        </p:nvCxnSpPr>
        <p:spPr>
          <a:xfrm>
            <a:off x="7534656" y="1856231"/>
            <a:ext cx="1353312" cy="1645921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op node import"/>
          <p:cNvSpPr/>
          <p:nvPr/>
        </p:nvSpPr>
        <p:spPr>
          <a:xfrm>
            <a:off x="8887968" y="3218688"/>
            <a:ext cx="566928" cy="566928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oop label import"/>
          <p:cNvSpPr txBox="1"/>
          <p:nvPr/>
        </p:nvSpPr>
        <p:spPr>
          <a:xfrm>
            <a:off x="8540496" y="393192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import</a:t>
            </a:r>
          </a:p>
        </p:txBody>
      </p:sp>
      <p:cxnSp>
        <p:nvCxnSpPr>
          <p:cNvPr id="16" name="Loop arrow"/>
          <p:cNvCxnSpPr/>
          <p:nvPr/>
        </p:nvCxnSpPr>
        <p:spPr>
          <a:xfrm flipH="1">
            <a:off x="6967728" y="3502152"/>
            <a:ext cx="2487168" cy="877824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op node replay"/>
          <p:cNvSpPr/>
          <p:nvPr/>
        </p:nvSpPr>
        <p:spPr>
          <a:xfrm>
            <a:off x="6967728" y="4096512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op label replay"/>
          <p:cNvSpPr txBox="1"/>
          <p:nvPr/>
        </p:nvSpPr>
        <p:spPr>
          <a:xfrm>
            <a:off x="6620256" y="4809744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</p:txBody>
      </p:sp>
      <p:cxnSp>
        <p:nvCxnSpPr>
          <p:cNvPr id="19" name="Loop arrow"/>
          <p:cNvCxnSpPr/>
          <p:nvPr/>
        </p:nvCxnSpPr>
        <p:spPr>
          <a:xfrm flipH="1">
            <a:off x="4160520" y="4379976"/>
            <a:ext cx="3374136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oop node withheld"/>
          <p:cNvSpPr/>
          <p:nvPr/>
        </p:nvSpPr>
        <p:spPr>
          <a:xfrm>
            <a:off x="4160520" y="4315968"/>
            <a:ext cx="566928" cy="566928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oop label withheld"/>
          <p:cNvSpPr txBox="1"/>
          <p:nvPr/>
        </p:nvSpPr>
        <p:spPr>
          <a:xfrm>
            <a:off x="3813048" y="50292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cxnSp>
        <p:nvCxnSpPr>
          <p:cNvPr id="22" name="Loop closure arrow"/>
          <p:cNvCxnSpPr/>
          <p:nvPr/>
        </p:nvCxnSpPr>
        <p:spPr>
          <a:xfrm flipH="1" flipV="1">
            <a:off x="1700784" y="1938528"/>
            <a:ext cx="2743200" cy="2660904"/>
          </a:xfrm>
          <a:prstGeom prst="line">
            <a:avLst/>
          </a:prstGeom>
          <a:ln w="1524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op rule"/>
          <p:cNvSpPr txBox="1"/>
          <p:nvPr/>
        </p:nvSpPr>
        <p:spPr>
          <a:xfrm>
            <a:off x="1481328" y="2770632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預測可被推翻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不要 retune hidden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一個小改動，必須能追到一個機制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Guarded file"/>
          <p:cNvSpPr/>
          <p:nvPr/>
        </p:nvSpPr>
        <p:spPr>
          <a:xfrm>
            <a:off x="804672" y="1444752"/>
            <a:ext cx="4663440" cy="299923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uarded filename"/>
          <p:cNvSpPr txBox="1"/>
          <p:nvPr/>
        </p:nvSpPr>
        <p:spPr>
          <a:xfrm>
            <a:off x="1024128" y="1709928"/>
            <a:ext cx="422452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Guarded block"/>
          <p:cNvSpPr txBox="1"/>
          <p:nvPr/>
        </p:nvSpPr>
        <p:spPr>
          <a:xfrm>
            <a:off x="1170432" y="2414016"/>
            <a:ext cx="3931920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只改這裡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sp>
        <p:nvSpPr>
          <p:cNvPr id="7" name="Read-only lock scenario"/>
          <p:cNvSpPr/>
          <p:nvPr/>
        </p:nvSpPr>
        <p:spPr>
          <a:xfrm>
            <a:off x="6016752" y="157276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ad-only label scenario"/>
          <p:cNvSpPr txBox="1"/>
          <p:nvPr/>
        </p:nvSpPr>
        <p:spPr>
          <a:xfrm>
            <a:off x="6089904" y="175564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scenario</a:t>
            </a:r>
          </a:p>
        </p:txBody>
      </p:sp>
      <p:sp>
        <p:nvSpPr>
          <p:cNvPr id="9" name="Read-only lock schemas"/>
          <p:cNvSpPr/>
          <p:nvPr/>
        </p:nvSpPr>
        <p:spPr>
          <a:xfrm>
            <a:off x="8686800" y="157276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ad-only label schemas"/>
          <p:cNvSpPr txBox="1"/>
          <p:nvPr/>
        </p:nvSpPr>
        <p:spPr>
          <a:xfrm>
            <a:off x="8759952" y="175564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schemas</a:t>
            </a:r>
          </a:p>
        </p:txBody>
      </p:sp>
      <p:sp>
        <p:nvSpPr>
          <p:cNvPr id="11" name="Read-only lock runner"/>
          <p:cNvSpPr/>
          <p:nvPr/>
        </p:nvSpPr>
        <p:spPr>
          <a:xfrm>
            <a:off x="6016752" y="285292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ad-only label runner"/>
          <p:cNvSpPr txBox="1"/>
          <p:nvPr/>
        </p:nvSpPr>
        <p:spPr>
          <a:xfrm>
            <a:off x="6089904" y="303580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runner</a:t>
            </a:r>
          </a:p>
        </p:txBody>
      </p:sp>
      <p:sp>
        <p:nvSpPr>
          <p:cNvPr id="13" name="Read-only lock generated JSON"/>
          <p:cNvSpPr/>
          <p:nvPr/>
        </p:nvSpPr>
        <p:spPr>
          <a:xfrm>
            <a:off x="8686800" y="285292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-only label generated JSON"/>
          <p:cNvSpPr txBox="1"/>
          <p:nvPr/>
        </p:nvSpPr>
        <p:spPr>
          <a:xfrm>
            <a:off x="8759952" y="303580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generated JSON</a:t>
            </a:r>
          </a:p>
        </p:txBody>
      </p:sp>
      <p:sp>
        <p:nvSpPr>
          <p:cNvPr id="15" name="Guard stop rule"/>
          <p:cNvSpPr txBox="1"/>
          <p:nvPr/>
        </p:nvSpPr>
        <p:spPr>
          <a:xfrm>
            <a:off x="6053328" y="4462272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沒有 consequential diff → 停在 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Route node why"/>
          <p:cNvSpPr/>
          <p:nvPr/>
        </p:nvSpPr>
        <p:spPr>
          <a:xfrm>
            <a:off x="987552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te label why"/>
          <p:cNvSpPr txBox="1"/>
          <p:nvPr/>
        </p:nvSpPr>
        <p:spPr>
          <a:xfrm>
            <a:off x="731520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</a:t>
            </a:r>
          </a:p>
        </p:txBody>
      </p:sp>
      <p:cxnSp>
        <p:nvCxnSpPr>
          <p:cNvPr id="6" name="Route arrow"/>
          <p:cNvCxnSpPr/>
          <p:nvPr/>
        </p:nvCxnSpPr>
        <p:spPr>
          <a:xfrm>
            <a:off x="1783080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te node setup"/>
          <p:cNvSpPr/>
          <p:nvPr/>
        </p:nvSpPr>
        <p:spPr>
          <a:xfrm>
            <a:off x="2112264" y="1965960"/>
            <a:ext cx="585216" cy="585216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te label setup"/>
          <p:cNvSpPr txBox="1"/>
          <p:nvPr/>
        </p:nvSpPr>
        <p:spPr>
          <a:xfrm>
            <a:off x="1856231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</a:t>
            </a:r>
          </a:p>
        </p:txBody>
      </p:sp>
      <p:cxnSp>
        <p:nvCxnSpPr>
          <p:cNvPr id="9" name="Route arrow"/>
          <p:cNvCxnSpPr/>
          <p:nvPr/>
        </p:nvCxnSpPr>
        <p:spPr>
          <a:xfrm>
            <a:off x="2907792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te node endpoint"/>
          <p:cNvSpPr/>
          <p:nvPr/>
        </p:nvSpPr>
        <p:spPr>
          <a:xfrm>
            <a:off x="3236976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te label endpoint"/>
          <p:cNvSpPr txBox="1"/>
          <p:nvPr/>
        </p:nvSpPr>
        <p:spPr>
          <a:xfrm>
            <a:off x="2980944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</a:t>
            </a:r>
          </a:p>
        </p:txBody>
      </p:sp>
      <p:cxnSp>
        <p:nvCxnSpPr>
          <p:cNvPr id="12" name="Route arrow"/>
          <p:cNvCxnSpPr/>
          <p:nvPr/>
        </p:nvCxnSpPr>
        <p:spPr>
          <a:xfrm>
            <a:off x="4032503" y="2249424"/>
            <a:ext cx="128017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te node anchor"/>
          <p:cNvSpPr/>
          <p:nvPr/>
        </p:nvSpPr>
        <p:spPr>
          <a:xfrm>
            <a:off x="4361688" y="1965960"/>
            <a:ext cx="585216" cy="585216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te label anchor"/>
          <p:cNvSpPr txBox="1"/>
          <p:nvPr/>
        </p:nvSpPr>
        <p:spPr>
          <a:xfrm>
            <a:off x="4105656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anchor</a:t>
            </a:r>
          </a:p>
        </p:txBody>
      </p:sp>
      <p:cxnSp>
        <p:nvCxnSpPr>
          <p:cNvPr id="15" name="Route arrow"/>
          <p:cNvCxnSpPr/>
          <p:nvPr/>
        </p:nvCxnSpPr>
        <p:spPr>
          <a:xfrm>
            <a:off x="5157216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te node A"/>
          <p:cNvSpPr/>
          <p:nvPr/>
        </p:nvSpPr>
        <p:spPr>
          <a:xfrm>
            <a:off x="5486400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te label A"/>
          <p:cNvSpPr txBox="1"/>
          <p:nvPr/>
        </p:nvSpPr>
        <p:spPr>
          <a:xfrm>
            <a:off x="5230368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</a:t>
            </a:r>
          </a:p>
        </p:txBody>
      </p:sp>
      <p:cxnSp>
        <p:nvCxnSpPr>
          <p:cNvPr id="18" name="Route arrow"/>
          <p:cNvCxnSpPr/>
          <p:nvPr/>
        </p:nvCxnSpPr>
        <p:spPr>
          <a:xfrm>
            <a:off x="6281927" y="2249424"/>
            <a:ext cx="128017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te node B"/>
          <p:cNvSpPr/>
          <p:nvPr/>
        </p:nvSpPr>
        <p:spPr>
          <a:xfrm>
            <a:off x="6611112" y="1965960"/>
            <a:ext cx="585216" cy="585216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te label B"/>
          <p:cNvSpPr txBox="1"/>
          <p:nvPr/>
        </p:nvSpPr>
        <p:spPr>
          <a:xfrm>
            <a:off x="6355080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</a:t>
            </a:r>
          </a:p>
        </p:txBody>
      </p:sp>
      <p:cxnSp>
        <p:nvCxnSpPr>
          <p:cNvPr id="21" name="Route arrow"/>
          <p:cNvCxnSpPr/>
          <p:nvPr/>
        </p:nvCxnSpPr>
        <p:spPr>
          <a:xfrm>
            <a:off x="7406640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te node recovery"/>
          <p:cNvSpPr/>
          <p:nvPr/>
        </p:nvSpPr>
        <p:spPr>
          <a:xfrm>
            <a:off x="7735823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te label recovery"/>
          <p:cNvSpPr txBox="1"/>
          <p:nvPr/>
        </p:nvSpPr>
        <p:spPr>
          <a:xfrm>
            <a:off x="7479792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cxnSp>
        <p:nvCxnSpPr>
          <p:cNvPr id="24" name="Route arrow"/>
          <p:cNvCxnSpPr/>
          <p:nvPr/>
        </p:nvCxnSpPr>
        <p:spPr>
          <a:xfrm>
            <a:off x="8531352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te node C"/>
          <p:cNvSpPr/>
          <p:nvPr/>
        </p:nvSpPr>
        <p:spPr>
          <a:xfrm>
            <a:off x="8860536" y="1965960"/>
            <a:ext cx="585216" cy="585216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te label C"/>
          <p:cNvSpPr txBox="1"/>
          <p:nvPr/>
        </p:nvSpPr>
        <p:spPr>
          <a:xfrm>
            <a:off x="8604504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</a:t>
            </a:r>
          </a:p>
        </p:txBody>
      </p:sp>
      <p:cxnSp>
        <p:nvCxnSpPr>
          <p:cNvPr id="27" name="Route arrow"/>
          <p:cNvCxnSpPr/>
          <p:nvPr/>
        </p:nvCxnSpPr>
        <p:spPr>
          <a:xfrm>
            <a:off x="9656064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te node evidence"/>
          <p:cNvSpPr/>
          <p:nvPr/>
        </p:nvSpPr>
        <p:spPr>
          <a:xfrm>
            <a:off x="9985248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te label evidence"/>
          <p:cNvSpPr txBox="1"/>
          <p:nvPr/>
        </p:nvSpPr>
        <p:spPr>
          <a:xfrm>
            <a:off x="9729216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30" name="Route arrow"/>
          <p:cNvCxnSpPr/>
          <p:nvPr/>
        </p:nvCxnSpPr>
        <p:spPr>
          <a:xfrm>
            <a:off x="10780776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te node transfer"/>
          <p:cNvSpPr/>
          <p:nvPr/>
        </p:nvSpPr>
        <p:spPr>
          <a:xfrm>
            <a:off x="11109960" y="1965960"/>
            <a:ext cx="585216" cy="585216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te label transfer"/>
          <p:cNvSpPr txBox="1"/>
          <p:nvPr/>
        </p:nvSpPr>
        <p:spPr>
          <a:xfrm>
            <a:off x="10853928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transfer</a:t>
            </a:r>
          </a:p>
        </p:txBody>
      </p:sp>
      <p:sp>
        <p:nvSpPr>
          <p:cNvPr id="33" name="Route explanation"/>
          <p:cNvSpPr txBox="1"/>
          <p:nvPr/>
        </p:nvSpPr>
        <p:spPr>
          <a:xfrm>
            <a:off x="1005840" y="3895344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每一個節點都要有 gate、receipt 與 recovery；受阻時沿同一 scenario 回來。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開場檢查點：先確認 claim 邊界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Claim scope"/>
          <p:cNvSpPr txBox="1"/>
          <p:nvPr/>
        </p:nvSpPr>
        <p:spPr>
          <a:xfrm>
            <a:off x="868680" y="1261872"/>
            <a:ext cx="10378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5" name="Claim ladder 1"/>
          <p:cNvSpPr/>
          <p:nvPr/>
        </p:nvSpPr>
        <p:spPr>
          <a:xfrm>
            <a:off x="1188720" y="1965960"/>
            <a:ext cx="9784080" cy="53035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aim heading 1"/>
          <p:cNvSpPr txBox="1"/>
          <p:nvPr/>
        </p:nvSpPr>
        <p:spPr>
          <a:xfrm>
            <a:off x="1316736" y="203911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可說</a:t>
            </a:r>
          </a:p>
        </p:txBody>
      </p:sp>
      <p:sp>
        <p:nvSpPr>
          <p:cNvPr id="7" name="Claim body 1"/>
          <p:cNvSpPr txBox="1"/>
          <p:nvPr/>
        </p:nvSpPr>
        <p:spPr>
          <a:xfrm>
            <a:off x="2468880" y="2039112"/>
            <a:ext cx="8339327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course-owned / deterministic / simulated</a:t>
            </a:r>
          </a:p>
        </p:txBody>
      </p:sp>
      <p:sp>
        <p:nvSpPr>
          <p:cNvPr id="8" name="Claim ladder 2"/>
          <p:cNvSpPr/>
          <p:nvPr/>
        </p:nvSpPr>
        <p:spPr>
          <a:xfrm>
            <a:off x="1618488" y="2596896"/>
            <a:ext cx="8924544" cy="530352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aim heading 2"/>
          <p:cNvSpPr txBox="1"/>
          <p:nvPr/>
        </p:nvSpPr>
        <p:spPr>
          <a:xfrm>
            <a:off x="1746504" y="2670048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不可說</a:t>
            </a:r>
          </a:p>
        </p:txBody>
      </p:sp>
      <p:sp>
        <p:nvSpPr>
          <p:cNvPr id="10" name="Claim body 2"/>
          <p:cNvSpPr txBox="1"/>
          <p:nvPr/>
        </p:nvSpPr>
        <p:spPr>
          <a:xfrm>
            <a:off x="2898648" y="2670048"/>
            <a:ext cx="74797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 LIVE / NOT MEASURED</a:t>
            </a:r>
          </a:p>
        </p:txBody>
      </p:sp>
      <p:sp>
        <p:nvSpPr>
          <p:cNvPr id="11" name="Claim ladder 3"/>
          <p:cNvSpPr/>
          <p:nvPr/>
        </p:nvSpPr>
        <p:spPr>
          <a:xfrm>
            <a:off x="2048256" y="3227832"/>
            <a:ext cx="8065008" cy="53035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laim heading 3"/>
          <p:cNvSpPr txBox="1"/>
          <p:nvPr/>
        </p:nvSpPr>
        <p:spPr>
          <a:xfrm>
            <a:off x="2176272" y="3300984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尚未驗證</a:t>
            </a:r>
          </a:p>
        </p:txBody>
      </p:sp>
      <p:sp>
        <p:nvSpPr>
          <p:cNvPr id="13" name="Claim body 3"/>
          <p:cNvSpPr txBox="1"/>
          <p:nvPr/>
        </p:nvSpPr>
        <p:spPr>
          <a:xfrm>
            <a:off x="3328416" y="3300984"/>
            <a:ext cx="662025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 CANONICAL-PARITY-VERIFIED</a:t>
            </a:r>
          </a:p>
        </p:txBody>
      </p:sp>
      <p:sp>
        <p:nvSpPr>
          <p:cNvPr id="14" name="Claim ladder 4"/>
          <p:cNvSpPr/>
          <p:nvPr/>
        </p:nvSpPr>
        <p:spPr>
          <a:xfrm>
            <a:off x="2478024" y="3858768"/>
            <a:ext cx="7205471" cy="530352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laim heading 4"/>
          <p:cNvSpPr txBox="1"/>
          <p:nvPr/>
        </p:nvSpPr>
        <p:spPr>
          <a:xfrm>
            <a:off x="2606040" y="393192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處理方式</a:t>
            </a:r>
          </a:p>
        </p:txBody>
      </p:sp>
      <p:sp>
        <p:nvSpPr>
          <p:cNvPr id="16" name="Claim body 4"/>
          <p:cNvSpPr txBox="1"/>
          <p:nvPr/>
        </p:nvSpPr>
        <p:spPr>
          <a:xfrm>
            <a:off x="3758183" y="3931920"/>
            <a:ext cx="5760719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URL / screenshot / KPI 缺口 → PLACEHOLDER</a:t>
            </a:r>
          </a:p>
        </p:txBody>
      </p:sp>
      <p:sp>
        <p:nvSpPr>
          <p:cNvPr id="17" name="Claim provenance"/>
          <p:cNvSpPr txBox="1"/>
          <p:nvPr/>
        </p:nvSpPr>
        <p:spPr>
          <a:xfrm>
            <a:off x="1298448" y="4754880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邊界會跟著 result、replay、import 與 workbook provenance 一起走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套件根目錄是一條 provenance 邊界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 LOCAL ARTIFACT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解壓後：cd lora-energy-lab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POSIX：find . -maxdepth 2 -type f</a:t>
            </a:r>
          </a:p>
        </p:txBody>
      </p:sp>
      <p:sp>
        <p:nvSpPr>
          <p:cNvPr id="7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Windows：Get-ChildItem -Recurse -File</a:t>
            </a:r>
          </a:p>
        </p:txBody>
      </p:sp>
      <p:sp>
        <p:nvSpPr>
          <p:cNvPr id="8" name="Package tree"/>
          <p:cNvSpPr/>
          <p:nvPr/>
        </p:nvSpPr>
        <p:spPr>
          <a:xfrm>
            <a:off x="749808" y="1627632"/>
            <a:ext cx="4956048" cy="323697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age root"/>
          <p:cNvSpPr txBox="1"/>
          <p:nvPr/>
        </p:nvSpPr>
        <p:spPr>
          <a:xfrm>
            <a:off x="1042415" y="1828800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10" name="Package item 1"/>
          <p:cNvSpPr txBox="1"/>
          <p:nvPr/>
        </p:nvSpPr>
        <p:spPr>
          <a:xfrm>
            <a:off x="1170432" y="2176272"/>
            <a:ext cx="422452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README.en.md / README.zh-TW.md</a:t>
            </a:r>
          </a:p>
        </p:txBody>
      </p:sp>
      <p:sp>
        <p:nvSpPr>
          <p:cNvPr id="11" name="Package item 2"/>
          <p:cNvSpPr txBox="1"/>
          <p:nvPr/>
        </p:nvSpPr>
        <p:spPr>
          <a:xfrm>
            <a:off x="1170432" y="2523744"/>
            <a:ext cx="422452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setup.sh / setup.cmd</a:t>
            </a:r>
          </a:p>
        </p:txBody>
      </p:sp>
      <p:sp>
        <p:nvSpPr>
          <p:cNvPr id="12" name="Package item 3"/>
          <p:cNvSpPr txBox="1"/>
          <p:nvPr/>
        </p:nvSpPr>
        <p:spPr>
          <a:xfrm>
            <a:off x="1170432" y="2871215"/>
            <a:ext cx="422452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course.sh / course.cmd</a:t>
            </a:r>
          </a:p>
        </p:txBody>
      </p:sp>
      <p:sp>
        <p:nvSpPr>
          <p:cNvPr id="13" name="Package item 4"/>
          <p:cNvSpPr txBox="1"/>
          <p:nvPr/>
        </p:nvSpPr>
        <p:spPr>
          <a:xfrm>
            <a:off x="1170432" y="3218688"/>
            <a:ext cx="422452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</a:t>
            </a:r>
            <a:r>
              <a:rPr sz="17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4" name="Package item 5"/>
          <p:cNvSpPr txBox="1"/>
          <p:nvPr/>
        </p:nvSpPr>
        <p:spPr>
          <a:xfrm>
            <a:off x="1170432" y="3566160"/>
            <a:ext cx="422452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lora_energy_lab/</a:t>
            </a:r>
          </a:p>
        </p:txBody>
      </p:sp>
      <p:sp>
        <p:nvSpPr>
          <p:cNvPr id="15" name="Package item 6"/>
          <p:cNvSpPr txBox="1"/>
          <p:nvPr/>
        </p:nvSpPr>
        <p:spPr>
          <a:xfrm>
            <a:off x="1170432" y="3913631"/>
            <a:ext cx="422452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scenarios/</a:t>
            </a:r>
          </a:p>
        </p:txBody>
      </p:sp>
      <p:sp>
        <p:nvSpPr>
          <p:cNvPr id="16" name="Package item 7"/>
          <p:cNvSpPr txBox="1"/>
          <p:nvPr/>
        </p:nvSpPr>
        <p:spPr>
          <a:xfrm>
            <a:off x="1170432" y="4261104"/>
            <a:ext cx="422452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└─ schemas/</a:t>
            </a:r>
          </a:p>
        </p:txBody>
      </p:sp>
      <p:sp>
        <p:nvSpPr>
          <p:cNvPr id="17" name="Provenance gate"/>
          <p:cNvSpPr/>
          <p:nvPr/>
        </p:nvSpPr>
        <p:spPr>
          <a:xfrm>
            <a:off x="6236208" y="1627632"/>
            <a:ext cx="5047488" cy="323697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heading"/>
          <p:cNvSpPr txBox="1"/>
          <p:nvPr/>
        </p:nvSpPr>
        <p:spPr>
          <a:xfrm>
            <a:off x="6492240" y="1865376"/>
            <a:ext cx="4517136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provenance gate</a:t>
            </a:r>
          </a:p>
        </p:txBody>
      </p:sp>
      <p:sp>
        <p:nvSpPr>
          <p:cNvPr id="19" name="Provenance body"/>
          <p:cNvSpPr txBox="1"/>
          <p:nvPr/>
        </p:nvSpPr>
        <p:spPr>
          <a:xfrm>
            <a:off x="6693408" y="2505456"/>
            <a:ext cx="4096512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single root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reviewed bytes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commit 32cc723…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files present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identity mismatch → STOP</a:t>
            </a:r>
          </a:p>
        </p:txBody>
      </p:sp>
      <p:cxnSp>
        <p:nvCxnSpPr>
          <p:cNvPr id="20" name="Root to gate"/>
          <p:cNvCxnSpPr/>
          <p:nvPr/>
        </p:nvCxnSpPr>
        <p:spPr>
          <a:xfrm>
            <a:off x="5705856" y="3236976"/>
            <a:ext cx="530352" cy="0"/>
          </a:xfrm>
          <a:prstGeom prst="line">
            <a:avLst/>
          </a:prstGeom>
          <a:ln w="2286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先核對 local artifact，再等待公開 release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 LOCAL ARTIFACT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ls -l ~/lora-energy-lab-v1.zip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sha256sum ~/lora-energy-lab-v1.zip</a:t>
            </a:r>
          </a:p>
        </p:txBody>
      </p:sp>
      <p:sp>
        <p:nvSpPr>
          <p:cNvPr id="7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public URL: RELEASE_ASSET_PENDING</a:t>
            </a:r>
          </a:p>
        </p:txBody>
      </p:sp>
      <p:sp>
        <p:nvSpPr>
          <p:cNvPr id="8" name="Checksum artifact LOCAL ZIP"/>
          <p:cNvSpPr/>
          <p:nvPr/>
        </p:nvSpPr>
        <p:spPr>
          <a:xfrm>
            <a:off x="804672" y="1755648"/>
            <a:ext cx="5084064" cy="155448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cksum heading LOCAL ZIP"/>
          <p:cNvSpPr txBox="1"/>
          <p:nvPr/>
        </p:nvSpPr>
        <p:spPr>
          <a:xfrm>
            <a:off x="969264" y="1975104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LOCAL ZIP</a:t>
            </a:r>
          </a:p>
        </p:txBody>
      </p:sp>
      <p:sp>
        <p:nvSpPr>
          <p:cNvPr id="10" name="Checksum body LOCAL ZIP"/>
          <p:cNvSpPr txBox="1"/>
          <p:nvPr/>
        </p:nvSpPr>
        <p:spPr>
          <a:xfrm>
            <a:off x="1024128" y="2468880"/>
            <a:ext cx="464515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lora-energy-lab-v1.zip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121,139 bytes</a:t>
            </a:r>
          </a:p>
        </p:txBody>
      </p:sp>
      <p:sp>
        <p:nvSpPr>
          <p:cNvPr id="11" name="Checksum artifact SHA-256"/>
          <p:cNvSpPr/>
          <p:nvPr/>
        </p:nvSpPr>
        <p:spPr>
          <a:xfrm>
            <a:off x="6364224" y="1755648"/>
            <a:ext cx="5084064" cy="1554480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cksum heading SHA-256"/>
          <p:cNvSpPr txBox="1"/>
          <p:nvPr/>
        </p:nvSpPr>
        <p:spPr>
          <a:xfrm>
            <a:off x="6528816" y="1975104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SHA-256</a:t>
            </a:r>
          </a:p>
        </p:txBody>
      </p:sp>
      <p:sp>
        <p:nvSpPr>
          <p:cNvPr id="13" name="Checksum body SHA-256"/>
          <p:cNvSpPr txBox="1"/>
          <p:nvPr/>
        </p:nvSpPr>
        <p:spPr>
          <a:xfrm>
            <a:off x="6583680" y="2468880"/>
            <a:ext cx="464515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047e8459988d8bee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59fbfdcc39189e00048f3697968901ce5b6e5363dc9e8c8c</a:t>
            </a:r>
          </a:p>
        </p:txBody>
      </p:sp>
      <p:sp>
        <p:nvSpPr>
          <p:cNvPr id="14" name="Repository identity"/>
          <p:cNvSpPr txBox="1"/>
          <p:nvPr/>
        </p:nvSpPr>
        <p:spPr>
          <a:xfrm>
            <a:off x="1060704" y="3346704"/>
            <a:ext cx="1007668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repo：github.com/cedarwud/lora-energy-lab</a:t>
            </a:r>
          </a:p>
        </p:txBody>
      </p:sp>
      <p:sp>
        <p:nvSpPr>
          <p:cNvPr id="15" name="Hash receipt"/>
          <p:cNvSpPr/>
          <p:nvPr/>
        </p:nvSpPr>
        <p:spPr>
          <a:xfrm>
            <a:off x="841248" y="3621024"/>
            <a:ext cx="10515600" cy="98755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ash status"/>
          <p:cNvSpPr txBox="1"/>
          <p:nvPr/>
        </p:nvSpPr>
        <p:spPr>
          <a:xfrm>
            <a:off x="1024128" y="3822191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receipt：VERIFIED LOCAL ARTIFACT｜19/19 tests PASS</a:t>
            </a:r>
          </a:p>
        </p:txBody>
      </p:sp>
      <p:sp>
        <p:nvSpPr>
          <p:cNvPr id="17" name="Hash limitation"/>
          <p:cNvSpPr txBox="1"/>
          <p:nvPr/>
        </p:nvSpPr>
        <p:spPr>
          <a:xfrm>
            <a:off x="1097280" y="4224528"/>
            <a:ext cx="1000353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公開 GitHub Release URL：RELEASE_ASSET_PENDING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原生先確認 shell 與 launcher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4" name="Shell panel CMD"/>
          <p:cNvSpPr/>
          <p:nvPr/>
        </p:nvSpPr>
        <p:spPr>
          <a:xfrm>
            <a:off x="804672" y="1298448"/>
            <a:ext cx="5084064" cy="318211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ell heading CMD"/>
          <p:cNvSpPr txBox="1"/>
          <p:nvPr/>
        </p:nvSpPr>
        <p:spPr>
          <a:xfrm>
            <a:off x="987552" y="1554480"/>
            <a:ext cx="47183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</a:t>
            </a:r>
          </a:p>
        </p:txBody>
      </p:sp>
      <p:sp>
        <p:nvSpPr>
          <p:cNvPr id="6" name="Shell prompt CMD"/>
          <p:cNvSpPr txBox="1"/>
          <p:nvPr/>
        </p:nvSpPr>
        <p:spPr>
          <a:xfrm>
            <a:off x="1060704" y="21305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C:\...&gt;</a:t>
            </a:r>
          </a:p>
        </p:txBody>
      </p:sp>
      <p:sp>
        <p:nvSpPr>
          <p:cNvPr id="7" name="Shell commands CMD"/>
          <p:cNvSpPr txBox="1"/>
          <p:nvPr/>
        </p:nvSpPr>
        <p:spPr>
          <a:xfrm>
            <a:off x="1060704" y="2779776"/>
            <a:ext cx="4572000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8" name="Shell panel PowerShell"/>
          <p:cNvSpPr/>
          <p:nvPr/>
        </p:nvSpPr>
        <p:spPr>
          <a:xfrm>
            <a:off x="6364224" y="1298448"/>
            <a:ext cx="5084064" cy="318211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ell heading PowerShell"/>
          <p:cNvSpPr txBox="1"/>
          <p:nvPr/>
        </p:nvSpPr>
        <p:spPr>
          <a:xfrm>
            <a:off x="6547104" y="1554480"/>
            <a:ext cx="47183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</a:t>
            </a:r>
          </a:p>
        </p:txBody>
      </p:sp>
      <p:sp>
        <p:nvSpPr>
          <p:cNvPr id="10" name="Shell prompt PowerShell"/>
          <p:cNvSpPr txBox="1"/>
          <p:nvPr/>
        </p:nvSpPr>
        <p:spPr>
          <a:xfrm>
            <a:off x="6620256" y="21305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 C:\...&gt;</a:t>
            </a:r>
          </a:p>
        </p:txBody>
      </p:sp>
      <p:sp>
        <p:nvSpPr>
          <p:cNvPr id="11" name="Shell commands PowerShell"/>
          <p:cNvSpPr txBox="1"/>
          <p:nvPr/>
        </p:nvSpPr>
        <p:spPr>
          <a:xfrm>
            <a:off x="6620256" y="2779776"/>
            <a:ext cx="4572000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12" name="Shell expected"/>
          <p:cNvSpPr txBox="1"/>
          <p:nvPr/>
        </p:nvSpPr>
        <p:spPr>
          <a:xfrm>
            <a:off x="1097280" y="4681728"/>
            <a:ext cx="1000353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預期：PLACEHOLDER｜看到 Python 3.11.x 才進入 setup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沒有 Python 3.11 時的 Windows 安裝路徑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開啟：https://www.python.org/downloads/windows/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安裝後：py --list</a:t>
            </a:r>
          </a:p>
        </p:txBody>
      </p:sp>
      <p:sp>
        <p:nvSpPr>
          <p:cNvPr id="7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確認：py -3.11 --version</a:t>
            </a:r>
          </a:p>
        </p:txBody>
      </p:sp>
      <p:cxnSp>
        <p:nvCxnSpPr>
          <p:cNvPr id="8" name="Recovery spine"/>
          <p:cNvCxnSpPr/>
          <p:nvPr/>
        </p:nvCxnSpPr>
        <p:spPr>
          <a:xfrm>
            <a:off x="1335024" y="1755648"/>
            <a:ext cx="0" cy="2871216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overy step 1"/>
          <p:cNvSpPr/>
          <p:nvPr/>
        </p:nvSpPr>
        <p:spPr>
          <a:xfrm>
            <a:off x="1078992" y="166420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overy number 1"/>
          <p:cNvSpPr txBox="1"/>
          <p:nvPr/>
        </p:nvSpPr>
        <p:spPr>
          <a:xfrm>
            <a:off x="1078992" y="1746504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1" name="Recovery frame 1"/>
          <p:cNvSpPr/>
          <p:nvPr/>
        </p:nvSpPr>
        <p:spPr>
          <a:xfrm>
            <a:off x="1938528" y="1627632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 1"/>
          <p:cNvSpPr txBox="1"/>
          <p:nvPr/>
        </p:nvSpPr>
        <p:spPr>
          <a:xfrm>
            <a:off x="2139696" y="1709928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official installer / uv</a:t>
            </a:r>
          </a:p>
        </p:txBody>
      </p:sp>
      <p:sp>
        <p:nvSpPr>
          <p:cNvPr id="13" name="Recovery body 1"/>
          <p:cNvSpPr txBox="1"/>
          <p:nvPr/>
        </p:nvSpPr>
        <p:spPr>
          <a:xfrm>
            <a:off x="5358384" y="1709928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取得 Python 3.11.x</a:t>
            </a:r>
          </a:p>
        </p:txBody>
      </p:sp>
      <p:sp>
        <p:nvSpPr>
          <p:cNvPr id="14" name="Recovery step 2"/>
          <p:cNvSpPr/>
          <p:nvPr/>
        </p:nvSpPr>
        <p:spPr>
          <a:xfrm>
            <a:off x="1078992" y="2414016"/>
            <a:ext cx="512064" cy="512064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number 2"/>
          <p:cNvSpPr txBox="1"/>
          <p:nvPr/>
        </p:nvSpPr>
        <p:spPr>
          <a:xfrm>
            <a:off x="1078992" y="2496312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6" name="Recovery frame 2"/>
          <p:cNvSpPr/>
          <p:nvPr/>
        </p:nvSpPr>
        <p:spPr>
          <a:xfrm>
            <a:off x="1938528" y="2377440"/>
            <a:ext cx="8796528" cy="603504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 2"/>
          <p:cNvSpPr txBox="1"/>
          <p:nvPr/>
        </p:nvSpPr>
        <p:spPr>
          <a:xfrm>
            <a:off x="2139696" y="2459736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Python Launcher</a:t>
            </a:r>
          </a:p>
        </p:txBody>
      </p:sp>
      <p:sp>
        <p:nvSpPr>
          <p:cNvPr id="18" name="Recovery body 2"/>
          <p:cNvSpPr txBox="1"/>
          <p:nvPr/>
        </p:nvSpPr>
        <p:spPr>
          <a:xfrm>
            <a:off x="5358384" y="2459736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py --list</a:t>
            </a:r>
          </a:p>
        </p:txBody>
      </p:sp>
      <p:sp>
        <p:nvSpPr>
          <p:cNvPr id="19" name="Recovery step 3"/>
          <p:cNvSpPr/>
          <p:nvPr/>
        </p:nvSpPr>
        <p:spPr>
          <a:xfrm>
            <a:off x="1078992" y="3163824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overy number 3"/>
          <p:cNvSpPr txBox="1"/>
          <p:nvPr/>
        </p:nvSpPr>
        <p:spPr>
          <a:xfrm>
            <a:off x="1078992" y="3246120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1" name="Recovery frame 3"/>
          <p:cNvSpPr/>
          <p:nvPr/>
        </p:nvSpPr>
        <p:spPr>
          <a:xfrm>
            <a:off x="1938528" y="3127248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overy heading 3"/>
          <p:cNvSpPr txBox="1"/>
          <p:nvPr/>
        </p:nvSpPr>
        <p:spPr>
          <a:xfrm>
            <a:off x="2139696" y="3209544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reopen shell</a:t>
            </a:r>
          </a:p>
        </p:txBody>
      </p:sp>
      <p:sp>
        <p:nvSpPr>
          <p:cNvPr id="23" name="Recovery body 3"/>
          <p:cNvSpPr txBox="1"/>
          <p:nvPr/>
        </p:nvSpPr>
        <p:spPr>
          <a:xfrm>
            <a:off x="5358384" y="3209544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清掉舊 PATH 狀態</a:t>
            </a:r>
          </a:p>
        </p:txBody>
      </p:sp>
      <p:sp>
        <p:nvSpPr>
          <p:cNvPr id="24" name="Recovery step 4"/>
          <p:cNvSpPr/>
          <p:nvPr/>
        </p:nvSpPr>
        <p:spPr>
          <a:xfrm>
            <a:off x="1078992" y="3913632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overy number 4"/>
          <p:cNvSpPr txBox="1"/>
          <p:nvPr/>
        </p:nvSpPr>
        <p:spPr>
          <a:xfrm>
            <a:off x="1078992" y="3995928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6" name="Recovery frame 4"/>
          <p:cNvSpPr/>
          <p:nvPr/>
        </p:nvSpPr>
        <p:spPr>
          <a:xfrm>
            <a:off x="1938528" y="3877056"/>
            <a:ext cx="8796528" cy="6035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overy heading 4"/>
          <p:cNvSpPr txBox="1"/>
          <p:nvPr/>
        </p:nvSpPr>
        <p:spPr>
          <a:xfrm>
            <a:off x="2139696" y="395935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version gate</a:t>
            </a:r>
          </a:p>
        </p:txBody>
      </p:sp>
      <p:sp>
        <p:nvSpPr>
          <p:cNvPr id="28" name="Recovery body 4"/>
          <p:cNvSpPr txBox="1"/>
          <p:nvPr/>
        </p:nvSpPr>
        <p:spPr>
          <a:xfrm>
            <a:off x="5358384" y="3959352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是 Python 3.11 的 recovery 工具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4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是 Python 3.11 的 recovery 工具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749808" y="1298448"/>
            <a:ext cx="6903720" cy="33284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859536" y="1371600"/>
            <a:ext cx="66842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/ POSIX command ribbon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886968" y="1673351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886968" y="2148839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886968" y="2624328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10" name="Command expected panel"/>
          <p:cNvSpPr/>
          <p:nvPr/>
        </p:nvSpPr>
        <p:spPr>
          <a:xfrm>
            <a:off x="8010144" y="1298448"/>
            <a:ext cx="3291840" cy="33284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mand receipt heading"/>
          <p:cNvSpPr txBox="1"/>
          <p:nvPr/>
        </p:nvSpPr>
        <p:spPr>
          <a:xfrm>
            <a:off x="8229600" y="159105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receipt / purpose</a:t>
            </a:r>
          </a:p>
        </p:txBody>
      </p:sp>
      <p:sp>
        <p:nvSpPr>
          <p:cNvPr id="12" name="Command expected body"/>
          <p:cNvSpPr txBox="1"/>
          <p:nvPr/>
        </p:nvSpPr>
        <p:spPr>
          <a:xfrm>
            <a:off x="8339327" y="2249424"/>
            <a:ext cx="2633472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預期 receipt：PLACEHOLDER｜uv fresh setup 尚未驗證；成功時回傳實際 path。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用 package-local .venv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Get-ChildItem .venv\Scripts\python.exe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.\.venv\Scripts\python.exe --version</a:t>
            </a:r>
          </a:p>
        </p:txBody>
      </p:sp>
      <p:sp>
        <p:nvSpPr>
          <p:cNvPr id="7" name="Environment panel SYSTEM PYTHON"/>
          <p:cNvSpPr/>
          <p:nvPr/>
        </p:nvSpPr>
        <p:spPr>
          <a:xfrm>
            <a:off x="877824" y="1417320"/>
            <a:ext cx="5065776" cy="2194560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nvironment heading SYSTEM PYTHON"/>
          <p:cNvSpPr txBox="1"/>
          <p:nvPr/>
        </p:nvSpPr>
        <p:spPr>
          <a:xfrm>
            <a:off x="1060704" y="1664208"/>
            <a:ext cx="4700016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SYSTEM PYTHON</a:t>
            </a:r>
          </a:p>
        </p:txBody>
      </p:sp>
      <p:sp>
        <p:nvSpPr>
          <p:cNvPr id="9" name="Environment body SYSTEM PYTHON"/>
          <p:cNvSpPr txBox="1"/>
          <p:nvPr/>
        </p:nvSpPr>
        <p:spPr>
          <a:xfrm>
            <a:off x="1115568" y="2340864"/>
            <a:ext cx="459028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other project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shared packages</a:t>
            </a:r>
          </a:p>
        </p:txBody>
      </p:sp>
      <p:sp>
        <p:nvSpPr>
          <p:cNvPr id="10" name="Environment panel PACKAGE .venv"/>
          <p:cNvSpPr/>
          <p:nvPr/>
        </p:nvSpPr>
        <p:spPr>
          <a:xfrm>
            <a:off x="6437376" y="1417320"/>
            <a:ext cx="5065776" cy="219456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nvironment heading PACKAGE .venv"/>
          <p:cNvSpPr txBox="1"/>
          <p:nvPr/>
        </p:nvSpPr>
        <p:spPr>
          <a:xfrm>
            <a:off x="6620256" y="1664208"/>
            <a:ext cx="4700016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PACKAGE .venv</a:t>
            </a:r>
          </a:p>
        </p:txBody>
      </p:sp>
      <p:sp>
        <p:nvSpPr>
          <p:cNvPr id="12" name="Environment body PACKAGE .venv"/>
          <p:cNvSpPr txBox="1"/>
          <p:nvPr/>
        </p:nvSpPr>
        <p:spPr>
          <a:xfrm>
            <a:off x="6675120" y="2340864"/>
            <a:ext cx="459028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package-local lock</a:t>
            </a:r>
          </a:p>
        </p:txBody>
      </p:sp>
      <p:cxnSp>
        <p:nvCxnSpPr>
          <p:cNvPr id="13" name="Environment boundary"/>
          <p:cNvCxnSpPr/>
          <p:nvPr/>
        </p:nvCxnSpPr>
        <p:spPr>
          <a:xfrm>
            <a:off x="5961888" y="2505456"/>
            <a:ext cx="0" cy="896112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nvironment rule"/>
          <p:cNvSpPr txBox="1"/>
          <p:nvPr/>
        </p:nvSpPr>
        <p:spPr>
          <a:xfrm>
            <a:off x="1874519" y="4041648"/>
            <a:ext cx="8449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不要共享 WSL .venv｜正常上課不必 activate，launcher 優先找 package-local venv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執行 setup 與 verify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4" name="Command context frame"/>
          <p:cNvSpPr/>
          <p:nvPr/>
        </p:nvSpPr>
        <p:spPr>
          <a:xfrm>
            <a:off x="749808" y="1298448"/>
            <a:ext cx="5907024" cy="338328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mand context label"/>
          <p:cNvSpPr txBox="1"/>
          <p:nvPr/>
        </p:nvSpPr>
        <p:spPr>
          <a:xfrm>
            <a:off x="859536" y="1371600"/>
            <a:ext cx="568756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/ package root</a:t>
            </a:r>
          </a:p>
        </p:txBody>
      </p:sp>
      <p:sp>
        <p:nvSpPr>
          <p:cNvPr id="6" name="Command line 1"/>
          <p:cNvSpPr txBox="1"/>
          <p:nvPr/>
        </p:nvSpPr>
        <p:spPr>
          <a:xfrm>
            <a:off x="886968" y="1673351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7" name="Command line 2"/>
          <p:cNvSpPr txBox="1"/>
          <p:nvPr/>
        </p:nvSpPr>
        <p:spPr>
          <a:xfrm>
            <a:off x="886968" y="2148839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8" name="Command line 3"/>
          <p:cNvSpPr txBox="1"/>
          <p:nvPr/>
        </p:nvSpPr>
        <p:spPr>
          <a:xfrm>
            <a:off x="886968" y="2624328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cxnSp>
        <p:nvCxnSpPr>
          <p:cNvPr id="9" name="Command to receipt"/>
          <p:cNvCxnSpPr/>
          <p:nvPr/>
        </p:nvCxnSpPr>
        <p:spPr>
          <a:xfrm>
            <a:off x="6821424" y="2971800"/>
            <a:ext cx="512064" cy="0"/>
          </a:xfrm>
          <a:prstGeom prst="line">
            <a:avLst/>
          </a:prstGeom>
          <a:ln w="2286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ady receipt panel"/>
          <p:cNvSpPr/>
          <p:nvPr/>
        </p:nvSpPr>
        <p:spPr>
          <a:xfrm>
            <a:off x="7424927" y="1298448"/>
            <a:ext cx="3877056" cy="338328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ady receipt heading"/>
          <p:cNvSpPr txBox="1"/>
          <p:nvPr/>
        </p:nvSpPr>
        <p:spPr>
          <a:xfrm>
            <a:off x="7626096" y="16002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machine-readable receipt</a:t>
            </a:r>
          </a:p>
        </p:txBody>
      </p:sp>
      <p:sp>
        <p:nvSpPr>
          <p:cNvPr id="12" name="Ready receipt fields"/>
          <p:cNvSpPr txBox="1"/>
          <p:nvPr/>
        </p:nvSpPr>
        <p:spPr>
          <a:xfrm>
            <a:off x="7790688" y="2221992"/>
            <a:ext cx="3163824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3" name="Ready receipt status"/>
          <p:cNvSpPr txBox="1"/>
          <p:nvPr/>
        </p:nvSpPr>
        <p:spPr>
          <a:xfrm>
            <a:off x="7680960" y="39319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目前：READY / PLACEHOLDER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先確認它真的是 Ubuntu shell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4" name="PowerShell WSL panel"/>
          <p:cNvSpPr/>
          <p:nvPr/>
        </p:nvSpPr>
        <p:spPr>
          <a:xfrm>
            <a:off x="768096" y="1261872"/>
            <a:ext cx="5212080" cy="343814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werShell WSL heading"/>
          <p:cNvSpPr txBox="1"/>
          <p:nvPr/>
        </p:nvSpPr>
        <p:spPr>
          <a:xfrm>
            <a:off x="1005840" y="1554480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PowerShell（系統管理員）</a:t>
            </a:r>
          </a:p>
        </p:txBody>
      </p:sp>
      <p:sp>
        <p:nvSpPr>
          <p:cNvPr id="6" name="PowerShell WSL commands"/>
          <p:cNvSpPr txBox="1"/>
          <p:nvPr/>
        </p:nvSpPr>
        <p:spPr>
          <a:xfrm>
            <a:off x="1078992" y="2194560"/>
            <a:ext cx="4590288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--install -d Ubuntu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進入 Ubuntu</a:t>
            </a:r>
          </a:p>
        </p:txBody>
      </p:sp>
      <p:sp>
        <p:nvSpPr>
          <p:cNvPr id="7" name="Ubuntu WSL panel"/>
          <p:cNvSpPr/>
          <p:nvPr/>
        </p:nvSpPr>
        <p:spPr>
          <a:xfrm>
            <a:off x="6217920" y="1261872"/>
            <a:ext cx="5212080" cy="343814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buntu heading"/>
          <p:cNvSpPr txBox="1"/>
          <p:nvPr/>
        </p:nvSpPr>
        <p:spPr>
          <a:xfrm>
            <a:off x="6473952" y="1554480"/>
            <a:ext cx="468172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Ubuntu shell</a:t>
            </a:r>
          </a:p>
        </p:txBody>
      </p:sp>
      <p:sp>
        <p:nvSpPr>
          <p:cNvPr id="9" name="Ubuntu commands"/>
          <p:cNvSpPr txBox="1"/>
          <p:nvPr/>
        </p:nvSpPr>
        <p:spPr>
          <a:xfrm>
            <a:off x="6565392" y="2194560"/>
            <a:ext cx="4517136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Linux home path 才用 setup.sh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安裝工具與 uv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sp>
        <p:nvSpPr>
          <p:cNvPr id="7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</p:txBody>
      </p:sp>
      <p:sp>
        <p:nvSpPr>
          <p:cNvPr id="8" name="Exact command line 4"/>
          <p:cNvSpPr txBox="1"/>
          <p:nvPr/>
        </p:nvSpPr>
        <p:spPr>
          <a:xfrm>
            <a:off x="6144768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--version &amp;&amp; uv python find 3.11</a:t>
            </a:r>
          </a:p>
        </p:txBody>
      </p:sp>
      <p:cxnSp>
        <p:nvCxnSpPr>
          <p:cNvPr id="9" name="Recovery spine"/>
          <p:cNvCxnSpPr/>
          <p:nvPr/>
        </p:nvCxnSpPr>
        <p:spPr>
          <a:xfrm>
            <a:off x="1335024" y="1755648"/>
            <a:ext cx="0" cy="2871216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overy step 1"/>
          <p:cNvSpPr/>
          <p:nvPr/>
        </p:nvSpPr>
        <p:spPr>
          <a:xfrm>
            <a:off x="1078992" y="166420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very number 1"/>
          <p:cNvSpPr txBox="1"/>
          <p:nvPr/>
        </p:nvSpPr>
        <p:spPr>
          <a:xfrm>
            <a:off x="1078992" y="1746504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2" name="Recovery frame 1"/>
          <p:cNvSpPr/>
          <p:nvPr/>
        </p:nvSpPr>
        <p:spPr>
          <a:xfrm>
            <a:off x="1938528" y="1627632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overy heading 1"/>
          <p:cNvSpPr txBox="1"/>
          <p:nvPr/>
        </p:nvSpPr>
        <p:spPr>
          <a:xfrm>
            <a:off x="2139696" y="1709928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official installer / uv</a:t>
            </a:r>
          </a:p>
        </p:txBody>
      </p:sp>
      <p:sp>
        <p:nvSpPr>
          <p:cNvPr id="14" name="Recovery body 1"/>
          <p:cNvSpPr txBox="1"/>
          <p:nvPr/>
        </p:nvSpPr>
        <p:spPr>
          <a:xfrm>
            <a:off x="5358384" y="1709928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取得 Python 3.11.x</a:t>
            </a:r>
          </a:p>
        </p:txBody>
      </p:sp>
      <p:sp>
        <p:nvSpPr>
          <p:cNvPr id="15" name="Recovery step 2"/>
          <p:cNvSpPr/>
          <p:nvPr/>
        </p:nvSpPr>
        <p:spPr>
          <a:xfrm>
            <a:off x="1078992" y="2414016"/>
            <a:ext cx="512064" cy="512064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overy number 2"/>
          <p:cNvSpPr txBox="1"/>
          <p:nvPr/>
        </p:nvSpPr>
        <p:spPr>
          <a:xfrm>
            <a:off x="1078992" y="2496312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7" name="Recovery frame 2"/>
          <p:cNvSpPr/>
          <p:nvPr/>
        </p:nvSpPr>
        <p:spPr>
          <a:xfrm>
            <a:off x="1938528" y="2377440"/>
            <a:ext cx="8796528" cy="603504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overy heading 2"/>
          <p:cNvSpPr txBox="1"/>
          <p:nvPr/>
        </p:nvSpPr>
        <p:spPr>
          <a:xfrm>
            <a:off x="2139696" y="2459736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Python Launcher</a:t>
            </a:r>
          </a:p>
        </p:txBody>
      </p:sp>
      <p:sp>
        <p:nvSpPr>
          <p:cNvPr id="19" name="Recovery body 2"/>
          <p:cNvSpPr txBox="1"/>
          <p:nvPr/>
        </p:nvSpPr>
        <p:spPr>
          <a:xfrm>
            <a:off x="5358384" y="2459736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py --list</a:t>
            </a:r>
          </a:p>
        </p:txBody>
      </p:sp>
      <p:sp>
        <p:nvSpPr>
          <p:cNvPr id="20" name="Recovery step 3"/>
          <p:cNvSpPr/>
          <p:nvPr/>
        </p:nvSpPr>
        <p:spPr>
          <a:xfrm>
            <a:off x="1078992" y="3163824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overy number 3"/>
          <p:cNvSpPr txBox="1"/>
          <p:nvPr/>
        </p:nvSpPr>
        <p:spPr>
          <a:xfrm>
            <a:off x="1078992" y="3246120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2" name="Recovery frame 3"/>
          <p:cNvSpPr/>
          <p:nvPr/>
        </p:nvSpPr>
        <p:spPr>
          <a:xfrm>
            <a:off x="1938528" y="3127248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overy heading 3"/>
          <p:cNvSpPr txBox="1"/>
          <p:nvPr/>
        </p:nvSpPr>
        <p:spPr>
          <a:xfrm>
            <a:off x="2139696" y="3209544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reopen shell</a:t>
            </a:r>
          </a:p>
        </p:txBody>
      </p:sp>
      <p:sp>
        <p:nvSpPr>
          <p:cNvPr id="24" name="Recovery body 3"/>
          <p:cNvSpPr txBox="1"/>
          <p:nvPr/>
        </p:nvSpPr>
        <p:spPr>
          <a:xfrm>
            <a:off x="5358384" y="3209544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清掉舊 PATH 狀態</a:t>
            </a:r>
          </a:p>
        </p:txBody>
      </p:sp>
      <p:sp>
        <p:nvSpPr>
          <p:cNvPr id="25" name="Recovery step 4"/>
          <p:cNvSpPr/>
          <p:nvPr/>
        </p:nvSpPr>
        <p:spPr>
          <a:xfrm>
            <a:off x="1078992" y="3913632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overy number 4"/>
          <p:cNvSpPr txBox="1"/>
          <p:nvPr/>
        </p:nvSpPr>
        <p:spPr>
          <a:xfrm>
            <a:off x="1078992" y="3995928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7" name="Recovery frame 4"/>
          <p:cNvSpPr/>
          <p:nvPr/>
        </p:nvSpPr>
        <p:spPr>
          <a:xfrm>
            <a:off x="1938528" y="3877056"/>
            <a:ext cx="8796528" cy="6035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overy heading 4"/>
          <p:cNvSpPr txBox="1"/>
          <p:nvPr/>
        </p:nvSpPr>
        <p:spPr>
          <a:xfrm>
            <a:off x="2139696" y="395935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version gate</a:t>
            </a:r>
          </a:p>
        </p:txBody>
      </p:sp>
      <p:sp>
        <p:nvSpPr>
          <p:cNvPr id="29" name="Recovery body 4"/>
          <p:cNvSpPr txBox="1"/>
          <p:nvPr/>
        </p:nvSpPr>
        <p:spPr>
          <a:xfrm>
            <a:off x="5358384" y="3959352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解壓與建立 .venv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8138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/mnt/c/.../lora-energy-lab-v1.zip ~/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7" name="Exact command line 3"/>
          <p:cNvSpPr txBox="1"/>
          <p:nvPr/>
        </p:nvSpPr>
        <p:spPr>
          <a:xfrm>
            <a:off x="822960" y="14447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8" name="Exact command line 4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9" name="Exact command line 5"/>
          <p:cNvSpPr txBox="1"/>
          <p:nvPr/>
        </p:nvSpPr>
        <p:spPr>
          <a:xfrm>
            <a:off x="6144768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0" name="Path node Windows Downloads"/>
          <p:cNvSpPr/>
          <p:nvPr/>
        </p:nvSpPr>
        <p:spPr>
          <a:xfrm>
            <a:off x="749808" y="1810512"/>
            <a:ext cx="2395728" cy="14996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th heading Windows Downloads"/>
          <p:cNvSpPr txBox="1"/>
          <p:nvPr/>
        </p:nvSpPr>
        <p:spPr>
          <a:xfrm>
            <a:off x="859536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Downloads</a:t>
            </a:r>
          </a:p>
        </p:txBody>
      </p:sp>
      <p:sp>
        <p:nvSpPr>
          <p:cNvPr id="12" name="Path body Windows Downloads"/>
          <p:cNvSpPr txBox="1"/>
          <p:nvPr/>
        </p:nvSpPr>
        <p:spPr>
          <a:xfrm>
            <a:off x="877824" y="2560320"/>
            <a:ext cx="213969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/mnt/c/Users/&lt;YourName&gt;/Downloads/</a:t>
            </a:r>
          </a:p>
        </p:txBody>
      </p:sp>
      <p:cxnSp>
        <p:nvCxnSpPr>
          <p:cNvPr id="13" name="Path arrow"/>
          <p:cNvCxnSpPr/>
          <p:nvPr/>
        </p:nvCxnSpPr>
        <p:spPr>
          <a:xfrm>
            <a:off x="3145536" y="2560320"/>
            <a:ext cx="420624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th node WSL Linux home"/>
          <p:cNvSpPr/>
          <p:nvPr/>
        </p:nvSpPr>
        <p:spPr>
          <a:xfrm>
            <a:off x="3566160" y="1810512"/>
            <a:ext cx="2395728" cy="1499616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th heading WSL Linux home"/>
          <p:cNvSpPr txBox="1"/>
          <p:nvPr/>
        </p:nvSpPr>
        <p:spPr>
          <a:xfrm>
            <a:off x="3675887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WSL Linux home</a:t>
            </a:r>
          </a:p>
        </p:txBody>
      </p:sp>
      <p:sp>
        <p:nvSpPr>
          <p:cNvPr id="16" name="Path body WSL Linux home"/>
          <p:cNvSpPr txBox="1"/>
          <p:nvPr/>
        </p:nvSpPr>
        <p:spPr>
          <a:xfrm>
            <a:off x="3694176" y="2560320"/>
            <a:ext cx="213969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~/lora-course/</a:t>
            </a:r>
          </a:p>
        </p:txBody>
      </p:sp>
      <p:cxnSp>
        <p:nvCxnSpPr>
          <p:cNvPr id="17" name="Path arrow"/>
          <p:cNvCxnSpPr/>
          <p:nvPr/>
        </p:nvCxnSpPr>
        <p:spPr>
          <a:xfrm>
            <a:off x="5961888" y="2560320"/>
            <a:ext cx="420624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ath node package root"/>
          <p:cNvSpPr/>
          <p:nvPr/>
        </p:nvSpPr>
        <p:spPr>
          <a:xfrm>
            <a:off x="6382512" y="1810512"/>
            <a:ext cx="2395728" cy="1499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th heading package root"/>
          <p:cNvSpPr txBox="1"/>
          <p:nvPr/>
        </p:nvSpPr>
        <p:spPr>
          <a:xfrm>
            <a:off x="6492240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</a:t>
            </a:r>
          </a:p>
        </p:txBody>
      </p:sp>
      <p:sp>
        <p:nvSpPr>
          <p:cNvPr id="20" name="Path body package root"/>
          <p:cNvSpPr txBox="1"/>
          <p:nvPr/>
        </p:nvSpPr>
        <p:spPr>
          <a:xfrm>
            <a:off x="6510528" y="2560320"/>
            <a:ext cx="213969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cxnSp>
        <p:nvCxnSpPr>
          <p:cNvPr id="21" name="Path arrow"/>
          <p:cNvCxnSpPr/>
          <p:nvPr/>
        </p:nvCxnSpPr>
        <p:spPr>
          <a:xfrm>
            <a:off x="8778240" y="2560320"/>
            <a:ext cx="420624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ath node local venv"/>
          <p:cNvSpPr/>
          <p:nvPr/>
        </p:nvSpPr>
        <p:spPr>
          <a:xfrm>
            <a:off x="9198864" y="1810512"/>
            <a:ext cx="2395728" cy="14996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th heading local venv"/>
          <p:cNvSpPr txBox="1"/>
          <p:nvPr/>
        </p:nvSpPr>
        <p:spPr>
          <a:xfrm>
            <a:off x="9308592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local venv</a:t>
            </a:r>
          </a:p>
        </p:txBody>
      </p:sp>
      <p:sp>
        <p:nvSpPr>
          <p:cNvPr id="24" name="Path body local venv"/>
          <p:cNvSpPr txBox="1"/>
          <p:nvPr/>
        </p:nvSpPr>
        <p:spPr>
          <a:xfrm>
            <a:off x="9326880" y="2560320"/>
            <a:ext cx="213969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</a:t>
            </a:r>
          </a:p>
        </p:txBody>
      </p:sp>
      <p:sp>
        <p:nvSpPr>
          <p:cNvPr id="25" name="Path command"/>
          <p:cNvSpPr txBox="1"/>
          <p:nvPr/>
        </p:nvSpPr>
        <p:spPr>
          <a:xfrm>
            <a:off x="914400" y="3730752"/>
            <a:ext cx="1033272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專用 .venv/bin/python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不要把 Windows 既有 venv 帶進 WSL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 runner 的最小入口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4" name="Command context frame"/>
          <p:cNvSpPr/>
          <p:nvPr/>
        </p:nvSpPr>
        <p:spPr>
          <a:xfrm>
            <a:off x="749808" y="1298448"/>
            <a:ext cx="6903720" cy="33284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mand context label"/>
          <p:cNvSpPr txBox="1"/>
          <p:nvPr/>
        </p:nvSpPr>
        <p:spPr>
          <a:xfrm>
            <a:off x="859536" y="1371600"/>
            <a:ext cx="66842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/ POSIX command ribbon</a:t>
            </a:r>
          </a:p>
        </p:txBody>
      </p:sp>
      <p:sp>
        <p:nvSpPr>
          <p:cNvPr id="6" name="Command line 1"/>
          <p:cNvSpPr txBox="1"/>
          <p:nvPr/>
        </p:nvSpPr>
        <p:spPr>
          <a:xfrm>
            <a:off x="886968" y="1673351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7" name="Command line 2"/>
          <p:cNvSpPr txBox="1"/>
          <p:nvPr/>
        </p:nvSpPr>
        <p:spPr>
          <a:xfrm>
            <a:off x="886968" y="2148839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8" name="Command expected panel"/>
          <p:cNvSpPr/>
          <p:nvPr/>
        </p:nvSpPr>
        <p:spPr>
          <a:xfrm>
            <a:off x="8010144" y="1298448"/>
            <a:ext cx="3291840" cy="33284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receipt heading"/>
          <p:cNvSpPr txBox="1"/>
          <p:nvPr/>
        </p:nvSpPr>
        <p:spPr>
          <a:xfrm>
            <a:off x="8229600" y="159105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receipt / purpose</a:t>
            </a:r>
          </a:p>
        </p:txBody>
      </p:sp>
      <p:sp>
        <p:nvSpPr>
          <p:cNvPr id="10" name="Command expected body"/>
          <p:cNvSpPr txBox="1"/>
          <p:nvPr/>
        </p:nvSpPr>
        <p:spPr>
          <a:xfrm>
            <a:off x="8339327" y="2249424"/>
            <a:ext cx="2633472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預期 receipt：PLACEHOLDER｜POSIX clean run 尚未驗證；成功時回 READY。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READY receipt 是下一步的入場券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Windows：.\course.cmd verify</a:t>
            </a:r>
          </a:p>
        </p:txBody>
      </p:sp>
      <p:sp>
        <p:nvSpPr>
          <p:cNvPr id="7" name="Receipt anatomy"/>
          <p:cNvSpPr/>
          <p:nvPr/>
        </p:nvSpPr>
        <p:spPr>
          <a:xfrm>
            <a:off x="1417320" y="1481328"/>
            <a:ext cx="9381744" cy="323697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eipt key status"/>
          <p:cNvSpPr txBox="1"/>
          <p:nvPr/>
        </p:nvSpPr>
        <p:spPr>
          <a:xfrm>
            <a:off x="1828800" y="17556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status</a:t>
            </a:r>
          </a:p>
        </p:txBody>
      </p:sp>
      <p:sp>
        <p:nvSpPr>
          <p:cNvPr id="9" name="Receipt value status"/>
          <p:cNvSpPr txBox="1"/>
          <p:nvPr/>
        </p:nvSpPr>
        <p:spPr>
          <a:xfrm>
            <a:off x="5120640" y="1755648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/ PLACEHOLDER</a:t>
            </a:r>
          </a:p>
        </p:txBody>
      </p:sp>
      <p:sp>
        <p:nvSpPr>
          <p:cNvPr id="10" name="Receipt key Python"/>
          <p:cNvSpPr txBox="1"/>
          <p:nvPr/>
        </p:nvSpPr>
        <p:spPr>
          <a:xfrm>
            <a:off x="1828800" y="2286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</a:t>
            </a:r>
          </a:p>
        </p:txBody>
      </p:sp>
      <p:sp>
        <p:nvSpPr>
          <p:cNvPr id="11" name="Receipt value Python"/>
          <p:cNvSpPr txBox="1"/>
          <p:nvPr/>
        </p:nvSpPr>
        <p:spPr>
          <a:xfrm>
            <a:off x="5120640" y="2286000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3.11.9</a:t>
            </a:r>
          </a:p>
        </p:txBody>
      </p:sp>
      <p:sp>
        <p:nvSpPr>
          <p:cNvPr id="12" name="Receipt key scenario_id"/>
          <p:cNvSpPr txBox="1"/>
          <p:nvPr/>
        </p:nvSpPr>
        <p:spPr>
          <a:xfrm>
            <a:off x="182880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3" name="Receipt value scenario_id"/>
          <p:cNvSpPr txBox="1"/>
          <p:nvPr/>
        </p:nvSpPr>
        <p:spPr>
          <a:xfrm>
            <a:off x="5120640" y="2816352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</p:txBody>
      </p:sp>
      <p:sp>
        <p:nvSpPr>
          <p:cNvPr id="14" name="Receipt key policy_api_version"/>
          <p:cNvSpPr txBox="1"/>
          <p:nvPr/>
        </p:nvSpPr>
        <p:spPr>
          <a:xfrm>
            <a:off x="1828800" y="3346703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5" name="Receipt value policy_api_version"/>
          <p:cNvSpPr txBox="1"/>
          <p:nvPr/>
        </p:nvSpPr>
        <p:spPr>
          <a:xfrm>
            <a:off x="5120640" y="3346703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lora-energy-policy-v1</a:t>
            </a:r>
          </a:p>
        </p:txBody>
      </p:sp>
      <p:sp>
        <p:nvSpPr>
          <p:cNvPr id="16" name="Receipt key engine_mode"/>
          <p:cNvSpPr txBox="1"/>
          <p:nvPr/>
        </p:nvSpPr>
        <p:spPr>
          <a:xfrm>
            <a:off x="1828800" y="387705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engine_mode</a:t>
            </a:r>
          </a:p>
        </p:txBody>
      </p:sp>
      <p:sp>
        <p:nvSpPr>
          <p:cNvPr id="17" name="Receipt value engine_mode"/>
          <p:cNvSpPr txBox="1"/>
          <p:nvPr/>
        </p:nvSpPr>
        <p:spPr>
          <a:xfrm>
            <a:off x="5120640" y="3877056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</p:txBody>
      </p:sp>
      <p:sp>
        <p:nvSpPr>
          <p:cNvPr id="18" name="Current identity receipt"/>
          <p:cNvSpPr/>
          <p:nvPr/>
        </p:nvSpPr>
        <p:spPr>
          <a:xfrm>
            <a:off x="658368" y="4754880"/>
            <a:ext cx="10881360" cy="106070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cenario hash receipt"/>
          <p:cNvSpPr txBox="1"/>
          <p:nvPr/>
        </p:nvSpPr>
        <p:spPr>
          <a:xfrm>
            <a:off x="841248" y="4828032"/>
            <a:ext cx="523036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scenario_sha256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c157c76ed283074cdd17c1b689b83e168022abd2ca6ef8d9c337e69ab31a6593</a:t>
            </a:r>
          </a:p>
        </p:txBody>
      </p:sp>
      <p:sp>
        <p:nvSpPr>
          <p:cNvPr id="20" name="Scenario anchor receipt"/>
          <p:cNvSpPr txBox="1"/>
          <p:nvPr/>
        </p:nvSpPr>
        <p:spPr>
          <a:xfrm>
            <a:off x="6181344" y="4828032"/>
            <a:ext cx="5138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scenario_anchor_sha256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cfe84682a71c0c0ea09c273d4cd033c32818da63cf1695ace4363b9d789c50f9</a:t>
            </a:r>
          </a:p>
        </p:txBody>
      </p:sp>
      <p:sp>
        <p:nvSpPr>
          <p:cNvPr id="21" name="Lock receipt"/>
          <p:cNvSpPr txBox="1"/>
          <p:nvPr/>
        </p:nvSpPr>
        <p:spPr>
          <a:xfrm>
            <a:off x="841248" y="5285232"/>
            <a:ext cx="523036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lock_sha256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f1d1fe3339137d56e4e9ea9d141b764eaa183a8f40933bad597d734bbf310197</a:t>
            </a:r>
          </a:p>
        </p:txBody>
      </p:sp>
      <p:sp>
        <p:nvSpPr>
          <p:cNvPr id="22" name="Baseline policy receipt"/>
          <p:cNvSpPr txBox="1"/>
          <p:nvPr/>
        </p:nvSpPr>
        <p:spPr>
          <a:xfrm>
            <a:off x="6181344" y="5285232"/>
            <a:ext cx="5138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baseline_policy_sha256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9917d2cde2e8c0eae8339b7eea2e358bf8577b4eb6aaf1e928674f6b8964ef68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失敗不等於 energy result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失敗不等於 energy result</a:t>
            </a:r>
          </a:p>
        </p:txBody>
      </p:sp>
      <p:sp>
        <p:nvSpPr>
          <p:cNvPr id="5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7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失敗時：保留原始 stdout / stderr</a:t>
            </a:r>
          </a:p>
        </p:txBody>
      </p:sp>
      <p:sp>
        <p:nvSpPr>
          <p:cNvPr id="8" name="Fork input"/>
          <p:cNvSpPr/>
          <p:nvPr/>
        </p:nvSpPr>
        <p:spPr>
          <a:xfrm>
            <a:off x="5468112" y="1389888"/>
            <a:ext cx="987552" cy="9875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rk input label"/>
          <p:cNvSpPr txBox="1"/>
          <p:nvPr/>
        </p:nvSpPr>
        <p:spPr>
          <a:xfrm>
            <a:off x="5029200" y="168249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verify</a:t>
            </a:r>
          </a:p>
        </p:txBody>
      </p:sp>
      <p:cxnSp>
        <p:nvCxnSpPr>
          <p:cNvPr id="10" name="Fork ready arrow"/>
          <p:cNvCxnSpPr/>
          <p:nvPr/>
        </p:nvCxnSpPr>
        <p:spPr>
          <a:xfrm flipH="1">
            <a:off x="2999232" y="2377440"/>
            <a:ext cx="2962656" cy="59436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ork error arrow"/>
          <p:cNvCxnSpPr/>
          <p:nvPr/>
        </p:nvCxnSpPr>
        <p:spPr>
          <a:xfrm>
            <a:off x="5961888" y="2377440"/>
            <a:ext cx="2962656" cy="594360"/>
          </a:xfrm>
          <a:prstGeom prst="line">
            <a:avLst/>
          </a:prstGeom>
          <a:ln w="2159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ork panel READY"/>
          <p:cNvSpPr/>
          <p:nvPr/>
        </p:nvSpPr>
        <p:spPr>
          <a:xfrm>
            <a:off x="960120" y="2971800"/>
            <a:ext cx="4443984" cy="146304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ork heading READY"/>
          <p:cNvSpPr txBox="1"/>
          <p:nvPr/>
        </p:nvSpPr>
        <p:spPr>
          <a:xfrm>
            <a:off x="1124712" y="32186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4" name="Fork body READY"/>
          <p:cNvSpPr txBox="1"/>
          <p:nvPr/>
        </p:nvSpPr>
        <p:spPr>
          <a:xfrm>
            <a:off x="1216152" y="3767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進入 runner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保留同一 identity</a:t>
            </a:r>
          </a:p>
        </p:txBody>
      </p:sp>
      <p:sp>
        <p:nvSpPr>
          <p:cNvPr id="15" name="Fork panel RECOVERABLE ERROR"/>
          <p:cNvSpPr/>
          <p:nvPr/>
        </p:nvSpPr>
        <p:spPr>
          <a:xfrm>
            <a:off x="6876288" y="2971800"/>
            <a:ext cx="4443984" cy="1463040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ork heading RECOVERABLE ERROR"/>
          <p:cNvSpPr txBox="1"/>
          <p:nvPr/>
        </p:nvSpPr>
        <p:spPr>
          <a:xfrm>
            <a:off x="7040879" y="32186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RECOVERABLE ERROR</a:t>
            </a:r>
          </a:p>
        </p:txBody>
      </p:sp>
      <p:sp>
        <p:nvSpPr>
          <p:cNvPr id="17" name="Fork body RECOVERABLE ERROR"/>
          <p:cNvSpPr txBox="1"/>
          <p:nvPr/>
        </p:nvSpPr>
        <p:spPr>
          <a:xfrm>
            <a:off x="7132320" y="3767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stdout / stderr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修最小邊界或 fallback</a:t>
            </a:r>
          </a:p>
        </p:txBody>
      </p:sp>
      <p:sp>
        <p:nvSpPr>
          <p:cNvPr id="18" name="Fork boundary"/>
          <p:cNvSpPr txBox="1"/>
          <p:nvPr/>
        </p:nvSpPr>
        <p:spPr>
          <a:xfrm>
            <a:off x="1865376" y="4791456"/>
            <a:ext cx="844905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fallback 保留相同學習問題，但不冒充本機 policy execution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POSIX：sed -n '1,220p'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Windows：Get-Content .\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git diff --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8" name="Guarded file"/>
          <p:cNvSpPr/>
          <p:nvPr/>
        </p:nvSpPr>
        <p:spPr>
          <a:xfrm>
            <a:off x="804672" y="1609344"/>
            <a:ext cx="4663440" cy="299923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uarded filename"/>
          <p:cNvSpPr txBox="1"/>
          <p:nvPr/>
        </p:nvSpPr>
        <p:spPr>
          <a:xfrm>
            <a:off x="1024128" y="1874519"/>
            <a:ext cx="422452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0" name="Guarded block"/>
          <p:cNvSpPr txBox="1"/>
          <p:nvPr/>
        </p:nvSpPr>
        <p:spPr>
          <a:xfrm>
            <a:off x="1170432" y="2578608"/>
            <a:ext cx="3931920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只改這裡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sp>
        <p:nvSpPr>
          <p:cNvPr id="11" name="Read-only lock scenario"/>
          <p:cNvSpPr/>
          <p:nvPr/>
        </p:nvSpPr>
        <p:spPr>
          <a:xfrm>
            <a:off x="6016752" y="170078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ad-only label scenario"/>
          <p:cNvSpPr txBox="1"/>
          <p:nvPr/>
        </p:nvSpPr>
        <p:spPr>
          <a:xfrm>
            <a:off x="6089904" y="188366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scenario</a:t>
            </a:r>
          </a:p>
        </p:txBody>
      </p:sp>
      <p:sp>
        <p:nvSpPr>
          <p:cNvPr id="13" name="Read-only lock schemas"/>
          <p:cNvSpPr/>
          <p:nvPr/>
        </p:nvSpPr>
        <p:spPr>
          <a:xfrm>
            <a:off x="8686800" y="170078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-only label schemas"/>
          <p:cNvSpPr txBox="1"/>
          <p:nvPr/>
        </p:nvSpPr>
        <p:spPr>
          <a:xfrm>
            <a:off x="8759952" y="188366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schemas</a:t>
            </a:r>
          </a:p>
        </p:txBody>
      </p:sp>
      <p:sp>
        <p:nvSpPr>
          <p:cNvPr id="15" name="Read-only lock runner"/>
          <p:cNvSpPr/>
          <p:nvPr/>
        </p:nvSpPr>
        <p:spPr>
          <a:xfrm>
            <a:off x="6016752" y="298094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-only label runner"/>
          <p:cNvSpPr txBox="1"/>
          <p:nvPr/>
        </p:nvSpPr>
        <p:spPr>
          <a:xfrm>
            <a:off x="6089904" y="316382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runner</a:t>
            </a:r>
          </a:p>
        </p:txBody>
      </p:sp>
      <p:sp>
        <p:nvSpPr>
          <p:cNvPr id="17" name="Read-only lock generated JSON"/>
          <p:cNvSpPr/>
          <p:nvPr/>
        </p:nvSpPr>
        <p:spPr>
          <a:xfrm>
            <a:off x="8686800" y="298094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d-only label generated JSON"/>
          <p:cNvSpPr txBox="1"/>
          <p:nvPr/>
        </p:nvSpPr>
        <p:spPr>
          <a:xfrm>
            <a:off x="8759952" y="316382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generated JSON</a:t>
            </a:r>
          </a:p>
        </p:txBody>
      </p:sp>
      <p:sp>
        <p:nvSpPr>
          <p:cNvPr id="19" name="Guard stop rule"/>
          <p:cNvSpPr txBox="1"/>
          <p:nvPr/>
        </p:nvSpPr>
        <p:spPr>
          <a:xfrm>
            <a:off x="6053328" y="4462272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沒有 consequential diff → 停在 gate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API 的輸入是現在能觀察到的事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Windows：.\course.cmd verify</a:t>
            </a:r>
          </a:p>
        </p:txBody>
      </p:sp>
      <p:sp>
        <p:nvSpPr>
          <p:cNvPr id="7" name="Observation input"/>
          <p:cNvSpPr/>
          <p:nvPr/>
        </p:nvSpPr>
        <p:spPr>
          <a:xfrm>
            <a:off x="804672" y="1499616"/>
            <a:ext cx="4279392" cy="24323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bservation heading"/>
          <p:cNvSpPr txBox="1"/>
          <p:nvPr/>
        </p:nvSpPr>
        <p:spPr>
          <a:xfrm>
            <a:off x="1024128" y="17556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9" name="Observation body"/>
          <p:cNvSpPr txBox="1"/>
          <p:nvPr/>
        </p:nvSpPr>
        <p:spPr>
          <a:xfrm>
            <a:off x="1115568" y="2432304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當下允許讀取的狀態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/ queue / window</a:t>
            </a:r>
          </a:p>
        </p:txBody>
      </p:sp>
      <p:cxnSp>
        <p:nvCxnSpPr>
          <p:cNvPr id="10" name="Observation to action"/>
          <p:cNvCxnSpPr/>
          <p:nvPr/>
        </p:nvCxnSpPr>
        <p:spPr>
          <a:xfrm>
            <a:off x="5138928" y="2706624"/>
            <a:ext cx="1792224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gal action output"/>
          <p:cNvSpPr/>
          <p:nvPr/>
        </p:nvSpPr>
        <p:spPr>
          <a:xfrm>
            <a:off x="7095744" y="1499616"/>
            <a:ext cx="4279392" cy="24323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ction heading"/>
          <p:cNvSpPr txBox="1"/>
          <p:nvPr/>
        </p:nvSpPr>
        <p:spPr>
          <a:xfrm>
            <a:off x="7315200" y="17556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sp>
        <p:nvSpPr>
          <p:cNvPr id="13" name="Action body"/>
          <p:cNvSpPr txBox="1"/>
          <p:nvPr/>
        </p:nvSpPr>
        <p:spPr>
          <a:xfrm>
            <a:off x="7370064" y="2359152"/>
            <a:ext cx="373075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 / 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 / 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</a:p>
        </p:txBody>
      </p:sp>
      <p:sp>
        <p:nvSpPr>
          <p:cNvPr id="14" name="IO guard"/>
          <p:cNvSpPr txBox="1"/>
          <p:nvPr/>
        </p:nvSpPr>
        <p:spPr>
          <a:xfrm>
            <a:off x="1170432" y="4370832"/>
            <a:ext cx="9802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不能偷看 future quality、future energy 或 result summary；契約外 action 要 fail closed。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survival：常數是受控旋鈕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grep -n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7" name="Python constants code"/>
          <p:cNvSpPr/>
          <p:nvPr/>
        </p:nvSpPr>
        <p:spPr>
          <a:xfrm>
            <a:off x="786384" y="1353312"/>
            <a:ext cx="6858000" cy="338328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ython code heading"/>
          <p:cNvSpPr txBox="1"/>
          <p:nvPr/>
        </p:nvSpPr>
        <p:spPr>
          <a:xfrm>
            <a:off x="1024128" y="1627632"/>
            <a:ext cx="638251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｜marked constants</a:t>
            </a:r>
          </a:p>
        </p:txBody>
      </p:sp>
      <p:sp>
        <p:nvSpPr>
          <p:cNvPr id="9" name="Python constants"/>
          <p:cNvSpPr txBox="1"/>
          <p:nvPr/>
        </p:nvSpPr>
        <p:spPr>
          <a:xfrm>
            <a:off x="1097280" y="2212848"/>
            <a:ext cx="6254496" cy="16642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WAIT / SLEEP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</p:txBody>
      </p:sp>
      <p:sp>
        <p:nvSpPr>
          <p:cNvPr id="10" name="Bounded range guard"/>
          <p:cNvSpPr/>
          <p:nvPr/>
        </p:nvSpPr>
        <p:spPr>
          <a:xfrm>
            <a:off x="8028431" y="1353312"/>
            <a:ext cx="3255264" cy="3383280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unded heading"/>
          <p:cNvSpPr txBox="1"/>
          <p:nvPr/>
        </p:nvSpPr>
        <p:spPr>
          <a:xfrm>
            <a:off x="8266175" y="1627632"/>
            <a:ext cx="27797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bounded values only</a:t>
            </a:r>
          </a:p>
        </p:txBody>
      </p:sp>
      <p:sp>
        <p:nvSpPr>
          <p:cNvPr id="12" name="Bounded body"/>
          <p:cNvSpPr txBox="1"/>
          <p:nvPr/>
        </p:nvSpPr>
        <p:spPr>
          <a:xfrm>
            <a:off x="8394192" y="2322576"/>
            <a:ext cx="252374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先預測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只改一個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保留小 diff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survival：條件只處理當前 observation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POSIX：grep -n 'def choose_action'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7" name="Observation condition"/>
          <p:cNvSpPr/>
          <p:nvPr/>
        </p:nvSpPr>
        <p:spPr>
          <a:xfrm>
            <a:off x="4315968" y="1298448"/>
            <a:ext cx="3547872" cy="84124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dition heading"/>
          <p:cNvSpPr txBox="1"/>
          <p:nvPr/>
        </p:nvSpPr>
        <p:spPr>
          <a:xfrm>
            <a:off x="4480560" y="1536192"/>
            <a:ext cx="32186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現在看到的 condition</a:t>
            </a:r>
          </a:p>
        </p:txBody>
      </p:sp>
      <p:cxnSp>
        <p:nvCxnSpPr>
          <p:cNvPr id="9" name="Branch arrow 0"/>
          <p:cNvCxnSpPr/>
          <p:nvPr/>
        </p:nvCxnSpPr>
        <p:spPr>
          <a:xfrm flipH="1">
            <a:off x="2304288" y="2139696"/>
            <a:ext cx="3785616" cy="621792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ranch panel if"/>
          <p:cNvSpPr/>
          <p:nvPr/>
        </p:nvSpPr>
        <p:spPr>
          <a:xfrm>
            <a:off x="932688" y="2761488"/>
            <a:ext cx="2743200" cy="129844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ranch heading if"/>
          <p:cNvSpPr txBox="1"/>
          <p:nvPr/>
        </p:nvSpPr>
        <p:spPr>
          <a:xfrm>
            <a:off x="1060704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if</a:t>
            </a:r>
          </a:p>
        </p:txBody>
      </p:sp>
      <p:sp>
        <p:nvSpPr>
          <p:cNvPr id="12" name="Branch body if"/>
          <p:cNvSpPr txBox="1"/>
          <p:nvPr/>
        </p:nvSpPr>
        <p:spPr>
          <a:xfrm>
            <a:off x="1097280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 / SLEEP</a:t>
            </a:r>
          </a:p>
        </p:txBody>
      </p:sp>
      <p:cxnSp>
        <p:nvCxnSpPr>
          <p:cNvPr id="13" name="Branch arrow 1"/>
          <p:cNvCxnSpPr/>
          <p:nvPr/>
        </p:nvCxnSpPr>
        <p:spPr>
          <a:xfrm flipH="1">
            <a:off x="5687568" y="2139696"/>
            <a:ext cx="402336" cy="621792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ranch panel elif"/>
          <p:cNvSpPr/>
          <p:nvPr/>
        </p:nvSpPr>
        <p:spPr>
          <a:xfrm>
            <a:off x="4315968" y="2761488"/>
            <a:ext cx="2743200" cy="1298448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ranch heading elif"/>
          <p:cNvSpPr txBox="1"/>
          <p:nvPr/>
        </p:nvSpPr>
        <p:spPr>
          <a:xfrm>
            <a:off x="4443983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elif</a:t>
            </a:r>
          </a:p>
        </p:txBody>
      </p:sp>
      <p:sp>
        <p:nvSpPr>
          <p:cNvPr id="16" name="Branch body elif"/>
          <p:cNvSpPr txBox="1"/>
          <p:nvPr/>
        </p:nvSpPr>
        <p:spPr>
          <a:xfrm>
            <a:off x="4480559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</a:t>
            </a:r>
          </a:p>
        </p:txBody>
      </p:sp>
      <p:cxnSp>
        <p:nvCxnSpPr>
          <p:cNvPr id="17" name="Branch arrow 2"/>
          <p:cNvCxnSpPr/>
          <p:nvPr/>
        </p:nvCxnSpPr>
        <p:spPr>
          <a:xfrm>
            <a:off x="6089904" y="2139696"/>
            <a:ext cx="2980944" cy="621792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ranch panel else"/>
          <p:cNvSpPr/>
          <p:nvPr/>
        </p:nvSpPr>
        <p:spPr>
          <a:xfrm>
            <a:off x="7699248" y="2761488"/>
            <a:ext cx="2743200" cy="129844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ranch heading else"/>
          <p:cNvSpPr txBox="1"/>
          <p:nvPr/>
        </p:nvSpPr>
        <p:spPr>
          <a:xfrm>
            <a:off x="7827264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else</a:t>
            </a:r>
          </a:p>
        </p:txBody>
      </p:sp>
      <p:sp>
        <p:nvSpPr>
          <p:cNvPr id="20" name="Branch body else"/>
          <p:cNvSpPr txBox="1"/>
          <p:nvPr/>
        </p:nvSpPr>
        <p:spPr>
          <a:xfrm>
            <a:off x="7863840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21" name="Branch guard"/>
          <p:cNvSpPr txBox="1"/>
          <p:nvPr/>
        </p:nvSpPr>
        <p:spPr>
          <a:xfrm>
            <a:off x="1261872" y="4590288"/>
            <a:ext cx="952804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每條分支只回傳一個 legal action；不要讀 future outcome。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survival：縮排與 return</a:t>
            </a:r>
          </a:p>
        </p:txBody>
      </p:sp>
      <p:sp>
        <p:nvSpPr>
          <p:cNvPr id="3" name="Evidence status tag"/>
          <p:cNvSpPr txBox="1"/>
          <p:nvPr/>
        </p:nvSpPr>
        <p:spPr>
          <a:xfrm>
            <a:off x="8065008" y="694944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8" name="Return code card"/>
          <p:cNvSpPr/>
          <p:nvPr/>
        </p:nvSpPr>
        <p:spPr>
          <a:xfrm>
            <a:off x="768096" y="1664208"/>
            <a:ext cx="6537960" cy="305409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turn function"/>
          <p:cNvSpPr txBox="1"/>
          <p:nvPr/>
        </p:nvSpPr>
        <p:spPr>
          <a:xfrm>
            <a:off x="1024128" y="1901952"/>
            <a:ext cx="601675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sp>
        <p:nvSpPr>
          <p:cNvPr id="10" name="Return line 1"/>
          <p:cNvSpPr txBox="1"/>
          <p:nvPr/>
        </p:nvSpPr>
        <p:spPr>
          <a:xfrm>
            <a:off x="1170432" y="2432304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if ready:</a:t>
            </a:r>
          </a:p>
        </p:txBody>
      </p:sp>
      <p:sp>
        <p:nvSpPr>
          <p:cNvPr id="11" name="Return line 2"/>
          <p:cNvSpPr txBox="1"/>
          <p:nvPr/>
        </p:nvSpPr>
        <p:spPr>
          <a:xfrm>
            <a:off x="1170432" y="2761488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WAIT</a:t>
            </a:r>
          </a:p>
        </p:txBody>
      </p:sp>
      <p:sp>
        <p:nvSpPr>
          <p:cNvPr id="12" name="Return line 3"/>
          <p:cNvSpPr txBox="1"/>
          <p:nvPr/>
        </p:nvSpPr>
        <p:spPr>
          <a:xfrm>
            <a:off x="1170432" y="3090672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elif low_power:</a:t>
            </a:r>
          </a:p>
        </p:txBody>
      </p:sp>
      <p:sp>
        <p:nvSpPr>
          <p:cNvPr id="13" name="Return line 4"/>
          <p:cNvSpPr txBox="1"/>
          <p:nvPr/>
        </p:nvSpPr>
        <p:spPr>
          <a:xfrm>
            <a:off x="1170432" y="3419856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SLEEP</a:t>
            </a:r>
          </a:p>
        </p:txBody>
      </p:sp>
      <p:sp>
        <p:nvSpPr>
          <p:cNvPr id="14" name="Return line 5"/>
          <p:cNvSpPr txBox="1"/>
          <p:nvPr/>
        </p:nvSpPr>
        <p:spPr>
          <a:xfrm>
            <a:off x="1170432" y="3749039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else:</a:t>
            </a:r>
          </a:p>
        </p:txBody>
      </p:sp>
      <p:sp>
        <p:nvSpPr>
          <p:cNvPr id="15" name="Return line 6"/>
          <p:cNvSpPr txBox="1"/>
          <p:nvPr/>
        </p:nvSpPr>
        <p:spPr>
          <a:xfrm>
            <a:off x="1170432" y="4078224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SEND_ONE</a:t>
            </a:r>
          </a:p>
        </p:txBody>
      </p:sp>
      <p:sp>
        <p:nvSpPr>
          <p:cNvPr id="16" name="Return meaning"/>
          <p:cNvSpPr/>
          <p:nvPr/>
        </p:nvSpPr>
        <p:spPr>
          <a:xfrm>
            <a:off x="7699248" y="1664208"/>
            <a:ext cx="3584448" cy="3054096"/>
          </a:xfrm>
          <a:prstGeom prst="roundRect">
            <a:avLst/>
          </a:prstGeom>
          <a:noFill/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turn meaning heading"/>
          <p:cNvSpPr txBox="1"/>
          <p:nvPr/>
        </p:nvSpPr>
        <p:spPr>
          <a:xfrm>
            <a:off x="7955279" y="1938528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runner 收到什麼？</a:t>
            </a:r>
          </a:p>
        </p:txBody>
      </p:sp>
      <p:sp>
        <p:nvSpPr>
          <p:cNvPr id="18" name="Return meaning body"/>
          <p:cNvSpPr txBox="1"/>
          <p:nvPr/>
        </p:nvSpPr>
        <p:spPr>
          <a:xfrm>
            <a:off x="8083296" y="2542032"/>
            <a:ext cx="2834640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縮排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分支歸屬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return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action token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