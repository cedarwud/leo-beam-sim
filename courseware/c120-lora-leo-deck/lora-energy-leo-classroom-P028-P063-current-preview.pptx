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先把名稱和機制分開。SLEEP 是低功耗休息，WAIT 是 awake idle，WAKE 有回復成本，PROCESS、TX、RX 都會留下時間與能量欄位。畫面中的 JSON 是 local fallback 的 simulated teaching evidence，不是 live measurement。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Lab A 的核心預測。WAIT 可能少付 wake 成本，但裝置保持清醒；SLEEP 可能降低 idle power，卻要付 wake latency 與 wake energy。先寫方向，結果再決定是否成立。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封包先進 queue，再可能產生 attempt。一次 SEND 不等於 delivered service；要把 retry、expired 與 queue age 分開讀。這個分解會保護後面 A/B 比較，不讓一次 TX 代替整個 packet outcome。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比較兩個 policy 前，先確認是不是同一個工作、窗口和 endpoint boundary。若 candidate 少送很多封包，J 下降不能直接叫節能；先說 service 是否保住。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是某一時刻的功率，J 是功率隨時間累積的能量。低峰值不保證較低 J；先看整段 state time，再回到 service boundary。這裡只讀 fallback artifact 的 endpoint scope。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公式只說清楚 endpoint radio 與 processing assumptions 的累積關係。E 的下標提醒我們不要把 endpoint J 當成整個 system energy；數字仍從 result artifact 讀取。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這個比值的分子是 delivered data，分母是 endpoint energy。兩邊 boundary 和 units 要一致；公式是語義檢查，不是讓課堂自行改科學結果。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 source、model 和課程假設壓成一個神秘數字。沿 scenario、seed、policy SHA 和 artifact source 往回查，才能知道一筆結果的來處。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同一個 scenario identity 要出現在 scenario package、runner result、endpoint replay 與 workbook。若 anchor、seed、schema 或 units 不一致，import 要 fail closed；不要用改 JSON 的方式繞過。 若操作受阻，identity mismatch：保留輸入與錯誤，回到 matching artifact；不可手改 JSON 繞過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不是舊截圖，而是 control。固定 scenario、seed、job、window、traffic 和 endpoint boundary，只讓目前 lab 的 marked block 改變；偷偷換 trace 或 scope 就是不公平。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窗口開啟與關閉會改變 action 的後果。先看固定 anchor 和 traffic，再判斷 WAIT 或 SEND 是否落在合法 service window；這頁不是 TLE 推導。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只問一個可測問題：固定工作與窗口時，不同 pace 和 rest 如何改變 queue、state time、service 與 endpoint J？先寫方向性預測，然後讓 baseline 和 candidate 回答。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只讀變數名稱與它進入 decision 的位置。先預測 gap 改變後 queue age、attempt timing、awake idle、service 和 J 的方向，再改一個合法值。 若操作受阻，syntax／policy guard 失敗：只修 marked block，保留 traceback；不要改 runner 或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這個控制點把空檔送進 WAIT 或 SLEEP。先把機制寫成 prediction；candidate 結果要同時看 state ledger、service 和 J，不接受只看一個功率欄位。 若操作受阻，值或 syntax 不合法：還原同一 block，重跑 compile；不要碰 engine／JSON。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執行前寫下四個觀察：queue age、service、哪個 state time 會變、endpoint J 可能往哪裡走。這不是猜 KPI，而是讓 result 有機會推翻我們。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先不改 policy，執行 A baseline。POSIX/WSL 用 bash，Windows 用 course.cmd；stdout 指出的 result_path 才是本次 run 的 artifact，不要靠檔名猜。頁面上的數字來自 current fallback，不能說成這台主機 fresh run。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現在才改 A marked block，先保存原始檔案，再執行 candidate freeze。預期有 candidate result、receipt 和 A checkpoint；如果沒有 queue、packet、service、state 或 J 的 consequential diff，就記錄 gate 未通過，不再亂調參。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candidate result 和配對 replay 與 baseline 並排看。先打勾 scenario、job、window 和 endpoint boundary，再比較 queue、packet、state 和 J；若 service 不同，先說 trade-off。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 ledger 從左到右讀。先看 WAIT 是否變長，再看 SLEEP 是否帶來 WAKE；接著確認 PROCESS、TX、RX 的時間與 attempt，最後才把差異連回 policy action。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是否支持工作，要看 delivered、expired、retry 和 deadline，而不是 SEND 次數。請用完整句子說出哪個 action 改變哪個 packet outcome，以及這個 outcome 是否仍滿足 service。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freeze 不是按鈕效果，而是 withheld 的入場條件。確認 candidate policy SHA 與 baseline 不同，receipt 指向同一 scenario／anchor，checkpoint role 是 A frozen；缺一項就回 candidate 最小修復。 若操作受阻，receipt／checkpoint／predecessor 缺失：停在 A candidate，保留輸出，重跑 freeze；不要直接執行 hidden。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policy，不再編輯，執行 hidden。hidden 用另一個條件測試 pace/rest 假說；預期 policy SHA 不變。若方向相反，這是 counterexample，保留它，不要改 policy 讓畫面變漂亮。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完成一句可反駁敘述：我改了 A 哪個控制點，因此改變哪個 state 或 packet 機制；result 顯示什麼 evidence；hidden 下成立或被推翻。這句比背一個 J 更有價值。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把 changing opportunity 換成品質 trace。問題不是品質越高越好，而是何時進入 send-ready、何時退出、要穩定多久；先讀 trace，再讀 policy。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先指出 trace 中第一次真正越過 enter threshold 的位置，再預測 mode transition、attempt 和 service。欄位透過切換產生結果，不是直接指定 energy。 若操作受阻，syntax／policy guard 失敗：只修 B marked block，回到 A frozen predecessor。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enter 和 exit 共用一條線，品質在邊界抖動時會造成 ping-pong。分開兩條線是穩定帶；先預測切換次數、WAIT、TX/RX 和 service，再看 trace evidence。 若操作受阻，threshold／syntax 不符：只修 B marked block，保留 traceback；不可改 runner。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把看起來變好和連續穩定分開。未達計數保持 hold，達到才切換；所以要同時看 transition、queue、service 與 energy，不能只看切換次數。 若操作受阻，超出 bounded range 或 syntax 失敗：只修 B marked line，不放寬 guard。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Trace A 上標出 enter、hold、exit 的位置，並寫下 service 與 endpoint J 方向。這不是把未來輸入偷塞進 policy，而是讓下一步比較有可反駁假說。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predecessor，先跑 B Trace A baseline。這一步建立 control；stdout 會回傳 run identity 和 result path，請保留配對 replay。頁面數字來自 current fallback，不是 fresh claim。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只改 B marked block 中的 threshold 或 stable steps，保留 A frozen predecessor。執行 Trace A candidate freeze；若只變畫面 label 沒有 consequential fixture diff，就記錄 gate 未通過。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 candidate 時，先定位 enter、hold、exit，再看這些 transition 造成的 attempt、retry、queue 和 service。品質數值是 observation context，不是 delivered service，也不是 energy。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B 是 withheld，不是再調參的 playground。先檢查 B receipt、checkpoint、policy SHA 和 predecessor；任何一項缺失就不要執行 withheld。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policy，執行 Trace B；不再改 threshold 或 stable steps。若 Trace B 露出 counterexample，那是泛化邊界，不是要隨機重調的錯誤。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hold 太長，可能錯過 service window；如果 enter/exit 太近，可能付出額外切換與 retry。把 trace 事件和 endpoint ledger 對起來，不把平滑線直接當成省能量。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用「在 Trace A…；在 Trace B…」兩句話回答。hysteresis 是條件式結論，不是保證；把 B receipt、policy SHA、Trace B result 和 counterexample 一起保留。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進入下一個 lab 前保存 policy、receipt、checkpoint、result/replay pair 和 prediction。若中斷，先用 status 找可用 checkpoint，再 restore 所需 role；這是在保持 lineage，不是補出數字。 若操作受阻，缺 checkpoint：保留現有 artifact，回到最後一個 identity 正確的 gate；不要補一個假的 receipt。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11556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17043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result／endpoint boundary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344168"/>
            <a:ext cx="10040112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'STATE_INTERVAL|state|duration' fallback_artifacts/baseline-A/result.json</a:t>
            </a:r>
          </a:p>
        </p:txBody>
      </p:sp>
      <p:sp>
        <p:nvSpPr>
          <p:cNvPr id="10" name="State SLEEP"/>
          <p:cNvSpPr/>
          <p:nvPr/>
        </p:nvSpPr>
        <p:spPr>
          <a:xfrm>
            <a:off x="841248" y="2212848"/>
            <a:ext cx="1883664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e label SLEEP"/>
          <p:cNvSpPr txBox="1"/>
          <p:nvPr/>
        </p:nvSpPr>
        <p:spPr>
          <a:xfrm>
            <a:off x="93268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2" name="State transition"/>
          <p:cNvCxnSpPr/>
          <p:nvPr/>
        </p:nvCxnSpPr>
        <p:spPr>
          <a:xfrm>
            <a:off x="272491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te WAKE"/>
          <p:cNvSpPr/>
          <p:nvPr/>
        </p:nvSpPr>
        <p:spPr>
          <a:xfrm>
            <a:off x="2944368" y="2212848"/>
            <a:ext cx="1883664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e label WAKE"/>
          <p:cNvSpPr txBox="1"/>
          <p:nvPr/>
        </p:nvSpPr>
        <p:spPr>
          <a:xfrm>
            <a:off x="303580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5" name="State transition"/>
          <p:cNvCxnSpPr/>
          <p:nvPr/>
        </p:nvCxnSpPr>
        <p:spPr>
          <a:xfrm>
            <a:off x="4828031" y="2606040"/>
            <a:ext cx="274321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PROCESS"/>
          <p:cNvSpPr/>
          <p:nvPr/>
        </p:nvSpPr>
        <p:spPr>
          <a:xfrm>
            <a:off x="5047488" y="2212848"/>
            <a:ext cx="1883664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label PROCESS"/>
          <p:cNvSpPr txBox="1"/>
          <p:nvPr/>
        </p:nvSpPr>
        <p:spPr>
          <a:xfrm>
            <a:off x="513892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8" name="State transition"/>
          <p:cNvCxnSpPr/>
          <p:nvPr/>
        </p:nvCxnSpPr>
        <p:spPr>
          <a:xfrm>
            <a:off x="6931152" y="2606040"/>
            <a:ext cx="27431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ate TX / RX"/>
          <p:cNvSpPr/>
          <p:nvPr/>
        </p:nvSpPr>
        <p:spPr>
          <a:xfrm>
            <a:off x="7150607" y="2212848"/>
            <a:ext cx="1883664" cy="7863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e label TX / RX"/>
          <p:cNvSpPr txBox="1"/>
          <p:nvPr/>
        </p:nvSpPr>
        <p:spPr>
          <a:xfrm>
            <a:off x="724204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21" name="State transition"/>
          <p:cNvCxnSpPr/>
          <p:nvPr/>
        </p:nvCxnSpPr>
        <p:spPr>
          <a:xfrm>
            <a:off x="903427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tate WAIT"/>
          <p:cNvSpPr/>
          <p:nvPr/>
        </p:nvSpPr>
        <p:spPr>
          <a:xfrm>
            <a:off x="9253728" y="2212848"/>
            <a:ext cx="1883664" cy="78638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label WAIT"/>
          <p:cNvSpPr txBox="1"/>
          <p:nvPr/>
        </p:nvSpPr>
        <p:spPr>
          <a:xfrm>
            <a:off x="934516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4" name="State ledger"/>
          <p:cNvSpPr/>
          <p:nvPr/>
        </p:nvSpPr>
        <p:spPr>
          <a:xfrm>
            <a:off x="877824" y="3401568"/>
            <a:ext cx="10241280" cy="11155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e ledger text"/>
          <p:cNvSpPr txBox="1"/>
          <p:nvPr/>
        </p:nvSpPr>
        <p:spPr>
          <a:xfrm>
            <a:off x="1097280" y="3602736"/>
            <a:ext cx="980236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都留下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duration / power / event；endpoint J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6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成本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33856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job／window／energy boundary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07592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'"state": "WAIT"|"state": "SLEEP"|"state": "WAKE"' fallback_artifacts/baseline-A/result.json</a:t>
            </a:r>
          </a:p>
        </p:txBody>
      </p:sp>
      <p:sp>
        <p:nvSpPr>
          <p:cNvPr id="8" name="WAIT lane label"/>
          <p:cNvSpPr/>
          <p:nvPr/>
        </p:nvSpPr>
        <p:spPr>
          <a:xfrm>
            <a:off x="914400" y="1993392"/>
            <a:ext cx="1847088" cy="7315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AIT label"/>
          <p:cNvSpPr txBox="1"/>
          <p:nvPr/>
        </p:nvSpPr>
        <p:spPr>
          <a:xfrm>
            <a:off x="1078992" y="22128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10" name="WAIT timeline"/>
          <p:cNvCxnSpPr/>
          <p:nvPr/>
        </p:nvCxnSpPr>
        <p:spPr>
          <a:xfrm>
            <a:off x="3054096" y="2359152"/>
            <a:ext cx="7370064" cy="0"/>
          </a:xfrm>
          <a:prstGeom prst="line">
            <a:avLst/>
          </a:prstGeom>
          <a:ln w="304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WAIT sample"/>
          <p:cNvSpPr/>
          <p:nvPr/>
        </p:nvSpPr>
        <p:spPr>
          <a:xfrm>
            <a:off x="4572000" y="2267712"/>
            <a:ext cx="182880" cy="18288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IT mechanism"/>
          <p:cNvSpPr txBox="1"/>
          <p:nvPr/>
        </p:nvSpPr>
        <p:spPr>
          <a:xfrm>
            <a:off x="5486400" y="21214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awake idle → no wake event</a:t>
            </a:r>
          </a:p>
        </p:txBody>
      </p:sp>
      <p:sp>
        <p:nvSpPr>
          <p:cNvPr id="13" name="SLEEP lane label"/>
          <p:cNvSpPr/>
          <p:nvPr/>
        </p:nvSpPr>
        <p:spPr>
          <a:xfrm>
            <a:off x="914400" y="3364992"/>
            <a:ext cx="1847088" cy="7315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LEEP label"/>
          <p:cNvSpPr txBox="1"/>
          <p:nvPr/>
        </p:nvSpPr>
        <p:spPr>
          <a:xfrm>
            <a:off x="1078992" y="35844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5" name="SLEEP timeline"/>
          <p:cNvCxnSpPr/>
          <p:nvPr/>
        </p:nvCxnSpPr>
        <p:spPr>
          <a:xfrm>
            <a:off x="3054096" y="3730752"/>
            <a:ext cx="7370064" cy="0"/>
          </a:xfrm>
          <a:prstGeom prst="line">
            <a:avLst/>
          </a:prstGeom>
          <a:ln w="304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EEP sample"/>
          <p:cNvSpPr/>
          <p:nvPr/>
        </p:nvSpPr>
        <p:spPr>
          <a:xfrm>
            <a:off x="4572000" y="3639312"/>
            <a:ext cx="182880" cy="18288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EEP mechanism"/>
          <p:cNvSpPr txBox="1"/>
          <p:nvPr/>
        </p:nvSpPr>
        <p:spPr>
          <a:xfrm>
            <a:off x="5486400" y="34930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→ WAKE → service</a:t>
            </a:r>
          </a:p>
        </p:txBody>
      </p:sp>
      <p:sp>
        <p:nvSpPr>
          <p:cNvPr id="18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先提出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的方向性預測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再由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保持清醒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可能降低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idle power，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但後續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會增加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latency／energy。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33856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replay；packet ledger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07592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fallback_artifacts/baseline-A/endpoint-replay.json</a:t>
            </a:r>
          </a:p>
        </p:txBody>
      </p:sp>
      <p:sp>
        <p:nvSpPr>
          <p:cNvPr id="8" name="Packet stage queue"/>
          <p:cNvSpPr/>
          <p:nvPr/>
        </p:nvSpPr>
        <p:spPr>
          <a:xfrm>
            <a:off x="804672" y="2084831"/>
            <a:ext cx="1901952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stage queue text"/>
          <p:cNvSpPr txBox="1"/>
          <p:nvPr/>
        </p:nvSpPr>
        <p:spPr>
          <a:xfrm>
            <a:off x="877824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cxnSp>
        <p:nvCxnSpPr>
          <p:cNvPr id="10" name="Packet arrow"/>
          <p:cNvCxnSpPr/>
          <p:nvPr/>
        </p:nvCxnSpPr>
        <p:spPr>
          <a:xfrm>
            <a:off x="2706624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acket stage attempt"/>
          <p:cNvSpPr/>
          <p:nvPr/>
        </p:nvSpPr>
        <p:spPr>
          <a:xfrm>
            <a:off x="2944368" y="2084831"/>
            <a:ext cx="1901952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stage attempt text"/>
          <p:cNvSpPr txBox="1"/>
          <p:nvPr/>
        </p:nvSpPr>
        <p:spPr>
          <a:xfrm>
            <a:off x="3017520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3" name="Packet arrow"/>
          <p:cNvCxnSpPr/>
          <p:nvPr/>
        </p:nvCxnSpPr>
        <p:spPr>
          <a:xfrm>
            <a:off x="484632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cket stage retry"/>
          <p:cNvSpPr/>
          <p:nvPr/>
        </p:nvSpPr>
        <p:spPr>
          <a:xfrm>
            <a:off x="5084064" y="2084831"/>
            <a:ext cx="1901952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cket stage retry text"/>
          <p:cNvSpPr txBox="1"/>
          <p:nvPr/>
        </p:nvSpPr>
        <p:spPr>
          <a:xfrm>
            <a:off x="5157216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cxnSp>
        <p:nvCxnSpPr>
          <p:cNvPr id="16" name="Packet arrow"/>
          <p:cNvCxnSpPr/>
          <p:nvPr/>
        </p:nvCxnSpPr>
        <p:spPr>
          <a:xfrm>
            <a:off x="6986016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acket stage delivered"/>
          <p:cNvSpPr/>
          <p:nvPr/>
        </p:nvSpPr>
        <p:spPr>
          <a:xfrm>
            <a:off x="7223759" y="2084831"/>
            <a:ext cx="1901952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cket stage delivered text"/>
          <p:cNvSpPr txBox="1"/>
          <p:nvPr/>
        </p:nvSpPr>
        <p:spPr>
          <a:xfrm>
            <a:off x="7296912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cxnSp>
        <p:nvCxnSpPr>
          <p:cNvPr id="19" name="Packet arrow"/>
          <p:cNvCxnSpPr/>
          <p:nvPr/>
        </p:nvCxnSpPr>
        <p:spPr>
          <a:xfrm>
            <a:off x="912571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acket stage expired"/>
          <p:cNvSpPr/>
          <p:nvPr/>
        </p:nvSpPr>
        <p:spPr>
          <a:xfrm>
            <a:off x="9363455" y="2084831"/>
            <a:ext cx="1901952" cy="804672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stage expired text"/>
          <p:cNvSpPr txBox="1"/>
          <p:nvPr/>
        </p:nvSpPr>
        <p:spPr>
          <a:xfrm>
            <a:off x="9436607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2" name="Packet numbers"/>
          <p:cNvSpPr/>
          <p:nvPr/>
        </p:nvSpPr>
        <p:spPr>
          <a:xfrm>
            <a:off x="914400" y="3401568"/>
            <a:ext cx="4791456" cy="10972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cket numbers text"/>
          <p:cNvSpPr txBox="1"/>
          <p:nvPr/>
        </p:nvSpPr>
        <p:spPr>
          <a:xfrm>
            <a:off x="1133856" y="3566160"/>
            <a:ext cx="4352544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attempted ≠ delivered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retry / collision / expired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都要保留</a:t>
            </a:r>
          </a:p>
        </p:txBody>
      </p:sp>
      <p:sp>
        <p:nvSpPr>
          <p:cNvPr id="24" name="Packet interpretation"/>
          <p:cNvSpPr/>
          <p:nvPr/>
        </p:nvSpPr>
        <p:spPr>
          <a:xfrm>
            <a:off x="6108192" y="3401568"/>
            <a:ext cx="5010912" cy="10972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cket interpretation text"/>
          <p:cNvSpPr txBox="1"/>
          <p:nvPr/>
        </p:nvSpPr>
        <p:spPr>
          <a:xfrm>
            <a:off x="6345936" y="3648456"/>
            <a:ext cx="4535424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一次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SEND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decision；service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要看完整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packet outcome。</a:t>
            </a:r>
          </a:p>
        </p:txBody>
      </p:sp>
      <p:sp>
        <p:nvSpPr>
          <p:cNvPr id="26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133856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paired baseline／candidate；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scenario、job、window、endpoint scope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307592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'"service_pass"|"deadline_pass"|"energy_scope"' fallback_artifacts/candidate-A/result.json</a:t>
            </a:r>
          </a:p>
        </p:txBody>
      </p:sp>
      <p:sp>
        <p:nvSpPr>
          <p:cNvPr id="10" name="Service gate"/>
          <p:cNvSpPr/>
          <p:nvPr/>
        </p:nvSpPr>
        <p:spPr>
          <a:xfrm>
            <a:off x="822960" y="1993392"/>
            <a:ext cx="6400800" cy="235915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rvice gate heading"/>
          <p:cNvSpPr txBox="1"/>
          <p:nvPr/>
        </p:nvSpPr>
        <p:spPr>
          <a:xfrm>
            <a:off x="1078992" y="2267712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</a:t>
            </a:r>
          </a:p>
        </p:txBody>
      </p:sp>
      <p:sp>
        <p:nvSpPr>
          <p:cNvPr id="12" name="Service gate body"/>
          <p:cNvSpPr txBox="1"/>
          <p:nvPr/>
        </p:nvSpPr>
        <p:spPr>
          <a:xfrm>
            <a:off x="1170432" y="2761488"/>
            <a:ext cx="5705856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window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cxnSp>
        <p:nvCxnSpPr>
          <p:cNvPr id="13" name="Service to energy"/>
          <p:cNvCxnSpPr/>
          <p:nvPr/>
        </p:nvCxnSpPr>
        <p:spPr>
          <a:xfrm>
            <a:off x="7242048" y="3163824"/>
            <a:ext cx="566927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nergy comparison"/>
          <p:cNvSpPr/>
          <p:nvPr/>
        </p:nvSpPr>
        <p:spPr>
          <a:xfrm>
            <a:off x="7991856" y="1993392"/>
            <a:ext cx="3090672" cy="2359152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nergy heading"/>
          <p:cNvSpPr txBox="1"/>
          <p:nvPr/>
        </p:nvSpPr>
        <p:spPr>
          <a:xfrm>
            <a:off x="8247888" y="226771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THEN COMPARE J</a:t>
            </a:r>
          </a:p>
        </p:txBody>
      </p:sp>
      <p:sp>
        <p:nvSpPr>
          <p:cNvPr id="16" name="Energy body"/>
          <p:cNvSpPr txBox="1"/>
          <p:nvPr/>
        </p:nvSpPr>
        <p:spPr>
          <a:xfrm>
            <a:off x="8302752" y="2761488"/>
            <a:ext cx="246888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scope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ledger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breakdown</a:t>
            </a:r>
          </a:p>
        </p:txBody>
      </p:sp>
      <p:sp>
        <p:nvSpPr>
          <p:cNvPr id="17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job、window、delivery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deadline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可比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 candidate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少送或多過期時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較低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不能直接升格為節能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；service gate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先決定比較資格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33856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 JSON；energy scope = endpoint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07592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'"endpoint_energy_j"|"power"|"energy_breakdown_j"' fallback_artifacts/candidate-A/result.json</a:t>
            </a:r>
          </a:p>
        </p:txBody>
      </p:sp>
      <p:cxnSp>
        <p:nvCxnSpPr>
          <p:cNvPr id="8" name="Power time axis"/>
          <p:cNvCxnSpPr/>
          <p:nvPr/>
        </p:nvCxnSpPr>
        <p:spPr>
          <a:xfrm>
            <a:off x="1371600" y="4169663"/>
            <a:ext cx="905256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axis"/>
          <p:cNvCxnSpPr/>
          <p:nvPr/>
        </p:nvCxnSpPr>
        <p:spPr>
          <a:xfrm flipV="1">
            <a:off x="1371600" y="1993392"/>
            <a:ext cx="0" cy="2176271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 flipV="1">
            <a:off x="1591056" y="2980944"/>
            <a:ext cx="1261872" cy="56692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2852928" y="2468880"/>
            <a:ext cx="1152144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4005072" y="2468880"/>
            <a:ext cx="1225296" cy="67665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ower curve"/>
          <p:cNvCxnSpPr/>
          <p:nvPr/>
        </p:nvCxnSpPr>
        <p:spPr>
          <a:xfrm flipV="1">
            <a:off x="5230368" y="2286000"/>
            <a:ext cx="1170432" cy="85953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ower curve"/>
          <p:cNvCxnSpPr/>
          <p:nvPr/>
        </p:nvCxnSpPr>
        <p:spPr>
          <a:xfrm>
            <a:off x="6400800" y="2286000"/>
            <a:ext cx="1316736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ower curve"/>
          <p:cNvCxnSpPr/>
          <p:nvPr/>
        </p:nvCxnSpPr>
        <p:spPr>
          <a:xfrm flipV="1">
            <a:off x="7717536" y="2139696"/>
            <a:ext cx="1536192" cy="65836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ower curve"/>
          <p:cNvCxnSpPr/>
          <p:nvPr/>
        </p:nvCxnSpPr>
        <p:spPr>
          <a:xfrm>
            <a:off x="9253728" y="2139696"/>
            <a:ext cx="896112" cy="621792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wer sample"/>
          <p:cNvSpPr/>
          <p:nvPr/>
        </p:nvSpPr>
        <p:spPr>
          <a:xfrm>
            <a:off x="1517904" y="3474720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2779776" y="2907791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3931920" y="239572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5157216" y="3072384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sample"/>
          <p:cNvSpPr/>
          <p:nvPr/>
        </p:nvSpPr>
        <p:spPr>
          <a:xfrm>
            <a:off x="6327648" y="221284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wer sample"/>
          <p:cNvSpPr/>
          <p:nvPr/>
        </p:nvSpPr>
        <p:spPr>
          <a:xfrm>
            <a:off x="7644383" y="2724912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wer sample"/>
          <p:cNvSpPr/>
          <p:nvPr/>
        </p:nvSpPr>
        <p:spPr>
          <a:xfrm>
            <a:off x="9180576" y="2066543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wer sample"/>
          <p:cNvSpPr/>
          <p:nvPr/>
        </p:nvSpPr>
        <p:spPr>
          <a:xfrm>
            <a:off x="10076688" y="2688336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ower label"/>
          <p:cNvSpPr txBox="1"/>
          <p:nvPr/>
        </p:nvSpPr>
        <p:spPr>
          <a:xfrm>
            <a:off x="1426464" y="17739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P(t) / W</a:t>
            </a:r>
          </a:p>
        </p:txBody>
      </p:sp>
      <p:sp>
        <p:nvSpPr>
          <p:cNvPr id="26" name="Time label"/>
          <p:cNvSpPr txBox="1"/>
          <p:nvPr/>
        </p:nvSpPr>
        <p:spPr>
          <a:xfrm>
            <a:off x="8394192" y="43525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time / s</a:t>
            </a:r>
          </a:p>
        </p:txBody>
      </p:sp>
      <p:sp>
        <p:nvSpPr>
          <p:cNvPr id="27" name="Area interpretation"/>
          <p:cNvSpPr/>
          <p:nvPr/>
        </p:nvSpPr>
        <p:spPr>
          <a:xfrm>
            <a:off x="859536" y="4718304"/>
            <a:ext cx="10296144" cy="60350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ea text"/>
          <p:cNvSpPr txBox="1"/>
          <p:nvPr/>
        </p:nvSpPr>
        <p:spPr>
          <a:xfrm>
            <a:off x="1060704" y="4882896"/>
            <a:ext cx="989380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曲線下的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area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endpoint J；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低峰值拖得久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仍可能累積更多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：endpoint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的範圍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5" name="NATIVE_EQUATION_HOOK_E_endpoint"/>
          <p:cNvSpPr/>
          <p:nvPr/>
        </p:nvSpPr>
        <p:spPr>
          <a:xfrm>
            <a:off x="859536" y="1426464"/>
            <a:ext cx="10241280" cy="2999232"/>
          </a:xfrm>
          <a:prstGeom prst="roundRect">
            <a:avLst/>
          </a:prstGeom>
          <a:solidFill>
            <a:srgbClr val="FAF7E8"/>
          </a:solidFill>
          <a:ln w="1778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ATIVE_EQUATION_HOOK_LABEL_E_endpoint"/>
          <p:cNvSpPr txBox="1"/>
          <p:nvPr/>
        </p:nvSpPr>
        <p:spPr>
          <a:xfrm>
            <a:off x="1097280" y="1700784"/>
            <a:ext cx="976579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</a:t>
            </a:r>
          </a:p>
        </p:txBody>
      </p:sp>
      <p:sp>
        <p:nvSpPr>
          <p:cNvPr id="7" name="Formula fallback E_endpoint"/>
          <p:cNvSpPr txBox="1"/>
          <p:nvPr/>
        </p:nvSpPr>
        <p:spPr>
          <a:xfrm>
            <a:off x="1225296" y="2304288"/>
            <a:ext cx="95097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 = Σ P_s t_s</a:t>
            </a:r>
          </a:p>
        </p:txBody>
      </p:sp>
      <p:sp>
        <p:nvSpPr>
          <p:cNvPr id="8" name="Formula scope"/>
          <p:cNvSpPr txBox="1"/>
          <p:nvPr/>
        </p:nvSpPr>
        <p:spPr>
          <a:xfrm>
            <a:off x="1170432" y="3419856"/>
            <a:ext cx="9582912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E_endpoint = Σ P_s t_s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boundary ≠ whole system</a:t>
            </a:r>
          </a:p>
        </p:txBody>
      </p:sp>
      <p:sp>
        <p:nvSpPr>
          <p:cNvPr id="9" name="Formula guard"/>
          <p:cNvSpPr/>
          <p:nvPr/>
        </p:nvSpPr>
        <p:spPr>
          <a:xfrm>
            <a:off x="932688" y="4736592"/>
            <a:ext cx="10168128" cy="56692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rmula guard text"/>
          <p:cNvSpPr txBox="1"/>
          <p:nvPr/>
        </p:nvSpPr>
        <p:spPr>
          <a:xfrm>
            <a:off x="1152144" y="4901184"/>
            <a:ext cx="972921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hook is editable；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數字仍由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artifact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提供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不自行補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KPI。</a:t>
            </a:r>
          </a:p>
        </p:txBody>
      </p:sp>
      <p:sp>
        <p:nvSpPr>
          <p:cNvPr id="11" name="Native Office Math E_endpoint" title="E_endpoint" descr="E_{\mathrm{endpoint}} = \sum_{s \in S} P_s t_s"/>
          <p:cNvSpPr>
            <a:spLocks noGrp="1"/>
          </p:cNvSpPr>
          <p:nvPr/>
        </p:nvSpPr>
        <p:spPr>
          <a:xfrm>
            <a:off x="609600" y="1714500"/>
            <a:ext cx="10972800" cy="979714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>
                          <a:latin typeface="Cambria Math"/>
                        </a:rPr>
                        <m:t>E</m:t>
                      </m:r>
                    </m:e>
                    <m:e>
                      <m:r>
                        <a:rPr lang="en-US" altLang="en-US" sz="3000" dirty="0" i="0">
                          <a:latin typeface="Cambria Math"/>
                        </a:rPr>
                        <m:t>endpoint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 xml:space="preserve"> = </m:t>
                  </m:r>
                  <m:nary>
                    <m:naryPr>
                      <m:chr m:val="∑"/>
                      <m:limLoc m:val="undOvr"/>
                      <m:grow m:val="1"/>
                    </m:naryPr>
                    <m:sub>
                      <m:r>
                        <a:rPr lang="en-US" altLang="en-US" sz="3000" dirty="0">
                          <a:latin typeface="Cambria Math"/>
                        </a:rPr>
                        <m:t>s</m:t>
                      </m:r>
                      <m:r>
                        <a:rPr lang="en-US" altLang="en-US" sz="3000" dirty="0">
                          <a:latin typeface="Cambria Math"/>
                        </a:rPr>
                        <m:t xml:space="preserve"> ∈ </m:t>
                      </m:r>
                      <m:r>
                        <a:rPr lang="en-US" altLang="en-US" sz="3000" dirty="0">
                          <a:latin typeface="Cambria Math"/>
                        </a:rPr>
                        <m:t>S</m:t>
                      </m:r>
                    </m:sub>
                    <m:sup/>
                    <m:e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P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  <m:r>
                        <a:rPr lang="en-US" altLang="en-US" sz="3000" dirty="0">
                          <a:latin typeface="Cambria Math"/>
                        </a:rPr>
                        <m:t xml:space="preserve"> </m:t>
                      </m:r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t</m:t>
                          </m:r>
                        </m:e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s</m:t>
                          </m:r>
                        </m:e>
                      </m:sSub>
                    </m:e>
                  </m:nary>
                </m:oMath>
              </m:oMathPara>
            </a14:m>
            <a:endParaRPr lang="en-US" alt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服務效率的分子與分母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EVIDENCE</a:t>
            </a:r>
          </a:p>
        </p:txBody>
      </p:sp>
      <p:sp>
        <p:nvSpPr>
          <p:cNvPr id="7" name="NATIVE_EQUATION_HOOK_eta_E"/>
          <p:cNvSpPr/>
          <p:nvPr/>
        </p:nvSpPr>
        <p:spPr>
          <a:xfrm>
            <a:off x="859536" y="1426464"/>
            <a:ext cx="10241280" cy="2999232"/>
          </a:xfrm>
          <a:prstGeom prst="roundRect">
            <a:avLst/>
          </a:prstGeom>
          <a:solidFill>
            <a:srgbClr val="FAF7E8"/>
          </a:solidFill>
          <a:ln w="1778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ATIVE_EQUATION_HOOK_LABEL_eta_E"/>
          <p:cNvSpPr txBox="1"/>
          <p:nvPr/>
        </p:nvSpPr>
        <p:spPr>
          <a:xfrm>
            <a:off x="1097280" y="1700784"/>
            <a:ext cx="976579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</a:t>
            </a:r>
          </a:p>
        </p:txBody>
      </p:sp>
      <p:sp>
        <p:nvSpPr>
          <p:cNvPr id="9" name="Formula fallback eta_E"/>
          <p:cNvSpPr txBox="1"/>
          <p:nvPr/>
        </p:nvSpPr>
        <p:spPr>
          <a:xfrm>
            <a:off x="1225296" y="2304288"/>
            <a:ext cx="9509760" cy="713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η_E = D_delivered / E_endpoint</a:t>
            </a:r>
          </a:p>
        </p:txBody>
      </p:sp>
      <p:sp>
        <p:nvSpPr>
          <p:cNvPr id="10" name="Formula scope"/>
          <p:cNvSpPr txBox="1"/>
          <p:nvPr/>
        </p:nvSpPr>
        <p:spPr>
          <a:xfrm>
            <a:off x="1170432" y="3419856"/>
            <a:ext cx="9582912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η_E = D_delivered / E_endpoint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bit ÷ J = bit/J</a:t>
            </a:r>
          </a:p>
        </p:txBody>
      </p:sp>
      <p:sp>
        <p:nvSpPr>
          <p:cNvPr id="11" name="Formula guard"/>
          <p:cNvSpPr/>
          <p:nvPr/>
        </p:nvSpPr>
        <p:spPr>
          <a:xfrm>
            <a:off x="932688" y="4736592"/>
            <a:ext cx="10168128" cy="56692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ormula guard text"/>
          <p:cNvSpPr txBox="1"/>
          <p:nvPr/>
        </p:nvSpPr>
        <p:spPr>
          <a:xfrm>
            <a:off x="1152144" y="4901184"/>
            <a:ext cx="972921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hook is editable；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數字仍由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result artifact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提供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不自行補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KPI。</a:t>
            </a:r>
          </a:p>
        </p:txBody>
      </p:sp>
      <p:sp>
        <p:nvSpPr>
          <p:cNvPr id="13" name="Native Office Math eta_E" title="eta_E" descr="\eta_E = \frac{D_{\mathrm{delivered}}}{E_{\mathrm{endpoint}}}"/>
          <p:cNvSpPr>
            <a:spLocks noGrp="1"/>
          </p:cNvSpPr>
          <p:nvPr/>
        </p:nvSpPr>
        <p:spPr>
          <a:xfrm>
            <a:off x="609600" y="1714500"/>
            <a:ext cx="10972800" cy="979714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>
                          <a:latin typeface="Cambria Math"/>
                        </a:rPr>
                        <m:t>η</m:t>
                      </m:r>
                    </m:e>
                    <m:e>
                      <m:r>
                        <a:rPr lang="en-US" altLang="en-US" sz="3000" dirty="0">
                          <a:latin typeface="Cambria Math"/>
                        </a:rPr>
                        <m:t>E</m:t>
                      </m:r>
                    </m:e>
                  </m:sSub>
                  <m:r>
                    <a:rPr lang="en-US" altLang="en-US" sz="3000" dirty="0">
                      <a:latin typeface="Cambria Math"/>
                    </a:rPr>
                    <m:t xml:space="preserve"> = </m:t>
                  </m:r>
                  <m:f>
                    <m:fPr>
                      <m:type m:val="bar"/>
                    </m:fPr>
                    <m:num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D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delivered</m:t>
                          </m:r>
                        </m:e>
                      </m:sSub>
                    </m:num>
                    <m:den>
                      <m:sSub>
                        <m:sSubPr/>
                        <m:e>
                          <m:r>
                            <a:rPr lang="en-US" altLang="en-US" sz="3000" dirty="0">
                              <a:latin typeface="Cambria Math"/>
                            </a:rPr>
                            <m:t>E</m:t>
                          </m:r>
                        </m:e>
                        <m:e>
                          <m:r>
                            <a:rPr lang="en-US" altLang="en-US" sz="3000" dirty="0" i="0">
                              <a:latin typeface="Cambria Math"/>
                            </a:rPr>
                            <m:t>endpoint</m:t>
                          </m:r>
                        </m:e>
                      </m:sSub>
                    </m:den>
                  </m:f>
                </m:oMath>
              </m:oMathPara>
            </a14:m>
            <a:endParaRPr lang="en-US" alt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33856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result／replay／scenario lineage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07592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'scenario_id|seed|policy_sha256|artifact_source' fallback_artifacts/candidate-A/result.json</a:t>
            </a:r>
          </a:p>
        </p:txBody>
      </p:sp>
      <p:sp>
        <p:nvSpPr>
          <p:cNvPr id="8" name="Provenance source"/>
          <p:cNvSpPr/>
          <p:nvPr/>
        </p:nvSpPr>
        <p:spPr>
          <a:xfrm>
            <a:off x="877824" y="2084831"/>
            <a:ext cx="22128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venance source text"/>
          <p:cNvSpPr txBox="1"/>
          <p:nvPr/>
        </p:nvSpPr>
        <p:spPr>
          <a:xfrm>
            <a:off x="987552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10" name="Provenance arrow"/>
          <p:cNvCxnSpPr/>
          <p:nvPr/>
        </p:nvCxnSpPr>
        <p:spPr>
          <a:xfrm>
            <a:off x="309067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venance model"/>
          <p:cNvSpPr/>
          <p:nvPr/>
        </p:nvSpPr>
        <p:spPr>
          <a:xfrm>
            <a:off x="3364992" y="2084831"/>
            <a:ext cx="22128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venance model text"/>
          <p:cNvSpPr txBox="1"/>
          <p:nvPr/>
        </p:nvSpPr>
        <p:spPr>
          <a:xfrm>
            <a:off x="3474720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13" name="Provenance arrow"/>
          <p:cNvCxnSpPr/>
          <p:nvPr/>
        </p:nvCxnSpPr>
        <p:spPr>
          <a:xfrm>
            <a:off x="557784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venance course"/>
          <p:cNvSpPr/>
          <p:nvPr/>
        </p:nvSpPr>
        <p:spPr>
          <a:xfrm>
            <a:off x="5852160" y="2084831"/>
            <a:ext cx="22128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venance course text"/>
          <p:cNvSpPr txBox="1"/>
          <p:nvPr/>
        </p:nvSpPr>
        <p:spPr>
          <a:xfrm>
            <a:off x="5961888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cxnSp>
        <p:nvCxnSpPr>
          <p:cNvPr id="16" name="Provenance arrow"/>
          <p:cNvCxnSpPr/>
          <p:nvPr/>
        </p:nvCxnSpPr>
        <p:spPr>
          <a:xfrm>
            <a:off x="8065008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venance result"/>
          <p:cNvSpPr/>
          <p:nvPr/>
        </p:nvSpPr>
        <p:spPr>
          <a:xfrm>
            <a:off x="8339328" y="2084831"/>
            <a:ext cx="22128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result text"/>
          <p:cNvSpPr txBox="1"/>
          <p:nvPr/>
        </p:nvSpPr>
        <p:spPr>
          <a:xfrm>
            <a:off x="8449056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9" name="Provenance token"/>
          <p:cNvSpPr/>
          <p:nvPr/>
        </p:nvSpPr>
        <p:spPr>
          <a:xfrm>
            <a:off x="1024128" y="3456432"/>
            <a:ext cx="9948672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ovenance token text"/>
          <p:cNvSpPr txBox="1"/>
          <p:nvPr/>
        </p:nvSpPr>
        <p:spPr>
          <a:xfrm>
            <a:off x="1225296" y="3694176"/>
            <a:ext cx="954633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ntpu-energy-decision-01  ·  seed 12001 / 12002  ·  policy SHA  ·  artifact_source</a:t>
            </a:r>
          </a:p>
        </p:txBody>
      </p:sp>
      <p:sp>
        <p:nvSpPr>
          <p:cNvPr id="21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綁住整條鏈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Identity source"/>
          <p:cNvSpPr/>
          <p:nvPr/>
        </p:nvSpPr>
        <p:spPr>
          <a:xfrm>
            <a:off x="822960" y="1225296"/>
            <a:ext cx="2779776" cy="402336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dentity source heading"/>
          <p:cNvSpPr txBox="1"/>
          <p:nvPr/>
        </p:nvSpPr>
        <p:spPr>
          <a:xfrm>
            <a:off x="1060704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7" name="Identity source text"/>
          <p:cNvSpPr txBox="1"/>
          <p:nvPr/>
        </p:nvSpPr>
        <p:spPr>
          <a:xfrm>
            <a:off x="1078992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repo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https://github.com/cedarwud/lora-energy-lab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commit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32cc72309041…</a:t>
            </a:r>
          </a:p>
        </p:txBody>
      </p:sp>
      <p:sp>
        <p:nvSpPr>
          <p:cNvPr id="8" name="Identity scenario"/>
          <p:cNvSpPr/>
          <p:nvPr/>
        </p:nvSpPr>
        <p:spPr>
          <a:xfrm>
            <a:off x="4041648" y="1225296"/>
            <a:ext cx="2779776" cy="402336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dentity scenario heading"/>
          <p:cNvSpPr txBox="1"/>
          <p:nvPr/>
        </p:nvSpPr>
        <p:spPr>
          <a:xfrm>
            <a:off x="4279392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10" name="Identity scenario text"/>
          <p:cNvSpPr txBox="1"/>
          <p:nvPr/>
        </p:nvSpPr>
        <p:spPr>
          <a:xfrm>
            <a:off x="4297680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sha256:cfe84682a71c0…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lock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sha256:f1d1fe3339137…</a:t>
            </a:r>
          </a:p>
        </p:txBody>
      </p:sp>
      <p:sp>
        <p:nvSpPr>
          <p:cNvPr id="11" name="Identity chain"/>
          <p:cNvSpPr/>
          <p:nvPr/>
        </p:nvSpPr>
        <p:spPr>
          <a:xfrm>
            <a:off x="7260336" y="1225296"/>
            <a:ext cx="3785615" cy="402336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dentity chain heading"/>
          <p:cNvSpPr txBox="1"/>
          <p:nvPr/>
        </p:nvSpPr>
        <p:spPr>
          <a:xfrm>
            <a:off x="7516368" y="1517904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→ REPLAY → WORKBOOK</a:t>
            </a:r>
          </a:p>
        </p:txBody>
      </p:sp>
      <p:sp>
        <p:nvSpPr>
          <p:cNvPr id="13" name="Identity chain text"/>
          <p:cNvSpPr txBox="1"/>
          <p:nvPr/>
        </p:nvSpPr>
        <p:spPr>
          <a:xfrm>
            <a:off x="7534656" y="1956816"/>
            <a:ext cx="3236976" cy="23957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units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seed role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 closed on mismatch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41324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IDENTITY GATE｜scenario / anchor / policy / replay must agree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133856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root；baseline／candidate A-B pair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307592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10" name="Fairness FIXED"/>
          <p:cNvSpPr/>
          <p:nvPr/>
        </p:nvSpPr>
        <p:spPr>
          <a:xfrm>
            <a:off x="896112" y="2066543"/>
            <a:ext cx="3273552" cy="13167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airness FIXED heading"/>
          <p:cNvSpPr txBox="1"/>
          <p:nvPr/>
        </p:nvSpPr>
        <p:spPr>
          <a:xfrm>
            <a:off x="1060704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FIXED</a:t>
            </a:r>
          </a:p>
        </p:txBody>
      </p:sp>
      <p:sp>
        <p:nvSpPr>
          <p:cNvPr id="12" name="Fairness FIXED body"/>
          <p:cNvSpPr txBox="1"/>
          <p:nvPr/>
        </p:nvSpPr>
        <p:spPr>
          <a:xfrm>
            <a:off x="1078992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/ seed / job / window</a:t>
            </a:r>
          </a:p>
        </p:txBody>
      </p:sp>
      <p:sp>
        <p:nvSpPr>
          <p:cNvPr id="13" name="Fairness ONE EDIT"/>
          <p:cNvSpPr/>
          <p:nvPr/>
        </p:nvSpPr>
        <p:spPr>
          <a:xfrm>
            <a:off x="4626864" y="2066543"/>
            <a:ext cx="3273552" cy="13167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airness ONE EDIT heading"/>
          <p:cNvSpPr txBox="1"/>
          <p:nvPr/>
        </p:nvSpPr>
        <p:spPr>
          <a:xfrm>
            <a:off x="4791456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</a:t>
            </a:r>
          </a:p>
        </p:txBody>
      </p:sp>
      <p:sp>
        <p:nvSpPr>
          <p:cNvPr id="15" name="Fairness ONE EDIT body"/>
          <p:cNvSpPr txBox="1"/>
          <p:nvPr/>
        </p:nvSpPr>
        <p:spPr>
          <a:xfrm>
            <a:off x="4809744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current marked block</a:t>
            </a:r>
          </a:p>
        </p:txBody>
      </p:sp>
      <p:sp>
        <p:nvSpPr>
          <p:cNvPr id="16" name="Fairness OBSERVE"/>
          <p:cNvSpPr/>
          <p:nvPr/>
        </p:nvSpPr>
        <p:spPr>
          <a:xfrm>
            <a:off x="8357616" y="2066543"/>
            <a:ext cx="3273552" cy="13167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airness OBSERVE heading"/>
          <p:cNvSpPr txBox="1"/>
          <p:nvPr/>
        </p:nvSpPr>
        <p:spPr>
          <a:xfrm>
            <a:off x="8522208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OBSERVE</a:t>
            </a:r>
          </a:p>
        </p:txBody>
      </p:sp>
      <p:sp>
        <p:nvSpPr>
          <p:cNvPr id="18" name="Fairness OBSERVE body"/>
          <p:cNvSpPr txBox="1"/>
          <p:nvPr/>
        </p:nvSpPr>
        <p:spPr>
          <a:xfrm>
            <a:off x="8540496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packet / service / state / J</a:t>
            </a:r>
          </a:p>
        </p:txBody>
      </p:sp>
      <p:sp>
        <p:nvSpPr>
          <p:cNvPr id="19" name="Fairness warning"/>
          <p:cNvSpPr/>
          <p:nvPr/>
        </p:nvSpPr>
        <p:spPr>
          <a:xfrm>
            <a:off x="1005840" y="3840480"/>
            <a:ext cx="9966960" cy="11155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airness warning text"/>
          <p:cNvSpPr txBox="1"/>
          <p:nvPr/>
        </p:nvSpPr>
        <p:spPr>
          <a:xfrm>
            <a:off x="1261872" y="4133087"/>
            <a:ext cx="945489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trace、scope、job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偷換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這一組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A/B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就失去因果資格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1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33856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scenario quality/contact trace；same anchor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07592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'contact|window|quality_band_trace' scenarios/ntpu-energy-decision-01.json</a:t>
            </a:r>
          </a:p>
        </p:txBody>
      </p:sp>
      <p:cxnSp>
        <p:nvCxnSpPr>
          <p:cNvPr id="8" name="Window axis"/>
          <p:cNvCxnSpPr/>
          <p:nvPr/>
        </p:nvCxnSpPr>
        <p:spPr>
          <a:xfrm>
            <a:off x="1024128" y="2852928"/>
            <a:ext cx="969264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Window open"/>
          <p:cNvSpPr/>
          <p:nvPr/>
        </p:nvSpPr>
        <p:spPr>
          <a:xfrm>
            <a:off x="1188720" y="2139696"/>
            <a:ext cx="4828032" cy="140817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open heading"/>
          <p:cNvSpPr txBox="1"/>
          <p:nvPr/>
        </p:nvSpPr>
        <p:spPr>
          <a:xfrm>
            <a:off x="1444752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sp>
        <p:nvSpPr>
          <p:cNvPr id="11" name="Window open body"/>
          <p:cNvSpPr txBox="1"/>
          <p:nvPr/>
        </p:nvSpPr>
        <p:spPr>
          <a:xfrm>
            <a:off x="1463040" y="2834640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SEND / WAIT legal context</a:t>
            </a:r>
          </a:p>
        </p:txBody>
      </p:sp>
      <p:sp>
        <p:nvSpPr>
          <p:cNvPr id="12" name="Window closed"/>
          <p:cNvSpPr/>
          <p:nvPr/>
        </p:nvSpPr>
        <p:spPr>
          <a:xfrm>
            <a:off x="6236208" y="2139696"/>
            <a:ext cx="4828032" cy="140817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indow closed heading"/>
          <p:cNvSpPr txBox="1"/>
          <p:nvPr/>
        </p:nvSpPr>
        <p:spPr>
          <a:xfrm>
            <a:off x="6492240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sp>
        <p:nvSpPr>
          <p:cNvPr id="14" name="Window closed body"/>
          <p:cNvSpPr txBox="1"/>
          <p:nvPr/>
        </p:nvSpPr>
        <p:spPr>
          <a:xfrm>
            <a:off x="6510528" y="2779776"/>
            <a:ext cx="427939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delayed action → service risk</a:t>
            </a:r>
          </a:p>
        </p:txBody>
      </p:sp>
      <p:sp>
        <p:nvSpPr>
          <p:cNvPr id="15" name="Legal action marker"/>
          <p:cNvSpPr/>
          <p:nvPr/>
        </p:nvSpPr>
        <p:spPr>
          <a:xfrm>
            <a:off x="3310128" y="2724912"/>
            <a:ext cx="256032" cy="25603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llegal action marker"/>
          <p:cNvSpPr/>
          <p:nvPr/>
        </p:nvSpPr>
        <p:spPr>
          <a:xfrm>
            <a:off x="8467344" y="2724912"/>
            <a:ext cx="256032" cy="256032"/>
          </a:xfrm>
          <a:prstGeom prst="ellipse">
            <a:avLst/>
          </a:prstGeom>
          <a:solidFill>
            <a:srgbClr val="C03737"/>
          </a:solidFill>
          <a:ln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opportunity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接回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WAIT／SEND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的合法性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窗口開啟時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可能服務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窗口關閉時延後可能變成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loss；LEO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只作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changing-window example。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Lab A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ECF1FE"/>
          </a:solidFill>
          <a:ln w="1778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 A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 QUESTION</a:t>
            </a:r>
          </a:p>
        </p:txBody>
      </p:sp>
      <p:sp>
        <p:nvSpPr>
          <p:cNvPr id="7" name="Lab A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different pace / rest</a:t>
            </a:r>
          </a:p>
        </p:txBody>
      </p:sp>
      <p:sp>
        <p:nvSpPr>
          <p:cNvPr id="8" name="Lab A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9" name="Lab A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 A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11" name="Lab A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2" name="Lab A evidence note"/>
          <p:cNvSpPr txBox="1"/>
          <p:nvPr/>
        </p:nvSpPr>
        <p:spPr>
          <a:xfrm>
            <a:off x="7223760" y="426110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PACE_GAP_STEPS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'1,80p'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10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2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4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gap → send opportunity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steps_since_send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'10,24p'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 stays awake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may add wake cost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state + service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prediction lock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97280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root；edit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baseline policy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71016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Prediction A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10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3" name="Prediction A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5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8" name="Prediction A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20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3" name="Prediction A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5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8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前鎖定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queue、service、state time、J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的判讀句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result；withheld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來迎合答案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9" name="Run context"/>
          <p:cNvSpPr txBox="1"/>
          <p:nvPr/>
        </p:nvSpPr>
        <p:spPr>
          <a:xfrm>
            <a:off x="987552" y="1847088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POSIX／WSL；package root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；baseline policy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不改</a:t>
            </a:r>
          </a:p>
        </p:txBody>
      </p:sp>
      <p:sp>
        <p:nvSpPr>
          <p:cNvPr id="10" name="Run context command"/>
          <p:cNvSpPr txBox="1"/>
          <p:nvPr/>
        </p:nvSpPr>
        <p:spPr>
          <a:xfrm>
            <a:off x="987552" y="2176272"/>
            <a:ext cx="4919472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baseline</a:t>
            </a:r>
          </a:p>
        </p:txBody>
      </p:sp>
      <p:sp>
        <p:nvSpPr>
          <p:cNvPr id="11" name="Run mechanism"/>
          <p:cNvSpPr txBox="1"/>
          <p:nvPr/>
        </p:nvSpPr>
        <p:spPr>
          <a:xfrm>
            <a:off x="987552" y="3529584"/>
            <a:ext cx="4919472" cy="11155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fixed scenario / seed → result lineage.</a:t>
            </a:r>
          </a:p>
        </p:txBody>
      </p:sp>
      <p:sp>
        <p:nvSpPr>
          <p:cNvPr id="12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4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run_id …ee6df44f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6.92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stdout/result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7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8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7" name="Run context"/>
          <p:cNvSpPr txBox="1"/>
          <p:nvPr/>
        </p:nvSpPr>
        <p:spPr>
          <a:xfrm>
            <a:off x="987552" y="1847088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8" name="Run context command"/>
          <p:cNvSpPr txBox="1"/>
          <p:nvPr/>
        </p:nvSpPr>
        <p:spPr>
          <a:xfrm>
            <a:off x="987552" y="2176272"/>
            <a:ext cx="4919472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candidate --freeze</a:t>
            </a:r>
          </a:p>
        </p:txBody>
      </p:sp>
      <p:sp>
        <p:nvSpPr>
          <p:cNvPr id="9" name="Run mechanism"/>
          <p:cNvSpPr txBox="1"/>
          <p:nvPr/>
        </p:nvSpPr>
        <p:spPr>
          <a:xfrm>
            <a:off x="987552" y="3529584"/>
            <a:ext cx="4919472" cy="11155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one marked edit.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policy SHA + predecessor + receipt.</a:t>
            </a:r>
          </a:p>
        </p:txBody>
      </p:sp>
      <p:sp>
        <p:nvSpPr>
          <p:cNvPr id="10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2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325cca4a…d73cf2f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6cbaf9dc…e11626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J；fresh receipt pending</a:t>
            </a:r>
          </a:p>
        </p:txBody>
      </p:sp>
      <p:sp>
        <p:nvSpPr>
          <p:cNvPr id="13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5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boundary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42415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97280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pair；result／endpoint-replay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71016"/>
            <a:ext cx="10040112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fallback_artifacts/candidate-A/result.json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fallback_artifacts/candidate-A/endpoint-replay.json</a:t>
            </a:r>
          </a:p>
        </p:txBody>
      </p:sp>
      <p:sp>
        <p:nvSpPr>
          <p:cNvPr id="8" name="Compare BASELINE"/>
          <p:cNvSpPr/>
          <p:nvPr/>
        </p:nvSpPr>
        <p:spPr>
          <a:xfrm>
            <a:off x="841248" y="2084831"/>
            <a:ext cx="4901184" cy="24871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pare BASELINE heading"/>
          <p:cNvSpPr txBox="1"/>
          <p:nvPr/>
        </p:nvSpPr>
        <p:spPr>
          <a:xfrm>
            <a:off x="1060704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10" name="Compare BASELINE body"/>
          <p:cNvSpPr txBox="1"/>
          <p:nvPr/>
        </p:nvSpPr>
        <p:spPr>
          <a:xfrm>
            <a:off x="1152144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sha256:9917d2cde2e…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6.92 J  ·  delivered 4800 bit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11" name="Compare CANDIDATE"/>
          <p:cNvSpPr/>
          <p:nvPr/>
        </p:nvSpPr>
        <p:spPr>
          <a:xfrm>
            <a:off x="6071616" y="2084831"/>
            <a:ext cx="4901184" cy="24871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pare CANDIDATE heading"/>
          <p:cNvSpPr txBox="1"/>
          <p:nvPr/>
        </p:nvSpPr>
        <p:spPr>
          <a:xfrm>
            <a:off x="6291072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13" name="Compare CANDIDATE body"/>
          <p:cNvSpPr txBox="1"/>
          <p:nvPr/>
        </p:nvSpPr>
        <p:spPr>
          <a:xfrm>
            <a:off x="6382512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sha256:325cca4a4be…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  ·  delivered 4800 bit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14" name="Compare verdict"/>
          <p:cNvSpPr/>
          <p:nvPr/>
        </p:nvSpPr>
        <p:spPr>
          <a:xfrm>
            <a:off x="1078992" y="4718304"/>
            <a:ext cx="10003536" cy="7132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pare verdict text"/>
          <p:cNvSpPr txBox="1"/>
          <p:nvPr/>
        </p:nvSpPr>
        <p:spPr>
          <a:xfrm>
            <a:off x="1298448" y="4828032"/>
            <a:ext cx="9564624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先確認同一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boundary；candidate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trade-off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再交給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/ packet / service ledger。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ledger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result；state interval／energy breakdown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'STATE_INTERVAL|awake_idle|sleep|wake|process|tx|rx' fallback_artifacts/candidate-A/result.json</a:t>
            </a:r>
          </a:p>
        </p:txBody>
      </p:sp>
      <p:sp>
        <p:nvSpPr>
          <p:cNvPr id="10" name="Ledger label awake idle"/>
          <p:cNvSpPr txBox="1"/>
          <p:nvPr/>
        </p:nvSpPr>
        <p:spPr>
          <a:xfrm>
            <a:off x="914400" y="2075688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11" name="Ledger bar awake idle"/>
          <p:cNvSpPr/>
          <p:nvPr/>
        </p:nvSpPr>
        <p:spPr>
          <a:xfrm>
            <a:off x="2395728" y="1975104"/>
            <a:ext cx="4590288" cy="310896"/>
          </a:xfrm>
          <a:prstGeom prst="rect">
            <a:avLst/>
          </a:prstGeom>
          <a:solidFill>
            <a:srgbClr val="E8F7F4"/>
          </a:solidFill>
          <a:ln w="1016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dger value awake idle"/>
          <p:cNvSpPr txBox="1"/>
          <p:nvPr/>
        </p:nvSpPr>
        <p:spPr>
          <a:xfrm>
            <a:off x="9107424" y="2066544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6.0 J</a:t>
            </a:r>
          </a:p>
        </p:txBody>
      </p:sp>
      <p:sp>
        <p:nvSpPr>
          <p:cNvPr id="13" name="Ledger label sleep"/>
          <p:cNvSpPr txBox="1"/>
          <p:nvPr/>
        </p:nvSpPr>
        <p:spPr>
          <a:xfrm>
            <a:off x="914400" y="2551176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4" name="Ledger bar sleep"/>
          <p:cNvSpPr/>
          <p:nvPr/>
        </p:nvSpPr>
        <p:spPr>
          <a:xfrm>
            <a:off x="2395728" y="2450592"/>
            <a:ext cx="666414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dger value sleep"/>
          <p:cNvSpPr txBox="1"/>
          <p:nvPr/>
        </p:nvSpPr>
        <p:spPr>
          <a:xfrm>
            <a:off x="9107424" y="2542032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6" name="Ledger label wake"/>
          <p:cNvSpPr txBox="1"/>
          <p:nvPr/>
        </p:nvSpPr>
        <p:spPr>
          <a:xfrm>
            <a:off x="914400" y="3026664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7" name="Ledger bar wake"/>
          <p:cNvSpPr/>
          <p:nvPr/>
        </p:nvSpPr>
        <p:spPr>
          <a:xfrm>
            <a:off x="2395728" y="2926080"/>
            <a:ext cx="653247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dger value wake"/>
          <p:cNvSpPr txBox="1"/>
          <p:nvPr/>
        </p:nvSpPr>
        <p:spPr>
          <a:xfrm>
            <a:off x="9107424" y="301752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9" name="Ledger label process"/>
          <p:cNvSpPr txBox="1"/>
          <p:nvPr/>
        </p:nvSpPr>
        <p:spPr>
          <a:xfrm>
            <a:off x="914400" y="3502152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20" name="Ledger bar process"/>
          <p:cNvSpPr/>
          <p:nvPr/>
        </p:nvSpPr>
        <p:spPr>
          <a:xfrm>
            <a:off x="2395728" y="3401568"/>
            <a:ext cx="74541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dger value process"/>
          <p:cNvSpPr txBox="1"/>
          <p:nvPr/>
        </p:nvSpPr>
        <p:spPr>
          <a:xfrm>
            <a:off x="9107424" y="3493008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22" name="Ledger label TX"/>
          <p:cNvSpPr txBox="1"/>
          <p:nvPr/>
        </p:nvSpPr>
        <p:spPr>
          <a:xfrm>
            <a:off x="914400" y="3977640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23" name="Ledger bar TX"/>
          <p:cNvSpPr/>
          <p:nvPr/>
        </p:nvSpPr>
        <p:spPr>
          <a:xfrm>
            <a:off x="2395728" y="3877056"/>
            <a:ext cx="2220163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dger value TX"/>
          <p:cNvSpPr txBox="1"/>
          <p:nvPr/>
        </p:nvSpPr>
        <p:spPr>
          <a:xfrm>
            <a:off x="9107424" y="396849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2.4 J</a:t>
            </a:r>
          </a:p>
        </p:txBody>
      </p:sp>
      <p:sp>
        <p:nvSpPr>
          <p:cNvPr id="25" name="Ledger label RX"/>
          <p:cNvSpPr txBox="1"/>
          <p:nvPr/>
        </p:nvSpPr>
        <p:spPr>
          <a:xfrm>
            <a:off x="914400" y="4453128"/>
            <a:ext cx="140817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6" name="Ledger bar RX"/>
          <p:cNvSpPr/>
          <p:nvPr/>
        </p:nvSpPr>
        <p:spPr>
          <a:xfrm>
            <a:off x="2395728" y="4352544"/>
            <a:ext cx="79808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dger value RX"/>
          <p:cNvSpPr txBox="1"/>
          <p:nvPr/>
        </p:nvSpPr>
        <p:spPr>
          <a:xfrm>
            <a:off x="9107424" y="4443983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8" name="Ledger guard"/>
          <p:cNvSpPr/>
          <p:nvPr/>
        </p:nvSpPr>
        <p:spPr>
          <a:xfrm>
            <a:off x="914400" y="5010912"/>
            <a:ext cx="10168128" cy="47548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dger guard text"/>
          <p:cNvSpPr txBox="1"/>
          <p:nvPr/>
        </p:nvSpPr>
        <p:spPr>
          <a:xfrm>
            <a:off x="1133856" y="5157216"/>
            <a:ext cx="972921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duration，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再問哪個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造成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consequential diff。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result／endpoint replay；packet ledger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'attempt|retry|delivered|expired|service_pass' fallback_artifacts/candidate-A/result.json</a:t>
            </a:r>
          </a:p>
        </p:txBody>
      </p:sp>
      <p:sp>
        <p:nvSpPr>
          <p:cNvPr id="8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 CANDIDATE PACKET LEDGER</a:t>
            </a:r>
          </a:p>
        </p:txBody>
      </p:sp>
      <p:sp>
        <p:nvSpPr>
          <p:cNvPr id="10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2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4800 bit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3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</a:t>
            </a:r>
          </a:p>
        </p:txBody>
      </p:sp>
      <p:cxnSp>
        <p:nvCxnSpPr>
          <p:cNvPr id="11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4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 frozen receipt／checkpoint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34440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fallback_artifacts/receipts/a.json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8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3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ze lab-a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lab-a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lab-a-frozen</a:t>
            </a:r>
          </a:p>
        </p:txBody>
      </p:sp>
      <p:sp>
        <p:nvSpPr>
          <p:cNvPr id="16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8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060704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POSIX／WSL；A frozen policy active；same package root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234440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A --case hidden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hidden</a:t>
            </a:r>
          </a:p>
        </p:txBody>
      </p:sp>
      <p:sp>
        <p:nvSpPr>
          <p:cNvPr id="10" name="Withheld hidden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12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13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Withheld hidden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HIDDEN TRACE</a:t>
            </a:r>
          </a:p>
        </p:txBody>
      </p:sp>
      <p:sp>
        <p:nvSpPr>
          <p:cNvPr id="16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7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A baseline／candidate／hidden fallback trio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52728"/>
            <a:ext cx="10040112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fallback_artifacts/hidden-A/result.json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'policy_sha256|service_pass|endpoint_energy_j' fallback_artifacts/{baseline-A,candidate-A,hidden-A}/result.json</a:t>
            </a:r>
          </a:p>
        </p:txBody>
      </p:sp>
      <p:sp>
        <p:nvSpPr>
          <p:cNvPr id="8" name="Debrief A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10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ebrief A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3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ebrief A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6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brief A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9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1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Lab B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F4EDF7"/>
          </a:solidFill>
          <a:ln w="1778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b B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QUESTION</a:t>
            </a:r>
          </a:p>
        </p:txBody>
      </p:sp>
      <p:sp>
        <p:nvSpPr>
          <p:cNvPr id="7" name="Lab B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 trace / stability</a:t>
            </a:r>
          </a:p>
        </p:txBody>
      </p:sp>
      <p:sp>
        <p:nvSpPr>
          <p:cNvPr id="8" name="Lab B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9" name="Lab B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 B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11" name="Lab B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2" name="Lab B evidence note"/>
          <p:cNvSpPr txBox="1"/>
          <p:nvPr/>
        </p:nvSpPr>
        <p:spPr>
          <a:xfrm>
            <a:off x="7223760" y="4261104"/>
            <a:ext cx="356616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send-ready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10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2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4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+ stable count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send-ready transition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separate enter and exit.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hysteresis limits ping-pong.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count stable steps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switch after hold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short spike rejected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097280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root；Trace A run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；A frozen predecessor active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271016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10" name="Prediction B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12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5" name="Prediction B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7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0" name="Prediction B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22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5" name="Prediction B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7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30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Trace A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前標出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enter、hold、exit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service/J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方向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baseline/candidate；policy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trace outcome。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7" name="Run context"/>
          <p:cNvSpPr txBox="1"/>
          <p:nvPr/>
        </p:nvSpPr>
        <p:spPr>
          <a:xfrm>
            <a:off x="987552" y="1847088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 active；package root</a:t>
            </a:r>
          </a:p>
        </p:txBody>
      </p:sp>
      <p:sp>
        <p:nvSpPr>
          <p:cNvPr id="8" name="Run context command"/>
          <p:cNvSpPr txBox="1"/>
          <p:nvPr/>
        </p:nvSpPr>
        <p:spPr>
          <a:xfrm>
            <a:off x="987552" y="2176272"/>
            <a:ext cx="4919472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trace-a-baseline</a:t>
            </a:r>
          </a:p>
        </p:txBody>
      </p:sp>
      <p:sp>
        <p:nvSpPr>
          <p:cNvPr id="9" name="Run mechanism"/>
          <p:cNvSpPr txBox="1"/>
          <p:nvPr/>
        </p:nvSpPr>
        <p:spPr>
          <a:xfrm>
            <a:off x="987552" y="3529584"/>
            <a:ext cx="4919472" cy="11155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Trace A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A frozen predecessor → B baseline.</a:t>
            </a:r>
          </a:p>
        </p:txBody>
      </p:sp>
      <p:sp>
        <p:nvSpPr>
          <p:cNvPr id="10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2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run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…b2603b79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8.86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5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7" name="Run context"/>
          <p:cNvSpPr txBox="1"/>
          <p:nvPr/>
        </p:nvSpPr>
        <p:spPr>
          <a:xfrm>
            <a:off x="987552" y="1847088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predecessor；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sp>
        <p:nvSpPr>
          <p:cNvPr id="8" name="Run context command"/>
          <p:cNvSpPr txBox="1"/>
          <p:nvPr/>
        </p:nvSpPr>
        <p:spPr>
          <a:xfrm>
            <a:off x="987552" y="2176272"/>
            <a:ext cx="4919472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trace-a-candidate --freeze</a:t>
            </a:r>
          </a:p>
        </p:txBody>
      </p:sp>
      <p:sp>
        <p:nvSpPr>
          <p:cNvPr id="9" name="Run mechanism"/>
          <p:cNvSpPr txBox="1"/>
          <p:nvPr/>
        </p:nvSpPr>
        <p:spPr>
          <a:xfrm>
            <a:off x="987552" y="3529584"/>
            <a:ext cx="4919472" cy="11155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B candidate.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B SHA + Trace A + predecessor.</a:t>
            </a:r>
          </a:p>
        </p:txBody>
      </p:sp>
      <p:sp>
        <p:nvSpPr>
          <p:cNvPr id="10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2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c00ed808…78293718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2a4167e2…171349e0e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bit；fresh receipt pending</a:t>
            </a:r>
          </a:p>
        </p:txBody>
      </p:sp>
      <p:sp>
        <p:nvSpPr>
          <p:cNvPr id="13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5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不只讀品質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result／endpoint replay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252728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'quality_band|POLICY_DECISION|PACKET_ATTEMPT|delivered|expired|service_pass' fallback_artifacts/trace-a-candidate-B/result.json</a:t>
            </a:r>
          </a:p>
        </p:txBody>
      </p:sp>
      <p:sp>
        <p:nvSpPr>
          <p:cNvPr id="10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 CANDIDATE PACKET LEDGER</a:t>
            </a:r>
          </a:p>
        </p:txBody>
      </p:sp>
      <p:sp>
        <p:nvSpPr>
          <p:cNvPr id="12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4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1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10.66 J</a:t>
            </a:r>
          </a:p>
        </p:txBody>
      </p:sp>
      <p:cxnSp>
        <p:nvCxnSpPr>
          <p:cNvPr id="13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6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7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 frozen receipt／checkpoint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34440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fallback_artifacts/receipts/b.json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8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3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ze lab-b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lab-b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6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8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POSIX／WSL；B frozen policy active；package root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34440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B --case trace-b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trace-b</a:t>
            </a:r>
          </a:p>
        </p:txBody>
      </p:sp>
      <p:sp>
        <p:nvSpPr>
          <p:cNvPr id="8" name="Withheld Trace B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10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11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ECD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Withheld Trace B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B TRACE</a:t>
            </a:r>
          </a:p>
        </p:txBody>
      </p:sp>
      <p:sp>
        <p:nvSpPr>
          <p:cNvPr id="14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ping-pong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7" name="Exact context command"/>
          <p:cNvSpPr/>
          <p:nvPr/>
        </p:nvSpPr>
        <p:spPr>
          <a:xfrm>
            <a:off x="749808" y="1005840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act context"/>
          <p:cNvSpPr txBox="1"/>
          <p:nvPr/>
        </p:nvSpPr>
        <p:spPr>
          <a:xfrm>
            <a:off x="950976" y="1060704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vs trace-b-B；same B policy SHA</a:t>
            </a:r>
          </a:p>
        </p:txBody>
      </p:sp>
      <p:sp>
        <p:nvSpPr>
          <p:cNvPr id="9" name="Exact command"/>
          <p:cNvSpPr txBox="1"/>
          <p:nvPr/>
        </p:nvSpPr>
        <p:spPr>
          <a:xfrm>
            <a:off x="950976" y="1234440"/>
            <a:ext cx="10040112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'policy_sha256|service_pass|endpoint_energy_j|expired_packets' fallback_artifacts/trace-b-B/result.json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fallback_artifacts/trace-b-B/endpoint-replay.json</a:t>
            </a:r>
          </a:p>
        </p:txBody>
      </p:sp>
      <p:sp>
        <p:nvSpPr>
          <p:cNvPr id="10" name="Too slow"/>
          <p:cNvSpPr/>
          <p:nvPr/>
        </p:nvSpPr>
        <p:spPr>
          <a:xfrm>
            <a:off x="877824" y="2066543"/>
            <a:ext cx="4864608" cy="250545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oo slow heading"/>
          <p:cNvSpPr txBox="1"/>
          <p:nvPr/>
        </p:nvSpPr>
        <p:spPr>
          <a:xfrm>
            <a:off x="1133856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12" name="Too slow body"/>
          <p:cNvSpPr txBox="1"/>
          <p:nvPr/>
        </p:nvSpPr>
        <p:spPr>
          <a:xfrm>
            <a:off x="1170432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hold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太久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錯過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window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loss</a:t>
            </a:r>
          </a:p>
        </p:txBody>
      </p:sp>
      <p:sp>
        <p:nvSpPr>
          <p:cNvPr id="13" name="Ping pong"/>
          <p:cNvSpPr/>
          <p:nvPr/>
        </p:nvSpPr>
        <p:spPr>
          <a:xfrm>
            <a:off x="6144768" y="2066543"/>
            <a:ext cx="4864608" cy="25054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ng pong heading"/>
          <p:cNvSpPr txBox="1"/>
          <p:nvPr/>
        </p:nvSpPr>
        <p:spPr>
          <a:xfrm>
            <a:off x="6400800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15" name="Ping pong body"/>
          <p:cNvSpPr txBox="1"/>
          <p:nvPr/>
        </p:nvSpPr>
        <p:spPr>
          <a:xfrm>
            <a:off x="6437376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↔ exit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太近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多次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transition / retry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trade-off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不是保證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8F7F4"/>
          </a:solidFill>
          <a:ln w="6350">
            <a:solidFill>
              <a:srgbClr val="E8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SIMULATED FALLBACK EVIDENCE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 A／Trace B；B receipt／policy／result pair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52728"/>
            <a:ext cx="10040112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fallback_artifacts/trace-a-candidate-B/result.json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fallback_artifacts/trace-b-B/result.json</a:t>
            </a:r>
          </a:p>
        </p:txBody>
      </p:sp>
      <p:sp>
        <p:nvSpPr>
          <p:cNvPr id="8" name="Debrief B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10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ebrief B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3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ebrief B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6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brief B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9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1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A/B lineage</a:t>
            </a:r>
          </a:p>
        </p:txBody>
      </p:sp>
      <p:sp>
        <p:nvSpPr>
          <p:cNvPr id="3" name="Status tag"/>
          <p:cNvSpPr/>
          <p:nvPr/>
        </p:nvSpPr>
        <p:spPr>
          <a:xfrm>
            <a:off x="8010144" y="822960"/>
            <a:ext cx="3264408" cy="310896"/>
          </a:xfrm>
          <a:prstGeom prst="roundRect">
            <a:avLst/>
          </a:prstGeom>
          <a:solidFill>
            <a:srgbClr val="ECF1FE"/>
          </a:solidFill>
          <a:ln w="6350">
            <a:solidFill>
              <a:srgbClr val="ECF1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us tag text"/>
          <p:cNvSpPr txBox="1"/>
          <p:nvPr/>
        </p:nvSpPr>
        <p:spPr>
          <a:xfrm>
            <a:off x="8046719" y="832104"/>
            <a:ext cx="319125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SOURCE-BOUND POLICY SURFACE</a:t>
            </a:r>
          </a:p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1463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root；A/B receipt、checkpoint、result/replay pair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234440"/>
            <a:ext cx="10040112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find artifacts/checkpoints artifacts/receipts -maxdepth 1 -type f -print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fallback_artifacts -maxdepth 2 -type f -name 'result.json' -print</a:t>
            </a:r>
          </a:p>
        </p:txBody>
      </p:sp>
      <p:sp>
        <p:nvSpPr>
          <p:cNvPr id="8" name="Checkpoint A frozen"/>
          <p:cNvSpPr/>
          <p:nvPr/>
        </p:nvSpPr>
        <p:spPr>
          <a:xfrm>
            <a:off x="1060704" y="2084831"/>
            <a:ext cx="4498848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ckpoint A frozen text"/>
          <p:cNvSpPr txBox="1"/>
          <p:nvPr/>
        </p:nvSpPr>
        <p:spPr>
          <a:xfrm>
            <a:off x="1225295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10" name="Checkpoint B frozen"/>
          <p:cNvSpPr/>
          <p:nvPr/>
        </p:nvSpPr>
        <p:spPr>
          <a:xfrm>
            <a:off x="6254496" y="2084831"/>
            <a:ext cx="4498848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ckpoint B frozen text"/>
          <p:cNvSpPr txBox="1"/>
          <p:nvPr/>
        </p:nvSpPr>
        <p:spPr>
          <a:xfrm>
            <a:off x="6419088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12" name="Checkpoint result ↔ replay"/>
          <p:cNvSpPr/>
          <p:nvPr/>
        </p:nvSpPr>
        <p:spPr>
          <a:xfrm>
            <a:off x="1060704" y="3310128"/>
            <a:ext cx="4498848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ckpoint result ↔ replay text"/>
          <p:cNvSpPr txBox="1"/>
          <p:nvPr/>
        </p:nvSpPr>
        <p:spPr>
          <a:xfrm>
            <a:off x="1225295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 ↔ replay</a:t>
            </a:r>
          </a:p>
        </p:txBody>
      </p:sp>
      <p:sp>
        <p:nvSpPr>
          <p:cNvPr id="14" name="Checkpoint prediction"/>
          <p:cNvSpPr/>
          <p:nvPr/>
        </p:nvSpPr>
        <p:spPr>
          <a:xfrm>
            <a:off x="6254496" y="3310128"/>
            <a:ext cx="4498848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ckpoint prediction text"/>
          <p:cNvSpPr txBox="1"/>
          <p:nvPr/>
        </p:nvSpPr>
        <p:spPr>
          <a:xfrm>
            <a:off x="6419088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ECD882"/>
                </a:solidFill>
                <a:latin typeface="Times New Roman"/>
                <a:ea typeface="標楷體"/>
                <a:cs typeface="Times New Roman"/>
              </a:rPr>
              <a:t>prediction</a:t>
            </a:r>
          </a:p>
        </p:txBody>
      </p:sp>
      <p:sp>
        <p:nvSpPr>
          <p:cNvPr id="16" name="Checkpoint recovery"/>
          <p:cNvSpPr/>
          <p:nvPr/>
        </p:nvSpPr>
        <p:spPr>
          <a:xfrm>
            <a:off x="1005840" y="4663440"/>
            <a:ext cx="10021824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ECD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ckpoint recovery text"/>
          <p:cNvSpPr txBox="1"/>
          <p:nvPr/>
        </p:nvSpPr>
        <p:spPr>
          <a:xfrm>
            <a:off x="1225296" y="4882896"/>
            <a:ext cx="958291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status → exact role → restore；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不覆寫既有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不補假的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