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先把名稱和機制分開。SLEEP 是低功耗休息，WAIT 是 awake idle，WAKE 有回復成本，PROCESS、TX、RX 都會留下時間與能量欄位。畫面中的 JSON 是 local fallback 的 simulated teaching evidence，不是 live measurement。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Lab A 的核心預測。WAIT 可能少付 wake 成本，但裝置保持清醒；SLEEP 可能降低 idle power，卻要付 wake latency 與 wake energy。先寫方向，結果再決定是否成立。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封包先進 queue，再可能產生 attempt。一次 SEND 不等於 delivered service；要把 retry、expired 與 queue age 分開讀。這個分解會保護後面 A/B 比較，不讓一次 TX 代替整個 packet outcome。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比較兩個 policy 前，先確認是不是同一個工作、窗口和 endpoint boundary。若 candidate 少送很多封包，J 下降不能直接叫節能；先說 service 是否保住。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是某一時刻的功率，J 是功率隨時間累積的能量。低峰值不保證較低 J；先看整段 state time，再回到 service boundary。這裡只讀 fallback artifact 的 endpoint scope。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公式只說清楚 endpoint radio 與 processing assumptions 的累積關係。E 的下標提醒我們不要把 endpoint J 當成整個 system energy；數字仍從 result artifact 讀取。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這個比值的分子是 delivered data，分母是 endpoint energy。兩邊 boundary 和 units 要一致；公式是語義檢查，不是讓課堂自行改科學結果。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 source、model 和課程假設壓成一個神秘數字。沿 scenario、seed、policy SHA 和 artifact source 往回查，才能知道一筆結果的來處。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同一個 scenario identity 要出現在 scenario package、runner result、endpoint replay 與 workbook。若 anchor、seed、schema 或 units 不一致，import 要 fail closed；不要用改 JSON 的方式繞過。 若操作受阻，identity mismatch：保留輸入與錯誤，回到 matching artifact；不可手改 JSON 繞過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不是舊截圖，而是 control。固定 scenario、seed、job、window、traffic 和 endpoint boundary，只讓目前 lab 的 marked block 改變；偷偷換 trace 或 scope 就是不公平。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窗口開啟與關閉會改變 action 的後果。先看固定 anchor 和 traffic，再判斷 WAIT 或 SEND 是否落在合法 service window；這頁不是 TLE 推導。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只問一個可測問題：固定工作與窗口時，不同 pace 和 rest 如何改變 queue、state time、service 與 endpoint J？先寫方向性預測，然後讓 baseline 和 candidate 回答。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只讀變數名稱與它進入 decision 的位置。先預測 gap 改變後 queue age、attempt timing、awake idle、service 和 J 的方向，再改一個合法值。 若操作受阻，syntax／policy guard 失敗：只修 marked block，保留 traceback；不要改 runner 或 schema。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這個控制點把空檔送進 WAIT 或 SLEEP。先把機制寫成 prediction；candidate 結果要同時看 state ledger、service 和 J，不接受只看一個功率欄位。 若操作受阻，值或 syntax 不合法：還原同一 block，重跑 compile；不要碰 engine／JSON。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執行前寫下四個觀察：queue age、service、哪個 state time 會變、endpoint J 可能往哪裡走。這不是猜 KPI，而是讓 result 有機會推翻我們。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先不改 policy，執行 A baseline。POSIX/WSL 用 bash，Windows 用 course.cmd；stdout 指出的 result_path 才是本次 run 的 artifact，不要靠檔名猜。頁面上的數字來自 current fallback，不能說成這台主機 fresh run。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現在才改 A marked block，先保存原始檔案，再執行 candidate freeze。預期有 candidate result、receipt 和 A checkpoint；如果沒有 queue、packet、service、state 或 J 的 consequential diff，就記錄 gate 未通過，不再亂調參。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candidate result 和配對 replay 與 baseline 並排看。先打勾 scenario、job、window 和 endpoint boundary，再比較 queue、packet、state 和 J；若 service 不同，先說 trade-off。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 ledger 從左到右讀。先看 WAIT 是否變長，再看 SLEEP 是否帶來 WAKE；接著確認 PROCESS、TX、RX 的時間與 attempt，最後才把差異連回 policy action。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是否支持工作，要看 delivered、expired、retry 和 deadline，而不是 SEND 次數。請用完整句子說出哪個 action 改變哪個 packet outcome，以及這個 outcome 是否仍滿足 service。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freeze 不是按鈕效果，而是 withheld 的入場條件。確認 candidate policy SHA 與 baseline 不同，receipt 指向同一 scenario／anchor，checkpoint role 是 A frozen；缺一項就回 candidate 最小修復。 若操作受阻，receipt／checkpoint／predecessor 缺失：停在 A candidate，保留輸出，重跑 freeze；不要直接執行 hidden。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policy，不再編輯，執行 hidden。hidden 用另一個條件測試 pace/rest 假說；預期 policy SHA 不變。若方向相反，這是 counterexample，保留它，不要改 policy 讓畫面變漂亮。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完成一句可反駁敘述：我改了 A 哪個控制點，因此改變哪個 state 或 packet 機制；result 顯示什麼 evidence；hidden 下成立或被推翻。這句比背一個 J 更有價值。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把 changing opportunity 換成品質 trace。問題不是品質越高越好，而是何時進入 send-ready、何時退出、要穩定多久；先讀 trace，再讀 policy。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先指出 trace 中第一次真正越過 enter threshold 的位置，再預測 mode transition、attempt 和 service。欄位透過切換產生結果，不是直接指定 energy。 若操作受阻，syntax／policy guard 失敗：只修 B marked block，回到 A frozen predecessor。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enter 和 exit 共用一條線，品質在邊界抖動時會造成 ping-pong。分開兩條線是穩定帶；先預測切換次數、WAIT、TX/RX 和 service，再看 trace evidence。 若操作受阻，threshold／syntax 不符：只修 B marked block，保留 traceback；不可改 runner。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STABLE_STEPS 把看起來變好和連續穩定分開。未達計數保持 hold，達到才切換；所以要同時看 transition、queue、service 與 energy，不能只看切換次數。 若操作受阻，超出 bounded range 或 syntax 失敗：只修 B marked line，不放寬 guard。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Trace A 上標出 enter、hold、exit 的位置，並寫下 service 與 endpoint J 方向。這不是把未來輸入偷塞進 policy，而是讓下一步比較有可反駁假說。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predecessor，先跑 B Trace A baseline。這一步建立 control；stdout 會回傳 run identity 和 result path，請保留配對 replay。頁面數字來自 current fallback，不是 fresh claim。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只改 B marked block 中的 threshold 或 stable steps，保留 A frozen predecessor。執行 Trace A candidate freeze；若只變畫面 label 沒有 consequential fixture diff，就記錄 gate 未通過。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 candidate 時，先定位 enter、hold、exit，再看這些 transition 造成的 attempt、retry、queue 和 service。品質數值是 observation context，不是 delivered service，也不是 energy。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B 是 withheld，不是再調參的 playground。先檢查 B receipt、checkpoint、policy SHA 和 predecessor；任何一項缺失就不要執行 withheld。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B frozen policy，執行 Trace B；不再改 threshold 或 stable steps。若 Trace B 露出 counterexample，那是泛化邊界，不是要隨機重調的錯誤。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hold 太長，可能錯過 service window；如果 enter/exit 太近，可能付出額外切換與 retry。把 trace 事件和 endpoint ledger 對起來，不把平滑線直接當成省能量。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用「在 Trace A…；在 Trace B…」兩句話回答。hysteresis 是條件式結論，不是保證；把 B receipt、policy SHA、Trace B result 和 counterexample 一起保留。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進入下一個 lab 前保存 policy、receipt、checkpoint、result/replay pair 和 prediction。若中斷，先用 status 找可用 checkpoint，再 restore 所需 role；這是在保持 lineage，不是補出數字。 若操作受阻，缺 checkpoint：保留現有 artifact，回到最後一個 identity 正確的 gate；不要補一個假的 receipt。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11556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5214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local fallback result／endpoint boundary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426464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fallback_artifacts/baseline-A/result.json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rg -n 'STATE_INTERVAL|state|duration' fallback_artifacts/baseline-A/result.json</a:t>
            </a:r>
          </a:p>
        </p:txBody>
      </p:sp>
      <p:sp>
        <p:nvSpPr>
          <p:cNvPr id="8" name="State SLEEP"/>
          <p:cNvSpPr/>
          <p:nvPr/>
        </p:nvSpPr>
        <p:spPr>
          <a:xfrm>
            <a:off x="841248" y="2212848"/>
            <a:ext cx="1883664" cy="7863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label SLEEP"/>
          <p:cNvSpPr txBox="1"/>
          <p:nvPr/>
        </p:nvSpPr>
        <p:spPr>
          <a:xfrm>
            <a:off x="932688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0" name="State transition"/>
          <p:cNvCxnSpPr/>
          <p:nvPr/>
        </p:nvCxnSpPr>
        <p:spPr>
          <a:xfrm>
            <a:off x="2724912" y="2606040"/>
            <a:ext cx="274320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WAKE"/>
          <p:cNvSpPr/>
          <p:nvPr/>
        </p:nvSpPr>
        <p:spPr>
          <a:xfrm>
            <a:off x="2944368" y="2212848"/>
            <a:ext cx="1883664" cy="78638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label WAKE"/>
          <p:cNvSpPr txBox="1"/>
          <p:nvPr/>
        </p:nvSpPr>
        <p:spPr>
          <a:xfrm>
            <a:off x="3035808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3" name="State transition"/>
          <p:cNvCxnSpPr/>
          <p:nvPr/>
        </p:nvCxnSpPr>
        <p:spPr>
          <a:xfrm>
            <a:off x="4828031" y="2606040"/>
            <a:ext cx="274321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PROCESS"/>
          <p:cNvSpPr/>
          <p:nvPr/>
        </p:nvSpPr>
        <p:spPr>
          <a:xfrm>
            <a:off x="5047488" y="2212848"/>
            <a:ext cx="1883664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label PROCESS"/>
          <p:cNvSpPr txBox="1"/>
          <p:nvPr/>
        </p:nvSpPr>
        <p:spPr>
          <a:xfrm>
            <a:off x="513892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6" name="State transition"/>
          <p:cNvCxnSpPr/>
          <p:nvPr/>
        </p:nvCxnSpPr>
        <p:spPr>
          <a:xfrm>
            <a:off x="6931152" y="2606040"/>
            <a:ext cx="27431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TX / RX"/>
          <p:cNvSpPr/>
          <p:nvPr/>
        </p:nvSpPr>
        <p:spPr>
          <a:xfrm>
            <a:off x="7150607" y="2212848"/>
            <a:ext cx="1883664" cy="7863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label TX / RX"/>
          <p:cNvSpPr txBox="1"/>
          <p:nvPr/>
        </p:nvSpPr>
        <p:spPr>
          <a:xfrm>
            <a:off x="724204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9" name="State transition"/>
          <p:cNvCxnSpPr/>
          <p:nvPr/>
        </p:nvCxnSpPr>
        <p:spPr>
          <a:xfrm>
            <a:off x="9034272" y="2606040"/>
            <a:ext cx="274320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ate WAIT"/>
          <p:cNvSpPr/>
          <p:nvPr/>
        </p:nvSpPr>
        <p:spPr>
          <a:xfrm>
            <a:off x="9253728" y="2212848"/>
            <a:ext cx="1883664" cy="78638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e label WAIT"/>
          <p:cNvSpPr txBox="1"/>
          <p:nvPr/>
        </p:nvSpPr>
        <p:spPr>
          <a:xfrm>
            <a:off x="934516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2" name="State ledger"/>
          <p:cNvSpPr/>
          <p:nvPr/>
        </p:nvSpPr>
        <p:spPr>
          <a:xfrm>
            <a:off x="877824" y="3401568"/>
            <a:ext cx="10241280" cy="11155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ledger text"/>
          <p:cNvSpPr txBox="1"/>
          <p:nvPr/>
        </p:nvSpPr>
        <p:spPr>
          <a:xfrm>
            <a:off x="1097280" y="3602736"/>
            <a:ext cx="980236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每個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都留下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duration / power / event；endpoint J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成本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baseline-A endpoint replay；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job／window／energy boundary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'"state": "WAIT"|"state": "SLEEP"|"state": "WAKE"' fallback_artifacts/baseline-A/result.json</a:t>
            </a:r>
          </a:p>
        </p:txBody>
      </p:sp>
      <p:sp>
        <p:nvSpPr>
          <p:cNvPr id="6" name="WAIT lane label"/>
          <p:cNvSpPr/>
          <p:nvPr/>
        </p:nvSpPr>
        <p:spPr>
          <a:xfrm>
            <a:off x="914400" y="1993392"/>
            <a:ext cx="1847088" cy="7315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AIT label"/>
          <p:cNvSpPr txBox="1"/>
          <p:nvPr/>
        </p:nvSpPr>
        <p:spPr>
          <a:xfrm>
            <a:off x="1078992" y="2212848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cxnSp>
        <p:nvCxnSpPr>
          <p:cNvPr id="8" name="WAIT timeline"/>
          <p:cNvCxnSpPr/>
          <p:nvPr/>
        </p:nvCxnSpPr>
        <p:spPr>
          <a:xfrm>
            <a:off x="3054096" y="2359152"/>
            <a:ext cx="7370064" cy="0"/>
          </a:xfrm>
          <a:prstGeom prst="line">
            <a:avLst/>
          </a:prstGeom>
          <a:ln w="304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WAIT sample"/>
          <p:cNvSpPr/>
          <p:nvPr/>
        </p:nvSpPr>
        <p:spPr>
          <a:xfrm>
            <a:off x="4572000" y="2267712"/>
            <a:ext cx="182880" cy="182880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AIT mechanism"/>
          <p:cNvSpPr txBox="1"/>
          <p:nvPr/>
        </p:nvSpPr>
        <p:spPr>
          <a:xfrm>
            <a:off x="5486400" y="2121408"/>
            <a:ext cx="40416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awake idle → no wake event</a:t>
            </a:r>
          </a:p>
        </p:txBody>
      </p:sp>
      <p:sp>
        <p:nvSpPr>
          <p:cNvPr id="11" name="SLEEP lane label"/>
          <p:cNvSpPr/>
          <p:nvPr/>
        </p:nvSpPr>
        <p:spPr>
          <a:xfrm>
            <a:off x="914400" y="3364992"/>
            <a:ext cx="1847088" cy="7315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EEP label"/>
          <p:cNvSpPr txBox="1"/>
          <p:nvPr/>
        </p:nvSpPr>
        <p:spPr>
          <a:xfrm>
            <a:off x="1078992" y="3584448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3" name="SLEEP timeline"/>
          <p:cNvCxnSpPr/>
          <p:nvPr/>
        </p:nvCxnSpPr>
        <p:spPr>
          <a:xfrm>
            <a:off x="3054096" y="3730752"/>
            <a:ext cx="7370064" cy="0"/>
          </a:xfrm>
          <a:prstGeom prst="line">
            <a:avLst/>
          </a:prstGeom>
          <a:ln w="304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EEP sample"/>
          <p:cNvSpPr/>
          <p:nvPr/>
        </p:nvSpPr>
        <p:spPr>
          <a:xfrm>
            <a:off x="4572000" y="3639312"/>
            <a:ext cx="182880" cy="182880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EEP mechanism"/>
          <p:cNvSpPr txBox="1"/>
          <p:nvPr/>
        </p:nvSpPr>
        <p:spPr>
          <a:xfrm>
            <a:off x="5486400" y="3493008"/>
            <a:ext cx="40416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→ WAKE → service</a:t>
            </a:r>
          </a:p>
        </p:txBody>
      </p:sp>
      <p:sp>
        <p:nvSpPr>
          <p:cNvPr id="16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先提出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的方向性預測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再由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WAIT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保持清醒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；SLEEP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可能降低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idle power，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但後續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會增加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latency／energy。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baseline-A endpoint replay；packet ledger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fallback_artifacts/baseline-A/endpoint-replay.json</a:t>
            </a:r>
          </a:p>
        </p:txBody>
      </p:sp>
      <p:sp>
        <p:nvSpPr>
          <p:cNvPr id="6" name="Packet stage queue"/>
          <p:cNvSpPr/>
          <p:nvPr/>
        </p:nvSpPr>
        <p:spPr>
          <a:xfrm>
            <a:off x="804672" y="2084831"/>
            <a:ext cx="1901952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stage queue text"/>
          <p:cNvSpPr txBox="1"/>
          <p:nvPr/>
        </p:nvSpPr>
        <p:spPr>
          <a:xfrm>
            <a:off x="877824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cxnSp>
        <p:nvCxnSpPr>
          <p:cNvPr id="8" name="Packet arrow"/>
          <p:cNvCxnSpPr/>
          <p:nvPr/>
        </p:nvCxnSpPr>
        <p:spPr>
          <a:xfrm>
            <a:off x="2706624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cket stage attempt"/>
          <p:cNvSpPr/>
          <p:nvPr/>
        </p:nvSpPr>
        <p:spPr>
          <a:xfrm>
            <a:off x="2944368" y="2084831"/>
            <a:ext cx="1901952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cket stage attempt text"/>
          <p:cNvSpPr txBox="1"/>
          <p:nvPr/>
        </p:nvSpPr>
        <p:spPr>
          <a:xfrm>
            <a:off x="3017520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cxnSp>
        <p:nvCxnSpPr>
          <p:cNvPr id="11" name="Packet arrow"/>
          <p:cNvCxnSpPr/>
          <p:nvPr/>
        </p:nvCxnSpPr>
        <p:spPr>
          <a:xfrm>
            <a:off x="4846320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cket stage retry"/>
          <p:cNvSpPr/>
          <p:nvPr/>
        </p:nvSpPr>
        <p:spPr>
          <a:xfrm>
            <a:off x="5084064" y="2084831"/>
            <a:ext cx="1901952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stage retry text"/>
          <p:cNvSpPr txBox="1"/>
          <p:nvPr/>
        </p:nvSpPr>
        <p:spPr>
          <a:xfrm>
            <a:off x="5157216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cxnSp>
        <p:nvCxnSpPr>
          <p:cNvPr id="14" name="Packet arrow"/>
          <p:cNvCxnSpPr/>
          <p:nvPr/>
        </p:nvCxnSpPr>
        <p:spPr>
          <a:xfrm>
            <a:off x="6986016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acket stage delivered"/>
          <p:cNvSpPr/>
          <p:nvPr/>
        </p:nvSpPr>
        <p:spPr>
          <a:xfrm>
            <a:off x="7223759" y="2084831"/>
            <a:ext cx="1901952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cket stage delivered text"/>
          <p:cNvSpPr txBox="1"/>
          <p:nvPr/>
        </p:nvSpPr>
        <p:spPr>
          <a:xfrm>
            <a:off x="7296912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cxnSp>
        <p:nvCxnSpPr>
          <p:cNvPr id="17" name="Packet arrow"/>
          <p:cNvCxnSpPr/>
          <p:nvPr/>
        </p:nvCxnSpPr>
        <p:spPr>
          <a:xfrm>
            <a:off x="9125712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acket stage expired"/>
          <p:cNvSpPr/>
          <p:nvPr/>
        </p:nvSpPr>
        <p:spPr>
          <a:xfrm>
            <a:off x="9363455" y="2084831"/>
            <a:ext cx="1901952" cy="804672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cket stage expired text"/>
          <p:cNvSpPr txBox="1"/>
          <p:nvPr/>
        </p:nvSpPr>
        <p:spPr>
          <a:xfrm>
            <a:off x="9436607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expired</a:t>
            </a:r>
          </a:p>
        </p:txBody>
      </p:sp>
      <p:sp>
        <p:nvSpPr>
          <p:cNvPr id="20" name="Packet numbers"/>
          <p:cNvSpPr/>
          <p:nvPr/>
        </p:nvSpPr>
        <p:spPr>
          <a:xfrm>
            <a:off x="914400" y="3401568"/>
            <a:ext cx="4791456" cy="10972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cket numbers text"/>
          <p:cNvSpPr txBox="1"/>
          <p:nvPr/>
        </p:nvSpPr>
        <p:spPr>
          <a:xfrm>
            <a:off x="1133856" y="3566160"/>
            <a:ext cx="4352544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attempted ≠ delivered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retry / collision / expired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都要保留</a:t>
            </a:r>
          </a:p>
        </p:txBody>
      </p:sp>
      <p:sp>
        <p:nvSpPr>
          <p:cNvPr id="22" name="Packet interpretation"/>
          <p:cNvSpPr/>
          <p:nvPr/>
        </p:nvSpPr>
        <p:spPr>
          <a:xfrm>
            <a:off x="6108192" y="3401568"/>
            <a:ext cx="5010912" cy="10972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cket interpretation text"/>
          <p:cNvSpPr txBox="1"/>
          <p:nvPr/>
        </p:nvSpPr>
        <p:spPr>
          <a:xfrm>
            <a:off x="6345936" y="3648456"/>
            <a:ext cx="4535424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一次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SEND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decision；service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要看完整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packet outcome。</a:t>
            </a:r>
          </a:p>
        </p:txBody>
      </p:sp>
      <p:sp>
        <p:nvSpPr>
          <p:cNvPr id="2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paired baseline／candidate；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scenario、job、window、endpoint scope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'"service_pass"|"deadline_pass"|"energy_scope"' fallback_artifacts/candidate-A/result.json</a:t>
            </a:r>
          </a:p>
        </p:txBody>
      </p:sp>
      <p:sp>
        <p:nvSpPr>
          <p:cNvPr id="8" name="Service gate"/>
          <p:cNvSpPr/>
          <p:nvPr/>
        </p:nvSpPr>
        <p:spPr>
          <a:xfrm>
            <a:off x="822960" y="1993392"/>
            <a:ext cx="6400800" cy="2359152"/>
          </a:xfrm>
          <a:prstGeom prst="roundRect">
            <a:avLst/>
          </a:prstGeom>
          <a:solidFill>
            <a:srgbClr val="ECF1FE"/>
          </a:solidFill>
          <a:ln w="1651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rvice gate heading"/>
          <p:cNvSpPr txBox="1"/>
          <p:nvPr/>
        </p:nvSpPr>
        <p:spPr>
          <a:xfrm>
            <a:off x="1078992" y="2267712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GATE</a:t>
            </a:r>
          </a:p>
        </p:txBody>
      </p:sp>
      <p:sp>
        <p:nvSpPr>
          <p:cNvPr id="10" name="Service gate body"/>
          <p:cNvSpPr txBox="1"/>
          <p:nvPr/>
        </p:nvSpPr>
        <p:spPr>
          <a:xfrm>
            <a:off x="1170432" y="2761488"/>
            <a:ext cx="5705856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window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/ deadline</a:t>
            </a:r>
          </a:p>
        </p:txBody>
      </p:sp>
      <p:cxnSp>
        <p:nvCxnSpPr>
          <p:cNvPr id="11" name="Service to energy"/>
          <p:cNvCxnSpPr/>
          <p:nvPr/>
        </p:nvCxnSpPr>
        <p:spPr>
          <a:xfrm>
            <a:off x="7242048" y="3163824"/>
            <a:ext cx="566927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nergy comparison"/>
          <p:cNvSpPr/>
          <p:nvPr/>
        </p:nvSpPr>
        <p:spPr>
          <a:xfrm>
            <a:off x="7991856" y="1993392"/>
            <a:ext cx="3090672" cy="2359152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nergy heading"/>
          <p:cNvSpPr txBox="1"/>
          <p:nvPr/>
        </p:nvSpPr>
        <p:spPr>
          <a:xfrm>
            <a:off x="8247888" y="226771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THEN COMPARE J</a:t>
            </a:r>
          </a:p>
        </p:txBody>
      </p:sp>
      <p:sp>
        <p:nvSpPr>
          <p:cNvPr id="14" name="Energy body"/>
          <p:cNvSpPr txBox="1"/>
          <p:nvPr/>
        </p:nvSpPr>
        <p:spPr>
          <a:xfrm>
            <a:off x="8302752" y="2761488"/>
            <a:ext cx="246888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scope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state ledger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breakdown</a:t>
            </a:r>
          </a:p>
        </p:txBody>
      </p:sp>
      <p:sp>
        <p:nvSpPr>
          <p:cNvPr id="15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job、window、delivery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deadline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可比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 candidate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少送或多過期時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較低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不能直接升格為節能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；service gate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先決定比較資格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result JSON；energy scope = endpoint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'"endpoint_energy_j"|"power"|"energy_breakdown_j"' fallback_artifacts/candidate-A/result.json</a:t>
            </a:r>
          </a:p>
        </p:txBody>
      </p:sp>
      <p:cxnSp>
        <p:nvCxnSpPr>
          <p:cNvPr id="6" name="Power time axis"/>
          <p:cNvCxnSpPr/>
          <p:nvPr/>
        </p:nvCxnSpPr>
        <p:spPr>
          <a:xfrm>
            <a:off x="1371600" y="4169663"/>
            <a:ext cx="905256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ower axis"/>
          <p:cNvCxnSpPr/>
          <p:nvPr/>
        </p:nvCxnSpPr>
        <p:spPr>
          <a:xfrm flipV="1">
            <a:off x="1371600" y="1993392"/>
            <a:ext cx="0" cy="2176271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ower curve"/>
          <p:cNvCxnSpPr/>
          <p:nvPr/>
        </p:nvCxnSpPr>
        <p:spPr>
          <a:xfrm flipV="1">
            <a:off x="1591056" y="2980944"/>
            <a:ext cx="1261872" cy="566928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ower curve"/>
          <p:cNvCxnSpPr/>
          <p:nvPr/>
        </p:nvCxnSpPr>
        <p:spPr>
          <a:xfrm flipV="1">
            <a:off x="2852928" y="2468880"/>
            <a:ext cx="1152144" cy="512064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ower curve"/>
          <p:cNvCxnSpPr/>
          <p:nvPr/>
        </p:nvCxnSpPr>
        <p:spPr>
          <a:xfrm>
            <a:off x="4005072" y="2468880"/>
            <a:ext cx="1225296" cy="676656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ower curve"/>
          <p:cNvCxnSpPr/>
          <p:nvPr/>
        </p:nvCxnSpPr>
        <p:spPr>
          <a:xfrm flipV="1">
            <a:off x="5230368" y="2286000"/>
            <a:ext cx="1170432" cy="859536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ower curve"/>
          <p:cNvCxnSpPr/>
          <p:nvPr/>
        </p:nvCxnSpPr>
        <p:spPr>
          <a:xfrm>
            <a:off x="6400800" y="2286000"/>
            <a:ext cx="1316736" cy="512064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Power curve"/>
          <p:cNvCxnSpPr/>
          <p:nvPr/>
        </p:nvCxnSpPr>
        <p:spPr>
          <a:xfrm flipV="1">
            <a:off x="7717536" y="2139696"/>
            <a:ext cx="1536192" cy="658368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ower curve"/>
          <p:cNvCxnSpPr/>
          <p:nvPr/>
        </p:nvCxnSpPr>
        <p:spPr>
          <a:xfrm>
            <a:off x="9253728" y="2139696"/>
            <a:ext cx="896112" cy="621792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ower sample"/>
          <p:cNvSpPr/>
          <p:nvPr/>
        </p:nvSpPr>
        <p:spPr>
          <a:xfrm>
            <a:off x="1517904" y="3474720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wer sample"/>
          <p:cNvSpPr/>
          <p:nvPr/>
        </p:nvSpPr>
        <p:spPr>
          <a:xfrm>
            <a:off x="2779776" y="2907791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wer sample"/>
          <p:cNvSpPr/>
          <p:nvPr/>
        </p:nvSpPr>
        <p:spPr>
          <a:xfrm>
            <a:off x="3931920" y="2395728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wer sample"/>
          <p:cNvSpPr/>
          <p:nvPr/>
        </p:nvSpPr>
        <p:spPr>
          <a:xfrm>
            <a:off x="5157216" y="3072384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wer sample"/>
          <p:cNvSpPr/>
          <p:nvPr/>
        </p:nvSpPr>
        <p:spPr>
          <a:xfrm>
            <a:off x="6327648" y="2212848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wer sample"/>
          <p:cNvSpPr/>
          <p:nvPr/>
        </p:nvSpPr>
        <p:spPr>
          <a:xfrm>
            <a:off x="7644383" y="2724912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wer sample"/>
          <p:cNvSpPr/>
          <p:nvPr/>
        </p:nvSpPr>
        <p:spPr>
          <a:xfrm>
            <a:off x="9180576" y="2066543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wer sample"/>
          <p:cNvSpPr/>
          <p:nvPr/>
        </p:nvSpPr>
        <p:spPr>
          <a:xfrm>
            <a:off x="10076688" y="2688336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wer label"/>
          <p:cNvSpPr txBox="1"/>
          <p:nvPr/>
        </p:nvSpPr>
        <p:spPr>
          <a:xfrm>
            <a:off x="1426464" y="177393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P(t) / W</a:t>
            </a:r>
          </a:p>
        </p:txBody>
      </p:sp>
      <p:sp>
        <p:nvSpPr>
          <p:cNvPr id="24" name="Time label"/>
          <p:cNvSpPr txBox="1"/>
          <p:nvPr/>
        </p:nvSpPr>
        <p:spPr>
          <a:xfrm>
            <a:off x="8394192" y="43525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time / s</a:t>
            </a:r>
          </a:p>
        </p:txBody>
      </p:sp>
      <p:sp>
        <p:nvSpPr>
          <p:cNvPr id="25" name="Area interpretation"/>
          <p:cNvSpPr/>
          <p:nvPr/>
        </p:nvSpPr>
        <p:spPr>
          <a:xfrm>
            <a:off x="859536" y="4718304"/>
            <a:ext cx="10296144" cy="60350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ea text"/>
          <p:cNvSpPr txBox="1"/>
          <p:nvPr/>
        </p:nvSpPr>
        <p:spPr>
          <a:xfrm>
            <a:off x="1060704" y="4882896"/>
            <a:ext cx="989380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曲線下的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area 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endpoint J；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低峰值拖得久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仍可能累積更多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：endpoint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的範圍</a:t>
            </a:r>
          </a:p>
        </p:txBody>
      </p:sp>
      <p:sp>
        <p:nvSpPr>
          <p:cNvPr id="3" name="NATIVE_EQUATION_HOOK_E_endpoint"/>
          <p:cNvSpPr/>
          <p:nvPr/>
        </p:nvSpPr>
        <p:spPr>
          <a:xfrm>
            <a:off x="502920" y="1426464"/>
            <a:ext cx="11183112" cy="3108960"/>
          </a:xfrm>
          <a:prstGeom prst="roundRect">
            <a:avLst/>
          </a:prstGeom>
          <a:solidFill>
            <a:srgbClr val="FAF7E8"/>
          </a:solidFill>
          <a:ln w="1778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TIVE_EQUATION_HOOK_LABEL_E_endpoint"/>
          <p:cNvSpPr txBox="1"/>
          <p:nvPr/>
        </p:nvSpPr>
        <p:spPr>
          <a:xfrm>
            <a:off x="1097280" y="1664208"/>
            <a:ext cx="976579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EDITABLE OFFICE MATH</a:t>
            </a:r>
          </a:p>
        </p:txBody>
      </p:sp>
      <p:sp>
        <p:nvSpPr>
          <p:cNvPr id="5" name="Formula preview fallback E_endpoint"/>
          <p:cNvSpPr txBox="1"/>
          <p:nvPr/>
        </p:nvSpPr>
        <p:spPr>
          <a:xfrm>
            <a:off x="1225296" y="2414016"/>
            <a:ext cx="950976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 = Σ P_s t_s</a:t>
            </a:r>
          </a:p>
        </p:txBody>
      </p:sp>
      <p:sp>
        <p:nvSpPr>
          <p:cNvPr id="6" name="Formula scope"/>
          <p:cNvSpPr txBox="1"/>
          <p:nvPr/>
        </p:nvSpPr>
        <p:spPr>
          <a:xfrm>
            <a:off x="1170432" y="3639312"/>
            <a:ext cx="9582912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E_endpoint = Σ P_s t_s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boundary ≠ whole system</a:t>
            </a:r>
          </a:p>
        </p:txBody>
      </p:sp>
      <p:sp>
        <p:nvSpPr>
          <p:cNvPr id="7" name="Formula guard"/>
          <p:cNvSpPr/>
          <p:nvPr/>
        </p:nvSpPr>
        <p:spPr>
          <a:xfrm>
            <a:off x="932688" y="4736592"/>
            <a:ext cx="10168128" cy="56692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rmula guard text"/>
          <p:cNvSpPr txBox="1"/>
          <p:nvPr/>
        </p:nvSpPr>
        <p:spPr>
          <a:xfrm>
            <a:off x="1152144" y="4901184"/>
            <a:ext cx="972921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Office Math hook is editable；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數字仍由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result artifact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提供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不自行補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KPI。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服務效率的分子與分母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NATIVE_EQUATION_HOOK_eta_E"/>
          <p:cNvSpPr/>
          <p:nvPr/>
        </p:nvSpPr>
        <p:spPr>
          <a:xfrm>
            <a:off x="502920" y="1426464"/>
            <a:ext cx="11183112" cy="3108960"/>
          </a:xfrm>
          <a:prstGeom prst="roundRect">
            <a:avLst/>
          </a:prstGeom>
          <a:solidFill>
            <a:srgbClr val="FAF7E8"/>
          </a:solidFill>
          <a:ln w="1778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TIVE_EQUATION_HOOK_LABEL_eta_E"/>
          <p:cNvSpPr txBox="1"/>
          <p:nvPr/>
        </p:nvSpPr>
        <p:spPr>
          <a:xfrm>
            <a:off x="1097280" y="1664208"/>
            <a:ext cx="976579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EDITABLE OFFICE MATH</a:t>
            </a:r>
          </a:p>
        </p:txBody>
      </p:sp>
      <p:sp>
        <p:nvSpPr>
          <p:cNvPr id="7" name="Formula preview fallback eta_E"/>
          <p:cNvSpPr txBox="1"/>
          <p:nvPr/>
        </p:nvSpPr>
        <p:spPr>
          <a:xfrm>
            <a:off x="1225296" y="2414016"/>
            <a:ext cx="950976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η_E = D_delivered / E_endpoint</a:t>
            </a:r>
          </a:p>
        </p:txBody>
      </p:sp>
      <p:sp>
        <p:nvSpPr>
          <p:cNvPr id="8" name="Formula scope"/>
          <p:cNvSpPr txBox="1"/>
          <p:nvPr/>
        </p:nvSpPr>
        <p:spPr>
          <a:xfrm>
            <a:off x="1170432" y="3639312"/>
            <a:ext cx="9582912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η_E = D_delivered / E_endpoint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bit ÷ J = bit/J</a:t>
            </a:r>
          </a:p>
        </p:txBody>
      </p:sp>
      <p:sp>
        <p:nvSpPr>
          <p:cNvPr id="9" name="Formula guard"/>
          <p:cNvSpPr/>
          <p:nvPr/>
        </p:nvSpPr>
        <p:spPr>
          <a:xfrm>
            <a:off x="932688" y="4736592"/>
            <a:ext cx="10168128" cy="56692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rmula guard text"/>
          <p:cNvSpPr txBox="1"/>
          <p:nvPr/>
        </p:nvSpPr>
        <p:spPr>
          <a:xfrm>
            <a:off x="1152144" y="4901184"/>
            <a:ext cx="972921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Office Math hook is editable；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數字仍由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result artifact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提供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不自行補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KPI。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result／replay／scenario lineage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'scenario_id|seed|policy_sha256|artifact_source' fallback_artifacts/candidate-A/result.json</a:t>
            </a:r>
          </a:p>
        </p:txBody>
      </p:sp>
      <p:sp>
        <p:nvSpPr>
          <p:cNvPr id="6" name="Provenance source"/>
          <p:cNvSpPr/>
          <p:nvPr/>
        </p:nvSpPr>
        <p:spPr>
          <a:xfrm>
            <a:off x="877824" y="2084831"/>
            <a:ext cx="22128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venance source text"/>
          <p:cNvSpPr txBox="1"/>
          <p:nvPr/>
        </p:nvSpPr>
        <p:spPr>
          <a:xfrm>
            <a:off x="987552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8" name="Provenance arrow"/>
          <p:cNvCxnSpPr/>
          <p:nvPr/>
        </p:nvCxnSpPr>
        <p:spPr>
          <a:xfrm>
            <a:off x="3090672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venance model"/>
          <p:cNvSpPr/>
          <p:nvPr/>
        </p:nvSpPr>
        <p:spPr>
          <a:xfrm>
            <a:off x="3364992" y="2084831"/>
            <a:ext cx="22128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model text"/>
          <p:cNvSpPr txBox="1"/>
          <p:nvPr/>
        </p:nvSpPr>
        <p:spPr>
          <a:xfrm>
            <a:off x="3474720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11" name="Provenance arrow"/>
          <p:cNvCxnSpPr/>
          <p:nvPr/>
        </p:nvCxnSpPr>
        <p:spPr>
          <a:xfrm>
            <a:off x="5577840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venance course"/>
          <p:cNvSpPr/>
          <p:nvPr/>
        </p:nvSpPr>
        <p:spPr>
          <a:xfrm>
            <a:off x="5852160" y="2084831"/>
            <a:ext cx="22128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course text"/>
          <p:cNvSpPr txBox="1"/>
          <p:nvPr/>
        </p:nvSpPr>
        <p:spPr>
          <a:xfrm>
            <a:off x="5961888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course</a:t>
            </a:r>
          </a:p>
        </p:txBody>
      </p:sp>
      <p:cxnSp>
        <p:nvCxnSpPr>
          <p:cNvPr id="14" name="Provenance arrow"/>
          <p:cNvCxnSpPr/>
          <p:nvPr/>
        </p:nvCxnSpPr>
        <p:spPr>
          <a:xfrm>
            <a:off x="8065008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venance result"/>
          <p:cNvSpPr/>
          <p:nvPr/>
        </p:nvSpPr>
        <p:spPr>
          <a:xfrm>
            <a:off x="8339328" y="2084831"/>
            <a:ext cx="22128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venance result text"/>
          <p:cNvSpPr txBox="1"/>
          <p:nvPr/>
        </p:nvSpPr>
        <p:spPr>
          <a:xfrm>
            <a:off x="8449056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7" name="Provenance token"/>
          <p:cNvSpPr/>
          <p:nvPr/>
        </p:nvSpPr>
        <p:spPr>
          <a:xfrm>
            <a:off x="1024128" y="3456432"/>
            <a:ext cx="9948672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token text"/>
          <p:cNvSpPr txBox="1"/>
          <p:nvPr/>
        </p:nvSpPr>
        <p:spPr>
          <a:xfrm>
            <a:off x="1225296" y="3694176"/>
            <a:ext cx="954633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ntpu-energy-decision-01  ·  seed 12001 / 12002  ·  policy SHA  ·  artifact_source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綁住整條鏈</a:t>
            </a:r>
          </a:p>
        </p:txBody>
      </p:sp>
      <p:sp>
        <p:nvSpPr>
          <p:cNvPr id="3" name="Identity source"/>
          <p:cNvSpPr/>
          <p:nvPr/>
        </p:nvSpPr>
        <p:spPr>
          <a:xfrm>
            <a:off x="822960" y="1225296"/>
            <a:ext cx="2779776" cy="402336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dentity source heading"/>
          <p:cNvSpPr txBox="1"/>
          <p:nvPr/>
        </p:nvSpPr>
        <p:spPr>
          <a:xfrm>
            <a:off x="1060704" y="151790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5" name="Identity source text"/>
          <p:cNvSpPr txBox="1"/>
          <p:nvPr/>
        </p:nvSpPr>
        <p:spPr>
          <a:xfrm>
            <a:off x="1078992" y="1956816"/>
            <a:ext cx="2267712" cy="2505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repo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https://github.com/cedarwud/lora-energy-lab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commit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32cc72309041…</a:t>
            </a:r>
          </a:p>
        </p:txBody>
      </p:sp>
      <p:sp>
        <p:nvSpPr>
          <p:cNvPr id="6" name="Identity scenario"/>
          <p:cNvSpPr/>
          <p:nvPr/>
        </p:nvSpPr>
        <p:spPr>
          <a:xfrm>
            <a:off x="4041648" y="1225296"/>
            <a:ext cx="2779776" cy="402336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dentity scenario heading"/>
          <p:cNvSpPr txBox="1"/>
          <p:nvPr/>
        </p:nvSpPr>
        <p:spPr>
          <a:xfrm>
            <a:off x="4279392" y="151790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</p:txBody>
      </p:sp>
      <p:sp>
        <p:nvSpPr>
          <p:cNvPr id="8" name="Identity scenario text"/>
          <p:cNvSpPr txBox="1"/>
          <p:nvPr/>
        </p:nvSpPr>
        <p:spPr>
          <a:xfrm>
            <a:off x="4297680" y="1956816"/>
            <a:ext cx="2267712" cy="2505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anchor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sha256:cfe84682a71c0…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lock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sha256:f1d1fe3339137…</a:t>
            </a:r>
          </a:p>
        </p:txBody>
      </p:sp>
      <p:sp>
        <p:nvSpPr>
          <p:cNvPr id="9" name="Identity chain"/>
          <p:cNvSpPr/>
          <p:nvPr/>
        </p:nvSpPr>
        <p:spPr>
          <a:xfrm>
            <a:off x="7260336" y="1225296"/>
            <a:ext cx="3785615" cy="402336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dentity chain heading"/>
          <p:cNvSpPr txBox="1"/>
          <p:nvPr/>
        </p:nvSpPr>
        <p:spPr>
          <a:xfrm>
            <a:off x="7516368" y="1517904"/>
            <a:ext cx="32735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RUN → REPLAY → WORKBOOK</a:t>
            </a:r>
          </a:p>
        </p:txBody>
      </p:sp>
      <p:sp>
        <p:nvSpPr>
          <p:cNvPr id="11" name="Identity chain text"/>
          <p:cNvSpPr txBox="1"/>
          <p:nvPr/>
        </p:nvSpPr>
        <p:spPr>
          <a:xfrm>
            <a:off x="7534656" y="1956816"/>
            <a:ext cx="3236976" cy="23957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units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seed role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 closed on mismatch</a:t>
            </a:r>
          </a:p>
        </p:txBody>
      </p:sp>
      <p:sp>
        <p:nvSpPr>
          <p:cNvPr id="12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IDENTITY GATE｜scenario / anchor / policy / replay must agree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root；baseline／candidate A-B pair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Fairness FIXED"/>
          <p:cNvSpPr/>
          <p:nvPr/>
        </p:nvSpPr>
        <p:spPr>
          <a:xfrm>
            <a:off x="896112" y="2066543"/>
            <a:ext cx="3273552" cy="13167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airness FIXED heading"/>
          <p:cNvSpPr txBox="1"/>
          <p:nvPr/>
        </p:nvSpPr>
        <p:spPr>
          <a:xfrm>
            <a:off x="1060704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FIXED</a:t>
            </a:r>
          </a:p>
        </p:txBody>
      </p:sp>
      <p:sp>
        <p:nvSpPr>
          <p:cNvPr id="10" name="Fairness FIXED body"/>
          <p:cNvSpPr txBox="1"/>
          <p:nvPr/>
        </p:nvSpPr>
        <p:spPr>
          <a:xfrm>
            <a:off x="1078992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/ seed / job / window</a:t>
            </a:r>
          </a:p>
        </p:txBody>
      </p:sp>
      <p:sp>
        <p:nvSpPr>
          <p:cNvPr id="11" name="Fairness ONE EDIT"/>
          <p:cNvSpPr/>
          <p:nvPr/>
        </p:nvSpPr>
        <p:spPr>
          <a:xfrm>
            <a:off x="4626864" y="2066543"/>
            <a:ext cx="3273552" cy="13167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airness ONE EDIT heading"/>
          <p:cNvSpPr txBox="1"/>
          <p:nvPr/>
        </p:nvSpPr>
        <p:spPr>
          <a:xfrm>
            <a:off x="4791456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ONE EDIT</a:t>
            </a:r>
          </a:p>
        </p:txBody>
      </p:sp>
      <p:sp>
        <p:nvSpPr>
          <p:cNvPr id="13" name="Fairness ONE EDIT body"/>
          <p:cNvSpPr txBox="1"/>
          <p:nvPr/>
        </p:nvSpPr>
        <p:spPr>
          <a:xfrm>
            <a:off x="4809744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current marked block</a:t>
            </a:r>
          </a:p>
        </p:txBody>
      </p:sp>
      <p:sp>
        <p:nvSpPr>
          <p:cNvPr id="14" name="Fairness OBSERVE"/>
          <p:cNvSpPr/>
          <p:nvPr/>
        </p:nvSpPr>
        <p:spPr>
          <a:xfrm>
            <a:off x="8357616" y="2066543"/>
            <a:ext cx="3273552" cy="13167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airness OBSERVE heading"/>
          <p:cNvSpPr txBox="1"/>
          <p:nvPr/>
        </p:nvSpPr>
        <p:spPr>
          <a:xfrm>
            <a:off x="8522208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OBSERVE</a:t>
            </a:r>
          </a:p>
        </p:txBody>
      </p:sp>
      <p:sp>
        <p:nvSpPr>
          <p:cNvPr id="16" name="Fairness OBSERVE body"/>
          <p:cNvSpPr txBox="1"/>
          <p:nvPr/>
        </p:nvSpPr>
        <p:spPr>
          <a:xfrm>
            <a:off x="8540496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packet / service / state / J</a:t>
            </a:r>
          </a:p>
        </p:txBody>
      </p:sp>
      <p:sp>
        <p:nvSpPr>
          <p:cNvPr id="17" name="Fairness warning"/>
          <p:cNvSpPr/>
          <p:nvPr/>
        </p:nvSpPr>
        <p:spPr>
          <a:xfrm>
            <a:off x="1005840" y="3840480"/>
            <a:ext cx="9966960" cy="11155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airness warning text"/>
          <p:cNvSpPr txBox="1"/>
          <p:nvPr/>
        </p:nvSpPr>
        <p:spPr>
          <a:xfrm>
            <a:off x="1261872" y="4133087"/>
            <a:ext cx="9454896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trace、scope、job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偷換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這一組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A/B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就失去因果資格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scenario quality/contact trace；same anchor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'contact|window|quality_band_trace' scenarios/ntpu-energy-decision-01.json</a:t>
            </a:r>
          </a:p>
        </p:txBody>
      </p:sp>
      <p:cxnSp>
        <p:nvCxnSpPr>
          <p:cNvPr id="6" name="Window axis"/>
          <p:cNvCxnSpPr/>
          <p:nvPr/>
        </p:nvCxnSpPr>
        <p:spPr>
          <a:xfrm>
            <a:off x="1024128" y="2852928"/>
            <a:ext cx="969264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Window open"/>
          <p:cNvSpPr/>
          <p:nvPr/>
        </p:nvSpPr>
        <p:spPr>
          <a:xfrm>
            <a:off x="1188720" y="2139696"/>
            <a:ext cx="4828032" cy="140817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open heading"/>
          <p:cNvSpPr txBox="1"/>
          <p:nvPr/>
        </p:nvSpPr>
        <p:spPr>
          <a:xfrm>
            <a:off x="1444752" y="2395728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sp>
        <p:nvSpPr>
          <p:cNvPr id="9" name="Window open body"/>
          <p:cNvSpPr txBox="1"/>
          <p:nvPr/>
        </p:nvSpPr>
        <p:spPr>
          <a:xfrm>
            <a:off x="1463040" y="2834640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SEND / WAIT legal context</a:t>
            </a:r>
          </a:p>
        </p:txBody>
      </p:sp>
      <p:sp>
        <p:nvSpPr>
          <p:cNvPr id="10" name="Window closed"/>
          <p:cNvSpPr/>
          <p:nvPr/>
        </p:nvSpPr>
        <p:spPr>
          <a:xfrm>
            <a:off x="6236208" y="2139696"/>
            <a:ext cx="4828032" cy="1408176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ndow closed heading"/>
          <p:cNvSpPr txBox="1"/>
          <p:nvPr/>
        </p:nvSpPr>
        <p:spPr>
          <a:xfrm>
            <a:off x="6492240" y="2395728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sp>
        <p:nvSpPr>
          <p:cNvPr id="12" name="Window closed body"/>
          <p:cNvSpPr txBox="1"/>
          <p:nvPr/>
        </p:nvSpPr>
        <p:spPr>
          <a:xfrm>
            <a:off x="6510528" y="2779776"/>
            <a:ext cx="427939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delayed action → service risk</a:t>
            </a:r>
          </a:p>
        </p:txBody>
      </p:sp>
      <p:sp>
        <p:nvSpPr>
          <p:cNvPr id="13" name="Legal action marker"/>
          <p:cNvSpPr/>
          <p:nvPr/>
        </p:nvSpPr>
        <p:spPr>
          <a:xfrm>
            <a:off x="3310128" y="2724912"/>
            <a:ext cx="256032" cy="25603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llegal action marker"/>
          <p:cNvSpPr/>
          <p:nvPr/>
        </p:nvSpPr>
        <p:spPr>
          <a:xfrm>
            <a:off x="8467344" y="2724912"/>
            <a:ext cx="256032" cy="256032"/>
          </a:xfrm>
          <a:prstGeom prst="ellipse">
            <a:avLst/>
          </a:prstGeom>
          <a:solidFill>
            <a:srgbClr val="C03737"/>
          </a:solidFill>
          <a:ln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opportunity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接回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WAIT／SEND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的合法性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窗口開啟時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可能服務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窗口關閉時延後可能變成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loss；LEO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只作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changing-window example。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pace</a:t>
            </a:r>
          </a:p>
        </p:txBody>
      </p:sp>
      <p:sp>
        <p:nvSpPr>
          <p:cNvPr id="3" name="Lab A question"/>
          <p:cNvSpPr/>
          <p:nvPr/>
        </p:nvSpPr>
        <p:spPr>
          <a:xfrm>
            <a:off x="804672" y="1225296"/>
            <a:ext cx="5687568" cy="3895344"/>
          </a:xfrm>
          <a:prstGeom prst="roundRect">
            <a:avLst/>
          </a:prstGeom>
          <a:solidFill>
            <a:srgbClr val="ECF1FE"/>
          </a:solidFill>
          <a:ln w="1778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heading"/>
          <p:cNvSpPr txBox="1"/>
          <p:nvPr/>
        </p:nvSpPr>
        <p:spPr>
          <a:xfrm>
            <a:off x="1097280" y="1572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LAB A QUESTION</a:t>
            </a:r>
          </a:p>
        </p:txBody>
      </p:sp>
      <p:sp>
        <p:nvSpPr>
          <p:cNvPr id="5" name="Lab A question text"/>
          <p:cNvSpPr txBox="1"/>
          <p:nvPr/>
        </p:nvSpPr>
        <p:spPr>
          <a:xfrm>
            <a:off x="1078992" y="2212848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different pace / rest</a:t>
            </a:r>
          </a:p>
        </p:txBody>
      </p:sp>
      <p:sp>
        <p:nvSpPr>
          <p:cNvPr id="6" name="Lab A route"/>
          <p:cNvSpPr txBox="1"/>
          <p:nvPr/>
        </p:nvSpPr>
        <p:spPr>
          <a:xfrm>
            <a:off x="1133856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→ candidate → withheld</a:t>
            </a:r>
          </a:p>
        </p:txBody>
      </p:sp>
      <p:sp>
        <p:nvSpPr>
          <p:cNvPr id="7" name="Lab A evidence"/>
          <p:cNvSpPr/>
          <p:nvPr/>
        </p:nvSpPr>
        <p:spPr>
          <a:xfrm>
            <a:off x="6894576" y="1225296"/>
            <a:ext cx="4224528" cy="3895344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evidence heading"/>
          <p:cNvSpPr txBox="1"/>
          <p:nvPr/>
        </p:nvSpPr>
        <p:spPr>
          <a:xfrm>
            <a:off x="7168896" y="1572768"/>
            <a:ext cx="3675887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WATCH THE CHAIN</a:t>
            </a:r>
          </a:p>
        </p:txBody>
      </p:sp>
      <p:sp>
        <p:nvSpPr>
          <p:cNvPr id="9" name="Lab A evidence text"/>
          <p:cNvSpPr txBox="1"/>
          <p:nvPr/>
        </p:nvSpPr>
        <p:spPr>
          <a:xfrm>
            <a:off x="7205472" y="2176272"/>
            <a:ext cx="3602736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edit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state / transition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packet / service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endpoint J</a:t>
            </a:r>
          </a:p>
        </p:txBody>
      </p:sp>
      <p:sp>
        <p:nvSpPr>
          <p:cNvPr id="10" name="Lab A evidence note"/>
          <p:cNvSpPr txBox="1"/>
          <p:nvPr/>
        </p:nvSpPr>
        <p:spPr>
          <a:xfrm>
            <a:off x="7223760" y="424281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 ARTIFACTS ARE SIMULATED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PACE_GAP_STEPS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lab-a-pace-rest marked block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'1,80p'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Code A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A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0" name="Code A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A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2" name="Code A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gap → send opportunity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not direct energy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steps_since_send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lab-a-pace-rest marked block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'10,24p'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Code A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A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8" name="Code A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A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0" name="Code A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 stays awake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may add wake cost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state + service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prediction lock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42415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78992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root；edit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前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baseline policy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53312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Prediction A queue age"/>
          <p:cNvSpPr/>
          <p:nvPr/>
        </p:nvSpPr>
        <p:spPr>
          <a:xfrm>
            <a:off x="1005840" y="2139696"/>
            <a:ext cx="2194560" cy="45720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ediction label queue age"/>
          <p:cNvSpPr txBox="1"/>
          <p:nvPr/>
        </p:nvSpPr>
        <p:spPr>
          <a:xfrm>
            <a:off x="1133856" y="2267712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cxnSp>
        <p:nvCxnSpPr>
          <p:cNvPr id="8" name="Prediction arrow"/>
          <p:cNvCxnSpPr/>
          <p:nvPr/>
        </p:nvCxnSpPr>
        <p:spPr>
          <a:xfrm>
            <a:off x="3401568" y="2368296"/>
            <a:ext cx="749808" cy="0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ediction sentence queue age"/>
          <p:cNvSpPr/>
          <p:nvPr/>
        </p:nvSpPr>
        <p:spPr>
          <a:xfrm>
            <a:off x="4352544" y="2139696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ediction text queue age"/>
          <p:cNvSpPr txBox="1"/>
          <p:nvPr/>
        </p:nvSpPr>
        <p:spPr>
          <a:xfrm>
            <a:off x="4590288" y="2267712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1" name="Prediction A service"/>
          <p:cNvSpPr/>
          <p:nvPr/>
        </p:nvSpPr>
        <p:spPr>
          <a:xfrm>
            <a:off x="1005840" y="2816352"/>
            <a:ext cx="2194560" cy="4572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ediction label service"/>
          <p:cNvSpPr txBox="1"/>
          <p:nvPr/>
        </p:nvSpPr>
        <p:spPr>
          <a:xfrm>
            <a:off x="1133856" y="2944368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3" name="Prediction arrow"/>
          <p:cNvCxnSpPr/>
          <p:nvPr/>
        </p:nvCxnSpPr>
        <p:spPr>
          <a:xfrm>
            <a:off x="3401568" y="3044952"/>
            <a:ext cx="749808" cy="0"/>
          </a:xfrm>
          <a:prstGeom prst="line">
            <a:avLst/>
          </a:prstGeom>
          <a:ln w="177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ediction sentence service"/>
          <p:cNvSpPr/>
          <p:nvPr/>
        </p:nvSpPr>
        <p:spPr>
          <a:xfrm>
            <a:off x="4352544" y="2816352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ediction text service"/>
          <p:cNvSpPr txBox="1"/>
          <p:nvPr/>
        </p:nvSpPr>
        <p:spPr>
          <a:xfrm>
            <a:off x="4590288" y="2944368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6" name="Prediction A state time"/>
          <p:cNvSpPr/>
          <p:nvPr/>
        </p:nvSpPr>
        <p:spPr>
          <a:xfrm>
            <a:off x="1005840" y="3493008"/>
            <a:ext cx="2194560" cy="4572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ediction label state time"/>
          <p:cNvSpPr txBox="1"/>
          <p:nvPr/>
        </p:nvSpPr>
        <p:spPr>
          <a:xfrm>
            <a:off x="1133856" y="3621024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time</a:t>
            </a:r>
          </a:p>
        </p:txBody>
      </p:sp>
      <p:cxnSp>
        <p:nvCxnSpPr>
          <p:cNvPr id="18" name="Prediction arrow"/>
          <p:cNvCxnSpPr/>
          <p:nvPr/>
        </p:nvCxnSpPr>
        <p:spPr>
          <a:xfrm>
            <a:off x="3401568" y="3721608"/>
            <a:ext cx="749808" cy="0"/>
          </a:xfrm>
          <a:prstGeom prst="line">
            <a:avLst/>
          </a:prstGeom>
          <a:ln w="1778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ediction sentence state time"/>
          <p:cNvSpPr/>
          <p:nvPr/>
        </p:nvSpPr>
        <p:spPr>
          <a:xfrm>
            <a:off x="4352544" y="3493008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ediction text state time"/>
          <p:cNvSpPr txBox="1"/>
          <p:nvPr/>
        </p:nvSpPr>
        <p:spPr>
          <a:xfrm>
            <a:off x="4590288" y="3621024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1" name="Prediction A endpoint J"/>
          <p:cNvSpPr/>
          <p:nvPr/>
        </p:nvSpPr>
        <p:spPr>
          <a:xfrm>
            <a:off x="1005840" y="4169663"/>
            <a:ext cx="2194560" cy="45720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ediction label endpoint J"/>
          <p:cNvSpPr txBox="1"/>
          <p:nvPr/>
        </p:nvSpPr>
        <p:spPr>
          <a:xfrm>
            <a:off x="1133856" y="4297679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cxnSp>
        <p:nvCxnSpPr>
          <p:cNvPr id="23" name="Prediction arrow"/>
          <p:cNvCxnSpPr/>
          <p:nvPr/>
        </p:nvCxnSpPr>
        <p:spPr>
          <a:xfrm>
            <a:off x="3401568" y="4398264"/>
            <a:ext cx="74980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ediction sentence endpoint J"/>
          <p:cNvSpPr/>
          <p:nvPr/>
        </p:nvSpPr>
        <p:spPr>
          <a:xfrm>
            <a:off x="4352544" y="4169663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ediction text endpoint J"/>
          <p:cNvSpPr txBox="1"/>
          <p:nvPr/>
        </p:nvSpPr>
        <p:spPr>
          <a:xfrm>
            <a:off x="4590288" y="4297679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6" name="Interpretation band"/>
          <p:cNvSpPr/>
          <p:nvPr/>
        </p:nvSpPr>
        <p:spPr>
          <a:xfrm>
            <a:off x="841248" y="499262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terpretation text"/>
          <p:cNvSpPr txBox="1"/>
          <p:nvPr/>
        </p:nvSpPr>
        <p:spPr>
          <a:xfrm>
            <a:off x="1024128" y="508406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前鎖定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queue、service、state time、J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的判讀句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prediction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result；withheld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來迎合答案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7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POSIX／WSL；package root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；baseline policy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不改</a:t>
            </a:r>
          </a:p>
        </p:txBody>
      </p:sp>
      <p:sp>
        <p:nvSpPr>
          <p:cNvPr id="8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baseline</a:t>
            </a:r>
          </a:p>
        </p:txBody>
      </p:sp>
      <p:sp>
        <p:nvSpPr>
          <p:cNvPr id="9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establish control.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fixed scenario / seed → result lineage.</a:t>
            </a:r>
          </a:p>
        </p:txBody>
      </p:sp>
      <p:sp>
        <p:nvSpPr>
          <p:cNvPr id="10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2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run_id …ee6df44f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、energy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6.92 J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、delivered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4800 bit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；fresh stdout/result path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仍待重跑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5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stdout/stderr；restore A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不要再調參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5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</p:txBody>
      </p:sp>
      <p:sp>
        <p:nvSpPr>
          <p:cNvPr id="6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candidate --freeze</a:t>
            </a:r>
          </a:p>
        </p:txBody>
      </p:sp>
      <p:sp>
        <p:nvSpPr>
          <p:cNvPr id="7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freeze one marked edit.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policy SHA + predecessor + receipt.</a:t>
            </a:r>
          </a:p>
        </p:txBody>
      </p:sp>
      <p:sp>
        <p:nvSpPr>
          <p:cNvPr id="8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0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candidate policy 325cca4a…d73cf2f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6cbaf9dc…e11626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J；fresh receipt pending</a:t>
            </a:r>
          </a:p>
        </p:txBody>
      </p:sp>
      <p:sp>
        <p:nvSpPr>
          <p:cNvPr id="11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3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stdout/stderr；restore A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不要再調參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boundary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42415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78992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local fallback pair；result／endpoint-replay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scenario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53312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fallback_artifacts/candidate-A/result.json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fallback_artifacts/candidate-A/endpoint-replay.json</a:t>
            </a:r>
          </a:p>
        </p:txBody>
      </p:sp>
      <p:sp>
        <p:nvSpPr>
          <p:cNvPr id="6" name="Compare BASELINE"/>
          <p:cNvSpPr/>
          <p:nvPr/>
        </p:nvSpPr>
        <p:spPr>
          <a:xfrm>
            <a:off x="841248" y="2084831"/>
            <a:ext cx="4901184" cy="24871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pare BASELINE heading"/>
          <p:cNvSpPr txBox="1"/>
          <p:nvPr/>
        </p:nvSpPr>
        <p:spPr>
          <a:xfrm>
            <a:off x="1060704" y="2340864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8" name="Compare BASELINE body"/>
          <p:cNvSpPr txBox="1"/>
          <p:nvPr/>
        </p:nvSpPr>
        <p:spPr>
          <a:xfrm>
            <a:off x="1152144" y="2798064"/>
            <a:ext cx="4279392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✓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sha256:9917d2cde2e…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6.92 J  ·  delivered 4800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</p:txBody>
      </p:sp>
      <p:sp>
        <p:nvSpPr>
          <p:cNvPr id="9" name="Compare CANDIDATE"/>
          <p:cNvSpPr/>
          <p:nvPr/>
        </p:nvSpPr>
        <p:spPr>
          <a:xfrm>
            <a:off x="6071616" y="2084831"/>
            <a:ext cx="4901184" cy="248716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are CANDIDATE heading"/>
          <p:cNvSpPr txBox="1"/>
          <p:nvPr/>
        </p:nvSpPr>
        <p:spPr>
          <a:xfrm>
            <a:off x="6291072" y="2340864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11" name="Compare CANDIDATE body"/>
          <p:cNvSpPr txBox="1"/>
          <p:nvPr/>
        </p:nvSpPr>
        <p:spPr>
          <a:xfrm>
            <a:off x="6382512" y="2798064"/>
            <a:ext cx="4279392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✓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sha256:325cca4a4be…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  ·  delivered 4800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</p:txBody>
      </p:sp>
      <p:sp>
        <p:nvSpPr>
          <p:cNvPr id="12" name="Compare verdict"/>
          <p:cNvSpPr/>
          <p:nvPr/>
        </p:nvSpPr>
        <p:spPr>
          <a:xfrm>
            <a:off x="1078992" y="4718304"/>
            <a:ext cx="10003536" cy="7132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mpare verdict text"/>
          <p:cNvSpPr txBox="1"/>
          <p:nvPr/>
        </p:nvSpPr>
        <p:spPr>
          <a:xfrm>
            <a:off x="1298448" y="4828032"/>
            <a:ext cx="9564624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先確認同一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boundary；candidate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trade-off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再交給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state / packet / service ledger。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ledger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candidate-A result；state interval／energy breakdown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'STATE_INTERVAL|awake_idle|sleep|wake|process|tx|rx' fallback_artifacts/candidate-A/result.json</a:t>
            </a:r>
          </a:p>
        </p:txBody>
      </p:sp>
      <p:sp>
        <p:nvSpPr>
          <p:cNvPr id="8" name="Ledger label awake idle"/>
          <p:cNvSpPr txBox="1"/>
          <p:nvPr/>
        </p:nvSpPr>
        <p:spPr>
          <a:xfrm>
            <a:off x="914400" y="204825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awake idle</a:t>
            </a:r>
          </a:p>
        </p:txBody>
      </p:sp>
      <p:sp>
        <p:nvSpPr>
          <p:cNvPr id="9" name="Ledger bar awake idle"/>
          <p:cNvSpPr/>
          <p:nvPr/>
        </p:nvSpPr>
        <p:spPr>
          <a:xfrm>
            <a:off x="2395728" y="1975104"/>
            <a:ext cx="4590288" cy="310896"/>
          </a:xfrm>
          <a:prstGeom prst="rect">
            <a:avLst/>
          </a:prstGeom>
          <a:solidFill>
            <a:srgbClr val="E8F7F4"/>
          </a:solidFill>
          <a:ln w="1016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dger value awake idle"/>
          <p:cNvSpPr txBox="1"/>
          <p:nvPr/>
        </p:nvSpPr>
        <p:spPr>
          <a:xfrm>
            <a:off x="9107424" y="204825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6.0 J</a:t>
            </a:r>
          </a:p>
        </p:txBody>
      </p:sp>
      <p:sp>
        <p:nvSpPr>
          <p:cNvPr id="11" name="Ledger label sleep"/>
          <p:cNvSpPr txBox="1"/>
          <p:nvPr/>
        </p:nvSpPr>
        <p:spPr>
          <a:xfrm>
            <a:off x="914400" y="2523744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2" name="Ledger bar sleep"/>
          <p:cNvSpPr/>
          <p:nvPr/>
        </p:nvSpPr>
        <p:spPr>
          <a:xfrm>
            <a:off x="2395728" y="2450592"/>
            <a:ext cx="666414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dger value sleep"/>
          <p:cNvSpPr txBox="1"/>
          <p:nvPr/>
        </p:nvSpPr>
        <p:spPr>
          <a:xfrm>
            <a:off x="9107424" y="2523744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0.04 J</a:t>
            </a:r>
          </a:p>
        </p:txBody>
      </p:sp>
      <p:sp>
        <p:nvSpPr>
          <p:cNvPr id="14" name="Ledger label wake"/>
          <p:cNvSpPr txBox="1"/>
          <p:nvPr/>
        </p:nvSpPr>
        <p:spPr>
          <a:xfrm>
            <a:off x="914400" y="299923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sp>
        <p:nvSpPr>
          <p:cNvPr id="15" name="Ledger bar wake"/>
          <p:cNvSpPr/>
          <p:nvPr/>
        </p:nvSpPr>
        <p:spPr>
          <a:xfrm>
            <a:off x="2395728" y="2926080"/>
            <a:ext cx="653247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dger value wake"/>
          <p:cNvSpPr txBox="1"/>
          <p:nvPr/>
        </p:nvSpPr>
        <p:spPr>
          <a:xfrm>
            <a:off x="9107424" y="299923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0.02 J</a:t>
            </a:r>
          </a:p>
        </p:txBody>
      </p:sp>
      <p:sp>
        <p:nvSpPr>
          <p:cNvPr id="17" name="Ledger label process"/>
          <p:cNvSpPr txBox="1"/>
          <p:nvPr/>
        </p:nvSpPr>
        <p:spPr>
          <a:xfrm>
            <a:off x="914400" y="347472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sp>
        <p:nvSpPr>
          <p:cNvPr id="18" name="Ledger bar process"/>
          <p:cNvSpPr/>
          <p:nvPr/>
        </p:nvSpPr>
        <p:spPr>
          <a:xfrm>
            <a:off x="2395728" y="3401568"/>
            <a:ext cx="745418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dger value process"/>
          <p:cNvSpPr txBox="1"/>
          <p:nvPr/>
        </p:nvSpPr>
        <p:spPr>
          <a:xfrm>
            <a:off x="9107424" y="3474720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0.16 J</a:t>
            </a:r>
          </a:p>
        </p:txBody>
      </p:sp>
      <p:sp>
        <p:nvSpPr>
          <p:cNvPr id="20" name="Ledger label TX"/>
          <p:cNvSpPr txBox="1"/>
          <p:nvPr/>
        </p:nvSpPr>
        <p:spPr>
          <a:xfrm>
            <a:off x="914400" y="3950208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21" name="Ledger bar TX"/>
          <p:cNvSpPr/>
          <p:nvPr/>
        </p:nvSpPr>
        <p:spPr>
          <a:xfrm>
            <a:off x="2395728" y="3877056"/>
            <a:ext cx="2220163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edger value TX"/>
          <p:cNvSpPr txBox="1"/>
          <p:nvPr/>
        </p:nvSpPr>
        <p:spPr>
          <a:xfrm>
            <a:off x="9107424" y="3950208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2.4 J</a:t>
            </a:r>
          </a:p>
        </p:txBody>
      </p:sp>
      <p:sp>
        <p:nvSpPr>
          <p:cNvPr id="23" name="Ledger label RX"/>
          <p:cNvSpPr txBox="1"/>
          <p:nvPr/>
        </p:nvSpPr>
        <p:spPr>
          <a:xfrm>
            <a:off x="914400" y="442569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RX</a:t>
            </a:r>
          </a:p>
        </p:txBody>
      </p:sp>
      <p:sp>
        <p:nvSpPr>
          <p:cNvPr id="24" name="Ledger bar RX"/>
          <p:cNvSpPr/>
          <p:nvPr/>
        </p:nvSpPr>
        <p:spPr>
          <a:xfrm>
            <a:off x="2395728" y="4352544"/>
            <a:ext cx="798088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dger value RX"/>
          <p:cNvSpPr txBox="1"/>
          <p:nvPr/>
        </p:nvSpPr>
        <p:spPr>
          <a:xfrm>
            <a:off x="9107424" y="442569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0.24 J</a:t>
            </a:r>
          </a:p>
        </p:txBody>
      </p:sp>
      <p:sp>
        <p:nvSpPr>
          <p:cNvPr id="26" name="Ledger guard"/>
          <p:cNvSpPr/>
          <p:nvPr/>
        </p:nvSpPr>
        <p:spPr>
          <a:xfrm>
            <a:off x="914400" y="5010912"/>
            <a:ext cx="10168128" cy="47548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dger guard text"/>
          <p:cNvSpPr txBox="1"/>
          <p:nvPr/>
        </p:nvSpPr>
        <p:spPr>
          <a:xfrm>
            <a:off x="1133856" y="5157216"/>
            <a:ext cx="972921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state duration，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再問哪個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造成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consequential diff。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candidate-A result／endpoint replay；packet ledger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'attempt|retry|delivered|expired|service_pass' fallback_artifacts/candidate-A/result.json</a:t>
            </a:r>
          </a:p>
        </p:txBody>
      </p:sp>
      <p:sp>
        <p:nvSpPr>
          <p:cNvPr id="6" name="Packet ledger"/>
          <p:cNvSpPr/>
          <p:nvPr/>
        </p:nvSpPr>
        <p:spPr>
          <a:xfrm>
            <a:off x="896112" y="1993392"/>
            <a:ext cx="4791456" cy="26334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ledger heading"/>
          <p:cNvSpPr txBox="1"/>
          <p:nvPr/>
        </p:nvSpPr>
        <p:spPr>
          <a:xfrm>
            <a:off x="1133856" y="2267712"/>
            <a:ext cx="43159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 CANDIDATE PACKET LEDGER</a:t>
            </a:r>
          </a:p>
        </p:txBody>
      </p:sp>
      <p:sp>
        <p:nvSpPr>
          <p:cNvPr id="8" name="Packet ledger body"/>
          <p:cNvSpPr txBox="1"/>
          <p:nvPr/>
        </p:nvSpPr>
        <p:spPr>
          <a:xfrm>
            <a:off x="1152144" y="2743200"/>
            <a:ext cx="4279392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attempted 2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retransmissions 1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4800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expired 3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</a:t>
            </a:r>
          </a:p>
        </p:txBody>
      </p:sp>
      <p:cxnSp>
        <p:nvCxnSpPr>
          <p:cNvPr id="9" name="Packet to service"/>
          <p:cNvCxnSpPr/>
          <p:nvPr/>
        </p:nvCxnSpPr>
        <p:spPr>
          <a:xfrm>
            <a:off x="5888736" y="3310128"/>
            <a:ext cx="56692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verdict"/>
          <p:cNvSpPr/>
          <p:nvPr/>
        </p:nvSpPr>
        <p:spPr>
          <a:xfrm>
            <a:off x="6675120" y="1993392"/>
            <a:ext cx="4407408" cy="26334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rvice verdict heading"/>
          <p:cNvSpPr txBox="1"/>
          <p:nvPr/>
        </p:nvSpPr>
        <p:spPr>
          <a:xfrm>
            <a:off x="6931152" y="226771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12" name="Service verdict body"/>
          <p:cNvSpPr txBox="1"/>
          <p:nvPr/>
        </p:nvSpPr>
        <p:spPr>
          <a:xfrm>
            <a:off x="6949440" y="2816352"/>
            <a:ext cx="3858768" cy="10424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trade-off，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不說節能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root；A frozen receipt／checkpoint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fallback_artifacts/receipts/a.json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artifacts/checkpoints -maxdepth 1 -type f -print</a:t>
            </a:r>
          </a:p>
        </p:txBody>
      </p:sp>
      <p:sp>
        <p:nvSpPr>
          <p:cNvPr id="6" name="Freeze baseline"/>
          <p:cNvSpPr/>
          <p:nvPr/>
        </p:nvSpPr>
        <p:spPr>
          <a:xfrm>
            <a:off x="932688" y="2231136"/>
            <a:ext cx="2761488" cy="78638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ze baseline text"/>
          <p:cNvSpPr txBox="1"/>
          <p:nvPr/>
        </p:nvSpPr>
        <p:spPr>
          <a:xfrm>
            <a:off x="1078992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cxnSp>
        <p:nvCxnSpPr>
          <p:cNvPr id="8" name="Freeze lineage arrow"/>
          <p:cNvCxnSpPr/>
          <p:nvPr/>
        </p:nvCxnSpPr>
        <p:spPr>
          <a:xfrm>
            <a:off x="3694176" y="2624328"/>
            <a:ext cx="365759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ze candidate"/>
          <p:cNvSpPr/>
          <p:nvPr/>
        </p:nvSpPr>
        <p:spPr>
          <a:xfrm>
            <a:off x="4059935" y="2231136"/>
            <a:ext cx="2761488" cy="786384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ze candidate text"/>
          <p:cNvSpPr txBox="1"/>
          <p:nvPr/>
        </p:nvSpPr>
        <p:spPr>
          <a:xfrm>
            <a:off x="4206240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cxnSp>
        <p:nvCxnSpPr>
          <p:cNvPr id="11" name="Freeze lineage arrow"/>
          <p:cNvCxnSpPr/>
          <p:nvPr/>
        </p:nvCxnSpPr>
        <p:spPr>
          <a:xfrm>
            <a:off x="6821423" y="2624328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ze lab-a-frozen"/>
          <p:cNvSpPr/>
          <p:nvPr/>
        </p:nvSpPr>
        <p:spPr>
          <a:xfrm>
            <a:off x="7187183" y="2231136"/>
            <a:ext cx="2761488" cy="7863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ze lab-a-frozen text"/>
          <p:cNvSpPr txBox="1"/>
          <p:nvPr/>
        </p:nvSpPr>
        <p:spPr>
          <a:xfrm>
            <a:off x="7333488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lab-a-frozen</a:t>
            </a:r>
          </a:p>
        </p:txBody>
      </p:sp>
      <p:sp>
        <p:nvSpPr>
          <p:cNvPr id="14" name="Freeze receipt fields"/>
          <p:cNvSpPr/>
          <p:nvPr/>
        </p:nvSpPr>
        <p:spPr>
          <a:xfrm>
            <a:off x="987552" y="3493008"/>
            <a:ext cx="10021824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receipt fields text"/>
          <p:cNvSpPr txBox="1"/>
          <p:nvPr/>
        </p:nvSpPr>
        <p:spPr>
          <a:xfrm>
            <a:off x="1225296" y="3712463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SHA · predecessor · active_block_id · scenario · anchor · seed · receipt SHA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FREEZE GATE｜missing receipt / checkpoint = stop before withheld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POSIX／WSL；A frozen policy active；same package root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bash course.sh run --lab A --case hidden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hidden</a:t>
            </a:r>
          </a:p>
        </p:txBody>
      </p:sp>
      <p:sp>
        <p:nvSpPr>
          <p:cNvPr id="8" name="Withheld hidden primary"/>
          <p:cNvSpPr/>
          <p:nvPr/>
        </p:nvSpPr>
        <p:spPr>
          <a:xfrm>
            <a:off x="896112" y="2084831"/>
            <a:ext cx="4315968" cy="24871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thheld frozen heading"/>
          <p:cNvSpPr txBox="1"/>
          <p:nvPr/>
        </p:nvSpPr>
        <p:spPr>
          <a:xfrm>
            <a:off x="1133856" y="2359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10" name="Withheld frozen body"/>
          <p:cNvSpPr txBox="1"/>
          <p:nvPr/>
        </p:nvSpPr>
        <p:spPr>
          <a:xfrm>
            <a:off x="1188720" y="2907792"/>
            <a:ext cx="373075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unchanged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new freeze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result + replay</a:t>
            </a:r>
          </a:p>
        </p:txBody>
      </p:sp>
      <p:cxnSp>
        <p:nvCxnSpPr>
          <p:cNvPr id="11" name="Withheld arrow"/>
          <p:cNvCxnSpPr/>
          <p:nvPr/>
        </p:nvCxnSpPr>
        <p:spPr>
          <a:xfrm>
            <a:off x="5468112" y="3310128"/>
            <a:ext cx="640080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Withheld hidden trace"/>
          <p:cNvSpPr/>
          <p:nvPr/>
        </p:nvSpPr>
        <p:spPr>
          <a:xfrm>
            <a:off x="6364224" y="2084831"/>
            <a:ext cx="4645152" cy="24871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ithheld trace heading"/>
          <p:cNvSpPr txBox="1"/>
          <p:nvPr/>
        </p:nvSpPr>
        <p:spPr>
          <a:xfrm>
            <a:off x="6620256" y="2359152"/>
            <a:ext cx="4133087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HIDDEN TRACE</a:t>
            </a:r>
          </a:p>
        </p:txBody>
      </p:sp>
      <p:sp>
        <p:nvSpPr>
          <p:cNvPr id="14" name="Withheld trace body"/>
          <p:cNvSpPr txBox="1"/>
          <p:nvPr/>
        </p:nvSpPr>
        <p:spPr>
          <a:xfrm>
            <a:off x="6675120" y="283464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condition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qualified verdict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A baseline／candidate／hidden fallback trio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fallback_artifacts/hidden-A/result.json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rg -n 'policy_sha256|service_pass|endpoint_energy_j' fallback_artifacts/{baseline-A,candidate-A,hidden-A}/result.json</a:t>
            </a:r>
          </a:p>
        </p:txBody>
      </p:sp>
      <p:sp>
        <p:nvSpPr>
          <p:cNvPr id="6" name="Debrief A condition"/>
          <p:cNvSpPr/>
          <p:nvPr/>
        </p:nvSpPr>
        <p:spPr>
          <a:xfrm>
            <a:off x="896112" y="2157984"/>
            <a:ext cx="2468880" cy="8412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condition"/>
          <p:cNvSpPr txBox="1"/>
          <p:nvPr/>
        </p:nvSpPr>
        <p:spPr>
          <a:xfrm>
            <a:off x="1005840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condition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3364992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A mechanism"/>
          <p:cNvSpPr/>
          <p:nvPr/>
        </p:nvSpPr>
        <p:spPr>
          <a:xfrm>
            <a:off x="3657600" y="2157984"/>
            <a:ext cx="2468880" cy="84124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mechanism"/>
          <p:cNvSpPr txBox="1"/>
          <p:nvPr/>
        </p:nvSpPr>
        <p:spPr>
          <a:xfrm>
            <a:off x="3767328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6126480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A evidence"/>
          <p:cNvSpPr/>
          <p:nvPr/>
        </p:nvSpPr>
        <p:spPr>
          <a:xfrm>
            <a:off x="6419088" y="2157984"/>
            <a:ext cx="2468880" cy="8412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evidence"/>
          <p:cNvSpPr txBox="1"/>
          <p:nvPr/>
        </p:nvSpPr>
        <p:spPr>
          <a:xfrm>
            <a:off x="6528816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14" name="Debrief arrow"/>
          <p:cNvCxnSpPr/>
          <p:nvPr/>
        </p:nvCxnSpPr>
        <p:spPr>
          <a:xfrm>
            <a:off x="8887967" y="2578608"/>
            <a:ext cx="29260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brief A verdict"/>
          <p:cNvSpPr/>
          <p:nvPr/>
        </p:nvSpPr>
        <p:spPr>
          <a:xfrm>
            <a:off x="9180576" y="2157984"/>
            <a:ext cx="2468880" cy="84124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brief verdict"/>
          <p:cNvSpPr txBox="1"/>
          <p:nvPr/>
        </p:nvSpPr>
        <p:spPr>
          <a:xfrm>
            <a:off x="9290303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7" name="Debrief sentence"/>
          <p:cNvSpPr/>
          <p:nvPr/>
        </p:nvSpPr>
        <p:spPr>
          <a:xfrm>
            <a:off x="969264" y="3511296"/>
            <a:ext cx="10021824" cy="1060704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brief sentence text"/>
          <p:cNvSpPr txBox="1"/>
          <p:nvPr/>
        </p:nvSpPr>
        <p:spPr>
          <a:xfrm>
            <a:off x="1207008" y="3749039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A／primary…；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B／hidden…；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因此這個結論成立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被推翻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或待查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3" name="Lab B question"/>
          <p:cNvSpPr/>
          <p:nvPr/>
        </p:nvSpPr>
        <p:spPr>
          <a:xfrm>
            <a:off x="804672" y="1225296"/>
            <a:ext cx="5687568" cy="3895344"/>
          </a:xfrm>
          <a:prstGeom prst="roundRect">
            <a:avLst/>
          </a:prstGeom>
          <a:solidFill>
            <a:srgbClr val="F4EDF7"/>
          </a:solidFill>
          <a:ln w="1778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B heading"/>
          <p:cNvSpPr txBox="1"/>
          <p:nvPr/>
        </p:nvSpPr>
        <p:spPr>
          <a:xfrm>
            <a:off x="1097280" y="1572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LAB B QUESTION</a:t>
            </a:r>
          </a:p>
        </p:txBody>
      </p:sp>
      <p:sp>
        <p:nvSpPr>
          <p:cNvPr id="5" name="Lab B question text"/>
          <p:cNvSpPr txBox="1"/>
          <p:nvPr/>
        </p:nvSpPr>
        <p:spPr>
          <a:xfrm>
            <a:off x="1078992" y="2212848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quality trace / stability</a:t>
            </a:r>
          </a:p>
        </p:txBody>
      </p:sp>
      <p:sp>
        <p:nvSpPr>
          <p:cNvPr id="6" name="Lab B route"/>
          <p:cNvSpPr txBox="1"/>
          <p:nvPr/>
        </p:nvSpPr>
        <p:spPr>
          <a:xfrm>
            <a:off x="1133856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→ candidate → withheld</a:t>
            </a:r>
          </a:p>
        </p:txBody>
      </p:sp>
      <p:sp>
        <p:nvSpPr>
          <p:cNvPr id="7" name="Lab B evidence"/>
          <p:cNvSpPr/>
          <p:nvPr/>
        </p:nvSpPr>
        <p:spPr>
          <a:xfrm>
            <a:off x="6894576" y="1225296"/>
            <a:ext cx="4224528" cy="3895344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B evidence heading"/>
          <p:cNvSpPr txBox="1"/>
          <p:nvPr/>
        </p:nvSpPr>
        <p:spPr>
          <a:xfrm>
            <a:off x="7168896" y="1572768"/>
            <a:ext cx="3675887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WATCH THE CHAIN</a:t>
            </a:r>
          </a:p>
        </p:txBody>
      </p:sp>
      <p:sp>
        <p:nvSpPr>
          <p:cNvPr id="9" name="Lab B evidence text"/>
          <p:cNvSpPr txBox="1"/>
          <p:nvPr/>
        </p:nvSpPr>
        <p:spPr>
          <a:xfrm>
            <a:off x="7205472" y="2176272"/>
            <a:ext cx="3602736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edit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state / transition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packet / service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endpoint J</a:t>
            </a:r>
          </a:p>
        </p:txBody>
      </p:sp>
      <p:sp>
        <p:nvSpPr>
          <p:cNvPr id="10" name="Lab B evidence note"/>
          <p:cNvSpPr txBox="1"/>
          <p:nvPr/>
        </p:nvSpPr>
        <p:spPr>
          <a:xfrm>
            <a:off x="7223760" y="424281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 ARTIFACTS ARE SIMULATED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send-ready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0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2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+ stable count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send-ready transition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not direct energy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8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0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separate enter and exit.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hysteresis limits ping-pong.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8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0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count stable steps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switch after hold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short spike rejected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42415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78992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root；Trace A run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前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；A frozen predecessor active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53312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Prediction B queue age"/>
          <p:cNvSpPr/>
          <p:nvPr/>
        </p:nvSpPr>
        <p:spPr>
          <a:xfrm>
            <a:off x="1005840" y="2139696"/>
            <a:ext cx="2194560" cy="45720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diction label queue age"/>
          <p:cNvSpPr txBox="1"/>
          <p:nvPr/>
        </p:nvSpPr>
        <p:spPr>
          <a:xfrm>
            <a:off x="1133856" y="2267712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cxnSp>
        <p:nvCxnSpPr>
          <p:cNvPr id="10" name="Prediction arrow"/>
          <p:cNvCxnSpPr/>
          <p:nvPr/>
        </p:nvCxnSpPr>
        <p:spPr>
          <a:xfrm>
            <a:off x="3401568" y="2368296"/>
            <a:ext cx="749808" cy="0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ediction sentence queue age"/>
          <p:cNvSpPr/>
          <p:nvPr/>
        </p:nvSpPr>
        <p:spPr>
          <a:xfrm>
            <a:off x="4352544" y="2139696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ediction text queue age"/>
          <p:cNvSpPr txBox="1"/>
          <p:nvPr/>
        </p:nvSpPr>
        <p:spPr>
          <a:xfrm>
            <a:off x="4590288" y="2267712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3" name="Prediction B service"/>
          <p:cNvSpPr/>
          <p:nvPr/>
        </p:nvSpPr>
        <p:spPr>
          <a:xfrm>
            <a:off x="1005840" y="2816352"/>
            <a:ext cx="2194560" cy="4572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ediction label service"/>
          <p:cNvSpPr txBox="1"/>
          <p:nvPr/>
        </p:nvSpPr>
        <p:spPr>
          <a:xfrm>
            <a:off x="1133856" y="2944368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5" name="Prediction arrow"/>
          <p:cNvCxnSpPr/>
          <p:nvPr/>
        </p:nvCxnSpPr>
        <p:spPr>
          <a:xfrm>
            <a:off x="3401568" y="3044952"/>
            <a:ext cx="749808" cy="0"/>
          </a:xfrm>
          <a:prstGeom prst="line">
            <a:avLst/>
          </a:prstGeom>
          <a:ln w="177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ediction sentence service"/>
          <p:cNvSpPr/>
          <p:nvPr/>
        </p:nvSpPr>
        <p:spPr>
          <a:xfrm>
            <a:off x="4352544" y="2816352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ediction text service"/>
          <p:cNvSpPr txBox="1"/>
          <p:nvPr/>
        </p:nvSpPr>
        <p:spPr>
          <a:xfrm>
            <a:off x="4590288" y="2944368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8" name="Prediction B state time"/>
          <p:cNvSpPr/>
          <p:nvPr/>
        </p:nvSpPr>
        <p:spPr>
          <a:xfrm>
            <a:off x="1005840" y="3493008"/>
            <a:ext cx="2194560" cy="4572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diction label state time"/>
          <p:cNvSpPr txBox="1"/>
          <p:nvPr/>
        </p:nvSpPr>
        <p:spPr>
          <a:xfrm>
            <a:off x="1133856" y="3621024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time</a:t>
            </a:r>
          </a:p>
        </p:txBody>
      </p:sp>
      <p:cxnSp>
        <p:nvCxnSpPr>
          <p:cNvPr id="20" name="Prediction arrow"/>
          <p:cNvCxnSpPr/>
          <p:nvPr/>
        </p:nvCxnSpPr>
        <p:spPr>
          <a:xfrm>
            <a:off x="3401568" y="3721608"/>
            <a:ext cx="749808" cy="0"/>
          </a:xfrm>
          <a:prstGeom prst="line">
            <a:avLst/>
          </a:prstGeom>
          <a:ln w="1778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rediction sentence state time"/>
          <p:cNvSpPr/>
          <p:nvPr/>
        </p:nvSpPr>
        <p:spPr>
          <a:xfrm>
            <a:off x="4352544" y="3493008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ediction text state time"/>
          <p:cNvSpPr txBox="1"/>
          <p:nvPr/>
        </p:nvSpPr>
        <p:spPr>
          <a:xfrm>
            <a:off x="4590288" y="3621024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3" name="Prediction B endpoint J"/>
          <p:cNvSpPr/>
          <p:nvPr/>
        </p:nvSpPr>
        <p:spPr>
          <a:xfrm>
            <a:off x="1005840" y="4169663"/>
            <a:ext cx="2194560" cy="45720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iction label endpoint J"/>
          <p:cNvSpPr txBox="1"/>
          <p:nvPr/>
        </p:nvSpPr>
        <p:spPr>
          <a:xfrm>
            <a:off x="1133856" y="4297679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cxnSp>
        <p:nvCxnSpPr>
          <p:cNvPr id="25" name="Prediction arrow"/>
          <p:cNvCxnSpPr/>
          <p:nvPr/>
        </p:nvCxnSpPr>
        <p:spPr>
          <a:xfrm>
            <a:off x="3401568" y="4398264"/>
            <a:ext cx="74980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ediction sentence endpoint J"/>
          <p:cNvSpPr/>
          <p:nvPr/>
        </p:nvSpPr>
        <p:spPr>
          <a:xfrm>
            <a:off x="4352544" y="4169663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ediction text endpoint J"/>
          <p:cNvSpPr txBox="1"/>
          <p:nvPr/>
        </p:nvSpPr>
        <p:spPr>
          <a:xfrm>
            <a:off x="4590288" y="4297679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8" name="Interpretation band"/>
          <p:cNvSpPr/>
          <p:nvPr/>
        </p:nvSpPr>
        <p:spPr>
          <a:xfrm>
            <a:off x="841248" y="499262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terpretation text"/>
          <p:cNvSpPr txBox="1"/>
          <p:nvPr/>
        </p:nvSpPr>
        <p:spPr>
          <a:xfrm>
            <a:off x="1024128" y="508406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Trace A run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前標出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enter、hold、exit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service/J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方向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prediction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baseline/candidate；policy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trace outcome。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</a:p>
        </p:txBody>
      </p:sp>
      <p:sp>
        <p:nvSpPr>
          <p:cNvPr id="3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5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POSIX／WSL；A frozen predecessor active；package root</a:t>
            </a:r>
          </a:p>
        </p:txBody>
      </p:sp>
      <p:sp>
        <p:nvSpPr>
          <p:cNvPr id="6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trace-a-baseline</a:t>
            </a:r>
          </a:p>
        </p:txBody>
      </p:sp>
      <p:sp>
        <p:nvSpPr>
          <p:cNvPr id="7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establish Trace A control.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A frozen predecessor → B baseline.</a:t>
            </a:r>
          </a:p>
        </p:txBody>
      </p:sp>
      <p:sp>
        <p:nvSpPr>
          <p:cNvPr id="8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0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fallback run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…b2603b79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、energy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8.86 J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、delivered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4800 bit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；fresh path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待重跑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3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；restore A/B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5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POSIX／WSL；A frozen predecessor；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sp>
        <p:nvSpPr>
          <p:cNvPr id="6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trace-a-candidate --freeze</a:t>
            </a:r>
          </a:p>
        </p:txBody>
      </p:sp>
      <p:sp>
        <p:nvSpPr>
          <p:cNvPr id="7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freeze B candidate.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B SHA + Trace A + predecessor.</a:t>
            </a:r>
          </a:p>
        </p:txBody>
      </p:sp>
      <p:sp>
        <p:nvSpPr>
          <p:cNvPr id="8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0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candidate policy c00ed808…78293718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2a4167e2…171349e0e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9600 bit；fresh receipt pending</a:t>
            </a:r>
          </a:p>
        </p:txBody>
      </p:sp>
      <p:sp>
        <p:nvSpPr>
          <p:cNvPr id="11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3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；restore A/B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不只讀品質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trace-a-candidate-B result／endpoint replay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'quality_band|POLICY_DECISION|PACKET_ATTEMPT|delivered|expired|service_pass' fallback_artifacts/trace-a-candidate-B/result.json</a:t>
            </a:r>
          </a:p>
        </p:txBody>
      </p:sp>
      <p:sp>
        <p:nvSpPr>
          <p:cNvPr id="8" name="Packet ledger"/>
          <p:cNvSpPr/>
          <p:nvPr/>
        </p:nvSpPr>
        <p:spPr>
          <a:xfrm>
            <a:off x="896112" y="1993392"/>
            <a:ext cx="4791456" cy="26334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ledger heading"/>
          <p:cNvSpPr txBox="1"/>
          <p:nvPr/>
        </p:nvSpPr>
        <p:spPr>
          <a:xfrm>
            <a:off x="1133856" y="2267712"/>
            <a:ext cx="43159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 CANDIDATE PACKET LEDGER</a:t>
            </a:r>
          </a:p>
        </p:txBody>
      </p:sp>
      <p:sp>
        <p:nvSpPr>
          <p:cNvPr id="10" name="Packet ledger body"/>
          <p:cNvSpPr txBox="1"/>
          <p:nvPr/>
        </p:nvSpPr>
        <p:spPr>
          <a:xfrm>
            <a:off x="1152144" y="2743200"/>
            <a:ext cx="4279392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attempted 4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retransmissions 1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9600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expired 1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10.66 J</a:t>
            </a:r>
          </a:p>
        </p:txBody>
      </p:sp>
      <p:cxnSp>
        <p:nvCxnSpPr>
          <p:cNvPr id="11" name="Packet to service"/>
          <p:cNvCxnSpPr/>
          <p:nvPr/>
        </p:nvCxnSpPr>
        <p:spPr>
          <a:xfrm>
            <a:off x="5888736" y="3310128"/>
            <a:ext cx="56692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rvice verdict"/>
          <p:cNvSpPr/>
          <p:nvPr/>
        </p:nvSpPr>
        <p:spPr>
          <a:xfrm>
            <a:off x="6675120" y="1993392"/>
            <a:ext cx="4407408" cy="26334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rvice verdict heading"/>
          <p:cNvSpPr txBox="1"/>
          <p:nvPr/>
        </p:nvSpPr>
        <p:spPr>
          <a:xfrm>
            <a:off x="6931152" y="226771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14" name="Service verdict body"/>
          <p:cNvSpPr txBox="1"/>
          <p:nvPr/>
        </p:nvSpPr>
        <p:spPr>
          <a:xfrm>
            <a:off x="6949440" y="2816352"/>
            <a:ext cx="3858768" cy="10424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trade-off，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不說節能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root；B frozen receipt／checkpoint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fallback_artifacts/receipts/b.json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artifacts/checkpoints -maxdepth 1 -type f -print</a:t>
            </a:r>
          </a:p>
        </p:txBody>
      </p:sp>
      <p:sp>
        <p:nvSpPr>
          <p:cNvPr id="6" name="Freeze baseline"/>
          <p:cNvSpPr/>
          <p:nvPr/>
        </p:nvSpPr>
        <p:spPr>
          <a:xfrm>
            <a:off x="932688" y="2231136"/>
            <a:ext cx="2761488" cy="78638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ze baseline text"/>
          <p:cNvSpPr txBox="1"/>
          <p:nvPr/>
        </p:nvSpPr>
        <p:spPr>
          <a:xfrm>
            <a:off x="1078992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cxnSp>
        <p:nvCxnSpPr>
          <p:cNvPr id="8" name="Freeze lineage arrow"/>
          <p:cNvCxnSpPr/>
          <p:nvPr/>
        </p:nvCxnSpPr>
        <p:spPr>
          <a:xfrm>
            <a:off x="3694176" y="2624328"/>
            <a:ext cx="365759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ze candidate"/>
          <p:cNvSpPr/>
          <p:nvPr/>
        </p:nvSpPr>
        <p:spPr>
          <a:xfrm>
            <a:off x="4059935" y="2231136"/>
            <a:ext cx="2761488" cy="786384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ze candidate text"/>
          <p:cNvSpPr txBox="1"/>
          <p:nvPr/>
        </p:nvSpPr>
        <p:spPr>
          <a:xfrm>
            <a:off x="4206240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cxnSp>
        <p:nvCxnSpPr>
          <p:cNvPr id="11" name="Freeze lineage arrow"/>
          <p:cNvCxnSpPr/>
          <p:nvPr/>
        </p:nvCxnSpPr>
        <p:spPr>
          <a:xfrm>
            <a:off x="6821423" y="2624328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ze lab-b-frozen"/>
          <p:cNvSpPr/>
          <p:nvPr/>
        </p:nvSpPr>
        <p:spPr>
          <a:xfrm>
            <a:off x="7187183" y="2231136"/>
            <a:ext cx="2761488" cy="7863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ze lab-b-frozen text"/>
          <p:cNvSpPr txBox="1"/>
          <p:nvPr/>
        </p:nvSpPr>
        <p:spPr>
          <a:xfrm>
            <a:off x="7333488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4" name="Freeze receipt fields"/>
          <p:cNvSpPr/>
          <p:nvPr/>
        </p:nvSpPr>
        <p:spPr>
          <a:xfrm>
            <a:off x="987552" y="3493008"/>
            <a:ext cx="10021824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receipt fields text"/>
          <p:cNvSpPr txBox="1"/>
          <p:nvPr/>
        </p:nvSpPr>
        <p:spPr>
          <a:xfrm>
            <a:off x="1225296" y="3712463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SHA · predecessor · active_block_id · scenario · anchor · seed · receipt SHA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FREEZE GATE｜missing receipt / checkpoint = stop before withheld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POSIX／WSL；B frozen policy active；package root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bash course.sh run --lab B --case trace-b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trace-b</a:t>
            </a:r>
          </a:p>
        </p:txBody>
      </p:sp>
      <p:sp>
        <p:nvSpPr>
          <p:cNvPr id="6" name="Withheld Trace B primary"/>
          <p:cNvSpPr/>
          <p:nvPr/>
        </p:nvSpPr>
        <p:spPr>
          <a:xfrm>
            <a:off x="896112" y="2084831"/>
            <a:ext cx="4315968" cy="24871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frozen heading"/>
          <p:cNvSpPr txBox="1"/>
          <p:nvPr/>
        </p:nvSpPr>
        <p:spPr>
          <a:xfrm>
            <a:off x="1133856" y="2359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8" name="Withheld frozen body"/>
          <p:cNvSpPr txBox="1"/>
          <p:nvPr/>
        </p:nvSpPr>
        <p:spPr>
          <a:xfrm>
            <a:off x="1188720" y="2907792"/>
            <a:ext cx="373075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unchanged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new freeze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result + replay</a:t>
            </a:r>
          </a:p>
        </p:txBody>
      </p:sp>
      <p:cxnSp>
        <p:nvCxnSpPr>
          <p:cNvPr id="9" name="Withheld arrow"/>
          <p:cNvCxnSpPr/>
          <p:nvPr/>
        </p:nvCxnSpPr>
        <p:spPr>
          <a:xfrm>
            <a:off x="5468112" y="3310128"/>
            <a:ext cx="640080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Withheld Trace B trace"/>
          <p:cNvSpPr/>
          <p:nvPr/>
        </p:nvSpPr>
        <p:spPr>
          <a:xfrm>
            <a:off x="6364224" y="2084831"/>
            <a:ext cx="4645152" cy="24871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thheld trace heading"/>
          <p:cNvSpPr txBox="1"/>
          <p:nvPr/>
        </p:nvSpPr>
        <p:spPr>
          <a:xfrm>
            <a:off x="6620256" y="2359152"/>
            <a:ext cx="4133087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B TRACE</a:t>
            </a:r>
          </a:p>
        </p:txBody>
      </p:sp>
      <p:sp>
        <p:nvSpPr>
          <p:cNvPr id="12" name="Withheld trace body"/>
          <p:cNvSpPr txBox="1"/>
          <p:nvPr/>
        </p:nvSpPr>
        <p:spPr>
          <a:xfrm>
            <a:off x="6675120" y="283464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condition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qualified verdict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ping-pong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trace-a-candidate-B vs trace-b-B；same B policy SHA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16736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'policy_sha256|service_pass|endpoint_energy_j|expired_packets' fallback_artifacts/trace-b-B/result.json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fallback_artifacts/trace-b-B/endpoint-replay.json</a:t>
            </a:r>
          </a:p>
        </p:txBody>
      </p:sp>
      <p:sp>
        <p:nvSpPr>
          <p:cNvPr id="8" name="Too slow"/>
          <p:cNvSpPr/>
          <p:nvPr/>
        </p:nvSpPr>
        <p:spPr>
          <a:xfrm>
            <a:off x="877824" y="2066543"/>
            <a:ext cx="4864608" cy="2505456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oo slow heading"/>
          <p:cNvSpPr txBox="1"/>
          <p:nvPr/>
        </p:nvSpPr>
        <p:spPr>
          <a:xfrm>
            <a:off x="1133856" y="2340864"/>
            <a:ext cx="43525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10" name="Too slow body"/>
          <p:cNvSpPr txBox="1"/>
          <p:nvPr/>
        </p:nvSpPr>
        <p:spPr>
          <a:xfrm>
            <a:off x="1170432" y="2889504"/>
            <a:ext cx="427939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hold 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太久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錯過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window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loss</a:t>
            </a:r>
          </a:p>
        </p:txBody>
      </p:sp>
      <p:sp>
        <p:nvSpPr>
          <p:cNvPr id="11" name="Ping pong"/>
          <p:cNvSpPr/>
          <p:nvPr/>
        </p:nvSpPr>
        <p:spPr>
          <a:xfrm>
            <a:off x="6144768" y="2066543"/>
            <a:ext cx="4864608" cy="25054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ng pong heading"/>
          <p:cNvSpPr txBox="1"/>
          <p:nvPr/>
        </p:nvSpPr>
        <p:spPr>
          <a:xfrm>
            <a:off x="6400800" y="2340864"/>
            <a:ext cx="43525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13" name="Ping pong body"/>
          <p:cNvSpPr txBox="1"/>
          <p:nvPr/>
        </p:nvSpPr>
        <p:spPr>
          <a:xfrm>
            <a:off x="6437376" y="2889504"/>
            <a:ext cx="427939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↔ exit 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太近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多次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transition / retry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trade-off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193792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不是保證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 A／Trace B；B receipt／policy／result pair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fallback_artifacts/trace-a-candidate-B/result.json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fallback_artifacts/trace-b-B/result.json</a:t>
            </a:r>
          </a:p>
        </p:txBody>
      </p:sp>
      <p:sp>
        <p:nvSpPr>
          <p:cNvPr id="6" name="Debrief B condition"/>
          <p:cNvSpPr/>
          <p:nvPr/>
        </p:nvSpPr>
        <p:spPr>
          <a:xfrm>
            <a:off x="896112" y="2157984"/>
            <a:ext cx="2468880" cy="8412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condition"/>
          <p:cNvSpPr txBox="1"/>
          <p:nvPr/>
        </p:nvSpPr>
        <p:spPr>
          <a:xfrm>
            <a:off x="1005840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condition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3364992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B mechanism"/>
          <p:cNvSpPr/>
          <p:nvPr/>
        </p:nvSpPr>
        <p:spPr>
          <a:xfrm>
            <a:off x="3657600" y="2157984"/>
            <a:ext cx="2468880" cy="84124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mechanism"/>
          <p:cNvSpPr txBox="1"/>
          <p:nvPr/>
        </p:nvSpPr>
        <p:spPr>
          <a:xfrm>
            <a:off x="3767328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6126480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B evidence"/>
          <p:cNvSpPr/>
          <p:nvPr/>
        </p:nvSpPr>
        <p:spPr>
          <a:xfrm>
            <a:off x="6419088" y="2157984"/>
            <a:ext cx="2468880" cy="8412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evidence"/>
          <p:cNvSpPr txBox="1"/>
          <p:nvPr/>
        </p:nvSpPr>
        <p:spPr>
          <a:xfrm>
            <a:off x="6528816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14" name="Debrief arrow"/>
          <p:cNvCxnSpPr/>
          <p:nvPr/>
        </p:nvCxnSpPr>
        <p:spPr>
          <a:xfrm>
            <a:off x="8887967" y="2578608"/>
            <a:ext cx="29260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brief B verdict"/>
          <p:cNvSpPr/>
          <p:nvPr/>
        </p:nvSpPr>
        <p:spPr>
          <a:xfrm>
            <a:off x="9180576" y="2157984"/>
            <a:ext cx="2468880" cy="84124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brief verdict"/>
          <p:cNvSpPr txBox="1"/>
          <p:nvPr/>
        </p:nvSpPr>
        <p:spPr>
          <a:xfrm>
            <a:off x="9290303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7" name="Debrief sentence"/>
          <p:cNvSpPr/>
          <p:nvPr/>
        </p:nvSpPr>
        <p:spPr>
          <a:xfrm>
            <a:off x="969264" y="3511296"/>
            <a:ext cx="10021824" cy="1060704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brief sentence text"/>
          <p:cNvSpPr txBox="1"/>
          <p:nvPr/>
        </p:nvSpPr>
        <p:spPr>
          <a:xfrm>
            <a:off x="1207008" y="3749039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A／primary…；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B／hidden…；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因此這個結論成立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被推翻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或待查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A/B lineage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root；A/B receipt、checkpoint、result/replay pair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find artifacts/checkpoints artifacts/receipts -maxdepth 1 -type f -print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fallback_artifacts -maxdepth 2 -type f -name 'result.json' -print</a:t>
            </a:r>
          </a:p>
        </p:txBody>
      </p:sp>
      <p:sp>
        <p:nvSpPr>
          <p:cNvPr id="6" name="Checkpoint A frozen"/>
          <p:cNvSpPr/>
          <p:nvPr/>
        </p:nvSpPr>
        <p:spPr>
          <a:xfrm>
            <a:off x="1060704" y="2084831"/>
            <a:ext cx="4498848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ckpoint A frozen text"/>
          <p:cNvSpPr txBox="1"/>
          <p:nvPr/>
        </p:nvSpPr>
        <p:spPr>
          <a:xfrm>
            <a:off x="1225295" y="2359151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</p:txBody>
      </p:sp>
      <p:sp>
        <p:nvSpPr>
          <p:cNvPr id="8" name="Checkpoint B frozen"/>
          <p:cNvSpPr/>
          <p:nvPr/>
        </p:nvSpPr>
        <p:spPr>
          <a:xfrm>
            <a:off x="6254496" y="2084831"/>
            <a:ext cx="4498848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ckpoint B frozen text"/>
          <p:cNvSpPr txBox="1"/>
          <p:nvPr/>
        </p:nvSpPr>
        <p:spPr>
          <a:xfrm>
            <a:off x="6419088" y="2359151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frozen</a:t>
            </a:r>
          </a:p>
        </p:txBody>
      </p:sp>
      <p:sp>
        <p:nvSpPr>
          <p:cNvPr id="10" name="Checkpoint result ↔ replay"/>
          <p:cNvSpPr/>
          <p:nvPr/>
        </p:nvSpPr>
        <p:spPr>
          <a:xfrm>
            <a:off x="1060704" y="3310128"/>
            <a:ext cx="4498848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ckpoint result ↔ replay text"/>
          <p:cNvSpPr txBox="1"/>
          <p:nvPr/>
        </p:nvSpPr>
        <p:spPr>
          <a:xfrm>
            <a:off x="1225295" y="3584448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result ↔ replay</a:t>
            </a:r>
          </a:p>
        </p:txBody>
      </p:sp>
      <p:sp>
        <p:nvSpPr>
          <p:cNvPr id="12" name="Checkpoint prediction"/>
          <p:cNvSpPr/>
          <p:nvPr/>
        </p:nvSpPr>
        <p:spPr>
          <a:xfrm>
            <a:off x="6254496" y="3310128"/>
            <a:ext cx="4498848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ckpoint prediction text"/>
          <p:cNvSpPr txBox="1"/>
          <p:nvPr/>
        </p:nvSpPr>
        <p:spPr>
          <a:xfrm>
            <a:off x="6419088" y="3584448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prediction</a:t>
            </a:r>
          </a:p>
        </p:txBody>
      </p:sp>
      <p:sp>
        <p:nvSpPr>
          <p:cNvPr id="14" name="Checkpoint recovery"/>
          <p:cNvSpPr/>
          <p:nvPr/>
        </p:nvSpPr>
        <p:spPr>
          <a:xfrm>
            <a:off x="1005840" y="4663440"/>
            <a:ext cx="10021824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ckpoint recovery text"/>
          <p:cNvSpPr txBox="1"/>
          <p:nvPr/>
        </p:nvSpPr>
        <p:spPr>
          <a:xfrm>
            <a:off x="1225296" y="4882896"/>
            <a:ext cx="958291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status → exact role → restore；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不覆寫既有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不補假的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