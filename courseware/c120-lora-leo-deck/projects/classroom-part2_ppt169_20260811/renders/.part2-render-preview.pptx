
<file path=[Content_Types].xml><?xml version="1.0" encoding="utf-8"?>
<ct:Types xmlns:ct="http://schemas.openxmlformats.org/package/2006/content-types">
  <ct:Default Extension="png" ContentType="image/png"/>
  <ct:Default Extension="rels" ContentType="application/vnd.openxmlformats-package.relationships+xml"/>
  <ct:Default Extension="xml" ContentType="application/xml"/>
  <ct:Override PartName="/docProps/app.xml" ContentType="application/vnd.openxmlformats-officedocument.extended-properties+xml"/>
  <ct:Override PartName="/docProps/core.xml" ContentType="application/vnd.openxmlformats-package.core-properties+xml"/>
  <ct:Override PartName="/ppt/notesMasters/notesMaster1.xml" ContentType="application/vnd.openxmlformats-officedocument.presentationml.notesMaster+xml"/>
  <ct:Override PartName="/ppt/notesSlides/notesSlide1.xml" ContentType="application/vnd.openxmlformats-officedocument.presentationml.notesSlide+xml"/>
  <ct:Override PartName="/ppt/notesSlides/notesSlide10.xml" ContentType="application/vnd.openxmlformats-officedocument.presentationml.notesSlide+xml"/>
  <ct:Override PartName="/ppt/notesSlides/notesSlide11.xml" ContentType="application/vnd.openxmlformats-officedocument.presentationml.notesSlide+xml"/>
  <ct:Override PartName="/ppt/notesSlides/notesSlide12.xml" ContentType="application/vnd.openxmlformats-officedocument.presentationml.notesSlide+xml"/>
  <ct:Override PartName="/ppt/notesSlides/notesSlide13.xml" ContentType="application/vnd.openxmlformats-officedocument.presentationml.notesSlide+xml"/>
  <ct:Override PartName="/ppt/notesSlides/notesSlide14.xml" ContentType="application/vnd.openxmlformats-officedocument.presentationml.notesSlide+xml"/>
  <ct:Override PartName="/ppt/notesSlides/notesSlide15.xml" ContentType="application/vnd.openxmlformats-officedocument.presentationml.notesSlide+xml"/>
  <ct:Override PartName="/ppt/notesSlides/notesSlide16.xml" ContentType="application/vnd.openxmlformats-officedocument.presentationml.notesSlide+xml"/>
  <ct:Override PartName="/ppt/notesSlides/notesSlide17.xml" ContentType="application/vnd.openxmlformats-officedocument.presentationml.notesSlide+xml"/>
  <ct:Override PartName="/ppt/notesSlides/notesSlide18.xml" ContentType="application/vnd.openxmlformats-officedocument.presentationml.notesSlide+xml"/>
  <ct:Override PartName="/ppt/notesSlides/notesSlide19.xml" ContentType="application/vnd.openxmlformats-officedocument.presentationml.notesSlide+xml"/>
  <ct:Override PartName="/ppt/notesSlides/notesSlide2.xml" ContentType="application/vnd.openxmlformats-officedocument.presentationml.notesSlide+xml"/>
  <ct:Override PartName="/ppt/notesSlides/notesSlide20.xml" ContentType="application/vnd.openxmlformats-officedocument.presentationml.notesSlide+xml"/>
  <ct:Override PartName="/ppt/notesSlides/notesSlide21.xml" ContentType="application/vnd.openxmlformats-officedocument.presentationml.notesSlide+xml"/>
  <ct:Override PartName="/ppt/notesSlides/notesSlide22.xml" ContentType="application/vnd.openxmlformats-officedocument.presentationml.notesSlide+xml"/>
  <ct:Override PartName="/ppt/notesSlides/notesSlide23.xml" ContentType="application/vnd.openxmlformats-officedocument.presentationml.notesSlide+xml"/>
  <ct:Override PartName="/ppt/notesSlides/notesSlide24.xml" ContentType="application/vnd.openxmlformats-officedocument.presentationml.notesSlide+xml"/>
  <ct:Override PartName="/ppt/notesSlides/notesSlide25.xml" ContentType="application/vnd.openxmlformats-officedocument.presentationml.notesSlide+xml"/>
  <ct:Override PartName="/ppt/notesSlides/notesSlide26.xml" ContentType="application/vnd.openxmlformats-officedocument.presentationml.notesSlide+xml"/>
  <ct:Override PartName="/ppt/notesSlides/notesSlide27.xml" ContentType="application/vnd.openxmlformats-officedocument.presentationml.notesSlide+xml"/>
  <ct:Override PartName="/ppt/notesSlides/notesSlide28.xml" ContentType="application/vnd.openxmlformats-officedocument.presentationml.notesSlide+xml"/>
  <ct:Override PartName="/ppt/notesSlides/notesSlide29.xml" ContentType="application/vnd.openxmlformats-officedocument.presentationml.notesSlide+xml"/>
  <ct:Override PartName="/ppt/notesSlides/notesSlide3.xml" ContentType="application/vnd.openxmlformats-officedocument.presentationml.notesSlide+xml"/>
  <ct:Override PartName="/ppt/notesSlides/notesSlide30.xml" ContentType="application/vnd.openxmlformats-officedocument.presentationml.notesSlide+xml"/>
  <ct:Override PartName="/ppt/notesSlides/notesSlide31.xml" ContentType="application/vnd.openxmlformats-officedocument.presentationml.notesSlide+xml"/>
  <ct:Override PartName="/ppt/notesSlides/notesSlide32.xml" ContentType="application/vnd.openxmlformats-officedocument.presentationml.notesSlide+xml"/>
  <ct:Override PartName="/ppt/notesSlides/notesSlide33.xml" ContentType="application/vnd.openxmlformats-officedocument.presentationml.notesSlide+xml"/>
  <ct:Override PartName="/ppt/notesSlides/notesSlide34.xml" ContentType="application/vnd.openxmlformats-officedocument.presentationml.notesSlide+xml"/>
  <ct:Override PartName="/ppt/notesSlides/notesSlide35.xml" ContentType="application/vnd.openxmlformats-officedocument.presentationml.notesSlide+xml"/>
  <ct:Override PartName="/ppt/notesSlides/notesSlide36.xml" ContentType="application/vnd.openxmlformats-officedocument.presentationml.notesSlide+xml"/>
  <ct:Override PartName="/ppt/notesSlides/notesSlide4.xml" ContentType="application/vnd.openxmlformats-officedocument.presentationml.notesSlide+xml"/>
  <ct:Override PartName="/ppt/notesSlides/notesSlide5.xml" ContentType="application/vnd.openxmlformats-officedocument.presentationml.notesSlide+xml"/>
  <ct:Override PartName="/ppt/notesSlides/notesSlide6.xml" ContentType="application/vnd.openxmlformats-officedocument.presentationml.notesSlide+xml"/>
  <ct:Override PartName="/ppt/notesSlides/notesSlide7.xml" ContentType="application/vnd.openxmlformats-officedocument.presentationml.notesSlide+xml"/>
  <ct:Override PartName="/ppt/notesSlides/notesSlide8.xml" ContentType="application/vnd.openxmlformats-officedocument.presentationml.notesSlide+xml"/>
  <ct:Override PartName="/ppt/notesSlides/notesSlide9.xml" ContentType="application/vnd.openxmlformats-officedocument.presentationml.notesSlide+xml"/>
  <ct:Override PartName="/ppt/presProps.xml" ContentType="application/vnd.openxmlformats-officedocument.presentationml.presProps+xml"/>
  <ct:Override PartName="/ppt/presentation.xml" ContentType="application/vnd.openxmlformats-officedocument.presentationml.presentation.main+xml"/>
  <ct:Override PartName="/ppt/slideLayouts/slideLayout1.xml" ContentType="application/vnd.openxmlformats-officedocument.presentationml.slideLayout+xml"/>
  <ct:Override PartName="/ppt/slideLayouts/slideLayout10.xml" ContentType="application/vnd.openxmlformats-officedocument.presentationml.slideLayout+xml"/>
  <ct:Override PartName="/ppt/slideLayouts/slideLayout2.xml" ContentType="application/vnd.openxmlformats-officedocument.presentationml.slideLayout+xml"/>
  <ct:Override PartName="/ppt/slideLayouts/slideLayout3.xml" ContentType="application/vnd.openxmlformats-officedocument.presentationml.slideLayout+xml"/>
  <ct:Override PartName="/ppt/slideLayouts/slideLayout4.xml" ContentType="application/vnd.openxmlformats-officedocument.presentationml.slideLayout+xml"/>
  <ct:Override PartName="/ppt/slideLayouts/slideLayout5.xml" ContentType="application/vnd.openxmlformats-officedocument.presentationml.slideLayout+xml"/>
  <ct:Override PartName="/ppt/slideLayouts/slideLayout6.xml" ContentType="application/vnd.openxmlformats-officedocument.presentationml.slideLayout+xml"/>
  <ct:Override PartName="/ppt/slideLayouts/slideLayout7.xml" ContentType="application/vnd.openxmlformats-officedocument.presentationml.slideLayout+xml"/>
  <ct:Override PartName="/ppt/slideLayouts/slideLayout8.xml" ContentType="application/vnd.openxmlformats-officedocument.presentationml.slideLayout+xml"/>
  <ct:Override PartName="/ppt/slideLayouts/slideLayout9.xml" ContentType="application/vnd.openxmlformats-officedocument.presentationml.slideLayout+xml"/>
  <ct:Override PartName="/ppt/slideMasters/slideMaster1.xml" ContentType="application/vnd.openxmlformats-officedocument.presentationml.slideMaster+xml"/>
  <ct:Override PartName="/ppt/slides/slide1.xml" ContentType="application/vnd.openxmlformats-officedocument.presentationml.slide+xml"/>
  <ct:Override PartName="/ppt/slides/slide10.xml" ContentType="application/vnd.openxmlformats-officedocument.presentationml.slide+xml"/>
  <ct:Override PartName="/ppt/slides/slide11.xml" ContentType="application/vnd.openxmlformats-officedocument.presentationml.slide+xml"/>
  <ct:Override PartName="/ppt/slides/slide12.xml" ContentType="application/vnd.openxmlformats-officedocument.presentationml.slide+xml"/>
  <ct:Override PartName="/ppt/slides/slide13.xml" ContentType="application/vnd.openxmlformats-officedocument.presentationml.slide+xml"/>
  <ct:Override PartName="/ppt/slides/slide14.xml" ContentType="application/vnd.openxmlformats-officedocument.presentationml.slide+xml"/>
  <ct:Override PartName="/ppt/slides/slide15.xml" ContentType="application/vnd.openxmlformats-officedocument.presentationml.slide+xml"/>
  <ct:Override PartName="/ppt/slides/slide16.xml" ContentType="application/vnd.openxmlformats-officedocument.presentationml.slide+xml"/>
  <ct:Override PartName="/ppt/slides/slide17.xml" ContentType="application/vnd.openxmlformats-officedocument.presentationml.slide+xml"/>
  <ct:Override PartName="/ppt/slides/slide18.xml" ContentType="application/vnd.openxmlformats-officedocument.presentationml.slide+xml"/>
  <ct:Override PartName="/ppt/slides/slide19.xml" ContentType="application/vnd.openxmlformats-officedocument.presentationml.slide+xml"/>
  <ct:Override PartName="/ppt/slides/slide2.xml" ContentType="application/vnd.openxmlformats-officedocument.presentationml.slide+xml"/>
  <ct:Override PartName="/ppt/slides/slide20.xml" ContentType="application/vnd.openxmlformats-officedocument.presentationml.slide+xml"/>
  <ct:Override PartName="/ppt/slides/slide21.xml" ContentType="application/vnd.openxmlformats-officedocument.presentationml.slide+xml"/>
  <ct:Override PartName="/ppt/slides/slide22.xml" ContentType="application/vnd.openxmlformats-officedocument.presentationml.slide+xml"/>
  <ct:Override PartName="/ppt/slides/slide23.xml" ContentType="application/vnd.openxmlformats-officedocument.presentationml.slide+xml"/>
  <ct:Override PartName="/ppt/slides/slide24.xml" ContentType="application/vnd.openxmlformats-officedocument.presentationml.slide+xml"/>
  <ct:Override PartName="/ppt/slides/slide25.xml" ContentType="application/vnd.openxmlformats-officedocument.presentationml.slide+xml"/>
  <ct:Override PartName="/ppt/slides/slide26.xml" ContentType="application/vnd.openxmlformats-officedocument.presentationml.slide+xml"/>
  <ct:Override PartName="/ppt/slides/slide27.xml" ContentType="application/vnd.openxmlformats-officedocument.presentationml.slide+xml"/>
  <ct:Override PartName="/ppt/slides/slide28.xml" ContentType="application/vnd.openxmlformats-officedocument.presentationml.slide+xml"/>
  <ct:Override PartName="/ppt/slides/slide29.xml" ContentType="application/vnd.openxmlformats-officedocument.presentationml.slide+xml"/>
  <ct:Override PartName="/ppt/slides/slide3.xml" ContentType="application/vnd.openxmlformats-officedocument.presentationml.slide+xml"/>
  <ct:Override PartName="/ppt/slides/slide30.xml" ContentType="application/vnd.openxmlformats-officedocument.presentationml.slide+xml"/>
  <ct:Override PartName="/ppt/slides/slide31.xml" ContentType="application/vnd.openxmlformats-officedocument.presentationml.slide+xml"/>
  <ct:Override PartName="/ppt/slides/slide32.xml" ContentType="application/vnd.openxmlformats-officedocument.presentationml.slide+xml"/>
  <ct:Override PartName="/ppt/slides/slide33.xml" ContentType="application/vnd.openxmlformats-officedocument.presentationml.slide+xml"/>
  <ct:Override PartName="/ppt/slides/slide34.xml" ContentType="application/vnd.openxmlformats-officedocument.presentationml.slide+xml"/>
  <ct:Override PartName="/ppt/slides/slide35.xml" ContentType="application/vnd.openxmlformats-officedocument.presentationml.slide+xml"/>
  <ct:Override PartName="/ppt/slides/slide36.xml" ContentType="application/vnd.openxmlformats-officedocument.presentationml.slide+xml"/>
  <ct:Override PartName="/ppt/slides/slide4.xml" ContentType="application/vnd.openxmlformats-officedocument.presentationml.slide+xml"/>
  <ct:Override PartName="/ppt/slides/slide5.xml" ContentType="application/vnd.openxmlformats-officedocument.presentationml.slide+xml"/>
  <ct:Override PartName="/ppt/slides/slide6.xml" ContentType="application/vnd.openxmlformats-officedocument.presentationml.slide+xml"/>
  <ct:Override PartName="/ppt/slides/slide7.xml" ContentType="application/vnd.openxmlformats-officedocument.presentationml.slide+xml"/>
  <ct:Override PartName="/ppt/slides/slide8.xml" ContentType="application/vnd.openxmlformats-officedocument.presentationml.slide+xml"/>
  <ct:Override PartName="/ppt/slides/slide9.xml" ContentType="application/vnd.openxmlformats-officedocument.presentationml.slide+xml"/>
  <ct:Override PartName="/ppt/tableStyles.xml" ContentType="application/vnd.openxmlformats-officedocument.presentationml.tableStyles+xml"/>
  <ct:Override PartName="/ppt/theme/theme1.xml" ContentType="application/vnd.openxmlformats-officedocument.theme+xml"/>
  <ct:Override PartName="/ppt/theme/theme2.xml" ContentType="application/vnd.openxmlformats-officedocument.theme+xml"/>
  <ct:Override PartName="/ppt/viewProps.xml" ContentType="application/vnd.openxmlformats-officedocument.presentationml.viewProps+xml"/>
  <ct:Default Extension="svg" ContentType="image/svg+xml"/>
</ct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先把名稱和機制分開。SLEEP 是低功耗休息，WAIT 是 awake idle，WAKE 有回復成本，PROCESS、TX、RX 都會留下時間與能量欄位。畫面中的 JSON 是 local fallback 的 simulated teaching evidence，不是 live measurement。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 Lab A 的核心預測。WAIT 可能少付 wake 成本，但裝置保持清醒；SLEEP 可能降低 idle power，卻要付 wake latency 與 wake energy。先寫方向，結果再決定是否成立。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封包先進 queue，再可能產生 attempt。一次 SEND 不等於 delivered service；要把 retry、expired 與 queue age 分開讀。這個分解會保護後面 A/B 比較，不讓一次 TX 代替整個 packet outcome。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比較兩個 policy 前，先確認是不是同一個工作、窗口和 endpoint boundary。若 candidate 少送很多封包，J 下降不能直接叫節能；先說 service 是否保住。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 是某一時刻的功率，J 是功率隨時間累積的能量。低峰值不保證較低 J；先看整段 state time，再回到 service boundary。這裡只讀 fallback artifact 的 endpoint scope。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公式只說清楚 endpoint radio 與 processing assumptions 的累積關係。E 的下標提醒我們不要把 endpoint J 當成整個 system energy；數字仍從 result artifact 讀取。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這個比值的分子是 delivered data，分母是 endpoint energy。兩邊 boundary 和 units 要一致；公式是語義檢查，不是讓課堂自行改科學結果。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 source、model 和課程假設壓成一個神秘數字。沿 scenario、seed、policy SHA 和 artifact source 往回查，才能知道一筆結果的來處。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同一個 scenario identity 要出現在 scenario package、runner result、endpoint replay 與 workbook。若 anchor、seed、schema 或 units 不一致，import 要 fail closed；不要用改 JSON 的方式繞過。 若操作受阻，identity mismatch：保留輸入與錯誤，回到 matching artifact；不可手改 JSON 繞過 gate。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不是舊截圖，而是 control。固定 scenario、seed、job、window、traffic 和 endpoint boundary，只讓目前 lab 的 marked block 改變；偷偷換 trace 或 scope 就是不公平。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窗口開啟與關閉會改變 action 的後果。先看固定 anchor 和 traffic，再判斷 WAIT 或 SEND 是否落在合法 service window；這頁不是 TLE 推導。 若操作受阻，欄位、units、scope 或 identity 不完整：停止比較，保留原始錯誤，回到相同 scenario 的 artifact 或 matching fallback。不要補填數字。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A 只問一個可測問題：固定工作與窗口時，不同 pace 和 rest 如何改變 queue、state time、service 與 endpoint J？先寫方向性預測，然後讓 baseline 和 candidate 回答。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只讀變數名稱與它進入 decision 的位置。先預測 gap 改變後 queue age、attempt timing、awake idle、service 和 J 的方向，再改一個合法值。 若操作受阻，syntax／policy guard 失敗：只修 marked block，保留 traceback；不要改 runner 或 schema。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這個控制點把空檔送進 WAIT 或 SLEEP。先把機制寫成 prediction；candidate 結果要同時看 state ledger、service 和 J，不接受只看一個功率欄位。 若操作受阻，值或 syntax 不合法：還原同一 block，重跑 compile；不要碰 engine／JSON。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執行前寫下四個觀察：queue age、service、哪個 state time 會變、endpoint J 可能往哪裡走。這不是猜 KPI，而是讓 result 有機會推翻我們。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先不改 policy，執行 A baseline。POSIX/WSL 用 bash，Windows 用 course.cmd；stdout 指出的 result_path 才是本次 run 的 artifact，不要靠檔名猜。頁面上的數字來自 current fallback，不能說成這台主機 fresh run。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現在才改 A marked block，先保存原始檔案，再執行 candidate freeze。預期有 candidate result、receipt 和 A checkpoint；如果沒有 queue、packet、service、state 或 J 的 consequential diff，就記錄 gate 未通過，不再亂調參。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 candidate result 和配對 replay 與 baseline 並排看。先打勾 scenario、job、window 和 endpoint boundary，再比較 queue、packet、state 和 J；若 service 不同，先說 trade-off。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 ledger 從左到右讀。先看 WAIT 是否變長，再看 SLEEP 是否帶來 WAKE；接著確認 PROCESS、TX、RX 的時間與 attempt，最後才把差異連回 policy action。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candidate 是否支持工作，要看 delivered、expired、retry 和 deadline，而不是 SEND 次數。請用完整句子說出哪個 action 改變哪個 packet outcome，以及這個 outcome 是否仍滿足 service。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freeze 不是按鈕效果，而是 withheld 的入場條件。確認 candidate policy SHA 與 baseline 不同，receipt 指向同一 scenario／anchor，checkpoint role 是 A frozen；缺一項就回 candidate 最小修復。 若操作受阻，receipt／checkpoint／predecessor 缺失：停在 A candidate，保留輸出，重跑 freeze；不要直接執行 hidden。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policy，不再編輯，執行 hidden。hidden 用另一個條件測試 pace/rest 假說；預期 policy SHA 不變。若方向相反，這是 counterexample，保留它，不要改 policy 讓畫面變漂亮。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完成一句可反駁敘述：我改了 A 哪個控制點，因此改變哪個 state 或 packet 機制；result 顯示什麼 evidence；hidden 下成立或被推翻。這句比背一個 J 更有價值。 若操作受阻，A result 或 consequential diff 缺失：保留 stdout 與 stderr，restore A checkpoint 或選 matching fallback；不要再調參。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B 把 changing opportunity 換成品質 trace。問題不是品質越高越好，而是何時進入 send-ready、何時退出、要穩定多久；先讀 trace，再讀 policy。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先指出 trace 中第一次真正越過 enter threshold 的位置，再預測 mode transition、attempt 和 service。欄位透過切換產生結果，不是直接指定 energy。 若操作受阻，syntax／policy guard 失敗：只修 B marked block，回到 A frozen predecessor。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enter 和 exit 共用一條線，品質在邊界抖動時會造成 ping-pong。分開兩條線是穩定帶；先預測切換次數、WAIT、TX/RX 和 service，再看 trace evidence。 若操作受阻，threshold／syntax 不符：只修 B marked block，保留 traceback；不可改 runner。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STABLE_STEPS 把看起來變好和連續穩定分開。未達計數保持 hold，達到才切換；所以要同時看 transition、queue、service 與 energy，不能只看切換次數。 若操作受阻，超出 bounded range 或 syntax 失敗：只修 B marked line，不放寬 guard。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請在 Trace A 上標出 enter、hold、exit 的位置，並寫下 service 與 endpoint J 方向。這不是把未來輸入偷塞進 policy，而是讓下一步比較有可反駁假說。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A frozen predecessor，先跑 B Trace A baseline。這一步建立 control；stdout 會回傳 run identity 和 result path，請保留配對 replay。頁面數字來自 current fallback，不是 fresh claim。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只改 B marked block 中的 threshold 或 stable steps，保留 A frozen predecessor。執行 Trace A candidate freeze；若只變畫面 label 沒有 consequential fixture diff，就記錄 gate 未通過。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 candidate 時，先定位 enter、hold、exit，再看這些 transition 造成的 attempt、retry、queue 和 service。品質數值是 observation context，不是 delivered service，也不是 energy。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Trace B 是 withheld，不是再調參的 playground。先檢查 B receipt、checkpoint、policy SHA 和 predecessor；任何一項缺失就不要執行 withheld。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保持 B frozen policy，執行 Trace B；不再改 threshold 或 stable steps。若 Trace B 露出 counterexample，那是泛化邊界，不是要隨機重調的錯誤。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如果 hold 太長，可能錯過 service window；如果 enter/exit 太近，可能付出額外切換與 retry。把 trace 事件和 endpoint ledger 對起來，不把平滑線直接當成省能量。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用「在 Trace A…；在 Trace B…」兩句話回答。hysteresis 是條件式結論，不是保證；把 B receipt、policy SHA、Trace B result 和 counterexample 一起保留。 若操作受阻，B receipt、predecessor 或 policy SHA 不符：停止 withheld，restore A/B checkpoint；不可 retune。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進入下一個 lab 前保存 policy、receipt、checkpoint、result/replay pair 和 prediction。若中斷，先用 status 找可用 checkpoint，再 restore 所需 role；這是在保持 lineage，不是補出數字。 若操作受阻，缺 checkpoint：保留現有 artifact，回到最後一個 identity 正確的 gate；不要補一個假的 receipt。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4.xml" /><ns0:Relationship Id="rId2" Type="http://schemas.openxmlformats.org/officeDocument/2006/relationships/notesSlide" Target="../notesSlides/notesSlide6.xml" /><ns0:Relationship Id="rId3" Type="http://schemas.openxmlformats.org/officeDocument/2006/relationships/image" Target="../media/native-equations-fallback.svg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2.xml" /><ns0:Relationship Id="rId2" Type="http://schemas.openxmlformats.org/officeDocument/2006/relationships/notesSlide" Target="../notesSlides/notesSlide7.xml" /><ns0:Relationship Id="rId3" Type="http://schemas.openxmlformats.org/officeDocument/2006/relationships/image" Target="../media/native-equations-fallback-2.svg" /></ns0: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狀態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名稱要和機制對齊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11556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5214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result／endpoint boundary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42646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'STATE_INTERVAL|state|duration' fallback_artifacts/baseline-A/result.json</a:t>
            </a:r>
          </a:p>
        </p:txBody>
      </p:sp>
      <p:sp>
        <p:nvSpPr>
          <p:cNvPr id="8" name="State SLEEP"/>
          <p:cNvSpPr/>
          <p:nvPr/>
        </p:nvSpPr>
        <p:spPr>
          <a:xfrm>
            <a:off x="841248" y="2212848"/>
            <a:ext cx="1883664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e label SLEEP"/>
          <p:cNvSpPr txBox="1"/>
          <p:nvPr/>
        </p:nvSpPr>
        <p:spPr>
          <a:xfrm>
            <a:off x="93268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0" name="State transition"/>
          <p:cNvCxnSpPr/>
          <p:nvPr/>
        </p:nvCxnSpPr>
        <p:spPr>
          <a:xfrm>
            <a:off x="272491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ate WAKE"/>
          <p:cNvSpPr/>
          <p:nvPr/>
        </p:nvSpPr>
        <p:spPr>
          <a:xfrm>
            <a:off x="2944368" y="2212848"/>
            <a:ext cx="1883664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tate label WAKE"/>
          <p:cNvSpPr txBox="1"/>
          <p:nvPr/>
        </p:nvSpPr>
        <p:spPr>
          <a:xfrm>
            <a:off x="3035808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cxnSp>
        <p:nvCxnSpPr>
          <p:cNvPr id="13" name="State transition"/>
          <p:cNvCxnSpPr/>
          <p:nvPr/>
        </p:nvCxnSpPr>
        <p:spPr>
          <a:xfrm>
            <a:off x="4828031" y="2606040"/>
            <a:ext cx="274321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ate PROCESS"/>
          <p:cNvSpPr/>
          <p:nvPr/>
        </p:nvSpPr>
        <p:spPr>
          <a:xfrm>
            <a:off x="5047488" y="2212848"/>
            <a:ext cx="1883664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te label PROCESS"/>
          <p:cNvSpPr txBox="1"/>
          <p:nvPr/>
        </p:nvSpPr>
        <p:spPr>
          <a:xfrm>
            <a:off x="513892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cxnSp>
        <p:nvCxnSpPr>
          <p:cNvPr id="16" name="State transition"/>
          <p:cNvCxnSpPr/>
          <p:nvPr/>
        </p:nvCxnSpPr>
        <p:spPr>
          <a:xfrm>
            <a:off x="6931152" y="2606040"/>
            <a:ext cx="27431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tate TX / RX"/>
          <p:cNvSpPr/>
          <p:nvPr/>
        </p:nvSpPr>
        <p:spPr>
          <a:xfrm>
            <a:off x="7150607" y="2212848"/>
            <a:ext cx="1883664" cy="78638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te label TX / RX"/>
          <p:cNvSpPr txBox="1"/>
          <p:nvPr/>
        </p:nvSpPr>
        <p:spPr>
          <a:xfrm>
            <a:off x="724204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TX / RX</a:t>
            </a:r>
          </a:p>
        </p:txBody>
      </p:sp>
      <p:cxnSp>
        <p:nvCxnSpPr>
          <p:cNvPr id="19" name="State transition"/>
          <p:cNvCxnSpPr/>
          <p:nvPr/>
        </p:nvCxnSpPr>
        <p:spPr>
          <a:xfrm>
            <a:off x="9034272" y="2606040"/>
            <a:ext cx="274320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ate WAIT"/>
          <p:cNvSpPr/>
          <p:nvPr/>
        </p:nvSpPr>
        <p:spPr>
          <a:xfrm>
            <a:off x="9253728" y="2212848"/>
            <a:ext cx="1883664" cy="786384"/>
          </a:xfrm>
          <a:prstGeom prst="roundRect">
            <a:avLst/>
          </a:prstGeom>
          <a:solidFill>
            <a:srgbClr val="FAF7E8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te label WAIT"/>
          <p:cNvSpPr txBox="1"/>
          <p:nvPr/>
        </p:nvSpPr>
        <p:spPr>
          <a:xfrm>
            <a:off x="9345167" y="2468880"/>
            <a:ext cx="170078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22" name="State ledger"/>
          <p:cNvSpPr/>
          <p:nvPr/>
        </p:nvSpPr>
        <p:spPr>
          <a:xfrm>
            <a:off x="877824" y="3401568"/>
            <a:ext cx="10241280" cy="1115568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te ledger text"/>
          <p:cNvSpPr txBox="1"/>
          <p:nvPr/>
        </p:nvSpPr>
        <p:spPr>
          <a:xfrm>
            <a:off x="1097280" y="3602736"/>
            <a:ext cx="9802368" cy="7498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都留下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duration / power / event；endpoint J 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awake idle，SLEEP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會帶來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成本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同一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job／window／energy boundary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'"state": "WAIT"|"state": "SLEEP"|"state": "WAKE"' fallback_artifacts/baseline-A/result.json</a:t>
            </a:r>
          </a:p>
        </p:txBody>
      </p:sp>
      <p:sp>
        <p:nvSpPr>
          <p:cNvPr id="6" name="WAIT lane label"/>
          <p:cNvSpPr/>
          <p:nvPr/>
        </p:nvSpPr>
        <p:spPr>
          <a:xfrm>
            <a:off x="914400" y="1993392"/>
            <a:ext cx="1847088" cy="73152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AIT label"/>
          <p:cNvSpPr txBox="1"/>
          <p:nvPr/>
        </p:nvSpPr>
        <p:spPr>
          <a:xfrm>
            <a:off x="1078992" y="22128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cxnSp>
        <p:nvCxnSpPr>
          <p:cNvPr id="8" name="WAIT timeline"/>
          <p:cNvCxnSpPr/>
          <p:nvPr/>
        </p:nvCxnSpPr>
        <p:spPr>
          <a:xfrm>
            <a:off x="3054096" y="2359152"/>
            <a:ext cx="7370064" cy="0"/>
          </a:xfrm>
          <a:prstGeom prst="line">
            <a:avLst/>
          </a:prstGeom>
          <a:ln w="304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WAIT sample"/>
          <p:cNvSpPr/>
          <p:nvPr/>
        </p:nvSpPr>
        <p:spPr>
          <a:xfrm>
            <a:off x="4572000" y="2267712"/>
            <a:ext cx="182880" cy="182880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WAIT mechanism"/>
          <p:cNvSpPr txBox="1"/>
          <p:nvPr/>
        </p:nvSpPr>
        <p:spPr>
          <a:xfrm>
            <a:off x="5486400" y="21214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awake idle → no wake event</a:t>
            </a:r>
          </a:p>
        </p:txBody>
      </p:sp>
      <p:sp>
        <p:nvSpPr>
          <p:cNvPr id="11" name="SLEEP lane label"/>
          <p:cNvSpPr/>
          <p:nvPr/>
        </p:nvSpPr>
        <p:spPr>
          <a:xfrm>
            <a:off x="914400" y="3364992"/>
            <a:ext cx="1847088" cy="73152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LEEP label"/>
          <p:cNvSpPr txBox="1"/>
          <p:nvPr/>
        </p:nvSpPr>
        <p:spPr>
          <a:xfrm>
            <a:off x="1078992" y="3584448"/>
            <a:ext cx="1517904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cxnSp>
        <p:nvCxnSpPr>
          <p:cNvPr id="13" name="SLEEP timeline"/>
          <p:cNvCxnSpPr/>
          <p:nvPr/>
        </p:nvCxnSpPr>
        <p:spPr>
          <a:xfrm>
            <a:off x="3054096" y="3730752"/>
            <a:ext cx="7370064" cy="0"/>
          </a:xfrm>
          <a:prstGeom prst="line">
            <a:avLst/>
          </a:prstGeom>
          <a:ln w="304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LEEP sample"/>
          <p:cNvSpPr/>
          <p:nvPr/>
        </p:nvSpPr>
        <p:spPr>
          <a:xfrm>
            <a:off x="4572000" y="3639312"/>
            <a:ext cx="182880" cy="182880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LEEP mechanism"/>
          <p:cNvSpPr txBox="1"/>
          <p:nvPr/>
        </p:nvSpPr>
        <p:spPr>
          <a:xfrm>
            <a:off x="5486400" y="3493008"/>
            <a:ext cx="4041648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→ WAKE → service</a:t>
            </a:r>
          </a:p>
        </p:txBody>
      </p:sp>
      <p:sp>
        <p:nvSpPr>
          <p:cNvPr id="16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先提出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的方向性預測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再由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state ledger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驗證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WAIT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保持清醒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；SLEEP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可能降低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idle power，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但後續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WAKE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會增加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latency／energy。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封包生命週期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送出不是交付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baseline-A 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fallback_artifacts/baseline-A/endpoint-replay.json</a:t>
            </a:r>
          </a:p>
        </p:txBody>
      </p:sp>
      <p:sp>
        <p:nvSpPr>
          <p:cNvPr id="6" name="Packet stage queue"/>
          <p:cNvSpPr/>
          <p:nvPr/>
        </p:nvSpPr>
        <p:spPr>
          <a:xfrm>
            <a:off x="804672" y="2084831"/>
            <a:ext cx="1901952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stage queue text"/>
          <p:cNvSpPr txBox="1"/>
          <p:nvPr/>
        </p:nvSpPr>
        <p:spPr>
          <a:xfrm>
            <a:off x="877824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</a:t>
            </a:r>
          </a:p>
        </p:txBody>
      </p:sp>
      <p:cxnSp>
        <p:nvCxnSpPr>
          <p:cNvPr id="8" name="Packet arrow"/>
          <p:cNvCxnSpPr/>
          <p:nvPr/>
        </p:nvCxnSpPr>
        <p:spPr>
          <a:xfrm>
            <a:off x="2706624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cket stage attempt"/>
          <p:cNvSpPr/>
          <p:nvPr/>
        </p:nvSpPr>
        <p:spPr>
          <a:xfrm>
            <a:off x="2944368" y="2084831"/>
            <a:ext cx="1901952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acket stage attempt text"/>
          <p:cNvSpPr txBox="1"/>
          <p:nvPr/>
        </p:nvSpPr>
        <p:spPr>
          <a:xfrm>
            <a:off x="3017520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attempt</a:t>
            </a:r>
          </a:p>
        </p:txBody>
      </p:sp>
      <p:cxnSp>
        <p:nvCxnSpPr>
          <p:cNvPr id="11" name="Packet arrow"/>
          <p:cNvCxnSpPr/>
          <p:nvPr/>
        </p:nvCxnSpPr>
        <p:spPr>
          <a:xfrm>
            <a:off x="484632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acket stage retry"/>
          <p:cNvSpPr/>
          <p:nvPr/>
        </p:nvSpPr>
        <p:spPr>
          <a:xfrm>
            <a:off x="5084064" y="2084831"/>
            <a:ext cx="1901952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acket stage retry text"/>
          <p:cNvSpPr txBox="1"/>
          <p:nvPr/>
        </p:nvSpPr>
        <p:spPr>
          <a:xfrm>
            <a:off x="5157216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retry</a:t>
            </a:r>
          </a:p>
        </p:txBody>
      </p:sp>
      <p:cxnSp>
        <p:nvCxnSpPr>
          <p:cNvPr id="14" name="Packet arrow"/>
          <p:cNvCxnSpPr/>
          <p:nvPr/>
        </p:nvCxnSpPr>
        <p:spPr>
          <a:xfrm>
            <a:off x="6986016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acket stage delivered"/>
          <p:cNvSpPr/>
          <p:nvPr/>
        </p:nvSpPr>
        <p:spPr>
          <a:xfrm>
            <a:off x="7223759" y="2084831"/>
            <a:ext cx="1901952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acket stage delivered text"/>
          <p:cNvSpPr txBox="1"/>
          <p:nvPr/>
        </p:nvSpPr>
        <p:spPr>
          <a:xfrm>
            <a:off x="7296912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delivered</a:t>
            </a:r>
          </a:p>
        </p:txBody>
      </p:sp>
      <p:cxnSp>
        <p:nvCxnSpPr>
          <p:cNvPr id="17" name="Packet arrow"/>
          <p:cNvCxnSpPr/>
          <p:nvPr/>
        </p:nvCxnSpPr>
        <p:spPr>
          <a:xfrm>
            <a:off x="912571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acket stage expired"/>
          <p:cNvSpPr/>
          <p:nvPr/>
        </p:nvSpPr>
        <p:spPr>
          <a:xfrm>
            <a:off x="9363455" y="2084831"/>
            <a:ext cx="1901952" cy="804672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cket stage expired text"/>
          <p:cNvSpPr txBox="1"/>
          <p:nvPr/>
        </p:nvSpPr>
        <p:spPr>
          <a:xfrm>
            <a:off x="9436607" y="2331720"/>
            <a:ext cx="175564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expired</a:t>
            </a:r>
          </a:p>
        </p:txBody>
      </p:sp>
      <p:sp>
        <p:nvSpPr>
          <p:cNvPr id="20" name="Packet numbers"/>
          <p:cNvSpPr/>
          <p:nvPr/>
        </p:nvSpPr>
        <p:spPr>
          <a:xfrm>
            <a:off x="914400" y="3401568"/>
            <a:ext cx="4791456" cy="109728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acket numbers text"/>
          <p:cNvSpPr txBox="1"/>
          <p:nvPr/>
        </p:nvSpPr>
        <p:spPr>
          <a:xfrm>
            <a:off x="1133856" y="3566160"/>
            <a:ext cx="4352544" cy="87782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attempted ≠ delivered</a:t>
            </a:r>
          </a:p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retry / collision / expired 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都要保留</a:t>
            </a:r>
          </a:p>
        </p:txBody>
      </p:sp>
      <p:sp>
        <p:nvSpPr>
          <p:cNvPr id="22" name="Packet interpretation"/>
          <p:cNvSpPr/>
          <p:nvPr/>
        </p:nvSpPr>
        <p:spPr>
          <a:xfrm>
            <a:off x="6108192" y="3401568"/>
            <a:ext cx="5010912" cy="109728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cket interpretation text"/>
          <p:cNvSpPr txBox="1"/>
          <p:nvPr/>
        </p:nvSpPr>
        <p:spPr>
          <a:xfrm>
            <a:off x="6345936" y="3648456"/>
            <a:ext cx="4535424" cy="58521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一次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SEND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decision；service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要看完整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packet outcome。</a:t>
            </a:r>
          </a:p>
        </p:txBody>
      </p:sp>
      <p:sp>
        <p:nvSpPr>
          <p:cNvPr id="24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boundary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energy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比較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paired baseline／candidate；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scenario、job、window、endpoint scope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'"service_pass"|"deadline_pass"|"energy_scope"' fallback_artifacts/candidate-A/result.json</a:t>
            </a:r>
          </a:p>
        </p:txBody>
      </p:sp>
      <p:sp>
        <p:nvSpPr>
          <p:cNvPr id="8" name="Service gate"/>
          <p:cNvSpPr/>
          <p:nvPr/>
        </p:nvSpPr>
        <p:spPr>
          <a:xfrm>
            <a:off x="822960" y="1993392"/>
            <a:ext cx="6400800" cy="2359152"/>
          </a:xfrm>
          <a:prstGeom prst="roundRect">
            <a:avLst/>
          </a:prstGeom>
          <a:solidFill>
            <a:srgbClr val="ECF1FE"/>
          </a:solidFill>
          <a:ln w="1651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ervice gate heading"/>
          <p:cNvSpPr txBox="1"/>
          <p:nvPr/>
        </p:nvSpPr>
        <p:spPr>
          <a:xfrm>
            <a:off x="1078992" y="2267712"/>
            <a:ext cx="588873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GATE</a:t>
            </a:r>
          </a:p>
        </p:txBody>
      </p:sp>
      <p:sp>
        <p:nvSpPr>
          <p:cNvPr id="10" name="Service gate body"/>
          <p:cNvSpPr txBox="1"/>
          <p:nvPr/>
        </p:nvSpPr>
        <p:spPr>
          <a:xfrm>
            <a:off x="1170432" y="2761488"/>
            <a:ext cx="5705856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window</a:t>
            </a:r>
          </a:p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/ deadline</a:t>
            </a:r>
          </a:p>
        </p:txBody>
      </p:sp>
      <p:cxnSp>
        <p:nvCxnSpPr>
          <p:cNvPr id="11" name="Service to energy"/>
          <p:cNvCxnSpPr/>
          <p:nvPr/>
        </p:nvCxnSpPr>
        <p:spPr>
          <a:xfrm>
            <a:off x="7242048" y="3163824"/>
            <a:ext cx="566927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nergy comparison"/>
          <p:cNvSpPr/>
          <p:nvPr/>
        </p:nvSpPr>
        <p:spPr>
          <a:xfrm>
            <a:off x="7991856" y="1993392"/>
            <a:ext cx="3090672" cy="2359152"/>
          </a:xfrm>
          <a:prstGeom prst="roundRect">
            <a:avLst/>
          </a:prstGeom>
          <a:solidFill>
            <a:srgbClr val="FDF9E2"/>
          </a:solidFill>
          <a:ln w="1651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nergy heading"/>
          <p:cNvSpPr txBox="1"/>
          <p:nvPr/>
        </p:nvSpPr>
        <p:spPr>
          <a:xfrm>
            <a:off x="8247888" y="226771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THEN COMPARE J</a:t>
            </a:r>
          </a:p>
        </p:txBody>
      </p:sp>
      <p:sp>
        <p:nvSpPr>
          <p:cNvPr id="14" name="Energy body"/>
          <p:cNvSpPr txBox="1"/>
          <p:nvPr/>
        </p:nvSpPr>
        <p:spPr>
          <a:xfrm>
            <a:off x="8302752" y="2761488"/>
            <a:ext cx="2468880" cy="11338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endpoint scope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state ledger</a:t>
            </a:r>
          </a:p>
          <a:p>
            <a:pPr algn="ctr">
              <a:spcAft>
                <a:spcPts val="200"/>
              </a:spcAft>
            </a:pPr>
            <a:r>
              <a:rPr sz="20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breakdown</a:t>
            </a:r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先確認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job、window、delivery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deadline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可比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J。 candidate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少送或多過期時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較低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不能直接升格為節能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；service gate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先決定比較資格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是速率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，J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是累積結果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 JSON；energy scope = endpoint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'"endpoint_energy_j"|"power"|"energy_breakdown_j"' fallback_artifacts/candidate-A/result.json</a:t>
            </a:r>
          </a:p>
        </p:txBody>
      </p:sp>
      <p:cxnSp>
        <p:nvCxnSpPr>
          <p:cNvPr id="6" name="Power time axis"/>
          <p:cNvCxnSpPr/>
          <p:nvPr/>
        </p:nvCxnSpPr>
        <p:spPr>
          <a:xfrm>
            <a:off x="1371600" y="4169663"/>
            <a:ext cx="9052560" cy="0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Power axis"/>
          <p:cNvCxnSpPr/>
          <p:nvPr/>
        </p:nvCxnSpPr>
        <p:spPr>
          <a:xfrm flipV="1">
            <a:off x="1371600" y="1993392"/>
            <a:ext cx="0" cy="2176271"/>
          </a:xfrm>
          <a:prstGeom prst="line">
            <a:avLst/>
          </a:prstGeom>
          <a:ln w="2286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Power curve"/>
          <p:cNvCxnSpPr/>
          <p:nvPr/>
        </p:nvCxnSpPr>
        <p:spPr>
          <a:xfrm flipV="1">
            <a:off x="1591056" y="2980944"/>
            <a:ext cx="1261872" cy="56692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Power curve"/>
          <p:cNvCxnSpPr/>
          <p:nvPr/>
        </p:nvCxnSpPr>
        <p:spPr>
          <a:xfrm flipV="1">
            <a:off x="2852928" y="2468880"/>
            <a:ext cx="1152144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Power curve"/>
          <p:cNvCxnSpPr/>
          <p:nvPr/>
        </p:nvCxnSpPr>
        <p:spPr>
          <a:xfrm>
            <a:off x="4005072" y="2468880"/>
            <a:ext cx="1225296" cy="67665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Power curve"/>
          <p:cNvCxnSpPr/>
          <p:nvPr/>
        </p:nvCxnSpPr>
        <p:spPr>
          <a:xfrm flipV="1">
            <a:off x="5230368" y="2286000"/>
            <a:ext cx="1170432" cy="859536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Power curve"/>
          <p:cNvCxnSpPr/>
          <p:nvPr/>
        </p:nvCxnSpPr>
        <p:spPr>
          <a:xfrm>
            <a:off x="6400800" y="2286000"/>
            <a:ext cx="1316736" cy="512064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ower curve"/>
          <p:cNvCxnSpPr/>
          <p:nvPr/>
        </p:nvCxnSpPr>
        <p:spPr>
          <a:xfrm flipV="1">
            <a:off x="7717536" y="2139696"/>
            <a:ext cx="1536192" cy="658368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ower curve"/>
          <p:cNvCxnSpPr/>
          <p:nvPr/>
        </p:nvCxnSpPr>
        <p:spPr>
          <a:xfrm>
            <a:off x="9253728" y="2139696"/>
            <a:ext cx="896112" cy="621792"/>
          </a:xfrm>
          <a:prstGeom prst="line">
            <a:avLst/>
          </a:prstGeom>
          <a:ln w="29209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ower sample"/>
          <p:cNvSpPr/>
          <p:nvPr/>
        </p:nvSpPr>
        <p:spPr>
          <a:xfrm>
            <a:off x="1517904" y="3474720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ower sample"/>
          <p:cNvSpPr/>
          <p:nvPr/>
        </p:nvSpPr>
        <p:spPr>
          <a:xfrm>
            <a:off x="2779776" y="2907791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ower sample"/>
          <p:cNvSpPr/>
          <p:nvPr/>
        </p:nvSpPr>
        <p:spPr>
          <a:xfrm>
            <a:off x="3931920" y="239572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ower sample"/>
          <p:cNvSpPr/>
          <p:nvPr/>
        </p:nvSpPr>
        <p:spPr>
          <a:xfrm>
            <a:off x="5157216" y="3072384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ower sample"/>
          <p:cNvSpPr/>
          <p:nvPr/>
        </p:nvSpPr>
        <p:spPr>
          <a:xfrm>
            <a:off x="6327648" y="2212848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ower sample"/>
          <p:cNvSpPr/>
          <p:nvPr/>
        </p:nvSpPr>
        <p:spPr>
          <a:xfrm>
            <a:off x="7644383" y="2724912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ower sample"/>
          <p:cNvSpPr/>
          <p:nvPr/>
        </p:nvSpPr>
        <p:spPr>
          <a:xfrm>
            <a:off x="9180576" y="2066543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ower sample"/>
          <p:cNvSpPr/>
          <p:nvPr/>
        </p:nvSpPr>
        <p:spPr>
          <a:xfrm>
            <a:off x="10076688" y="2688336"/>
            <a:ext cx="146304" cy="146304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ower label"/>
          <p:cNvSpPr txBox="1"/>
          <p:nvPr/>
        </p:nvSpPr>
        <p:spPr>
          <a:xfrm>
            <a:off x="1426464" y="1773936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P(t) / W</a:t>
            </a:r>
          </a:p>
        </p:txBody>
      </p:sp>
      <p:sp>
        <p:nvSpPr>
          <p:cNvPr id="24" name="Time label"/>
          <p:cNvSpPr txBox="1"/>
          <p:nvPr/>
        </p:nvSpPr>
        <p:spPr>
          <a:xfrm>
            <a:off x="8394192" y="4352544"/>
            <a:ext cx="2048256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time / s</a:t>
            </a:r>
          </a:p>
        </p:txBody>
      </p:sp>
      <p:sp>
        <p:nvSpPr>
          <p:cNvPr id="25" name="Area interpretation"/>
          <p:cNvSpPr/>
          <p:nvPr/>
        </p:nvSpPr>
        <p:spPr>
          <a:xfrm>
            <a:off x="859536" y="4718304"/>
            <a:ext cx="10296144" cy="603504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rea text"/>
          <p:cNvSpPr txBox="1"/>
          <p:nvPr/>
        </p:nvSpPr>
        <p:spPr>
          <a:xfrm>
            <a:off x="1060704" y="4882896"/>
            <a:ext cx="989380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曲線下的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area 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是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endpoint J；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低峰值拖得久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仍可能累積更多</a:t>
            </a: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Native title anchor"/>
          <ns0:cNvSpPr>
            <ns1:spLocks noGrp="1"/>
          </ns0:cNvSpPr>
          <ns0:nvPr>
            <ns0:ph type="title"/>
          </ns0:nvPr>
        </ns0:nvSpPr>
        <ns0:spPr/>
        <ns0:txBody>
          <ns1:bodyPr wrap="square" lIns="73152" rIns="73152" tIns="27432" bIns="18288" anchor="t"/>
          <ns1:lstStyle/>
          <ns1:p>
            <ns1:pPr algn="l">
              <ns1:spcAft>
                <ns1:spcPts val="20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：endpoint energy 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的範圍</ns1:t>
            </ns1:r>
          </ns1:p>
        </ns0:txBody>
      </ns0:sp>
      <ns0:sp>
        <ns0:nvSpPr>
          <ns0:cNvPr id="3" name="NATIVE_EQUATION_HOOK_E_endpoint"/>
          <ns0:cNvSpPr/>
          <ns0:nvPr/>
        </ns0:nvSpPr>
        <ns0:spPr>
          <ns1:xfrm>
            <ns1:off x="859536" y="1426464"/>
            <ns1:ext cx="10241280" cy="3108960"/>
          </ns1:xfrm>
          <ns1:prstGeom prst="roundRect">
            <ns1:avLst/>
          </ns1:prstGeom>
          <ns1:solidFill>
            <ns1:srgbClr val="FAF7E8"/>
          </ns1:solidFill>
          <ns1:ln w="1778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4" name="NATIVE_EQUATION_HOOK_LABEL_E_endpoint"/>
          <ns0:cNvSpPr txBox="1"/>
          <ns0:nvPr/>
        </ns0:nvSpPr>
        <ns0:spPr>
          <ns1:xfrm>
            <ns1:off x="1097280" y="1664208"/>
            <ns1:ext cx="9765792" cy="29260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</ns1:t>
            </ns1:r>
          </ns1:p>
        </ns0:txBody>
      </ns0:sp>
      <ns0:sp>
        <ns0:nvSpPr>
          <ns0:cNvPr id="5" name="Formula scope"/>
          <ns0:cNvSpPr txBox="1"/>
          <ns0:nvPr/>
        </ns0:nvSpPr>
        <ns0:spPr>
          <ns1:xfrm>
            <ns1:off x="1170432" y="3968496"/>
            <ns1:ext cx="9582912" cy="4206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E_endpoint = Σ P_s t_s</ns1:t>
            </ns1:r>
          </ns1:p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endpoint boundary ≠ whole system</ns1:t>
            </ns1:r>
          </ns1:p>
        </ns0:txBody>
      </ns0:sp>
      <ns0:sp>
        <ns0:nvSpPr>
          <ns0:cNvPr id="6" name="Formula guard"/>
          <ns0:cNvSpPr/>
          <ns0:nvPr/>
        </ns0:nvSpPr>
        <ns0:spPr>
          <ns1:xfrm>
            <ns1:off x="932688" y="4736592"/>
            <ns1:ext cx="10168128" cy="566928"/>
          </ns1:xfrm>
          <ns1:prstGeom prst="roundRect">
            <ns1:avLst/>
          </ns1:prstGeom>
          <ns1:solidFill>
            <ns1:srgbClr val="ECF1FE"/>
          </ns1:solidFill>
          <ns1:ln w="12700">
            <ns1:solidFill>
              <ns1:srgbClr val="6F89F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7" name="Formula guard text"/>
          <ns0:cNvSpPr txBox="1"/>
          <ns0:nvPr/>
        </ns0:nvSpPr>
        <ns0:spPr>
          <ns1:xfrm>
            <ns1:off x="1152144" y="4901184"/>
            <ns1:ext cx="9729216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hook is editable；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數字仍由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result artifact 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提供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，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不自行補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KPI。</ns1:t>
            </ns1:r>
          </ns1:p>
        </ns0:txBody>
      </ns0:sp>
    </ns0:spTree>
  </ns0:cSld>
  <ns0:clrMapOvr>
    <ns1:masterClrMapping/>
  </ns0:clrMapOvr>
</ns0:sld>
</file>

<file path=ppt/slides/slide7.xml><?xml version="1.0" encoding="utf-8"?>
<ns0:sld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/>
      <ns0:sp>
        <ns0:nvSpPr>
          <ns0:cNvPr id="2" name="Native title anchor"/>
          <ns0:cNvSpPr>
            <ns1:spLocks noGrp="1"/>
          </ns0:cNvSpPr>
          <ns0:nvPr>
            <ns0:ph type="title"/>
          </ns0:nvPr>
        </ns0:nvSpPr>
        <ns0:spPr/>
        <ns0:txBody>
          <ns1:bodyPr wrap="square" lIns="73152" rIns="73152" tIns="27432" bIns="18288" anchor="t"/>
          <ns1:lstStyle/>
          <ns1:p>
            <ns1:pPr algn="l">
              <ns1:spcAft>
                <ns1:spcPts val="200"/>
              </ns1:spcAft>
            </ns1:pP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公式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：</ns1:t>
            </ns1:r>
            <ns1:r>
              <ns1:rPr sz="2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服務效率的分子與分母</ns1:t>
            </ns1:r>
          </ns1:p>
        </ns0:txBody>
      </ns0:sp>
      <ns0:sp>
        <ns0:nvSpPr>
          <ns0:cNvPr id="4" name="Content Placeholder 3"/>
          <ns0:cNvSpPr>
            <ns1:spLocks noGrp="1"/>
          </ns0:cNvSpPr>
          <ns0:nvPr>
            <ns0:ph idx="10"/>
          </ns0:nvPr>
        </ns0:nvSpPr>
        <ns0:spPr/>
        <ns0:txBody>
          <ns1:bodyPr/>
          <ns1:lstStyle/>
          <ns1:p/>
        </ns0:txBody>
      </ns0:sp>
      <ns0:sp>
        <ns0:nvSpPr>
          <ns0:cNvPr id="5" name="NATIVE_EQUATION_HOOK_eta_E"/>
          <ns0:cNvSpPr/>
          <ns0:nvPr/>
        </ns0:nvSpPr>
        <ns0:spPr>
          <ns1:xfrm>
            <ns1:off x="859536" y="1426464"/>
            <ns1:ext cx="10241280" cy="3108960"/>
          </ns1:xfrm>
          <ns1:prstGeom prst="roundRect">
            <ns1:avLst/>
          </ns1:prstGeom>
          <ns1:solidFill>
            <ns1:srgbClr val="FAF7E8"/>
          </ns1:solidFill>
          <ns1:ln w="17780">
            <ns1:solidFill>
              <ns1:srgbClr val="846826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6" name="NATIVE_EQUATION_HOOK_LABEL_eta_E"/>
          <ns0:cNvSpPr txBox="1"/>
          <ns0:nvPr/>
        </ns0:nvSpPr>
        <ns0:spPr>
          <ns1:xfrm>
            <ns1:off x="1097280" y="1664208"/>
            <ns1:ext cx="9765792" cy="292608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0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EDITABLE OFFICE MATH</ns1:t>
            </ns1:r>
          </ns1:p>
        </ns0:txBody>
      </ns0:sp>
      <ns0:sp>
        <ns0:nvSpPr>
          <ns0:cNvPr id="7" name="Formula scope"/>
          <ns0:cNvSpPr txBox="1"/>
          <ns0:nvPr/>
        </ns0:nvSpPr>
        <ns0:spPr>
          <ns1:xfrm>
            <ns1:off x="1170432" y="3968496"/>
            <ns1:ext cx="9582912" cy="420624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η_E = D_delivered / E_endpoint</ns1:t>
            </ns1:r>
          </ns1:p>
          <ns1:p>
            <ns1:pPr algn="ctr">
              <ns1:spcAft>
                <ns1:spcPts val="200"/>
              </ns1:spcAft>
            </ns1:pPr>
            <ns1:r>
              <ns1:rPr sz="2200" b="0" i="0">
                <ns1:solidFill>
                  <ns1:srgbClr val="2B2E41"/>
                </ns1:solidFill>
                <ns1:latin typeface="Times New Roman"/>
                <ns1:ea typeface="標楷體"/>
                <ns1:cs typeface="Times New Roman"/>
              </ns1:rPr>
              <ns1:t>bit ÷ J = bit/J</ns1:t>
            </ns1:r>
          </ns1:p>
        </ns0:txBody>
      </ns0:sp>
      <ns0:sp>
        <ns0:nvSpPr>
          <ns0:cNvPr id="8" name="Formula guard"/>
          <ns0:cNvSpPr/>
          <ns0:nvPr/>
        </ns0:nvSpPr>
        <ns0:spPr>
          <ns1:xfrm>
            <ns1:off x="932688" y="4736592"/>
            <ns1:ext cx="10168128" cy="566928"/>
          </ns1:xfrm>
          <ns1:prstGeom prst="roundRect">
            <ns1:avLst/>
          </ns1:prstGeom>
          <ns1:solidFill>
            <ns1:srgbClr val="ECF1FE"/>
          </ns1:solidFill>
          <ns1:ln w="12700">
            <ns1:solidFill>
              <ns1:srgbClr val="6F89F7"/>
            </ns1:solidFill>
          </ns1:ln>
        </ns0:spPr>
        <ns0:style>
          <ns1:lnRef idx="1">
            <ns1:schemeClr val="accent1"/>
          </ns1:lnRef>
          <ns1:fillRef idx="3">
            <ns1:schemeClr val="accent1"/>
          </ns1:fillRef>
          <ns1:effectRef idx="2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</ns1:p>
        </ns0:txBody>
      </ns0:sp>
      <ns0:sp>
        <ns0:nvSpPr>
          <ns0:cNvPr id="9" name="Formula guard text"/>
          <ns0:cNvSpPr txBox="1"/>
          <ns0:nvPr/>
        </ns0:nvSpPr>
        <ns0:spPr>
          <ns1:xfrm>
            <ns1:off x="1152144" y="4901184"/>
            <ns1:ext cx="9729216" cy="219456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73152" rIns="73152" tIns="27432" bIns="18288" anchor="t">
            <ns1:spAutoFit/>
          </ns1:bodyPr>
          <ns1:lstStyle/>
          <ns1:p>
            <ns1:pPr algn="ctr">
              <ns1:spcAft>
                <ns1:spcPts val="200"/>
              </ns1:spcAft>
            </ns1:pP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Office Math hook is editable；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數字仍由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result artifact 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提供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，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不自行補</ns1:t>
            </ns1:r>
            <ns1:r>
              <ns1:rPr sz="1800" b="1" i="0">
                <ns1:solidFill>
                  <ns1:srgbClr val="35377F"/>
                </ns1:solidFill>
                <ns1:latin typeface="Times New Roman"/>
                <ns1:ea typeface="標楷體"/>
                <ns1:cs typeface="Times New Roman"/>
              </ns1:rPr>
              <ns1:t> KPI。</ns1:t>
            </ns1:r>
          </ns1:p>
        </ns0:txBody>
      </ns0:sp>
    </ns0:spTree>
  </ns0:cSld>
  <ns0:clrMapOvr>
    <ns1:masterClrMapping/>
  </ns0:clrMapOvr>
</ns0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來源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模型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課程假設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result／replay／scenario lineage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'scenario_id|seed|policy_sha256|artifact_source' fallback_artifacts/candidate-A/result.json</a:t>
            </a:r>
          </a:p>
        </p:txBody>
      </p:sp>
      <p:sp>
        <p:nvSpPr>
          <p:cNvPr id="6" name="Provenance source"/>
          <p:cNvSpPr/>
          <p:nvPr/>
        </p:nvSpPr>
        <p:spPr>
          <a:xfrm>
            <a:off x="877824" y="2084831"/>
            <a:ext cx="2212848" cy="8046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venance source text"/>
          <p:cNvSpPr txBox="1"/>
          <p:nvPr/>
        </p:nvSpPr>
        <p:spPr>
          <a:xfrm>
            <a:off x="987552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cxnSp>
        <p:nvCxnSpPr>
          <p:cNvPr id="8" name="Provenance arrow"/>
          <p:cNvCxnSpPr/>
          <p:nvPr/>
        </p:nvCxnSpPr>
        <p:spPr>
          <a:xfrm>
            <a:off x="3090672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venance model"/>
          <p:cNvSpPr/>
          <p:nvPr/>
        </p:nvSpPr>
        <p:spPr>
          <a:xfrm>
            <a:off x="3364992" y="2084831"/>
            <a:ext cx="2212848" cy="804672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ovenance model text"/>
          <p:cNvSpPr txBox="1"/>
          <p:nvPr/>
        </p:nvSpPr>
        <p:spPr>
          <a:xfrm>
            <a:off x="3474720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cxnSp>
        <p:nvCxnSpPr>
          <p:cNvPr id="11" name="Provenance arrow"/>
          <p:cNvCxnSpPr/>
          <p:nvPr/>
        </p:nvCxnSpPr>
        <p:spPr>
          <a:xfrm>
            <a:off x="5577840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venance course"/>
          <p:cNvSpPr/>
          <p:nvPr/>
        </p:nvSpPr>
        <p:spPr>
          <a:xfrm>
            <a:off x="5852160" y="2084831"/>
            <a:ext cx="2212848" cy="8046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venance course text"/>
          <p:cNvSpPr txBox="1"/>
          <p:nvPr/>
        </p:nvSpPr>
        <p:spPr>
          <a:xfrm>
            <a:off x="5961888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course</a:t>
            </a:r>
          </a:p>
        </p:txBody>
      </p:sp>
      <p:cxnSp>
        <p:nvCxnSpPr>
          <p:cNvPr id="14" name="Provenance arrow"/>
          <p:cNvCxnSpPr/>
          <p:nvPr/>
        </p:nvCxnSpPr>
        <p:spPr>
          <a:xfrm>
            <a:off x="8065008" y="2487168"/>
            <a:ext cx="256032" cy="0"/>
          </a:xfrm>
          <a:prstGeom prst="line">
            <a:avLst/>
          </a:prstGeom>
          <a:ln w="1905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venance result"/>
          <p:cNvSpPr/>
          <p:nvPr/>
        </p:nvSpPr>
        <p:spPr>
          <a:xfrm>
            <a:off x="8339328" y="2084831"/>
            <a:ext cx="2212848" cy="804672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venance result text"/>
          <p:cNvSpPr txBox="1"/>
          <p:nvPr/>
        </p:nvSpPr>
        <p:spPr>
          <a:xfrm>
            <a:off x="8449056" y="2359152"/>
            <a:ext cx="199339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</a:t>
            </a:r>
          </a:p>
        </p:txBody>
      </p:sp>
      <p:sp>
        <p:nvSpPr>
          <p:cNvPr id="17" name="Provenance token"/>
          <p:cNvSpPr/>
          <p:nvPr/>
        </p:nvSpPr>
        <p:spPr>
          <a:xfrm>
            <a:off x="1024128" y="3456432"/>
            <a:ext cx="9948672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venance token text"/>
          <p:cNvSpPr txBox="1"/>
          <p:nvPr/>
        </p:nvSpPr>
        <p:spPr>
          <a:xfrm>
            <a:off x="1225296" y="3694176"/>
            <a:ext cx="9546336" cy="6400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ntpu-energy-decision-01  ·  seed 12001 / 12002  ·  policy SHA  ·  artifact_source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scenario_id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綁住整條鏈</a:t>
            </a:r>
          </a:p>
        </p:txBody>
      </p:sp>
      <p:sp>
        <p:nvSpPr>
          <p:cNvPr id="3" name="Identity source"/>
          <p:cNvSpPr/>
          <p:nvPr/>
        </p:nvSpPr>
        <p:spPr>
          <a:xfrm>
            <a:off x="822960" y="1225296"/>
            <a:ext cx="2779776" cy="402336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dentity source heading"/>
          <p:cNvSpPr txBox="1"/>
          <p:nvPr/>
        </p:nvSpPr>
        <p:spPr>
          <a:xfrm>
            <a:off x="1060704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SOURCE</a:t>
            </a:r>
          </a:p>
        </p:txBody>
      </p:sp>
      <p:sp>
        <p:nvSpPr>
          <p:cNvPr id="5" name="Identity source text"/>
          <p:cNvSpPr txBox="1"/>
          <p:nvPr/>
        </p:nvSpPr>
        <p:spPr>
          <a:xfrm>
            <a:off x="1078992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repo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https://github.com/cedarwud/lora-energy-lab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commit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32cc72309041…</a:t>
            </a:r>
          </a:p>
        </p:txBody>
      </p:sp>
      <p:sp>
        <p:nvSpPr>
          <p:cNvPr id="6" name="Identity scenario"/>
          <p:cNvSpPr/>
          <p:nvPr/>
        </p:nvSpPr>
        <p:spPr>
          <a:xfrm>
            <a:off x="4041648" y="1225296"/>
            <a:ext cx="2779776" cy="402336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dentity scenario heading"/>
          <p:cNvSpPr txBox="1"/>
          <p:nvPr/>
        </p:nvSpPr>
        <p:spPr>
          <a:xfrm>
            <a:off x="4279392" y="1517904"/>
            <a:ext cx="23042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</p:txBody>
      </p:sp>
      <p:sp>
        <p:nvSpPr>
          <p:cNvPr id="8" name="Identity scenario text"/>
          <p:cNvSpPr txBox="1"/>
          <p:nvPr/>
        </p:nvSpPr>
        <p:spPr>
          <a:xfrm>
            <a:off x="4297680" y="1956816"/>
            <a:ext cx="2267712" cy="2505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anchor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sha256:cfe84682a71c0…</a:t>
            </a:r>
          </a:p>
          <a:p>
            <a:pPr algn="ctr">
              <a:spcAft>
                <a:spcPts val="200"/>
              </a:spcAft>
            </a:pP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lock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sha256:f1d1fe3339137…</a:t>
            </a:r>
          </a:p>
        </p:txBody>
      </p:sp>
      <p:sp>
        <p:nvSpPr>
          <p:cNvPr id="9" name="Identity chain"/>
          <p:cNvSpPr/>
          <p:nvPr/>
        </p:nvSpPr>
        <p:spPr>
          <a:xfrm>
            <a:off x="7260336" y="1225296"/>
            <a:ext cx="3785615" cy="402336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dentity chain heading"/>
          <p:cNvSpPr txBox="1"/>
          <p:nvPr/>
        </p:nvSpPr>
        <p:spPr>
          <a:xfrm>
            <a:off x="7516368" y="1517904"/>
            <a:ext cx="3273552" cy="29260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→ REPLAY → WORKBOOK</a:t>
            </a:r>
          </a:p>
        </p:txBody>
      </p:sp>
      <p:sp>
        <p:nvSpPr>
          <p:cNvPr id="11" name="Identity chain text"/>
          <p:cNvSpPr txBox="1"/>
          <p:nvPr/>
        </p:nvSpPr>
        <p:spPr>
          <a:xfrm>
            <a:off x="7534656" y="1956816"/>
            <a:ext cx="3236976" cy="23957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scenario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units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same seed role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</a:t>
            </a:r>
          </a:p>
          <a:p>
            <a:pPr algn="ctr">
              <a:spcAft>
                <a:spcPts val="200"/>
              </a:spcAft>
            </a:pPr>
            <a:r>
              <a:rPr sz="23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fail closed on mismatch</a:t>
            </a:r>
          </a:p>
        </p:txBody>
      </p:sp>
      <p:sp>
        <p:nvSpPr>
          <p:cNvPr id="12" name="Evidence boundary"/>
          <p:cNvSpPr txBox="1"/>
          <p:nvPr/>
        </p:nvSpPr>
        <p:spPr>
          <a:xfrm>
            <a:off x="841248" y="541324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IDENTITY GATE｜scenario / anchor / policy / replay must agree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公平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baseline：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固定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job、window、boundary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root；baseline／candidate A-B pair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Fairness FIXED"/>
          <p:cNvSpPr/>
          <p:nvPr/>
        </p:nvSpPr>
        <p:spPr>
          <a:xfrm>
            <a:off x="896112" y="2066543"/>
            <a:ext cx="3273552" cy="1316736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airness FIXED heading"/>
          <p:cNvSpPr txBox="1"/>
          <p:nvPr/>
        </p:nvSpPr>
        <p:spPr>
          <a:xfrm>
            <a:off x="1060704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FIXED</a:t>
            </a:r>
          </a:p>
        </p:txBody>
      </p:sp>
      <p:sp>
        <p:nvSpPr>
          <p:cNvPr id="10" name="Fairness FIXED body"/>
          <p:cNvSpPr txBox="1"/>
          <p:nvPr/>
        </p:nvSpPr>
        <p:spPr>
          <a:xfrm>
            <a:off x="1078992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/ seed / job / window</a:t>
            </a:r>
          </a:p>
        </p:txBody>
      </p:sp>
      <p:sp>
        <p:nvSpPr>
          <p:cNvPr id="11" name="Fairness ONE EDIT"/>
          <p:cNvSpPr/>
          <p:nvPr/>
        </p:nvSpPr>
        <p:spPr>
          <a:xfrm>
            <a:off x="4626864" y="2066543"/>
            <a:ext cx="3273552" cy="1316736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airness ONE EDIT heading"/>
          <p:cNvSpPr txBox="1"/>
          <p:nvPr/>
        </p:nvSpPr>
        <p:spPr>
          <a:xfrm>
            <a:off x="4791456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ONE EDIT</a:t>
            </a:r>
          </a:p>
        </p:txBody>
      </p:sp>
      <p:sp>
        <p:nvSpPr>
          <p:cNvPr id="13" name="Fairness ONE EDIT body"/>
          <p:cNvSpPr txBox="1"/>
          <p:nvPr/>
        </p:nvSpPr>
        <p:spPr>
          <a:xfrm>
            <a:off x="4809744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current marked block</a:t>
            </a:r>
          </a:p>
        </p:txBody>
      </p:sp>
      <p:sp>
        <p:nvSpPr>
          <p:cNvPr id="14" name="Fairness OBSERVE"/>
          <p:cNvSpPr/>
          <p:nvPr/>
        </p:nvSpPr>
        <p:spPr>
          <a:xfrm>
            <a:off x="8357616" y="2066543"/>
            <a:ext cx="3273552" cy="13167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airness OBSERVE heading"/>
          <p:cNvSpPr txBox="1"/>
          <p:nvPr/>
        </p:nvSpPr>
        <p:spPr>
          <a:xfrm>
            <a:off x="8522208" y="2304288"/>
            <a:ext cx="29443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OBSERVE</a:t>
            </a:r>
          </a:p>
        </p:txBody>
      </p:sp>
      <p:sp>
        <p:nvSpPr>
          <p:cNvPr id="16" name="Fairness OBSERVE body"/>
          <p:cNvSpPr txBox="1"/>
          <p:nvPr/>
        </p:nvSpPr>
        <p:spPr>
          <a:xfrm>
            <a:off x="8540496" y="2706624"/>
            <a:ext cx="2907792" cy="51206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packet / service / state / J</a:t>
            </a:r>
          </a:p>
        </p:txBody>
      </p:sp>
      <p:sp>
        <p:nvSpPr>
          <p:cNvPr id="17" name="Fairness warning"/>
          <p:cNvSpPr/>
          <p:nvPr/>
        </p:nvSpPr>
        <p:spPr>
          <a:xfrm>
            <a:off x="1005840" y="3840480"/>
            <a:ext cx="9966960" cy="11155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airness warning text"/>
          <p:cNvSpPr txBox="1"/>
          <p:nvPr/>
        </p:nvSpPr>
        <p:spPr>
          <a:xfrm>
            <a:off x="1261872" y="4133087"/>
            <a:ext cx="9454896" cy="49377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若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trace、scope、job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偷換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這一組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A/B 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就失去因果資格</a:t>
            </a:r>
            <a:r>
              <a:rPr sz="22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window：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合法與不合法的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action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78992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115568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scenario quality/contact trace；same anchor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89888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'contact|window|quality_band_trace' scenarios/ntpu-energy-decision-01.json</a:t>
            </a:r>
          </a:p>
        </p:txBody>
      </p:sp>
      <p:cxnSp>
        <p:nvCxnSpPr>
          <p:cNvPr id="6" name="Window axis"/>
          <p:cNvCxnSpPr/>
          <p:nvPr/>
        </p:nvCxnSpPr>
        <p:spPr>
          <a:xfrm>
            <a:off x="1024128" y="2852928"/>
            <a:ext cx="9692640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Window open"/>
          <p:cNvSpPr/>
          <p:nvPr/>
        </p:nvSpPr>
        <p:spPr>
          <a:xfrm>
            <a:off x="1188720" y="2139696"/>
            <a:ext cx="4828032" cy="1408176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Window open heading"/>
          <p:cNvSpPr txBox="1"/>
          <p:nvPr/>
        </p:nvSpPr>
        <p:spPr>
          <a:xfrm>
            <a:off x="1444752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WINDOW OPEN</a:t>
            </a:r>
          </a:p>
        </p:txBody>
      </p:sp>
      <p:sp>
        <p:nvSpPr>
          <p:cNvPr id="9" name="Window open body"/>
          <p:cNvSpPr txBox="1"/>
          <p:nvPr/>
        </p:nvSpPr>
        <p:spPr>
          <a:xfrm>
            <a:off x="1463040" y="2834640"/>
            <a:ext cx="4279392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SEND / WAIT legal context</a:t>
            </a:r>
          </a:p>
        </p:txBody>
      </p:sp>
      <p:sp>
        <p:nvSpPr>
          <p:cNvPr id="10" name="Window closed"/>
          <p:cNvSpPr/>
          <p:nvPr/>
        </p:nvSpPr>
        <p:spPr>
          <a:xfrm>
            <a:off x="6236208" y="2139696"/>
            <a:ext cx="4828032" cy="140817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closed heading"/>
          <p:cNvSpPr txBox="1"/>
          <p:nvPr/>
        </p:nvSpPr>
        <p:spPr>
          <a:xfrm>
            <a:off x="6492240" y="2395728"/>
            <a:ext cx="4315968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WINDOW CLOSED</a:t>
            </a:r>
          </a:p>
        </p:txBody>
      </p:sp>
      <p:sp>
        <p:nvSpPr>
          <p:cNvPr id="12" name="Window closed body"/>
          <p:cNvSpPr txBox="1"/>
          <p:nvPr/>
        </p:nvSpPr>
        <p:spPr>
          <a:xfrm>
            <a:off x="6510528" y="2779776"/>
            <a:ext cx="4279392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delayed action → service risk</a:t>
            </a:r>
          </a:p>
        </p:txBody>
      </p:sp>
      <p:sp>
        <p:nvSpPr>
          <p:cNvPr id="13" name="Legal action marker"/>
          <p:cNvSpPr/>
          <p:nvPr/>
        </p:nvSpPr>
        <p:spPr>
          <a:xfrm>
            <a:off x="3310128" y="2724912"/>
            <a:ext cx="256032" cy="256032"/>
          </a:xfrm>
          <a:prstGeom prst="ellipse">
            <a:avLst/>
          </a:prstGeom>
          <a:solidFill>
            <a:srgbClr val="007D80"/>
          </a:solidFill>
          <a:ln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llegal action marker"/>
          <p:cNvSpPr/>
          <p:nvPr/>
        </p:nvSpPr>
        <p:spPr>
          <a:xfrm>
            <a:off x="8467344" y="2724912"/>
            <a:ext cx="256032" cy="256032"/>
          </a:xfrm>
          <a:prstGeom prst="ellipse">
            <a:avLst/>
          </a:prstGeom>
          <a:solidFill>
            <a:srgbClr val="C03737"/>
          </a:solidFill>
          <a:ln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terpretation band"/>
          <p:cNvSpPr/>
          <p:nvPr/>
        </p:nvSpPr>
        <p:spPr>
          <a:xfrm>
            <a:off x="841248" y="471830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terpretation text"/>
          <p:cNvSpPr txBox="1"/>
          <p:nvPr/>
        </p:nvSpPr>
        <p:spPr>
          <a:xfrm>
            <a:off x="1024128" y="480974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 opportunity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接回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WAIT／SEND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的合法性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窗口開啟時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action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可能服務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窗口關閉時延後可能變成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loss；LEO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只作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changing-window example。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同一份工作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pace</a:t>
            </a:r>
          </a:p>
        </p:txBody>
      </p:sp>
      <p:sp>
        <p:nvSpPr>
          <p:cNvPr id="3" name="Lab A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ECF1FE"/>
          </a:solidFill>
          <a:ln w="1778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A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 QUESTION</a:t>
            </a:r>
          </a:p>
        </p:txBody>
      </p:sp>
      <p:sp>
        <p:nvSpPr>
          <p:cNvPr id="5" name="Lab A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different pace / rest</a:t>
            </a:r>
          </a:p>
        </p:txBody>
      </p:sp>
      <p:sp>
        <p:nvSpPr>
          <p:cNvPr id="6" name="Lab A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A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A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A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A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PACE_GAP_STEPS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'1,80p'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gap → send opportunity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steps_since_send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再讀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lab-a-pace-rest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'10,24p'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A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A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lab-a-pace-rest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PACE_GAP_STEPS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REST_DURING_GAP = SLEEP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A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A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A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WAIT stays awake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SLEEP may add wake cost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state + service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prediction lock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root；edit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保持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baseline policy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Prediction A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8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1" name="Prediction A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3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6" name="Prediction A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18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1" name="Prediction A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3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6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前鎖定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queue、service、state time、J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的判讀句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result；withheld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來迎合答案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A-01：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untouched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7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POSIX／WSL；package root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；baseline policy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不改</a:t>
            </a:r>
          </a:p>
        </p:txBody>
      </p:sp>
      <p:sp>
        <p:nvSpPr>
          <p:cNvPr id="8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baseline</a:t>
            </a:r>
          </a:p>
        </p:txBody>
      </p:sp>
      <p:sp>
        <p:nvSpPr>
          <p:cNvPr id="9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fixed scenario / seed → result lineage.</a:t>
            </a:r>
          </a:p>
        </p:txBody>
      </p:sp>
      <p:sp>
        <p:nvSpPr>
          <p:cNvPr id="10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2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可讀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run_id …ee6df44f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6.92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stdout/result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仍待重跑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5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lora-energy-lab/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lab-a-pace-rest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A --case 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one marked edit.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policy SHA + predecessor + receipt.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325cca4a…d73cf2f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6cbaf9dc…e11626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stdout/stderr；restore A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不要再調參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匯入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candidate，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先看同一個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boundary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42415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local fallback pair；result／endpoint-replay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同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scenario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53312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fallback_artifacts/candidate-A/result.json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fallback_artifacts/candidate-A/endpoint-replay.json</a:t>
            </a:r>
          </a:p>
        </p:txBody>
      </p:sp>
      <p:sp>
        <p:nvSpPr>
          <p:cNvPr id="6" name="Compare BASELINE"/>
          <p:cNvSpPr/>
          <p:nvPr/>
        </p:nvSpPr>
        <p:spPr>
          <a:xfrm>
            <a:off x="841248" y="2084831"/>
            <a:ext cx="4901184" cy="248716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mpare BASELINE heading"/>
          <p:cNvSpPr txBox="1"/>
          <p:nvPr/>
        </p:nvSpPr>
        <p:spPr>
          <a:xfrm>
            <a:off x="1060704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sp>
        <p:nvSpPr>
          <p:cNvPr id="8" name="Compare BASELINE body"/>
          <p:cNvSpPr txBox="1"/>
          <p:nvPr/>
        </p:nvSpPr>
        <p:spPr>
          <a:xfrm>
            <a:off x="1152144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sha256:9917d2cde2e…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6.92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9" name="Compare CANDIDATE"/>
          <p:cNvSpPr/>
          <p:nvPr/>
        </p:nvSpPr>
        <p:spPr>
          <a:xfrm>
            <a:off x="6071616" y="2084831"/>
            <a:ext cx="4901184" cy="248716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pare CANDIDATE heading"/>
          <p:cNvSpPr txBox="1"/>
          <p:nvPr/>
        </p:nvSpPr>
        <p:spPr>
          <a:xfrm>
            <a:off x="6291072" y="2340864"/>
            <a:ext cx="446227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sp>
        <p:nvSpPr>
          <p:cNvPr id="11" name="Compare CANDIDATE body"/>
          <p:cNvSpPr txBox="1"/>
          <p:nvPr/>
        </p:nvSpPr>
        <p:spPr>
          <a:xfrm>
            <a:off x="6382512" y="2798064"/>
            <a:ext cx="4279392" cy="13167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scenario ✓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sha256:325cca4a4be…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  ·  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</p:txBody>
      </p:sp>
      <p:sp>
        <p:nvSpPr>
          <p:cNvPr id="12" name="Compare verdict"/>
          <p:cNvSpPr/>
          <p:nvPr/>
        </p:nvSpPr>
        <p:spPr>
          <a:xfrm>
            <a:off x="1078992" y="4718304"/>
            <a:ext cx="10003536" cy="71323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mpare verdict text"/>
          <p:cNvSpPr txBox="1"/>
          <p:nvPr/>
        </p:nvSpPr>
        <p:spPr>
          <a:xfrm>
            <a:off x="1298448" y="4828032"/>
            <a:ext cx="9564624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先確認同一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boundary；candidate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trade-off 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再交給</a:t>
            </a: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/ packet / service ledger。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讀懂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state ledger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result；state interval／energy breakdown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'STATE_INTERVAL|awake_idle|sleep|wake|process|tx|rx' fallback_artifacts/candidate-A/result.json</a:t>
            </a:r>
          </a:p>
        </p:txBody>
      </p:sp>
      <p:sp>
        <p:nvSpPr>
          <p:cNvPr id="8" name="Ledger label awake idle"/>
          <p:cNvSpPr txBox="1"/>
          <p:nvPr/>
        </p:nvSpPr>
        <p:spPr>
          <a:xfrm>
            <a:off x="914400" y="204825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awake idle</a:t>
            </a:r>
          </a:p>
        </p:txBody>
      </p:sp>
      <p:sp>
        <p:nvSpPr>
          <p:cNvPr id="9" name="Ledger bar awake idle"/>
          <p:cNvSpPr/>
          <p:nvPr/>
        </p:nvSpPr>
        <p:spPr>
          <a:xfrm>
            <a:off x="2395728" y="1975104"/>
            <a:ext cx="4590288" cy="310896"/>
          </a:xfrm>
          <a:prstGeom prst="rect">
            <a:avLst/>
          </a:prstGeom>
          <a:solidFill>
            <a:srgbClr val="E8F7F4"/>
          </a:solidFill>
          <a:ln w="1016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dger value awake idle"/>
          <p:cNvSpPr txBox="1"/>
          <p:nvPr/>
        </p:nvSpPr>
        <p:spPr>
          <a:xfrm>
            <a:off x="9107424" y="204825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6.0 J</a:t>
            </a:r>
          </a:p>
        </p:txBody>
      </p:sp>
      <p:sp>
        <p:nvSpPr>
          <p:cNvPr id="11" name="Ledger label sleep"/>
          <p:cNvSpPr txBox="1"/>
          <p:nvPr/>
        </p:nvSpPr>
        <p:spPr>
          <a:xfrm>
            <a:off x="914400" y="2523744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2" name="Ledger bar sleep"/>
          <p:cNvSpPr/>
          <p:nvPr/>
        </p:nvSpPr>
        <p:spPr>
          <a:xfrm>
            <a:off x="2395728" y="2450592"/>
            <a:ext cx="666414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dger value sleep"/>
          <p:cNvSpPr txBox="1"/>
          <p:nvPr/>
        </p:nvSpPr>
        <p:spPr>
          <a:xfrm>
            <a:off x="9107424" y="2523744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0.04 J</a:t>
            </a:r>
          </a:p>
        </p:txBody>
      </p:sp>
      <p:sp>
        <p:nvSpPr>
          <p:cNvPr id="14" name="Ledger label wake"/>
          <p:cNvSpPr txBox="1"/>
          <p:nvPr/>
        </p:nvSpPr>
        <p:spPr>
          <a:xfrm>
            <a:off x="914400" y="2999232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wake</a:t>
            </a:r>
          </a:p>
        </p:txBody>
      </p:sp>
      <p:sp>
        <p:nvSpPr>
          <p:cNvPr id="15" name="Ledger bar wake"/>
          <p:cNvSpPr/>
          <p:nvPr/>
        </p:nvSpPr>
        <p:spPr>
          <a:xfrm>
            <a:off x="2395728" y="2926080"/>
            <a:ext cx="653247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dger value wake"/>
          <p:cNvSpPr txBox="1"/>
          <p:nvPr/>
        </p:nvSpPr>
        <p:spPr>
          <a:xfrm>
            <a:off x="9107424" y="2999232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0.02 J</a:t>
            </a:r>
          </a:p>
        </p:txBody>
      </p:sp>
      <p:sp>
        <p:nvSpPr>
          <p:cNvPr id="17" name="Ledger label process"/>
          <p:cNvSpPr txBox="1"/>
          <p:nvPr/>
        </p:nvSpPr>
        <p:spPr>
          <a:xfrm>
            <a:off x="914400" y="3474720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process</a:t>
            </a:r>
          </a:p>
        </p:txBody>
      </p:sp>
      <p:sp>
        <p:nvSpPr>
          <p:cNvPr id="18" name="Ledger bar process"/>
          <p:cNvSpPr/>
          <p:nvPr/>
        </p:nvSpPr>
        <p:spPr>
          <a:xfrm>
            <a:off x="2395728" y="3401568"/>
            <a:ext cx="74541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dger value process"/>
          <p:cNvSpPr txBox="1"/>
          <p:nvPr/>
        </p:nvSpPr>
        <p:spPr>
          <a:xfrm>
            <a:off x="9107424" y="3474720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0.16 J</a:t>
            </a:r>
          </a:p>
        </p:txBody>
      </p:sp>
      <p:sp>
        <p:nvSpPr>
          <p:cNvPr id="20" name="Ledger label TX"/>
          <p:cNvSpPr txBox="1"/>
          <p:nvPr/>
        </p:nvSpPr>
        <p:spPr>
          <a:xfrm>
            <a:off x="914400" y="3950208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TX</a:t>
            </a:r>
          </a:p>
        </p:txBody>
      </p:sp>
      <p:sp>
        <p:nvSpPr>
          <p:cNvPr id="21" name="Ledger bar TX"/>
          <p:cNvSpPr/>
          <p:nvPr/>
        </p:nvSpPr>
        <p:spPr>
          <a:xfrm>
            <a:off x="2395728" y="3877056"/>
            <a:ext cx="2220163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Ledger value TX"/>
          <p:cNvSpPr txBox="1"/>
          <p:nvPr/>
        </p:nvSpPr>
        <p:spPr>
          <a:xfrm>
            <a:off x="9107424" y="3950208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2.4 J</a:t>
            </a:r>
          </a:p>
        </p:txBody>
      </p:sp>
      <p:sp>
        <p:nvSpPr>
          <p:cNvPr id="23" name="Ledger label RX"/>
          <p:cNvSpPr txBox="1"/>
          <p:nvPr/>
        </p:nvSpPr>
        <p:spPr>
          <a:xfrm>
            <a:off x="914400" y="4425696"/>
            <a:ext cx="1408176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RX</a:t>
            </a:r>
          </a:p>
        </p:txBody>
      </p:sp>
      <p:sp>
        <p:nvSpPr>
          <p:cNvPr id="24" name="Ledger bar RX"/>
          <p:cNvSpPr/>
          <p:nvPr/>
        </p:nvSpPr>
        <p:spPr>
          <a:xfrm>
            <a:off x="2395728" y="4352544"/>
            <a:ext cx="798088" cy="310896"/>
          </a:xfrm>
          <a:prstGeom prst="rect">
            <a:avLst/>
          </a:prstGeom>
          <a:solidFill>
            <a:srgbClr val="ECF1FE"/>
          </a:solidFill>
          <a:ln w="1016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dger value RX"/>
          <p:cNvSpPr txBox="1"/>
          <p:nvPr/>
        </p:nvSpPr>
        <p:spPr>
          <a:xfrm>
            <a:off x="9107424" y="4425696"/>
            <a:ext cx="1078992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0.24 J</a:t>
            </a:r>
          </a:p>
        </p:txBody>
      </p:sp>
      <p:sp>
        <p:nvSpPr>
          <p:cNvPr id="26" name="Ledger guard"/>
          <p:cNvSpPr/>
          <p:nvPr/>
        </p:nvSpPr>
        <p:spPr>
          <a:xfrm>
            <a:off x="914400" y="5010912"/>
            <a:ext cx="10168128" cy="47548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dger guard text"/>
          <p:cNvSpPr txBox="1"/>
          <p:nvPr/>
        </p:nvSpPr>
        <p:spPr>
          <a:xfrm>
            <a:off x="1133856" y="5157216"/>
            <a:ext cx="9729216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先讀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state duration，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再問哪個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policy action 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造成</a:t>
            </a: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consequential diff。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A-05：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把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packet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結果接回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candidate-A result／endpoint replay；packet ledger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'attempt|retry|delivered|expired|service_pass' fallback_artifacts/candidate-A/result.json</a:t>
            </a:r>
          </a:p>
        </p:txBody>
      </p:sp>
      <p:sp>
        <p:nvSpPr>
          <p:cNvPr id="6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 CANDIDATE PACKET LEDGER</a:t>
            </a:r>
          </a:p>
        </p:txBody>
      </p:sp>
      <p:sp>
        <p:nvSpPr>
          <p:cNvPr id="8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2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4800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3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8.86 J</a:t>
            </a:r>
          </a:p>
        </p:txBody>
      </p:sp>
      <p:cxnSp>
        <p:nvCxnSpPr>
          <p:cNvPr id="9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2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 freeze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fallback_artifacts/receipts/a.json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a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a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lab-a-frozen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A-07：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用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hidden case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檢驗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POSIX／WSL；A frozen policy active；same package root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A --case hidden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A --case hidden</a:t>
            </a:r>
          </a:p>
        </p:txBody>
      </p:sp>
      <p:sp>
        <p:nvSpPr>
          <p:cNvPr id="8" name="Withheld hidden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10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11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Withheld hidden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HIDDEN TRACE</a:t>
            </a:r>
          </a:p>
        </p:txBody>
      </p:sp>
      <p:sp>
        <p:nvSpPr>
          <p:cNvPr id="14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A debrief：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一條因果句就夠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A baseline／candidate／hidden fallback trio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fallback_artifacts/hidden-A/result.json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rg -n 'policy_sha256|service_pass|endpoint_energy_j' fallback_artifacts/{baseline-A,candidate-A,hidden-A}/result.json</a:t>
            </a:r>
          </a:p>
        </p:txBody>
      </p:sp>
      <p:sp>
        <p:nvSpPr>
          <p:cNvPr id="6" name="Debrief A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A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A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A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現在送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還是等到更穩定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？</a:t>
            </a:r>
          </a:p>
        </p:txBody>
      </p:sp>
      <p:sp>
        <p:nvSpPr>
          <p:cNvPr id="3" name="Lab B question"/>
          <p:cNvSpPr/>
          <p:nvPr/>
        </p:nvSpPr>
        <p:spPr>
          <a:xfrm>
            <a:off x="804672" y="1225296"/>
            <a:ext cx="5687568" cy="3895344"/>
          </a:xfrm>
          <a:prstGeom prst="roundRect">
            <a:avLst/>
          </a:prstGeom>
          <a:solidFill>
            <a:srgbClr val="F4EDF7"/>
          </a:solidFill>
          <a:ln w="1778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ab B heading"/>
          <p:cNvSpPr txBox="1"/>
          <p:nvPr/>
        </p:nvSpPr>
        <p:spPr>
          <a:xfrm>
            <a:off x="1097280" y="1572768"/>
            <a:ext cx="5102352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LAB B QUESTION</a:t>
            </a:r>
          </a:p>
        </p:txBody>
      </p:sp>
      <p:sp>
        <p:nvSpPr>
          <p:cNvPr id="5" name="Lab B question text"/>
          <p:cNvSpPr txBox="1"/>
          <p:nvPr/>
        </p:nvSpPr>
        <p:spPr>
          <a:xfrm>
            <a:off x="1078992" y="2212848"/>
            <a:ext cx="5138928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same job</a:t>
            </a:r>
          </a:p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quality trace / stability</a:t>
            </a:r>
          </a:p>
        </p:txBody>
      </p:sp>
      <p:sp>
        <p:nvSpPr>
          <p:cNvPr id="6" name="Lab B route"/>
          <p:cNvSpPr txBox="1"/>
          <p:nvPr/>
        </p:nvSpPr>
        <p:spPr>
          <a:xfrm>
            <a:off x="1133856" y="3931920"/>
            <a:ext cx="5029200" cy="60350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先預測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再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 → candidate → withheld</a:t>
            </a:r>
          </a:p>
        </p:txBody>
      </p:sp>
      <p:sp>
        <p:nvSpPr>
          <p:cNvPr id="7" name="Lab B evidence"/>
          <p:cNvSpPr/>
          <p:nvPr/>
        </p:nvSpPr>
        <p:spPr>
          <a:xfrm>
            <a:off x="6894576" y="1225296"/>
            <a:ext cx="4224528" cy="3895344"/>
          </a:xfrm>
          <a:prstGeom prst="roundRect">
            <a:avLst/>
          </a:prstGeom>
          <a:solidFill>
            <a:srgbClr val="FDF9E2"/>
          </a:solidFill>
          <a:ln w="1778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ab B evidence heading"/>
          <p:cNvSpPr txBox="1"/>
          <p:nvPr/>
        </p:nvSpPr>
        <p:spPr>
          <a:xfrm>
            <a:off x="7168896" y="1572768"/>
            <a:ext cx="3675887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WATCH THE CHAIN</a:t>
            </a:r>
          </a:p>
        </p:txBody>
      </p:sp>
      <p:sp>
        <p:nvSpPr>
          <p:cNvPr id="9" name="Lab B evidence text"/>
          <p:cNvSpPr txBox="1"/>
          <p:nvPr/>
        </p:nvSpPr>
        <p:spPr>
          <a:xfrm>
            <a:off x="7205472" y="2176272"/>
            <a:ext cx="3602736" cy="14813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edit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state / transition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packet / service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endpoint J</a:t>
            </a:r>
          </a:p>
        </p:txBody>
      </p:sp>
      <p:sp>
        <p:nvSpPr>
          <p:cNvPr id="10" name="Lab B evidence note"/>
          <p:cNvSpPr txBox="1"/>
          <p:nvPr/>
        </p:nvSpPr>
        <p:spPr>
          <a:xfrm>
            <a:off x="7223760" y="424281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 ARTIFACTS ARE SIMULATED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ENTER_QUALITY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何時進入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send-ready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10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2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quality + stable count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send-ready transition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not direct energy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EXIT_QUALITY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為什麼不能只用一條線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separate enter and exit.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hysteresis limits ping-pong.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STABLE_STEPS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拒絕短暫尖峰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root；student_policy.py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lab-b-enter-exit-hold marked block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sed -n '18,28p'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6" name="Code B panel"/>
          <p:cNvSpPr/>
          <p:nvPr/>
        </p:nvSpPr>
        <p:spPr>
          <a:xfrm>
            <a:off x="841248" y="2066543"/>
            <a:ext cx="6583680" cy="2798064"/>
          </a:xfrm>
          <a:prstGeom prst="roundRect">
            <a:avLst/>
          </a:prstGeom>
          <a:solidFill>
            <a:srgbClr val="F4EDF7"/>
          </a:solidFill>
          <a:ln w="1651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de B text"/>
          <p:cNvSpPr txBox="1"/>
          <p:nvPr/>
        </p:nvSpPr>
        <p:spPr>
          <a:xfrm>
            <a:off x="1078992" y="2340864"/>
            <a:ext cx="6108192" cy="170078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EDITABLE: lab-b-enter-exit-hold ===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ENTER_QUALITY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EXIT_QUALITY = 1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STABLE_STEPS = 2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=== LORA END EDITABLE ===</a:t>
            </a:r>
          </a:p>
        </p:txBody>
      </p:sp>
      <p:sp>
        <p:nvSpPr>
          <p:cNvPr id="8" name="Code B mechanism"/>
          <p:cNvSpPr/>
          <p:nvPr/>
        </p:nvSpPr>
        <p:spPr>
          <a:xfrm>
            <a:off x="7827264" y="2066543"/>
            <a:ext cx="3291840" cy="2798064"/>
          </a:xfrm>
          <a:prstGeom prst="roundRect">
            <a:avLst/>
          </a:prstGeom>
          <a:solidFill>
            <a:srgbClr val="E8F7F4"/>
          </a:solidFill>
          <a:ln w="1651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de B heading"/>
          <p:cNvSpPr txBox="1"/>
          <p:nvPr/>
        </p:nvSpPr>
        <p:spPr>
          <a:xfrm>
            <a:off x="8065008" y="2359152"/>
            <a:ext cx="281635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ONE BLOCK</a:t>
            </a:r>
          </a:p>
        </p:txBody>
      </p:sp>
      <p:sp>
        <p:nvSpPr>
          <p:cNvPr id="10" name="Code B mechanism text"/>
          <p:cNvSpPr txBox="1"/>
          <p:nvPr/>
        </p:nvSpPr>
        <p:spPr>
          <a:xfrm>
            <a:off x="8083296" y="2889504"/>
            <a:ext cx="2779776" cy="135331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count stable steps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→ switch after hold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short spike rejected</a:t>
            </a:r>
          </a:p>
        </p:txBody>
      </p:sp>
      <p:sp>
        <p:nvSpPr>
          <p:cNvPr id="11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POLICY SURFACE｜marked block only｜syntax guard before run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的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42415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78992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root；Trace A run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前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；A frozen predecessor active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53312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py_compile student_policy.py</a:t>
            </a:r>
          </a:p>
        </p:txBody>
      </p:sp>
      <p:sp>
        <p:nvSpPr>
          <p:cNvPr id="8" name="Prediction B queue age"/>
          <p:cNvSpPr/>
          <p:nvPr/>
        </p:nvSpPr>
        <p:spPr>
          <a:xfrm>
            <a:off x="1005840" y="2139696"/>
            <a:ext cx="2194560" cy="457200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label queue age"/>
          <p:cNvSpPr txBox="1"/>
          <p:nvPr/>
        </p:nvSpPr>
        <p:spPr>
          <a:xfrm>
            <a:off x="1133856" y="2267712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queue age</a:t>
            </a:r>
          </a:p>
        </p:txBody>
      </p:sp>
      <p:cxnSp>
        <p:nvCxnSpPr>
          <p:cNvPr id="10" name="Prediction arrow"/>
          <p:cNvCxnSpPr/>
          <p:nvPr/>
        </p:nvCxnSpPr>
        <p:spPr>
          <a:xfrm>
            <a:off x="3401568" y="2368296"/>
            <a:ext cx="749808" cy="0"/>
          </a:xfrm>
          <a:prstGeom prst="line">
            <a:avLst/>
          </a:prstGeom>
          <a:ln w="1778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Prediction sentence queue age"/>
          <p:cNvSpPr/>
          <p:nvPr/>
        </p:nvSpPr>
        <p:spPr>
          <a:xfrm>
            <a:off x="4352544" y="2139696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rediction text queue age"/>
          <p:cNvSpPr txBox="1"/>
          <p:nvPr/>
        </p:nvSpPr>
        <p:spPr>
          <a:xfrm>
            <a:off x="4590288" y="2267712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3" name="Prediction B service"/>
          <p:cNvSpPr/>
          <p:nvPr/>
        </p:nvSpPr>
        <p:spPr>
          <a:xfrm>
            <a:off x="1005840" y="2816352"/>
            <a:ext cx="2194560" cy="457200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label service"/>
          <p:cNvSpPr txBox="1"/>
          <p:nvPr/>
        </p:nvSpPr>
        <p:spPr>
          <a:xfrm>
            <a:off x="1133856" y="2944368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5" name="Prediction arrow"/>
          <p:cNvCxnSpPr/>
          <p:nvPr/>
        </p:nvCxnSpPr>
        <p:spPr>
          <a:xfrm>
            <a:off x="3401568" y="3044952"/>
            <a:ext cx="749808" cy="0"/>
          </a:xfrm>
          <a:prstGeom prst="line">
            <a:avLst/>
          </a:prstGeom>
          <a:ln w="17780">
            <a:solidFill>
              <a:srgbClr val="007D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ediction sentence service"/>
          <p:cNvSpPr/>
          <p:nvPr/>
        </p:nvSpPr>
        <p:spPr>
          <a:xfrm>
            <a:off x="4352544" y="2816352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rediction text service"/>
          <p:cNvSpPr txBox="1"/>
          <p:nvPr/>
        </p:nvSpPr>
        <p:spPr>
          <a:xfrm>
            <a:off x="4590288" y="2944368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18" name="Prediction B state time"/>
          <p:cNvSpPr/>
          <p:nvPr/>
        </p:nvSpPr>
        <p:spPr>
          <a:xfrm>
            <a:off x="1005840" y="3493008"/>
            <a:ext cx="2194560" cy="457200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label state time"/>
          <p:cNvSpPr txBox="1"/>
          <p:nvPr/>
        </p:nvSpPr>
        <p:spPr>
          <a:xfrm>
            <a:off x="1133856" y="3621024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state time</a:t>
            </a:r>
          </a:p>
        </p:txBody>
      </p:sp>
      <p:cxnSp>
        <p:nvCxnSpPr>
          <p:cNvPr id="20" name="Prediction arrow"/>
          <p:cNvCxnSpPr/>
          <p:nvPr/>
        </p:nvCxnSpPr>
        <p:spPr>
          <a:xfrm>
            <a:off x="3401568" y="3721608"/>
            <a:ext cx="749808" cy="0"/>
          </a:xfrm>
          <a:prstGeom prst="line">
            <a:avLst/>
          </a:prstGeom>
          <a:ln w="17780">
            <a:solidFill>
              <a:srgbClr val="6600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rediction sentence state time"/>
          <p:cNvSpPr/>
          <p:nvPr/>
        </p:nvSpPr>
        <p:spPr>
          <a:xfrm>
            <a:off x="4352544" y="3493008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rediction text state time"/>
          <p:cNvSpPr txBox="1"/>
          <p:nvPr/>
        </p:nvSpPr>
        <p:spPr>
          <a:xfrm>
            <a:off x="4590288" y="3621024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3" name="Prediction B endpoint J"/>
          <p:cNvSpPr/>
          <p:nvPr/>
        </p:nvSpPr>
        <p:spPr>
          <a:xfrm>
            <a:off x="1005840" y="4169663"/>
            <a:ext cx="2194560" cy="457200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Prediction label endpoint J"/>
          <p:cNvSpPr txBox="1"/>
          <p:nvPr/>
        </p:nvSpPr>
        <p:spPr>
          <a:xfrm>
            <a:off x="1133856" y="4297679"/>
            <a:ext cx="193852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cxnSp>
        <p:nvCxnSpPr>
          <p:cNvPr id="25" name="Prediction arrow"/>
          <p:cNvCxnSpPr/>
          <p:nvPr/>
        </p:nvCxnSpPr>
        <p:spPr>
          <a:xfrm>
            <a:off x="3401568" y="4398264"/>
            <a:ext cx="74980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Prediction sentence endpoint J"/>
          <p:cNvSpPr/>
          <p:nvPr/>
        </p:nvSpPr>
        <p:spPr>
          <a:xfrm>
            <a:off x="4352544" y="4169663"/>
            <a:ext cx="5797296" cy="457200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DF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rediction text endpoint J"/>
          <p:cNvSpPr txBox="1"/>
          <p:nvPr/>
        </p:nvSpPr>
        <p:spPr>
          <a:xfrm>
            <a:off x="4590288" y="4297679"/>
            <a:ext cx="5321808" cy="18288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↗ / ↘ / hold — write a reason before run</a:t>
            </a:r>
          </a:p>
        </p:txBody>
      </p:sp>
      <p:sp>
        <p:nvSpPr>
          <p:cNvPr id="28" name="Interpretation band"/>
          <p:cNvSpPr/>
          <p:nvPr/>
        </p:nvSpPr>
        <p:spPr>
          <a:xfrm>
            <a:off x="841248" y="4992624"/>
            <a:ext cx="10387584" cy="62179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nterpretation text"/>
          <p:cNvSpPr txBox="1"/>
          <p:nvPr/>
        </p:nvSpPr>
        <p:spPr>
          <a:xfrm>
            <a:off x="1024128" y="5084064"/>
            <a:ext cx="10021824" cy="45720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Trace A run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前標出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enter、hold、exit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service/J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方向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 prediction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先於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baseline/candidate；policy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不能讀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future trace outcome。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B-01：Trace A baseline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 active；package root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trace-a-baseline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trace-a-baseline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establish Trace A control.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A frozen predecessor → B baseline.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fallback run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…b2603b79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、energy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8.86 J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、delivered </a:t>
            </a:r>
            <a:r>
              <a:rPr sz="1800" b="0" i="1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4800 bit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；fresh path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待重跑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B-02：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B marked block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並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</a:t>
            </a:r>
          </a:p>
        </p:txBody>
      </p:sp>
      <p:sp>
        <p:nvSpPr>
          <p:cNvPr id="3" name="Run terminal"/>
          <p:cNvSpPr/>
          <p:nvPr/>
        </p:nvSpPr>
        <p:spPr>
          <a:xfrm>
            <a:off x="749808" y="1225296"/>
            <a:ext cx="5394960" cy="363931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un heading"/>
          <p:cNvSpPr txBox="1"/>
          <p:nvPr/>
        </p:nvSpPr>
        <p:spPr>
          <a:xfrm>
            <a:off x="987552" y="1444752"/>
            <a:ext cx="4919472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RUN THIS EXACTLY</a:t>
            </a:r>
          </a:p>
        </p:txBody>
      </p:sp>
      <p:sp>
        <p:nvSpPr>
          <p:cNvPr id="5" name="Run context"/>
          <p:cNvSpPr txBox="1"/>
          <p:nvPr/>
        </p:nvSpPr>
        <p:spPr>
          <a:xfrm>
            <a:off x="987552" y="1792224"/>
            <a:ext cx="491947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POSIX／WSL；A frozen predecessor；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只改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 </a:t>
            </a: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lab-b-enter-exit-hold</a:t>
            </a:r>
          </a:p>
        </p:txBody>
      </p:sp>
      <p:sp>
        <p:nvSpPr>
          <p:cNvPr id="6" name="Run context command"/>
          <p:cNvSpPr txBox="1"/>
          <p:nvPr/>
        </p:nvSpPr>
        <p:spPr>
          <a:xfrm>
            <a:off x="987552" y="2395728"/>
            <a:ext cx="4919472" cy="100584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git diff -- student_policy.py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bash course.sh run --lab B --case trace-a-candidate --freeze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trace-a-candidate --freeze</a:t>
            </a:r>
          </a:p>
        </p:txBody>
      </p:sp>
      <p:sp>
        <p:nvSpPr>
          <p:cNvPr id="7" name="Run mechanism"/>
          <p:cNvSpPr txBox="1"/>
          <p:nvPr/>
        </p:nvSpPr>
        <p:spPr>
          <a:xfrm>
            <a:off x="987552" y="3493008"/>
            <a:ext cx="4919472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Purpose: freeze B candidate.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Mechanism: B SHA + Trace A + predecessor.</a:t>
            </a:r>
          </a:p>
        </p:txBody>
      </p:sp>
      <p:sp>
        <p:nvSpPr>
          <p:cNvPr id="8" name="Run receipt"/>
          <p:cNvSpPr/>
          <p:nvPr/>
        </p:nvSpPr>
        <p:spPr>
          <a:xfrm>
            <a:off x="6419088" y="1225296"/>
            <a:ext cx="4809744" cy="204825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heading"/>
          <p:cNvSpPr txBox="1"/>
          <p:nvPr/>
        </p:nvSpPr>
        <p:spPr>
          <a:xfrm>
            <a:off x="6656832" y="1444752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READ THE RECEIPT</a:t>
            </a:r>
          </a:p>
        </p:txBody>
      </p:sp>
      <p:sp>
        <p:nvSpPr>
          <p:cNvPr id="10" name="Receipt expected"/>
          <p:cNvSpPr txBox="1"/>
          <p:nvPr/>
        </p:nvSpPr>
        <p:spPr>
          <a:xfrm>
            <a:off x="6656832" y="1847088"/>
            <a:ext cx="4334256" cy="129844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candidate policy c00ed808…78293718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freeze 2a4167e2…171349e0e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bit；fresh receipt pending</a:t>
            </a:r>
          </a:p>
        </p:txBody>
      </p:sp>
      <p:sp>
        <p:nvSpPr>
          <p:cNvPr id="11" name="Run recovery"/>
          <p:cNvSpPr/>
          <p:nvPr/>
        </p:nvSpPr>
        <p:spPr>
          <a:xfrm>
            <a:off x="6419088" y="3383280"/>
            <a:ext cx="4809744" cy="14813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heading"/>
          <p:cNvSpPr txBox="1"/>
          <p:nvPr/>
        </p:nvSpPr>
        <p:spPr>
          <a:xfrm>
            <a:off x="6656832" y="3529584"/>
            <a:ext cx="4334256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IF THE GATE IS RED</a:t>
            </a:r>
          </a:p>
        </p:txBody>
      </p:sp>
      <p:sp>
        <p:nvSpPr>
          <p:cNvPr id="13" name="Recovery text"/>
          <p:cNvSpPr txBox="1"/>
          <p:nvPr/>
        </p:nvSpPr>
        <p:spPr>
          <a:xfrm>
            <a:off x="6656832" y="3895344"/>
            <a:ext cx="4334256" cy="85953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保留錯誤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；restore A/B checkpoint 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或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matching fallback；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不可</a:t>
            </a: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retune。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340096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VERIFIED LOCAL FALLBACK｜SIMULATED｜fresh receipt/path pending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B-03：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transition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service，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不只讀品質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24128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result／endpoint replay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35024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'quality_band|POLICY_DECISION|PACKET_ATTEMPT|delivered|expired|service_pass' fallback_artifacts/trace-a-candidate-B/result.json</a:t>
            </a:r>
          </a:p>
        </p:txBody>
      </p:sp>
      <p:sp>
        <p:nvSpPr>
          <p:cNvPr id="8" name="Packet ledger"/>
          <p:cNvSpPr/>
          <p:nvPr/>
        </p:nvSpPr>
        <p:spPr>
          <a:xfrm>
            <a:off x="896112" y="1993392"/>
            <a:ext cx="4791456" cy="2633472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ledger heading"/>
          <p:cNvSpPr txBox="1"/>
          <p:nvPr/>
        </p:nvSpPr>
        <p:spPr>
          <a:xfrm>
            <a:off x="1133856" y="2267712"/>
            <a:ext cx="4315968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 CANDIDATE PACKET LEDGER</a:t>
            </a:r>
          </a:p>
        </p:txBody>
      </p:sp>
      <p:sp>
        <p:nvSpPr>
          <p:cNvPr id="10" name="Packet ledger body"/>
          <p:cNvSpPr txBox="1"/>
          <p:nvPr/>
        </p:nvSpPr>
        <p:spPr>
          <a:xfrm>
            <a:off x="1152144" y="2743200"/>
            <a:ext cx="4279392" cy="14447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attempted 4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retransmissions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delivered 9600 bit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expired 1</a:t>
            </a:r>
          </a:p>
          <a:p>
            <a:pPr algn="ctr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10.66 J</a:t>
            </a:r>
          </a:p>
        </p:txBody>
      </p:sp>
      <p:cxnSp>
        <p:nvCxnSpPr>
          <p:cNvPr id="11" name="Packet to service"/>
          <p:cNvCxnSpPr/>
          <p:nvPr/>
        </p:nvCxnSpPr>
        <p:spPr>
          <a:xfrm>
            <a:off x="5888736" y="3310128"/>
            <a:ext cx="56692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ervice verdict"/>
          <p:cNvSpPr/>
          <p:nvPr/>
        </p:nvSpPr>
        <p:spPr>
          <a:xfrm>
            <a:off x="6675120" y="1993392"/>
            <a:ext cx="4407408" cy="2633472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ervice verdict heading"/>
          <p:cNvSpPr txBox="1"/>
          <p:nvPr/>
        </p:nvSpPr>
        <p:spPr>
          <a:xfrm>
            <a:off x="6931152" y="2267712"/>
            <a:ext cx="38953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SERVICE VERDICT</a:t>
            </a:r>
          </a:p>
        </p:txBody>
      </p:sp>
      <p:sp>
        <p:nvSpPr>
          <p:cNvPr id="14" name="Service verdict body"/>
          <p:cNvSpPr txBox="1"/>
          <p:nvPr/>
        </p:nvSpPr>
        <p:spPr>
          <a:xfrm>
            <a:off x="6949440" y="2816352"/>
            <a:ext cx="3858768" cy="1042415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deadline_pass = false</a:t>
            </a:r>
          </a:p>
          <a:p>
            <a:pPr algn="ctr">
              <a:spcAft>
                <a:spcPts val="200"/>
              </a:spcAft>
            </a:pP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先說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trade-off，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不說節能</a:t>
            </a:r>
            <a:r>
              <a:rPr sz="22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5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B-04：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確認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freeze receipt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才能進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root；B frozen receipt／checkpoint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fallback_artifacts/receipts/b.json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artifacts/checkpoints -maxdepth 1 -type f -print</a:t>
            </a:r>
          </a:p>
        </p:txBody>
      </p:sp>
      <p:sp>
        <p:nvSpPr>
          <p:cNvPr id="6" name="Freeze baseline"/>
          <p:cNvSpPr/>
          <p:nvPr/>
        </p:nvSpPr>
        <p:spPr>
          <a:xfrm>
            <a:off x="932688" y="2231136"/>
            <a:ext cx="2761488" cy="786384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ze baseline text"/>
          <p:cNvSpPr txBox="1"/>
          <p:nvPr/>
        </p:nvSpPr>
        <p:spPr>
          <a:xfrm>
            <a:off x="1078992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</p:txBody>
      </p:sp>
      <p:cxnSp>
        <p:nvCxnSpPr>
          <p:cNvPr id="8" name="Freeze lineage arrow"/>
          <p:cNvCxnSpPr/>
          <p:nvPr/>
        </p:nvCxnSpPr>
        <p:spPr>
          <a:xfrm>
            <a:off x="3694176" y="2624328"/>
            <a:ext cx="365759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ze candidate"/>
          <p:cNvSpPr/>
          <p:nvPr/>
        </p:nvSpPr>
        <p:spPr>
          <a:xfrm>
            <a:off x="4059935" y="2231136"/>
            <a:ext cx="2761488" cy="786384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ze candidate text"/>
          <p:cNvSpPr txBox="1"/>
          <p:nvPr/>
        </p:nvSpPr>
        <p:spPr>
          <a:xfrm>
            <a:off x="4206240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</p:txBody>
      </p:sp>
      <p:cxnSp>
        <p:nvCxnSpPr>
          <p:cNvPr id="11" name="Freeze lineage arrow"/>
          <p:cNvCxnSpPr/>
          <p:nvPr/>
        </p:nvCxnSpPr>
        <p:spPr>
          <a:xfrm>
            <a:off x="6821423" y="2624328"/>
            <a:ext cx="365760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ze lab-b-frozen"/>
          <p:cNvSpPr/>
          <p:nvPr/>
        </p:nvSpPr>
        <p:spPr>
          <a:xfrm>
            <a:off x="7187183" y="2231136"/>
            <a:ext cx="2761488" cy="786384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ze lab-b-frozen text"/>
          <p:cNvSpPr txBox="1"/>
          <p:nvPr/>
        </p:nvSpPr>
        <p:spPr>
          <a:xfrm>
            <a:off x="7333488" y="2505456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lab-b-frozen</a:t>
            </a:r>
          </a:p>
        </p:txBody>
      </p:sp>
      <p:sp>
        <p:nvSpPr>
          <p:cNvPr id="14" name="Freeze receipt fields"/>
          <p:cNvSpPr/>
          <p:nvPr/>
        </p:nvSpPr>
        <p:spPr>
          <a:xfrm>
            <a:off x="987552" y="3493008"/>
            <a:ext cx="10021824" cy="1078992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ze receipt fields text"/>
          <p:cNvSpPr txBox="1"/>
          <p:nvPr/>
        </p:nvSpPr>
        <p:spPr>
          <a:xfrm>
            <a:off x="1225296" y="3712463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 SHA · predecessor · active_block_id · scenario · anchor · seed · receipt SHA</a:t>
            </a:r>
          </a:p>
        </p:txBody>
      </p:sp>
      <p:sp>
        <p:nvSpPr>
          <p:cNvPr id="16" name="Evidence boundary"/>
          <p:cNvSpPr txBox="1"/>
          <p:nvPr/>
        </p:nvSpPr>
        <p:spPr>
          <a:xfrm>
            <a:off x="841248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FREEZE GATE｜missing receipt / checkpoint = stop before withheld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B-05：Trace B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retune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POSIX／WSL；B frozen policy active；package root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bash course.sh run --lab B --case trace-b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# Windows: course.cmd run --lab B --case trace-b</a:t>
            </a:r>
          </a:p>
        </p:txBody>
      </p:sp>
      <p:sp>
        <p:nvSpPr>
          <p:cNvPr id="6" name="Withheld Trace B primary"/>
          <p:cNvSpPr/>
          <p:nvPr/>
        </p:nvSpPr>
        <p:spPr>
          <a:xfrm>
            <a:off x="896112" y="2084831"/>
            <a:ext cx="4315968" cy="248716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ithheld frozen heading"/>
          <p:cNvSpPr txBox="1"/>
          <p:nvPr/>
        </p:nvSpPr>
        <p:spPr>
          <a:xfrm>
            <a:off x="1133856" y="2359152"/>
            <a:ext cx="3840480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 POLICY</a:t>
            </a:r>
          </a:p>
        </p:txBody>
      </p:sp>
      <p:sp>
        <p:nvSpPr>
          <p:cNvPr id="8" name="Withheld frozen body"/>
          <p:cNvSpPr txBox="1"/>
          <p:nvPr/>
        </p:nvSpPr>
        <p:spPr>
          <a:xfrm>
            <a:off x="1188720" y="2907792"/>
            <a:ext cx="373075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policy SHA unchanged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no new freeze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read result + replay</a:t>
            </a:r>
          </a:p>
        </p:txBody>
      </p:sp>
      <p:cxnSp>
        <p:nvCxnSpPr>
          <p:cNvPr id="9" name="Withheld arrow"/>
          <p:cNvCxnSpPr/>
          <p:nvPr/>
        </p:nvCxnSpPr>
        <p:spPr>
          <a:xfrm>
            <a:off x="5468112" y="3310128"/>
            <a:ext cx="640080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Withheld Trace B trace"/>
          <p:cNvSpPr/>
          <p:nvPr/>
        </p:nvSpPr>
        <p:spPr>
          <a:xfrm>
            <a:off x="6364224" y="2084831"/>
            <a:ext cx="4645152" cy="248716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thheld trace heading"/>
          <p:cNvSpPr txBox="1"/>
          <p:nvPr/>
        </p:nvSpPr>
        <p:spPr>
          <a:xfrm>
            <a:off x="6620256" y="2359152"/>
            <a:ext cx="4133087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TRACE B TRACE</a:t>
            </a:r>
          </a:p>
        </p:txBody>
      </p:sp>
      <p:sp>
        <p:nvSpPr>
          <p:cNvPr id="12" name="Withheld trace body"/>
          <p:cNvSpPr txBox="1"/>
          <p:nvPr/>
        </p:nvSpPr>
        <p:spPr>
          <a:xfrm>
            <a:off x="6675120" y="2834640"/>
            <a:ext cx="4023360" cy="11887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new condition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queue / service / state / J</a:t>
            </a:r>
          </a:p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qualified verdict</a:t>
            </a:r>
          </a:p>
        </p:txBody>
      </p:sp>
      <p:sp>
        <p:nvSpPr>
          <p:cNvPr id="13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B-06：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辨識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too-slow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與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ping-pong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0"/>
          </p:nvPr>
        </p:nvSpPr>
        <p:spPr/>
        <p:txBody>
          <a:bodyPr/>
          <a:lstStyle/>
          <a:p/>
        </p:txBody>
      </p:sp>
      <p:sp>
        <p:nvSpPr>
          <p:cNvPr id="5" name="Exact context command"/>
          <p:cNvSpPr/>
          <p:nvPr/>
        </p:nvSpPr>
        <p:spPr>
          <a:xfrm>
            <a:off x="749808" y="1005840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trace-a-candidate-B vs trace-b-B；same B policy SHA</a:t>
            </a:r>
          </a:p>
        </p:txBody>
      </p:sp>
      <p:sp>
        <p:nvSpPr>
          <p:cNvPr id="7" name="Exact command"/>
          <p:cNvSpPr txBox="1"/>
          <p:nvPr/>
        </p:nvSpPr>
        <p:spPr>
          <a:xfrm>
            <a:off x="950976" y="1316736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rg -n 'policy_sha256|service_pass|endpoint_energy_j|expired_packets' fallback_artifacts/trace-b-B/result.json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fallback_artifacts/trace-b-B/endpoint-replay.json</a:t>
            </a:r>
          </a:p>
        </p:txBody>
      </p:sp>
      <p:sp>
        <p:nvSpPr>
          <p:cNvPr id="8" name="Too slow"/>
          <p:cNvSpPr/>
          <p:nvPr/>
        </p:nvSpPr>
        <p:spPr>
          <a:xfrm>
            <a:off x="877824" y="2066543"/>
            <a:ext cx="4864608" cy="2505456"/>
          </a:xfrm>
          <a:prstGeom prst="roundRect">
            <a:avLst/>
          </a:prstGeom>
          <a:solidFill>
            <a:srgbClr val="FDEFEF"/>
          </a:solidFill>
          <a:ln w="12700">
            <a:solidFill>
              <a:srgbClr val="C0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oo slow heading"/>
          <p:cNvSpPr txBox="1"/>
          <p:nvPr/>
        </p:nvSpPr>
        <p:spPr>
          <a:xfrm>
            <a:off x="1133856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TOO-SLOW</a:t>
            </a:r>
          </a:p>
        </p:txBody>
      </p:sp>
      <p:sp>
        <p:nvSpPr>
          <p:cNvPr id="10" name="Too slow body"/>
          <p:cNvSpPr txBox="1"/>
          <p:nvPr/>
        </p:nvSpPr>
        <p:spPr>
          <a:xfrm>
            <a:off x="1170432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hold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太久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錯過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service window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service loss</a:t>
            </a:r>
          </a:p>
        </p:txBody>
      </p:sp>
      <p:sp>
        <p:nvSpPr>
          <p:cNvPr id="11" name="Ping pong"/>
          <p:cNvSpPr/>
          <p:nvPr/>
        </p:nvSpPr>
        <p:spPr>
          <a:xfrm>
            <a:off x="6144768" y="2066543"/>
            <a:ext cx="4864608" cy="25054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ng pong heading"/>
          <p:cNvSpPr txBox="1"/>
          <p:nvPr/>
        </p:nvSpPr>
        <p:spPr>
          <a:xfrm>
            <a:off x="6400800" y="2340864"/>
            <a:ext cx="4352544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PING-PONG</a:t>
            </a:r>
          </a:p>
        </p:txBody>
      </p:sp>
      <p:sp>
        <p:nvSpPr>
          <p:cNvPr id="13" name="Ping pong body"/>
          <p:cNvSpPr txBox="1"/>
          <p:nvPr/>
        </p:nvSpPr>
        <p:spPr>
          <a:xfrm>
            <a:off x="6437376" y="2889504"/>
            <a:ext cx="4279392" cy="102412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enter ↔ exit 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太近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多次</a:t>
            </a: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 transition / retry</a:t>
            </a:r>
          </a:p>
          <a:p>
            <a:pPr algn="ctr">
              <a:spcAft>
                <a:spcPts val="200"/>
              </a:spcAft>
            </a:pPr>
            <a:r>
              <a:rPr sz="2300" b="1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energy trade-off</a:t>
            </a:r>
          </a:p>
        </p:txBody>
      </p:sp>
      <p:sp>
        <p:nvSpPr>
          <p:cNvPr id="14" name="Evidence boundary"/>
          <p:cNvSpPr txBox="1"/>
          <p:nvPr/>
        </p:nvSpPr>
        <p:spPr>
          <a:xfrm>
            <a:off x="841248" y="5358384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 debrief：hysteresis 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是條件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不是保證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24128"/>
            <a:ext cx="10479024" cy="1005840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60704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Trace A／Trace B；B receipt／policy／result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35024"/>
            <a:ext cx="10040112" cy="658368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python -m json.tool fallback_artifacts/trace-a-candidate-B/result.json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python -m json.tool fallback_artifacts/trace-b-B/result.json</a:t>
            </a:r>
          </a:p>
        </p:txBody>
      </p:sp>
      <p:sp>
        <p:nvSpPr>
          <p:cNvPr id="6" name="Debrief B condition"/>
          <p:cNvSpPr/>
          <p:nvPr/>
        </p:nvSpPr>
        <p:spPr>
          <a:xfrm>
            <a:off x="896112" y="2157984"/>
            <a:ext cx="2468880" cy="841248"/>
          </a:xfrm>
          <a:prstGeom prst="roundRect">
            <a:avLst/>
          </a:prstGeom>
          <a:solidFill>
            <a:srgbClr val="ECF1FE"/>
          </a:solidFill>
          <a:ln w="1270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brief condition"/>
          <p:cNvSpPr txBox="1"/>
          <p:nvPr/>
        </p:nvSpPr>
        <p:spPr>
          <a:xfrm>
            <a:off x="1005840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condition</a:t>
            </a:r>
          </a:p>
        </p:txBody>
      </p:sp>
      <p:cxnSp>
        <p:nvCxnSpPr>
          <p:cNvPr id="8" name="Debrief arrow"/>
          <p:cNvCxnSpPr/>
          <p:nvPr/>
        </p:nvCxnSpPr>
        <p:spPr>
          <a:xfrm>
            <a:off x="3364992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ebrief B mechanism"/>
          <p:cNvSpPr/>
          <p:nvPr/>
        </p:nvSpPr>
        <p:spPr>
          <a:xfrm>
            <a:off x="3657600" y="2157984"/>
            <a:ext cx="2468880" cy="841248"/>
          </a:xfrm>
          <a:prstGeom prst="roundRect">
            <a:avLst/>
          </a:prstGeom>
          <a:solidFill>
            <a:srgbClr val="F4EDF7"/>
          </a:solidFill>
          <a:ln w="1270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brief mechanism"/>
          <p:cNvSpPr txBox="1"/>
          <p:nvPr/>
        </p:nvSpPr>
        <p:spPr>
          <a:xfrm>
            <a:off x="3767328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cxnSp>
        <p:nvCxnSpPr>
          <p:cNvPr id="11" name="Debrief arrow"/>
          <p:cNvCxnSpPr/>
          <p:nvPr/>
        </p:nvCxnSpPr>
        <p:spPr>
          <a:xfrm>
            <a:off x="6126480" y="2578608"/>
            <a:ext cx="292608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ebrief B evidence"/>
          <p:cNvSpPr/>
          <p:nvPr/>
        </p:nvSpPr>
        <p:spPr>
          <a:xfrm>
            <a:off x="6419088" y="2157984"/>
            <a:ext cx="2468880" cy="841248"/>
          </a:xfrm>
          <a:prstGeom prst="roundRect">
            <a:avLst/>
          </a:prstGeom>
          <a:solidFill>
            <a:srgbClr val="E8F7F4"/>
          </a:solidFill>
          <a:ln w="1270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ebrief evidence"/>
          <p:cNvSpPr txBox="1"/>
          <p:nvPr/>
        </p:nvSpPr>
        <p:spPr>
          <a:xfrm>
            <a:off x="6528816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evidence</a:t>
            </a:r>
          </a:p>
        </p:txBody>
      </p:sp>
      <p:cxnSp>
        <p:nvCxnSpPr>
          <p:cNvPr id="14" name="Debrief arrow"/>
          <p:cNvCxnSpPr/>
          <p:nvPr/>
        </p:nvCxnSpPr>
        <p:spPr>
          <a:xfrm>
            <a:off x="8887967" y="2578608"/>
            <a:ext cx="292609" cy="0"/>
          </a:xfrm>
          <a:prstGeom prst="line">
            <a:avLst/>
          </a:prstGeom>
          <a:ln w="2032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brief B verdict"/>
          <p:cNvSpPr/>
          <p:nvPr/>
        </p:nvSpPr>
        <p:spPr>
          <a:xfrm>
            <a:off x="9180576" y="2157984"/>
            <a:ext cx="2468880" cy="841248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ebrief verdict"/>
          <p:cNvSpPr txBox="1"/>
          <p:nvPr/>
        </p:nvSpPr>
        <p:spPr>
          <a:xfrm>
            <a:off x="9290303" y="2450592"/>
            <a:ext cx="2249424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verdict</a:t>
            </a:r>
          </a:p>
        </p:txBody>
      </p:sp>
      <p:sp>
        <p:nvSpPr>
          <p:cNvPr id="17" name="Debrief sentence"/>
          <p:cNvSpPr/>
          <p:nvPr/>
        </p:nvSpPr>
        <p:spPr>
          <a:xfrm>
            <a:off x="969264" y="3511296"/>
            <a:ext cx="10021824" cy="1060704"/>
          </a:xfrm>
          <a:prstGeom prst="roundRect">
            <a:avLst/>
          </a:prstGeom>
          <a:solidFill>
            <a:srgbClr val="FAF7E8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ebrief sentence text"/>
          <p:cNvSpPr txBox="1"/>
          <p:nvPr/>
        </p:nvSpPr>
        <p:spPr>
          <a:xfrm>
            <a:off x="1207008" y="3749039"/>
            <a:ext cx="9546336" cy="62179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A／primary…；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在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Trace B／hidden…；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因此這個結論成立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、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被推翻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，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或待查</a:t>
            </a:r>
            <a:r>
              <a:rPr sz="1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。</a:t>
            </a:r>
          </a:p>
        </p:txBody>
      </p:sp>
      <p:sp>
        <p:nvSpPr>
          <p:cNvPr id="19" name="Evidence boundary"/>
          <p:cNvSpPr txBox="1"/>
          <p:nvPr/>
        </p:nvSpPr>
        <p:spPr>
          <a:xfrm>
            <a:off x="841248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 i="0">
                <a:solidFill>
                  <a:srgbClr val="C03737"/>
                </a:solidFill>
                <a:latin typeface="Times New Roman"/>
                <a:ea typeface="標楷體"/>
                <a:cs typeface="Times New Roman"/>
              </a:rPr>
              <a:t>FALLBACK_ARTIFACT｜SIMULATED｜NOT LIVE / NOT MEASURED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title anchor"/>
          <p:cNvSpPr>
            <a:spLocks noGrp="1"/>
          </p:cNvSpPr>
          <p:nvPr>
            <p:ph type="title"/>
          </p:nvPr>
        </p:nvSpPr>
        <p:spPr/>
        <p:txBody>
          <a:bodyPr wrap="square" lIns="73152" rIns="73152" tIns="27432" bIns="18288" anchor="t"/>
          <a:lstStyle/>
          <a:p>
            <a:pPr algn="l">
              <a:spcAft>
                <a:spcPts val="20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Recovery checkpoint：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保存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A/B lineage</a:t>
            </a:r>
          </a:p>
        </p:txBody>
      </p:sp>
      <p:sp>
        <p:nvSpPr>
          <p:cNvPr id="3" name="Exact context command"/>
          <p:cNvSpPr/>
          <p:nvPr/>
        </p:nvSpPr>
        <p:spPr>
          <a:xfrm>
            <a:off x="749808" y="1005840"/>
            <a:ext cx="10479024" cy="877824"/>
          </a:xfrm>
          <a:prstGeom prst="roundRect">
            <a:avLst/>
          </a:prstGeom>
          <a:solidFill>
            <a:srgbClr val="FAF7E8"/>
          </a:solidFill>
          <a:ln w="1397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xact context"/>
          <p:cNvSpPr txBox="1"/>
          <p:nvPr/>
        </p:nvSpPr>
        <p:spPr>
          <a:xfrm>
            <a:off x="950976" y="1042416"/>
            <a:ext cx="10040112" cy="237744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5A5E6F"/>
                </a:solidFill>
                <a:latin typeface="Times New Roman"/>
                <a:ea typeface="標楷體"/>
                <a:cs typeface="Times New Roman"/>
              </a:rPr>
              <a:t>Context: package root；A/B receipt、checkpoint、result/replay pair</a:t>
            </a:r>
          </a:p>
        </p:txBody>
      </p:sp>
      <p:sp>
        <p:nvSpPr>
          <p:cNvPr id="5" name="Exact command"/>
          <p:cNvSpPr txBox="1"/>
          <p:nvPr/>
        </p:nvSpPr>
        <p:spPr>
          <a:xfrm>
            <a:off x="950976" y="1316736"/>
            <a:ext cx="10040112" cy="530352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Run: find artifacts/checkpoints artifacts/receipts -maxdepth 1 -type f -print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2B2E41"/>
                </a:solidFill>
                <a:latin typeface="Times New Roman"/>
                <a:ea typeface="標楷體"/>
                <a:cs typeface="Times New Roman"/>
              </a:rPr>
              <a:t>find fallback_artifacts -maxdepth 2 -type f -name 'result.json' -print</a:t>
            </a:r>
          </a:p>
        </p:txBody>
      </p:sp>
      <p:sp>
        <p:nvSpPr>
          <p:cNvPr id="6" name="Checkpoint A frozen"/>
          <p:cNvSpPr/>
          <p:nvPr/>
        </p:nvSpPr>
        <p:spPr>
          <a:xfrm>
            <a:off x="1060704" y="2084831"/>
            <a:ext cx="4498848" cy="8412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ckpoint A frozen text"/>
          <p:cNvSpPr txBox="1"/>
          <p:nvPr/>
        </p:nvSpPr>
        <p:spPr>
          <a:xfrm>
            <a:off x="1225295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 frozen</a:t>
            </a:r>
          </a:p>
        </p:txBody>
      </p:sp>
      <p:sp>
        <p:nvSpPr>
          <p:cNvPr id="8" name="Checkpoint B frozen"/>
          <p:cNvSpPr/>
          <p:nvPr/>
        </p:nvSpPr>
        <p:spPr>
          <a:xfrm>
            <a:off x="6254496" y="2084831"/>
            <a:ext cx="4498848" cy="84124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ckpoint B frozen text"/>
          <p:cNvSpPr txBox="1"/>
          <p:nvPr/>
        </p:nvSpPr>
        <p:spPr>
          <a:xfrm>
            <a:off x="6419088" y="2359151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B frozen</a:t>
            </a:r>
          </a:p>
        </p:txBody>
      </p:sp>
      <p:sp>
        <p:nvSpPr>
          <p:cNvPr id="10" name="Checkpoint result ↔ replay"/>
          <p:cNvSpPr/>
          <p:nvPr/>
        </p:nvSpPr>
        <p:spPr>
          <a:xfrm>
            <a:off x="1060704" y="3310128"/>
            <a:ext cx="4498848" cy="8412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D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ckpoint result ↔ replay text"/>
          <p:cNvSpPr txBox="1"/>
          <p:nvPr/>
        </p:nvSpPr>
        <p:spPr>
          <a:xfrm>
            <a:off x="1225295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007D80"/>
                </a:solidFill>
                <a:latin typeface="Times New Roman"/>
                <a:ea typeface="標楷體"/>
                <a:cs typeface="Times New Roman"/>
              </a:rPr>
              <a:t>result ↔ replay</a:t>
            </a:r>
          </a:p>
        </p:txBody>
      </p:sp>
      <p:sp>
        <p:nvSpPr>
          <p:cNvPr id="12" name="Checkpoint prediction"/>
          <p:cNvSpPr/>
          <p:nvPr/>
        </p:nvSpPr>
        <p:spPr>
          <a:xfrm>
            <a:off x="6254496" y="3310128"/>
            <a:ext cx="4498848" cy="8412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ckpoint prediction text"/>
          <p:cNvSpPr txBox="1"/>
          <p:nvPr/>
        </p:nvSpPr>
        <p:spPr>
          <a:xfrm>
            <a:off x="6419088" y="3584448"/>
            <a:ext cx="4169663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prediction</a:t>
            </a:r>
          </a:p>
        </p:txBody>
      </p:sp>
      <p:sp>
        <p:nvSpPr>
          <p:cNvPr id="14" name="Checkpoint recovery"/>
          <p:cNvSpPr/>
          <p:nvPr/>
        </p:nvSpPr>
        <p:spPr>
          <a:xfrm>
            <a:off x="1005840" y="4663440"/>
            <a:ext cx="10021824" cy="676656"/>
          </a:xfrm>
          <a:prstGeom prst="roundRect">
            <a:avLst/>
          </a:prstGeom>
          <a:solidFill>
            <a:srgbClr val="FDF9E2"/>
          </a:solidFill>
          <a:ln w="1270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ckpoint recovery text"/>
          <p:cNvSpPr txBox="1"/>
          <p:nvPr/>
        </p:nvSpPr>
        <p:spPr>
          <a:xfrm>
            <a:off x="1225296" y="4882896"/>
            <a:ext cx="9582912" cy="219456"/>
          </a:xfrm>
          <a:prstGeom prst="rect">
            <a:avLst/>
          </a:prstGeom>
          <a:noFill/>
          <a:ln>
            <a:noFill/>
          </a:ln>
        </p:spPr>
        <p:txBody>
          <a:bodyPr wrap="square" lIns="73152" rIns="73152" tIns="27432" bIns="18288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status → exact role → restore；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不覆寫既有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artifact，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不補假的</a:t>
            </a:r>
            <a:r>
              <a:rPr sz="20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 receipt。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