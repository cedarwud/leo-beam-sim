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ns3="http://schemas.microsoft.com/office/powerpoint/2012/main" xmlns:p="http://schemas.openxmlformats.org/presentationml/2006/main" xmlns:r="http://schemas.openxmlformats.org/officeDocument/2006/relationships" saveSubsetFonts="1">
  <p:sldMasterIdLst>
    <p:sldMasterId id="2147483708" r:id="rId1"/>
  </p:sldMasterIdLst>
  <p:notesMasterIdLst>
    <p:notesMasterId r:id="rId4"/>
  </p:notesMasterIdLst>
  <p:sldIdLst>
    <p:sldId id="296" r:id="rId9"/>
    <p:sldId id="297" r:id="rId10"/>
    <p:sldId id="298" r:id="rId11"/>
    <p:sldId id="299" r:id="rId12"/>
    <p:sldId id="300" r:id="rId13"/>
    <p:sldId id="301" r:id="rId14"/>
    <p:sldId id="302" r:id="rId15"/>
    <p:sldId id="303" r:id="rId16"/>
    <p:sldId id="304" r:id="rId17"/>
    <p:sldId id="305" r:id="rId18"/>
    <p:sldId id="306" r:id="rId19"/>
    <p:sldId id="307" r:id="rId20"/>
    <p:sldId id="308" r:id="rId21"/>
    <p:sldId id="309" r:id="rId22"/>
    <p:sldId id="310" r:id="rId23"/>
    <p:sldId id="311" r:id="rId24"/>
    <p:sldId id="312" r:id="rId25"/>
    <p:sldId id="313" r:id="rId26"/>
    <p:sldId id="314" r:id="rId27"/>
    <p:sldId id="315" r:id="rId28"/>
    <p:sldId id="316" r:id="rId29"/>
    <p:sldId id="317" r:id="rId30"/>
    <p:sldId id="318" r:id="rId31"/>
    <p:sldId id="319" r:id="rId32"/>
    <p:sldId id="320" r:id="rId33"/>
    <p:sldId id="321" r:id="rId34"/>
    <p:sldId id="322" r:id="rId35"/>
    <p:sldId id="323" r:id="rId36"/>
    <p:sldId id="324" r:id="rId37"/>
    <p:sldId id="325" r:id="rId38"/>
    <p:sldId id="326" r:id="rId39"/>
    <p:sldId id="327" r:id="rId40"/>
    <p:sldId id="328" r:id="rId41"/>
    <p:sldId id="329" r:id="rId42"/>
    <p:sldId id="330" r:id="rId43"/>
    <p:sldId id="331" r:id="rId44"/>
  </p:sldIdLst>
  <p:sldSz cx="12192000" cy="6858000"/>
  <p:notesSz cx="7104063" cy="10234613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ns3:sldGuideLst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00000"/>
    <a:srgbClr val="5169CF"/>
    <a:srgbClr val="A1A1A1"/>
    <a:srgbClr val="5F75D3"/>
    <a:srgbClr val="EFA5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C4B1156A-380E-4F78-BDF5-A606A8083BF9}" styleName="中等深淺樣式 4 - 輔色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5DA37D80-6434-44D0-A028-1B22A696006F}" styleName="淺色樣式 3 - 輔色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346" autoAdjust="0"/>
    <p:restoredTop sz="76848" autoAdjust="0"/>
  </p:normalViewPr>
  <p:slideViewPr>
    <p:cSldViewPr snapToGrid="0">
      <p:cViewPr varScale="1">
        <p:scale>
          <a:sx n="88" d="100"/>
          <a:sy n="88" d="100"/>
        </p:scale>
        <p:origin x="153" y="42"/>
      </p:cViewPr>
      <p:guideLst/>
    </p:cSldViewPr>
  </p:slideViewPr>
  <p:notesTextViewPr>
    <p:cViewPr>
      <p:scale>
        <a:sx n="150" d="100"/>
        <a:sy n="150" d="100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78427" cy="513508"/>
          </a:xfrm>
          <a:prstGeom prst="rect">
            <a:avLst/>
          </a:prstGeom>
        </p:spPr>
        <p:txBody>
          <a:bodyPr vert="horz" lIns="94787" tIns="47393" rIns="94787" bIns="47393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4787" tIns="47393" rIns="94787" bIns="47393" rtlCol="0"/>
          <a:lstStyle>
            <a:lvl1pPr algn="r">
              <a:defRPr sz="1200"/>
            </a:lvl1pPr>
          </a:lstStyle>
          <a:p>
            <a:fld id="{6E184DA3-7456-445E-B789-C4A3C11A868B}" type="datetimeFigureOut">
              <a:rPr lang="zh-TW" altLang="en-US" smtClean="0"/>
              <a:t>2025/12/10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38863" cy="34528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787" tIns="47393" rIns="94787" bIns="47393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710407" y="4925408"/>
            <a:ext cx="5683250" cy="4029879"/>
          </a:xfrm>
          <a:prstGeom prst="rect">
            <a:avLst/>
          </a:prstGeom>
        </p:spPr>
        <p:txBody>
          <a:bodyPr vert="horz" lIns="94787" tIns="47393" rIns="94787" bIns="47393" rtlCol="0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1" y="9721106"/>
            <a:ext cx="3078427" cy="513507"/>
          </a:xfrm>
          <a:prstGeom prst="rect">
            <a:avLst/>
          </a:prstGeom>
        </p:spPr>
        <p:txBody>
          <a:bodyPr vert="horz" lIns="94787" tIns="47393" rIns="94787" bIns="47393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4023993" y="9721106"/>
            <a:ext cx="3078427" cy="513507"/>
          </a:xfrm>
          <a:prstGeom prst="rect">
            <a:avLst/>
          </a:prstGeom>
        </p:spPr>
        <p:txBody>
          <a:bodyPr vert="horz" lIns="94787" tIns="47393" rIns="94787" bIns="47393" rtlCol="0" anchor="b"/>
          <a:lstStyle>
            <a:lvl1pPr algn="r">
              <a:defRPr sz="1200"/>
            </a:lvl1pPr>
          </a:lstStyle>
          <a:p>
            <a:fld id="{E0BAEFB6-4136-4525-B476-790D9DDC512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206002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本頁目的：建立具體 endpoint 問題，再連到工具。</a:t>
            </a:r>
          </a:p>
          <a:p>
            <a:r>
              <a:t>畫面指向：先看標題與 endpoint 與 changing service window，再看命令、欄位或箭頭所標示的邊界。</a:t>
            </a:r>
          </a:p>
          <a:p>
            <a:r>
              <a:t>可直接說：節點位於田區、倉庫或校園角落；供電有限且 service window 有限。分析沿著 action、state、packet、service 連到 endpoint J。</a:t>
            </a:r>
          </a:p>
          <a:p>
            <a:r>
              <a:t>必要操作：本頁屬於概念或邊界頁；沿著畫面上的 endpoint 與 changing service window 閱讀，不改動 runner、schema 或 generated JSON。</a:t>
            </a:r>
          </a:p>
          <a:p>
            <a:r>
              <a:t>預期畫面或結果：預期：SEND、WAIT、SLEEP 各自保護的資源可由 state 與 service 觀察。</a:t>
            </a:r>
          </a:p>
          <a:p>
            <a:r>
              <a:t>失敗處理：claim 擴大：停在目前 boundary；source mode 保留；模擬資料維持 simulated 類型。</a:t>
            </a:r>
          </a:p>
          <a:p>
            <a:r>
              <a:t>銜接下一頁：P002｜P002｜現在送不一定最好，等一下也不一定省電，把本頁的 endpoint 與 changing service window 帶入下一個操作階段。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本頁目的：比較三種合法方向，不使用公式。</a:t>
            </a:r>
          </a:p>
          <a:p>
            <a:r>
              <a:t>畫面指向：先看標題與 SEND／WAIT／SLEEP 三欄取捨，再看命令、欄位或箭頭所標示的邊界。</a:t>
            </a:r>
          </a:p>
          <a:p>
            <a:r>
              <a:t>可直接說：窗口接近關閉時，觀察 service、反應能力與等待功率的取捨；結果回到這三個欄位。</a:t>
            </a:r>
          </a:p>
          <a:p>
            <a:r>
              <a:t>必要操作：本頁屬於概念或邊界頁；沿著畫面上的 SEND／WAIT／SLEEP 三欄取捨 閱讀，不改動 runner、schema 或 generated JSON。</a:t>
            </a:r>
          </a:p>
          <a:p>
            <a:r>
              <a:t>預期畫面或結果：預期：窗口關閉時，SEND_* 不屬於合法路徑。</a:t>
            </a:r>
          </a:p>
          <a:p>
            <a:r>
              <a:t>失敗處理：claim 擴大：停在目前 boundary；source mode 保留；模擬資料維持 simulated 類型。</a:t>
            </a:r>
          </a:p>
          <a:p>
            <a:r>
              <a:t>銜接下一頁：P003｜P003｜WAIT、SLEEP、SEND：合法 action，把本頁的 SEND／WAIT／SLEEP 三欄取捨 帶入下一個操作階段。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本頁目的：建立合法 action vocabulary。</a:t>
            </a:r>
          </a:p>
          <a:p>
            <a:r>
              <a:t>畫面指向：先看標題與 legal action → observable consequence，再看命令、欄位或箭頭所標示的邊界。</a:t>
            </a:r>
          </a:p>
          <a:p>
            <a:r>
              <a:t>可直接說：結果解讀由 action 開始，再追蹤 state 與 packet 事件。SEND 展開成 SEND_ONE、SEND_URGENT、FLUSH_BATCH。</a:t>
            </a:r>
          </a:p>
          <a:p>
            <a:r>
              <a:t>必要操作：本頁屬於概念或邊界頁；沿著畫面上的 legal action → observable consequence 閱讀，不改動 runner、schema 或 generated JSON。</a:t>
            </a:r>
          </a:p>
          <a:p>
            <a:r>
              <a:t>預期畫面或結果：預期：action 對 state、packet 或 service 的一個後果可被定位。</a:t>
            </a:r>
          </a:p>
          <a:p>
            <a:r>
              <a:t>失敗處理：claim 擴大：停在目前 boundary；source mode 保留；模擬資料維持 simulated 類型。</a:t>
            </a:r>
          </a:p>
          <a:p>
            <a:r>
              <a:t>銜接下一頁：P004｜P004｜實際流程：安裝→baseline→修改→比較→網站回放，把本頁的 legal action → observable consequence 帶入下一個操作階段。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本頁目的：定義可操作的課程流程。</a:t>
            </a:r>
          </a:p>
          <a:p>
            <a:r>
              <a:t>畫面指向：先看標題與 安裝 → baseline → edit → compare → website replay，再看命令、欄位或箭頭所標示的邊界。</a:t>
            </a:r>
          </a:p>
          <a:p>
            <a:r>
              <a:t>可直接說：流程依序涵蓋 environment setup、baseline、active block edit、candidate comparison 與 website replay；每個 stage 保存自己的 receipt。</a:t>
            </a:r>
          </a:p>
          <a:p>
            <a:r>
              <a:t>必要操作：本頁屬於概念或邊界頁；沿著畫面上的 安裝 → baseline → edit → compare → website replay 閱讀，不改動 runner、schema 或 generated JSON。</a:t>
            </a:r>
          </a:p>
          <a:p>
            <a:r>
              <a:t>預期畫面或結果：預期：baseline 與 candidate 的中間事件、service 結果與 endpoint J 可比較。</a:t>
            </a:r>
          </a:p>
          <a:p>
            <a:r>
              <a:t>失敗處理：claim 擴大：停在目前 boundary；source mode 保留；模擬資料維持 simulated 類型。</a:t>
            </a:r>
          </a:p>
          <a:p>
            <a:r>
              <a:t>銜接下一頁：P005｜P005｜因果鏈與 endpoint J，把本頁的 安裝 → baseline → edit → compare → website replay 帶入下一個操作階段。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本頁目的：定義所有 lab 共用的讀圖順序。</a:t>
            </a:r>
          </a:p>
          <a:p>
            <a:r>
              <a:t>畫面指向：先看標題與 observation → policy → action → state/packet → service → endpoint J，再看命令、欄位或箭頭所標示的邊界。</a:t>
            </a:r>
          </a:p>
          <a:p>
            <a:r>
              <a:t>可直接說：service 失敗但 J 下降時，記錄服務邊界，再說明 energy trade-off；同一讀法沿用到 replay。</a:t>
            </a:r>
          </a:p>
          <a:p>
            <a:r>
              <a:t>必要操作：本頁屬於概念或邊界頁；沿著畫面上的 observation → policy → action → state/packet → service → endpoint J 閱讀，不改動 runner、schema 或 generated JSON。</a:t>
            </a:r>
          </a:p>
          <a:p>
            <a:r>
              <a:t>預期畫面或結果：預期：支持或推翻預測的 evidence 段落可定位。</a:t>
            </a:r>
          </a:p>
          <a:p>
            <a:r>
              <a:t>失敗處理：claim 擴大：停在目前 boundary；source mode 保留；模擬資料維持 simulated 類型。</a:t>
            </a:r>
          </a:p>
          <a:p>
            <a:r>
              <a:t>銜接下一頁：P006｜P006｜LoRaEnergySim endpoint runner 的必要性，把本頁的 observation → policy → action → state/packet → service → endpoint J 帶入下一個操作階段。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本頁目的：說明 LoRaEnergySim 與智慧節能 IoT 的直接關係。</a:t>
            </a:r>
          </a:p>
          <a:p>
            <a:r>
              <a:t>畫面指向：先看標題與 runner evidence／claim boundary，再看命令、欄位或箭頭所標示的邊界。</a:t>
            </a:r>
          </a:p>
          <a:p>
            <a:r>
              <a:t>可直接說：LoRaEnergySim endpoint model 以事件鏈記錄 sleep、processing、TX、RX、packet、retry 與 energy；每筆 result 保留 source mode 與 boundary。</a:t>
            </a:r>
          </a:p>
          <a:p>
            <a:r>
              <a:t>必要操作：本頁屬於概念或邊界頁；沿著畫面上的 runner evidence／claim boundary 閱讀，不改動 runner、schema 或 generated JSON。</a:t>
            </a:r>
          </a:p>
          <a:p>
            <a:r>
              <a:t>預期畫面或結果：預期：endpoint evidence 範圍與 claim ceiling 分開標示。</a:t>
            </a:r>
          </a:p>
          <a:p>
            <a:r>
              <a:t>失敗處理：claim 擴大：停在目前 boundary；source mode 保留；模擬資料維持 simulated 類型。</a:t>
            </a:r>
          </a:p>
          <a:p>
            <a:r>
              <a:t>銜接下一頁：P007｜P007｜LEO：changing service window 的例子，把本頁的 runner evidence／claim boundary 帶入下一個操作階段。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本頁目的：以 LEO trace 引出 changing window。</a:t>
            </a:r>
          </a:p>
          <a:p>
            <a:r>
              <a:t>畫面指向：先看標題與 窗口出現 → policy → service／energy，再看命令、欄位或箭頭所標示的邊界。</a:t>
            </a:r>
          </a:p>
          <a:p>
            <a:r>
              <a:t>可直接說：本頁使用預先定義的 changing-service-window trace，分析服務機會變動時的 endpoint policy；軌道與 link budget 不屬於此案例。</a:t>
            </a:r>
          </a:p>
          <a:p>
            <a:r>
              <a:t>必要操作：本頁屬於概念或邊界頁；沿著畫面上的 窗口出現 → policy → service／energy 閱讀，不改動 runner、schema 或 generated JSON。</a:t>
            </a:r>
          </a:p>
          <a:p>
            <a:r>
              <a:t>預期畫面或結果：預期：LEO 窗口機制可轉用至另一 IoT 場景。</a:t>
            </a:r>
          </a:p>
          <a:p>
            <a:r>
              <a:t>失敗處理：claim 擴大：停在目前 boundary；source mode 保留；模擬資料維持 simulated 類型。</a:t>
            </a:r>
          </a:p>
          <a:p>
            <a:r>
              <a:t>銜接下一頁：P008｜P008｜從預測到結果：每次修改留下證據，把本頁的 窗口出現 → policy → service／energy 帶入下一個操作階段。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本頁目的：結果可檢驗原先預測。</a:t>
            </a:r>
          </a:p>
          <a:p>
            <a:r>
              <a:t>畫面指向：先看標題與 預測 → bounded edit → run → 讀 evidence → withheld，再看命令、欄位或箭頭所標示的邊界。</a:t>
            </a:r>
          </a:p>
          <a:p>
            <a:r>
              <a:t>可直接說：結果與預測相反時，保留非預期結果並檢查 state、packet 或 service 的中間事件；數值不因非預期結果回寫。</a:t>
            </a:r>
          </a:p>
          <a:p>
            <a:r>
              <a:t>必要操作：本頁屬於概念或邊界頁；沿著畫面上的 預測 → bounded edit → run → 讀 evidence → withheld 閱讀，不改動 runner、schema 或 generated JSON。</a:t>
            </a:r>
          </a:p>
          <a:p>
            <a:r>
              <a:t>預期畫面或結果：預期：非預期結果保留，且中間事件可定位。</a:t>
            </a:r>
          </a:p>
          <a:p>
            <a:r>
              <a:t>失敗處理：claim 擴大：停在目前 boundary；source mode 保留；模擬資料維持 simulated 類型。</a:t>
            </a:r>
          </a:p>
          <a:p>
            <a:r>
              <a:t>銜接下一頁：P009｜P009｜claim 與來源邊界，把本頁的 預測 → bounded edit → run → 讀 evidence → withheld 帶入下一個操作階段。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本頁目的：標記證據等級。</a:t>
            </a:r>
          </a:p>
          <a:p>
            <a:r>
              <a:t>畫面指向：先看標題與 可說／不可說／待核對，再看命令、欄位或箭頭所標示的邊界。</a:t>
            </a:r>
          </a:p>
          <a:p>
            <a:r>
              <a:t>可直接說：目前確認的是 package content 與 identity；fresh Python run、READY、case receipt、Leo strict import 仍以現場 gate 為準。待核對 evidence 維持 pending。</a:t>
            </a:r>
          </a:p>
          <a:p>
            <a:r>
              <a:t>必要操作：本頁屬於概念或邊界頁；沿著畫面上的 可說／不可說／待核對 閱讀，不改動 runner、schema 或 generated JSON。</a:t>
            </a:r>
          </a:p>
          <a:p>
            <a:r>
              <a:t>預期畫面或結果：預期：READY 定義為環境 gate；energy result 需要 run evidence。</a:t>
            </a:r>
          </a:p>
          <a:p>
            <a:r>
              <a:t>失敗處理：claim 擴大：停在目前 boundary；source mode 保留；模擬資料維持 simulated 類型。</a:t>
            </a:r>
          </a:p>
          <a:p>
            <a:r>
              <a:t>銜接下一頁：P010｜P010a｜使用命名 release asset，把本頁的 可說／不可說／待核對 帶入下一個操作階段。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本頁目的：固定 artifact 交付邊界。</a:t>
            </a:r>
          </a:p>
          <a:p>
            <a:r>
              <a:t>畫面指向：先看標題與 release ZIP 與來源鎖，再看命令、欄位或箭頭所標示的邊界。</a:t>
            </a:r>
          </a:p>
          <a:p>
            <a:r>
              <a:t>可直接說：命名 release asset 固定 artifact identity；此 gate 尚未進入 Python 或 energy runner。</a:t>
            </a:r>
          </a:p>
          <a:p>
            <a:r>
              <a:t>必要操作：在畫面標示的 package/root context 執行命令：ls -l lora-energy-lab-v1.zip；Get-ChildItem .\lora-energy-lab-v1.zip。</a:t>
            </a:r>
          </a:p>
          <a:p>
            <a:r>
              <a:t>預期畫面或結果：預期：命名 asset 位於指定 release 目錄。</a:t>
            </a:r>
          </a:p>
          <a:p>
            <a:r>
              <a:t>失敗處理：檔案缺少或混用：錯誤保留，重新取得同一 release asset；source archive 與 git clone 不納入 runner。</a:t>
            </a:r>
          </a:p>
          <a:p>
            <a:r>
              <a:t>銜接下一頁：P011｜P010b｜解壓後只能有一個 package root，把本頁的 release ZIP 與來源鎖 帶入下一個操作階段。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本頁目的：定義解壓後 root inventory 的第一個可觀察 gate。</a:t>
            </a:r>
          </a:p>
          <a:p>
            <a:r>
              <a:t>畫面指向：先看標題與 lora-energy-lab/ root inventory，再看命令、欄位或箭頭所標示的邊界。</a:t>
            </a:r>
          </a:p>
          <a:p>
            <a:r>
              <a:t>可直接說：package tree 必須是單一 release root；`.venv` 與 result lineage 均以此 root 為參照。</a:t>
            </a:r>
          </a:p>
          <a:p>
            <a:r>
              <a:t>必要操作：在畫面標示的 package/root context 執行命令：find lora-energy-lab -mindepth 1 -maxdepth 1 -printf '%f\n'；Get-ChildItem .\lora-energy-lab。</a:t>
            </a:r>
          </a:p>
          <a:p>
            <a:r>
              <a:t>預期畫面或結果：預期：POSIX `find` 或 PowerShell `Get-ChildItem` 顯示單一 `lora-energy-lab/` root 內的 README、launcher、policy、schemas 與 fallback。</a:t>
            </a:r>
          </a:p>
          <a:p>
            <a:r>
              <a:t>失敗處理：root 不符：錯誤保留，重新取得指定 asset 並重新解壓；checkout 檔案不補入 release root。</a:t>
            </a:r>
          </a:p>
          <a:p>
            <a:r>
              <a:t>銜接下一頁：P012｜P011a｜解壓位置：release asset 所在資料夾，把本頁的 lora-energy-lab/ root inventory 帶入下一個操作階段。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本頁目的：固定 extract 的起始工作目錄。</a:t>
            </a:r>
          </a:p>
          <a:p>
            <a:r>
              <a:t>畫面指向：先看標題與 archive parent → extract → package root，再看命令、欄位或箭頭所標示的邊界。</a:t>
            </a:r>
          </a:p>
          <a:p>
            <a:r>
              <a:t>可直接說：本頁只確認解壓起點；下一頁執行 `Expand-Archive` 或 `unzip`，setup、READY 與 runner evidence 仍屬後續 stages。</a:t>
            </a:r>
          </a:p>
          <a:p>
            <a:r>
              <a:t>必要操作：在畫面標示的 package/root context 執行命令：Get-Location；pwd。</a:t>
            </a:r>
          </a:p>
          <a:p>
            <a:r>
              <a:t>預期畫面或結果：預期：`Get-Location` 或 `pwd` 顯示命名 release asset 所在資料夾。</a:t>
            </a:r>
          </a:p>
          <a:p>
            <a:r>
              <a:t>失敗處理：位置不符：切換到 release asset 所在資料夾，再進入下一頁的 extract。</a:t>
            </a:r>
          </a:p>
          <a:p>
            <a:r>
              <a:t>銜接下一頁：P013｜P011b｜解壓並進入唯一的 package root，把本頁的 archive parent → extract → package root 帶入下一個操作階段。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本頁目的：固定解壓後的工作目錄。</a:t>
            </a:r>
          </a:p>
          <a:p>
            <a:r>
              <a:t>畫面指向：先看標題與 Windows PowerShell／WSL-POSIX exact extract，再看命令、欄位或箭頭所標示的邊界。</a:t>
            </a:r>
          </a:p>
          <a:p>
            <a:r>
              <a:t>可直接說：後續 shell 命令均以此 root 為參照；Windows 只用 PowerShell `.cmd` route，WSL/POSIX 只用 bash `.sh` route。</a:t>
            </a:r>
          </a:p>
          <a:p>
            <a:r>
              <a:t>必要操作：操作起點是 archive parent。Windows PowerShell 依序執行 Expand-Archive .\lora-energy-lab-v1.zip -DestinationPath .、Set-Location .\lora-energy-lab、Get-Location；WSL/POSIX 依序執行 unzip lora-energy-lab-v1.zip、cd lora-energy-lab、pwd。最後確認兩個 shell 都位於 lora-energy-lab root。</a:t>
            </a:r>
          </a:p>
          <a:p>
            <a:r>
              <a:t>預期畫面或結果：預期：Windows `Get-Location` 或 POSIX `pwd` 顯示結尾是 `lora-energy-lab`，必要檔案位於同一 root。</a:t>
            </a:r>
          </a:p>
          <a:p>
            <a:r>
              <a:t>失敗處理：root 不符：回到 inventory gate；parent 目錄不建立 `.venv` 或 runner。</a:t>
            </a:r>
          </a:p>
          <a:p>
            <a:r>
              <a:t>銜接下一頁：P014｜P012｜Windows shell 與 Python 3.11 identity，把本頁的 Windows PowerShell／WSL-POSIX exact extract 帶入下一個操作階段。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本頁目的：建立 Windows interpreter identity。</a:t>
            </a:r>
          </a:p>
          <a:p>
            <a:r>
              <a:t>畫面指向：先看標題與 CMD／PowerShell 雙視窗，再看命令、欄位或箭頭所標示的邊界。</a:t>
            </a:r>
          </a:p>
          <a:p>
            <a:r>
              <a:t>可直接說：CMD／PowerShell prompt 表示 Windows shell；Windows 使用 `setup.cmd`／`course.cmd`，`.sh` path 僅屬 POSIX／WSL。</a:t>
            </a:r>
          </a:p>
          <a:p>
            <a:r>
              <a:t>必要操作：在畫面標示的 package/root context 執行命令：py --list；py -3.11 --version。</a:t>
            </a:r>
          </a:p>
          <a:p>
            <a:r>
              <a:t>預期畫面或結果：預期：清單含 3.11，版本命令顯示 `Python 3.11.x`。</a:t>
            </a:r>
          </a:p>
          <a:p>
            <a:r>
              <a:t>失敗處理：缺少 3.11：進入 P013 官方 installer 或 P014 uv；其他 minor 維持 gate failure。</a:t>
            </a:r>
          </a:p>
          <a:p>
            <a:r>
              <a:t>銜接下一頁：P015｜P013｜Windows 缺少 Python 3.11：補正確 interpreter，把本頁的 CMD／PowerShell 雙視窗 帶入下一個操作階段。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本頁目的：提供可恢復的 Windows 路徑。</a:t>
            </a:r>
          </a:p>
          <a:p>
            <a:r>
              <a:t>畫面指向：先看標題與 官方下載 → Launcher／PATH 選項 → version gate，再看命令、欄位或箭頭所標示的邊界。</a:t>
            </a:r>
          </a:p>
          <a:p>
            <a:r>
              <a:t>可直接說：下載頁、64-bit installer、Launcher 選項與 PATH 決策都在畫面上；完成後重開 PowerShell，再進入 P012 的 `py --list` 與 `py -3.11 --version` gate。</a:t>
            </a:r>
          </a:p>
          <a:p>
            <a:r>
              <a:t>必要操作：在畫面標示的 package/root context 執行命令：開啟 https://www.python.org/downloads/windows/；下載 Python 3.11.x Windows installer (64-bit)；安裝選項：Install Python Launcher for all users；PATH：可不勾選；完成後重開 PowerShell；py --list；py -3.11 --version。</a:t>
            </a:r>
          </a:p>
          <a:p>
            <a:r>
              <a:t>預期畫面或結果：預期：`py --list` 出現 3.11，`py -3.11 --version` 顯示 3.11.x。</a:t>
            </a:r>
          </a:p>
          <a:p>
            <a:r>
              <a:t>失敗處理：仍缺少 3.11：保留錯誤，改走 P014 uv；PATH 綁定其他 minor 不構成 gate success。</a:t>
            </a:r>
          </a:p>
          <a:p>
            <a:r>
              <a:t>銜接下一頁：P016｜P014｜uv 取得與定位 Python 3.11，把本頁的 官方下載 → Launcher／PATH 選項 → version gate 帶入下一個操作階段。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本頁目的：launcher unavailable 時的第二條入口。</a:t>
            </a:r>
          </a:p>
          <a:p>
            <a:r>
              <a:t>畫面指向：先看標題與 Windows／POSIX uv 兩條入口，再看命令、欄位或箭頭所標示的邊界。</a:t>
            </a:r>
          </a:p>
          <a:p>
            <a:r>
              <a:t>可直接說：uv output 僅表示 interpreter path；READY 與 energy result 由後續 package stages 產生。</a:t>
            </a:r>
          </a:p>
          <a:p>
            <a:r>
              <a:t>必要操作：Windows PowerShell 先執行 winget install --id=astral-sh.uv -e，再執行 uv python install 3.11、uv python find 3.11；WSL/POSIX 執行 uv python install 3.11、uv python find 3.11。畫面上的 path 是 interpreter 定位結果，尚未代表 READY 或 run evidence。</a:t>
            </a:r>
          </a:p>
          <a:p>
            <a:r>
              <a:t>預期畫面或結果：預期：`uv python find 3.11` 回傳可執行的 3.11 path。</a:t>
            </a:r>
          </a:p>
          <a:p>
            <a:r>
              <a:t>失敗處理：shell、版本、lock 或 root 不符：錯誤保留，回到該 gate；受阻時使用同情境 fallback。</a:t>
            </a:r>
          </a:p>
          <a:p>
            <a:r>
              <a:t>銜接下一頁：P017｜P015｜每個 package 使用自己的 `.venv`，把本頁的 Windows／POSIX uv 兩條入口 帶入下一個操作階段。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本頁目的：將 dependency graph 綁回 package root。</a:t>
            </a:r>
          </a:p>
          <a:p>
            <a:r>
              <a:t>畫面指向：先看標題與 system Python 與 package-local venv，再看命令、欄位或箭頭所標示的邊界。</a:t>
            </a:r>
          </a:p>
          <a:p>
            <a:r>
              <a:t>可直接說：activate 非必要；核對 path 與 version，不採用 shell 預設 Python 作為 identity。Windows `.venv\Scripts\python.exe` 與 WSL `.venv/bin/python` 分開建立。</a:t>
            </a:r>
          </a:p>
          <a:p>
            <a:r>
              <a:t>必要操作：在畫面標示的 package/root context 執行命令：.\.venv\Scripts\python.exe --version；./.venv/bin/python --version。</a:t>
            </a:r>
          </a:p>
          <a:p>
            <a:r>
              <a:t>預期畫面或結果：預期：所在平台的 path 顯示 `Python 3.11.x`。</a:t>
            </a:r>
          </a:p>
          <a:p>
            <a:r>
              <a:t>失敗處理：既有 venv minor 錯誤：處理目前 package root 的 `.venv` 後重跑 setup；package root 保持不變。</a:t>
            </a:r>
          </a:p>
          <a:p>
            <a:r>
              <a:t>銜接下一頁：P018｜P016a｜Windows setup：建立可重現 runtime，把本頁的 system Python 與 package-local venv 帶入下一個操作階段。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本頁目的：建立 Windows 的 package-local runtime。</a:t>
            </a:r>
          </a:p>
          <a:p>
            <a:r>
              <a:t>畫面指向：先看標題與 CMD／PowerShell 分欄 setup route，再看命令、欄位或箭頭所標示的邊界。</a:t>
            </a:r>
          </a:p>
          <a:p>
            <a:r>
              <a:t>可直接說：CMD 與 PowerShell 各在 Windows package root 執行自己的欄位；WSL path 不混用。setup 的 output 是 runtime state；result 與 endpoint replay 由 RUN stage 產生。</a:t>
            </a:r>
          </a:p>
          <a:p>
            <a:r>
              <a:t>必要操作：所有操作均在 Windows lora-energy-lab root。CMD 執行 setup.cmd；PowerShell 執行 .\setup.cmd；採用 uv fallback 時先取得 $python311、以 `$env:PYTHON_BIN = ('"{0}"' -f $python311)` 設定 interpreter，再執行 .\setup.cmd，完成後移除 PYTHON_BIN。</a:t>
            </a:r>
          </a:p>
          <a:p>
            <a:r>
              <a:t>預期畫面或結果：預期：package-local `.venv` 與 lock installation 完成；`result.json` 尚未產生。</a:t>
            </a:r>
          </a:p>
          <a:p>
            <a:r>
              <a:t>失敗處理：shell、版本、lock 或 root 不符：錯誤保留，回到該 gate；受阻時使用同情境 fallback。</a:t>
            </a:r>
          </a:p>
          <a:p>
            <a:r>
              <a:t>銜接下一頁：P019｜P016b｜Windows verify：前置條件通過才允許 RUN，把本頁的 CMD／PowerShell 分欄 setup route 帶入下一個操作階段。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本頁目的：保存 validation gate receipt。</a:t>
            </a:r>
          </a:p>
          <a:p>
            <a:r>
              <a:t>畫面指向：先看標題與 CMD／PowerShell 分欄 verify route，再看命令、欄位或箭頭所標示的邊界。</a:t>
            </a:r>
          </a:p>
          <a:p>
            <a:r>
              <a:t>可直接說：verify 是 validation stage；READY 表示 RUN 的前置條件通過。RUN 產生 result.json 與 endpoint-replay.json，browser import 只讀取這兩筆結果。</a:t>
            </a:r>
          </a:p>
          <a:p>
            <a:r>
              <a:t>必要操作：所有操作均在 Windows lora-energy-lab root。CMD 執行 course.cmd verify；PowerShell 執行 .\course.cmd verify。接著讀取 artifacts\verify-receipt.json，確認 status READY、Python 3.11.x，並確認 result.json 尚未產生。</a:t>
            </a:r>
          </a:p>
          <a:p>
            <a:r>
              <a:t>預期畫面或結果：預期：`artifacts\verify-receipt.json` 有 `status: READY` 與 `python_version: 3.11.x`；`result.json` 尚未產生。</a:t>
            </a:r>
          </a:p>
          <a:p>
            <a:r>
              <a:t>失敗處理：缺欄位或 status 非 READY：原始錯誤保留，回到 P012–P018；receipt 維持唯讀。</a:t>
            </a:r>
          </a:p>
          <a:p>
            <a:r>
              <a:t>銜接下一頁：P020｜P017｜WSL：Ubuntu shell 與 Linux home，把本頁的 CMD／PowerShell 分欄 verify route 帶入下一個操作階段。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本頁目的：區分 `.cmd`、`.sh` 與 venv path。</a:t>
            </a:r>
          </a:p>
          <a:p>
            <a:r>
              <a:t>畫面指向：先看標題與 Windows host → Ubuntu shell，再看命令、欄位或箭頭所標示的邊界。</a:t>
            </a:r>
          </a:p>
          <a:p>
            <a:r>
              <a:t>可直接說：shell identity gate 完成後，uv、venv、READY 與 runner 仍屬後續 stages。Windows CMD 不執行 `.sh`；WSL 使用 `.venv/bin/python`。</a:t>
            </a:r>
          </a:p>
          <a:p>
            <a:r>
              <a:t>必要操作：在畫面標示的 package/root context 執行命令：wsl --install -d Ubuntu；wsl -l -v；wsl -d Ubuntu；pwd；uname -a。</a:t>
            </a:r>
          </a:p>
          <a:p>
            <a:r>
              <a:t>預期畫面或結果：預期：`wsl -l -v` 有 Ubuntu，Ubuntu shell 的 `uname -a` 開頭是 Linux。</a:t>
            </a:r>
          </a:p>
          <a:p>
            <a:r>
              <a:t>失敗處理：需要重開機或 distribution 不符：保留提示，依 `wsl -l -v` 修正；WSL 使用 bash `.sh`，Windows 使用 `.cmd`。</a:t>
            </a:r>
          </a:p>
          <a:p>
            <a:r>
              <a:t>銜接下一頁：P021｜P018｜WSL 工具與 uv 的安裝順序，把本頁的 Windows host → Ubuntu shell 帶入下一個操作階段。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本頁目的：準備 WSL interpreter path。</a:t>
            </a:r>
          </a:p>
          <a:p>
            <a:r>
              <a:t>畫面指向：先看標題與 apt → curl／unzip → uv → Python 3.11，再看命令、欄位或箭頭所標示的邊界。</a:t>
            </a:r>
          </a:p>
          <a:p>
            <a:r>
              <a:t>可直接說：apt、installer 或網路失敗時保留錯誤，修復目前 stage；uv output 不等同 READY。</a:t>
            </a:r>
          </a:p>
          <a:p>
            <a:r>
              <a:t>必要操作：在畫面標示的 package/root context 執行命令：sudo apt update；sudo apt install -y curl unzip；curl -LsSf https://astral.sh/uv/install.sh | sh；uv python install 3.11；uv python find 3.11。</a:t>
            </a:r>
          </a:p>
          <a:p>
            <a:r>
              <a:t>預期畫面或結果：預期：`uv python find 3.11` 回傳可執行 path。</a:t>
            </a:r>
          </a:p>
          <a:p>
            <a:r>
              <a:t>失敗處理：shell、版本、lock 或 root 不符：錯誤保留，回到該 gate；受阻時使用同情境 fallback。</a:t>
            </a:r>
          </a:p>
          <a:p>
            <a:r>
              <a:t>銜接下一頁：P022｜P019a｜將 release asset 複製到 Linux home，把本頁的 apt → curl／unzip → uv → Python 3.11 帶入下一個操作階段。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本頁目的：把 release asset 放到 WSL Linux home。</a:t>
            </a:r>
          </a:p>
          <a:p>
            <a:r>
              <a:t>畫面指向：先看標題與 Windows Downloads → WSL Linux home，再看命令、欄位或箭頭所標示的邊界。</a:t>
            </a:r>
          </a:p>
          <a:p>
            <a:r>
              <a:t>可直接說：copy 只搬 release asset，不搬 Git metadata；解壓與 runner evidence 由下一個 stage 產生。</a:t>
            </a:r>
          </a:p>
          <a:p>
            <a:r>
              <a:t>必要操作：Windows PowerShell 先進入 $HOME\Downloads 並確認 ZIP；WSL/POSIX 先以 WIN_USER=&lt;Windows帳號&gt; 對應 Windows 帳號，再進入 Downloads 並把 ZIP 複製到 $HOME，最後以 cd $HOME 準備下一頁的解壓操作。`&lt;Windows帳號&gt;` 是替換欄位。</a:t>
            </a:r>
          </a:p>
          <a:p>
            <a:r>
              <a:t>預期畫面或結果：預期：ZIP 位於 `$HOME/lora-energy-lab-v1.zip`；下一頁解壓後只有 `$HOME/lora-energy-lab/`。</a:t>
            </a:r>
          </a:p>
          <a:p>
            <a:r>
              <a:t>失敗處理：copy 失敗：保留命令錯誤，確認實際 Windows 帳號、Downloads 與 WSL interop；不要先建立同名 package directory。</a:t>
            </a:r>
          </a:p>
          <a:p>
            <a:r>
              <a:t>銜接下一頁：P023｜P019b｜WSL extract／root：建立 Linux venv，把本頁的 Windows Downloads → WSL Linux home 帶入下一個操作階段。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本頁目的：將 WSL package-local environment 接上 runner gate。</a:t>
            </a:r>
          </a:p>
          <a:p>
            <a:r>
              <a:t>畫面指向：先看標題與 Linux home → one package root → `.venv/bin/python`，再看命令、欄位或箭頭所標示的邊界。</a:t>
            </a:r>
          </a:p>
          <a:p>
            <a:r>
              <a:t>可直接說：READY 可能在此 stage 產生；現場受阻時保留 same-scenario fallback 路徑，claim 維持原證據等級。</a:t>
            </a:r>
          </a:p>
          <a:p>
            <a:r>
              <a:t>必要操作：在 WSL/POSIX Linux home 依序執行 unzip、cd lora-energy-lab、pwd；留在同一 root 後執行 PYTHON_BIN=python3.11 bash setup.sh 與 bash course.sh verify。確認 .venv/bin/python、lock 與 verify-receipt.json 都屬於這個 root。</a:t>
            </a:r>
          </a:p>
          <a:p>
            <a:r>
              <a:t>預期畫面或結果：預期：`pwd` 是 `$HOME/lora-energy-lab`，JSON 有 `status: READY`、`python_version: 3.11.x`。</a:t>
            </a:r>
          </a:p>
          <a:p>
            <a:r>
              <a:t>失敗處理：verify 失敗：錯誤保留，回到 Linux home、one-root extract、interpreter 或 lock gate；Windows `.venv\Scripts\python.exe` 不納入 WSL path。</a:t>
            </a:r>
          </a:p>
          <a:p>
            <a:r>
              <a:t>銜接下一頁：P024｜P020｜POSIX runner 的最小入口，把本頁的 Linux home → one package root → `.venv/bin/python` 帶入下一個操作階段。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本頁目的：提供非 Windows 的最小可重跑入口。</a:t>
            </a:r>
          </a:p>
          <a:p>
            <a:r>
              <a:t>畫面指向：先看標題與 POSIX setup → verify，再看命令、欄位或箭頭所標示的邊界。</a:t>
            </a:r>
          </a:p>
          <a:p>
            <a:r>
              <a:t>可直接說：Windows、WSL、macOS 共用 READY 語義；shell/path receipt 保留原樣。</a:t>
            </a:r>
          </a:p>
          <a:p>
            <a:r>
              <a:t>必要操作：在畫面標示的 package/root context 執行命令：PYTHON_BIN=python3.11 bash setup.sh；bash course.sh verify。</a:t>
            </a:r>
          </a:p>
          <a:p>
            <a:r>
              <a:t>預期畫面或結果：預期：`artifacts/verify-receipt.json` 有 `status: READY`。</a:t>
            </a:r>
          </a:p>
          <a:p>
            <a:r>
              <a:t>失敗處理：缺少 `python3.11`：改走 uv；既有 venv 版本錯誤時處理 package-local `.venv`；verify failure 維持 gate failure。</a:t>
            </a:r>
          </a:p>
          <a:p>
            <a:r>
              <a:t>銜接下一頁：P025｜P021a｜verify-receipt.json：schema example，把本頁的 POSIX setup → verify 帶入下一個操作階段。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本頁目的：保存 validation receipt 的欄位結構。</a:t>
            </a:r>
          </a:p>
          <a:p>
            <a:r>
              <a:t>畫面指向：先看標題與 machine-readable receipt schema／example，再看命令、欄位或箭頭所標示的邊界。</a:t>
            </a:r>
          </a:p>
          <a:p>
            <a:r>
              <a:t>可直接說：先把畫面 JSON 當欄位索引，再用命令讀取 package root 內的 current receipt；RUN 產生 result.json 與 endpoint-replay.json，browser import 只讀取這兩筆結果。</a:t>
            </a:r>
          </a:p>
          <a:p>
            <a:r>
              <a:t>必要操作：在畫面標示的 package/root context 執行命令：sed -n '1,80p' artifacts/verify-receipt.json；Get-Content .\artifacts\verify-receipt.json；type artifacts\verify-receipt.json。</a:t>
            </a:r>
          </a:p>
          <a:p>
            <a:r>
              <a:t>預期畫面或結果：預期：現場讀取的 receipt 欄位包含 `status: READY`、`python_version: 3.11.x` 與 `scenario_id`；畫面 JSON 僅為 schema example，energy fields 不在此 receipt。</a:t>
            </a:r>
          </a:p>
          <a:p>
            <a:r>
              <a:t>失敗處理：缺檔、版本不符或 status 非 READY：回到 setup；JSON 維持唯讀，現場值以實際 receipt 為準。</a:t>
            </a:r>
          </a:p>
          <a:p>
            <a:r>
              <a:t>銜接下一頁：P026｜P021b｜逐欄解讀：READY 與 energy evidence 分層，把本頁的 machine-readable receipt schema／example 帶入下一個操作階段。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本頁目的：讀取 identity 與 claim ceiling。</a:t>
            </a:r>
          </a:p>
          <a:p>
            <a:r>
              <a:t>畫面指向：先看標題與 scenario／engine／claim fields，再看命令、欄位或箭頭所標示的邊界。</a:t>
            </a:r>
          </a:p>
          <a:p>
            <a:r>
              <a:t>可直接說：identity receipt 描述 course model 的來源欄位；energy run 與部署量測使用各自 evidence 分類。</a:t>
            </a:r>
          </a:p>
          <a:p>
            <a:r>
              <a:t>必要操作：本頁屬於概念或邊界頁；沿著畫面上的 scenario／engine／claim fields 閱讀，不改動 runner、schema 或 generated JSON。</a:t>
            </a:r>
          </a:p>
          <a:p>
            <a:r>
              <a:t>預期畫面或結果：預期：欄位相符後進入 policy；mismatch 維持 gate failure。</a:t>
            </a:r>
          </a:p>
          <a:p>
            <a:r>
              <a:t>失敗處理：scenario_id 存在不建立 result evidence；缺欄位：gate failure，source mode 與 recovery evidence 保留。</a:t>
            </a:r>
          </a:p>
          <a:p>
            <a:r>
              <a:t>銜接下一頁：P027｜P022｜setup 失敗：gate repair 與 same-scenario fallback，把本頁的 scenario／engine／claim fields 帶入下一個操作階段。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本頁目的：建立 fail-closed recovery 決策樹。</a:t>
            </a:r>
          </a:p>
          <a:p>
            <a:r>
              <a:t>畫面指向：先看標題與 Windows／WSL verify fallback route，再看命令、欄位或箭頭所標示的邊界。</a:t>
            </a:r>
          </a:p>
          <a:p>
            <a:r>
              <a:t>可直接說：fallback 分支保留原始 evidence 等級，不重命名受阻環境的結果狀態。</a:t>
            </a:r>
          </a:p>
          <a:p>
            <a:r>
              <a:t>必要操作：Windows PowerShell 在 package root 執行 .\course.cmd verify；WSL/POSIX 在 package root 執行 bash course.sh verify。先保留 error receipt，再修復目前指出的最小 gate；修復仍未完成時只選同情境 fallback，不改寫來源標籤。</a:t>
            </a:r>
          </a:p>
          <a:p>
            <a:r>
              <a:t>預期畫面或結果：預期：error receipt 保留；fallback pair 具有同一 exact-case 的 result 與 replay。</a:t>
            </a:r>
          </a:p>
          <a:p>
            <a:r>
              <a:t>失敗處理：result、replay 與 receipt 維持唯讀。runner inspection 與 Leo import pending 分開記錄。</a:t>
            </a:r>
          </a:p>
          <a:p>
            <a:r>
              <a:t>銜接下一頁：P028｜P023｜可編輯檔案只有 `student_policy.py` 的 marked block，把本頁的 Windows／WSL verify fallback route 帶入下一個操作階段。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本頁目的：分離 policy edit 與 evidence engine。</a:t>
            </a:r>
          </a:p>
          <a:p>
            <a:r>
              <a:t>畫面指向：先看標題與 可編輯檔與四個 read-only 鎖，再看命令、欄位或箭頭所標示的邊界。</a:t>
            </a:r>
          </a:p>
          <a:p>
            <a:r>
              <a:t>可直接說：此檔案是唯一允許修改的控制面；API、常數、條件與 return 需與 read-only boundary 分開。</a:t>
            </a:r>
          </a:p>
          <a:p>
            <a:r>
              <a:t>必要操作：此頁維持定位概念。畫面上的 student_policy.py 與 active marked block 是通用邊界；可用 sed -n 或 Get-Content 讀取檔案並以 git diff 觀察差異，此頁維持唯讀，精確修改不在這裡執行。Lab A、B、C 的 path、marker、before/after 與編輯命令在 Part B。</a:t>
            </a:r>
          </a:p>
          <a:p>
            <a:r>
              <a:t>預期畫面或結果：預期：diff 只落在 active block，檔案通過 policy guard。</a:t>
            </a:r>
          </a:p>
          <a:p>
            <a:r>
              <a:t>失敗處理：marker 或 package identity 不符：檔案與錯誤保留，回到 package identity；runner 與 JSON 維持唯讀。</a:t>
            </a:r>
          </a:p>
          <a:p>
            <a:r>
              <a:t>銜接下一頁：P029｜P024｜policy 讀取邊界與合法 action，把本頁的 可編輯檔與四個 read-only 鎖 帶入下一個操作階段。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本頁目的：定義 bounded policy API 的讀取邊界。</a:t>
            </a:r>
          </a:p>
          <a:p>
            <a:r>
              <a:t>畫面指向：先看標題與 observation → legal action，再看命令、欄位或箭頭所標示的邊界。</a:t>
            </a:r>
          </a:p>
          <a:p>
            <a:r>
              <a:t>可直接說：未知欄位、future leakage 或契約外 action：fail closed；active block 以外的內容維持不變。</a:t>
            </a:r>
          </a:p>
          <a:p>
            <a:r>
              <a:t>必要操作：此頁維持 policy API 的定位概念。沿著 choose_action(observation)、observation 與 legal action 閱讀，檔案保持唯讀；精確 marked block 與 edit 順序在 Part B，future 欄位與 result summary 維持 read-only。</a:t>
            </a:r>
          </a:p>
          <a:p>
            <a:r>
              <a:t>預期畫面或結果：預期：`contact_open = false` 時，`SEND_ONE` 不合法；安全路徑為 `SLEEP`。</a:t>
            </a:r>
          </a:p>
          <a:p>
            <a:r>
              <a:t>失敗處理：policy guard 或 syntax failure：active marked block only；runner、schema 與 generated JSON 維持唯讀。</a:t>
            </a:r>
          </a:p>
          <a:p>
            <a:r>
              <a:t>銜接下一頁：P030｜P025｜常數是受控旋鈕：一次只改一個值，把本頁的 observation → legal action 帶入下一個操作階段。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本頁目的：定義三個 lab 的第一個 edit。</a:t>
            </a:r>
          </a:p>
          <a:p>
            <a:r>
              <a:t>畫面指向：先看標題與 A／B／C controls，再看命令、欄位或箭頭所標示的邊界。</a:t>
            </a:r>
          </a:p>
          <a:p>
            <a:r>
              <a:t>可直接說：gap、quality、batch 與 margin 分開修改。guard failure 時回到 package baseline 或上一個 freeze 的 exact block。</a:t>
            </a:r>
          </a:p>
          <a:p>
            <a:r>
              <a:t>必要操作：此頁只建立定位概念與三個受控旋鈕的索引。可在 package root 以 grep -n 或對應的文字搜尋 確認 REST_DURING_GAP、STABLE_STEPS、URGENT_MARGIN_S；精確 before/after 與 candidate run 轉到 Part B、Part C。</a:t>
            </a:r>
          </a:p>
          <a:p>
            <a:r>
              <a:t>預期畫面或結果：預期：方向性 prediction 先記錄；KPI 改善不預設。</a:t>
            </a:r>
          </a:p>
          <a:p>
            <a:r>
              <a:t>失敗處理：policy guard 或 syntax failure：active marked block only；runner、schema 與 generated JSON 維持唯讀。</a:t>
            </a:r>
          </a:p>
          <a:p>
            <a:r>
              <a:t>銜接下一頁：P031｜P026｜條件分支：observation 轉成 action，把本頁的 A／B／C controls 帶入下一個操作階段。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本頁目的：建立程式碼到機制的閱讀橋。</a:t>
            </a:r>
          </a:p>
          <a:p>
            <a:r>
              <a:t>畫面指向：先看標題與 mechanism-only pseudocode：observation 轉成 legal action，再看命令、欄位或箭頭所標示的邊界。</a:t>
            </a:r>
          </a:p>
          <a:p>
            <a:r>
              <a:t>可直接說：名稱、縮排或 guard failure：active marked block 內修復；branch prediction 與 evidence 分開記錄；畫面 pseudocode 不替代 exact source。</a:t>
            </a:r>
          </a:p>
          <a:p>
            <a:r>
              <a:t>必要操作：在 package root 以 grep -n 找到 choose_action、contact_open 與 URGENT_MARGIN_S，逐段閱讀條件與 return；此頁只做 branch reading，policy 保持唯讀，預測也不當成 result evidence。</a:t>
            </a:r>
          </a:p>
          <a:p>
            <a:r>
              <a:t>預期畫面或結果：預期：`URGENT_MARGIN_S` 增大時，`SEND_URGENT` 觸發點提前。</a:t>
            </a:r>
          </a:p>
          <a:p>
            <a:r>
              <a:t>失敗處理：policy guard 或 syntax failure：active marked block only；runner、schema 與 generated JSON 維持唯讀。</a:t>
            </a:r>
          </a:p>
          <a:p>
            <a:r>
              <a:t>銜接下一頁：P032｜P027｜RUN：baseline 產生兩筆結果，把本頁的 mechanism-only pseudocode：observation 轉成 legal action 帶入下一個操作階段。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本頁目的：建立第一筆 control evidence。</a:t>
            </a:r>
          </a:p>
          <a:p>
            <a:r>
              <a:t>畫面指向：先看標題與 Windows PowerShell／WSL-POSIX 分欄 baseline，再看命令、欄位或箭頭所標示的邊界。</a:t>
            </a:r>
          </a:p>
          <a:p>
            <a:r>
              <a:t>可直接說：baseline 是固定情境、隨機種子與原始 policy 的對照執行。RUN 先產生 result.json 與 endpoint-replay.json；browser import 只讀取這兩筆結果。</a:t>
            </a:r>
          </a:p>
          <a:p>
            <a:r>
              <a:t>必要操作：兩個 shell 都在 lora-energy-lab root。Windows PowerShell 先以 .\.venv\Scripts\python.exe -m py_compile student_policy.py 驗證語法，再執行 .\course.cmd run --lab A --case baseline；WSL/POSIX 使用 ./.venv/bin/python -m py_compile student_policy.py，再執行 bash course.sh run --lab A --case baseline。保留 stdout 的 result_path，並在同一 run 目錄讀取 result.json 與 endpoint-replay.json。</a:t>
            </a:r>
          </a:p>
          <a:p>
            <a:r>
              <a:t>預期畫面或結果：預期：`status: OK`、`artifact_source: student-run`、JSON 印出 `result_path`，並有 `endpoint-replay.json`。</a:t>
            </a:r>
          </a:p>
          <a:p>
            <a:r>
              <a:t>失敗處理：compile 或 RUN failure：stdout/stderr 保留，回到 marked block、READY 或 predecessor gate；JSON 維持唯讀。</a:t>
            </a:r>
          </a:p>
          <a:p>
            <a:r>
              <a:t>銜接下一頁：P033｜P028｜Windows 手動建立 Python 3.11 `.venv`，把本頁的 Windows PowerShell／WSL-POSIX 分欄 baseline 帶入下一個操作階段。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本頁目的：把 Windows interpreter 與 package-local venv 連在同一個操作流程。</a:t>
            </a:r>
          </a:p>
          <a:p>
            <a:r>
              <a:t>畫面指向：先看標題與 PowerShell：檢查／安裝／venv module／建立，再看命令、欄位或箭頭所標示的邊界。</a:t>
            </a:r>
          </a:p>
          <a:p>
            <a:r>
              <a:t>可直接說：PowerShell 命令都在 Windows package root 執行；uv-managed Python 與 Python Launcher 的 3.11 path 都可作為 `PYTHON_BIN`。</a:t>
            </a:r>
          </a:p>
          <a:p>
            <a:r>
              <a:t>必要操作：PowerShell 位於 lora-energy-lab root。先執行 py -3.11 --version 並定位 $python311；缺少 3.11 時依序執行 winget/uv route，再執行 &amp; $python311 -m venv .venv。最後確認 .venv\Scripts\python.exe 已建立。</a:t>
            </a:r>
          </a:p>
          <a:p>
            <a:r>
              <a:t>預期畫面或結果：預期：`&amp; $python311 --version` 顯示 3.11.x，`-m venv --help` 成功，並產生 `.venv\Scripts\python.exe`。</a:t>
            </a:r>
          </a:p>
          <a:p>
            <a:r>
              <a:t>失敗處理：shell、版本、lock 或 root 不符：錯誤保留，回到該 gate；受阻時使用同情境 fallback。</a:t>
            </a:r>
          </a:p>
          <a:p>
            <a:r>
              <a:t>銜接下一頁：P034｜P029｜Windows 啟用 `.venv`、locked install、verify，把本頁的 PowerShell：檢查／安裝／venv module／建立 帶入下一個操作階段。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本頁目的：讓 Windows 手動流程產生可觀察的 READY gate。</a:t>
            </a:r>
          </a:p>
          <a:p>
            <a:r>
              <a:t>畫面指向：先看標題與 PowerShell activation → locked install → verify，再看命令、欄位或箭頭所標示的邊界。</a:t>
            </a:r>
          </a:p>
          <a:p>
            <a:r>
              <a:t>可直接說：若 PowerShell 不允許 `Activate.ps1`，Windows Command Prompt 可用 `call .venv\Scripts\activate.bat`；`.sh` 不在 Windows CMD 執行。</a:t>
            </a:r>
          </a:p>
          <a:p>
            <a:r>
              <a:t>必要操作：在同一個 Windows PowerShell 視窗執行 .\.venv\Scripts\Activate.ps1、python --version、prefix assertion、locked requirements install 與 .\course.cmd verify。若 Activate.ps1 受限，改用 Command Prompt 的 call .venv\Scripts\activate.bat，仍在同一 root 執行 course.cmd verify。</a:t>
            </a:r>
          </a:p>
          <a:p>
            <a:r>
              <a:t>預期畫面或結果：預期：版本是 3.11.x、`sys.prefix` 不等於 `sys.base_prefix`，verify receipt 的 status 是 READY。</a:t>
            </a:r>
          </a:p>
          <a:p>
            <a:r>
              <a:t>失敗處理：shell、版本、lock 或 root 不符：錯誤保留，回到該 gate；受阻時使用同情境 fallback。</a:t>
            </a:r>
          </a:p>
          <a:p>
            <a:r>
              <a:t>銜接下一頁：P035｜P030｜WSL Ubuntu 24.04：定位並安裝 Python 3.11，把本頁的 PowerShell activation → locked install → verify 帶入下一個操作階段。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本頁目的：建立 WSL 的 exact interpreter path。</a:t>
            </a:r>
          </a:p>
          <a:p>
            <a:r>
              <a:t>畫面指向：先看標題與 WSL／Ubuntu：detect → apt prerequisite → curl → uv，再看命令、欄位或箭頭所標示的邊界。</a:t>
            </a:r>
          </a:p>
          <a:p>
            <a:r>
              <a:t>可直接說：apt 與 uv 分支都在 Ubuntu／WSL bash 設定 `PYTHON_BIN`，接續頁直接以同一變數建立 `.venv`。</a:t>
            </a:r>
          </a:p>
          <a:p>
            <a:r>
              <a:t>必要操作：上述命令只在 Ubuntu/WSL bash 執行。先以 command -v python3.11 與 python3.11 --version 檢查，再以 apt-cache policy 檢查 python3.11-venv；接著執行 sudo apt update；有 Candidate 時執行 sudo apt install -y python3.11 python3.11-venv，沒有 Candidate 時以 apt 補 curl/unzip，再安裝 uv、定位 Python 3.11，將 PYTHON_BIN 留在同一個 bash session 給下一頁使用。</a:t>
            </a:r>
          </a:p>
          <a:p>
            <a:r>
              <a:t>預期畫面或結果：預期：兩個分支都讓 `PYTHON_BIN` 指向 WSL／Linux 的 Python 3.11.x；Windows interpreter path 不進入 WSL。</a:t>
            </a:r>
          </a:p>
          <a:p>
            <a:r>
              <a:t>失敗處理：shell、版本、lock 或 root 不符：錯誤保留，回到該 gate；受阻時使用同情境 fallback。</a:t>
            </a:r>
          </a:p>
          <a:p>
            <a:r>
              <a:t>銜接下一頁：P036｜P031｜WSL `.venv/bin`：建立、啟用、locked install、verify，把本頁的 WSL／Ubuntu：detect → apt prerequisite → curl → uv 帶入下一個操作階段。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本頁目的：讓 WSL 手動流程產生可觀察的 READY gate。</a:t>
            </a:r>
          </a:p>
          <a:p>
            <a:r>
              <a:t>畫面指向：先看標題與 WSL／Ubuntu：venv module → source → install → verify，再看命令、欄位或箭頭所標示的邊界。</a:t>
            </a:r>
          </a:p>
          <a:p>
            <a:r>
              <a:t>可直接說：Windows `.venv\Scripts\python.exe` 與 WSL `.venv/bin/python` 是兩個 filesystem 內的環境；`.sh` 僅在 WSL／Linux bash 執行，Windows CMD 使用 `.cmd`。</a:t>
            </a:r>
          </a:p>
          <a:p>
            <a:r>
              <a:t>必要操作：在同一個 WSL root 與 bash session 使用 PYTHON_BIN 執行 venv module check、建立 .venv、source .venv/bin/activate、確認 prefix、安裝 locked requirements，最後執行 bash course.sh verify。讀取 verify receipt 的 READY，再進入後續 policy stage。</a:t>
            </a:r>
          </a:p>
          <a:p>
            <a:r>
              <a:t>預期畫面或結果：預期：版本是 3.11.x、prefix 與 base prefix 不同，verify receipt 的 status 是 READY。</a:t>
            </a:r>
          </a:p>
          <a:p>
            <a:r>
              <a:t>失敗處理：shell、版本、lock 或 root 不符：錯誤保留，回到該 gate；受阻時使用同情境 fallback。</a:t>
            </a:r>
          </a:p>
          <a:p>
            <a:r>
              <a:t>本模組在此收束；保留 READY 與 baseline receipt，後續實驗從對應的操作頁開始。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圖片 12">
            <a:extLst>
              <a:ext uri="{FF2B5EF4-FFF2-40B4-BE49-F238E27FC236}">
                <a16:creationId xmlns:a16="http://schemas.microsoft.com/office/drawing/2014/main" id="{805DCD4E-0403-46F3-858B-5BF02EA5CC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Line 12">
            <a:extLst>
              <a:ext uri="{FF2B5EF4-FFF2-40B4-BE49-F238E27FC236}">
                <a16:creationId xmlns:a16="http://schemas.microsoft.com/office/drawing/2014/main" id="{C41B0D54-DF44-4127-9A39-B15ADA472D5D}"/>
              </a:ext>
            </a:extLst>
          </p:cNvPr>
          <p:cNvSpPr>
            <a:spLocks noChangeShapeType="1"/>
          </p:cNvSpPr>
          <p:nvPr/>
        </p:nvSpPr>
        <p:spPr bwMode="auto">
          <a:xfrm>
            <a:off x="1001184" y="2312353"/>
            <a:ext cx="0" cy="762000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 sz="2000" baseline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5" name="Line 13">
            <a:extLst>
              <a:ext uri="{FF2B5EF4-FFF2-40B4-BE49-F238E27FC236}">
                <a16:creationId xmlns:a16="http://schemas.microsoft.com/office/drawing/2014/main" id="{B2658828-45E5-4D11-9E76-B8625DD6F827}"/>
              </a:ext>
            </a:extLst>
          </p:cNvPr>
          <p:cNvSpPr>
            <a:spLocks noChangeShapeType="1"/>
          </p:cNvSpPr>
          <p:nvPr/>
        </p:nvSpPr>
        <p:spPr bwMode="auto">
          <a:xfrm>
            <a:off x="683685" y="2844165"/>
            <a:ext cx="10943167" cy="0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 sz="2000" baseline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149508" name="Rectangle 4"/>
          <p:cNvSpPr>
            <a:spLocks noGrp="1" noChangeArrowheads="1"/>
          </p:cNvSpPr>
          <p:nvPr>
            <p:ph type="ctrTitle"/>
          </p:nvPr>
        </p:nvSpPr>
        <p:spPr>
          <a:xfrm>
            <a:off x="1132417" y="1581209"/>
            <a:ext cx="10363200" cy="1143000"/>
          </a:xfrm>
        </p:spPr>
        <p:txBody>
          <a:bodyPr/>
          <a:lstStyle>
            <a:lvl1pPr>
              <a:defRPr sz="3200" b="0" baseline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r>
              <a:rPr lang="zh-TW" altLang="en-US"/>
              <a:t>按一下以編輯母片標題樣式</a:t>
            </a:r>
            <a:endParaRPr lang="de-DE"/>
          </a:p>
        </p:txBody>
      </p:sp>
      <p:sp>
        <p:nvSpPr>
          <p:cNvPr id="149509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1780117" y="2935777"/>
            <a:ext cx="8534400" cy="1438103"/>
          </a:xfrm>
        </p:spPr>
        <p:txBody>
          <a:bodyPr/>
          <a:lstStyle>
            <a:lvl1pPr marL="0" indent="0" algn="ctr">
              <a:buFont typeface="Symbol" pitchFamily="18" charset="2"/>
              <a:buNone/>
              <a:defRPr sz="28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r>
              <a:rPr lang="zh-TW" altLang="en-US"/>
              <a:t>按一下以編輯母片副標題樣式</a:t>
            </a:r>
            <a:endParaRPr lang="de-DE" dirty="0"/>
          </a:p>
        </p:txBody>
      </p:sp>
      <p:sp>
        <p:nvSpPr>
          <p:cNvPr id="10" name="Rectangle 28">
            <a:extLst>
              <a:ext uri="{FF2B5EF4-FFF2-40B4-BE49-F238E27FC236}">
                <a16:creationId xmlns:a16="http://schemas.microsoft.com/office/drawing/2014/main" id="{8B435778-36B6-470A-939D-7E55FA1407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934700" y="6340475"/>
            <a:ext cx="8890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kumimoji="0" sz="14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5pPr>
            <a:lvl6pPr marL="22860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6pPr>
            <a:lvl7pPr marL="27432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7pPr>
            <a:lvl8pPr marL="32004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8pPr>
            <a:lvl9pPr marL="36576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9pPr>
          </a:lstStyle>
          <a:p>
            <a:pPr>
              <a:defRPr/>
            </a:pPr>
            <a:fld id="{69B0E891-B98C-44D2-AD8F-C733BD4A6D71}" type="slidenum">
              <a:rPr lang="zh-TW" altLang="en-US" sz="1400" baseline="0" smtClean="0">
                <a:latin typeface="Times New Roman" panose="02020603050405020304" pitchFamily="18" charset="0"/>
                <a:ea typeface="標楷體" panose="03000509000000000000" pitchFamily="65" charset="-120"/>
              </a:rPr>
              <a:pPr>
                <a:defRPr/>
              </a:pPr>
              <a:t>‹#›</a:t>
            </a:fld>
            <a:endParaRPr lang="en-US" altLang="zh-TW" sz="1400" baseline="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7F80F928-0BFD-43F3-B309-F20FD4B2E04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6113509"/>
            <a:ext cx="12192000" cy="216208"/>
          </a:xfrm>
          <a:prstGeom prst="rect">
            <a:avLst/>
          </a:prstGeom>
        </p:spPr>
      </p:pic>
      <p:pic>
        <p:nvPicPr>
          <p:cNvPr id="12" name="圖片 11">
            <a:extLst>
              <a:ext uri="{FF2B5EF4-FFF2-40B4-BE49-F238E27FC236}">
                <a16:creationId xmlns:a16="http://schemas.microsoft.com/office/drawing/2014/main" id="{4DFD7906-056A-47BA-A5D9-39A4EA473B5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875182" y="0"/>
            <a:ext cx="2265448" cy="323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32835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8">
            <a:extLst>
              <a:ext uri="{FF2B5EF4-FFF2-40B4-BE49-F238E27FC236}">
                <a16:creationId xmlns:a16="http://schemas.microsoft.com/office/drawing/2014/main" id="{46B19FCD-9041-49CE-B2A7-94FA63606C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934700" y="6340475"/>
            <a:ext cx="8890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kumimoji="0" sz="14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5pPr>
            <a:lvl6pPr marL="22860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6pPr>
            <a:lvl7pPr marL="27432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7pPr>
            <a:lvl8pPr marL="32004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8pPr>
            <a:lvl9pPr marL="36576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9pPr>
          </a:lstStyle>
          <a:p>
            <a:pPr>
              <a:defRPr/>
            </a:pPr>
            <a:fld id="{69B0E891-B98C-44D2-AD8F-C733BD4A6D71}" type="slidenum">
              <a:rPr lang="zh-TW" altLang="en-US" sz="1400" baseline="0" smtClean="0">
                <a:latin typeface="Times New Roman" panose="02020603050405020304" pitchFamily="18" charset="0"/>
                <a:ea typeface="標楷體" panose="03000509000000000000" pitchFamily="65" charset="-120"/>
              </a:rPr>
              <a:pPr>
                <a:defRPr/>
              </a:pPr>
              <a:t>‹#›</a:t>
            </a:fld>
            <a:endParaRPr lang="en-US" altLang="zh-TW" sz="1400" baseline="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8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  <a:lvl2pPr>
              <a:defRPr sz="24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2pPr>
            <a:lvl3pPr>
              <a:defRPr sz="2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3pPr>
            <a:lvl4pPr>
              <a:defRPr sz="20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4pPr>
            <a:lvl5pPr>
              <a:defRPr sz="20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5pPr>
          </a:lstStyle>
          <a:p>
            <a:pPr lvl="0"/>
            <a:r>
              <a:rPr lang="zh-TW" altLang="en-US" dirty="0"/>
              <a:t>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CB7FDDD4-34FF-4C30-A3FA-0C9DE9C65A8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21662"/>
            <a:ext cx="12192000" cy="216208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7BBD6104-E76A-4DD4-96A1-B5DFE36EE11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210800" y="0"/>
            <a:ext cx="1981200" cy="283029"/>
          </a:xfrm>
          <a:prstGeom prst="rect">
            <a:avLst/>
          </a:prstGeom>
        </p:spPr>
      </p:pic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6537E7AB-D74C-4DDB-911A-5E4E55C8C56F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495728" y="6340475"/>
            <a:ext cx="10705672" cy="350555"/>
          </a:xfrm>
        </p:spPr>
        <p:txBody>
          <a:bodyPr/>
          <a:lstStyle>
            <a:lvl1pPr marL="0" indent="0">
              <a:buFontTx/>
              <a:buNone/>
              <a:defRPr sz="14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  <a:lvl2pPr>
              <a:defRPr sz="24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2pPr>
          </a:lstStyle>
          <a:p>
            <a:pPr lvl="0"/>
            <a:r>
              <a:rPr lang="zh-TW" altLang="en-US" dirty="0"/>
              <a:t>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37873401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565152" y="914400"/>
            <a:ext cx="5556249" cy="5191125"/>
          </a:xfrm>
        </p:spPr>
        <p:txBody>
          <a:bodyPr/>
          <a:lstStyle>
            <a:lvl1pPr>
              <a:defRPr sz="2800" baseline="0"/>
            </a:lvl1pPr>
            <a:lvl2pPr>
              <a:defRPr sz="2400" baseline="0"/>
            </a:lvl2pPr>
            <a:lvl3pPr>
              <a:defRPr sz="2000" baseline="0"/>
            </a:lvl3pPr>
            <a:lvl4pPr>
              <a:defRPr sz="1800" baseline="0"/>
            </a:lvl4pPr>
            <a:lvl5pPr>
              <a:defRPr sz="1800" baseline="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324601" y="914400"/>
            <a:ext cx="5558367" cy="5191125"/>
          </a:xfrm>
        </p:spPr>
        <p:txBody>
          <a:bodyPr/>
          <a:lstStyle>
            <a:lvl1pPr>
              <a:defRPr sz="2800" baseline="0"/>
            </a:lvl1pPr>
            <a:lvl2pPr>
              <a:defRPr sz="2400" baseline="0"/>
            </a:lvl2pPr>
            <a:lvl3pPr>
              <a:defRPr sz="2000" baseline="0"/>
            </a:lvl3pPr>
            <a:lvl4pPr>
              <a:defRPr sz="1800" baseline="0"/>
            </a:lvl4pPr>
            <a:lvl5pPr>
              <a:defRPr sz="1800" baseline="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Rectangle 28">
            <a:extLst>
              <a:ext uri="{FF2B5EF4-FFF2-40B4-BE49-F238E27FC236}">
                <a16:creationId xmlns:a16="http://schemas.microsoft.com/office/drawing/2014/main" id="{C777D388-01C3-486D-A87C-B924DC57D28F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 baseline="0"/>
            </a:lvl1pPr>
          </a:lstStyle>
          <a:p>
            <a:fld id="{45D5892C-9710-48A3-8372-2122A7AD32EA}" type="slidenum">
              <a:rPr lang="zh-TW" altLang="en-US" smtClean="0"/>
              <a:pPr/>
              <a:t>‹#›</a:t>
            </a:fld>
            <a:endParaRPr lang="zh-TW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4D893B48-16BE-E45D-6372-999419BFA52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73081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0" y="177801"/>
            <a:ext cx="10972800" cy="575732"/>
          </a:xfrm>
        </p:spPr>
        <p:txBody>
          <a:bodyPr/>
          <a:lstStyle>
            <a:lvl1pPr>
              <a:defRPr baseline="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 baseline="0"/>
            </a:lvl1pPr>
            <a:lvl2pPr>
              <a:defRPr sz="2000" baseline="0"/>
            </a:lvl2pPr>
            <a:lvl3pPr>
              <a:defRPr sz="1800" baseline="0"/>
            </a:lvl3pPr>
            <a:lvl4pPr>
              <a:defRPr sz="1600" baseline="0"/>
            </a:lvl4pPr>
            <a:lvl5pPr>
              <a:defRPr sz="1600" baseline="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 baseline="0"/>
            </a:lvl1pPr>
            <a:lvl2pPr>
              <a:defRPr sz="2000" baseline="0"/>
            </a:lvl2pPr>
            <a:lvl3pPr>
              <a:defRPr sz="1800" baseline="0"/>
            </a:lvl3pPr>
            <a:lvl4pPr>
              <a:defRPr sz="1600" baseline="0"/>
            </a:lvl4pPr>
            <a:lvl5pPr>
              <a:defRPr sz="1600" baseline="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Rectangle 28">
            <a:extLst>
              <a:ext uri="{FF2B5EF4-FFF2-40B4-BE49-F238E27FC236}">
                <a16:creationId xmlns:a16="http://schemas.microsoft.com/office/drawing/2014/main" id="{B243DEEE-11C0-45AB-B44D-DA0457D58046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 baseline="0"/>
            </a:lvl1pPr>
          </a:lstStyle>
          <a:p>
            <a:fld id="{45D5892C-9710-48A3-8372-2122A7AD32EA}" type="slidenum">
              <a:rPr lang="zh-TW" altLang="en-US" smtClean="0"/>
              <a:pPr/>
              <a:t>‹#›</a:t>
            </a:fld>
            <a:endParaRPr lang="zh-TW" altLang="en-US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B112EF57-5A2F-97E4-31F4-6B2593170BE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84284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50333" y="150813"/>
            <a:ext cx="11438467" cy="57150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Rectangle 28">
            <a:extLst>
              <a:ext uri="{FF2B5EF4-FFF2-40B4-BE49-F238E27FC236}">
                <a16:creationId xmlns:a16="http://schemas.microsoft.com/office/drawing/2014/main" id="{C39D7682-F964-461A-AAAE-372642E0A382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20D15BFF-517B-3F62-F57C-7D32F1722A2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40158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8">
            <a:extLst>
              <a:ext uri="{FF2B5EF4-FFF2-40B4-BE49-F238E27FC236}">
                <a16:creationId xmlns:a16="http://schemas.microsoft.com/office/drawing/2014/main" id="{F27029BD-E6AF-407F-ACA5-95E13AE34ACC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76503788-F803-DC83-ED63-88E8F575E8A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41512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599" y="228601"/>
            <a:ext cx="11356623" cy="505355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948267"/>
            <a:ext cx="7199488" cy="5177896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1" y="948268"/>
            <a:ext cx="4011084" cy="517789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Rectangle 28">
            <a:extLst>
              <a:ext uri="{FF2B5EF4-FFF2-40B4-BE49-F238E27FC236}">
                <a16:creationId xmlns:a16="http://schemas.microsoft.com/office/drawing/2014/main" id="{E618970D-DD05-4ECF-8733-3A668C35F980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50F9C425-8EE6-52EC-F828-4140E6EFA47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53242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94783" y="135466"/>
            <a:ext cx="11360151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939800"/>
            <a:ext cx="7315200" cy="378777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TW" altLang="en-US" noProof="0"/>
              <a:t>按一下圖示以新增圖片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028672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Rectangle 28">
            <a:extLst>
              <a:ext uri="{FF2B5EF4-FFF2-40B4-BE49-F238E27FC236}">
                <a16:creationId xmlns:a16="http://schemas.microsoft.com/office/drawing/2014/main" id="{C45A8477-25E2-4F3E-A2CA-70F6EA99A4A9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302888C7-1B6B-55CD-3260-A183B3AD7E3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73602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28">
            <a:extLst>
              <a:ext uri="{FF2B5EF4-FFF2-40B4-BE49-F238E27FC236}">
                <a16:creationId xmlns:a16="http://schemas.microsoft.com/office/drawing/2014/main" id="{A425C922-DC02-4EB7-87C5-86932890B28B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BE837BF0-9322-459D-EC50-1D7F6B46FE5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88488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9139063" y="931333"/>
            <a:ext cx="2842683" cy="5174192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550334" y="931333"/>
            <a:ext cx="8329084" cy="5174192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4" name="Rectangle 28">
            <a:extLst>
              <a:ext uri="{FF2B5EF4-FFF2-40B4-BE49-F238E27FC236}">
                <a16:creationId xmlns:a16="http://schemas.microsoft.com/office/drawing/2014/main" id="{42F45190-893E-4A4D-AC70-724C5AF4D211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5B2D1CF3-7FC4-BA66-E0BC-42D6639BC53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847334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theme" Target="../theme/theme1.xml"/><Relationship Id="rId12" Type="http://schemas.openxmlformats.org/officeDocument/2006/relationships/image" Target="../media/image1.png"/><Relationship Id="rId13" Type="http://schemas.openxmlformats.org/officeDocument/2006/relationships/image" Target="../media/image2.png"/><Relationship Id="rId1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A9ABF8AB-B0B8-4681-BD44-8CF5E845AA7F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26" name="Rectangle 4">
            <a:extLst>
              <a:ext uri="{FF2B5EF4-FFF2-40B4-BE49-F238E27FC236}">
                <a16:creationId xmlns:a16="http://schemas.microsoft.com/office/drawing/2014/main" id="{E37310E9-2521-4BB7-B15D-959B68467A8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565151" y="141288"/>
            <a:ext cx="11417300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endParaRPr lang="en-US" altLang="zh-TW" dirty="0"/>
          </a:p>
        </p:txBody>
      </p:sp>
      <p:sp>
        <p:nvSpPr>
          <p:cNvPr id="1027" name="Rectangle 5">
            <a:extLst>
              <a:ext uri="{FF2B5EF4-FFF2-40B4-BE49-F238E27FC236}">
                <a16:creationId xmlns:a16="http://schemas.microsoft.com/office/drawing/2014/main" id="{794864E5-9918-4FF7-9866-35661BF2624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65151" y="914400"/>
            <a:ext cx="11417300" cy="5191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 dirty="0" err="1"/>
              <a:t>Klicken</a:t>
            </a:r>
            <a:r>
              <a:rPr lang="en-US" altLang="zh-TW" dirty="0"/>
              <a:t> Sie, um die </a:t>
            </a:r>
            <a:r>
              <a:rPr lang="en-US" altLang="zh-TW" dirty="0" err="1"/>
              <a:t>Formate</a:t>
            </a:r>
            <a:r>
              <a:rPr lang="en-US" altLang="zh-TW" dirty="0"/>
              <a:t> des </a:t>
            </a:r>
            <a:r>
              <a:rPr lang="en-US" altLang="zh-TW" dirty="0" err="1"/>
              <a:t>Vorlagentextes</a:t>
            </a:r>
            <a:r>
              <a:rPr lang="en-US" altLang="zh-TW" dirty="0"/>
              <a:t> </a:t>
            </a:r>
            <a:r>
              <a:rPr lang="en-US" altLang="zh-TW" dirty="0" err="1"/>
              <a:t>zu</a:t>
            </a:r>
            <a:r>
              <a:rPr lang="en-US" altLang="zh-TW" dirty="0"/>
              <a:t> </a:t>
            </a:r>
            <a:r>
              <a:rPr lang="en-US" altLang="zh-TW" dirty="0" err="1"/>
              <a:t>bearbeiten</a:t>
            </a:r>
            <a:endParaRPr lang="en-US" altLang="zh-TW" dirty="0"/>
          </a:p>
          <a:p>
            <a:pPr lvl="1"/>
            <a:r>
              <a:rPr lang="en-US" altLang="zh-TW" dirty="0" err="1"/>
              <a:t>Zweite</a:t>
            </a:r>
            <a:r>
              <a:rPr lang="en-US" altLang="zh-TW" dirty="0"/>
              <a:t> </a:t>
            </a:r>
            <a:r>
              <a:rPr lang="en-US" altLang="zh-TW" dirty="0" err="1"/>
              <a:t>Ebene</a:t>
            </a:r>
            <a:endParaRPr lang="en-US" altLang="zh-TW" dirty="0"/>
          </a:p>
          <a:p>
            <a:pPr lvl="2"/>
            <a:r>
              <a:rPr lang="en-US" altLang="zh-TW" dirty="0" err="1"/>
              <a:t>Dritte</a:t>
            </a:r>
            <a:r>
              <a:rPr lang="en-US" altLang="zh-TW" dirty="0"/>
              <a:t> </a:t>
            </a:r>
            <a:r>
              <a:rPr lang="en-US" altLang="zh-TW" dirty="0" err="1"/>
              <a:t>Ebene</a:t>
            </a:r>
            <a:endParaRPr lang="en-US" altLang="zh-TW" dirty="0"/>
          </a:p>
          <a:p>
            <a:pPr lvl="3"/>
            <a:r>
              <a:rPr lang="en-US" altLang="zh-TW" dirty="0" err="1"/>
              <a:t>Vierte</a:t>
            </a:r>
            <a:r>
              <a:rPr lang="en-US" altLang="zh-TW" dirty="0"/>
              <a:t> </a:t>
            </a:r>
            <a:r>
              <a:rPr lang="en-US" altLang="zh-TW" dirty="0" err="1"/>
              <a:t>Ebene</a:t>
            </a:r>
            <a:endParaRPr lang="en-US" altLang="zh-TW" dirty="0"/>
          </a:p>
          <a:p>
            <a:pPr lvl="4"/>
            <a:r>
              <a:rPr lang="en-US" altLang="zh-TW" dirty="0" err="1"/>
              <a:t>Fünfte</a:t>
            </a:r>
            <a:r>
              <a:rPr lang="en-US" altLang="zh-TW" dirty="0"/>
              <a:t> </a:t>
            </a:r>
            <a:r>
              <a:rPr lang="en-US" altLang="zh-TW" dirty="0" err="1"/>
              <a:t>Ebene</a:t>
            </a:r>
            <a:endParaRPr lang="en-US" altLang="zh-TW" dirty="0"/>
          </a:p>
        </p:txBody>
      </p:sp>
      <p:sp>
        <p:nvSpPr>
          <p:cNvPr id="1028" name="Line 22">
            <a:extLst>
              <a:ext uri="{FF2B5EF4-FFF2-40B4-BE49-F238E27FC236}">
                <a16:creationId xmlns:a16="http://schemas.microsoft.com/office/drawing/2014/main" id="{AB7F6124-04C7-45E8-AA65-7F9F759D65F9}"/>
              </a:ext>
            </a:extLst>
          </p:cNvPr>
          <p:cNvSpPr>
            <a:spLocks noChangeShapeType="1"/>
          </p:cNvSpPr>
          <p:nvPr/>
        </p:nvSpPr>
        <p:spPr bwMode="auto">
          <a:xfrm>
            <a:off x="425451" y="252413"/>
            <a:ext cx="0" cy="69215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 sz="2000" baseline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1029" name="Line 24">
            <a:extLst>
              <a:ext uri="{FF2B5EF4-FFF2-40B4-BE49-F238E27FC236}">
                <a16:creationId xmlns:a16="http://schemas.microsoft.com/office/drawing/2014/main" id="{C8074568-B491-4B67-9A93-41BE6E79B626}"/>
              </a:ext>
            </a:extLst>
          </p:cNvPr>
          <p:cNvSpPr>
            <a:spLocks noChangeShapeType="1"/>
          </p:cNvSpPr>
          <p:nvPr/>
        </p:nvSpPr>
        <p:spPr bwMode="auto">
          <a:xfrm>
            <a:off x="209551" y="784225"/>
            <a:ext cx="11772900" cy="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 sz="2000" baseline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1030" name="Line 25">
            <a:extLst>
              <a:ext uri="{FF2B5EF4-FFF2-40B4-BE49-F238E27FC236}">
                <a16:creationId xmlns:a16="http://schemas.microsoft.com/office/drawing/2014/main" id="{311CE126-5E96-48EA-A8E4-423F29F2B71C}"/>
              </a:ext>
            </a:extLst>
          </p:cNvPr>
          <p:cNvSpPr>
            <a:spLocks noChangeShapeType="1"/>
          </p:cNvSpPr>
          <p:nvPr/>
        </p:nvSpPr>
        <p:spPr bwMode="auto">
          <a:xfrm>
            <a:off x="209551" y="6240463"/>
            <a:ext cx="11772900" cy="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 sz="2000" baseline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148508" name="Rectangle 28">
            <a:extLst>
              <a:ext uri="{FF2B5EF4-FFF2-40B4-BE49-F238E27FC236}">
                <a16:creationId xmlns:a16="http://schemas.microsoft.com/office/drawing/2014/main" id="{87C75FDA-A8B1-4916-8A2B-A105EA9C4F4B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934700" y="6340475"/>
            <a:ext cx="8890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kumimoji="0" sz="14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fld id="{45D5892C-9710-48A3-8372-2122A7AD32EA}" type="slidenum">
              <a:rPr lang="zh-TW" altLang="en-US" smtClean="0"/>
              <a:pPr/>
              <a:t>‹#›</a:t>
            </a:fld>
            <a:endParaRPr lang="zh-TW" altLang="en-US"/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70913959-438C-19FB-F2F8-1592E452ADC8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  <p:pic>
        <p:nvPicPr>
          <p:cNvPr id="4" name="圖片 3">
            <a:extLst>
              <a:ext uri="{FF2B5EF4-FFF2-40B4-BE49-F238E27FC236}">
                <a16:creationId xmlns:a16="http://schemas.microsoft.com/office/drawing/2014/main" id="{D03BE1FC-A522-6621-C15D-29238ADFB2C5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10210800" y="0"/>
            <a:ext cx="1981200" cy="283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08897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2" r:id="rId3"/>
    <p:sldLayoutId id="2147483713" r:id="rId4"/>
    <p:sldLayoutId id="2147483714" r:id="rId5"/>
    <p:sldLayoutId id="2147483715" r:id="rId6"/>
    <p:sldLayoutId id="2147483716" r:id="rId7"/>
    <p:sldLayoutId id="2147483717" r:id="rId8"/>
    <p:sldLayoutId id="2147483718" r:id="rId9"/>
    <p:sldLayoutId id="2147483719" r:id="rId10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sz="2800" b="1" baseline="0">
          <a:solidFill>
            <a:schemeClr val="tx1"/>
          </a:solidFill>
          <a:latin typeface="Times New Roman" panose="02020603050405020304" pitchFamily="18" charset="0"/>
          <a:ea typeface="標楷體" panose="03000509000000000000" pitchFamily="65" charset="-120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9pPr>
    </p:titleStyle>
    <p:bodyStyle>
      <a:lvl1pPr marL="285750" indent="-2857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anose="05050102010706020507" pitchFamily="18" charset="2"/>
        <a:buChar char="·"/>
        <a:defRPr sz="2400" baseline="0">
          <a:solidFill>
            <a:srgbClr val="000000"/>
          </a:solidFill>
          <a:latin typeface="Times New Roman" panose="02020603050405020304" pitchFamily="18" charset="0"/>
          <a:ea typeface="標楷體" panose="03000509000000000000" pitchFamily="65" charset="-120"/>
          <a:cs typeface="+mn-cs"/>
        </a:defRPr>
      </a:lvl1pPr>
      <a:lvl2pPr marL="762000" indent="-2857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anose="05050102010706020507" pitchFamily="18" charset="2"/>
        <a:buChar char="·"/>
        <a:defRPr sz="2000" baseline="0">
          <a:solidFill>
            <a:srgbClr val="000000"/>
          </a:solidFill>
          <a:latin typeface="Times New Roman" panose="02020603050405020304" pitchFamily="18" charset="0"/>
          <a:ea typeface="標楷體" panose="03000509000000000000" pitchFamily="65" charset="-120"/>
        </a:defRPr>
      </a:lvl2pPr>
      <a:lvl3pPr marL="1238250" indent="-2857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anose="05050102010706020507" pitchFamily="18" charset="2"/>
        <a:buChar char="·"/>
        <a:defRPr sz="2400" baseline="0">
          <a:solidFill>
            <a:srgbClr val="000000"/>
          </a:solidFill>
          <a:latin typeface="Times New Roman" panose="02020603050405020304" pitchFamily="18" charset="0"/>
          <a:ea typeface="標楷體" panose="03000509000000000000" pitchFamily="65" charset="-120"/>
        </a:defRPr>
      </a:lvl3pPr>
      <a:lvl4pPr marL="16192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anose="05050102010706020507" pitchFamily="18" charset="2"/>
        <a:buChar char="·"/>
        <a:defRPr sz="1600" baseline="0">
          <a:solidFill>
            <a:srgbClr val="000000"/>
          </a:solidFill>
          <a:latin typeface="Times New Roman" panose="02020603050405020304" pitchFamily="18" charset="0"/>
          <a:ea typeface="標楷體" panose="03000509000000000000" pitchFamily="65" charset="-120"/>
        </a:defRPr>
      </a:lvl4pPr>
      <a:lvl5pPr marL="20002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anose="05050102010706020507" pitchFamily="18" charset="2"/>
        <a:buChar char="·"/>
        <a:defRPr sz="1600" baseline="0">
          <a:solidFill>
            <a:srgbClr val="000000"/>
          </a:solidFill>
          <a:latin typeface="Times New Roman" panose="02020603050405020304" pitchFamily="18" charset="0"/>
          <a:ea typeface="標楷體" panose="03000509000000000000" pitchFamily="65" charset="-120"/>
        </a:defRPr>
      </a:lvl5pPr>
      <a:lvl6pPr marL="24574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itchFamily="18" charset="2"/>
        <a:buChar char="·"/>
        <a:defRPr sz="1600">
          <a:solidFill>
            <a:srgbClr val="000000"/>
          </a:solidFill>
          <a:latin typeface="+mn-lt"/>
        </a:defRPr>
      </a:lvl6pPr>
      <a:lvl7pPr marL="29146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itchFamily="18" charset="2"/>
        <a:buChar char="·"/>
        <a:defRPr sz="1600">
          <a:solidFill>
            <a:srgbClr val="000000"/>
          </a:solidFill>
          <a:latin typeface="+mn-lt"/>
        </a:defRPr>
      </a:lvl7pPr>
      <a:lvl8pPr marL="33718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itchFamily="18" charset="2"/>
        <a:buChar char="·"/>
        <a:defRPr sz="1600">
          <a:solidFill>
            <a:srgbClr val="000000"/>
          </a:solidFill>
          <a:latin typeface="+mn-lt"/>
        </a:defRPr>
      </a:lvl8pPr>
      <a:lvl9pPr marL="38290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itchFamily="18" charset="2"/>
        <a:buChar char="·"/>
        <a:defRPr sz="1600">
          <a:solidFill>
            <a:srgbClr val="000000"/>
          </a:solidFill>
          <a:latin typeface="+mn-lt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1DD83AA-F47A-45B9-B139-7BEF20F9502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altLang="zh-TW" b="0" i="0" u="none" strike="noStrike" baseline="0" dirty="0">
                <a:latin typeface="Times-Roman"/>
              </a:rPr>
              <a:t>Energy-Efficiency-Based Joint Uplink Resources</a:t>
            </a:r>
            <a:r>
              <a:rPr lang="zh-TW" altLang="en-US" b="0" i="0" u="none" strike="noStrike" baseline="0" dirty="0">
                <a:latin typeface="Times-Roman"/>
              </a:rPr>
              <a:t> </a:t>
            </a:r>
            <a:r>
              <a:rPr lang="en-US" altLang="zh-TW" b="0" i="0" u="none" strike="noStrike" baseline="0" dirty="0">
                <a:latin typeface="Times-Roman"/>
              </a:rPr>
              <a:t>Allocation for LEO Satellite Beam-Hopping System</a:t>
            </a:r>
            <a:endParaRPr lang="zh-TW" altLang="en-US" dirty="0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46C66A00-D57B-4EA9-AA9B-8637032128C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TW" b="0" i="0" u="none" strike="noStrike" baseline="0" dirty="0">
                <a:latin typeface="Times-Roman"/>
              </a:rPr>
              <a:t>IEEE Internet of Things, </a:t>
            </a:r>
            <a:r>
              <a:rPr lang="en-US" altLang="zh-TW" i="0" u="none" strike="noStrike" baseline="0" dirty="0">
                <a:latin typeface="Times-Roman"/>
              </a:rPr>
              <a:t>2025</a:t>
            </a:r>
            <a:r>
              <a:rPr lang="en-US" altLang="zh-TW" b="0" i="0" u="none" strike="noStrike" baseline="0" dirty="0">
                <a:latin typeface="Times-Roman"/>
              </a:rPr>
              <a:t>.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3932752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上行 </a:t>
            </a:r>
            <a:r>
              <a:rPr lang="en-US" altLang="zh-TW" dirty="0"/>
              <a:t>LEO </a:t>
            </a:r>
            <a:r>
              <a:rPr lang="zh-TW" altLang="en-US" dirty="0"/>
              <a:t>衛星 </a:t>
            </a:r>
            <a:r>
              <a:rPr lang="en-US" altLang="zh-TW" dirty="0"/>
              <a:t>BH </a:t>
            </a:r>
            <a:r>
              <a:rPr lang="zh-TW" altLang="en-US" dirty="0"/>
              <a:t>系統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位於受照射波束內的終端將會受到同頻跨波束干擾。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-Roman"/>
              </a:rPr>
              <a:t>Songsong</a:t>
            </a:r>
            <a:r>
              <a:rPr lang="en-US" altLang="zh-TW" b="1" i="0" u="none" strike="noStrike" baseline="0" dirty="0">
                <a:latin typeface="Times-Roman"/>
              </a:rPr>
              <a:t> Cai</a:t>
            </a:r>
            <a:r>
              <a:rPr lang="zh-TW" altLang="en-US" b="1" i="0" u="none" strike="noStrike" baseline="0" dirty="0">
                <a:latin typeface="Times-Roman"/>
              </a:rPr>
              <a:t> </a:t>
            </a:r>
            <a:r>
              <a:rPr lang="en-US" altLang="zh-TW" b="0" i="0" u="none" strike="noStrike" baseline="0" dirty="0">
                <a:latin typeface="Times-Roman"/>
              </a:rPr>
              <a:t>et al. “Energy-Efficiency-Based Joint Uplink Resources</a:t>
            </a:r>
            <a:r>
              <a:rPr lang="zh-TW" altLang="en-US" b="0" i="0" u="none" strike="noStrike" baseline="0" dirty="0">
                <a:latin typeface="Times-Roman"/>
              </a:rPr>
              <a:t> </a:t>
            </a:r>
            <a:r>
              <a:rPr lang="en-US" altLang="zh-TW" b="0" i="0" u="none" strike="noStrike" baseline="0" dirty="0">
                <a:latin typeface="Times-Roman"/>
              </a:rPr>
              <a:t>Allocation for LEO Satellite Beam-Hopping System,” IEEE Internet of Things, </a:t>
            </a:r>
            <a:r>
              <a:rPr lang="en-US" altLang="zh-TW" i="0" u="none" strike="noStrike" baseline="0" dirty="0">
                <a:latin typeface="Times-Roman"/>
              </a:rPr>
              <a:t>2025</a:t>
            </a:r>
            <a:r>
              <a:rPr lang="en-US" altLang="zh-TW" b="0" i="0" u="none" strike="noStrike" baseline="0" dirty="0">
                <a:latin typeface="Times-Roman"/>
              </a:rPr>
              <a:t>.</a:t>
            </a:r>
            <a:endParaRPr lang="zh-TW" altLang="en-US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669816228"/>
      </p:ext>
    </p:extLst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27432" tIns="9144" rIns="27432" bIns="9144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P001｜有限電量與變動服務窗口</a:t>
            </a:r>
          </a:p>
        </p:txBody>
      </p:sp>
      <p:sp>
        <p:nvSpPr>
          <p:cNvPr id="3" name="Main teaching statement"/>
          <p:cNvSpPr txBox="1"/>
          <p:nvPr/>
        </p:nvSpPr>
        <p:spPr>
          <a:xfrm>
            <a:off x="658368" y="850392"/>
            <a:ext cx="10881360" cy="768096"/>
          </a:xfrm>
          <a:prstGeom prst="rect">
            <a:avLst/>
          </a:prstGeom>
          <a:noFill/>
          <a:ln>
            <a:noFill/>
          </a:ln>
        </p:spPr>
        <p:txBody>
          <a:bodyPr wrap="square" lIns="54864" tIns="18288" rIns="54864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有限電量的 IoT endpoint（物聯網端點）必須把資料送進會開、會關的服務窗口。過早保持 awake 會耗電；錯過窗口，資料可能延遲或過期。</a:t>
            </a:r>
          </a:p>
        </p:txBody>
      </p:sp>
      <p:sp>
        <p:nvSpPr>
          <p:cNvPr id="4" name="Visual heading"/>
          <p:cNvSpPr txBox="1"/>
          <p:nvPr/>
        </p:nvSpPr>
        <p:spPr>
          <a:xfrm>
            <a:off x="768096" y="1709928"/>
            <a:ext cx="10698480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endpoint-first：資料、窗口、電池同時存在</a:t>
            </a:r>
          </a:p>
        </p:txBody>
      </p:sp>
      <p:sp>
        <p:nvSpPr>
          <p:cNvPr id="5" name="Endpoint hero"/>
          <p:cNvSpPr/>
          <p:nvPr/>
        </p:nvSpPr>
        <p:spPr>
          <a:xfrm>
            <a:off x="877824" y="2103120"/>
            <a:ext cx="2743200" cy="1554480"/>
          </a:xfrm>
          <a:prstGeom prst="roundRect">
            <a:avLst/>
          </a:prstGeom>
          <a:solidFill>
            <a:srgbClr val="E9EDFC"/>
          </a:solidFill>
          <a:ln w="1524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Endpoint radio"/>
          <p:cNvSpPr/>
          <p:nvPr/>
        </p:nvSpPr>
        <p:spPr>
          <a:xfrm>
            <a:off x="1133856" y="2487168"/>
            <a:ext cx="621792" cy="621792"/>
          </a:xfrm>
          <a:prstGeom prst="ellipse">
            <a:avLst/>
          </a:prstGeom>
          <a:solidFill>
            <a:srgbClr val="6F89F7"/>
          </a:solidFill>
          <a:ln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Endpoint label"/>
          <p:cNvSpPr txBox="1"/>
          <p:nvPr/>
        </p:nvSpPr>
        <p:spPr>
          <a:xfrm>
            <a:off x="1847088" y="2340864"/>
            <a:ext cx="1444752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IoT endpoint</a:t>
            </a:r>
          </a:p>
        </p:txBody>
      </p:sp>
      <p:sp>
        <p:nvSpPr>
          <p:cNvPr id="8" name="Endpoint detail"/>
          <p:cNvSpPr txBox="1"/>
          <p:nvPr/>
        </p:nvSpPr>
        <p:spPr>
          <a:xfrm>
            <a:off x="1097280" y="2962656"/>
            <a:ext cx="2304288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battery → packet</a:t>
            </a:r>
          </a:p>
        </p:txBody>
      </p:sp>
      <p:cxnSp>
        <p:nvCxnSpPr>
          <p:cNvPr id="9" name="Packet path"/>
          <p:cNvCxnSpPr/>
          <p:nvPr/>
        </p:nvCxnSpPr>
        <p:spPr>
          <a:xfrm>
            <a:off x="3675887" y="2889504"/>
            <a:ext cx="4315969" cy="0"/>
          </a:xfrm>
          <a:prstGeom prst="line">
            <a:avLst/>
          </a:prstGeom>
          <a:ln w="25400">
            <a:solidFill>
              <a:srgbClr val="8468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Service window hero"/>
          <p:cNvSpPr/>
          <p:nvPr/>
        </p:nvSpPr>
        <p:spPr>
          <a:xfrm>
            <a:off x="8156448" y="2103120"/>
            <a:ext cx="3127248" cy="1554480"/>
          </a:xfrm>
          <a:prstGeom prst="roundRect">
            <a:avLst/>
          </a:prstGeom>
          <a:solidFill>
            <a:srgbClr val="FCF8E7"/>
          </a:solidFill>
          <a:ln w="1524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Window label"/>
          <p:cNvSpPr txBox="1"/>
          <p:nvPr/>
        </p:nvSpPr>
        <p:spPr>
          <a:xfrm>
            <a:off x="8394192" y="2377440"/>
            <a:ext cx="2651760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service window</a:t>
            </a:r>
          </a:p>
        </p:txBody>
      </p:sp>
      <p:sp>
        <p:nvSpPr>
          <p:cNvPr id="12" name="Window state"/>
          <p:cNvSpPr txBox="1"/>
          <p:nvPr/>
        </p:nvSpPr>
        <p:spPr>
          <a:xfrm>
            <a:off x="8485632" y="2944368"/>
            <a:ext cx="2468880" cy="329184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OPEN → CLOSE</a:t>
            </a:r>
          </a:p>
        </p:txBody>
      </p:sp>
      <p:sp>
        <p:nvSpPr>
          <p:cNvPr id="13" name="Window consequence"/>
          <p:cNvSpPr txBox="1"/>
          <p:nvPr/>
        </p:nvSpPr>
        <p:spPr>
          <a:xfrm>
            <a:off x="4041648" y="3200400"/>
            <a:ext cx="3803904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送達機會正在改變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27432" tIns="9144" rIns="27432" bIns="9144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P002｜現在送不一定最好，等一下也不一定省電</a:t>
            </a:r>
          </a:p>
        </p:txBody>
      </p:sp>
      <p:sp>
        <p:nvSpPr>
          <p:cNvPr id="3" name="Main teaching statement"/>
          <p:cNvSpPr txBox="1"/>
          <p:nvPr/>
        </p:nvSpPr>
        <p:spPr>
          <a:xfrm>
            <a:off x="658368" y="850392"/>
            <a:ext cx="10881360" cy="768096"/>
          </a:xfrm>
          <a:prstGeom prst="rect">
            <a:avLst/>
          </a:prstGeom>
          <a:noFill/>
          <a:ln>
            <a:noFill/>
          </a:ln>
        </p:spPr>
        <p:txBody>
          <a:bodyPr wrap="square" lIns="54864" tIns="18288" rIns="54864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立刻送可能守住窗口，卻付出處理與收發能量。醒著等待可能等到較好品質，卻持續消耗 awake-idle；睡眠功率低，卻增加 wake latency 與 wake energy。</a:t>
            </a:r>
          </a:p>
        </p:txBody>
      </p:sp>
      <p:sp>
        <p:nvSpPr>
          <p:cNvPr id="4" name="Visual heading"/>
          <p:cNvSpPr txBox="1"/>
          <p:nvPr/>
        </p:nvSpPr>
        <p:spPr>
          <a:xfrm>
            <a:off x="768096" y="1709928"/>
            <a:ext cx="10698480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三個合法方向與保護對象</a:t>
            </a:r>
          </a:p>
        </p:txBody>
      </p:sp>
      <p:sp>
        <p:nvSpPr>
          <p:cNvPr id="5" name="Visual panel SEND"/>
          <p:cNvSpPr/>
          <p:nvPr/>
        </p:nvSpPr>
        <p:spPr>
          <a:xfrm>
            <a:off x="749808" y="2139696"/>
            <a:ext cx="3401568" cy="175564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Visual heading SEND"/>
          <p:cNvSpPr txBox="1"/>
          <p:nvPr/>
        </p:nvSpPr>
        <p:spPr>
          <a:xfrm>
            <a:off x="877824" y="2286000"/>
            <a:ext cx="3145536" cy="310896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SEND</a:t>
            </a:r>
          </a:p>
        </p:txBody>
      </p:sp>
      <p:sp>
        <p:nvSpPr>
          <p:cNvPr id="7" name="Visual body SEND"/>
          <p:cNvSpPr txBox="1"/>
          <p:nvPr/>
        </p:nvSpPr>
        <p:spPr>
          <a:xfrm>
            <a:off x="914400" y="2743200"/>
            <a:ext cx="3072384" cy="1042415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守住窗口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付出 TX／RX／process</a:t>
            </a:r>
          </a:p>
        </p:txBody>
      </p:sp>
      <p:sp>
        <p:nvSpPr>
          <p:cNvPr id="8" name="Visual panel WAIT"/>
          <p:cNvSpPr/>
          <p:nvPr/>
        </p:nvSpPr>
        <p:spPr>
          <a:xfrm>
            <a:off x="4562856" y="2139696"/>
            <a:ext cx="3401568" cy="175564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Visual heading WAIT"/>
          <p:cNvSpPr txBox="1"/>
          <p:nvPr/>
        </p:nvSpPr>
        <p:spPr>
          <a:xfrm>
            <a:off x="4690872" y="2286000"/>
            <a:ext cx="3145536" cy="310896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WAIT</a:t>
            </a:r>
          </a:p>
        </p:txBody>
      </p:sp>
      <p:sp>
        <p:nvSpPr>
          <p:cNvPr id="10" name="Visual body WAIT"/>
          <p:cNvSpPr txBox="1"/>
          <p:nvPr/>
        </p:nvSpPr>
        <p:spPr>
          <a:xfrm>
            <a:off x="4727448" y="2743200"/>
            <a:ext cx="3072384" cy="1042415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保持反應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付出 awake-idle</a:t>
            </a:r>
          </a:p>
        </p:txBody>
      </p:sp>
      <p:sp>
        <p:nvSpPr>
          <p:cNvPr id="11" name="Visual panel SLEEP"/>
          <p:cNvSpPr/>
          <p:nvPr/>
        </p:nvSpPr>
        <p:spPr>
          <a:xfrm>
            <a:off x="8375904" y="2139696"/>
            <a:ext cx="3401568" cy="175564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Visual heading SLEEP"/>
          <p:cNvSpPr txBox="1"/>
          <p:nvPr/>
        </p:nvSpPr>
        <p:spPr>
          <a:xfrm>
            <a:off x="8503920" y="2286000"/>
            <a:ext cx="3145536" cy="310896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SLEEP</a:t>
            </a:r>
          </a:p>
        </p:txBody>
      </p:sp>
      <p:sp>
        <p:nvSpPr>
          <p:cNvPr id="13" name="Visual body SLEEP"/>
          <p:cNvSpPr txBox="1"/>
          <p:nvPr/>
        </p:nvSpPr>
        <p:spPr>
          <a:xfrm>
            <a:off x="8540496" y="2743200"/>
            <a:ext cx="3072384" cy="1042415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降低等待功率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付出 wake latency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27432" tIns="9144" rIns="27432" bIns="9144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P003｜WAIT、SLEEP、SEND：合法 action</a:t>
            </a:r>
          </a:p>
        </p:txBody>
      </p:sp>
      <p:sp>
        <p:nvSpPr>
          <p:cNvPr id="3" name="Main teaching statement"/>
          <p:cNvSpPr txBox="1"/>
          <p:nvPr/>
        </p:nvSpPr>
        <p:spPr>
          <a:xfrm>
            <a:off x="658368" y="850392"/>
            <a:ext cx="10881360" cy="768096"/>
          </a:xfrm>
          <a:prstGeom prst="rect">
            <a:avLst/>
          </a:prstGeom>
          <a:noFill/>
          <a:ln>
            <a:noFill/>
          </a:ln>
        </p:spPr>
        <p:txBody>
          <a:bodyPr wrap="square" lIns="54864" tIns="18288" rIns="54864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每一步選一個 action：WAIT（清醒閒置）、SLEEP（低功耗休息）或 SEND（傳送）。action 改變 </a:t>
            </a:r>
            <a:r>
              <a:rPr sz="24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radio state</a:t>
            </a:r>
            <a:r>
              <a:rPr sz="24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、packet 進度與服務結果。</a:t>
            </a:r>
          </a:p>
        </p:txBody>
      </p:sp>
      <p:sp>
        <p:nvSpPr>
          <p:cNvPr id="4" name="Visual heading"/>
          <p:cNvSpPr txBox="1"/>
          <p:nvPr/>
        </p:nvSpPr>
        <p:spPr>
          <a:xfrm>
            <a:off x="768096" y="1709928"/>
            <a:ext cx="10698480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action → </a:t>
            </a:r>
            <a:r>
              <a:rPr sz="2000" b="1" i="1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radio state</a:t>
            </a: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→ packet／service</a:t>
            </a:r>
          </a:p>
        </p:txBody>
      </p:sp>
      <p:sp>
        <p:nvSpPr>
          <p:cNvPr id="5" name="Action node WAIT"/>
          <p:cNvSpPr/>
          <p:nvPr/>
        </p:nvSpPr>
        <p:spPr>
          <a:xfrm>
            <a:off x="2121408" y="2139696"/>
            <a:ext cx="566928" cy="566928"/>
          </a:xfrm>
          <a:prstGeom prst="ellipse">
            <a:avLst/>
          </a:prstGeom>
          <a:solidFill>
            <a:srgbClr val="6F89F7"/>
          </a:solidFill>
          <a:ln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Action result WAIT"/>
          <p:cNvSpPr/>
          <p:nvPr/>
        </p:nvSpPr>
        <p:spPr>
          <a:xfrm>
            <a:off x="932688" y="2871216"/>
            <a:ext cx="2907792" cy="859536"/>
          </a:xfrm>
          <a:prstGeom prst="roundRect">
            <a:avLst/>
          </a:prstGeom>
          <a:noFill/>
          <a:ln w="1524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Action result text WAIT"/>
          <p:cNvSpPr txBox="1"/>
          <p:nvPr/>
        </p:nvSpPr>
        <p:spPr>
          <a:xfrm>
            <a:off x="1060704" y="3054096"/>
            <a:ext cx="2651760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awake-idle</a:t>
            </a:r>
          </a:p>
        </p:txBody>
      </p:sp>
      <p:cxnSp>
        <p:nvCxnSpPr>
          <p:cNvPr id="8" name="Action path"/>
          <p:cNvCxnSpPr/>
          <p:nvPr/>
        </p:nvCxnSpPr>
        <p:spPr>
          <a:xfrm>
            <a:off x="3840480" y="3310128"/>
            <a:ext cx="786384" cy="0"/>
          </a:xfrm>
          <a:prstGeom prst="line">
            <a:avLst/>
          </a:prstGeom>
          <a:ln w="20320">
            <a:solidFill>
              <a:srgbClr val="8468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Action node SLEEP"/>
          <p:cNvSpPr/>
          <p:nvPr/>
        </p:nvSpPr>
        <p:spPr>
          <a:xfrm>
            <a:off x="5815584" y="2139696"/>
            <a:ext cx="566928" cy="566928"/>
          </a:xfrm>
          <a:prstGeom prst="ellipse">
            <a:avLst/>
          </a:prstGeom>
          <a:solidFill>
            <a:srgbClr val="846826"/>
          </a:solidFill>
          <a:ln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Action result SLEEP"/>
          <p:cNvSpPr/>
          <p:nvPr/>
        </p:nvSpPr>
        <p:spPr>
          <a:xfrm>
            <a:off x="4626864" y="2871216"/>
            <a:ext cx="2907792" cy="859536"/>
          </a:xfrm>
          <a:prstGeom prst="roundRect">
            <a:avLst/>
          </a:prstGeom>
          <a:noFill/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Action result text SLEEP"/>
          <p:cNvSpPr txBox="1"/>
          <p:nvPr/>
        </p:nvSpPr>
        <p:spPr>
          <a:xfrm>
            <a:off x="4754880" y="3054096"/>
            <a:ext cx="2651760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wake + sleep</a:t>
            </a:r>
          </a:p>
        </p:txBody>
      </p:sp>
      <p:cxnSp>
        <p:nvCxnSpPr>
          <p:cNvPr id="12" name="Action path"/>
          <p:cNvCxnSpPr/>
          <p:nvPr/>
        </p:nvCxnSpPr>
        <p:spPr>
          <a:xfrm>
            <a:off x="7534656" y="3310128"/>
            <a:ext cx="786384" cy="0"/>
          </a:xfrm>
          <a:prstGeom prst="line">
            <a:avLst/>
          </a:prstGeom>
          <a:ln w="20320">
            <a:solidFill>
              <a:srgbClr val="8468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Action node SEND_*"/>
          <p:cNvSpPr/>
          <p:nvPr/>
        </p:nvSpPr>
        <p:spPr>
          <a:xfrm>
            <a:off x="9509760" y="2139696"/>
            <a:ext cx="566928" cy="566928"/>
          </a:xfrm>
          <a:prstGeom prst="ellipse">
            <a:avLst/>
          </a:prstGeom>
          <a:solidFill>
            <a:srgbClr val="35377F"/>
          </a:solidFill>
          <a:ln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Action result SEND_*"/>
          <p:cNvSpPr/>
          <p:nvPr/>
        </p:nvSpPr>
        <p:spPr>
          <a:xfrm>
            <a:off x="8321040" y="2871216"/>
            <a:ext cx="2907792" cy="859536"/>
          </a:xfrm>
          <a:prstGeom prst="roundRect">
            <a:avLst/>
          </a:prstGeom>
          <a:noFill/>
          <a:ln w="1524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Action result text SEND_*"/>
          <p:cNvSpPr txBox="1"/>
          <p:nvPr/>
        </p:nvSpPr>
        <p:spPr>
          <a:xfrm>
            <a:off x="8449056" y="3054096"/>
            <a:ext cx="2651760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SEND_ONE／SEND_URGENT／FLUSH_BATCH</a:t>
            </a:r>
          </a:p>
        </p:txBody>
      </p:sp>
      <p:sp>
        <p:nvSpPr>
          <p:cNvPr id="16" name="Action WAIT label"/>
          <p:cNvSpPr txBox="1"/>
          <p:nvPr/>
        </p:nvSpPr>
        <p:spPr>
          <a:xfrm>
            <a:off x="841248" y="1993392"/>
            <a:ext cx="2907792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WAIT</a:t>
            </a:r>
          </a:p>
        </p:txBody>
      </p:sp>
      <p:sp>
        <p:nvSpPr>
          <p:cNvPr id="17" name="Action SLEEP label"/>
          <p:cNvSpPr txBox="1"/>
          <p:nvPr/>
        </p:nvSpPr>
        <p:spPr>
          <a:xfrm>
            <a:off x="4535424" y="1993392"/>
            <a:ext cx="2907792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SLEEP</a:t>
            </a:r>
          </a:p>
        </p:txBody>
      </p:sp>
      <p:sp>
        <p:nvSpPr>
          <p:cNvPr id="18" name="Action SEND label"/>
          <p:cNvSpPr txBox="1"/>
          <p:nvPr/>
        </p:nvSpPr>
        <p:spPr>
          <a:xfrm>
            <a:off x="8229600" y="1993392"/>
            <a:ext cx="2907792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914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SEND_*</a:t>
            </a:r>
          </a:p>
        </p:txBody>
      </p:sp>
      <p:sp>
        <p:nvSpPr>
          <p:cNvPr id="19" name="Action safety rule"/>
          <p:cNvSpPr txBox="1"/>
          <p:nvPr/>
        </p:nvSpPr>
        <p:spPr>
          <a:xfrm>
            <a:off x="1170432" y="3822191"/>
            <a:ext cx="987552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contact_open = false → SLEEP；SEND_* 必須被拒絕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27432" tIns="9144" rIns="27432" bIns="9144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P004｜實際流程：安裝→baseline→修改→比較→網站回放</a:t>
            </a:r>
          </a:p>
        </p:txBody>
      </p:sp>
      <p:sp>
        <p:nvSpPr>
          <p:cNvPr id="3" name="Main teaching statement"/>
          <p:cNvSpPr txBox="1"/>
          <p:nvPr/>
        </p:nvSpPr>
        <p:spPr>
          <a:xfrm>
            <a:off x="658368" y="850392"/>
            <a:ext cx="10881360" cy="768096"/>
          </a:xfrm>
          <a:prstGeom prst="rect">
            <a:avLst/>
          </a:prstGeom>
          <a:noFill/>
          <a:ln>
            <a:noFill/>
          </a:ln>
        </p:spPr>
        <p:txBody>
          <a:bodyPr wrap="square" lIns="54864" tIns="18288" rIns="54864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setup Python 3.11＋`.venv` → 執行 baseline。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edit `</a:t>
            </a:r>
            <a:r>
              <a:rPr sz="24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student_policy.py</a:t>
            </a:r>
            <a:r>
              <a:rPr sz="24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` → compare state／packet／service／J → website replay。</a:t>
            </a:r>
          </a:p>
        </p:txBody>
      </p:sp>
      <p:sp>
        <p:nvSpPr>
          <p:cNvPr id="4" name="Visual heading"/>
          <p:cNvSpPr txBox="1"/>
          <p:nvPr/>
        </p:nvSpPr>
        <p:spPr>
          <a:xfrm>
            <a:off x="768096" y="1709928"/>
            <a:ext cx="10698480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四個操作階段：edit → run → read → explain</a:t>
            </a:r>
          </a:p>
        </p:txBody>
      </p:sp>
      <p:sp>
        <p:nvSpPr>
          <p:cNvPr id="5" name="Promise node 1"/>
          <p:cNvSpPr/>
          <p:nvPr/>
        </p:nvSpPr>
        <p:spPr>
          <a:xfrm>
            <a:off x="1755648" y="2157984"/>
            <a:ext cx="585216" cy="585216"/>
          </a:xfrm>
          <a:prstGeom prst="ellipse">
            <a:avLst/>
          </a:prstGeom>
          <a:solidFill>
            <a:srgbClr val="6F89F7"/>
          </a:solidFill>
          <a:ln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Promise number 1"/>
          <p:cNvSpPr txBox="1"/>
          <p:nvPr/>
        </p:nvSpPr>
        <p:spPr>
          <a:xfrm>
            <a:off x="1755648" y="2286000"/>
            <a:ext cx="58521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Times New Roman"/>
                <a:ea typeface="標楷體"/>
                <a:cs typeface="Times New Roman"/>
              </a:rPr>
              <a:t>1</a:t>
            </a:r>
          </a:p>
        </p:txBody>
      </p:sp>
      <p:sp>
        <p:nvSpPr>
          <p:cNvPr id="7" name="Promise step 改"/>
          <p:cNvSpPr/>
          <p:nvPr/>
        </p:nvSpPr>
        <p:spPr>
          <a:xfrm>
            <a:off x="859536" y="2944368"/>
            <a:ext cx="2377440" cy="786384"/>
          </a:xfrm>
          <a:prstGeom prst="roundRect">
            <a:avLst/>
          </a:prstGeom>
          <a:noFill/>
          <a:ln w="1524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Promise label 改"/>
          <p:cNvSpPr txBox="1"/>
          <p:nvPr/>
        </p:nvSpPr>
        <p:spPr>
          <a:xfrm>
            <a:off x="969264" y="3090672"/>
            <a:ext cx="2157984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改｜active marked block</a:t>
            </a:r>
          </a:p>
        </p:txBody>
      </p:sp>
      <p:cxnSp>
        <p:nvCxnSpPr>
          <p:cNvPr id="9" name="Promise arrow"/>
          <p:cNvCxnSpPr/>
          <p:nvPr/>
        </p:nvCxnSpPr>
        <p:spPr>
          <a:xfrm>
            <a:off x="3236976" y="3337560"/>
            <a:ext cx="438911" cy="0"/>
          </a:xfrm>
          <a:prstGeom prst="line">
            <a:avLst/>
          </a:prstGeom>
          <a:ln w="19050">
            <a:solidFill>
              <a:srgbClr val="8468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Promise node 2"/>
          <p:cNvSpPr/>
          <p:nvPr/>
        </p:nvSpPr>
        <p:spPr>
          <a:xfrm>
            <a:off x="4572000" y="2157984"/>
            <a:ext cx="585216" cy="585216"/>
          </a:xfrm>
          <a:prstGeom prst="ellipse">
            <a:avLst/>
          </a:prstGeom>
          <a:solidFill>
            <a:srgbClr val="846826"/>
          </a:solidFill>
          <a:ln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Promise number 2"/>
          <p:cNvSpPr txBox="1"/>
          <p:nvPr/>
        </p:nvSpPr>
        <p:spPr>
          <a:xfrm>
            <a:off x="4572000" y="2286000"/>
            <a:ext cx="58521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Times New Roman"/>
                <a:ea typeface="標楷體"/>
                <a:cs typeface="Times New Roman"/>
              </a:rPr>
              <a:t>2</a:t>
            </a:r>
          </a:p>
        </p:txBody>
      </p:sp>
      <p:sp>
        <p:nvSpPr>
          <p:cNvPr id="12" name="Promise step 跑"/>
          <p:cNvSpPr/>
          <p:nvPr/>
        </p:nvSpPr>
        <p:spPr>
          <a:xfrm>
            <a:off x="3675887" y="2944368"/>
            <a:ext cx="2377440" cy="786384"/>
          </a:xfrm>
          <a:prstGeom prst="roundRect">
            <a:avLst/>
          </a:prstGeom>
          <a:noFill/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Promise label 跑"/>
          <p:cNvSpPr txBox="1"/>
          <p:nvPr/>
        </p:nvSpPr>
        <p:spPr>
          <a:xfrm>
            <a:off x="3785615" y="3090672"/>
            <a:ext cx="2157984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跑｜exact case</a:t>
            </a:r>
          </a:p>
        </p:txBody>
      </p:sp>
      <p:cxnSp>
        <p:nvCxnSpPr>
          <p:cNvPr id="14" name="Promise arrow"/>
          <p:cNvCxnSpPr/>
          <p:nvPr/>
        </p:nvCxnSpPr>
        <p:spPr>
          <a:xfrm>
            <a:off x="6053327" y="3337560"/>
            <a:ext cx="438913" cy="0"/>
          </a:xfrm>
          <a:prstGeom prst="line">
            <a:avLst/>
          </a:prstGeom>
          <a:ln w="19050">
            <a:solidFill>
              <a:srgbClr val="8468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Promise node 3"/>
          <p:cNvSpPr/>
          <p:nvPr/>
        </p:nvSpPr>
        <p:spPr>
          <a:xfrm>
            <a:off x="7388352" y="2157984"/>
            <a:ext cx="585216" cy="585216"/>
          </a:xfrm>
          <a:prstGeom prst="ellipse">
            <a:avLst/>
          </a:prstGeom>
          <a:solidFill>
            <a:srgbClr val="6F89F7"/>
          </a:solidFill>
          <a:ln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Promise number 3"/>
          <p:cNvSpPr txBox="1"/>
          <p:nvPr/>
        </p:nvSpPr>
        <p:spPr>
          <a:xfrm>
            <a:off x="7388352" y="2286000"/>
            <a:ext cx="58521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Times New Roman"/>
                <a:ea typeface="標楷體"/>
                <a:cs typeface="Times New Roman"/>
              </a:rPr>
              <a:t>3</a:t>
            </a:r>
          </a:p>
        </p:txBody>
      </p:sp>
      <p:sp>
        <p:nvSpPr>
          <p:cNvPr id="17" name="Promise step 讀"/>
          <p:cNvSpPr/>
          <p:nvPr/>
        </p:nvSpPr>
        <p:spPr>
          <a:xfrm>
            <a:off x="6492240" y="2944368"/>
            <a:ext cx="2377440" cy="786384"/>
          </a:xfrm>
          <a:prstGeom prst="roundRect">
            <a:avLst/>
          </a:prstGeom>
          <a:noFill/>
          <a:ln w="1524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Promise label 讀"/>
          <p:cNvSpPr txBox="1"/>
          <p:nvPr/>
        </p:nvSpPr>
        <p:spPr>
          <a:xfrm>
            <a:off x="6601968" y="3090672"/>
            <a:ext cx="2157984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讀｜result／replay</a:t>
            </a:r>
          </a:p>
        </p:txBody>
      </p:sp>
      <p:cxnSp>
        <p:nvCxnSpPr>
          <p:cNvPr id="19" name="Promise arrow"/>
          <p:cNvCxnSpPr/>
          <p:nvPr/>
        </p:nvCxnSpPr>
        <p:spPr>
          <a:xfrm>
            <a:off x="8869680" y="3337560"/>
            <a:ext cx="438912" cy="0"/>
          </a:xfrm>
          <a:prstGeom prst="line">
            <a:avLst/>
          </a:prstGeom>
          <a:ln w="19050">
            <a:solidFill>
              <a:srgbClr val="8468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Promise node 4"/>
          <p:cNvSpPr/>
          <p:nvPr/>
        </p:nvSpPr>
        <p:spPr>
          <a:xfrm>
            <a:off x="10204704" y="2157984"/>
            <a:ext cx="585216" cy="585216"/>
          </a:xfrm>
          <a:prstGeom prst="ellipse">
            <a:avLst/>
          </a:prstGeom>
          <a:solidFill>
            <a:srgbClr val="846826"/>
          </a:solidFill>
          <a:ln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Promise number 4"/>
          <p:cNvSpPr txBox="1"/>
          <p:nvPr/>
        </p:nvSpPr>
        <p:spPr>
          <a:xfrm>
            <a:off x="10204704" y="2286000"/>
            <a:ext cx="58521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Times New Roman"/>
                <a:ea typeface="標楷體"/>
                <a:cs typeface="Times New Roman"/>
              </a:rPr>
              <a:t>4</a:t>
            </a:r>
          </a:p>
        </p:txBody>
      </p:sp>
      <p:sp>
        <p:nvSpPr>
          <p:cNvPr id="22" name="Promise step 解釋"/>
          <p:cNvSpPr/>
          <p:nvPr/>
        </p:nvSpPr>
        <p:spPr>
          <a:xfrm>
            <a:off x="9308592" y="2944368"/>
            <a:ext cx="2377440" cy="786384"/>
          </a:xfrm>
          <a:prstGeom prst="roundRect">
            <a:avLst/>
          </a:prstGeom>
          <a:noFill/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Promise label 解釋"/>
          <p:cNvSpPr txBox="1"/>
          <p:nvPr/>
        </p:nvSpPr>
        <p:spPr>
          <a:xfrm>
            <a:off x="9418319" y="3090672"/>
            <a:ext cx="2157984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解釋｜policy → event → J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27432" tIns="9144" rIns="27432" bIns="9144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P005｜因果鏈與 </a:t>
            </a:r>
            <a:r>
              <a:rPr sz="2800" b="1" i="1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endpoint J</a:t>
            </a:r>
          </a:p>
        </p:txBody>
      </p:sp>
      <p:sp>
        <p:nvSpPr>
          <p:cNvPr id="3" name="Main teaching statement"/>
          <p:cNvSpPr txBox="1"/>
          <p:nvPr/>
        </p:nvSpPr>
        <p:spPr>
          <a:xfrm>
            <a:off x="658368" y="850392"/>
            <a:ext cx="10881360" cy="768096"/>
          </a:xfrm>
          <a:prstGeom prst="rect">
            <a:avLst/>
          </a:prstGeom>
          <a:noFill/>
          <a:ln>
            <a:noFill/>
          </a:ln>
        </p:spPr>
        <p:txBody>
          <a:bodyPr wrap="square" lIns="54864" tIns="18288" rIns="54864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endpoint energy J（焦耳）由 state time、packet outcome 與 service 累積。中間任何一段沒有差異，最後的變化不歸因給這次修改。</a:t>
            </a:r>
          </a:p>
        </p:txBody>
      </p:sp>
      <p:sp>
        <p:nvSpPr>
          <p:cNvPr id="4" name="Visual heading"/>
          <p:cNvSpPr txBox="1"/>
          <p:nvPr/>
        </p:nvSpPr>
        <p:spPr>
          <a:xfrm>
            <a:off x="768096" y="1709928"/>
            <a:ext cx="10698480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每一段回到 result 或 replay</a:t>
            </a:r>
          </a:p>
        </p:txBody>
      </p:sp>
      <p:sp>
        <p:nvSpPr>
          <p:cNvPr id="5" name="Causal node 1"/>
          <p:cNvSpPr/>
          <p:nvPr/>
        </p:nvSpPr>
        <p:spPr>
          <a:xfrm>
            <a:off x="713232" y="2468880"/>
            <a:ext cx="1700784" cy="786384"/>
          </a:xfrm>
          <a:prstGeom prst="roundRect">
            <a:avLst/>
          </a:prstGeom>
          <a:noFill/>
          <a:ln w="1524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ausal node label 1"/>
          <p:cNvSpPr txBox="1"/>
          <p:nvPr/>
        </p:nvSpPr>
        <p:spPr>
          <a:xfrm>
            <a:off x="768096" y="2688336"/>
            <a:ext cx="159105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observation</a:t>
            </a:r>
          </a:p>
        </p:txBody>
      </p:sp>
      <p:cxnSp>
        <p:nvCxnSpPr>
          <p:cNvPr id="7" name="Causal arrow"/>
          <p:cNvCxnSpPr/>
          <p:nvPr/>
        </p:nvCxnSpPr>
        <p:spPr>
          <a:xfrm>
            <a:off x="2414016" y="2862072"/>
            <a:ext cx="201168" cy="0"/>
          </a:xfrm>
          <a:prstGeom prst="line">
            <a:avLst/>
          </a:prstGeom>
          <a:ln w="17780">
            <a:solidFill>
              <a:srgbClr val="8468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Causal node 2"/>
          <p:cNvSpPr/>
          <p:nvPr/>
        </p:nvSpPr>
        <p:spPr>
          <a:xfrm>
            <a:off x="2615184" y="2468880"/>
            <a:ext cx="1700784" cy="786384"/>
          </a:xfrm>
          <a:prstGeom prst="roundRect">
            <a:avLst/>
          </a:prstGeom>
          <a:noFill/>
          <a:ln w="1524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Causal node label 2"/>
          <p:cNvSpPr txBox="1"/>
          <p:nvPr/>
        </p:nvSpPr>
        <p:spPr>
          <a:xfrm>
            <a:off x="2670048" y="2688336"/>
            <a:ext cx="159105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policy</a:t>
            </a:r>
          </a:p>
        </p:txBody>
      </p:sp>
      <p:cxnSp>
        <p:nvCxnSpPr>
          <p:cNvPr id="10" name="Causal arrow"/>
          <p:cNvCxnSpPr/>
          <p:nvPr/>
        </p:nvCxnSpPr>
        <p:spPr>
          <a:xfrm>
            <a:off x="4315968" y="2862072"/>
            <a:ext cx="201168" cy="0"/>
          </a:xfrm>
          <a:prstGeom prst="line">
            <a:avLst/>
          </a:prstGeom>
          <a:ln w="17780">
            <a:solidFill>
              <a:srgbClr val="8468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Causal node 3"/>
          <p:cNvSpPr/>
          <p:nvPr/>
        </p:nvSpPr>
        <p:spPr>
          <a:xfrm>
            <a:off x="4517136" y="2468880"/>
            <a:ext cx="1700784" cy="786384"/>
          </a:xfrm>
          <a:prstGeom prst="roundRect">
            <a:avLst/>
          </a:prstGeom>
          <a:noFill/>
          <a:ln w="1524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ausal node label 3"/>
          <p:cNvSpPr txBox="1"/>
          <p:nvPr/>
        </p:nvSpPr>
        <p:spPr>
          <a:xfrm>
            <a:off x="4572000" y="2688336"/>
            <a:ext cx="159105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action</a:t>
            </a:r>
          </a:p>
        </p:txBody>
      </p:sp>
      <p:cxnSp>
        <p:nvCxnSpPr>
          <p:cNvPr id="13" name="Causal arrow"/>
          <p:cNvCxnSpPr/>
          <p:nvPr/>
        </p:nvCxnSpPr>
        <p:spPr>
          <a:xfrm>
            <a:off x="6217920" y="2862072"/>
            <a:ext cx="201168" cy="0"/>
          </a:xfrm>
          <a:prstGeom prst="line">
            <a:avLst/>
          </a:prstGeom>
          <a:ln w="17780">
            <a:solidFill>
              <a:srgbClr val="8468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Causal node 4"/>
          <p:cNvSpPr/>
          <p:nvPr/>
        </p:nvSpPr>
        <p:spPr>
          <a:xfrm>
            <a:off x="6419088" y="2468880"/>
            <a:ext cx="1700784" cy="786384"/>
          </a:xfrm>
          <a:prstGeom prst="roundRect">
            <a:avLst/>
          </a:prstGeom>
          <a:noFill/>
          <a:ln w="1524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ausal node label 4"/>
          <p:cNvSpPr txBox="1"/>
          <p:nvPr/>
        </p:nvSpPr>
        <p:spPr>
          <a:xfrm>
            <a:off x="6473952" y="2688336"/>
            <a:ext cx="159105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state / packet</a:t>
            </a:r>
          </a:p>
        </p:txBody>
      </p:sp>
      <p:cxnSp>
        <p:nvCxnSpPr>
          <p:cNvPr id="16" name="Causal arrow"/>
          <p:cNvCxnSpPr/>
          <p:nvPr/>
        </p:nvCxnSpPr>
        <p:spPr>
          <a:xfrm>
            <a:off x="8119872" y="2862072"/>
            <a:ext cx="201168" cy="0"/>
          </a:xfrm>
          <a:prstGeom prst="line">
            <a:avLst/>
          </a:prstGeom>
          <a:ln w="17780">
            <a:solidFill>
              <a:srgbClr val="8468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Causal node 5"/>
          <p:cNvSpPr/>
          <p:nvPr/>
        </p:nvSpPr>
        <p:spPr>
          <a:xfrm>
            <a:off x="8321040" y="2468880"/>
            <a:ext cx="1700784" cy="786384"/>
          </a:xfrm>
          <a:prstGeom prst="roundRect">
            <a:avLst/>
          </a:prstGeom>
          <a:noFill/>
          <a:ln w="1524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Causal node label 5"/>
          <p:cNvSpPr txBox="1"/>
          <p:nvPr/>
        </p:nvSpPr>
        <p:spPr>
          <a:xfrm>
            <a:off x="8375904" y="2688336"/>
            <a:ext cx="159105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service</a:t>
            </a:r>
          </a:p>
        </p:txBody>
      </p:sp>
      <p:cxnSp>
        <p:nvCxnSpPr>
          <p:cNvPr id="19" name="Causal arrow"/>
          <p:cNvCxnSpPr/>
          <p:nvPr/>
        </p:nvCxnSpPr>
        <p:spPr>
          <a:xfrm>
            <a:off x="10021824" y="2862072"/>
            <a:ext cx="201168" cy="0"/>
          </a:xfrm>
          <a:prstGeom prst="line">
            <a:avLst/>
          </a:prstGeom>
          <a:ln w="17780">
            <a:solidFill>
              <a:srgbClr val="8468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Causal node 6"/>
          <p:cNvSpPr/>
          <p:nvPr/>
        </p:nvSpPr>
        <p:spPr>
          <a:xfrm>
            <a:off x="10222992" y="2468880"/>
            <a:ext cx="1700784" cy="786384"/>
          </a:xfrm>
          <a:prstGeom prst="roundRect">
            <a:avLst/>
          </a:prstGeom>
          <a:noFill/>
          <a:ln w="1524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Causal node label 6"/>
          <p:cNvSpPr txBox="1"/>
          <p:nvPr/>
        </p:nvSpPr>
        <p:spPr>
          <a:xfrm>
            <a:off x="10277856" y="2688336"/>
            <a:ext cx="159105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endpoint J</a:t>
            </a:r>
          </a:p>
        </p:txBody>
      </p:sp>
      <p:sp>
        <p:nvSpPr>
          <p:cNvPr id="22" name="Causal rule"/>
          <p:cNvSpPr txBox="1"/>
          <p:nvPr/>
        </p:nvSpPr>
        <p:spPr>
          <a:xfrm>
            <a:off x="1298448" y="3529584"/>
            <a:ext cx="9601200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service → J；中間差異支援因果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27432" tIns="9144" rIns="27432" bIns="9144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P006｜LoRaEnergySim endpoint runner 的必要性</a:t>
            </a:r>
          </a:p>
        </p:txBody>
      </p:sp>
      <p:sp>
        <p:nvSpPr>
          <p:cNvPr id="3" name="Main teaching statement"/>
          <p:cNvSpPr txBox="1"/>
          <p:nvPr/>
        </p:nvSpPr>
        <p:spPr>
          <a:xfrm>
            <a:off x="658368" y="850392"/>
            <a:ext cx="10881360" cy="768096"/>
          </a:xfrm>
          <a:prstGeom prst="rect">
            <a:avLst/>
          </a:prstGeom>
          <a:noFill/>
          <a:ln>
            <a:noFill/>
          </a:ln>
        </p:spPr>
        <p:txBody>
          <a:bodyPr wrap="square" lIns="54864" tIns="18288" rIns="54864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LoRaEnergySim runner：固定 scenario／policy／seed，重跑 endpoint case。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state／packet／service／J 形成 evidence；live telemetry 屬於另一類。</a:t>
            </a:r>
          </a:p>
        </p:txBody>
      </p:sp>
      <p:sp>
        <p:nvSpPr>
          <p:cNvPr id="4" name="Visual heading"/>
          <p:cNvSpPr txBox="1"/>
          <p:nvPr/>
        </p:nvSpPr>
        <p:spPr>
          <a:xfrm>
            <a:off x="768096" y="1709928"/>
            <a:ext cx="10698480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endpoint runner 的 evidence 範圍</a:t>
            </a:r>
          </a:p>
        </p:txBody>
      </p:sp>
      <p:sp>
        <p:nvSpPr>
          <p:cNvPr id="5" name="Visual panel ENDPOINT EVIDENCE"/>
          <p:cNvSpPr/>
          <p:nvPr/>
        </p:nvSpPr>
        <p:spPr>
          <a:xfrm>
            <a:off x="768096" y="2084831"/>
            <a:ext cx="5157216" cy="175564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Visual heading ENDPOINT EVIDENCE"/>
          <p:cNvSpPr txBox="1"/>
          <p:nvPr/>
        </p:nvSpPr>
        <p:spPr>
          <a:xfrm>
            <a:off x="896112" y="2231136"/>
            <a:ext cx="4901183" cy="310896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ENDPOINT EVIDENCE</a:t>
            </a:r>
          </a:p>
        </p:txBody>
      </p:sp>
      <p:sp>
        <p:nvSpPr>
          <p:cNvPr id="7" name="Visual body ENDPOINT EVIDENCE"/>
          <p:cNvSpPr txBox="1"/>
          <p:nvPr/>
        </p:nvSpPr>
        <p:spPr>
          <a:xfrm>
            <a:off x="932688" y="2688336"/>
            <a:ext cx="4828031" cy="1042415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sleep／awake-idle／TX／RX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attempt／retry／delivery／expiry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endpoint J</a:t>
            </a: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 與 service 結果</a:t>
            </a:r>
          </a:p>
        </p:txBody>
      </p:sp>
      <p:sp>
        <p:nvSpPr>
          <p:cNvPr id="8" name="Visual panel CLAIM CEILING"/>
          <p:cNvSpPr/>
          <p:nvPr/>
        </p:nvSpPr>
        <p:spPr>
          <a:xfrm>
            <a:off x="6254496" y="2084831"/>
            <a:ext cx="5157216" cy="175564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Visual heading CLAIM CEILING"/>
          <p:cNvSpPr txBox="1"/>
          <p:nvPr/>
        </p:nvSpPr>
        <p:spPr>
          <a:xfrm>
            <a:off x="6382512" y="2231136"/>
            <a:ext cx="4901183" cy="310896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CLAIM CEILING</a:t>
            </a:r>
          </a:p>
        </p:txBody>
      </p:sp>
      <p:sp>
        <p:nvSpPr>
          <p:cNvPr id="10" name="Visual body CLAIM CEILING"/>
          <p:cNvSpPr txBox="1"/>
          <p:nvPr/>
        </p:nvSpPr>
        <p:spPr>
          <a:xfrm>
            <a:off x="6419088" y="2688336"/>
            <a:ext cx="4828031" cy="1042415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live telemetry 與 wall-plug energy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upstream repository execution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whole-system consumed J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27432" tIns="9144" rIns="27432" bIns="9144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P007｜LEO：changing service window 的例子</a:t>
            </a:r>
          </a:p>
        </p:txBody>
      </p:sp>
      <p:sp>
        <p:nvSpPr>
          <p:cNvPr id="3" name="Main teaching statement"/>
          <p:cNvSpPr txBox="1"/>
          <p:nvPr/>
        </p:nvSpPr>
        <p:spPr>
          <a:xfrm>
            <a:off x="658368" y="850392"/>
            <a:ext cx="10881360" cy="768096"/>
          </a:xfrm>
          <a:prstGeom prst="rect">
            <a:avLst/>
          </a:prstGeom>
          <a:noFill/>
          <a:ln>
            <a:noFill/>
          </a:ln>
        </p:spPr>
        <p:txBody>
          <a:bodyPr wrap="square" lIns="54864" tIns="18288" rIns="54864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LEO 範例採用預先定義的 changing-service-window trace，作為 endpoint 傳輸時機的輸入。窗口會開、會關、會變短，品質也可能變動。</a:t>
            </a:r>
          </a:p>
        </p:txBody>
      </p:sp>
      <p:sp>
        <p:nvSpPr>
          <p:cNvPr id="4" name="Visual heading"/>
          <p:cNvSpPr txBox="1"/>
          <p:nvPr/>
        </p:nvSpPr>
        <p:spPr>
          <a:xfrm>
            <a:off x="768096" y="1709928"/>
            <a:ext cx="10698480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LEO = changing service window worked example</a:t>
            </a:r>
          </a:p>
        </p:txBody>
      </p:sp>
      <p:cxnSp>
        <p:nvCxnSpPr>
          <p:cNvPr id="5" name="LEO window axis"/>
          <p:cNvCxnSpPr/>
          <p:nvPr/>
        </p:nvCxnSpPr>
        <p:spPr>
          <a:xfrm>
            <a:off x="1060704" y="2871216"/>
            <a:ext cx="9985248" cy="0"/>
          </a:xfrm>
          <a:prstGeom prst="line">
            <a:avLst/>
          </a:prstGeom>
          <a:ln w="2540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LEO stage 機會出現"/>
          <p:cNvSpPr/>
          <p:nvPr/>
        </p:nvSpPr>
        <p:spPr>
          <a:xfrm>
            <a:off x="1243584" y="2615184"/>
            <a:ext cx="530352" cy="530352"/>
          </a:xfrm>
          <a:prstGeom prst="ellipse">
            <a:avLst/>
          </a:prstGeom>
          <a:solidFill>
            <a:srgbClr val="6F89F7"/>
          </a:solidFill>
          <a:ln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LEO label 機會出現"/>
          <p:cNvSpPr txBox="1"/>
          <p:nvPr/>
        </p:nvSpPr>
        <p:spPr>
          <a:xfrm>
            <a:off x="804672" y="3246120"/>
            <a:ext cx="1444752" cy="310896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機會出現</a:t>
            </a:r>
          </a:p>
        </p:txBody>
      </p:sp>
      <p:sp>
        <p:nvSpPr>
          <p:cNvPr id="8" name="LEO stage policy 選擇"/>
          <p:cNvSpPr/>
          <p:nvPr/>
        </p:nvSpPr>
        <p:spPr>
          <a:xfrm>
            <a:off x="3931920" y="2615184"/>
            <a:ext cx="530352" cy="530352"/>
          </a:xfrm>
          <a:prstGeom prst="ellipse">
            <a:avLst/>
          </a:prstGeom>
          <a:solidFill>
            <a:srgbClr val="846826"/>
          </a:solidFill>
          <a:ln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LEO label policy 選擇"/>
          <p:cNvSpPr txBox="1"/>
          <p:nvPr/>
        </p:nvSpPr>
        <p:spPr>
          <a:xfrm>
            <a:off x="3493008" y="3246120"/>
            <a:ext cx="1444752" cy="310896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policy 選擇</a:t>
            </a:r>
          </a:p>
        </p:txBody>
      </p:sp>
      <p:sp>
        <p:nvSpPr>
          <p:cNvPr id="10" name="LEO stage 送／等"/>
          <p:cNvSpPr/>
          <p:nvPr/>
        </p:nvSpPr>
        <p:spPr>
          <a:xfrm>
            <a:off x="6711696" y="2615184"/>
            <a:ext cx="530352" cy="530352"/>
          </a:xfrm>
          <a:prstGeom prst="ellipse">
            <a:avLst/>
          </a:prstGeom>
          <a:solidFill>
            <a:srgbClr val="6F89F7"/>
          </a:solidFill>
          <a:ln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LEO label 送／等"/>
          <p:cNvSpPr txBox="1"/>
          <p:nvPr/>
        </p:nvSpPr>
        <p:spPr>
          <a:xfrm>
            <a:off x="6272783" y="3246120"/>
            <a:ext cx="1444752" cy="310896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送／等</a:t>
            </a:r>
          </a:p>
        </p:txBody>
      </p:sp>
      <p:sp>
        <p:nvSpPr>
          <p:cNvPr id="12" name="LEO stage service／J"/>
          <p:cNvSpPr/>
          <p:nvPr/>
        </p:nvSpPr>
        <p:spPr>
          <a:xfrm>
            <a:off x="9381744" y="2615184"/>
            <a:ext cx="530352" cy="530352"/>
          </a:xfrm>
          <a:prstGeom prst="ellipse">
            <a:avLst/>
          </a:prstGeom>
          <a:solidFill>
            <a:srgbClr val="35377F"/>
          </a:solidFill>
          <a:ln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LEO label service／J"/>
          <p:cNvSpPr txBox="1"/>
          <p:nvPr/>
        </p:nvSpPr>
        <p:spPr>
          <a:xfrm>
            <a:off x="8942832" y="3246120"/>
            <a:ext cx="1444752" cy="310896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service／J</a:t>
            </a:r>
          </a:p>
        </p:txBody>
      </p:sp>
      <p:sp>
        <p:nvSpPr>
          <p:cNvPr id="14" name="LEO transfer band"/>
          <p:cNvSpPr/>
          <p:nvPr/>
        </p:nvSpPr>
        <p:spPr>
          <a:xfrm>
            <a:off x="1097280" y="3657600"/>
            <a:ext cx="10012680" cy="493776"/>
          </a:xfrm>
          <a:prstGeom prst="roundRect">
            <a:avLst/>
          </a:prstGeom>
          <a:noFill/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LEO transfer text"/>
          <p:cNvSpPr txBox="1"/>
          <p:nvPr/>
        </p:nvSpPr>
        <p:spPr>
          <a:xfrm>
            <a:off x="1280160" y="3767328"/>
            <a:ext cx="9646920" cy="237744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同一機制可轉到田區上傳、HVAC 低負載、物流或 edge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27432" tIns="9144" rIns="27432" bIns="9144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P008｜從預測到結果：每次修改留下證據</a:t>
            </a:r>
          </a:p>
        </p:txBody>
      </p:sp>
      <p:sp>
        <p:nvSpPr>
          <p:cNvPr id="3" name="Main teaching statement"/>
          <p:cNvSpPr txBox="1"/>
          <p:nvPr/>
        </p:nvSpPr>
        <p:spPr>
          <a:xfrm>
            <a:off x="658368" y="850392"/>
            <a:ext cx="10881360" cy="768096"/>
          </a:xfrm>
          <a:prstGeom prst="rect">
            <a:avLst/>
          </a:prstGeom>
          <a:noFill/>
          <a:ln>
            <a:noFill/>
          </a:ln>
        </p:spPr>
        <p:txBody>
          <a:bodyPr wrap="square" lIns="54864" tIns="18288" rIns="54864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預測 state／packet／service／</a:t>
            </a:r>
            <a:r>
              <a:rPr sz="24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endpoint J</a:t>
            </a:r>
            <a:r>
              <a:rPr sz="24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，修改 policy 並執行 exact case。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withheld case 固定 policy，不重新調參。</a:t>
            </a:r>
          </a:p>
        </p:txBody>
      </p:sp>
      <p:sp>
        <p:nvSpPr>
          <p:cNvPr id="4" name="Visual heading"/>
          <p:cNvSpPr txBox="1"/>
          <p:nvPr/>
        </p:nvSpPr>
        <p:spPr>
          <a:xfrm>
            <a:off x="768096" y="1709928"/>
            <a:ext cx="10698480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predict → edit → run → read → withheld</a:t>
            </a:r>
          </a:p>
        </p:txBody>
      </p:sp>
      <p:sp>
        <p:nvSpPr>
          <p:cNvPr id="5" name="Loop node predict"/>
          <p:cNvSpPr/>
          <p:nvPr/>
        </p:nvSpPr>
        <p:spPr>
          <a:xfrm>
            <a:off x="1572768" y="2148840"/>
            <a:ext cx="566928" cy="566928"/>
          </a:xfrm>
          <a:prstGeom prst="ellipse">
            <a:avLst/>
          </a:prstGeom>
          <a:solidFill>
            <a:srgbClr val="6F89F7"/>
          </a:solidFill>
          <a:ln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Loop label predict"/>
          <p:cNvSpPr txBox="1"/>
          <p:nvPr/>
        </p:nvSpPr>
        <p:spPr>
          <a:xfrm>
            <a:off x="1225295" y="2807208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predict</a:t>
            </a:r>
          </a:p>
        </p:txBody>
      </p:sp>
      <p:cxnSp>
        <p:nvCxnSpPr>
          <p:cNvPr id="7" name="Loop path"/>
          <p:cNvCxnSpPr/>
          <p:nvPr/>
        </p:nvCxnSpPr>
        <p:spPr>
          <a:xfrm flipV="1">
            <a:off x="2139696" y="2139696"/>
            <a:ext cx="1993391" cy="292608"/>
          </a:xfrm>
          <a:prstGeom prst="line">
            <a:avLst/>
          </a:prstGeom>
          <a:ln w="1397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Loop node bounded edit"/>
          <p:cNvSpPr/>
          <p:nvPr/>
        </p:nvSpPr>
        <p:spPr>
          <a:xfrm>
            <a:off x="4133087" y="1856231"/>
            <a:ext cx="566928" cy="566928"/>
          </a:xfrm>
          <a:prstGeom prst="ellipse">
            <a:avLst/>
          </a:prstGeom>
          <a:solidFill>
            <a:srgbClr val="846826"/>
          </a:solidFill>
          <a:ln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Loop label bounded edit"/>
          <p:cNvSpPr txBox="1"/>
          <p:nvPr/>
        </p:nvSpPr>
        <p:spPr>
          <a:xfrm>
            <a:off x="3785615" y="2514600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bounded edit</a:t>
            </a:r>
          </a:p>
        </p:txBody>
      </p:sp>
      <p:cxnSp>
        <p:nvCxnSpPr>
          <p:cNvPr id="10" name="Loop path"/>
          <p:cNvCxnSpPr/>
          <p:nvPr/>
        </p:nvCxnSpPr>
        <p:spPr>
          <a:xfrm>
            <a:off x="4700016" y="2139696"/>
            <a:ext cx="2029968" cy="292608"/>
          </a:xfrm>
          <a:prstGeom prst="line">
            <a:avLst/>
          </a:prstGeom>
          <a:ln w="1397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Loop node exact run"/>
          <p:cNvSpPr/>
          <p:nvPr/>
        </p:nvSpPr>
        <p:spPr>
          <a:xfrm>
            <a:off x="6729984" y="2148840"/>
            <a:ext cx="566928" cy="566928"/>
          </a:xfrm>
          <a:prstGeom prst="ellipse">
            <a:avLst/>
          </a:prstGeom>
          <a:solidFill>
            <a:srgbClr val="6F89F7"/>
          </a:solidFill>
          <a:ln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Loop label exact run"/>
          <p:cNvSpPr txBox="1"/>
          <p:nvPr/>
        </p:nvSpPr>
        <p:spPr>
          <a:xfrm>
            <a:off x="6382512" y="2807208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exact run</a:t>
            </a:r>
          </a:p>
        </p:txBody>
      </p:sp>
      <p:cxnSp>
        <p:nvCxnSpPr>
          <p:cNvPr id="13" name="Loop path"/>
          <p:cNvCxnSpPr/>
          <p:nvPr/>
        </p:nvCxnSpPr>
        <p:spPr>
          <a:xfrm>
            <a:off x="7296912" y="2432304"/>
            <a:ext cx="1463040" cy="1289303"/>
          </a:xfrm>
          <a:prstGeom prst="line">
            <a:avLst/>
          </a:prstGeom>
          <a:ln w="1397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Loop node result／replay"/>
          <p:cNvSpPr/>
          <p:nvPr/>
        </p:nvSpPr>
        <p:spPr>
          <a:xfrm>
            <a:off x="8759952" y="3438144"/>
            <a:ext cx="566928" cy="566928"/>
          </a:xfrm>
          <a:prstGeom prst="ellipse">
            <a:avLst/>
          </a:prstGeom>
          <a:solidFill>
            <a:srgbClr val="846826"/>
          </a:solidFill>
          <a:ln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Loop label result／replay"/>
          <p:cNvSpPr txBox="1"/>
          <p:nvPr/>
        </p:nvSpPr>
        <p:spPr>
          <a:xfrm>
            <a:off x="8412480" y="4096511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result／replay</a:t>
            </a:r>
          </a:p>
        </p:txBody>
      </p:sp>
      <p:cxnSp>
        <p:nvCxnSpPr>
          <p:cNvPr id="16" name="Loop path"/>
          <p:cNvCxnSpPr/>
          <p:nvPr/>
        </p:nvCxnSpPr>
        <p:spPr>
          <a:xfrm flipH="1">
            <a:off x="6729984" y="3721607"/>
            <a:ext cx="2596896" cy="402337"/>
          </a:xfrm>
          <a:prstGeom prst="line">
            <a:avLst/>
          </a:prstGeom>
          <a:ln w="1397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Loop node frozen"/>
          <p:cNvSpPr/>
          <p:nvPr/>
        </p:nvSpPr>
        <p:spPr>
          <a:xfrm>
            <a:off x="6729984" y="3840480"/>
            <a:ext cx="566928" cy="566928"/>
          </a:xfrm>
          <a:prstGeom prst="ellipse">
            <a:avLst/>
          </a:prstGeom>
          <a:solidFill>
            <a:srgbClr val="6F89F7"/>
          </a:solidFill>
          <a:ln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Loop label frozen"/>
          <p:cNvSpPr txBox="1"/>
          <p:nvPr/>
        </p:nvSpPr>
        <p:spPr>
          <a:xfrm>
            <a:off x="6382512" y="4498848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frozen</a:t>
            </a:r>
          </a:p>
        </p:txBody>
      </p:sp>
      <p:cxnSp>
        <p:nvCxnSpPr>
          <p:cNvPr id="19" name="Loop path"/>
          <p:cNvCxnSpPr/>
          <p:nvPr/>
        </p:nvCxnSpPr>
        <p:spPr>
          <a:xfrm flipH="1">
            <a:off x="4133087" y="4123944"/>
            <a:ext cx="3163825" cy="274320"/>
          </a:xfrm>
          <a:prstGeom prst="line">
            <a:avLst/>
          </a:prstGeom>
          <a:ln w="1397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Loop node withheld"/>
          <p:cNvSpPr/>
          <p:nvPr/>
        </p:nvSpPr>
        <p:spPr>
          <a:xfrm>
            <a:off x="4133087" y="4114800"/>
            <a:ext cx="566928" cy="566928"/>
          </a:xfrm>
          <a:prstGeom prst="ellipse">
            <a:avLst/>
          </a:prstGeom>
          <a:solidFill>
            <a:srgbClr val="846826"/>
          </a:solidFill>
          <a:ln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Loop label withheld"/>
          <p:cNvSpPr txBox="1"/>
          <p:nvPr/>
        </p:nvSpPr>
        <p:spPr>
          <a:xfrm>
            <a:off x="3785615" y="4773168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withheld</a:t>
            </a:r>
          </a:p>
        </p:txBody>
      </p:sp>
      <p:sp>
        <p:nvSpPr>
          <p:cNvPr id="22" name="Loop rule"/>
          <p:cNvSpPr txBox="1"/>
          <p:nvPr/>
        </p:nvSpPr>
        <p:spPr>
          <a:xfrm>
            <a:off x="1408176" y="2962656"/>
            <a:ext cx="3200400" cy="475488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withheld 固定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不重新調參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27432" tIns="9144" rIns="27432" bIns="9144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P009｜claim 與來源邊界</a:t>
            </a:r>
          </a:p>
        </p:txBody>
      </p:sp>
      <p:sp>
        <p:nvSpPr>
          <p:cNvPr id="3" name="Main teaching statement"/>
          <p:cNvSpPr txBox="1"/>
          <p:nvPr/>
        </p:nvSpPr>
        <p:spPr>
          <a:xfrm>
            <a:off x="658368" y="850392"/>
            <a:ext cx="10881360" cy="768096"/>
          </a:xfrm>
          <a:prstGeom prst="rect">
            <a:avLst/>
          </a:prstGeom>
          <a:noFill/>
          <a:ln>
            <a:noFill/>
          </a:ln>
        </p:spPr>
        <p:txBody>
          <a:bodyPr wrap="square" lIns="54864" tIns="18288" rIns="54864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result／replay = simulated data；READY（環境就緒）= verify gate。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來源鏈決定 claim ceiling；fresh setup／import 待核對。</a:t>
            </a:r>
          </a:p>
        </p:txBody>
      </p:sp>
      <p:sp>
        <p:nvSpPr>
          <p:cNvPr id="4" name="Visual heading"/>
          <p:cNvSpPr txBox="1"/>
          <p:nvPr/>
        </p:nvSpPr>
        <p:spPr>
          <a:xfrm>
            <a:off x="768096" y="1709928"/>
            <a:ext cx="10698480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claim ceiling 跟著來源鏈走</a:t>
            </a:r>
          </a:p>
        </p:txBody>
      </p:sp>
      <p:sp>
        <p:nvSpPr>
          <p:cNvPr id="5" name="Claim layer MODEL"/>
          <p:cNvSpPr/>
          <p:nvPr/>
        </p:nvSpPr>
        <p:spPr>
          <a:xfrm>
            <a:off x="1005840" y="2103120"/>
            <a:ext cx="10204704" cy="548640"/>
          </a:xfrm>
          <a:prstGeom prst="roundRect">
            <a:avLst/>
          </a:prstGeom>
          <a:noFill/>
          <a:ln w="1524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laim layer heading MODEL"/>
          <p:cNvSpPr txBox="1"/>
          <p:nvPr/>
        </p:nvSpPr>
        <p:spPr>
          <a:xfrm>
            <a:off x="1097280" y="2221991"/>
            <a:ext cx="1444752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MODEL</a:t>
            </a:r>
          </a:p>
        </p:txBody>
      </p:sp>
      <p:sp>
        <p:nvSpPr>
          <p:cNvPr id="7" name="Claim layer body MODEL"/>
          <p:cNvSpPr txBox="1"/>
          <p:nvPr/>
        </p:nvSpPr>
        <p:spPr>
          <a:xfrm>
            <a:off x="2670048" y="2221991"/>
            <a:ext cx="835761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本課模型中的 state／packet／service／</a:t>
            </a:r>
            <a:r>
              <a:rPr sz="20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endpoint J</a:t>
            </a:r>
          </a:p>
        </p:txBody>
      </p:sp>
      <p:sp>
        <p:nvSpPr>
          <p:cNvPr id="8" name="Claim layer LIVE"/>
          <p:cNvSpPr/>
          <p:nvPr/>
        </p:nvSpPr>
        <p:spPr>
          <a:xfrm>
            <a:off x="1408176" y="2724912"/>
            <a:ext cx="9400032" cy="548640"/>
          </a:xfrm>
          <a:prstGeom prst="roundRect">
            <a:avLst/>
          </a:prstGeom>
          <a:noFill/>
          <a:ln w="1524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Claim layer heading LIVE"/>
          <p:cNvSpPr txBox="1"/>
          <p:nvPr/>
        </p:nvSpPr>
        <p:spPr>
          <a:xfrm>
            <a:off x="1499616" y="2843784"/>
            <a:ext cx="1444752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LIVE</a:t>
            </a:r>
          </a:p>
        </p:txBody>
      </p:sp>
      <p:sp>
        <p:nvSpPr>
          <p:cNvPr id="10" name="Claim layer body LIVE"/>
          <p:cNvSpPr txBox="1"/>
          <p:nvPr/>
        </p:nvSpPr>
        <p:spPr>
          <a:xfrm>
            <a:off x="3072384" y="2843784"/>
            <a:ext cx="7552944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telemetry、部署量測、whole-system J</a:t>
            </a:r>
          </a:p>
        </p:txBody>
      </p:sp>
      <p:sp>
        <p:nvSpPr>
          <p:cNvPr id="11" name="Claim layer CURRENT"/>
          <p:cNvSpPr/>
          <p:nvPr/>
        </p:nvSpPr>
        <p:spPr>
          <a:xfrm>
            <a:off x="1810512" y="3346704"/>
            <a:ext cx="8595360" cy="548640"/>
          </a:xfrm>
          <a:prstGeom prst="roundRect">
            <a:avLst/>
          </a:prstGeom>
          <a:noFill/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laim layer heading CURRENT"/>
          <p:cNvSpPr txBox="1"/>
          <p:nvPr/>
        </p:nvSpPr>
        <p:spPr>
          <a:xfrm>
            <a:off x="1901952" y="3465576"/>
            <a:ext cx="1444752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CURRENT</a:t>
            </a:r>
          </a:p>
        </p:txBody>
      </p:sp>
      <p:sp>
        <p:nvSpPr>
          <p:cNvPr id="13" name="Claim layer body CURRENT"/>
          <p:cNvSpPr txBox="1"/>
          <p:nvPr/>
        </p:nvSpPr>
        <p:spPr>
          <a:xfrm>
            <a:off x="3474720" y="3465576"/>
            <a:ext cx="6748272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fresh setup、READY、Leo import、browser replay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27432" tIns="9144" rIns="27432" bIns="9144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P010a｜使用命名 release asset</a:t>
            </a:r>
          </a:p>
        </p:txBody>
      </p:sp>
      <p:sp>
        <p:nvSpPr>
          <p:cNvPr id="3" name="Main teaching statement"/>
          <p:cNvSpPr txBox="1"/>
          <p:nvPr/>
        </p:nvSpPr>
        <p:spPr>
          <a:xfrm>
            <a:off x="658368" y="850392"/>
            <a:ext cx="10881360" cy="768096"/>
          </a:xfrm>
          <a:prstGeom prst="rect">
            <a:avLst/>
          </a:prstGeom>
          <a:noFill/>
          <a:ln>
            <a:noFill/>
          </a:ln>
        </p:spPr>
        <p:txBody>
          <a:bodyPr wrap="square" lIns="54864" tIns="18288" rIns="54864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使用命名 release asset：`lora-energy-lab-v1.zip`。禁止以 branch 或資料夾拼裝 runner。</a:t>
            </a:r>
          </a:p>
        </p:txBody>
      </p:sp>
      <p:sp>
        <p:nvSpPr>
          <p:cNvPr id="4" name="Visual heading"/>
          <p:cNvSpPr txBox="1"/>
          <p:nvPr/>
        </p:nvSpPr>
        <p:spPr>
          <a:xfrm>
            <a:off x="768096" y="1709928"/>
            <a:ext cx="10698480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single release asset → single package root</a:t>
            </a:r>
          </a:p>
        </p:txBody>
      </p:sp>
      <p:sp>
        <p:nvSpPr>
          <p:cNvPr id="5" name="Visual panel RELEASE"/>
          <p:cNvSpPr/>
          <p:nvPr/>
        </p:nvSpPr>
        <p:spPr>
          <a:xfrm>
            <a:off x="841248" y="2084831"/>
            <a:ext cx="4389120" cy="171907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Visual heading RELEASE"/>
          <p:cNvSpPr txBox="1"/>
          <p:nvPr/>
        </p:nvSpPr>
        <p:spPr>
          <a:xfrm>
            <a:off x="969264" y="2231136"/>
            <a:ext cx="4133087" cy="310896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RELEASE</a:t>
            </a:r>
          </a:p>
        </p:txBody>
      </p:sp>
      <p:sp>
        <p:nvSpPr>
          <p:cNvPr id="7" name="Visual body RELEASE"/>
          <p:cNvSpPr txBox="1"/>
          <p:nvPr/>
        </p:nvSpPr>
        <p:spPr>
          <a:xfrm>
            <a:off x="1005840" y="2688336"/>
            <a:ext cx="4059935" cy="1005839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lora-energy-lab-v1.zip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命名 release asset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ls -l／Get-ChildItem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artifact identity</a:t>
            </a:r>
          </a:p>
        </p:txBody>
      </p:sp>
      <p:cxnSp>
        <p:nvCxnSpPr>
          <p:cNvPr id="8" name="Release to root"/>
          <p:cNvCxnSpPr/>
          <p:nvPr/>
        </p:nvCxnSpPr>
        <p:spPr>
          <a:xfrm>
            <a:off x="5413248" y="2944368"/>
            <a:ext cx="1207008" cy="0"/>
          </a:xfrm>
          <a:prstGeom prst="line">
            <a:avLst/>
          </a:prstGeom>
          <a:ln w="25400">
            <a:solidFill>
              <a:srgbClr val="8468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Visual panel PACKAGE ROOT"/>
          <p:cNvSpPr/>
          <p:nvPr/>
        </p:nvSpPr>
        <p:spPr>
          <a:xfrm>
            <a:off x="6784848" y="2084831"/>
            <a:ext cx="4370832" cy="171907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Visual heading PACKAGE ROOT"/>
          <p:cNvSpPr txBox="1"/>
          <p:nvPr/>
        </p:nvSpPr>
        <p:spPr>
          <a:xfrm>
            <a:off x="6912864" y="2231136"/>
            <a:ext cx="4114800" cy="310896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PACKAGE ROOT</a:t>
            </a:r>
          </a:p>
        </p:txBody>
      </p:sp>
      <p:sp>
        <p:nvSpPr>
          <p:cNvPr id="11" name="Visual body PACKAGE ROOT"/>
          <p:cNvSpPr txBox="1"/>
          <p:nvPr/>
        </p:nvSpPr>
        <p:spPr>
          <a:xfrm>
            <a:off x="6949440" y="2688336"/>
            <a:ext cx="4041648" cy="1005839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lora-energy-lab/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README + launchers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student_policy.py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schemas + fallback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27432" tIns="9144" rIns="27432" bIns="9144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P010b｜解壓後只能有一個 package root</a:t>
            </a:r>
          </a:p>
        </p:txBody>
      </p:sp>
      <p:sp>
        <p:nvSpPr>
          <p:cNvPr id="3" name="Main teaching statement"/>
          <p:cNvSpPr txBox="1"/>
          <p:nvPr/>
        </p:nvSpPr>
        <p:spPr>
          <a:xfrm>
            <a:off x="658368" y="850392"/>
            <a:ext cx="10881360" cy="768096"/>
          </a:xfrm>
          <a:prstGeom prst="rect">
            <a:avLst/>
          </a:prstGeom>
          <a:noFill/>
          <a:ln>
            <a:noFill/>
          </a:ln>
        </p:spPr>
        <p:txBody>
          <a:bodyPr wrap="square" lIns="54864" tIns="18288" rIns="54864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解壓後只應有一個 `lora-energy-lab/` 根目錄。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README、launcher、`</a:t>
            </a:r>
            <a:r>
              <a:rPr sz="24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student_policy.py</a:t>
            </a:r>
            <a:r>
              <a:rPr sz="24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`、schemas、fallback 均位於此 root。</a:t>
            </a:r>
          </a:p>
        </p:txBody>
      </p:sp>
      <p:sp>
        <p:nvSpPr>
          <p:cNvPr id="4" name="Visual heading"/>
          <p:cNvSpPr txBox="1"/>
          <p:nvPr/>
        </p:nvSpPr>
        <p:spPr>
          <a:xfrm>
            <a:off x="768096" y="1709928"/>
            <a:ext cx="10698480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single release asset → single package root</a:t>
            </a:r>
          </a:p>
        </p:txBody>
      </p:sp>
      <p:sp>
        <p:nvSpPr>
          <p:cNvPr id="5" name="Command context frame"/>
          <p:cNvSpPr/>
          <p:nvPr/>
        </p:nvSpPr>
        <p:spPr>
          <a:xfrm>
            <a:off x="640080" y="2029968"/>
            <a:ext cx="5394960" cy="204825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ommand context label"/>
          <p:cNvSpPr txBox="1"/>
          <p:nvPr/>
        </p:nvSpPr>
        <p:spPr>
          <a:xfrm>
            <a:off x="749808" y="2075688"/>
            <a:ext cx="5175504" cy="310896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WSL／POSIX｜extracted root inventory</a:t>
            </a:r>
          </a:p>
        </p:txBody>
      </p:sp>
      <p:sp>
        <p:nvSpPr>
          <p:cNvPr id="7" name="Command line 1"/>
          <p:cNvSpPr txBox="1"/>
          <p:nvPr/>
        </p:nvSpPr>
        <p:spPr>
          <a:xfrm>
            <a:off x="777240" y="2432304"/>
            <a:ext cx="5120640" cy="457200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find lora-energy-lab -mindepth 1 -maxdepth 1 -printf '%f\n'</a:t>
            </a:r>
          </a:p>
        </p:txBody>
      </p:sp>
      <p:sp>
        <p:nvSpPr>
          <p:cNvPr id="8" name="Command context frame"/>
          <p:cNvSpPr/>
          <p:nvPr/>
        </p:nvSpPr>
        <p:spPr>
          <a:xfrm>
            <a:off x="6172200" y="2029968"/>
            <a:ext cx="5394960" cy="204825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Command context label"/>
          <p:cNvSpPr txBox="1"/>
          <p:nvPr/>
        </p:nvSpPr>
        <p:spPr>
          <a:xfrm>
            <a:off x="6281928" y="2075688"/>
            <a:ext cx="5175504" cy="310896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Windows PowerShell｜extracted root inventory</a:t>
            </a:r>
          </a:p>
        </p:txBody>
      </p:sp>
      <p:sp>
        <p:nvSpPr>
          <p:cNvPr id="10" name="Command line 1"/>
          <p:cNvSpPr txBox="1"/>
          <p:nvPr/>
        </p:nvSpPr>
        <p:spPr>
          <a:xfrm>
            <a:off x="6309360" y="2432304"/>
            <a:ext cx="5120640" cy="457200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Get-ChildItem .\lora-energy-lab</a:t>
            </a:r>
          </a:p>
        </p:txBody>
      </p:sp>
      <p:sp>
        <p:nvSpPr>
          <p:cNvPr id="11" name="Package root rule"/>
          <p:cNvSpPr txBox="1"/>
          <p:nvPr/>
        </p:nvSpPr>
        <p:spPr>
          <a:xfrm>
            <a:off x="877824" y="4370832"/>
            <a:ext cx="10387584" cy="402336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可驗證結果：只有 lora-energy-lab/ root；不使用額外 release directory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27432" tIns="9144" rIns="27432" bIns="9144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P011a｜解壓位置：release asset 所在資料夾</a:t>
            </a:r>
          </a:p>
        </p:txBody>
      </p:sp>
      <p:sp>
        <p:nvSpPr>
          <p:cNvPr id="3" name="Main teaching statement"/>
          <p:cNvSpPr txBox="1"/>
          <p:nvPr/>
        </p:nvSpPr>
        <p:spPr>
          <a:xfrm>
            <a:off x="658368" y="850392"/>
            <a:ext cx="10881360" cy="768096"/>
          </a:xfrm>
          <a:prstGeom prst="rect">
            <a:avLst/>
          </a:prstGeom>
          <a:noFill/>
          <a:ln>
            <a:noFill/>
          </a:ln>
        </p:spPr>
        <p:txBody>
          <a:bodyPr wrap="square" lIns="54864" tIns="18288" rIns="54864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目前 shell 位於 `lora-energy-lab-v1.zip` 所在資料夾；下一頁直接解壓並進入唯一的 `lora-energy-lab` root。</a:t>
            </a:r>
          </a:p>
        </p:txBody>
      </p:sp>
      <p:sp>
        <p:nvSpPr>
          <p:cNvPr id="4" name="Visual heading"/>
          <p:cNvSpPr txBox="1"/>
          <p:nvPr/>
        </p:nvSpPr>
        <p:spPr>
          <a:xfrm>
            <a:off x="768096" y="1709928"/>
            <a:ext cx="10698480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archive parent → extract → package root</a:t>
            </a:r>
          </a:p>
        </p:txBody>
      </p:sp>
      <p:sp>
        <p:nvSpPr>
          <p:cNvPr id="5" name="Visual panel WINDOWS POWERSHELL"/>
          <p:cNvSpPr/>
          <p:nvPr/>
        </p:nvSpPr>
        <p:spPr>
          <a:xfrm>
            <a:off x="841248" y="2057400"/>
            <a:ext cx="4663440" cy="157276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Visual heading WINDOWS POWERSHELL"/>
          <p:cNvSpPr txBox="1"/>
          <p:nvPr/>
        </p:nvSpPr>
        <p:spPr>
          <a:xfrm>
            <a:off x="969264" y="2203704"/>
            <a:ext cx="4407407" cy="310896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WINDOWS POWERSHELL</a:t>
            </a:r>
          </a:p>
        </p:txBody>
      </p:sp>
      <p:sp>
        <p:nvSpPr>
          <p:cNvPr id="7" name="Visual body WINDOWS POWERSHELL"/>
          <p:cNvSpPr txBox="1"/>
          <p:nvPr/>
        </p:nvSpPr>
        <p:spPr>
          <a:xfrm>
            <a:off x="1005840" y="2660904"/>
            <a:ext cx="4334255" cy="859536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Get-Location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ZIP 與目前位置相同</a:t>
            </a:r>
          </a:p>
        </p:txBody>
      </p:sp>
      <p:sp>
        <p:nvSpPr>
          <p:cNvPr id="8" name="Visual panel WSL／POSIX"/>
          <p:cNvSpPr/>
          <p:nvPr/>
        </p:nvSpPr>
        <p:spPr>
          <a:xfrm>
            <a:off x="5705856" y="2057400"/>
            <a:ext cx="5468112" cy="157276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Visual heading WSL／POSIX"/>
          <p:cNvSpPr txBox="1"/>
          <p:nvPr/>
        </p:nvSpPr>
        <p:spPr>
          <a:xfrm>
            <a:off x="5833872" y="2203704"/>
            <a:ext cx="5212080" cy="310896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WSL／POSIX</a:t>
            </a:r>
          </a:p>
        </p:txBody>
      </p:sp>
      <p:sp>
        <p:nvSpPr>
          <p:cNvPr id="10" name="Visual body WSL／POSIX"/>
          <p:cNvSpPr txBox="1"/>
          <p:nvPr/>
        </p:nvSpPr>
        <p:spPr>
          <a:xfrm>
            <a:off x="5870448" y="2660904"/>
            <a:ext cx="5138928" cy="859536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pwd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ZIP 與目前位置相同</a:t>
            </a:r>
          </a:p>
        </p:txBody>
      </p:sp>
      <p:sp>
        <p:nvSpPr>
          <p:cNvPr id="11" name="Archive parent route"/>
          <p:cNvSpPr txBox="1"/>
          <p:nvPr/>
        </p:nvSpPr>
        <p:spPr>
          <a:xfrm>
            <a:off x="2103120" y="3749039"/>
            <a:ext cx="8065008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目前位置 → 平台對應解壓命令 → lora-energy-lab root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27432" tIns="9144" rIns="27432" bIns="9144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P011b｜解壓並進入唯一的 package root</a:t>
            </a:r>
          </a:p>
        </p:txBody>
      </p:sp>
      <p:sp>
        <p:nvSpPr>
          <p:cNvPr id="3" name="Main teaching statement"/>
          <p:cNvSpPr txBox="1"/>
          <p:nvPr/>
        </p:nvSpPr>
        <p:spPr>
          <a:xfrm>
            <a:off x="658368" y="850392"/>
            <a:ext cx="10881360" cy="768096"/>
          </a:xfrm>
          <a:prstGeom prst="rect">
            <a:avLst/>
          </a:prstGeom>
          <a:noFill/>
          <a:ln>
            <a:noFill/>
          </a:ln>
        </p:spPr>
        <p:txBody>
          <a:bodyPr wrap="square" lIns="54864" tIns="18288" rIns="54864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兩個 shell 從 archive parent 解壓，並進入 `lora-energy-lab` root。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root 內有 launcher、policy、schemas、`fallback_artifacts/`。</a:t>
            </a:r>
          </a:p>
        </p:txBody>
      </p:sp>
      <p:sp>
        <p:nvSpPr>
          <p:cNvPr id="4" name="Visual heading"/>
          <p:cNvSpPr txBox="1"/>
          <p:nvPr/>
        </p:nvSpPr>
        <p:spPr>
          <a:xfrm>
            <a:off x="768096" y="1709928"/>
            <a:ext cx="10698480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Windows PowerShell／WSL-POSIX exact extract → root</a:t>
            </a:r>
          </a:p>
        </p:txBody>
      </p:sp>
      <p:sp>
        <p:nvSpPr>
          <p:cNvPr id="5" name="Command context frame"/>
          <p:cNvSpPr/>
          <p:nvPr/>
        </p:nvSpPr>
        <p:spPr>
          <a:xfrm>
            <a:off x="640080" y="2029968"/>
            <a:ext cx="5394960" cy="226771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ommand context label"/>
          <p:cNvSpPr txBox="1"/>
          <p:nvPr/>
        </p:nvSpPr>
        <p:spPr>
          <a:xfrm>
            <a:off x="749808" y="2075688"/>
            <a:ext cx="5175504" cy="310896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Windows PowerShell｜archive parent</a:t>
            </a:r>
          </a:p>
        </p:txBody>
      </p:sp>
      <p:sp>
        <p:nvSpPr>
          <p:cNvPr id="7" name="Command line 1"/>
          <p:cNvSpPr txBox="1"/>
          <p:nvPr/>
        </p:nvSpPr>
        <p:spPr>
          <a:xfrm>
            <a:off x="777240" y="2432304"/>
            <a:ext cx="5120640" cy="457200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Expand-Archive .\lora-energy-lab-v1.zip -DestinationPath .</a:t>
            </a:r>
          </a:p>
        </p:txBody>
      </p:sp>
      <p:sp>
        <p:nvSpPr>
          <p:cNvPr id="8" name="Command line 2"/>
          <p:cNvSpPr txBox="1"/>
          <p:nvPr/>
        </p:nvSpPr>
        <p:spPr>
          <a:xfrm>
            <a:off x="777240" y="2907792"/>
            <a:ext cx="5120640" cy="457200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Set-Location .\lora-energy-lab</a:t>
            </a:r>
          </a:p>
        </p:txBody>
      </p:sp>
      <p:sp>
        <p:nvSpPr>
          <p:cNvPr id="9" name="Command line 3"/>
          <p:cNvSpPr txBox="1"/>
          <p:nvPr/>
        </p:nvSpPr>
        <p:spPr>
          <a:xfrm>
            <a:off x="777240" y="3383280"/>
            <a:ext cx="5120640" cy="457200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Get-Location</a:t>
            </a:r>
          </a:p>
        </p:txBody>
      </p:sp>
      <p:sp>
        <p:nvSpPr>
          <p:cNvPr id="10" name="Command context frame"/>
          <p:cNvSpPr/>
          <p:nvPr/>
        </p:nvSpPr>
        <p:spPr>
          <a:xfrm>
            <a:off x="6172200" y="2029968"/>
            <a:ext cx="5394960" cy="226771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ommand context label"/>
          <p:cNvSpPr txBox="1"/>
          <p:nvPr/>
        </p:nvSpPr>
        <p:spPr>
          <a:xfrm>
            <a:off x="6281928" y="2075688"/>
            <a:ext cx="5175504" cy="310896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WSL／POSIX｜archive parent</a:t>
            </a:r>
          </a:p>
        </p:txBody>
      </p:sp>
      <p:sp>
        <p:nvSpPr>
          <p:cNvPr id="12" name="Command line 1"/>
          <p:cNvSpPr txBox="1"/>
          <p:nvPr/>
        </p:nvSpPr>
        <p:spPr>
          <a:xfrm>
            <a:off x="6309360" y="2432304"/>
            <a:ext cx="5120640" cy="457200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unzip lora-energy-lab-v1.zip</a:t>
            </a:r>
          </a:p>
        </p:txBody>
      </p:sp>
      <p:sp>
        <p:nvSpPr>
          <p:cNvPr id="13" name="Command line 2"/>
          <p:cNvSpPr txBox="1"/>
          <p:nvPr/>
        </p:nvSpPr>
        <p:spPr>
          <a:xfrm>
            <a:off x="6309360" y="2907792"/>
            <a:ext cx="5120640" cy="457200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cd lora-energy-lab</a:t>
            </a:r>
          </a:p>
        </p:txBody>
      </p:sp>
      <p:sp>
        <p:nvSpPr>
          <p:cNvPr id="14" name="Command line 3"/>
          <p:cNvSpPr txBox="1"/>
          <p:nvPr/>
        </p:nvSpPr>
        <p:spPr>
          <a:xfrm>
            <a:off x="6309360" y="3383280"/>
            <a:ext cx="5120640" cy="457200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pwd</a:t>
            </a:r>
          </a:p>
        </p:txBody>
      </p:sp>
      <p:sp>
        <p:nvSpPr>
          <p:cNvPr id="15" name="Extract rule"/>
          <p:cNvSpPr txBox="1"/>
          <p:nvPr/>
        </p:nvSpPr>
        <p:spPr>
          <a:xfrm>
            <a:off x="877824" y="4535424"/>
            <a:ext cx="10387584" cy="310896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兩個 shell 都以 lora-energy-lab 為 cwd；Windows 不執行 .sh，WSL/POSIX 不執行 .cmd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27432" tIns="9144" rIns="27432" bIns="9144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P012｜Windows shell 與 Python 3.11 identity</a:t>
            </a:r>
          </a:p>
        </p:txBody>
      </p:sp>
      <p:sp>
        <p:nvSpPr>
          <p:cNvPr id="3" name="Main teaching statement"/>
          <p:cNvSpPr txBox="1"/>
          <p:nvPr/>
        </p:nvSpPr>
        <p:spPr>
          <a:xfrm>
            <a:off x="658368" y="850392"/>
            <a:ext cx="10881360" cy="768096"/>
          </a:xfrm>
          <a:prstGeom prst="rect">
            <a:avLst/>
          </a:prstGeom>
          <a:noFill/>
          <a:ln>
            <a:noFill/>
          </a:ln>
        </p:spPr>
        <p:txBody>
          <a:bodyPr wrap="square" lIns="54864" tIns="18288" rIns="54864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CMD、PowerShell、WSL 使用不同 shell／path。`py --list` 必須含 3.11；Windows native 使用 `setup.cmd`／`course.cmd`。</a:t>
            </a:r>
          </a:p>
        </p:txBody>
      </p:sp>
      <p:sp>
        <p:nvSpPr>
          <p:cNvPr id="4" name="Visual heading"/>
          <p:cNvSpPr txBox="1"/>
          <p:nvPr/>
        </p:nvSpPr>
        <p:spPr>
          <a:xfrm>
            <a:off x="768096" y="1709928"/>
            <a:ext cx="10698480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prompt → launcher → Python 3.11.x</a:t>
            </a:r>
          </a:p>
        </p:txBody>
      </p:sp>
      <p:sp>
        <p:nvSpPr>
          <p:cNvPr id="5" name="Visual panel CMD"/>
          <p:cNvSpPr/>
          <p:nvPr/>
        </p:nvSpPr>
        <p:spPr>
          <a:xfrm>
            <a:off x="804672" y="2084831"/>
            <a:ext cx="5138928" cy="170078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Visual heading CMD"/>
          <p:cNvSpPr txBox="1"/>
          <p:nvPr/>
        </p:nvSpPr>
        <p:spPr>
          <a:xfrm>
            <a:off x="932688" y="2231136"/>
            <a:ext cx="4882896" cy="310896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CMD</a:t>
            </a:r>
          </a:p>
        </p:txBody>
      </p:sp>
      <p:sp>
        <p:nvSpPr>
          <p:cNvPr id="7" name="Visual body CMD"/>
          <p:cNvSpPr txBox="1"/>
          <p:nvPr/>
        </p:nvSpPr>
        <p:spPr>
          <a:xfrm>
            <a:off x="969264" y="2688336"/>
            <a:ext cx="4809744" cy="987552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CMD&gt; py --list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CMD&gt; py -3.11 --version</a:t>
            </a:r>
          </a:p>
        </p:txBody>
      </p:sp>
      <p:sp>
        <p:nvSpPr>
          <p:cNvPr id="8" name="Visual panel POWERSHELL"/>
          <p:cNvSpPr/>
          <p:nvPr/>
        </p:nvSpPr>
        <p:spPr>
          <a:xfrm>
            <a:off x="6236208" y="2084831"/>
            <a:ext cx="5138928" cy="170078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Visual heading POWERSHELL"/>
          <p:cNvSpPr txBox="1"/>
          <p:nvPr/>
        </p:nvSpPr>
        <p:spPr>
          <a:xfrm>
            <a:off x="6364224" y="2231136"/>
            <a:ext cx="4882896" cy="310896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POWERSHELL</a:t>
            </a:r>
          </a:p>
        </p:txBody>
      </p:sp>
      <p:sp>
        <p:nvSpPr>
          <p:cNvPr id="10" name="Visual body POWERSHELL"/>
          <p:cNvSpPr txBox="1"/>
          <p:nvPr/>
        </p:nvSpPr>
        <p:spPr>
          <a:xfrm>
            <a:off x="6400800" y="2688336"/>
            <a:ext cx="4809744" cy="987552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PS&gt; py --list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PS&gt; py -3.11 --version</a:t>
            </a:r>
          </a:p>
        </p:txBody>
      </p:sp>
      <p:sp>
        <p:nvSpPr>
          <p:cNvPr id="11" name="Windows launcher boundary"/>
          <p:cNvSpPr txBox="1"/>
          <p:nvPr/>
        </p:nvSpPr>
        <p:spPr>
          <a:xfrm>
            <a:off x="950976" y="4005072"/>
            <a:ext cx="10277856" cy="310896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Windows native：setup.cmd／course.cmd｜POSIX／WSL：bash setup.sh／bash course.sh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27432" tIns="9144" rIns="27432" bIns="9144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P013｜Windows 缺少 Python 3.11：補正確 interpreter</a:t>
            </a:r>
          </a:p>
        </p:txBody>
      </p:sp>
      <p:sp>
        <p:nvSpPr>
          <p:cNvPr id="3" name="Main teaching statement"/>
          <p:cNvSpPr txBox="1"/>
          <p:nvPr/>
        </p:nvSpPr>
        <p:spPr>
          <a:xfrm>
            <a:off x="658368" y="850392"/>
            <a:ext cx="10881360" cy="768096"/>
          </a:xfrm>
          <a:prstGeom prst="rect">
            <a:avLst/>
          </a:prstGeom>
          <a:noFill/>
          <a:ln>
            <a:noFill/>
          </a:ln>
        </p:spPr>
        <p:txBody>
          <a:bodyPr wrap="square" lIns="54864" tIns="18288" rIns="54864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`py --list` 缺少 3.11：安裝 Python 3.11.x 64-bit，保留 Python Launcher；PATH 可不勾選。重開 PowerShell，重新執行兩個版本命令。</a:t>
            </a:r>
          </a:p>
        </p:txBody>
      </p:sp>
      <p:sp>
        <p:nvSpPr>
          <p:cNvPr id="4" name="Visual heading"/>
          <p:cNvSpPr txBox="1"/>
          <p:nvPr/>
        </p:nvSpPr>
        <p:spPr>
          <a:xfrm>
            <a:off x="768096" y="1709928"/>
            <a:ext cx="10698480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缺少 3.11 時的官方 recovery route</a:t>
            </a:r>
          </a:p>
        </p:txBody>
      </p:sp>
      <p:sp>
        <p:nvSpPr>
          <p:cNvPr id="5" name="Visual panel 1｜官方下載"/>
          <p:cNvSpPr/>
          <p:nvPr/>
        </p:nvSpPr>
        <p:spPr>
          <a:xfrm>
            <a:off x="768096" y="2029968"/>
            <a:ext cx="5285232" cy="135331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Visual heading 1｜官方下載"/>
          <p:cNvSpPr txBox="1"/>
          <p:nvPr/>
        </p:nvSpPr>
        <p:spPr>
          <a:xfrm>
            <a:off x="896112" y="2176272"/>
            <a:ext cx="5029200" cy="310896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1｜官方下載</a:t>
            </a:r>
          </a:p>
        </p:txBody>
      </p:sp>
      <p:sp>
        <p:nvSpPr>
          <p:cNvPr id="7" name="Visual body 1｜官方下載"/>
          <p:cNvSpPr txBox="1"/>
          <p:nvPr/>
        </p:nvSpPr>
        <p:spPr>
          <a:xfrm>
            <a:off x="932688" y="2633472"/>
            <a:ext cx="4956048" cy="640080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https://www.python.org/downloads/windows/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Python 3.11.x Windows installer (64-bit)</a:t>
            </a:r>
          </a:p>
        </p:txBody>
      </p:sp>
      <p:sp>
        <p:nvSpPr>
          <p:cNvPr id="8" name="Visual panel 2｜安裝選項"/>
          <p:cNvSpPr/>
          <p:nvPr/>
        </p:nvSpPr>
        <p:spPr>
          <a:xfrm>
            <a:off x="6144768" y="2029968"/>
            <a:ext cx="5285232" cy="135331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Visual heading 2｜安裝選項"/>
          <p:cNvSpPr txBox="1"/>
          <p:nvPr/>
        </p:nvSpPr>
        <p:spPr>
          <a:xfrm>
            <a:off x="6272783" y="2176272"/>
            <a:ext cx="5029200" cy="310896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2｜安裝選項</a:t>
            </a:r>
          </a:p>
        </p:txBody>
      </p:sp>
      <p:sp>
        <p:nvSpPr>
          <p:cNvPr id="10" name="Visual body 2｜安裝選項"/>
          <p:cNvSpPr txBox="1"/>
          <p:nvPr/>
        </p:nvSpPr>
        <p:spPr>
          <a:xfrm>
            <a:off x="6309359" y="2633472"/>
            <a:ext cx="4956048" cy="640080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Install Python Launcher for all users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PATH 可不勾選；使用 py -3.11</a:t>
            </a:r>
          </a:p>
        </p:txBody>
      </p:sp>
      <p:sp>
        <p:nvSpPr>
          <p:cNvPr id="11" name="Visual panel 3｜完成並重開 shell"/>
          <p:cNvSpPr/>
          <p:nvPr/>
        </p:nvSpPr>
        <p:spPr>
          <a:xfrm>
            <a:off x="768096" y="3822191"/>
            <a:ext cx="5285232" cy="135331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Visual heading 3｜完成並重開 shell"/>
          <p:cNvSpPr txBox="1"/>
          <p:nvPr/>
        </p:nvSpPr>
        <p:spPr>
          <a:xfrm>
            <a:off x="896112" y="3968496"/>
            <a:ext cx="5029200" cy="310896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3｜完成並重開 shell</a:t>
            </a:r>
          </a:p>
        </p:txBody>
      </p:sp>
      <p:sp>
        <p:nvSpPr>
          <p:cNvPr id="13" name="Visual body 3｜完成並重開 shell"/>
          <p:cNvSpPr txBox="1"/>
          <p:nvPr/>
        </p:nvSpPr>
        <p:spPr>
          <a:xfrm>
            <a:off x="932688" y="4425696"/>
            <a:ext cx="4956048" cy="640080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完成安裝後重開 PowerShell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不要混用其他 minor</a:t>
            </a:r>
          </a:p>
        </p:txBody>
      </p:sp>
      <p:sp>
        <p:nvSpPr>
          <p:cNvPr id="14" name="Visual panel 4｜版本 gate"/>
          <p:cNvSpPr/>
          <p:nvPr/>
        </p:nvSpPr>
        <p:spPr>
          <a:xfrm>
            <a:off x="6144768" y="3822191"/>
            <a:ext cx="5285232" cy="135331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Visual heading 4｜版本 gate"/>
          <p:cNvSpPr txBox="1"/>
          <p:nvPr/>
        </p:nvSpPr>
        <p:spPr>
          <a:xfrm>
            <a:off x="6272783" y="3968496"/>
            <a:ext cx="5029200" cy="310896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4｜版本 gate</a:t>
            </a:r>
          </a:p>
        </p:txBody>
      </p:sp>
      <p:sp>
        <p:nvSpPr>
          <p:cNvPr id="16" name="Visual body 4｜版本 gate"/>
          <p:cNvSpPr txBox="1"/>
          <p:nvPr/>
        </p:nvSpPr>
        <p:spPr>
          <a:xfrm>
            <a:off x="6309359" y="4425696"/>
            <a:ext cx="4956048" cy="640080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py --list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py -3.11 --version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27432" tIns="9144" rIns="27432" bIns="9144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P014｜uv 取得與定位 Python 3.11</a:t>
            </a:r>
          </a:p>
        </p:txBody>
      </p:sp>
      <p:sp>
        <p:nvSpPr>
          <p:cNvPr id="3" name="Main teaching statement"/>
          <p:cNvSpPr txBox="1"/>
          <p:nvPr/>
        </p:nvSpPr>
        <p:spPr>
          <a:xfrm>
            <a:off x="658368" y="850392"/>
            <a:ext cx="10881360" cy="768096"/>
          </a:xfrm>
          <a:prstGeom prst="rect">
            <a:avLst/>
          </a:prstGeom>
          <a:noFill/>
          <a:ln>
            <a:noFill/>
          </a:ln>
        </p:spPr>
        <p:txBody>
          <a:bodyPr wrap="square" lIns="54864" tIns="18288" rIns="54864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uv 負責取得並定位 Python 3.11；`READY`、`result.json` 與 replay 由 package setup／run 產生。</a:t>
            </a:r>
          </a:p>
        </p:txBody>
      </p:sp>
      <p:sp>
        <p:nvSpPr>
          <p:cNvPr id="4" name="Visual heading"/>
          <p:cNvSpPr txBox="1"/>
          <p:nvPr/>
        </p:nvSpPr>
        <p:spPr>
          <a:xfrm>
            <a:off x="768096" y="1709928"/>
            <a:ext cx="10698480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uv 找 interpreter；package setup 才產生 receipt</a:t>
            </a:r>
          </a:p>
        </p:txBody>
      </p:sp>
      <p:sp>
        <p:nvSpPr>
          <p:cNvPr id="5" name="Visual panel WINDOWS POWERSHELL"/>
          <p:cNvSpPr/>
          <p:nvPr/>
        </p:nvSpPr>
        <p:spPr>
          <a:xfrm>
            <a:off x="804672" y="2048256"/>
            <a:ext cx="5212080" cy="177393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Visual heading WINDOWS POWERSHELL"/>
          <p:cNvSpPr txBox="1"/>
          <p:nvPr/>
        </p:nvSpPr>
        <p:spPr>
          <a:xfrm>
            <a:off x="932688" y="2194560"/>
            <a:ext cx="4956048" cy="310896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WINDOWS POWERSHELL</a:t>
            </a:r>
          </a:p>
        </p:txBody>
      </p:sp>
      <p:sp>
        <p:nvSpPr>
          <p:cNvPr id="7" name="Visual body WINDOWS POWERSHELL"/>
          <p:cNvSpPr txBox="1"/>
          <p:nvPr/>
        </p:nvSpPr>
        <p:spPr>
          <a:xfrm>
            <a:off x="969264" y="2651760"/>
            <a:ext cx="4882896" cy="1060704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winget install --id=astral-sh.uv -e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uv python install 3.11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uv python find 3.11</a:t>
            </a:r>
          </a:p>
        </p:txBody>
      </p:sp>
      <p:sp>
        <p:nvSpPr>
          <p:cNvPr id="8" name="Visual panel POSIX／WSL"/>
          <p:cNvSpPr/>
          <p:nvPr/>
        </p:nvSpPr>
        <p:spPr>
          <a:xfrm>
            <a:off x="6199632" y="2048256"/>
            <a:ext cx="5212080" cy="177393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Visual heading POSIX／WSL"/>
          <p:cNvSpPr txBox="1"/>
          <p:nvPr/>
        </p:nvSpPr>
        <p:spPr>
          <a:xfrm>
            <a:off x="6327648" y="2194560"/>
            <a:ext cx="4956048" cy="310896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POSIX／WSL</a:t>
            </a:r>
          </a:p>
        </p:txBody>
      </p:sp>
      <p:sp>
        <p:nvSpPr>
          <p:cNvPr id="10" name="Visual body POSIX／WSL"/>
          <p:cNvSpPr txBox="1"/>
          <p:nvPr/>
        </p:nvSpPr>
        <p:spPr>
          <a:xfrm>
            <a:off x="6364224" y="2651760"/>
            <a:ext cx="4882896" cy="1060704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uv python install 3.11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uv python find 3.11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→ exact interpreter path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27432" tIns="9144" rIns="27432" bIns="9144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P015｜每個 package 使用自己的 `.venv`</a:t>
            </a:r>
          </a:p>
        </p:txBody>
      </p:sp>
      <p:sp>
        <p:nvSpPr>
          <p:cNvPr id="3" name="Main teaching statement"/>
          <p:cNvSpPr txBox="1"/>
          <p:nvPr/>
        </p:nvSpPr>
        <p:spPr>
          <a:xfrm>
            <a:off x="658368" y="850392"/>
            <a:ext cx="10881360" cy="768096"/>
          </a:xfrm>
          <a:prstGeom prst="rect">
            <a:avLst/>
          </a:prstGeom>
          <a:noFill/>
          <a:ln>
            <a:noFill/>
          </a:ln>
        </p:spPr>
        <p:txBody>
          <a:bodyPr wrap="square" lIns="54864" tIns="18288" rIns="54864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`.venv` 建立於 `lora-energy-lab/` root。Windows 與 WSL／Linux／macOS 使用不同 path，兩者不能互換；Windows 與 WSL 各自建立 venv。</a:t>
            </a:r>
          </a:p>
        </p:txBody>
      </p:sp>
      <p:sp>
        <p:nvSpPr>
          <p:cNvPr id="4" name="Visual heading"/>
          <p:cNvSpPr txBox="1"/>
          <p:nvPr/>
        </p:nvSpPr>
        <p:spPr>
          <a:xfrm>
            <a:off x="768096" y="1709928"/>
            <a:ext cx="10698480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system Python ≠ package-local `.venv`</a:t>
            </a:r>
          </a:p>
        </p:txBody>
      </p:sp>
      <p:sp>
        <p:nvSpPr>
          <p:cNvPr id="5" name="Visual panel SYSTEM PYTHON"/>
          <p:cNvSpPr/>
          <p:nvPr/>
        </p:nvSpPr>
        <p:spPr>
          <a:xfrm>
            <a:off x="859536" y="2084831"/>
            <a:ext cx="5065776" cy="166420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Visual heading SYSTEM PYTHON"/>
          <p:cNvSpPr txBox="1"/>
          <p:nvPr/>
        </p:nvSpPr>
        <p:spPr>
          <a:xfrm>
            <a:off x="987552" y="2231136"/>
            <a:ext cx="4809744" cy="310896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696969"/>
                </a:solidFill>
                <a:latin typeface="Times New Roman"/>
                <a:ea typeface="標楷體"/>
                <a:cs typeface="Times New Roman"/>
              </a:rPr>
              <a:t>SYSTEM PYTHON</a:t>
            </a:r>
          </a:p>
        </p:txBody>
      </p:sp>
      <p:sp>
        <p:nvSpPr>
          <p:cNvPr id="7" name="Visual body SYSTEM PYTHON"/>
          <p:cNvSpPr txBox="1"/>
          <p:nvPr/>
        </p:nvSpPr>
        <p:spPr>
          <a:xfrm>
            <a:off x="1024127" y="2688336"/>
            <a:ext cx="4736592" cy="950976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其他專案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shared packages</a:t>
            </a:r>
          </a:p>
        </p:txBody>
      </p:sp>
      <p:cxnSp>
        <p:nvCxnSpPr>
          <p:cNvPr id="8" name="Venv boundary"/>
          <p:cNvCxnSpPr/>
          <p:nvPr/>
        </p:nvCxnSpPr>
        <p:spPr>
          <a:xfrm>
            <a:off x="5998464" y="2907792"/>
            <a:ext cx="512064" cy="0"/>
          </a:xfrm>
          <a:prstGeom prst="line">
            <a:avLst/>
          </a:prstGeom>
          <a:ln w="25400">
            <a:solidFill>
              <a:srgbClr val="8468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Visual panel PACKAGE .VENV"/>
          <p:cNvSpPr/>
          <p:nvPr/>
        </p:nvSpPr>
        <p:spPr>
          <a:xfrm>
            <a:off x="6729984" y="2084831"/>
            <a:ext cx="4572000" cy="166420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Visual heading PACKAGE .VENV"/>
          <p:cNvSpPr txBox="1"/>
          <p:nvPr/>
        </p:nvSpPr>
        <p:spPr>
          <a:xfrm>
            <a:off x="6858000" y="2231136"/>
            <a:ext cx="4315968" cy="310896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PACKAGE .VENV</a:t>
            </a:r>
          </a:p>
        </p:txBody>
      </p:sp>
      <p:sp>
        <p:nvSpPr>
          <p:cNvPr id="11" name="Visual body PACKAGE .VENV"/>
          <p:cNvSpPr txBox="1"/>
          <p:nvPr/>
        </p:nvSpPr>
        <p:spPr>
          <a:xfrm>
            <a:off x="6894576" y="2688336"/>
            <a:ext cx="4242816" cy="950976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.venv\Scripts\python.exe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或 .venv/bin/python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Python 3.11.x</a:t>
            </a:r>
          </a:p>
        </p:txBody>
      </p:sp>
      <p:sp>
        <p:nvSpPr>
          <p:cNvPr id="12" name="Venv platform boundary"/>
          <p:cNvSpPr txBox="1"/>
          <p:nvPr/>
        </p:nvSpPr>
        <p:spPr>
          <a:xfrm>
            <a:off x="1024128" y="3968496"/>
            <a:ext cx="10094976" cy="310896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Windows venv 與 WSL／Linux venv 各自建立；path 不互換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27432" tIns="9144" rIns="27432" bIns="9144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P016a｜Windows setup：建立可重現 runtime</a:t>
            </a:r>
          </a:p>
        </p:txBody>
      </p:sp>
      <p:sp>
        <p:nvSpPr>
          <p:cNvPr id="3" name="Main teaching statement"/>
          <p:cNvSpPr txBox="1"/>
          <p:nvPr/>
        </p:nvSpPr>
        <p:spPr>
          <a:xfrm>
            <a:off x="658368" y="850392"/>
            <a:ext cx="10881360" cy="768096"/>
          </a:xfrm>
          <a:prstGeom prst="rect">
            <a:avLst/>
          </a:prstGeom>
          <a:noFill/>
          <a:ln>
            <a:noFill/>
          </a:ln>
        </p:spPr>
        <p:txBody>
          <a:bodyPr wrap="square" lIns="54864" tIns="18288" rIns="54864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setup 建立隔離的 Python 3.11／`.venv`／lock runtime。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所有命令在 Windows 的 `lora-energy-lab` root；CMD 與 PowerShell 不混用。</a:t>
            </a:r>
          </a:p>
        </p:txBody>
      </p:sp>
      <p:sp>
        <p:nvSpPr>
          <p:cNvPr id="4" name="Visual heading"/>
          <p:cNvSpPr txBox="1"/>
          <p:nvPr/>
        </p:nvSpPr>
        <p:spPr>
          <a:xfrm>
            <a:off x="768096" y="1709928"/>
            <a:ext cx="10698480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Windows package root｜setup → isolated runtime</a:t>
            </a:r>
          </a:p>
        </p:txBody>
      </p:sp>
      <p:sp>
        <p:nvSpPr>
          <p:cNvPr id="5" name="Command context frame"/>
          <p:cNvSpPr/>
          <p:nvPr/>
        </p:nvSpPr>
        <p:spPr>
          <a:xfrm>
            <a:off x="640080" y="2011680"/>
            <a:ext cx="5394960" cy="299923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ommand context label"/>
          <p:cNvSpPr txBox="1"/>
          <p:nvPr/>
        </p:nvSpPr>
        <p:spPr>
          <a:xfrm>
            <a:off x="749808" y="2057400"/>
            <a:ext cx="5175504" cy="310896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CMD｜lora-energy-lab root</a:t>
            </a:r>
          </a:p>
        </p:txBody>
      </p:sp>
      <p:sp>
        <p:nvSpPr>
          <p:cNvPr id="7" name="Command line 1"/>
          <p:cNvSpPr txBox="1"/>
          <p:nvPr/>
        </p:nvSpPr>
        <p:spPr>
          <a:xfrm>
            <a:off x="777240" y="2414016"/>
            <a:ext cx="5120640" cy="457200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setup.cmd</a:t>
            </a:r>
          </a:p>
        </p:txBody>
      </p:sp>
      <p:sp>
        <p:nvSpPr>
          <p:cNvPr id="8" name="Command context frame"/>
          <p:cNvSpPr/>
          <p:nvPr/>
        </p:nvSpPr>
        <p:spPr>
          <a:xfrm>
            <a:off x="6172200" y="2011680"/>
            <a:ext cx="5394960" cy="115214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Command context label"/>
          <p:cNvSpPr txBox="1"/>
          <p:nvPr/>
        </p:nvSpPr>
        <p:spPr>
          <a:xfrm>
            <a:off x="6281928" y="2057400"/>
            <a:ext cx="5175504" cy="310896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PowerShell｜py launcher shortcut</a:t>
            </a:r>
          </a:p>
        </p:txBody>
      </p:sp>
      <p:sp>
        <p:nvSpPr>
          <p:cNvPr id="10" name="Command line 1"/>
          <p:cNvSpPr txBox="1"/>
          <p:nvPr/>
        </p:nvSpPr>
        <p:spPr>
          <a:xfrm>
            <a:off x="6309360" y="2414016"/>
            <a:ext cx="5120640" cy="457200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.\setup.cmd</a:t>
            </a:r>
          </a:p>
        </p:txBody>
      </p:sp>
      <p:sp>
        <p:nvSpPr>
          <p:cNvPr id="11" name="Command context frame"/>
          <p:cNvSpPr/>
          <p:nvPr/>
        </p:nvSpPr>
        <p:spPr>
          <a:xfrm>
            <a:off x="6172200" y="3346704"/>
            <a:ext cx="5394960" cy="166420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ommand context label"/>
          <p:cNvSpPr txBox="1"/>
          <p:nvPr/>
        </p:nvSpPr>
        <p:spPr>
          <a:xfrm>
            <a:off x="6281928" y="3392424"/>
            <a:ext cx="5175504" cy="310896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PowerShell｜uv 3.11 fallback</a:t>
            </a:r>
          </a:p>
        </p:txBody>
      </p:sp>
      <p:sp>
        <p:nvSpPr>
          <p:cNvPr id="13" name="Command line 1"/>
          <p:cNvSpPr txBox="1"/>
          <p:nvPr/>
        </p:nvSpPr>
        <p:spPr>
          <a:xfrm>
            <a:off x="6309360" y="3749040"/>
            <a:ext cx="5120640" cy="223113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uv python install 3.11</a:t>
            </a:r>
          </a:p>
        </p:txBody>
      </p:sp>
      <p:sp>
        <p:nvSpPr>
          <p:cNvPr id="14" name="Command line 2"/>
          <p:cNvSpPr txBox="1"/>
          <p:nvPr/>
        </p:nvSpPr>
        <p:spPr>
          <a:xfrm>
            <a:off x="6309360" y="3990441"/>
            <a:ext cx="5120640" cy="223113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$python311 = (uv python find 3.11).Trim()</a:t>
            </a:r>
          </a:p>
        </p:txBody>
      </p:sp>
      <p:sp>
        <p:nvSpPr>
          <p:cNvPr id="15" name="Command line 3"/>
          <p:cNvSpPr txBox="1"/>
          <p:nvPr/>
        </p:nvSpPr>
        <p:spPr>
          <a:xfrm>
            <a:off x="6309360" y="4231843"/>
            <a:ext cx="5120640" cy="223113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$env:PYTHON_BIN = ('"{0}"' -f $python311)</a:t>
            </a:r>
          </a:p>
        </p:txBody>
      </p:sp>
      <p:sp>
        <p:nvSpPr>
          <p:cNvPr id="16" name="Command line 4"/>
          <p:cNvSpPr txBox="1"/>
          <p:nvPr/>
        </p:nvSpPr>
        <p:spPr>
          <a:xfrm>
            <a:off x="6309360" y="4473244"/>
            <a:ext cx="5120640" cy="223113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.\setup.cmd</a:t>
            </a:r>
          </a:p>
        </p:txBody>
      </p:sp>
      <p:sp>
        <p:nvSpPr>
          <p:cNvPr id="17" name="Command line 5"/>
          <p:cNvSpPr txBox="1"/>
          <p:nvPr/>
        </p:nvSpPr>
        <p:spPr>
          <a:xfrm>
            <a:off x="6309360" y="4714646"/>
            <a:ext cx="5120640" cy="223113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Remove-Item Env:PYTHON_BIN</a:t>
            </a:r>
          </a:p>
        </p:txBody>
      </p:sp>
      <p:sp>
        <p:nvSpPr>
          <p:cNvPr id="18" name="Setup result boundary"/>
          <p:cNvSpPr txBox="1"/>
          <p:nvPr/>
        </p:nvSpPr>
        <p:spPr>
          <a:xfrm>
            <a:off x="877824" y="5138928"/>
            <a:ext cx="10387584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CMD 與 PowerShell 各自完成 setup；result.json 尚未產生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27432" tIns="9144" rIns="27432" bIns="9144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P016b｜Windows verify：前置條件通過才允許 RUN</a:t>
            </a:r>
          </a:p>
        </p:txBody>
      </p:sp>
      <p:sp>
        <p:nvSpPr>
          <p:cNvPr id="3" name="Main teaching statement"/>
          <p:cNvSpPr txBox="1"/>
          <p:nvPr/>
        </p:nvSpPr>
        <p:spPr>
          <a:xfrm>
            <a:off x="658368" y="850392"/>
            <a:ext cx="10881360" cy="768096"/>
          </a:xfrm>
          <a:prstGeom prst="rect">
            <a:avLst/>
          </a:prstGeom>
          <a:noFill/>
          <a:ln>
            <a:noFill/>
          </a:ln>
        </p:spPr>
        <p:txBody>
          <a:bodyPr wrap="square" lIns="54864" tIns="18288" rIns="54864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verify 檢查 Python、lock、scenario、policy API、schema。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Windows `lora-energy-lab` root 的 READY 才允許 RUN。</a:t>
            </a:r>
          </a:p>
        </p:txBody>
      </p:sp>
      <p:sp>
        <p:nvSpPr>
          <p:cNvPr id="4" name="Visual heading"/>
          <p:cNvSpPr txBox="1"/>
          <p:nvPr/>
        </p:nvSpPr>
        <p:spPr>
          <a:xfrm>
            <a:off x="768096" y="1709928"/>
            <a:ext cx="10698480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Windows package root｜verify prerequisites → READY</a:t>
            </a:r>
          </a:p>
        </p:txBody>
      </p:sp>
      <p:sp>
        <p:nvSpPr>
          <p:cNvPr id="5" name="Command context frame"/>
          <p:cNvSpPr/>
          <p:nvPr/>
        </p:nvSpPr>
        <p:spPr>
          <a:xfrm>
            <a:off x="640080" y="2048256"/>
            <a:ext cx="5394960" cy="186537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ommand context label"/>
          <p:cNvSpPr txBox="1"/>
          <p:nvPr/>
        </p:nvSpPr>
        <p:spPr>
          <a:xfrm>
            <a:off x="749808" y="2093976"/>
            <a:ext cx="5175504" cy="310896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CMD｜lora-energy-lab root</a:t>
            </a:r>
          </a:p>
        </p:txBody>
      </p:sp>
      <p:sp>
        <p:nvSpPr>
          <p:cNvPr id="7" name="Command line 1"/>
          <p:cNvSpPr txBox="1"/>
          <p:nvPr/>
        </p:nvSpPr>
        <p:spPr>
          <a:xfrm>
            <a:off x="777240" y="2450592"/>
            <a:ext cx="5120640" cy="457200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course.cmd verify</a:t>
            </a:r>
          </a:p>
        </p:txBody>
      </p:sp>
      <p:sp>
        <p:nvSpPr>
          <p:cNvPr id="8" name="Command context frame"/>
          <p:cNvSpPr/>
          <p:nvPr/>
        </p:nvSpPr>
        <p:spPr>
          <a:xfrm>
            <a:off x="6172200" y="2048256"/>
            <a:ext cx="5394960" cy="186537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Command context label"/>
          <p:cNvSpPr txBox="1"/>
          <p:nvPr/>
        </p:nvSpPr>
        <p:spPr>
          <a:xfrm>
            <a:off x="6281928" y="2093976"/>
            <a:ext cx="5175504" cy="310896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PowerShell｜lora-energy-lab root</a:t>
            </a:r>
          </a:p>
        </p:txBody>
      </p:sp>
      <p:sp>
        <p:nvSpPr>
          <p:cNvPr id="10" name="Command line 1"/>
          <p:cNvSpPr txBox="1"/>
          <p:nvPr/>
        </p:nvSpPr>
        <p:spPr>
          <a:xfrm>
            <a:off x="6309360" y="2450592"/>
            <a:ext cx="5120640" cy="457200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.\course.cmd verify</a:t>
            </a:r>
          </a:p>
        </p:txBody>
      </p:sp>
      <p:sp>
        <p:nvSpPr>
          <p:cNvPr id="11" name="Verify result boundary"/>
          <p:cNvSpPr txBox="1"/>
          <p:nvPr/>
        </p:nvSpPr>
        <p:spPr>
          <a:xfrm>
            <a:off x="877824" y="4224528"/>
            <a:ext cx="10387584" cy="310896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兩欄都產生 artifacts\verify-receipt.json：status READY；result.json 尚未產生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27432" tIns="9144" rIns="27432" bIns="9144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P017｜WSL：Ubuntu shell 與 Linux home</a:t>
            </a:r>
          </a:p>
        </p:txBody>
      </p:sp>
      <p:sp>
        <p:nvSpPr>
          <p:cNvPr id="3" name="Main teaching statement"/>
          <p:cNvSpPr txBox="1"/>
          <p:nvPr/>
        </p:nvSpPr>
        <p:spPr>
          <a:xfrm>
            <a:off x="658368" y="850392"/>
            <a:ext cx="10881360" cy="768096"/>
          </a:xfrm>
          <a:prstGeom prst="rect">
            <a:avLst/>
          </a:prstGeom>
          <a:noFill/>
          <a:ln>
            <a:noFill/>
          </a:ln>
        </p:spPr>
        <p:txBody>
          <a:bodyPr wrap="square" lIns="54864" tIns="18288" rIns="54864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WSL Ubuntu 使用 Linux home 與 bash `.sh`；Windows native 使用 `.cmd`，兩者的 venv path 不互換。</a:t>
            </a:r>
          </a:p>
        </p:txBody>
      </p:sp>
      <p:sp>
        <p:nvSpPr>
          <p:cNvPr id="4" name="Visual heading"/>
          <p:cNvSpPr txBox="1"/>
          <p:nvPr/>
        </p:nvSpPr>
        <p:spPr>
          <a:xfrm>
            <a:off x="768096" y="1709928"/>
            <a:ext cx="10698480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Windows host → Ubuntu guest → Linux home</a:t>
            </a:r>
          </a:p>
        </p:txBody>
      </p:sp>
      <p:sp>
        <p:nvSpPr>
          <p:cNvPr id="5" name="Visual panel WINDOWS"/>
          <p:cNvSpPr/>
          <p:nvPr/>
        </p:nvSpPr>
        <p:spPr>
          <a:xfrm>
            <a:off x="786384" y="2048256"/>
            <a:ext cx="3200400" cy="177393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Visual heading WINDOWS"/>
          <p:cNvSpPr txBox="1"/>
          <p:nvPr/>
        </p:nvSpPr>
        <p:spPr>
          <a:xfrm>
            <a:off x="914400" y="2194560"/>
            <a:ext cx="2944368" cy="310896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WINDOWS</a:t>
            </a:r>
          </a:p>
        </p:txBody>
      </p:sp>
      <p:sp>
        <p:nvSpPr>
          <p:cNvPr id="7" name="Visual body WINDOWS"/>
          <p:cNvSpPr txBox="1"/>
          <p:nvPr/>
        </p:nvSpPr>
        <p:spPr>
          <a:xfrm>
            <a:off x="950976" y="2651760"/>
            <a:ext cx="2871216" cy="1060704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wsl -l -v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wsl -d Ubuntu</a:t>
            </a:r>
          </a:p>
        </p:txBody>
      </p:sp>
      <p:cxnSp>
        <p:nvCxnSpPr>
          <p:cNvPr id="8" name="WSL entry arrow"/>
          <p:cNvCxnSpPr/>
          <p:nvPr/>
        </p:nvCxnSpPr>
        <p:spPr>
          <a:xfrm>
            <a:off x="4096512" y="2926080"/>
            <a:ext cx="841248" cy="0"/>
          </a:xfrm>
          <a:prstGeom prst="line">
            <a:avLst/>
          </a:prstGeom>
          <a:ln w="22860">
            <a:solidFill>
              <a:srgbClr val="8468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Visual panel UBUNTU"/>
          <p:cNvSpPr/>
          <p:nvPr/>
        </p:nvSpPr>
        <p:spPr>
          <a:xfrm>
            <a:off x="5065776" y="2048256"/>
            <a:ext cx="2944368" cy="177393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Visual heading UBUNTU"/>
          <p:cNvSpPr txBox="1"/>
          <p:nvPr/>
        </p:nvSpPr>
        <p:spPr>
          <a:xfrm>
            <a:off x="5193792" y="2194560"/>
            <a:ext cx="2688336" cy="310896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UBUNTU</a:t>
            </a:r>
          </a:p>
        </p:txBody>
      </p:sp>
      <p:sp>
        <p:nvSpPr>
          <p:cNvPr id="11" name="Visual body UBUNTU"/>
          <p:cNvSpPr txBox="1"/>
          <p:nvPr/>
        </p:nvSpPr>
        <p:spPr>
          <a:xfrm>
            <a:off x="5230368" y="2651760"/>
            <a:ext cx="2615184" cy="1060704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1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pwd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1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uname -a</a:t>
            </a:r>
          </a:p>
        </p:txBody>
      </p:sp>
      <p:cxnSp>
        <p:nvCxnSpPr>
          <p:cNvPr id="12" name="WSL path arrow"/>
          <p:cNvCxnSpPr/>
          <p:nvPr/>
        </p:nvCxnSpPr>
        <p:spPr>
          <a:xfrm>
            <a:off x="8138160" y="2926080"/>
            <a:ext cx="841248" cy="0"/>
          </a:xfrm>
          <a:prstGeom prst="line">
            <a:avLst/>
          </a:prstGeom>
          <a:ln w="22860">
            <a:solidFill>
              <a:srgbClr val="8468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Visual panel NEXT"/>
          <p:cNvSpPr/>
          <p:nvPr/>
        </p:nvSpPr>
        <p:spPr>
          <a:xfrm>
            <a:off x="9107424" y="2048256"/>
            <a:ext cx="2267712" cy="177393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Visual heading NEXT"/>
          <p:cNvSpPr txBox="1"/>
          <p:nvPr/>
        </p:nvSpPr>
        <p:spPr>
          <a:xfrm>
            <a:off x="9235440" y="2194560"/>
            <a:ext cx="2011680" cy="310896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NEXT</a:t>
            </a:r>
          </a:p>
        </p:txBody>
      </p:sp>
      <p:sp>
        <p:nvSpPr>
          <p:cNvPr id="15" name="Visual body NEXT"/>
          <p:cNvSpPr txBox="1"/>
          <p:nvPr/>
        </p:nvSpPr>
        <p:spPr>
          <a:xfrm>
            <a:off x="9272016" y="2651760"/>
            <a:ext cx="1938528" cy="1060704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setup.sh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course.sh</a:t>
            </a:r>
          </a:p>
        </p:txBody>
      </p:sp>
      <p:sp>
        <p:nvSpPr>
          <p:cNvPr id="16" name="WSL launcher boundary"/>
          <p:cNvSpPr txBox="1"/>
          <p:nvPr/>
        </p:nvSpPr>
        <p:spPr>
          <a:xfrm>
            <a:off x="914400" y="4023360"/>
            <a:ext cx="10332720" cy="310896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Windows native：.cmd｜Ubuntu／WSL：bash .sh｜Git Bash 非主要路徑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27432" tIns="9144" rIns="27432" bIns="9144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P018｜WSL 工具與 uv 的安裝順序</a:t>
            </a:r>
          </a:p>
        </p:txBody>
      </p:sp>
      <p:sp>
        <p:nvSpPr>
          <p:cNvPr id="3" name="Main teaching statement"/>
          <p:cNvSpPr txBox="1"/>
          <p:nvPr/>
        </p:nvSpPr>
        <p:spPr>
          <a:xfrm>
            <a:off x="658368" y="850392"/>
            <a:ext cx="10881360" cy="768096"/>
          </a:xfrm>
          <a:prstGeom prst="rect">
            <a:avLst/>
          </a:prstGeom>
          <a:noFill/>
          <a:ln>
            <a:noFill/>
          </a:ln>
        </p:spPr>
        <p:txBody>
          <a:bodyPr wrap="square" lIns="54864" tIns="18288" rIns="54864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已確認的 Ubuntu shell 執行 `curl`、`unzip`、uv 與 Python 3.11 安裝命令。此 stage 只準備環境；`result.json` 由 runner stage 產生。</a:t>
            </a:r>
          </a:p>
        </p:txBody>
      </p:sp>
      <p:sp>
        <p:nvSpPr>
          <p:cNvPr id="4" name="Visual heading"/>
          <p:cNvSpPr txBox="1"/>
          <p:nvPr/>
        </p:nvSpPr>
        <p:spPr>
          <a:xfrm>
            <a:off x="768096" y="1709928"/>
            <a:ext cx="10698480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Ubuntu toolchain ladder</a:t>
            </a:r>
          </a:p>
        </p:txBody>
      </p:sp>
      <p:sp>
        <p:nvSpPr>
          <p:cNvPr id="5" name="Visual panel APT"/>
          <p:cNvSpPr/>
          <p:nvPr/>
        </p:nvSpPr>
        <p:spPr>
          <a:xfrm>
            <a:off x="896112" y="2103120"/>
            <a:ext cx="3273552" cy="15544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Visual heading APT"/>
          <p:cNvSpPr txBox="1"/>
          <p:nvPr/>
        </p:nvSpPr>
        <p:spPr>
          <a:xfrm>
            <a:off x="1024128" y="2249424"/>
            <a:ext cx="3017520" cy="310896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APT</a:t>
            </a:r>
          </a:p>
        </p:txBody>
      </p:sp>
      <p:sp>
        <p:nvSpPr>
          <p:cNvPr id="7" name="Visual body APT"/>
          <p:cNvSpPr txBox="1"/>
          <p:nvPr/>
        </p:nvSpPr>
        <p:spPr>
          <a:xfrm>
            <a:off x="1060704" y="2706624"/>
            <a:ext cx="2944368" cy="841247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1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curl／unzip</a:t>
            </a:r>
          </a:p>
        </p:txBody>
      </p:sp>
      <p:cxnSp>
        <p:nvCxnSpPr>
          <p:cNvPr id="8" name="Toolchain arrow"/>
          <p:cNvCxnSpPr/>
          <p:nvPr/>
        </p:nvCxnSpPr>
        <p:spPr>
          <a:xfrm>
            <a:off x="4169664" y="2871216"/>
            <a:ext cx="475488" cy="0"/>
          </a:xfrm>
          <a:prstGeom prst="line">
            <a:avLst/>
          </a:prstGeom>
          <a:ln w="20320">
            <a:solidFill>
              <a:srgbClr val="8468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Visual panel UV"/>
          <p:cNvSpPr/>
          <p:nvPr/>
        </p:nvSpPr>
        <p:spPr>
          <a:xfrm>
            <a:off x="4645152" y="2103120"/>
            <a:ext cx="3273552" cy="15544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Visual heading UV"/>
          <p:cNvSpPr txBox="1"/>
          <p:nvPr/>
        </p:nvSpPr>
        <p:spPr>
          <a:xfrm>
            <a:off x="4773168" y="2249424"/>
            <a:ext cx="3017520" cy="310896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UV</a:t>
            </a:r>
          </a:p>
        </p:txBody>
      </p:sp>
      <p:sp>
        <p:nvSpPr>
          <p:cNvPr id="11" name="Visual body UV"/>
          <p:cNvSpPr txBox="1"/>
          <p:nvPr/>
        </p:nvSpPr>
        <p:spPr>
          <a:xfrm>
            <a:off x="4809744" y="2706624"/>
            <a:ext cx="2944368" cy="841247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1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installer + version</a:t>
            </a:r>
          </a:p>
        </p:txBody>
      </p:sp>
      <p:cxnSp>
        <p:nvCxnSpPr>
          <p:cNvPr id="12" name="Toolchain arrow"/>
          <p:cNvCxnSpPr/>
          <p:nvPr/>
        </p:nvCxnSpPr>
        <p:spPr>
          <a:xfrm>
            <a:off x="7918704" y="2871216"/>
            <a:ext cx="475488" cy="0"/>
          </a:xfrm>
          <a:prstGeom prst="line">
            <a:avLst/>
          </a:prstGeom>
          <a:ln w="20320">
            <a:solidFill>
              <a:srgbClr val="8468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Visual panel PYTHON"/>
          <p:cNvSpPr/>
          <p:nvPr/>
        </p:nvSpPr>
        <p:spPr>
          <a:xfrm>
            <a:off x="8394192" y="2103120"/>
            <a:ext cx="3273552" cy="15544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Visual heading PYTHON"/>
          <p:cNvSpPr txBox="1"/>
          <p:nvPr/>
        </p:nvSpPr>
        <p:spPr>
          <a:xfrm>
            <a:off x="8522208" y="2249424"/>
            <a:ext cx="3017520" cy="310896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PYTHON</a:t>
            </a:r>
          </a:p>
        </p:txBody>
      </p:sp>
      <p:sp>
        <p:nvSpPr>
          <p:cNvPr id="15" name="Visual body PYTHON"/>
          <p:cNvSpPr txBox="1"/>
          <p:nvPr/>
        </p:nvSpPr>
        <p:spPr>
          <a:xfrm>
            <a:off x="8558784" y="2706624"/>
            <a:ext cx="2944368" cy="841247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1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3.11 interpreter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27432" tIns="9144" rIns="27432" bIns="9144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P019a｜將 release asset 複製到 Linux home</a:t>
            </a:r>
          </a:p>
        </p:txBody>
      </p:sp>
      <p:sp>
        <p:nvSpPr>
          <p:cNvPr id="3" name="Main teaching statement"/>
          <p:cNvSpPr txBox="1"/>
          <p:nvPr/>
        </p:nvSpPr>
        <p:spPr>
          <a:xfrm>
            <a:off x="658368" y="850392"/>
            <a:ext cx="10881360" cy="768096"/>
          </a:xfrm>
          <a:prstGeom prst="rect">
            <a:avLst/>
          </a:prstGeom>
          <a:noFill/>
          <a:ln>
            <a:noFill/>
          </a:ln>
        </p:spPr>
        <p:txBody>
          <a:bodyPr wrap="square" lIns="54864" tIns="18288" rIns="54864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WSL：ZIP 先放 `$HOME`；下一頁只形成一層 `lora-energy-lab`。</a:t>
            </a:r>
          </a:p>
        </p:txBody>
      </p:sp>
      <p:sp>
        <p:nvSpPr>
          <p:cNvPr id="4" name="Visual heading"/>
          <p:cNvSpPr txBox="1"/>
          <p:nvPr/>
        </p:nvSpPr>
        <p:spPr>
          <a:xfrm>
            <a:off x="768096" y="1709928"/>
            <a:ext cx="10698480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Windows Downloads → WSL Linux home → package root</a:t>
            </a:r>
          </a:p>
        </p:txBody>
      </p:sp>
      <p:sp>
        <p:nvSpPr>
          <p:cNvPr id="5" name="Command context frame"/>
          <p:cNvSpPr/>
          <p:nvPr/>
        </p:nvSpPr>
        <p:spPr>
          <a:xfrm>
            <a:off x="640080" y="2011680"/>
            <a:ext cx="5394960" cy="120700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ommand context label"/>
          <p:cNvSpPr txBox="1"/>
          <p:nvPr/>
        </p:nvSpPr>
        <p:spPr>
          <a:xfrm>
            <a:off x="749808" y="2057400"/>
            <a:ext cx="5175504" cy="310896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Windows PowerShell｜Downloads</a:t>
            </a:r>
          </a:p>
        </p:txBody>
      </p:sp>
      <p:sp>
        <p:nvSpPr>
          <p:cNvPr id="7" name="Command line 1"/>
          <p:cNvSpPr txBox="1"/>
          <p:nvPr/>
        </p:nvSpPr>
        <p:spPr>
          <a:xfrm>
            <a:off x="777240" y="2414016"/>
            <a:ext cx="5120640" cy="356616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Set-Location "$HOME\Downloads"</a:t>
            </a:r>
          </a:p>
        </p:txBody>
      </p:sp>
      <p:sp>
        <p:nvSpPr>
          <p:cNvPr id="8" name="Command line 2"/>
          <p:cNvSpPr txBox="1"/>
          <p:nvPr/>
        </p:nvSpPr>
        <p:spPr>
          <a:xfrm>
            <a:off x="777240" y="2788920"/>
            <a:ext cx="5120640" cy="356616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Get-ChildItem .\lora-energy-lab-v1.zip</a:t>
            </a:r>
          </a:p>
        </p:txBody>
      </p:sp>
      <p:sp>
        <p:nvSpPr>
          <p:cNvPr id="9" name="Command context frame"/>
          <p:cNvSpPr/>
          <p:nvPr/>
        </p:nvSpPr>
        <p:spPr>
          <a:xfrm>
            <a:off x="6172200" y="2011680"/>
            <a:ext cx="5394960" cy="285292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Command context label"/>
          <p:cNvSpPr txBox="1"/>
          <p:nvPr/>
        </p:nvSpPr>
        <p:spPr>
          <a:xfrm>
            <a:off x="6281928" y="2057400"/>
            <a:ext cx="5175504" cy="310896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WSL／POSIX bash｜copy into Linux home</a:t>
            </a:r>
          </a:p>
        </p:txBody>
      </p:sp>
      <p:sp>
        <p:nvSpPr>
          <p:cNvPr id="11" name="Command line 1"/>
          <p:cNvSpPr txBox="1"/>
          <p:nvPr/>
        </p:nvSpPr>
        <p:spPr>
          <a:xfrm>
            <a:off x="6309360" y="2414016"/>
            <a:ext cx="5120640" cy="457200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WIN_USER="&lt;Windows帳號&gt;"</a:t>
            </a:r>
          </a:p>
        </p:txBody>
      </p:sp>
      <p:sp>
        <p:nvSpPr>
          <p:cNvPr id="12" name="Command line 2"/>
          <p:cNvSpPr txBox="1"/>
          <p:nvPr/>
        </p:nvSpPr>
        <p:spPr>
          <a:xfrm>
            <a:off x="6309360" y="2889504"/>
            <a:ext cx="5120640" cy="457200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cd "/mnt/c/Users/$WIN_USER/Downloads"</a:t>
            </a:r>
          </a:p>
        </p:txBody>
      </p:sp>
      <p:sp>
        <p:nvSpPr>
          <p:cNvPr id="13" name="Command line 3"/>
          <p:cNvSpPr txBox="1"/>
          <p:nvPr/>
        </p:nvSpPr>
        <p:spPr>
          <a:xfrm>
            <a:off x="6309360" y="3364992"/>
            <a:ext cx="5120640" cy="457200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cp lora-energy-lab-v1.zip "$HOME/"</a:t>
            </a:r>
          </a:p>
        </p:txBody>
      </p:sp>
      <p:sp>
        <p:nvSpPr>
          <p:cNvPr id="14" name="Command line 4"/>
          <p:cNvSpPr txBox="1"/>
          <p:nvPr/>
        </p:nvSpPr>
        <p:spPr>
          <a:xfrm>
            <a:off x="6309360" y="3840480"/>
            <a:ext cx="5120640" cy="457200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cd "$HOME"</a:t>
            </a:r>
          </a:p>
        </p:txBody>
      </p:sp>
      <p:sp>
        <p:nvSpPr>
          <p:cNvPr id="15" name="Copy path rule"/>
          <p:cNvSpPr txBox="1"/>
          <p:nvPr/>
        </p:nvSpPr>
        <p:spPr>
          <a:xfrm>
            <a:off x="804672" y="5102352"/>
            <a:ext cx="10607040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`&lt;Windows帳號&gt;` 需替換成實際帳號；ZIP 先到 $HOME，下一頁解壓只形成一層 lora-energy-lab。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27432" tIns="9144" rIns="27432" bIns="9144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P019b｜WSL extract／root：建立 Linux venv</a:t>
            </a:r>
          </a:p>
        </p:txBody>
      </p:sp>
      <p:sp>
        <p:nvSpPr>
          <p:cNvPr id="3" name="Main teaching statement"/>
          <p:cNvSpPr txBox="1"/>
          <p:nvPr/>
        </p:nvSpPr>
        <p:spPr>
          <a:xfrm>
            <a:off x="658368" y="850392"/>
            <a:ext cx="10881360" cy="768096"/>
          </a:xfrm>
          <a:prstGeom prst="rect">
            <a:avLst/>
          </a:prstGeom>
          <a:noFill/>
          <a:ln>
            <a:noFill/>
          </a:ln>
        </p:spPr>
        <p:txBody>
          <a:bodyPr wrap="square" lIns="54864" tIns="18288" rIns="54864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Linux home：unzip 後只形成一層 `lora-energy-lab` root。</a:t>
            </a:r>
          </a:p>
        </p:txBody>
      </p:sp>
      <p:sp>
        <p:nvSpPr>
          <p:cNvPr id="4" name="Visual heading"/>
          <p:cNvSpPr txBox="1"/>
          <p:nvPr/>
        </p:nvSpPr>
        <p:spPr>
          <a:xfrm>
            <a:off x="768096" y="1709928"/>
            <a:ext cx="10698480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WSL／POSIX exact route：extract → root → READY</a:t>
            </a:r>
          </a:p>
        </p:txBody>
      </p:sp>
      <p:sp>
        <p:nvSpPr>
          <p:cNvPr id="5" name="Command context frame"/>
          <p:cNvSpPr/>
          <p:nvPr/>
        </p:nvSpPr>
        <p:spPr>
          <a:xfrm>
            <a:off x="640080" y="2011680"/>
            <a:ext cx="5394960" cy="221284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ommand context label"/>
          <p:cNvSpPr txBox="1"/>
          <p:nvPr/>
        </p:nvSpPr>
        <p:spPr>
          <a:xfrm>
            <a:off x="749808" y="2057400"/>
            <a:ext cx="5175504" cy="310896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WSL／POSIX｜Linux home → one root</a:t>
            </a:r>
          </a:p>
        </p:txBody>
      </p:sp>
      <p:sp>
        <p:nvSpPr>
          <p:cNvPr id="7" name="Command line 1"/>
          <p:cNvSpPr txBox="1"/>
          <p:nvPr/>
        </p:nvSpPr>
        <p:spPr>
          <a:xfrm>
            <a:off x="777240" y="2414016"/>
            <a:ext cx="5120640" cy="457200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unzip lora-energy-lab-v1.zip</a:t>
            </a:r>
          </a:p>
        </p:txBody>
      </p:sp>
      <p:sp>
        <p:nvSpPr>
          <p:cNvPr id="8" name="Command line 2"/>
          <p:cNvSpPr txBox="1"/>
          <p:nvPr/>
        </p:nvSpPr>
        <p:spPr>
          <a:xfrm>
            <a:off x="777240" y="2889504"/>
            <a:ext cx="5120640" cy="457200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cd lora-energy-lab</a:t>
            </a:r>
          </a:p>
        </p:txBody>
      </p:sp>
      <p:sp>
        <p:nvSpPr>
          <p:cNvPr id="9" name="Command line 3"/>
          <p:cNvSpPr txBox="1"/>
          <p:nvPr/>
        </p:nvSpPr>
        <p:spPr>
          <a:xfrm>
            <a:off x="777240" y="3364992"/>
            <a:ext cx="5120640" cy="457200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pwd</a:t>
            </a:r>
          </a:p>
        </p:txBody>
      </p:sp>
      <p:sp>
        <p:nvSpPr>
          <p:cNvPr id="10" name="Command context frame"/>
          <p:cNvSpPr/>
          <p:nvPr/>
        </p:nvSpPr>
        <p:spPr>
          <a:xfrm>
            <a:off x="6172200" y="2011680"/>
            <a:ext cx="5394960" cy="221284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ommand context label"/>
          <p:cNvSpPr txBox="1"/>
          <p:nvPr/>
        </p:nvSpPr>
        <p:spPr>
          <a:xfrm>
            <a:off x="6281928" y="2057400"/>
            <a:ext cx="5175504" cy="310896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WSL／POSIX｜lora-energy-lab root</a:t>
            </a:r>
          </a:p>
        </p:txBody>
      </p:sp>
      <p:sp>
        <p:nvSpPr>
          <p:cNvPr id="12" name="Command line 1"/>
          <p:cNvSpPr txBox="1"/>
          <p:nvPr/>
        </p:nvSpPr>
        <p:spPr>
          <a:xfrm>
            <a:off x="6309360" y="2414016"/>
            <a:ext cx="5120640" cy="457200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PYTHON_BIN=python3.11 bash setup.sh</a:t>
            </a:r>
          </a:p>
        </p:txBody>
      </p:sp>
      <p:sp>
        <p:nvSpPr>
          <p:cNvPr id="13" name="Command line 2"/>
          <p:cNvSpPr txBox="1"/>
          <p:nvPr/>
        </p:nvSpPr>
        <p:spPr>
          <a:xfrm>
            <a:off x="6309360" y="2889504"/>
            <a:ext cx="5120640" cy="457200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bash course.sh verify</a:t>
            </a:r>
          </a:p>
        </p:txBody>
      </p:sp>
      <p:sp>
        <p:nvSpPr>
          <p:cNvPr id="14" name="Root ready boundary"/>
          <p:cNvSpPr txBox="1"/>
          <p:nvPr/>
        </p:nvSpPr>
        <p:spPr>
          <a:xfrm>
            <a:off x="877824" y="4462272"/>
            <a:ext cx="10387584" cy="36576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同一 root 對應 .venv/bin/python、lock 與 verify-receipt.json；READY 才允許 RUN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27432" tIns="9144" rIns="27432" bIns="9144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P020｜POSIX runner 的最小入口</a:t>
            </a:r>
          </a:p>
        </p:txBody>
      </p:sp>
      <p:sp>
        <p:nvSpPr>
          <p:cNvPr id="3" name="Main teaching statement"/>
          <p:cNvSpPr txBox="1"/>
          <p:nvPr/>
        </p:nvSpPr>
        <p:spPr>
          <a:xfrm>
            <a:off x="658368" y="850392"/>
            <a:ext cx="10881360" cy="768096"/>
          </a:xfrm>
          <a:prstGeom prst="rect">
            <a:avLst/>
          </a:prstGeom>
          <a:noFill/>
          <a:ln>
            <a:noFill/>
          </a:ln>
        </p:spPr>
        <p:txBody>
          <a:bodyPr wrap="square" lIns="54864" tIns="18288" rIns="54864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Linux 與 macOS 在 `lora-energy-lab` root 使用 POSIX launcher，interpreter 固定為 Python 3.11.x。setup 完成且 `course.sh verify` 成功後，進入 policy 操作。</a:t>
            </a:r>
          </a:p>
        </p:txBody>
      </p:sp>
      <p:sp>
        <p:nvSpPr>
          <p:cNvPr id="4" name="Visual heading"/>
          <p:cNvSpPr txBox="1"/>
          <p:nvPr/>
        </p:nvSpPr>
        <p:spPr>
          <a:xfrm>
            <a:off x="768096" y="1709928"/>
            <a:ext cx="10698480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POSIX：exact interpreter → setup → verify</a:t>
            </a:r>
          </a:p>
        </p:txBody>
      </p:sp>
      <p:sp>
        <p:nvSpPr>
          <p:cNvPr id="5" name="Command context frame"/>
          <p:cNvSpPr/>
          <p:nvPr/>
        </p:nvSpPr>
        <p:spPr>
          <a:xfrm>
            <a:off x="950976" y="2066543"/>
            <a:ext cx="6309360" cy="171907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ommand context label"/>
          <p:cNvSpPr txBox="1"/>
          <p:nvPr/>
        </p:nvSpPr>
        <p:spPr>
          <a:xfrm>
            <a:off x="1060704" y="2112263"/>
            <a:ext cx="6089904" cy="310896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lora-energy-lab root｜Linux／macOS</a:t>
            </a:r>
          </a:p>
        </p:txBody>
      </p:sp>
      <p:sp>
        <p:nvSpPr>
          <p:cNvPr id="7" name="Command line 1"/>
          <p:cNvSpPr txBox="1"/>
          <p:nvPr/>
        </p:nvSpPr>
        <p:spPr>
          <a:xfrm>
            <a:off x="1088136" y="2468879"/>
            <a:ext cx="6035040" cy="457200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PYTHON_BIN=python3.11 bash setup.sh</a:t>
            </a:r>
          </a:p>
        </p:txBody>
      </p:sp>
      <p:sp>
        <p:nvSpPr>
          <p:cNvPr id="8" name="Command line 2"/>
          <p:cNvSpPr txBox="1"/>
          <p:nvPr/>
        </p:nvSpPr>
        <p:spPr>
          <a:xfrm>
            <a:off x="1088136" y="2944368"/>
            <a:ext cx="6035040" cy="457200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bash course.sh verify</a:t>
            </a:r>
          </a:p>
        </p:txBody>
      </p:sp>
      <p:sp>
        <p:nvSpPr>
          <p:cNvPr id="9" name="Visual panel GATE"/>
          <p:cNvSpPr/>
          <p:nvPr/>
        </p:nvSpPr>
        <p:spPr>
          <a:xfrm>
            <a:off x="7571231" y="2066543"/>
            <a:ext cx="3529584" cy="171907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Visual heading GATE"/>
          <p:cNvSpPr txBox="1"/>
          <p:nvPr/>
        </p:nvSpPr>
        <p:spPr>
          <a:xfrm>
            <a:off x="7699248" y="2212848"/>
            <a:ext cx="3273552" cy="310896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GATE</a:t>
            </a:r>
          </a:p>
        </p:txBody>
      </p:sp>
      <p:sp>
        <p:nvSpPr>
          <p:cNvPr id="11" name="Visual body GATE"/>
          <p:cNvSpPr txBox="1"/>
          <p:nvPr/>
        </p:nvSpPr>
        <p:spPr>
          <a:xfrm>
            <a:off x="7735823" y="2670048"/>
            <a:ext cx="3200400" cy="1005839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status: READY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package-local venv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27432" tIns="9144" rIns="27432" bIns="9144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P021a｜verify-receipt.json：schema example</a:t>
            </a:r>
          </a:p>
        </p:txBody>
      </p:sp>
      <p:sp>
        <p:nvSpPr>
          <p:cNvPr id="3" name="Main teaching statement"/>
          <p:cNvSpPr txBox="1"/>
          <p:nvPr/>
        </p:nvSpPr>
        <p:spPr>
          <a:xfrm>
            <a:off x="658368" y="850392"/>
            <a:ext cx="10881360" cy="768096"/>
          </a:xfrm>
          <a:prstGeom prst="rect">
            <a:avLst/>
          </a:prstGeom>
          <a:noFill/>
          <a:ln>
            <a:noFill/>
          </a:ln>
        </p:spPr>
        <p:txBody>
          <a:bodyPr wrap="square" lIns="54864" tIns="18288" rIns="54864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`verify-receipt.json` 圖例只說明欄位與型別；現場值從 package root 讀取。RUN 輸出另見 `result.json` 與 `endpoint-replay.json`。</a:t>
            </a:r>
          </a:p>
        </p:txBody>
      </p:sp>
      <p:sp>
        <p:nvSpPr>
          <p:cNvPr id="4" name="Visual heading"/>
          <p:cNvSpPr txBox="1"/>
          <p:nvPr/>
        </p:nvSpPr>
        <p:spPr>
          <a:xfrm>
            <a:off x="768096" y="1709928"/>
            <a:ext cx="10698480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verify-receipt.json：schema／example</a:t>
            </a:r>
          </a:p>
        </p:txBody>
      </p:sp>
      <p:sp>
        <p:nvSpPr>
          <p:cNvPr id="5" name="Receipt JSON"/>
          <p:cNvSpPr/>
          <p:nvPr/>
        </p:nvSpPr>
        <p:spPr>
          <a:xfrm>
            <a:off x="950976" y="2011680"/>
            <a:ext cx="10241280" cy="1865376"/>
          </a:xfrm>
          <a:prstGeom prst="roundRect">
            <a:avLst/>
          </a:prstGeom>
          <a:solidFill>
            <a:srgbClr val="E9EDFC"/>
          </a:solidFill>
          <a:ln w="1524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eipt JSON text"/>
          <p:cNvSpPr txBox="1"/>
          <p:nvPr/>
        </p:nvSpPr>
        <p:spPr>
          <a:xfrm>
            <a:off x="1298448" y="2322576"/>
            <a:ext cx="9546336" cy="1225296"/>
          </a:xfrm>
          <a:prstGeom prst="rect">
            <a:avLst/>
          </a:prstGeom>
          <a:noFill/>
          <a:ln>
            <a:noFill/>
          </a:ln>
        </p:spPr>
        <p:txBody>
          <a:bodyPr wrap="square" lIns="36576" tIns="9144" rIns="36576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  "status": "READY",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  "python_version": "3.11.x",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  "</a:t>
            </a:r>
            <a:r>
              <a:rPr sz="20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scenario_id</a:t>
            </a: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": "ntpu-energy-decision-01"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}</a:t>
            </a:r>
          </a:p>
        </p:txBody>
      </p:sp>
      <p:sp>
        <p:nvSpPr>
          <p:cNvPr id="7" name="Receipt schema disclaimer"/>
          <p:cNvSpPr txBox="1"/>
          <p:nvPr/>
        </p:nvSpPr>
        <p:spPr>
          <a:xfrm>
            <a:off x="1078992" y="4041648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SCHEMA／EXAMPLE ONLY｜值為示意；現場以實際 verify-receipt.json 為準</a:t>
            </a:r>
          </a:p>
        </p:txBody>
      </p:sp>
      <p:sp>
        <p:nvSpPr>
          <p:cNvPr id="8" name="Receipt output boundary"/>
          <p:cNvSpPr txBox="1"/>
          <p:nvPr/>
        </p:nvSpPr>
        <p:spPr>
          <a:xfrm>
            <a:off x="1078992" y="4315968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energy/output：result.json＋endpoint-replay.json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27432" tIns="9144" rIns="27432" bIns="9144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P021b｜逐欄解讀：READY 與 energy evidence 分層</a:t>
            </a:r>
          </a:p>
        </p:txBody>
      </p:sp>
      <p:sp>
        <p:nvSpPr>
          <p:cNvPr id="3" name="Main teaching statement"/>
          <p:cNvSpPr txBox="1"/>
          <p:nvPr/>
        </p:nvSpPr>
        <p:spPr>
          <a:xfrm>
            <a:off x="658368" y="850392"/>
            <a:ext cx="10881360" cy="768096"/>
          </a:xfrm>
          <a:prstGeom prst="rect">
            <a:avLst/>
          </a:prstGeom>
          <a:noFill/>
          <a:ln>
            <a:noFill/>
          </a:ln>
        </p:spPr>
        <p:txBody>
          <a:bodyPr wrap="square" lIns="54864" tIns="18288" rIns="54864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READY receipt 提供四個 identity fields。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四欄共同限定 claim ceiling；energy result 另屬 run evidence。</a:t>
            </a:r>
          </a:p>
        </p:txBody>
      </p:sp>
      <p:sp>
        <p:nvSpPr>
          <p:cNvPr id="4" name="Visual heading"/>
          <p:cNvSpPr txBox="1"/>
          <p:nvPr/>
        </p:nvSpPr>
        <p:spPr>
          <a:xfrm>
            <a:off x="768096" y="1709928"/>
            <a:ext cx="10698480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identity fields 共同限定 claim ceiling</a:t>
            </a:r>
          </a:p>
        </p:txBody>
      </p:sp>
      <p:sp>
        <p:nvSpPr>
          <p:cNvPr id="5" name="Receipt field scenario_id｜情境識別碼"/>
          <p:cNvSpPr/>
          <p:nvPr/>
        </p:nvSpPr>
        <p:spPr>
          <a:xfrm>
            <a:off x="713232" y="2048256"/>
            <a:ext cx="5230368" cy="144475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eipt field key scenario_id｜情境識別碼"/>
          <p:cNvSpPr txBox="1"/>
          <p:nvPr/>
        </p:nvSpPr>
        <p:spPr>
          <a:xfrm>
            <a:off x="859536" y="2176272"/>
            <a:ext cx="4937760" cy="292608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1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scenario_id</a:t>
            </a:r>
            <a:r>
              <a:rPr sz="20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｜情境識別碼</a:t>
            </a:r>
          </a:p>
        </p:txBody>
      </p:sp>
      <p:sp>
        <p:nvSpPr>
          <p:cNvPr id="7" name="Receipt field value scenario_id｜情境識別碼"/>
          <p:cNvSpPr txBox="1"/>
          <p:nvPr/>
        </p:nvSpPr>
        <p:spPr>
          <a:xfrm>
            <a:off x="859536" y="2551176"/>
            <a:ext cx="4937760" cy="713232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ntpu-energy-decision-01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字串；READY receipt</a:t>
            </a:r>
          </a:p>
        </p:txBody>
      </p:sp>
      <p:sp>
        <p:nvSpPr>
          <p:cNvPr id="8" name="Receipt field policy_api_version｜介面版本"/>
          <p:cNvSpPr/>
          <p:nvPr/>
        </p:nvSpPr>
        <p:spPr>
          <a:xfrm>
            <a:off x="6254496" y="2048256"/>
            <a:ext cx="5230368" cy="144475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eipt field key policy_api_version｜介面版本"/>
          <p:cNvSpPr txBox="1"/>
          <p:nvPr/>
        </p:nvSpPr>
        <p:spPr>
          <a:xfrm>
            <a:off x="6400800" y="2176272"/>
            <a:ext cx="4937760" cy="292608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1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policy_api_version</a:t>
            </a: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｜介面版本</a:t>
            </a:r>
          </a:p>
        </p:txBody>
      </p:sp>
      <p:sp>
        <p:nvSpPr>
          <p:cNvPr id="10" name="Receipt field value policy_api_version｜介面版本"/>
          <p:cNvSpPr txBox="1"/>
          <p:nvPr/>
        </p:nvSpPr>
        <p:spPr>
          <a:xfrm>
            <a:off x="6400800" y="2551176"/>
            <a:ext cx="4937760" cy="713232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lora-energy-policy-v1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字串；READY receipt</a:t>
            </a:r>
          </a:p>
        </p:txBody>
      </p:sp>
      <p:sp>
        <p:nvSpPr>
          <p:cNvPr id="11" name="Receipt field engine_mode｜引擎模式"/>
          <p:cNvSpPr/>
          <p:nvPr/>
        </p:nvSpPr>
        <p:spPr>
          <a:xfrm>
            <a:off x="713232" y="3749039"/>
            <a:ext cx="5230368" cy="144475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eipt field key engine_mode｜引擎模式"/>
          <p:cNvSpPr txBox="1"/>
          <p:nvPr/>
        </p:nvSpPr>
        <p:spPr>
          <a:xfrm>
            <a:off x="859536" y="3877055"/>
            <a:ext cx="4937760" cy="292608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1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engine_mode</a:t>
            </a:r>
            <a:r>
              <a:rPr sz="20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｜引擎模式</a:t>
            </a:r>
          </a:p>
        </p:txBody>
      </p:sp>
      <p:sp>
        <p:nvSpPr>
          <p:cNvPr id="13" name="Receipt field value engine_mode｜引擎模式"/>
          <p:cNvSpPr txBox="1"/>
          <p:nvPr/>
        </p:nvSpPr>
        <p:spPr>
          <a:xfrm>
            <a:off x="859536" y="4251959"/>
            <a:ext cx="4937760" cy="713232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coherent-course-simulated-adapter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分類；READY receipt</a:t>
            </a:r>
          </a:p>
        </p:txBody>
      </p:sp>
      <p:sp>
        <p:nvSpPr>
          <p:cNvPr id="14" name="Receipt field upstream｜上游執行"/>
          <p:cNvSpPr/>
          <p:nvPr/>
        </p:nvSpPr>
        <p:spPr>
          <a:xfrm>
            <a:off x="6254496" y="3749039"/>
            <a:ext cx="5230368" cy="144475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eipt field key upstream｜上游執行"/>
          <p:cNvSpPr txBox="1"/>
          <p:nvPr/>
        </p:nvSpPr>
        <p:spPr>
          <a:xfrm>
            <a:off x="6400800" y="3877055"/>
            <a:ext cx="4937760" cy="292608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upstream｜上游執行</a:t>
            </a:r>
          </a:p>
        </p:txBody>
      </p:sp>
      <p:sp>
        <p:nvSpPr>
          <p:cNvPr id="16" name="Receipt field value upstream｜上游執行"/>
          <p:cNvSpPr txBox="1"/>
          <p:nvPr/>
        </p:nvSpPr>
        <p:spPr>
          <a:xfrm>
            <a:off x="6400800" y="4251959"/>
            <a:ext cx="4937760" cy="713232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false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布林；READY receipt</a:t>
            </a:r>
          </a:p>
        </p:txBody>
      </p:sp>
      <p:sp>
        <p:nvSpPr>
          <p:cNvPr id="17" name="Receipt identity explanation"/>
          <p:cNvSpPr txBox="1"/>
          <p:nvPr/>
        </p:nvSpPr>
        <p:spPr>
          <a:xfrm>
            <a:off x="1078992" y="5321808"/>
            <a:ext cx="10058400" cy="256032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作用：identity value 限定 claim ceiling；四欄均來自 READY receipt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27432" tIns="9144" rIns="27432" bIns="9144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P022｜setup 失敗：gate repair 與 same-scenario fallback</a:t>
            </a:r>
          </a:p>
        </p:txBody>
      </p:sp>
      <p:sp>
        <p:nvSpPr>
          <p:cNvPr id="3" name="Main teaching statement"/>
          <p:cNvSpPr txBox="1"/>
          <p:nvPr/>
        </p:nvSpPr>
        <p:spPr>
          <a:xfrm>
            <a:off x="658368" y="850392"/>
            <a:ext cx="10881360" cy="768096"/>
          </a:xfrm>
          <a:prstGeom prst="rect">
            <a:avLst/>
          </a:prstGeom>
          <a:noFill/>
          <a:ln>
            <a:noFill/>
          </a:ln>
        </p:spPr>
        <p:txBody>
          <a:bodyPr wrap="square" lIns="54864" tIns="18288" rIns="54864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失敗範圍限於 Python minor、root、lock 或 policy。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READY 缺少時，分 shell verify，再選 same-scenario-fallback。</a:t>
            </a:r>
          </a:p>
        </p:txBody>
      </p:sp>
      <p:sp>
        <p:nvSpPr>
          <p:cNvPr id="4" name="Visual heading"/>
          <p:cNvSpPr txBox="1"/>
          <p:nvPr/>
        </p:nvSpPr>
        <p:spPr>
          <a:xfrm>
            <a:off x="768096" y="1709928"/>
            <a:ext cx="10698480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Windows／WSL verify route → repair or same-scenario fallback</a:t>
            </a:r>
          </a:p>
        </p:txBody>
      </p:sp>
      <p:sp>
        <p:nvSpPr>
          <p:cNvPr id="5" name="Command context frame"/>
          <p:cNvSpPr/>
          <p:nvPr/>
        </p:nvSpPr>
        <p:spPr>
          <a:xfrm>
            <a:off x="640080" y="1993392"/>
            <a:ext cx="5394960" cy="117043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ommand context label"/>
          <p:cNvSpPr txBox="1"/>
          <p:nvPr/>
        </p:nvSpPr>
        <p:spPr>
          <a:xfrm>
            <a:off x="749808" y="2039112"/>
            <a:ext cx="5175504" cy="310896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Windows PowerShell｜package root</a:t>
            </a:r>
          </a:p>
        </p:txBody>
      </p:sp>
      <p:sp>
        <p:nvSpPr>
          <p:cNvPr id="7" name="Command line 1"/>
          <p:cNvSpPr txBox="1"/>
          <p:nvPr/>
        </p:nvSpPr>
        <p:spPr>
          <a:xfrm>
            <a:off x="777240" y="2395728"/>
            <a:ext cx="5120640" cy="457200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.\course.cmd verify</a:t>
            </a:r>
          </a:p>
        </p:txBody>
      </p:sp>
      <p:sp>
        <p:nvSpPr>
          <p:cNvPr id="8" name="Command context frame"/>
          <p:cNvSpPr/>
          <p:nvPr/>
        </p:nvSpPr>
        <p:spPr>
          <a:xfrm>
            <a:off x="6172200" y="1993392"/>
            <a:ext cx="5394960" cy="117043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Command context label"/>
          <p:cNvSpPr txBox="1"/>
          <p:nvPr/>
        </p:nvSpPr>
        <p:spPr>
          <a:xfrm>
            <a:off x="6281928" y="2039112"/>
            <a:ext cx="5175504" cy="310896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WSL／POSIX bash｜package root</a:t>
            </a:r>
          </a:p>
        </p:txBody>
      </p:sp>
      <p:sp>
        <p:nvSpPr>
          <p:cNvPr id="10" name="Command line 1"/>
          <p:cNvSpPr txBox="1"/>
          <p:nvPr/>
        </p:nvSpPr>
        <p:spPr>
          <a:xfrm>
            <a:off x="6309360" y="2395728"/>
            <a:ext cx="5120640" cy="457200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bash course.sh verify</a:t>
            </a:r>
          </a:p>
        </p:txBody>
      </p:sp>
      <p:sp>
        <p:nvSpPr>
          <p:cNvPr id="11" name="Recovery input"/>
          <p:cNvSpPr/>
          <p:nvPr/>
        </p:nvSpPr>
        <p:spPr>
          <a:xfrm>
            <a:off x="5468112" y="3364992"/>
            <a:ext cx="658368" cy="658368"/>
          </a:xfrm>
          <a:prstGeom prst="ellipse">
            <a:avLst/>
          </a:prstGeom>
          <a:solidFill>
            <a:srgbClr val="6F89F7"/>
          </a:solidFill>
          <a:ln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overy input label"/>
          <p:cNvSpPr txBox="1"/>
          <p:nvPr/>
        </p:nvSpPr>
        <p:spPr>
          <a:xfrm>
            <a:off x="5102352" y="3547872"/>
            <a:ext cx="1389888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Times New Roman"/>
                <a:ea typeface="標楷體"/>
                <a:cs typeface="Times New Roman"/>
              </a:rPr>
              <a:t>error</a:t>
            </a:r>
          </a:p>
        </p:txBody>
      </p:sp>
      <p:cxnSp>
        <p:nvCxnSpPr>
          <p:cNvPr id="13" name="Repair branch"/>
          <p:cNvCxnSpPr/>
          <p:nvPr/>
        </p:nvCxnSpPr>
        <p:spPr>
          <a:xfrm flipH="1">
            <a:off x="2907792" y="4023360"/>
            <a:ext cx="2889504" cy="91440"/>
          </a:xfrm>
          <a:prstGeom prst="line">
            <a:avLst/>
          </a:prstGeom>
          <a:ln w="20320">
            <a:solidFill>
              <a:srgbClr val="6F89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Fallback branch"/>
          <p:cNvCxnSpPr/>
          <p:nvPr/>
        </p:nvCxnSpPr>
        <p:spPr>
          <a:xfrm>
            <a:off x="5797296" y="4023360"/>
            <a:ext cx="2852928" cy="91440"/>
          </a:xfrm>
          <a:prstGeom prst="line">
            <a:avLst/>
          </a:prstGeom>
          <a:ln w="20320">
            <a:solidFill>
              <a:srgbClr val="8468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Visual panel REPAIR"/>
          <p:cNvSpPr/>
          <p:nvPr/>
        </p:nvSpPr>
        <p:spPr>
          <a:xfrm>
            <a:off x="859536" y="4114800"/>
            <a:ext cx="4315968" cy="87782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Visual heading REPAIR"/>
          <p:cNvSpPr txBox="1"/>
          <p:nvPr/>
        </p:nvSpPr>
        <p:spPr>
          <a:xfrm>
            <a:off x="987552" y="4261104"/>
            <a:ext cx="4059935" cy="310896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REPAIR</a:t>
            </a:r>
          </a:p>
        </p:txBody>
      </p:sp>
      <p:sp>
        <p:nvSpPr>
          <p:cNvPr id="17" name="Visual body REPAIR"/>
          <p:cNvSpPr txBox="1"/>
          <p:nvPr/>
        </p:nvSpPr>
        <p:spPr>
          <a:xfrm>
            <a:off x="1024127" y="4718304"/>
            <a:ext cx="3986783" cy="164591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修目前指出的最小 gate</a:t>
            </a:r>
          </a:p>
        </p:txBody>
      </p:sp>
      <p:sp>
        <p:nvSpPr>
          <p:cNvPr id="18" name="Visual panel FALLBACK"/>
          <p:cNvSpPr/>
          <p:nvPr/>
        </p:nvSpPr>
        <p:spPr>
          <a:xfrm>
            <a:off x="7022592" y="4114800"/>
            <a:ext cx="4315968" cy="87782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Visual heading FALLBACK"/>
          <p:cNvSpPr txBox="1"/>
          <p:nvPr/>
        </p:nvSpPr>
        <p:spPr>
          <a:xfrm>
            <a:off x="7150607" y="4261104"/>
            <a:ext cx="4059935" cy="310896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FALLBACK</a:t>
            </a:r>
          </a:p>
        </p:txBody>
      </p:sp>
      <p:sp>
        <p:nvSpPr>
          <p:cNvPr id="20" name="Visual body FALLBACK"/>
          <p:cNvSpPr txBox="1"/>
          <p:nvPr/>
        </p:nvSpPr>
        <p:spPr>
          <a:xfrm>
            <a:off x="7187183" y="4718304"/>
            <a:ext cx="3986783" cy="164591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same-scenario-fallback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27432" tIns="9144" rIns="27432" bIns="9144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P023｜可編輯檔案只有 `</a:t>
            </a:r>
            <a:r>
              <a:rPr sz="2800" b="1" i="1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student_policy.py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` 的 marked block</a:t>
            </a:r>
          </a:p>
        </p:txBody>
      </p:sp>
      <p:sp>
        <p:nvSpPr>
          <p:cNvPr id="3" name="Main teaching statement"/>
          <p:cNvSpPr txBox="1"/>
          <p:nvPr/>
        </p:nvSpPr>
        <p:spPr>
          <a:xfrm>
            <a:off x="658368" y="850392"/>
            <a:ext cx="10881360" cy="768096"/>
          </a:xfrm>
          <a:prstGeom prst="rect">
            <a:avLst/>
          </a:prstGeom>
          <a:noFill/>
          <a:ln>
            <a:noFill/>
          </a:ln>
        </p:spPr>
        <p:txBody>
          <a:bodyPr wrap="square" lIns="54864" tIns="18288" rIns="54864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每個 lab 只修改 `</a:t>
            </a:r>
            <a:r>
              <a:rPr sz="24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student_policy.py</a:t>
            </a:r>
            <a:r>
              <a:rPr sz="24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` 目前 active 的 marked block；scenario、schemas、runner、Leo code 與 generated JSON 均為 read-only。</a:t>
            </a:r>
          </a:p>
        </p:txBody>
      </p:sp>
      <p:sp>
        <p:nvSpPr>
          <p:cNvPr id="4" name="Visual heading"/>
          <p:cNvSpPr txBox="1"/>
          <p:nvPr/>
        </p:nvSpPr>
        <p:spPr>
          <a:xfrm>
            <a:off x="768096" y="1709928"/>
            <a:ext cx="10698480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一個 editable file，四個 read-only boundary</a:t>
            </a:r>
          </a:p>
        </p:txBody>
      </p:sp>
      <p:sp>
        <p:nvSpPr>
          <p:cNvPr id="5" name="Visual panel EDIT"/>
          <p:cNvSpPr/>
          <p:nvPr/>
        </p:nvSpPr>
        <p:spPr>
          <a:xfrm>
            <a:off x="822960" y="2066543"/>
            <a:ext cx="4736592" cy="175564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Visual heading EDIT"/>
          <p:cNvSpPr txBox="1"/>
          <p:nvPr/>
        </p:nvSpPr>
        <p:spPr>
          <a:xfrm>
            <a:off x="950976" y="2212848"/>
            <a:ext cx="4480559" cy="310896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EDIT</a:t>
            </a:r>
          </a:p>
        </p:txBody>
      </p:sp>
      <p:sp>
        <p:nvSpPr>
          <p:cNvPr id="7" name="Visual body EDIT"/>
          <p:cNvSpPr txBox="1"/>
          <p:nvPr/>
        </p:nvSpPr>
        <p:spPr>
          <a:xfrm>
            <a:off x="987552" y="2670048"/>
            <a:ext cx="4407407" cy="1042415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1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student_policy.py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1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active marked block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1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small diff</a:t>
            </a:r>
          </a:p>
        </p:txBody>
      </p:sp>
      <p:cxnSp>
        <p:nvCxnSpPr>
          <p:cNvPr id="8" name="Guard boundary"/>
          <p:cNvCxnSpPr/>
          <p:nvPr/>
        </p:nvCxnSpPr>
        <p:spPr>
          <a:xfrm>
            <a:off x="5650992" y="2926080"/>
            <a:ext cx="786384" cy="0"/>
          </a:xfrm>
          <a:prstGeom prst="line">
            <a:avLst/>
          </a:prstGeom>
          <a:ln w="22860">
            <a:solidFill>
              <a:srgbClr val="8468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Visual panel READ-ONLY"/>
          <p:cNvSpPr/>
          <p:nvPr/>
        </p:nvSpPr>
        <p:spPr>
          <a:xfrm>
            <a:off x="6565392" y="2066543"/>
            <a:ext cx="4681728" cy="175564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Visual heading READ-ONLY"/>
          <p:cNvSpPr txBox="1"/>
          <p:nvPr/>
        </p:nvSpPr>
        <p:spPr>
          <a:xfrm>
            <a:off x="6693407" y="2212848"/>
            <a:ext cx="4425696" cy="310896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READ-ONLY</a:t>
            </a:r>
          </a:p>
        </p:txBody>
      </p:sp>
      <p:sp>
        <p:nvSpPr>
          <p:cNvPr id="11" name="Visual body READ-ONLY"/>
          <p:cNvSpPr txBox="1"/>
          <p:nvPr/>
        </p:nvSpPr>
        <p:spPr>
          <a:xfrm>
            <a:off x="6729983" y="2670048"/>
            <a:ext cx="4352544" cy="1042415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scenario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schemas／runner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generated JSON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27432" tIns="9144" rIns="27432" bIns="9144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P024｜policy 讀取邊界與合法 action</a:t>
            </a:r>
          </a:p>
        </p:txBody>
      </p:sp>
      <p:sp>
        <p:nvSpPr>
          <p:cNvPr id="3" name="Main teaching statement"/>
          <p:cNvSpPr txBox="1"/>
          <p:nvPr/>
        </p:nvSpPr>
        <p:spPr>
          <a:xfrm>
            <a:off x="658368" y="850392"/>
            <a:ext cx="10881360" cy="768096"/>
          </a:xfrm>
          <a:prstGeom prst="rect">
            <a:avLst/>
          </a:prstGeom>
          <a:noFill/>
          <a:ln>
            <a:noFill/>
          </a:ln>
        </p:spPr>
        <p:txBody>
          <a:bodyPr wrap="square" lIns="54864" tIns="18288" rIns="54864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`choose_action(observation)` 僅使用目前與過去允許的 observation；future quality、future energy 與 result summary 不屬於輸入；輸出符合 action contract。</a:t>
            </a:r>
          </a:p>
        </p:txBody>
      </p:sp>
      <p:sp>
        <p:nvSpPr>
          <p:cNvPr id="4" name="Visual heading"/>
          <p:cNvSpPr txBox="1"/>
          <p:nvPr/>
        </p:nvSpPr>
        <p:spPr>
          <a:xfrm>
            <a:off x="768096" y="1709928"/>
            <a:ext cx="10698480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當下 observation → 一個 legal action</a:t>
            </a:r>
          </a:p>
        </p:txBody>
      </p:sp>
      <p:sp>
        <p:nvSpPr>
          <p:cNvPr id="5" name="Visual panel OBSERVATION"/>
          <p:cNvSpPr/>
          <p:nvPr/>
        </p:nvSpPr>
        <p:spPr>
          <a:xfrm>
            <a:off x="804672" y="2048256"/>
            <a:ext cx="4700016" cy="177393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Visual heading OBSERVATION"/>
          <p:cNvSpPr txBox="1"/>
          <p:nvPr/>
        </p:nvSpPr>
        <p:spPr>
          <a:xfrm>
            <a:off x="932688" y="2194560"/>
            <a:ext cx="4443983" cy="310896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OBSERVATION</a:t>
            </a:r>
          </a:p>
        </p:txBody>
      </p:sp>
      <p:sp>
        <p:nvSpPr>
          <p:cNvPr id="7" name="Visual body OBSERVATION"/>
          <p:cNvSpPr txBox="1"/>
          <p:nvPr/>
        </p:nvSpPr>
        <p:spPr>
          <a:xfrm>
            <a:off x="969264" y="2651760"/>
            <a:ext cx="4370831" cy="1060704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contact_open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quality／queue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urgent_due_in_s</a:t>
            </a:r>
          </a:p>
        </p:txBody>
      </p:sp>
      <p:cxnSp>
        <p:nvCxnSpPr>
          <p:cNvPr id="8" name="Policy IO arrow"/>
          <p:cNvCxnSpPr/>
          <p:nvPr/>
        </p:nvCxnSpPr>
        <p:spPr>
          <a:xfrm>
            <a:off x="5650992" y="2926080"/>
            <a:ext cx="768096" cy="0"/>
          </a:xfrm>
          <a:prstGeom prst="line">
            <a:avLst/>
          </a:prstGeom>
          <a:ln w="22860">
            <a:solidFill>
              <a:srgbClr val="8468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Visual panel LEGAL ACTION"/>
          <p:cNvSpPr/>
          <p:nvPr/>
        </p:nvSpPr>
        <p:spPr>
          <a:xfrm>
            <a:off x="6565392" y="2048256"/>
            <a:ext cx="4754880" cy="177393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Visual heading LEGAL ACTION"/>
          <p:cNvSpPr txBox="1"/>
          <p:nvPr/>
        </p:nvSpPr>
        <p:spPr>
          <a:xfrm>
            <a:off x="6693407" y="2194560"/>
            <a:ext cx="4498848" cy="310896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LEGAL ACTION</a:t>
            </a:r>
          </a:p>
        </p:txBody>
      </p:sp>
      <p:sp>
        <p:nvSpPr>
          <p:cNvPr id="11" name="Visual body LEGAL ACTION"/>
          <p:cNvSpPr txBox="1"/>
          <p:nvPr/>
        </p:nvSpPr>
        <p:spPr>
          <a:xfrm>
            <a:off x="6729983" y="2651760"/>
            <a:ext cx="4425696" cy="1060704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WAIT／SLEEP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SEND_ONE／SEND_URGENT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FLUSH_BATCH</a:t>
            </a:r>
          </a:p>
        </p:txBody>
      </p:sp>
      <p:sp>
        <p:nvSpPr>
          <p:cNvPr id="12" name="Policy no future"/>
          <p:cNvSpPr txBox="1"/>
          <p:nvPr/>
        </p:nvSpPr>
        <p:spPr>
          <a:xfrm>
            <a:off x="1298448" y="3895344"/>
            <a:ext cx="9619488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future quality、future energy、result summary = 不可讀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27432" tIns="9144" rIns="27432" bIns="9144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P025｜常數是受控旋鈕：一次只改一個值</a:t>
            </a:r>
          </a:p>
        </p:txBody>
      </p:sp>
      <p:sp>
        <p:nvSpPr>
          <p:cNvPr id="3" name="Main teaching statement"/>
          <p:cNvSpPr txBox="1"/>
          <p:nvPr/>
        </p:nvSpPr>
        <p:spPr>
          <a:xfrm>
            <a:off x="658368" y="850392"/>
            <a:ext cx="10881360" cy="768096"/>
          </a:xfrm>
          <a:prstGeom prst="rect">
            <a:avLst/>
          </a:prstGeom>
          <a:noFill/>
          <a:ln>
            <a:noFill/>
          </a:ln>
        </p:spPr>
        <p:txBody>
          <a:bodyPr wrap="square" lIns="54864" tIns="18288" rIns="54864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修改一個 bounded constant，執行 exact case。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A／B／C 的控制名稱見下方三個 lab。</a:t>
            </a:r>
          </a:p>
        </p:txBody>
      </p:sp>
      <p:sp>
        <p:nvSpPr>
          <p:cNvPr id="4" name="Visual heading"/>
          <p:cNvSpPr txBox="1"/>
          <p:nvPr/>
        </p:nvSpPr>
        <p:spPr>
          <a:xfrm>
            <a:off x="768096" y="1709928"/>
            <a:ext cx="10698480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每次只動一個 bounded control</a:t>
            </a:r>
          </a:p>
        </p:txBody>
      </p:sp>
      <p:sp>
        <p:nvSpPr>
          <p:cNvPr id="5" name="Visual panel LAB A"/>
          <p:cNvSpPr/>
          <p:nvPr/>
        </p:nvSpPr>
        <p:spPr>
          <a:xfrm>
            <a:off x="749808" y="2048256"/>
            <a:ext cx="3401568" cy="177393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Visual heading LAB A"/>
          <p:cNvSpPr txBox="1"/>
          <p:nvPr/>
        </p:nvSpPr>
        <p:spPr>
          <a:xfrm>
            <a:off x="877824" y="2194560"/>
            <a:ext cx="3145536" cy="310896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LAB A</a:t>
            </a:r>
          </a:p>
        </p:txBody>
      </p:sp>
      <p:sp>
        <p:nvSpPr>
          <p:cNvPr id="7" name="Visual body LAB A"/>
          <p:cNvSpPr txBox="1"/>
          <p:nvPr/>
        </p:nvSpPr>
        <p:spPr>
          <a:xfrm>
            <a:off x="914400" y="2651760"/>
            <a:ext cx="3072384" cy="1060704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REST_DURING_GAP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SLEEP → WAIT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awake-idle／wake</a:t>
            </a:r>
          </a:p>
        </p:txBody>
      </p:sp>
      <p:sp>
        <p:nvSpPr>
          <p:cNvPr id="8" name="Visual panel LAB B"/>
          <p:cNvSpPr/>
          <p:nvPr/>
        </p:nvSpPr>
        <p:spPr>
          <a:xfrm>
            <a:off x="4562856" y="2048256"/>
            <a:ext cx="3401568" cy="177393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Visual heading LAB B"/>
          <p:cNvSpPr txBox="1"/>
          <p:nvPr/>
        </p:nvSpPr>
        <p:spPr>
          <a:xfrm>
            <a:off x="4690872" y="2194560"/>
            <a:ext cx="3145536" cy="310896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LAB B</a:t>
            </a:r>
          </a:p>
        </p:txBody>
      </p:sp>
      <p:sp>
        <p:nvSpPr>
          <p:cNvPr id="10" name="Visual body LAB B"/>
          <p:cNvSpPr txBox="1"/>
          <p:nvPr/>
        </p:nvSpPr>
        <p:spPr>
          <a:xfrm>
            <a:off x="4727448" y="2651760"/>
            <a:ext cx="3072384" cy="1060704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STABLE_STEPS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2 → 1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quality hold</a:t>
            </a:r>
          </a:p>
        </p:txBody>
      </p:sp>
      <p:sp>
        <p:nvSpPr>
          <p:cNvPr id="11" name="Visual panel LAB C"/>
          <p:cNvSpPr/>
          <p:nvPr/>
        </p:nvSpPr>
        <p:spPr>
          <a:xfrm>
            <a:off x="8375904" y="2048256"/>
            <a:ext cx="3401568" cy="177393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Visual heading LAB C"/>
          <p:cNvSpPr txBox="1"/>
          <p:nvPr/>
        </p:nvSpPr>
        <p:spPr>
          <a:xfrm>
            <a:off x="8503920" y="2194560"/>
            <a:ext cx="3145536" cy="310896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LAB C</a:t>
            </a:r>
          </a:p>
        </p:txBody>
      </p:sp>
      <p:sp>
        <p:nvSpPr>
          <p:cNvPr id="13" name="Visual body LAB C"/>
          <p:cNvSpPr txBox="1"/>
          <p:nvPr/>
        </p:nvSpPr>
        <p:spPr>
          <a:xfrm>
            <a:off x="8540496" y="2651760"/>
            <a:ext cx="3072384" cy="1060704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URGENT_MARGIN_S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20 → 5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deadline branch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27432" tIns="9144" rIns="27432" bIns="9144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P026｜條件分支：observation 轉成 action</a:t>
            </a:r>
          </a:p>
        </p:txBody>
      </p:sp>
      <p:sp>
        <p:nvSpPr>
          <p:cNvPr id="3" name="Main teaching statement"/>
          <p:cNvSpPr txBox="1"/>
          <p:nvPr/>
        </p:nvSpPr>
        <p:spPr>
          <a:xfrm>
            <a:off x="658368" y="850392"/>
            <a:ext cx="10881360" cy="768096"/>
          </a:xfrm>
          <a:prstGeom prst="rect">
            <a:avLst/>
          </a:prstGeom>
          <a:noFill/>
          <a:ln>
            <a:noFill/>
          </a:ln>
        </p:spPr>
        <p:txBody>
          <a:bodyPr wrap="square" lIns="54864" tIns="18288" rIns="54864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2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`choose_action` 依窗口、急件期限與 pacing 產生 action。右側說明分支機制；實際修改位置是 `</a:t>
            </a:r>
            <a:r>
              <a:rPr sz="22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student_policy.py</a:t>
            </a:r>
            <a:r>
              <a:rPr sz="22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` 的 marked block。</a:t>
            </a:r>
          </a:p>
        </p:txBody>
      </p:sp>
      <p:sp>
        <p:nvSpPr>
          <p:cNvPr id="4" name="Visual heading"/>
          <p:cNvSpPr txBox="1"/>
          <p:nvPr/>
        </p:nvSpPr>
        <p:spPr>
          <a:xfrm>
            <a:off x="768096" y="1709928"/>
            <a:ext cx="10698480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MECHANISM-ONLY PSEUDOCODE｜讀條件，再追 return</a:t>
            </a:r>
          </a:p>
        </p:txBody>
      </p:sp>
      <p:sp>
        <p:nvSpPr>
          <p:cNvPr id="5" name="Policy code excerpt"/>
          <p:cNvSpPr/>
          <p:nvPr/>
        </p:nvSpPr>
        <p:spPr>
          <a:xfrm>
            <a:off x="804672" y="1975104"/>
            <a:ext cx="6437376" cy="2834640"/>
          </a:xfrm>
          <a:prstGeom prst="roundRect">
            <a:avLst/>
          </a:prstGeom>
          <a:solidFill>
            <a:srgbClr val="E9EDFC"/>
          </a:solidFill>
          <a:ln w="1524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Policy code lines"/>
          <p:cNvSpPr txBox="1"/>
          <p:nvPr/>
        </p:nvSpPr>
        <p:spPr>
          <a:xfrm>
            <a:off x="1060704" y="2139696"/>
            <a:ext cx="5943600" cy="2414016"/>
          </a:xfrm>
          <a:prstGeom prst="rect">
            <a:avLst/>
          </a:prstGeom>
          <a:noFill/>
          <a:ln>
            <a:noFill/>
          </a:ln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if not observation.contact_open: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    return SLEEP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if observation.urgent_pending: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    if observation.urgent_due_in_s &lt;= </a:t>
            </a:r>
            <a:r>
              <a:rPr sz="20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URGENT_MARGIN_S</a:t>
            </a: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: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        return SEND_URGENT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if observation.steps_since_send &lt; </a:t>
            </a:r>
            <a:r>
              <a:rPr sz="20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PACE_GAP_STEPS</a:t>
            </a: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: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    return </a:t>
            </a:r>
            <a:r>
              <a:rPr sz="20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REST_DURING_GAP</a:t>
            </a:r>
          </a:p>
        </p:txBody>
      </p:sp>
      <p:sp>
        <p:nvSpPr>
          <p:cNvPr id="7" name="Visual panel MECHANISM"/>
          <p:cNvSpPr/>
          <p:nvPr/>
        </p:nvSpPr>
        <p:spPr>
          <a:xfrm>
            <a:off x="7498079" y="1975104"/>
            <a:ext cx="3767328" cy="28346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Visual heading MECHANISM"/>
          <p:cNvSpPr txBox="1"/>
          <p:nvPr/>
        </p:nvSpPr>
        <p:spPr>
          <a:xfrm>
            <a:off x="7626096" y="2121408"/>
            <a:ext cx="3511296" cy="310896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MECHANISM</a:t>
            </a:r>
          </a:p>
        </p:txBody>
      </p:sp>
      <p:sp>
        <p:nvSpPr>
          <p:cNvPr id="9" name="Visual body MECHANISM"/>
          <p:cNvSpPr txBox="1"/>
          <p:nvPr/>
        </p:nvSpPr>
        <p:spPr>
          <a:xfrm>
            <a:off x="7662671" y="2578608"/>
            <a:ext cx="3438144" cy="2121408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window → SLEEP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urgent → SEND_URGENT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pace → REST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27432" tIns="9144" rIns="27432" bIns="9144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P027｜RUN：baseline 產生兩筆結果</a:t>
            </a:r>
          </a:p>
        </p:txBody>
      </p:sp>
      <p:sp>
        <p:nvSpPr>
          <p:cNvPr id="3" name="Main teaching statement"/>
          <p:cNvSpPr txBox="1"/>
          <p:nvPr/>
        </p:nvSpPr>
        <p:spPr>
          <a:xfrm>
            <a:off x="658368" y="850392"/>
            <a:ext cx="10881360" cy="768096"/>
          </a:xfrm>
          <a:prstGeom prst="rect">
            <a:avLst/>
          </a:prstGeom>
          <a:noFill/>
          <a:ln>
            <a:noFill/>
          </a:ln>
        </p:spPr>
        <p:txBody>
          <a:bodyPr wrap="square" lIns="54864" tIns="18288" rIns="54864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Baseline：固定 scenario、seed 與原始 policy 的對照執行。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兩個 shell 都在 `lora-energy-lab` root；各用本平台 Python 3.11 venv。</a:t>
            </a:r>
          </a:p>
        </p:txBody>
      </p:sp>
      <p:sp>
        <p:nvSpPr>
          <p:cNvPr id="4" name="Visual heading"/>
          <p:cNvSpPr txBox="1"/>
          <p:nvPr/>
        </p:nvSpPr>
        <p:spPr>
          <a:xfrm>
            <a:off x="768096" y="1709928"/>
            <a:ext cx="10698480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lora-energy-lab root｜RUN：fixed scenario A baseline</a:t>
            </a:r>
          </a:p>
        </p:txBody>
      </p:sp>
      <p:sp>
        <p:nvSpPr>
          <p:cNvPr id="5" name="Command context frame"/>
          <p:cNvSpPr/>
          <p:nvPr/>
        </p:nvSpPr>
        <p:spPr>
          <a:xfrm>
            <a:off x="640080" y="2011680"/>
            <a:ext cx="5394960" cy="232257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ommand context label"/>
          <p:cNvSpPr txBox="1"/>
          <p:nvPr/>
        </p:nvSpPr>
        <p:spPr>
          <a:xfrm>
            <a:off x="749808" y="2057400"/>
            <a:ext cx="5175504" cy="310896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Windows PowerShell｜package-local venv</a:t>
            </a:r>
          </a:p>
        </p:txBody>
      </p:sp>
      <p:sp>
        <p:nvSpPr>
          <p:cNvPr id="7" name="Command line 1"/>
          <p:cNvSpPr txBox="1"/>
          <p:nvPr/>
        </p:nvSpPr>
        <p:spPr>
          <a:xfrm>
            <a:off x="777240" y="2414016"/>
            <a:ext cx="5120640" cy="457200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.\.venv\Scripts\python.exe -m py_compile </a:t>
            </a:r>
            <a:r>
              <a:rPr sz="20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student_policy.py</a:t>
            </a:r>
          </a:p>
        </p:txBody>
      </p:sp>
      <p:sp>
        <p:nvSpPr>
          <p:cNvPr id="8" name="Command line 2"/>
          <p:cNvSpPr txBox="1"/>
          <p:nvPr/>
        </p:nvSpPr>
        <p:spPr>
          <a:xfrm>
            <a:off x="777240" y="2889504"/>
            <a:ext cx="5120640" cy="457200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.\course.cmd run --lab A --case baseline</a:t>
            </a:r>
          </a:p>
        </p:txBody>
      </p:sp>
      <p:sp>
        <p:nvSpPr>
          <p:cNvPr id="9" name="Command context frame"/>
          <p:cNvSpPr/>
          <p:nvPr/>
        </p:nvSpPr>
        <p:spPr>
          <a:xfrm>
            <a:off x="6172200" y="2011680"/>
            <a:ext cx="5394960" cy="232257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Command context label"/>
          <p:cNvSpPr txBox="1"/>
          <p:nvPr/>
        </p:nvSpPr>
        <p:spPr>
          <a:xfrm>
            <a:off x="6281928" y="2057400"/>
            <a:ext cx="5175504" cy="310896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WSL／POSIX bash｜package-local venv</a:t>
            </a:r>
          </a:p>
        </p:txBody>
      </p:sp>
      <p:sp>
        <p:nvSpPr>
          <p:cNvPr id="11" name="Command line 1"/>
          <p:cNvSpPr txBox="1"/>
          <p:nvPr/>
        </p:nvSpPr>
        <p:spPr>
          <a:xfrm>
            <a:off x="6309360" y="2414016"/>
            <a:ext cx="5120640" cy="457200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./.venv/bin/python -m py_compile </a:t>
            </a:r>
            <a:r>
              <a:rPr sz="20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student_policy.py</a:t>
            </a:r>
          </a:p>
        </p:txBody>
      </p:sp>
      <p:sp>
        <p:nvSpPr>
          <p:cNvPr id="12" name="Command line 2"/>
          <p:cNvSpPr txBox="1"/>
          <p:nvPr/>
        </p:nvSpPr>
        <p:spPr>
          <a:xfrm>
            <a:off x="6309360" y="2889504"/>
            <a:ext cx="5120640" cy="457200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bash course.sh run --lab A --case baseline</a:t>
            </a:r>
          </a:p>
        </p:txBody>
      </p:sp>
      <p:sp>
        <p:nvSpPr>
          <p:cNvPr id="13" name="Baseline result boundary"/>
          <p:cNvSpPr txBox="1"/>
          <p:nvPr/>
        </p:nvSpPr>
        <p:spPr>
          <a:xfrm>
            <a:off x="877824" y="4590288"/>
            <a:ext cx="10387584" cy="475488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兩欄執行同一固定 scenario／seed；輸出 result.json、endpoint-replay.json，JSON 印出 result_path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27432" tIns="9144" rIns="27432" bIns="9144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P028｜Windows 手動建立 Python 3.11 `.venv`</a:t>
            </a:r>
          </a:p>
        </p:txBody>
      </p:sp>
      <p:sp>
        <p:nvSpPr>
          <p:cNvPr id="3" name="Main teaching statement"/>
          <p:cNvSpPr txBox="1"/>
          <p:nvPr/>
        </p:nvSpPr>
        <p:spPr>
          <a:xfrm>
            <a:off x="658368" y="850392"/>
            <a:ext cx="10881360" cy="768096"/>
          </a:xfrm>
          <a:prstGeom prst="rect">
            <a:avLst/>
          </a:prstGeom>
          <a:noFill/>
          <a:ln>
            <a:noFill/>
          </a:ln>
        </p:spPr>
        <p:txBody>
          <a:bodyPr wrap="square" lIns="54864" tIns="18288" rIns="54864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PowerShell 位於 `lora-energy-lab` root：先確認 Python 3.11，再確認 `venv` module，最後建立 `.venv`。Windows path 使用 `.venv\Scripts\python.exe`。</a:t>
            </a:r>
          </a:p>
        </p:txBody>
      </p:sp>
      <p:sp>
        <p:nvSpPr>
          <p:cNvPr id="4" name="Visual heading"/>
          <p:cNvSpPr txBox="1"/>
          <p:nvPr/>
        </p:nvSpPr>
        <p:spPr>
          <a:xfrm>
            <a:off x="768096" y="1709928"/>
            <a:ext cx="10698480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PowerShell exact route：check → install／locate → venv</a:t>
            </a:r>
          </a:p>
        </p:txBody>
      </p:sp>
      <p:sp>
        <p:nvSpPr>
          <p:cNvPr id="5" name="Command context frame"/>
          <p:cNvSpPr/>
          <p:nvPr/>
        </p:nvSpPr>
        <p:spPr>
          <a:xfrm>
            <a:off x="640080" y="1975104"/>
            <a:ext cx="10927080" cy="122529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ommand context label"/>
          <p:cNvSpPr txBox="1"/>
          <p:nvPr/>
        </p:nvSpPr>
        <p:spPr>
          <a:xfrm>
            <a:off x="749808" y="2020824"/>
            <a:ext cx="10707624" cy="310896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1｜Python Launcher check</a:t>
            </a:r>
          </a:p>
        </p:txBody>
      </p:sp>
      <p:sp>
        <p:nvSpPr>
          <p:cNvPr id="7" name="Command line 1"/>
          <p:cNvSpPr txBox="1"/>
          <p:nvPr/>
        </p:nvSpPr>
        <p:spPr>
          <a:xfrm>
            <a:off x="777240" y="2377440"/>
            <a:ext cx="10652759" cy="365760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py -3.11 --version</a:t>
            </a:r>
          </a:p>
        </p:txBody>
      </p:sp>
      <p:sp>
        <p:nvSpPr>
          <p:cNvPr id="8" name="Command line 2"/>
          <p:cNvSpPr txBox="1"/>
          <p:nvPr/>
        </p:nvSpPr>
        <p:spPr>
          <a:xfrm>
            <a:off x="777240" y="2761488"/>
            <a:ext cx="10652759" cy="365760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$python311 = (py -3.11 -c "import sys; print(sys.executable)").Trim()</a:t>
            </a:r>
          </a:p>
        </p:txBody>
      </p:sp>
      <p:sp>
        <p:nvSpPr>
          <p:cNvPr id="9" name="Command context frame"/>
          <p:cNvSpPr/>
          <p:nvPr/>
        </p:nvSpPr>
        <p:spPr>
          <a:xfrm>
            <a:off x="640080" y="3401568"/>
            <a:ext cx="5394960" cy="157276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Command context label"/>
          <p:cNvSpPr txBox="1"/>
          <p:nvPr/>
        </p:nvSpPr>
        <p:spPr>
          <a:xfrm>
            <a:off x="749808" y="3447288"/>
            <a:ext cx="5175504" cy="310896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2｜3.11 missing: uv route</a:t>
            </a:r>
          </a:p>
        </p:txBody>
      </p:sp>
      <p:sp>
        <p:nvSpPr>
          <p:cNvPr id="11" name="Command line 1"/>
          <p:cNvSpPr txBox="1"/>
          <p:nvPr/>
        </p:nvSpPr>
        <p:spPr>
          <a:xfrm>
            <a:off x="777240" y="3803904"/>
            <a:ext cx="5120640" cy="353568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winget install --id=astral-sh.uv -e</a:t>
            </a:r>
          </a:p>
        </p:txBody>
      </p:sp>
      <p:sp>
        <p:nvSpPr>
          <p:cNvPr id="12" name="Command line 2"/>
          <p:cNvSpPr txBox="1"/>
          <p:nvPr/>
        </p:nvSpPr>
        <p:spPr>
          <a:xfrm>
            <a:off x="777240" y="4175760"/>
            <a:ext cx="5120640" cy="353568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uv python install 3.11</a:t>
            </a:r>
          </a:p>
        </p:txBody>
      </p:sp>
      <p:sp>
        <p:nvSpPr>
          <p:cNvPr id="13" name="Command line 3"/>
          <p:cNvSpPr txBox="1"/>
          <p:nvPr/>
        </p:nvSpPr>
        <p:spPr>
          <a:xfrm>
            <a:off x="777240" y="4547616"/>
            <a:ext cx="5120640" cy="353568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$python311 = (uv python find 3.11).Trim()</a:t>
            </a:r>
          </a:p>
        </p:txBody>
      </p:sp>
      <p:sp>
        <p:nvSpPr>
          <p:cNvPr id="14" name="Command context frame"/>
          <p:cNvSpPr/>
          <p:nvPr/>
        </p:nvSpPr>
        <p:spPr>
          <a:xfrm>
            <a:off x="6172200" y="3401568"/>
            <a:ext cx="5394960" cy="157276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ommand context label"/>
          <p:cNvSpPr txBox="1"/>
          <p:nvPr/>
        </p:nvSpPr>
        <p:spPr>
          <a:xfrm>
            <a:off x="6281928" y="3447288"/>
            <a:ext cx="5175504" cy="310896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3｜venv module and create</a:t>
            </a:r>
          </a:p>
        </p:txBody>
      </p:sp>
      <p:sp>
        <p:nvSpPr>
          <p:cNvPr id="16" name="Command line 1"/>
          <p:cNvSpPr txBox="1"/>
          <p:nvPr/>
        </p:nvSpPr>
        <p:spPr>
          <a:xfrm>
            <a:off x="6309360" y="3803904"/>
            <a:ext cx="5120640" cy="353568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&amp; $python311 --version</a:t>
            </a:r>
          </a:p>
        </p:txBody>
      </p:sp>
      <p:sp>
        <p:nvSpPr>
          <p:cNvPr id="17" name="Command line 2"/>
          <p:cNvSpPr txBox="1"/>
          <p:nvPr/>
        </p:nvSpPr>
        <p:spPr>
          <a:xfrm>
            <a:off x="6309360" y="4175760"/>
            <a:ext cx="5120640" cy="353568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&amp; $python311 -m venv --help</a:t>
            </a:r>
          </a:p>
        </p:txBody>
      </p:sp>
      <p:sp>
        <p:nvSpPr>
          <p:cNvPr id="18" name="Command line 3"/>
          <p:cNvSpPr txBox="1"/>
          <p:nvPr/>
        </p:nvSpPr>
        <p:spPr>
          <a:xfrm>
            <a:off x="6309360" y="4547616"/>
            <a:ext cx="5120640" cy="353568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&amp; $python311 -m venv .venv</a:t>
            </a:r>
          </a:p>
        </p:txBody>
      </p:sp>
      <p:sp>
        <p:nvSpPr>
          <p:cNvPr id="19" name="Windows manual boundary"/>
          <p:cNvSpPr txBox="1"/>
          <p:nvPr/>
        </p:nvSpPr>
        <p:spPr>
          <a:xfrm>
            <a:off x="877824" y="5120640"/>
            <a:ext cx="10387584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全部命令在 lora-energy-lab root；成功後有 .venv\Scripts\python.exe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27432" tIns="9144" rIns="27432" bIns="9144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P029｜Windows 啟用 `.venv`、locked install、verify</a:t>
            </a:r>
          </a:p>
        </p:txBody>
      </p:sp>
      <p:sp>
        <p:nvSpPr>
          <p:cNvPr id="3" name="Main teaching statement"/>
          <p:cNvSpPr txBox="1"/>
          <p:nvPr/>
        </p:nvSpPr>
        <p:spPr>
          <a:xfrm>
            <a:off x="658368" y="850392"/>
            <a:ext cx="10881360" cy="768096"/>
          </a:xfrm>
          <a:prstGeom prst="rect">
            <a:avLst/>
          </a:prstGeom>
          <a:noFill/>
          <a:ln>
            <a:noFill/>
          </a:ln>
        </p:spPr>
        <p:txBody>
          <a:bodyPr wrap="square" lIns="54864" tIns="18288" rIns="54864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建立 `.venv` 後在同一個 PowerShell 視窗啟用、確認 prefix、安裝 locked requirements，再執行 `course.cmd verify`。</a:t>
            </a:r>
          </a:p>
        </p:txBody>
      </p:sp>
      <p:sp>
        <p:nvSpPr>
          <p:cNvPr id="4" name="Visual heading"/>
          <p:cNvSpPr txBox="1"/>
          <p:nvPr/>
        </p:nvSpPr>
        <p:spPr>
          <a:xfrm>
            <a:off x="768096" y="1709928"/>
            <a:ext cx="10698480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PowerShell exact route：activate → locked install → READY</a:t>
            </a:r>
          </a:p>
        </p:txBody>
      </p:sp>
      <p:sp>
        <p:nvSpPr>
          <p:cNvPr id="5" name="Command context frame"/>
          <p:cNvSpPr/>
          <p:nvPr/>
        </p:nvSpPr>
        <p:spPr>
          <a:xfrm>
            <a:off x="640080" y="1975104"/>
            <a:ext cx="10927080" cy="294436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ommand context label"/>
          <p:cNvSpPr txBox="1"/>
          <p:nvPr/>
        </p:nvSpPr>
        <p:spPr>
          <a:xfrm>
            <a:off x="749808" y="2020824"/>
            <a:ext cx="10707624" cy="310896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Windows package root｜同一 PowerShell 視窗</a:t>
            </a:r>
          </a:p>
        </p:txBody>
      </p:sp>
      <p:sp>
        <p:nvSpPr>
          <p:cNvPr id="7" name="Command line 1"/>
          <p:cNvSpPr txBox="1"/>
          <p:nvPr/>
        </p:nvSpPr>
        <p:spPr>
          <a:xfrm>
            <a:off x="777240" y="2377440"/>
            <a:ext cx="10652759" cy="457200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.\.venv\Scripts\Activate.ps1</a:t>
            </a:r>
          </a:p>
        </p:txBody>
      </p:sp>
      <p:sp>
        <p:nvSpPr>
          <p:cNvPr id="8" name="Command line 2"/>
          <p:cNvSpPr txBox="1"/>
          <p:nvPr/>
        </p:nvSpPr>
        <p:spPr>
          <a:xfrm>
            <a:off x="777240" y="2852928"/>
            <a:ext cx="10652759" cy="457200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python --version</a:t>
            </a:r>
          </a:p>
        </p:txBody>
      </p:sp>
      <p:sp>
        <p:nvSpPr>
          <p:cNvPr id="9" name="Command line 3"/>
          <p:cNvSpPr txBox="1"/>
          <p:nvPr/>
        </p:nvSpPr>
        <p:spPr>
          <a:xfrm>
            <a:off x="777240" y="3328416"/>
            <a:ext cx="10652759" cy="457200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python -c "import sys; assert sys.prefix != sys.base_prefix; print(sys.executable)"</a:t>
            </a:r>
          </a:p>
        </p:txBody>
      </p:sp>
      <p:sp>
        <p:nvSpPr>
          <p:cNvPr id="10" name="Command line 4"/>
          <p:cNvSpPr txBox="1"/>
          <p:nvPr/>
        </p:nvSpPr>
        <p:spPr>
          <a:xfrm>
            <a:off x="777240" y="3803904"/>
            <a:ext cx="10652759" cy="457200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python -m pip install --disable-pip-version-check --require-hashes --no-deps -r .\requirements-lock.txt</a:t>
            </a:r>
          </a:p>
        </p:txBody>
      </p:sp>
      <p:sp>
        <p:nvSpPr>
          <p:cNvPr id="11" name="Command line 5"/>
          <p:cNvSpPr txBox="1"/>
          <p:nvPr/>
        </p:nvSpPr>
        <p:spPr>
          <a:xfrm>
            <a:off x="777240" y="4279392"/>
            <a:ext cx="10652759" cy="457200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.\course.cmd verify</a:t>
            </a:r>
          </a:p>
        </p:txBody>
      </p:sp>
      <p:sp>
        <p:nvSpPr>
          <p:cNvPr id="12" name="Windows activation fallback"/>
          <p:cNvSpPr txBox="1"/>
          <p:nvPr/>
        </p:nvSpPr>
        <p:spPr>
          <a:xfrm>
            <a:off x="877824" y="5084064"/>
            <a:ext cx="10387584" cy="438912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PowerShell policy blocked → Command Prompt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call .venv\Scripts\activate.bat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27432" tIns="9144" rIns="27432" bIns="9144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P030｜WSL Ubuntu 24.04：定位並安裝 Python 3.11</a:t>
            </a:r>
          </a:p>
        </p:txBody>
      </p:sp>
      <p:sp>
        <p:nvSpPr>
          <p:cNvPr id="3" name="Main teaching statement"/>
          <p:cNvSpPr txBox="1"/>
          <p:nvPr/>
        </p:nvSpPr>
        <p:spPr>
          <a:xfrm>
            <a:off x="658368" y="850392"/>
            <a:ext cx="10881360" cy="768096"/>
          </a:xfrm>
          <a:prstGeom prst="rect">
            <a:avLst/>
          </a:prstGeom>
          <a:noFill/>
          <a:ln>
            <a:noFill/>
          </a:ln>
        </p:spPr>
        <p:txBody>
          <a:bodyPr wrap="square" lIns="54864" tIns="18288" rIns="54864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2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WSL Ubuntu 24.04 先查 apt Candidate。有則安裝 Python 3.11 與 venv；否則以 uv 安裝。兩個分支都設定 `PYTHON_BIN`，供下一頁建立 `.venv`。</a:t>
            </a:r>
          </a:p>
        </p:txBody>
      </p:sp>
      <p:sp>
        <p:nvSpPr>
          <p:cNvPr id="4" name="Visual heading"/>
          <p:cNvSpPr txBox="1"/>
          <p:nvPr/>
        </p:nvSpPr>
        <p:spPr>
          <a:xfrm>
            <a:off x="768096" y="1709928"/>
            <a:ext cx="10698480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WSL／Ubuntu exact route：detect → apt prerequisite → uv Python 3.11</a:t>
            </a:r>
          </a:p>
        </p:txBody>
      </p:sp>
      <p:sp>
        <p:nvSpPr>
          <p:cNvPr id="5" name="Command context frame"/>
          <p:cNvSpPr/>
          <p:nvPr/>
        </p:nvSpPr>
        <p:spPr>
          <a:xfrm>
            <a:off x="640080" y="1975104"/>
            <a:ext cx="5394960" cy="29260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ommand context label"/>
          <p:cNvSpPr txBox="1"/>
          <p:nvPr/>
        </p:nvSpPr>
        <p:spPr>
          <a:xfrm>
            <a:off x="749808" y="2020824"/>
            <a:ext cx="5175504" cy="310896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1｜detect；apt Candidate branch</a:t>
            </a:r>
          </a:p>
        </p:txBody>
      </p:sp>
      <p:sp>
        <p:nvSpPr>
          <p:cNvPr id="7" name="Command line 1"/>
          <p:cNvSpPr txBox="1"/>
          <p:nvPr/>
        </p:nvSpPr>
        <p:spPr>
          <a:xfrm>
            <a:off x="777240" y="2377440"/>
            <a:ext cx="5120640" cy="393192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command -v python3.11</a:t>
            </a:r>
          </a:p>
        </p:txBody>
      </p:sp>
      <p:sp>
        <p:nvSpPr>
          <p:cNvPr id="8" name="Command line 2"/>
          <p:cNvSpPr txBox="1"/>
          <p:nvPr/>
        </p:nvSpPr>
        <p:spPr>
          <a:xfrm>
            <a:off x="777240" y="2788920"/>
            <a:ext cx="5120640" cy="393192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python3.11 --version</a:t>
            </a:r>
          </a:p>
        </p:txBody>
      </p:sp>
      <p:sp>
        <p:nvSpPr>
          <p:cNvPr id="9" name="Command line 3"/>
          <p:cNvSpPr txBox="1"/>
          <p:nvPr/>
        </p:nvSpPr>
        <p:spPr>
          <a:xfrm>
            <a:off x="777240" y="3200400"/>
            <a:ext cx="5120640" cy="393192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apt-cache policy python3.11 python3.11-venv</a:t>
            </a:r>
          </a:p>
        </p:txBody>
      </p:sp>
      <p:sp>
        <p:nvSpPr>
          <p:cNvPr id="10" name="Command line 4"/>
          <p:cNvSpPr txBox="1"/>
          <p:nvPr/>
        </p:nvSpPr>
        <p:spPr>
          <a:xfrm>
            <a:off x="777240" y="3611880"/>
            <a:ext cx="5120640" cy="393192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sudo apt update</a:t>
            </a:r>
          </a:p>
        </p:txBody>
      </p:sp>
      <p:sp>
        <p:nvSpPr>
          <p:cNvPr id="11" name="Command line 5"/>
          <p:cNvSpPr txBox="1"/>
          <p:nvPr/>
        </p:nvSpPr>
        <p:spPr>
          <a:xfrm>
            <a:off x="777240" y="4023360"/>
            <a:ext cx="5120640" cy="393192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sudo apt install -y python3.11 python3.11-venv</a:t>
            </a:r>
          </a:p>
        </p:txBody>
      </p:sp>
      <p:sp>
        <p:nvSpPr>
          <p:cNvPr id="12" name="Command line 6"/>
          <p:cNvSpPr txBox="1"/>
          <p:nvPr/>
        </p:nvSpPr>
        <p:spPr>
          <a:xfrm>
            <a:off x="777240" y="4434840"/>
            <a:ext cx="5120640" cy="393192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PYTHON_BIN="$(command -v python3.11)"</a:t>
            </a:r>
          </a:p>
        </p:txBody>
      </p:sp>
      <p:sp>
        <p:nvSpPr>
          <p:cNvPr id="13" name="Command context frame"/>
          <p:cNvSpPr/>
          <p:nvPr/>
        </p:nvSpPr>
        <p:spPr>
          <a:xfrm>
            <a:off x="6172200" y="1975104"/>
            <a:ext cx="5394960" cy="29260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ommand context label"/>
          <p:cNvSpPr txBox="1"/>
          <p:nvPr/>
        </p:nvSpPr>
        <p:spPr>
          <a:xfrm>
            <a:off x="6281928" y="2020824"/>
            <a:ext cx="5175504" cy="310896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2｜curl + uv managed Python</a:t>
            </a:r>
          </a:p>
        </p:txBody>
      </p:sp>
      <p:sp>
        <p:nvSpPr>
          <p:cNvPr id="15" name="Command line 1"/>
          <p:cNvSpPr txBox="1"/>
          <p:nvPr/>
        </p:nvSpPr>
        <p:spPr>
          <a:xfrm>
            <a:off x="6309360" y="2377440"/>
            <a:ext cx="5120640" cy="393192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sudo apt install -y curl unzip</a:t>
            </a:r>
          </a:p>
        </p:txBody>
      </p:sp>
      <p:sp>
        <p:nvSpPr>
          <p:cNvPr id="16" name="Command line 2"/>
          <p:cNvSpPr txBox="1"/>
          <p:nvPr/>
        </p:nvSpPr>
        <p:spPr>
          <a:xfrm>
            <a:off x="6309360" y="2788920"/>
            <a:ext cx="5120640" cy="393192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curl -LsSf https://astral.sh/uv/install.sh | sh</a:t>
            </a:r>
          </a:p>
        </p:txBody>
      </p:sp>
      <p:sp>
        <p:nvSpPr>
          <p:cNvPr id="17" name="Command line 3"/>
          <p:cNvSpPr txBox="1"/>
          <p:nvPr/>
        </p:nvSpPr>
        <p:spPr>
          <a:xfrm>
            <a:off x="6309360" y="3200400"/>
            <a:ext cx="5120640" cy="393192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export PATH="$HOME/.local/bin:$PATH"</a:t>
            </a:r>
          </a:p>
        </p:txBody>
      </p:sp>
      <p:sp>
        <p:nvSpPr>
          <p:cNvPr id="18" name="Command line 4"/>
          <p:cNvSpPr txBox="1"/>
          <p:nvPr/>
        </p:nvSpPr>
        <p:spPr>
          <a:xfrm>
            <a:off x="6309360" y="3611880"/>
            <a:ext cx="5120640" cy="393192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uv python install 3.11</a:t>
            </a:r>
          </a:p>
        </p:txBody>
      </p:sp>
      <p:sp>
        <p:nvSpPr>
          <p:cNvPr id="19" name="Command line 5"/>
          <p:cNvSpPr txBox="1"/>
          <p:nvPr/>
        </p:nvSpPr>
        <p:spPr>
          <a:xfrm>
            <a:off x="6309360" y="4023360"/>
            <a:ext cx="5120640" cy="393192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PYTHON_BIN="$(uv python find 3.11)"</a:t>
            </a:r>
          </a:p>
        </p:txBody>
      </p:sp>
      <p:sp>
        <p:nvSpPr>
          <p:cNvPr id="20" name="Command line 6"/>
          <p:cNvSpPr txBox="1"/>
          <p:nvPr/>
        </p:nvSpPr>
        <p:spPr>
          <a:xfrm>
            <a:off x="6309360" y="4434840"/>
            <a:ext cx="5120640" cy="393192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"$PYTHON_BIN" --version</a:t>
            </a:r>
          </a:p>
        </p:txBody>
      </p:sp>
      <p:sp>
        <p:nvSpPr>
          <p:cNvPr id="21" name="WSL Python boundary"/>
          <p:cNvSpPr txBox="1"/>
          <p:nvPr/>
        </p:nvSpPr>
        <p:spPr>
          <a:xfrm>
            <a:off x="877824" y="5102352"/>
            <a:ext cx="10387584" cy="292608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有 Candidate：apt 安裝後設定 PYTHON_BIN；無 Candidate：uv 定位並設定 PYTHON_BIN；只在 WSL／Linux bash 執行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27432" tIns="9144" rIns="27432" bIns="9144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P031｜WSL `.venv/bin`：建立、啟用、locked install、verify</a:t>
            </a:r>
          </a:p>
        </p:txBody>
      </p:sp>
      <p:sp>
        <p:nvSpPr>
          <p:cNvPr id="3" name="Main teaching statement"/>
          <p:cNvSpPr txBox="1"/>
          <p:nvPr/>
        </p:nvSpPr>
        <p:spPr>
          <a:xfrm>
            <a:off x="658368" y="850392"/>
            <a:ext cx="10881360" cy="768096"/>
          </a:xfrm>
          <a:prstGeom prst="rect">
            <a:avLst/>
          </a:prstGeom>
          <a:noFill/>
          <a:ln>
            <a:noFill/>
          </a:ln>
        </p:spPr>
        <p:txBody>
          <a:bodyPr wrap="square" lIns="54864" tIns="18288" rIns="54864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WSL root 使用 `PYTHON_BIN` 建立 Linux `.venv`；source 後確認 3.11、locked install，再執行 `bash course.sh verify`。</a:t>
            </a:r>
          </a:p>
        </p:txBody>
      </p:sp>
      <p:sp>
        <p:nvSpPr>
          <p:cNvPr id="4" name="WSL venv route heading"/>
          <p:cNvSpPr txBox="1"/>
          <p:nvPr/>
        </p:nvSpPr>
        <p:spPr>
          <a:xfrm>
            <a:off x="768096" y="1847088"/>
            <a:ext cx="10698480" cy="274320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WSL／Ubuntu exact route：venv → source → locked install → READY</a:t>
            </a:r>
          </a:p>
        </p:txBody>
      </p:sp>
      <p:sp>
        <p:nvSpPr>
          <p:cNvPr id="5" name="Command context frame"/>
          <p:cNvSpPr/>
          <p:nvPr/>
        </p:nvSpPr>
        <p:spPr>
          <a:xfrm>
            <a:off x="640080" y="2176272"/>
            <a:ext cx="10927080" cy="27432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ommand context label"/>
          <p:cNvSpPr txBox="1"/>
          <p:nvPr/>
        </p:nvSpPr>
        <p:spPr>
          <a:xfrm>
            <a:off x="749808" y="2221991"/>
            <a:ext cx="10707624" cy="310896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Linux package root｜同一 WSL bash 視窗</a:t>
            </a:r>
          </a:p>
        </p:txBody>
      </p:sp>
      <p:sp>
        <p:nvSpPr>
          <p:cNvPr id="7" name="Command line 1"/>
          <p:cNvSpPr txBox="1"/>
          <p:nvPr/>
        </p:nvSpPr>
        <p:spPr>
          <a:xfrm>
            <a:off x="777240" y="2578608"/>
            <a:ext cx="10652759" cy="308283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"$PYTHON_BIN" -m venv --help</a:t>
            </a:r>
          </a:p>
        </p:txBody>
      </p:sp>
      <p:sp>
        <p:nvSpPr>
          <p:cNvPr id="8" name="Command line 2"/>
          <p:cNvSpPr txBox="1"/>
          <p:nvPr/>
        </p:nvSpPr>
        <p:spPr>
          <a:xfrm>
            <a:off x="777240" y="2905179"/>
            <a:ext cx="10652759" cy="308283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"$PYTHON_BIN" -m venv .venv</a:t>
            </a:r>
          </a:p>
        </p:txBody>
      </p:sp>
      <p:sp>
        <p:nvSpPr>
          <p:cNvPr id="9" name="Command line 3"/>
          <p:cNvSpPr txBox="1"/>
          <p:nvPr/>
        </p:nvSpPr>
        <p:spPr>
          <a:xfrm>
            <a:off x="777240" y="3231750"/>
            <a:ext cx="10652759" cy="308283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source .venv/bin/activate</a:t>
            </a:r>
          </a:p>
        </p:txBody>
      </p:sp>
      <p:sp>
        <p:nvSpPr>
          <p:cNvPr id="10" name="Command line 4"/>
          <p:cNvSpPr txBox="1"/>
          <p:nvPr/>
        </p:nvSpPr>
        <p:spPr>
          <a:xfrm>
            <a:off x="777240" y="3558322"/>
            <a:ext cx="10652759" cy="308283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python --version</a:t>
            </a:r>
          </a:p>
        </p:txBody>
      </p:sp>
      <p:sp>
        <p:nvSpPr>
          <p:cNvPr id="11" name="Command line 5"/>
          <p:cNvSpPr txBox="1"/>
          <p:nvPr/>
        </p:nvSpPr>
        <p:spPr>
          <a:xfrm>
            <a:off x="777240" y="3884893"/>
            <a:ext cx="10652759" cy="308283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python -c 'import sys; assert sys.prefix != sys.base_prefix; print(sys.executable)'</a:t>
            </a:r>
          </a:p>
        </p:txBody>
      </p:sp>
      <p:sp>
        <p:nvSpPr>
          <p:cNvPr id="12" name="Command line 6"/>
          <p:cNvSpPr txBox="1"/>
          <p:nvPr/>
        </p:nvSpPr>
        <p:spPr>
          <a:xfrm>
            <a:off x="777240" y="4211465"/>
            <a:ext cx="10652759" cy="308283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python -m pip install --disable-pip-version-check --require-hashes --no-deps -r requirements-lock.txt</a:t>
            </a:r>
          </a:p>
        </p:txBody>
      </p:sp>
      <p:sp>
        <p:nvSpPr>
          <p:cNvPr id="13" name="Command line 7"/>
          <p:cNvSpPr txBox="1"/>
          <p:nvPr/>
        </p:nvSpPr>
        <p:spPr>
          <a:xfrm>
            <a:off x="777240" y="4538036"/>
            <a:ext cx="10652759" cy="308283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bash course.sh verify</a:t>
            </a:r>
          </a:p>
        </p:txBody>
      </p:sp>
      <p:sp>
        <p:nvSpPr>
          <p:cNvPr id="14" name="WSL venv boundary"/>
          <p:cNvSpPr txBox="1"/>
          <p:nvPr/>
        </p:nvSpPr>
        <p:spPr>
          <a:xfrm>
            <a:off x="877824" y="5102352"/>
            <a:ext cx="10387584" cy="292608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WSL 使用 .venv/bin/python；Windows .venv\Scripts\python.exe 不互換，Windows CMD 不執行 .sh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2_佈景主題1">
  <a:themeElements>
    <a:clrScheme name="自訂 1">
      <a:dk1>
        <a:srgbClr val="35377F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53A77"/>
      </a:accent4>
      <a:accent5>
        <a:srgbClr val="F4E9C1"/>
      </a:accent5>
      <a:accent6>
        <a:srgbClr val="A1A1A1"/>
      </a:accent6>
      <a:hlink>
        <a:srgbClr val="6F89F7"/>
      </a:hlink>
      <a:folHlink>
        <a:srgbClr val="CFDBFD"/>
      </a:folHlink>
    </a:clrScheme>
    <a:fontScheme name="正式文體">
      <a:majorFont>
        <a:latin typeface="Times New Roman"/>
        <a:ea typeface="標楷體"/>
        <a:cs typeface=""/>
      </a:majorFont>
      <a:minorFont>
        <a:latin typeface="Times New Roman"/>
        <a:ea typeface="標楷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rgbClr val="003065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rgbClr val="003065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lnDef>
  </a:objectDefaults>
  <a:extraClrSchemeLst>
    <a:extraClrScheme>
      <a:clrScheme name="hk1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k1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k1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8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53A77"/>
        </a:accent4>
        <a:accent5>
          <a:srgbClr val="F4E9C1"/>
        </a:accent5>
        <a:accent6>
          <a:srgbClr val="A1A1A1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佈景主題1" id="{929F1AC0-EDE5-4E84-B296-76809860B882}" vid="{D422FDD8-D1F8-4744-A7BD-E0F19A28C553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佈景主題1</Template>
  <TotalTime>42739</TotalTime>
  <Words>64</Words>
  <Application>Microsoft Office PowerPoint</Application>
  <PresentationFormat>寬螢幕</PresentationFormat>
  <Paragraphs>5</Paragraphs>
  <Slides>2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</vt:i4>
      </vt:variant>
    </vt:vector>
  </HeadingPairs>
  <TitlesOfParts>
    <vt:vector size="8" baseType="lpstr">
      <vt:lpstr>Times-Roman</vt:lpstr>
      <vt:lpstr>Arial</vt:lpstr>
      <vt:lpstr>Calibri</vt:lpstr>
      <vt:lpstr>Symbol</vt:lpstr>
      <vt:lpstr>Times New Roman</vt:lpstr>
      <vt:lpstr>2_佈景主題1</vt:lpstr>
      <vt:lpstr>Energy-Efficiency-Based Joint Uplink Resources Allocation for LEO Satellite Beam-Hopping System</vt:lpstr>
      <vt:lpstr>上行 LEO 衛星 BH 系統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Few-Shot Transfer Learning Approach Using Text-Label Embedding with Legal Attributes for Law Article Prediction</dc:title>
  <dc:creator>Windows 使用者</dc:creator>
  <cp:lastModifiedBy>柏宏 吳</cp:lastModifiedBy>
  <cp:revision>1493</cp:revision>
  <dcterms:created xsi:type="dcterms:W3CDTF">2019-10-21T01:22:34Z</dcterms:created>
  <dcterms:modified xsi:type="dcterms:W3CDTF">2025-12-10T11:42:30Z</dcterms:modified>
</cp:coreProperties>
</file>