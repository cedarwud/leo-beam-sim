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77" r:id="rId2"/>
    <p:sldId id="295" r:id="rId3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1" r:id="rId4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本頁目的：建立具體 endpoint 問題，再連到工具。</a:t>
            </a:r>
          </a:p>
          <a:p>
            <a:r>
              <a:t>畫面指向：先看標題與 endpoint 與 changing service window，再看命令、欄位或箭頭所標示的邊界。</a:t>
            </a:r>
          </a:p>
          <a:p>
            <a:r>
              <a:t>可直接說：節點位於田區、倉庫或校園角落；供電有限且 service window 有限。分析沿著 action、state、packet、service 連到 endpoint J。</a:t>
            </a:r>
          </a:p>
          <a:p>
            <a:r>
              <a:t>必要操作：本頁屬於概念或邊界頁；沿著畫面上的 endpoint 與 changing service window 閱讀，不改動 runner、schema 或 generated JSON。</a:t>
            </a:r>
          </a:p>
          <a:p>
            <a:r>
              <a:t>預期畫面或結果：預期：SEND、WAIT、SLEEP 各自保護的資源可由 state 與 service 觀察。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銜接下一頁：P002｜P002｜現在送不一定最好，等一下也不一定省電，把本頁的 endpoint 與 changing service window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本頁目的：比較三種合法方向，不使用公式。</a:t>
            </a:r>
          </a:p>
          <a:p>
            <a:r>
              <a:t>畫面指向：先看標題與 SEND／WAIT／SLEEP 三欄取捨，再看命令、欄位或箭頭所標示的邊界。</a:t>
            </a:r>
          </a:p>
          <a:p>
            <a:r>
              <a:t>可直接說：窗口接近關閉時，觀察 service、反應能力與等待功率的取捨；結果回到這三個欄位。</a:t>
            </a:r>
          </a:p>
          <a:p>
            <a:r>
              <a:t>必要操作：本頁屬於概念或邊界頁；沿著畫面上的 SEND／WAIT／SLEEP 三欄取捨 閱讀，不改動 runner、schema 或 generated JSON。</a:t>
            </a:r>
          </a:p>
          <a:p>
            <a:r>
              <a:t>預期畫面或結果：預期：窗口關閉時，SEND_* 不屬於合法路徑。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銜接下一頁：P003｜P003｜WAIT、SLEEP、SEND：合法 action，把本頁的 SEND／WAIT／SLEEP 三欄取捨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本頁目的：建立合法 action vocabulary。</a:t>
            </a:r>
          </a:p>
          <a:p>
            <a:r>
              <a:t>畫面指向：先看標題與 legal action → observable consequence，再看命令、欄位或箭頭所標示的邊界。</a:t>
            </a:r>
          </a:p>
          <a:p>
            <a:r>
              <a:t>可直接說：結果解讀由 action 開始，再追蹤 state 與 packet 事件。SEND 展開成 SEND_ONE、SEND_URGENT、FLUSH_BATCH。</a:t>
            </a:r>
          </a:p>
          <a:p>
            <a:r>
              <a:t>必要操作：本頁屬於概念或邊界頁；沿著畫面上的 legal action → observable consequence 閱讀，不改動 runner、schema 或 generated JSON。</a:t>
            </a:r>
          </a:p>
          <a:p>
            <a:r>
              <a:t>預期畫面或結果：預期：action 對 state、packet 或 service 的一個後果可被定位。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銜接下一頁：P004｜P004｜實際流程：安裝→baseline→修改→比較→網站回放，把本頁的 legal action → observable consequence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本頁目的：定義可操作的課程流程。</a:t>
            </a:r>
          </a:p>
          <a:p>
            <a:r>
              <a:t>畫面指向：先看標題與 安裝 → baseline → edit → compare → website replay，再看命令、欄位或箭頭所標示的邊界。</a:t>
            </a:r>
          </a:p>
          <a:p>
            <a:r>
              <a:t>可直接說：流程依序涵蓋 environment setup、baseline、active block edit、candidate comparison 與 website replay；每個 stage 保存自己的 receipt。</a:t>
            </a:r>
          </a:p>
          <a:p>
            <a:r>
              <a:t>必要操作：本頁屬於概念或邊界頁；沿著畫面上的 安裝 → baseline → edit → compare → website replay 閱讀，不改動 runner、schema 或 generated JSON。</a:t>
            </a:r>
          </a:p>
          <a:p>
            <a:r>
              <a:t>預期畫面或結果：預期：baseline 與 candidate 的中間事件、service 結果與 endpoint J 可比較。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銜接下一頁：P005｜P005｜因果鏈與 endpoint J，把本頁的 安裝 → baseline → edit → compare → website replay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本頁目的：定義所有 lab 共用的讀圖順序。</a:t>
            </a:r>
          </a:p>
          <a:p>
            <a:r>
              <a:t>畫面指向：先看標題與 observation → policy → action → state/packet → service → endpoint J，再看命令、欄位或箭頭所標示的邊界。</a:t>
            </a:r>
          </a:p>
          <a:p>
            <a:r>
              <a:t>可直接說：service 失敗但 J 下降時，記錄服務邊界，再說明 energy trade-off；同一讀法沿用到 replay。</a:t>
            </a:r>
          </a:p>
          <a:p>
            <a:r>
              <a:t>必要操作：本頁屬於概念或邊界頁；沿著畫面上的 observation → policy → action → state/packet → service → endpoint J 閱讀，不改動 runner、schema 或 generated JSON。</a:t>
            </a:r>
          </a:p>
          <a:p>
            <a:r>
              <a:t>預期畫面或結果：預期：支持或推翻預測的 evidence 段落可定位。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銜接下一頁：P006｜P006｜LoRaEnergySim endpoint runner 的必要性，把本頁的 observation → policy → action → state/packet → service → endpoint J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本頁目的：說明 LoRaEnergySim 與智慧節能 IoT 的直接關係。</a:t>
            </a:r>
          </a:p>
          <a:p>
            <a:r>
              <a:t>畫面指向：先看標題與 runner evidence／claim boundary，再看命令、欄位或箭頭所標示的邊界。</a:t>
            </a:r>
          </a:p>
          <a:p>
            <a:r>
              <a:t>可直接說：LoRaEnergySim endpoint model 以事件鏈記錄 sleep、processing、TX、RX、packet、retry 與 energy；每筆 result 保留 source mode 與 boundary。</a:t>
            </a:r>
          </a:p>
          <a:p>
            <a:r>
              <a:t>必要操作：本頁屬於概念或邊界頁；沿著畫面上的 runner evidence／claim boundary 閱讀，不改動 runner、schema 或 generated JSON。</a:t>
            </a:r>
          </a:p>
          <a:p>
            <a:r>
              <a:t>預期畫面或結果：預期：endpoint evidence 範圍與 claim ceiling 分開標示。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銜接下一頁：P007｜P007｜LEO：changing service window 的例子，把本頁的 runner evidence／claim boundary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本頁目的：以 LEO trace 引出 changing window。</a:t>
            </a:r>
          </a:p>
          <a:p>
            <a:r>
              <a:t>畫面指向：先看標題與 窗口出現 → policy → service／energy，再看命令、欄位或箭頭所標示的邊界。</a:t>
            </a:r>
          </a:p>
          <a:p>
            <a:r>
              <a:t>可直接說：本頁使用預先定義的 changing-service-window trace，分析服務機會變動時的 endpoint policy；軌道與 link budget 不屬於此案例。</a:t>
            </a:r>
          </a:p>
          <a:p>
            <a:r>
              <a:t>必要操作：本頁屬於概念或邊界頁；沿著畫面上的 窗口出現 → policy → service／energy 閱讀，不改動 runner、schema 或 generated JSON。</a:t>
            </a:r>
          </a:p>
          <a:p>
            <a:r>
              <a:t>預期畫面或結果：預期：LEO 窗口機制可轉用至另一 IoT 場景。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銜接下一頁：P008｜P008｜從預測到結果：每次修改留下證據，把本頁的 窗口出現 → policy → service／energy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本頁目的：結果可檢驗原先預測。</a:t>
            </a:r>
          </a:p>
          <a:p>
            <a:r>
              <a:t>畫面指向：先看標題與 預測 → bounded edit → run → 讀 evidence → withheld，再看命令、欄位或箭頭所標示的邊界。</a:t>
            </a:r>
          </a:p>
          <a:p>
            <a:r>
              <a:t>可直接說：結果與預測相反時，保留非預期結果並檢查 state、packet 或 service 的中間事件；數值不因非預期結果回寫。</a:t>
            </a:r>
          </a:p>
          <a:p>
            <a:r>
              <a:t>必要操作：本頁屬於概念或邊界頁；沿著畫面上的 預測 → bounded edit → run → 讀 evidence → withheld 閱讀，不改動 runner、schema 或 generated JSON。</a:t>
            </a:r>
          </a:p>
          <a:p>
            <a:r>
              <a:t>預期畫面或結果：預期：非預期結果保留，且中間事件可定位。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銜接下一頁：P009｜P009｜claim 與來源邊界，把本頁的 預測 → bounded edit → run → 讀 evidence → withheld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本頁目的：標記證據等級。</a:t>
            </a:r>
          </a:p>
          <a:p>
            <a:r>
              <a:t>畫面指向：先看標題與 可說／不可說／待核對，再看命令、欄位或箭頭所標示的邊界。</a:t>
            </a:r>
          </a:p>
          <a:p>
            <a:r>
              <a:t>可直接說：目前確認的是 package content 與 identity；fresh Python run、READY、case receipt、Leo strict import 仍以現場 gate 為準。待核對 evidence 維持 pending。</a:t>
            </a:r>
          </a:p>
          <a:p>
            <a:r>
              <a:t>必要操作：本頁屬於概念或邊界頁；沿著畫面上的 可說／不可說／待核對 閱讀，不改動 runner、schema 或 generated JSON。</a:t>
            </a:r>
          </a:p>
          <a:p>
            <a:r>
              <a:t>預期畫面或結果：預期：READY 定義為環境 gate；energy result 需要 run evidence。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銜接下一頁：P010｜P010a｜使用命名 release asset，把本頁的 可說／不可說／待核對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本頁目的：固定 artifact 交付邊界。</a:t>
            </a:r>
          </a:p>
          <a:p>
            <a:r>
              <a:t>畫面指向：先看標題與 release ZIP 與來源鎖，再看命令、欄位或箭頭所標示的邊界。</a:t>
            </a:r>
          </a:p>
          <a:p>
            <a:r>
              <a:t>可直接說：命名 release asset 固定 artifact identity；此 gate 尚未進入 Python 或 energy runner。</a:t>
            </a:r>
          </a:p>
          <a:p>
            <a:r>
              <a:t>必要操作：在畫面標示的 package/root context 執行命令：ls -l lora-energy-lab-v1.zip；Get-ChildItem .\lora-energy-lab-v1.zip。</a:t>
            </a:r>
          </a:p>
          <a:p>
            <a:r>
              <a:t>預期畫面或結果：預期：命名 asset 位於指定 release 目錄。</a:t>
            </a:r>
          </a:p>
          <a:p>
            <a:r>
              <a:t>失敗處理：檔案缺少或混用：錯誤保留，重新取得同一 release asset；source archive 與 git clone 不納入 runner。</a:t>
            </a:r>
          </a:p>
          <a:p>
            <a:r>
              <a:t>銜接下一頁：P011｜P010b｜解壓後只能有一個 package root，把本頁的 release ZIP 與來源鎖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本頁目的：定義解壓後 root inventory 的第一個可觀察 gate。</a:t>
            </a:r>
          </a:p>
          <a:p>
            <a:r>
              <a:t>畫面指向：先看標題與 lora-energy-lab/ root inventory，再看命令、欄位或箭頭所標示的邊界。</a:t>
            </a:r>
          </a:p>
          <a:p>
            <a:r>
              <a:t>可直接說：package tree 必須是單一 release root；`.venv` 與 result lineage 均以此 root 為參照。</a:t>
            </a:r>
          </a:p>
          <a:p>
            <a:r>
              <a:t>必要操作：在畫面標示的 package/root context 執行命令：find lora-energy-lab -mindepth 1 -maxdepth 1 -printf '%f\n'；Get-ChildItem .\lora-energy-lab。</a:t>
            </a:r>
          </a:p>
          <a:p>
            <a:r>
              <a:t>預期畫面或結果：預期：POSIX `find` 或 PowerShell `Get-ChildItem` 顯示單一 `lora-energy-lab/` root 內的 README、launcher、policy、schemas 與 fallback。</a:t>
            </a:r>
          </a:p>
          <a:p>
            <a:r>
              <a:t>失敗處理：root 不符：錯誤保留，重新取得指定 asset 並重新解壓；checkout 檔案不補入 release root。</a:t>
            </a:r>
          </a:p>
          <a:p>
            <a:r>
              <a:t>銜接下一頁：P012｜P011a｜解壓位置：release asset 所在資料夾，把本頁的 lora-energy-lab/ root inventory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本頁目的：固定 extract 的起始工作目錄。</a:t>
            </a:r>
          </a:p>
          <a:p>
            <a:r>
              <a:t>畫面指向：先看標題與 archive parent → extract → package root，再看命令、欄位或箭頭所標示的邊界。</a:t>
            </a:r>
          </a:p>
          <a:p>
            <a:r>
              <a:t>可直接說：本頁只確認解壓起點；下一頁執行 `Expand-Archive` 或 `unzip`，setup、READY 與 runner evidence 仍屬後續 stages。</a:t>
            </a:r>
          </a:p>
          <a:p>
            <a:r>
              <a:t>必要操作：在畫面標示的 package/root context 執行命令：Get-Location；pwd。</a:t>
            </a:r>
          </a:p>
          <a:p>
            <a:r>
              <a:t>預期畫面或結果：預期：`Get-Location` 或 `pwd` 顯示命名 release asset 所在資料夾。</a:t>
            </a:r>
          </a:p>
          <a:p>
            <a:r>
              <a:t>失敗處理：位置不符：切換到 release asset 所在資料夾，再進入下一頁的 extract。</a:t>
            </a:r>
          </a:p>
          <a:p>
            <a:r>
              <a:t>銜接下一頁：P013｜P011b｜解壓並進入唯一的 package root，把本頁的 archive parent → extract → package root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本頁目的：固定解壓後的工作目錄。</a:t>
            </a:r>
          </a:p>
          <a:p>
            <a:r>
              <a:t>畫面指向：先看標題與 Windows PowerShell／WSL-POSIX exact extract，再看命令、欄位或箭頭所標示的邊界。</a:t>
            </a:r>
          </a:p>
          <a:p>
            <a:r>
              <a:t>可直接說：後續 shell 命令均以此 root 為參照；Windows 只用 PowerShell `.cmd` route，WSL/POSIX 只用 bash `.sh` route。</a:t>
            </a:r>
          </a:p>
          <a:p>
            <a:r>
              <a:t>必要操作：操作起點是 archive parent。Windows PowerShell 依序執行 Expand-Archive .\lora-energy-lab-v1.zip -DestinationPath .、Set-Location .\lora-energy-lab、Get-Location；WSL/POSIX 依序執行 unzip lora-energy-lab-v1.zip、cd lora-energy-lab、pwd。最後確認兩個 shell 都位於 lora-energy-lab root。</a:t>
            </a:r>
          </a:p>
          <a:p>
            <a:r>
              <a:t>預期畫面或結果：預期：Windows `Get-Location` 或 POSIX `pwd` 顯示結尾是 `lora-energy-lab`，必要檔案位於同一 root。</a:t>
            </a:r>
          </a:p>
          <a:p>
            <a:r>
              <a:t>失敗處理：root 不符：回到 inventory gate；parent 目錄不建立 `.venv` 或 runner。</a:t>
            </a:r>
          </a:p>
          <a:p>
            <a:r>
              <a:t>銜接下一頁：P014｜P012｜Windows shell 與 Python 3.11 identity，把本頁的 Windows PowerShell／WSL-POSIX exact extract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 Windows interpreter identity。</a:t>
            </a:r>
          </a:p>
          <a:p>
            <a:r>
              <a:t>畫面指向：先看標題與 CMD／PowerShell 雙視窗，再看命令、欄位或箭頭所標示的邊界。</a:t>
            </a:r>
          </a:p>
          <a:p>
            <a:r>
              <a:t>可直接說：CMD／PowerShell prompt 表示 Windows shell；Windows 使用 `setup.cmd`／`course.cmd`，`.sh` path 僅屬 POSIX／WSL。</a:t>
            </a:r>
          </a:p>
          <a:p>
            <a:r>
              <a:t>必要操作：在畫面標示的 package/root context 執行命令：py --list；py -3.11 --version。</a:t>
            </a:r>
          </a:p>
          <a:p>
            <a:r>
              <a:t>預期畫面或結果：預期：清單含 3.11，版本命令顯示 `Python 3.11.x`。</a:t>
            </a:r>
          </a:p>
          <a:p>
            <a:r>
              <a:t>失敗處理：缺少 3.11：進入 P013 官方 installer 或 P014 uv；其他 minor 維持 gate failure。</a:t>
            </a:r>
          </a:p>
          <a:p>
            <a:r>
              <a:t>銜接下一頁：P015｜P013｜Windows 缺少 Python 3.11：補正確 interpreter，把本頁的 CMD／PowerShell 雙視窗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本頁目的：提供可恢復的 Windows 路徑。</a:t>
            </a:r>
          </a:p>
          <a:p>
            <a:r>
              <a:t>畫面指向：先看標題與 官方下載 → Launcher／PATH 選項 → version gate，再看命令、欄位或箭頭所標示的邊界。</a:t>
            </a:r>
          </a:p>
          <a:p>
            <a:r>
              <a:t>可直接說：下載頁、64-bit installer、Launcher 選項與 PATH 決策都在畫面上；完成後重開 PowerShell，再進入 P012 的 `py --list` 與 `py -3.11 --version` gate。</a:t>
            </a:r>
          </a:p>
          <a:p>
            <a:r>
              <a:t>必要操作：在畫面標示的 package/root context 執行命令：開啟 https://www.python.org/downloads/windows/；下載 Python 3.11.x Windows installer (64-bit)；安裝選項：Install Python Launcher for all users；PATH：可不勾選；完成後重開 PowerShell；py --list；py -3.11 --version。</a:t>
            </a:r>
          </a:p>
          <a:p>
            <a:r>
              <a:t>預期畫面或結果：預期：`py --list` 出現 3.11，`py -3.11 --version` 顯示 3.11.x。</a:t>
            </a:r>
          </a:p>
          <a:p>
            <a:r>
              <a:t>失敗處理：仍缺少 3.11：保留錯誤，改走 P014 uv；PATH 綁定其他 minor 不構成 gate success。</a:t>
            </a:r>
          </a:p>
          <a:p>
            <a:r>
              <a:t>銜接下一頁：P016｜P014｜uv 取得與定位 Python 3.11，把本頁的 官方下載 → Launcher／PATH 選項 → version gate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本頁目的：launcher unavailable 時的第二條入口。</a:t>
            </a:r>
          </a:p>
          <a:p>
            <a:r>
              <a:t>畫面指向：先看標題與 Windows／POSIX uv 兩條入口，再看命令、欄位或箭頭所標示的邊界。</a:t>
            </a:r>
          </a:p>
          <a:p>
            <a:r>
              <a:t>可直接說：uv output 僅表示 interpreter path；READY 與 energy result 由後續 package stages 產生。</a:t>
            </a:r>
          </a:p>
          <a:p>
            <a:r>
              <a:t>必要操作：Windows PowerShell 先執行 winget install --id=astral-sh.uv -e，再執行 uv python install 3.11、uv python find 3.11；WSL/POSIX 執行 uv python install 3.11、uv python find 3.11。畫面上的 path 是 interpreter 定位結果，尚未代表 READY 或 run evidence。</a:t>
            </a:r>
          </a:p>
          <a:p>
            <a:r>
              <a:t>預期畫面或結果：預期：`uv python find 3.11` 回傳可執行的 3.11 path。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銜接下一頁：P017｜P015｜每個 package 使用自己的 `.venv`，把本頁的 Windows／POSIX uv 兩條入口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本頁目的：將 dependency graph 綁回 package root。</a:t>
            </a:r>
          </a:p>
          <a:p>
            <a:r>
              <a:t>畫面指向：先看標題與 system Python 與 package-local venv，再看命令、欄位或箭頭所標示的邊界。</a:t>
            </a:r>
          </a:p>
          <a:p>
            <a:r>
              <a:t>可直接說：activate 非必要；核對 path 與 version，不採用 shell 預設 Python 作為 identity。Windows `.venv\Scripts\python.exe` 與 WSL `.venv/bin/python` 分開建立。</a:t>
            </a:r>
          </a:p>
          <a:p>
            <a:r>
              <a:t>必要操作：在畫面標示的 package/root context 執行命令：.\.venv\Scripts\python.exe --version；./.venv/bin/python --version。</a:t>
            </a:r>
          </a:p>
          <a:p>
            <a:r>
              <a:t>預期畫面或結果：預期：所在平台的 path 顯示 `Python 3.11.x`。</a:t>
            </a:r>
          </a:p>
          <a:p>
            <a:r>
              <a:t>失敗處理：既有 venv minor 錯誤：處理目前 package root 的 `.venv` 後重跑 setup；package root 保持不變。</a:t>
            </a:r>
          </a:p>
          <a:p>
            <a:r>
              <a:t>銜接下一頁：P018｜P016a｜Windows setup：建立可重現 runtime，把本頁的 system Python 與 package-local venv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 Windows 的 package-local runtime。</a:t>
            </a:r>
          </a:p>
          <a:p>
            <a:r>
              <a:t>畫面指向：先看標題與 CMD／PowerShell 分欄 setup route，再看命令、欄位或箭頭所標示的邊界。</a:t>
            </a:r>
          </a:p>
          <a:p>
            <a:r>
              <a:t>可直接說：CMD 與 PowerShell 各在 Windows package root 執行自己的欄位；WSL path 不混用。setup 的 output 是 runtime state；result 與 endpoint replay 由 RUN stage 產生。</a:t>
            </a:r>
          </a:p>
          <a:p>
            <a:r>
              <a:t>必要操作：所有操作均在 Windows lora-energy-lab root。CMD 執行 setup.cmd；PowerShell 執行 .\setup.cmd；採用 uv fallback 時先取得 $python311、以 `$env:PYTHON_BIN = ('"{0}"' -f $python311)` 設定 interpreter，再執行 .\setup.cmd，完成後移除 PYTHON_BIN。</a:t>
            </a:r>
          </a:p>
          <a:p>
            <a:r>
              <a:t>預期畫面或結果：預期：package-local `.venv` 與 lock installation 完成；`result.json` 尚未產生。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銜接下一頁：P019｜P016b｜Windows verify：前置條件通過才允許 RUN，把本頁的 CMD／PowerShell 分欄 setup route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本頁目的：保存 validation gate receipt。</a:t>
            </a:r>
          </a:p>
          <a:p>
            <a:r>
              <a:t>畫面指向：先看標題與 CMD／PowerShell 分欄 verify route，再看命令、欄位或箭頭所標示的邊界。</a:t>
            </a:r>
          </a:p>
          <a:p>
            <a:r>
              <a:t>可直接說：verify 是 validation stage；READY 表示 RUN 的前置條件通過。RUN 產生 result.json 與 endpoint-replay.json，browser import 只讀取這兩筆結果。</a:t>
            </a:r>
          </a:p>
          <a:p>
            <a:r>
              <a:t>必要操作：所有操作均在 Windows lora-energy-lab root。CMD 執行 course.cmd verify；PowerShell 執行 .\course.cmd verify。接著讀取 artifacts\verify-receipt.json，確認 status READY、Python 3.11.x，並確認 result.json 尚未產生。</a:t>
            </a:r>
          </a:p>
          <a:p>
            <a:r>
              <a:t>預期畫面或結果：預期：`artifacts\verify-receipt.json` 有 `status: READY` 與 `python_version: 3.11.x`；`result.json` 尚未產生。</a:t>
            </a:r>
          </a:p>
          <a:p>
            <a:r>
              <a:t>失敗處理：缺欄位或 status 非 READY：原始錯誤保留，回到 P012–P018；receipt 維持唯讀。</a:t>
            </a:r>
          </a:p>
          <a:p>
            <a:r>
              <a:t>銜接下一頁：P020｜P017｜WSL：Ubuntu shell 與 Linux home，把本頁的 CMD／PowerShell 分欄 verify route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本頁目的：區分 `.cmd`、`.sh` 與 venv path。</a:t>
            </a:r>
          </a:p>
          <a:p>
            <a:r>
              <a:t>畫面指向：先看標題與 Windows host → Ubuntu shell，再看命令、欄位或箭頭所標示的邊界。</a:t>
            </a:r>
          </a:p>
          <a:p>
            <a:r>
              <a:t>可直接說：shell identity gate 完成後，uv、venv、READY 與 runner 仍屬後續 stages。Windows CMD 不執行 `.sh`；WSL 使用 `.venv/bin/python`。</a:t>
            </a:r>
          </a:p>
          <a:p>
            <a:r>
              <a:t>必要操作：在畫面標示的 package/root context 執行命令：wsl --install -d Ubuntu；wsl -l -v；wsl -d Ubuntu；pwd；uname -a。</a:t>
            </a:r>
          </a:p>
          <a:p>
            <a:r>
              <a:t>預期畫面或結果：預期：`wsl -l -v` 有 Ubuntu，Ubuntu shell 的 `uname -a` 開頭是 Linux。</a:t>
            </a:r>
          </a:p>
          <a:p>
            <a:r>
              <a:t>失敗處理：需要重開機或 distribution 不符：保留提示，依 `wsl -l -v` 修正；WSL 使用 bash `.sh`，Windows 使用 `.cmd`。</a:t>
            </a:r>
          </a:p>
          <a:p>
            <a:r>
              <a:t>銜接下一頁：P021｜P018｜WSL 工具與 uv 的安裝順序，把本頁的 Windows host → Ubuntu shell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本頁目的：準備 WSL interpreter path。</a:t>
            </a:r>
          </a:p>
          <a:p>
            <a:r>
              <a:t>畫面指向：先看標題與 apt → curl／unzip → uv → Python 3.11，再看命令、欄位或箭頭所標示的邊界。</a:t>
            </a:r>
          </a:p>
          <a:p>
            <a:r>
              <a:t>可直接說：apt、installer 或網路失敗時保留錯誤，修復目前 stage；uv output 不等同 READY。</a:t>
            </a:r>
          </a:p>
          <a:p>
            <a:r>
              <a:t>必要操作：在畫面標示的 package/root context 執行命令：sudo apt update；sudo apt install -y curl unzip；curl -LsSf https://astral.sh/uv/install.sh | sh；uv python install 3.11；uv python find 3.11。</a:t>
            </a:r>
          </a:p>
          <a:p>
            <a:r>
              <a:t>預期畫面或結果：預期：`uv python find 3.11` 回傳可執行 path。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銜接下一頁：P022｜P019a｜將 release asset 複製到 Linux home，把本頁的 apt → curl／unzip → uv → Python 3.11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本頁目的：把 release asset 放到 WSL Linux home。</a:t>
            </a:r>
          </a:p>
          <a:p>
            <a:r>
              <a:t>畫面指向：先看標題與 Windows Downloads → WSL Linux home，再看命令、欄位或箭頭所標示的邊界。</a:t>
            </a:r>
          </a:p>
          <a:p>
            <a:r>
              <a:t>可直接說：copy 只搬 release asset，不搬 Git metadata；解壓與 runner evidence 由下一個 stage 產生。</a:t>
            </a:r>
          </a:p>
          <a:p>
            <a:r>
              <a:t>必要操作：Windows PowerShell 先進入 $HOME\Downloads 並確認 ZIP；WSL/POSIX 先以 WIN_USER=&lt;Windows帳號&gt; 對應 Windows 帳號，再進入 Downloads 並把 ZIP 複製到 $HOME，最後以 cd $HOME 準備下一頁的解壓操作。`&lt;Windows帳號&gt;` 是替換欄位。</a:t>
            </a:r>
          </a:p>
          <a:p>
            <a:r>
              <a:t>預期畫面或結果：預期：ZIP 位於 `$HOME/lora-energy-lab-v1.zip`；下一頁解壓後只有 `$HOME/lora-energy-lab/`。</a:t>
            </a:r>
          </a:p>
          <a:p>
            <a:r>
              <a:t>失敗處理：copy 失敗：保留命令錯誤，確認實際 Windows 帳號、Downloads 與 WSL interop；不要先建立同名 package directory。</a:t>
            </a:r>
          </a:p>
          <a:p>
            <a:r>
              <a:t>銜接下一頁：P023｜P019b｜WSL extract／root：建立 Linux venv，把本頁的 Windows Downloads → WSL Linux home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本頁目的：將 WSL package-local environment 接上 runner gate。</a:t>
            </a:r>
          </a:p>
          <a:p>
            <a:r>
              <a:t>畫面指向：先看標題與 Linux home → one package root → `.venv/bin/python`，再看命令、欄位或箭頭所標示的邊界。</a:t>
            </a:r>
          </a:p>
          <a:p>
            <a:r>
              <a:t>可直接說：READY 可能在此 stage 產生；現場受阻時保留 same-scenario fallback 路徑，claim 維持原證據等級。</a:t>
            </a:r>
          </a:p>
          <a:p>
            <a:r>
              <a:t>必要操作：在 WSL/POSIX Linux home 依序執行 unzip、cd lora-energy-lab、pwd；留在同一 root 後執行 PYTHON_BIN=python3.11 bash setup.sh 與 bash course.sh verify。確認 .venv/bin/python、lock 與 verify-receipt.json 都屬於這個 root。</a:t>
            </a:r>
          </a:p>
          <a:p>
            <a:r>
              <a:t>預期畫面或結果：預期：`pwd` 是 `$HOME/lora-energy-lab`，JSON 有 `status: READY`、`python_version: 3.11.x`。</a:t>
            </a:r>
          </a:p>
          <a:p>
            <a:r>
              <a:t>失敗處理：verify 失敗：錯誤保留，回到 Linux home、one-root extract、interpreter 或 lock gate；Windows `.venv\Scripts\python.exe` 不納入 WSL path。</a:t>
            </a:r>
          </a:p>
          <a:p>
            <a:r>
              <a:t>銜接下一頁：P024｜P020｜POSIX runner 的最小入口，把本頁的 Linux home → one package root → `.venv/bin/python`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本頁目的：提供非 Windows 的最小可重跑入口。</a:t>
            </a:r>
          </a:p>
          <a:p>
            <a:r>
              <a:t>畫面指向：先看標題與 POSIX setup → verify，再看命令、欄位或箭頭所標示的邊界。</a:t>
            </a:r>
          </a:p>
          <a:p>
            <a:r>
              <a:t>可直接說：Windows、WSL、macOS 共用 READY 語義；shell/path receipt 保留原樣。</a:t>
            </a:r>
          </a:p>
          <a:p>
            <a:r>
              <a:t>必要操作：在畫面標示的 package/root context 執行命令：PYTHON_BIN=python3.11 bash setup.sh；bash course.sh verify。</a:t>
            </a:r>
          </a:p>
          <a:p>
            <a:r>
              <a:t>預期畫面或結果：預期：`artifacts/verify-receipt.json` 有 `status: READY`。</a:t>
            </a:r>
          </a:p>
          <a:p>
            <a:r>
              <a:t>失敗處理：缺少 `python3.11`：改走 uv；既有 venv 版本錯誤時處理 package-local `.venv`；verify failure 維持 gate failure。</a:t>
            </a:r>
          </a:p>
          <a:p>
            <a:r>
              <a:t>銜接下一頁：P025｜P021a｜verify-receipt.json：schema example，把本頁的 POSIX setup → verify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本頁目的：保存 validation receipt 的欄位結構。</a:t>
            </a:r>
          </a:p>
          <a:p>
            <a:r>
              <a:t>畫面指向：先看標題與 machine-readable receipt schema／example，再看命令、欄位或箭頭所標示的邊界。</a:t>
            </a:r>
          </a:p>
          <a:p>
            <a:r>
              <a:t>可直接說：先把畫面 JSON 當欄位索引，再用命令讀取 package root 內的 current receipt；RUN 產生 result.json 與 endpoint-replay.json，browser import 只讀取這兩筆結果。</a:t>
            </a:r>
          </a:p>
          <a:p>
            <a:r>
              <a:t>必要操作：在畫面標示的 package/root context 執行命令：sed -n '1,80p' artifacts/verify-receipt.json；Get-Content .\artifacts\verify-receipt.json；type artifacts\verify-receipt.json。</a:t>
            </a:r>
          </a:p>
          <a:p>
            <a:r>
              <a:t>預期畫面或結果：預期：現場讀取的 receipt 欄位包含 `status: READY`、`python_version: 3.11.x` 與 `scenario_id`；畫面 JSON 僅為 schema example，energy fields 不在此 receipt。</a:t>
            </a:r>
          </a:p>
          <a:p>
            <a:r>
              <a:t>失敗處理：缺檔、版本不符或 status 非 READY：回到 setup；JSON 維持唯讀，現場值以實際 receipt 為準。</a:t>
            </a:r>
          </a:p>
          <a:p>
            <a:r>
              <a:t>銜接下一頁：P026｜P021b｜逐欄解讀：READY 與 energy evidence 分層，把本頁的 machine-readable receipt schema／example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本頁目的：讀取 identity 與 claim ceiling。</a:t>
            </a:r>
          </a:p>
          <a:p>
            <a:r>
              <a:t>畫面指向：先看標題與 scenario／engine／claim fields，再看命令、欄位或箭頭所標示的邊界。</a:t>
            </a:r>
          </a:p>
          <a:p>
            <a:r>
              <a:t>可直接說：identity receipt 描述 course model 的來源欄位；energy run 與部署量測使用各自 evidence 分類。</a:t>
            </a:r>
          </a:p>
          <a:p>
            <a:r>
              <a:t>必要操作：本頁屬於概念或邊界頁；沿著畫面上的 scenario／engine／claim fields 閱讀，不改動 runner、schema 或 generated JSON。</a:t>
            </a:r>
          </a:p>
          <a:p>
            <a:r>
              <a:t>預期畫面或結果：預期：欄位相符後進入 policy；mismatch 維持 gate failure。</a:t>
            </a:r>
          </a:p>
          <a:p>
            <a:r>
              <a:t>失敗處理：scenario_id 存在不建立 result evidence；缺欄位：gate failure，source mode 與 recovery evidence 保留。</a:t>
            </a:r>
          </a:p>
          <a:p>
            <a:r>
              <a:t>銜接下一頁：P027｜P022｜setup 失敗：gate repair 與 same-scenario fallback，把本頁的 scenario／engine／claim fields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 fail-closed recovery 決策樹。</a:t>
            </a:r>
          </a:p>
          <a:p>
            <a:r>
              <a:t>畫面指向：先看標題與 Windows／WSL verify fallback route，再看命令、欄位或箭頭所標示的邊界。</a:t>
            </a:r>
          </a:p>
          <a:p>
            <a:r>
              <a:t>可直接說：fallback 分支保留原始 evidence 等級，不重命名受阻環境的結果狀態。</a:t>
            </a:r>
          </a:p>
          <a:p>
            <a:r>
              <a:t>必要操作：Windows PowerShell 在 package root 執行 .\course.cmd verify；WSL/POSIX 在 package root 執行 bash course.sh verify。先保留 error receipt，再修復目前指出的最小 gate；修復仍未完成時只選同情境 fallback，不改寫來源標籤。</a:t>
            </a:r>
          </a:p>
          <a:p>
            <a:r>
              <a:t>預期畫面或結果：預期：error receipt 保留；fallback pair 具有同一 exact-case 的 result 與 replay。</a:t>
            </a:r>
          </a:p>
          <a:p>
            <a:r>
              <a:t>失敗處理：result、replay 與 receipt 維持唯讀。runner inspection 與 Leo import pending 分開記錄。</a:t>
            </a:r>
          </a:p>
          <a:p>
            <a:r>
              <a:t>銜接下一頁：P028｜P023｜可編輯檔案只有 `student_policy.py` 的 marked block，把本頁的 Windows／WSL verify fallback route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本頁目的：分離 policy edit 與 evidence engine。</a:t>
            </a:r>
          </a:p>
          <a:p>
            <a:r>
              <a:t>畫面指向：先看標題與 可編輯檔與四個 read-only 鎖，再看命令、欄位或箭頭所標示的邊界。</a:t>
            </a:r>
          </a:p>
          <a:p>
            <a:r>
              <a:t>可直接說：此檔案是唯一允許修改的控制面；API、常數、條件與 return 需與 read-only boundary 分開。</a:t>
            </a:r>
          </a:p>
          <a:p>
            <a:r>
              <a:t>必要操作：此頁維持定位概念。畫面上的 student_policy.py 與 active marked block 是通用邊界；可用 sed -n 或 Get-Content 讀取檔案並以 git diff 觀察差異，此頁維持唯讀，精確修改不在這裡執行。Lab A、B、C 的 path、marker、before/after 與編輯命令在 Part B。</a:t>
            </a:r>
          </a:p>
          <a:p>
            <a:r>
              <a:t>預期畫面或結果：預期：diff 只落在 active block，檔案通過 policy guard。</a:t>
            </a:r>
          </a:p>
          <a:p>
            <a:r>
              <a:t>失敗處理：marker 或 package identity 不符：檔案與錯誤保留，回到 package identity；runner 與 JSON 維持唯讀。</a:t>
            </a:r>
          </a:p>
          <a:p>
            <a:r>
              <a:t>銜接下一頁：P029｜P024｜policy 讀取邊界與合法 action，把本頁的 可編輯檔與四個 read-only 鎖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 bounded policy API 的讀取邊界。</a:t>
            </a:r>
          </a:p>
          <a:p>
            <a:r>
              <a:t>畫面指向：先看標題與 observation → legal action，再看命令、欄位或箭頭所標示的邊界。</a:t>
            </a:r>
          </a:p>
          <a:p>
            <a:r>
              <a:t>可直接說：未知欄位、future leakage 或契約外 action：fail closed；active block 以外的內容維持不變。</a:t>
            </a:r>
          </a:p>
          <a:p>
            <a:r>
              <a:t>必要操作：此頁維持 policy API 的定位概念。沿著 choose_action(observation)、observation 與 legal action 閱讀，檔案保持唯讀；精確 marked block 與 edit 順序在 Part B，future 欄位與 result summary 維持 read-only。</a:t>
            </a:r>
          </a:p>
          <a:p>
            <a:r>
              <a:t>預期畫面或結果：預期：`contact_open = false` 時，`SEND_ONE` 不合法；安全路徑為 `SLEEP`。</a:t>
            </a:r>
          </a:p>
          <a:p>
            <a:r>
              <a:t>失敗處理：policy guard 或 syntax failure：active marked block only；runner、schema 與 generated JSON 維持唯讀。</a:t>
            </a:r>
          </a:p>
          <a:p>
            <a:r>
              <a:t>銜接下一頁：P030｜P025｜常數是受控旋鈕：一次只改一個值，把本頁的 observation → legal action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本頁目的：定義三個 lab 的第一個 edit。</a:t>
            </a:r>
          </a:p>
          <a:p>
            <a:r>
              <a:t>畫面指向：先看標題與 A／B／C controls，再看命令、欄位或箭頭所標示的邊界。</a:t>
            </a:r>
          </a:p>
          <a:p>
            <a:r>
              <a:t>可直接說：gap、quality、batch 與 margin 分開修改。guard failure 時回到 package baseline 或上一個 freeze 的 exact block。</a:t>
            </a:r>
          </a:p>
          <a:p>
            <a:r>
              <a:t>必要操作：此頁只建立定位概念與三個受控旋鈕的索引。可在 package root 以 grep -n 或對應的文字搜尋 確認 REST_DURING_GAP、STABLE_STEPS、URGENT_MARGIN_S；精確 before/after 與 candidate run 轉到 Part B、Part C。</a:t>
            </a:r>
          </a:p>
          <a:p>
            <a:r>
              <a:t>預期畫面或結果：預期：方向性 prediction 先記錄；KPI 改善不預設。</a:t>
            </a:r>
          </a:p>
          <a:p>
            <a:r>
              <a:t>失敗處理：policy guard 或 syntax failure：active marked block only；runner、schema 與 generated JSON 維持唯讀。</a:t>
            </a:r>
          </a:p>
          <a:p>
            <a:r>
              <a:t>銜接下一頁：P031｜P026｜條件分支：observation 轉成 action，把本頁的 A／B／C controls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本頁目的：建立程式碼到機制的閱讀橋。</a:t>
            </a:r>
          </a:p>
          <a:p>
            <a:r>
              <a:t>畫面指向：先看標題與 mechanism-only pseudocode：observation 轉成 legal action，再看命令、欄位或箭頭所標示的邊界。</a:t>
            </a:r>
          </a:p>
          <a:p>
            <a:r>
              <a:t>可直接說：名稱、縮排或 guard failure：active marked block 內修復；branch prediction 與 evidence 分開記錄；畫面 pseudocode 不替代 exact source。</a:t>
            </a:r>
          </a:p>
          <a:p>
            <a:r>
              <a:t>必要操作：在 package root 以 grep -n 找到 choose_action、contact_open 與 URGENT_MARGIN_S，逐段閱讀條件與 return；此頁只做 branch reading，policy 保持唯讀，預測也不當成 result evidence。</a:t>
            </a:r>
          </a:p>
          <a:p>
            <a:r>
              <a:t>預期畫面或結果：預期：`URGENT_MARGIN_S` 增大時，`SEND_URGENT` 觸發點提前。</a:t>
            </a:r>
          </a:p>
          <a:p>
            <a:r>
              <a:t>失敗處理：policy guard 或 syntax failure：active marked block only；runner、schema 與 generated JSON 維持唯讀。</a:t>
            </a:r>
          </a:p>
          <a:p>
            <a:r>
              <a:t>銜接下一頁：P032｜P027｜RUN：baseline 產生兩筆結果，把本頁的 mechanism-only pseudocode：observation 轉成 legal action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本頁目的：建立第一筆 control evidence。</a:t>
            </a:r>
          </a:p>
          <a:p>
            <a:r>
              <a:t>畫面指向：先看標題與 Windows PowerShell／WSL-POSIX 分欄 baseline，再看命令、欄位或箭頭所標示的邊界。</a:t>
            </a:r>
          </a:p>
          <a:p>
            <a:r>
              <a:t>可直接說：baseline 是固定情境、隨機種子與原始 policy 的對照執行。RUN 先產生 result.json 與 endpoint-replay.json；browser import 只讀取這兩筆結果。</a:t>
            </a:r>
          </a:p>
          <a:p>
            <a:r>
              <a:t>必要操作：兩個 shell 都在 lora-energy-lab root。Windows PowerShell 先以 .\.venv\Scripts\python.exe -m py_compile student_policy.py 驗證語法，再執行 .\course.cmd run --lab A --case baseline；WSL/POSIX 使用 ./.venv/bin/python -m py_compile student_policy.py，再執行 bash course.sh run --lab A --case baseline。保留 stdout 的 result_path，並在同一 run 目錄讀取 result.json 與 endpoint-replay.json。</a:t>
            </a:r>
          </a:p>
          <a:p>
            <a:r>
              <a:t>預期畫面或結果：預期：`status: OK`、`artifact_source: student-run`、JSON 印出 `result_path`，並有 `endpoint-replay.json`。</a:t>
            </a:r>
          </a:p>
          <a:p>
            <a:r>
              <a:t>失敗處理：compile 或 RUN failure：stdout/stderr 保留，回到 marked block、READY 或 predecessor gate；JSON 維持唯讀。</a:t>
            </a:r>
          </a:p>
          <a:p>
            <a:r>
              <a:t>銜接下一頁：P033｜P028｜Windows 手動建立 Python 3.11 `.venv`，把本頁的 Windows PowerShell／WSL-POSIX 分欄 baseline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本頁目的：把 Windows interpreter 與 package-local venv 連在同一個操作流程。</a:t>
            </a:r>
          </a:p>
          <a:p>
            <a:r>
              <a:t>畫面指向：先看標題與 PowerShell：檢查／安裝／venv module／建立，再看命令、欄位或箭頭所標示的邊界。</a:t>
            </a:r>
          </a:p>
          <a:p>
            <a:r>
              <a:t>可直接說：PowerShell 命令都在 Windows package root 執行；uv-managed Python 與 Python Launcher 的 3.11 path 都可作為 `PYTHON_BIN`。</a:t>
            </a:r>
          </a:p>
          <a:p>
            <a:r>
              <a:t>必要操作：PowerShell 位於 lora-energy-lab root。先執行 py -3.11 --version 並定位 $python311；缺少 3.11 時依序執行 winget/uv route，再執行 &amp; $python311 -m venv .venv。最後確認 .venv\Scripts\python.exe 已建立。</a:t>
            </a:r>
          </a:p>
          <a:p>
            <a:r>
              <a:t>預期畫面或結果：預期：`&amp; $python311 --version` 顯示 3.11.x，`-m venv --help` 成功，並產生 `.venv\Scripts\python.exe`。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銜接下一頁：P034｜P029｜Windows 啟用 `.venv`、locked install、verify，把本頁的 PowerShell：檢查／安裝／venv module／建立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本頁目的：讓 Windows 手動流程產生可觀察的 READY gate。</a:t>
            </a:r>
          </a:p>
          <a:p>
            <a:r>
              <a:t>畫面指向：先看標題與 PowerShell activation → locked install → verify，再看命令、欄位或箭頭所標示的邊界。</a:t>
            </a:r>
          </a:p>
          <a:p>
            <a:r>
              <a:t>可直接說：若 PowerShell 不允許 `Activate.ps1`，Windows Command Prompt 可用 `call .venv\Scripts\activate.bat`；`.sh` 不在 Windows CMD 執行。</a:t>
            </a:r>
          </a:p>
          <a:p>
            <a:r>
              <a:t>必要操作：在同一個 Windows PowerShell 視窗執行 .\.venv\Scripts\Activate.ps1、python --version、prefix assertion、locked requirements install 與 .\course.cmd verify。若 Activate.ps1 受限，改用 Command Prompt 的 call .venv\Scripts\activate.bat，仍在同一 root 執行 course.cmd verify。</a:t>
            </a:r>
          </a:p>
          <a:p>
            <a:r>
              <a:t>預期畫面或結果：預期：版本是 3.11.x、`sys.prefix` 不等於 `sys.base_prefix`，verify receipt 的 status 是 READY。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銜接下一頁：P035｜P030｜WSL Ubuntu 24.04：定位並安裝 Python 3.11，把本頁的 PowerShell activation → locked install → verify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 WSL 的 exact interpreter path。</a:t>
            </a:r>
          </a:p>
          <a:p>
            <a:r>
              <a:t>畫面指向：先看標題與 WSL／Ubuntu：detect → apt prerequisite → curl → uv，再看命令、欄位或箭頭所標示的邊界。</a:t>
            </a:r>
          </a:p>
          <a:p>
            <a:r>
              <a:t>可直接說：apt 與 uv 分支都在 Ubuntu／WSL bash 設定 `PYTHON_BIN`，接續頁直接以同一變數建立 `.venv`。</a:t>
            </a:r>
          </a:p>
          <a:p>
            <a:r>
              <a:t>必要操作：上述命令只在 Ubuntu/WSL bash 執行。先以 command -v python3.11 與 python3.11 --version 檢查，再以 apt-cache policy 檢查 python3.11-venv；接著執行 sudo apt update；有 Candidate 時執行 sudo apt install -y python3.11 python3.11-venv，沒有 Candidate 時以 apt 補 curl/unzip，再安裝 uv、定位 Python 3.11，將 PYTHON_BIN 留在同一個 bash session 給下一頁使用。</a:t>
            </a:r>
          </a:p>
          <a:p>
            <a:r>
              <a:t>預期畫面或結果：預期：兩個分支都讓 `PYTHON_BIN` 指向 WSL／Linux 的 Python 3.11.x；Windows interpreter path 不進入 WSL。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銜接下一頁：P036｜P031｜WSL `.venv/bin`：建立、啟用、locked install、verify，把本頁的 WSL／Ubuntu：detect → apt prerequisite → curl → uv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本頁目的：讓 WSL 手動流程產生可觀察的 READY gate。</a:t>
            </a:r>
          </a:p>
          <a:p>
            <a:r>
              <a:t>畫面指向：先看標題與 WSL／Ubuntu：venv module → source → install → verify，再看命令、欄位或箭頭所標示的邊界。</a:t>
            </a:r>
          </a:p>
          <a:p>
            <a:r>
              <a:t>可直接說：Windows `.venv\Scripts\python.exe` 與 WSL `.venv/bin/python` 是兩個 filesystem 內的環境；`.sh` 僅在 WSL／Linux bash 執行，Windows CMD 使用 `.cmd`。</a:t>
            </a:r>
          </a:p>
          <a:p>
            <a:r>
              <a:t>必要操作：在同一個 WSL root 與 bash session 使用 PYTHON_BIN 執行 venv module check、建立 .venv、source .venv/bin/activate、確認 prefix、安裝 locked requirements，最後執行 bash course.sh verify。讀取 verify receipt 的 READY，再進入後續 policy stage。</a:t>
            </a:r>
          </a:p>
          <a:p>
            <a:r>
              <a:t>預期畫面或結果：預期：版本是 3.11.x、prefix 與 base prefix 不同，verify receipt 的 status 是 READY。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本模組在此收束；保留 READY 與 baseline receipt，後續實驗從對應的操作頁開始。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>
                <a:latin typeface="Times-Roman"/>
              </a:rPr>
              <a:t>Energy-Efficiency-Based Joint Uplink Resources</a:t>
            </a:r>
            <a:r>
              <a:rPr lang="zh-TW" altLang="en-US" b="0" i="0" u="none" strike="noStrike" baseline="0" dirty="0">
                <a:latin typeface="Times-Roman"/>
              </a:rPr>
              <a:t> </a:t>
            </a:r>
            <a:r>
              <a:rPr lang="en-US" altLang="zh-TW" b="0" i="0" u="none" strike="noStrike" baseline="0" dirty="0">
                <a:latin typeface="Times-Roman"/>
              </a:rPr>
              <a:t>Allocation for LEO Satellite Beam-Hopping System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0" i="0" u="none" strike="noStrike" baseline="0" dirty="0">
                <a:latin typeface="Times-Roman"/>
              </a:rPr>
              <a:t>IEEE Internet of Things, </a:t>
            </a:r>
            <a:r>
              <a:rPr lang="en-US" altLang="zh-TW" i="0" u="none" strike="noStrike" baseline="0" dirty="0">
                <a:latin typeface="Times-Roman"/>
              </a:rPr>
              <a:t>2025</a:t>
            </a:r>
            <a:r>
              <a:rPr lang="en-US" altLang="zh-TW" b="0" i="0" u="none" strike="noStrike" baseline="0" dirty="0">
                <a:latin typeface="Times-Roman"/>
              </a:rPr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327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上行 </a:t>
            </a:r>
            <a:r>
              <a:rPr lang="en-US" altLang="zh-TW" dirty="0"/>
              <a:t>LEO </a:t>
            </a:r>
            <a:r>
              <a:rPr lang="zh-TW" altLang="en-US" dirty="0"/>
              <a:t>衛星 </a:t>
            </a:r>
            <a:r>
              <a:rPr lang="en-US" altLang="zh-TW" dirty="0"/>
              <a:t>BH </a:t>
            </a:r>
            <a:r>
              <a:rPr lang="zh-TW" altLang="en-US" dirty="0"/>
              <a:t>系統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位於受照射波束內的終端將會受到同頻跨波束干擾。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Songsong</a:t>
            </a:r>
            <a:r>
              <a:rPr lang="en-US" altLang="zh-TW" b="1" i="0" u="none" strike="noStrike" baseline="0" dirty="0">
                <a:latin typeface="Times-Roman"/>
              </a:rPr>
              <a:t> Cai</a:t>
            </a:r>
            <a:r>
              <a:rPr lang="zh-TW" altLang="en-US" b="1" i="0" u="none" strike="noStrike" baseline="0" dirty="0">
                <a:latin typeface="Times-Roman"/>
              </a:rPr>
              <a:t> </a:t>
            </a:r>
            <a:r>
              <a:rPr lang="en-US" altLang="zh-TW" b="0" i="0" u="none" strike="noStrike" baseline="0" dirty="0">
                <a:latin typeface="Times-Roman"/>
              </a:rPr>
              <a:t>et al. “Energy-Efficiency-Based Joint Uplink Resources</a:t>
            </a:r>
            <a:r>
              <a:rPr lang="zh-TW" altLang="en-US" b="0" i="0" u="none" strike="noStrike" baseline="0" dirty="0">
                <a:latin typeface="Times-Roman"/>
              </a:rPr>
              <a:t> </a:t>
            </a:r>
            <a:r>
              <a:rPr lang="en-US" altLang="zh-TW" b="0" i="0" u="none" strike="noStrike" baseline="0" dirty="0">
                <a:latin typeface="Times-Roman"/>
              </a:rPr>
              <a:t>Allocation for LEO Satellite Beam-Hopping System,” IEEE Internet of Things, </a:t>
            </a:r>
            <a:r>
              <a:rPr lang="en-US" altLang="zh-TW" i="0" u="none" strike="noStrike" baseline="0" dirty="0">
                <a:latin typeface="Times-Roman"/>
              </a:rPr>
              <a:t>2025</a:t>
            </a:r>
            <a:r>
              <a:rPr lang="en-US" altLang="zh-TW" b="0" i="0" u="none" strike="noStrike" baseline="0" dirty="0">
                <a:latin typeface="Times-Roman"/>
              </a:rPr>
              <a:t>.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9816228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P001｜有限電量與變動服務窗口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有限電量的 IoT endpoint（物聯網端點）必須把資料送進會開、會關的服務窗口。過早保持 awake 會耗電；錯過窗口，資料可能延遲或過期。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endpoint-first：資料、窗口、電池同時存在</a:t>
            </a:r>
          </a:p>
        </p:txBody>
      </p:sp>
      <p:sp>
        <p:nvSpPr>
          <p:cNvPr id="5" name="Endpoint hero"/>
          <p:cNvSpPr/>
          <p:nvPr/>
        </p:nvSpPr>
        <p:spPr>
          <a:xfrm>
            <a:off x="877824" y="2103120"/>
            <a:ext cx="2743200" cy="1554480"/>
          </a:xfrm>
          <a:prstGeom prst="roundRect">
            <a:avLst/>
          </a:prstGeom>
          <a:solidFill>
            <a:srgbClr val="E9EDFC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ndpoint radio"/>
          <p:cNvSpPr/>
          <p:nvPr/>
        </p:nvSpPr>
        <p:spPr>
          <a:xfrm>
            <a:off x="1133856" y="2487168"/>
            <a:ext cx="621792" cy="62179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ndpoint label"/>
          <p:cNvSpPr txBox="1"/>
          <p:nvPr/>
        </p:nvSpPr>
        <p:spPr>
          <a:xfrm>
            <a:off x="1847088" y="2340864"/>
            <a:ext cx="144475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IoT endpoint</a:t>
            </a:r>
          </a:p>
        </p:txBody>
      </p:sp>
      <p:sp>
        <p:nvSpPr>
          <p:cNvPr id="8" name="Endpoint detail"/>
          <p:cNvSpPr txBox="1"/>
          <p:nvPr/>
        </p:nvSpPr>
        <p:spPr>
          <a:xfrm>
            <a:off x="1097280" y="2962656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battery → packet</a:t>
            </a:r>
          </a:p>
        </p:txBody>
      </p:sp>
      <p:cxnSp>
        <p:nvCxnSpPr>
          <p:cNvPr id="9" name="Packet path"/>
          <p:cNvCxnSpPr/>
          <p:nvPr/>
        </p:nvCxnSpPr>
        <p:spPr>
          <a:xfrm>
            <a:off x="3675887" y="2889504"/>
            <a:ext cx="4315969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ervice window hero"/>
          <p:cNvSpPr/>
          <p:nvPr/>
        </p:nvSpPr>
        <p:spPr>
          <a:xfrm>
            <a:off x="8156448" y="2103120"/>
            <a:ext cx="3127248" cy="1554480"/>
          </a:xfrm>
          <a:prstGeom prst="roundRect">
            <a:avLst/>
          </a:prstGeom>
          <a:solidFill>
            <a:srgbClr val="FCF8E7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indow label"/>
          <p:cNvSpPr txBox="1"/>
          <p:nvPr/>
        </p:nvSpPr>
        <p:spPr>
          <a:xfrm>
            <a:off x="8394192" y="237744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window</a:t>
            </a:r>
          </a:p>
        </p:txBody>
      </p:sp>
      <p:sp>
        <p:nvSpPr>
          <p:cNvPr id="12" name="Window state"/>
          <p:cNvSpPr txBox="1"/>
          <p:nvPr/>
        </p:nvSpPr>
        <p:spPr>
          <a:xfrm>
            <a:off x="8485632" y="294436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OPEN → CLOSE</a:t>
            </a:r>
          </a:p>
        </p:txBody>
      </p:sp>
      <p:sp>
        <p:nvSpPr>
          <p:cNvPr id="13" name="Window consequence"/>
          <p:cNvSpPr txBox="1"/>
          <p:nvPr/>
        </p:nvSpPr>
        <p:spPr>
          <a:xfrm>
            <a:off x="4041648" y="3200400"/>
            <a:ext cx="38039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送達機會正在改變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P002｜現在送不一定最好，等一下也不一定省電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立刻送可能守住窗口，卻付出處理與收發能量。醒著等待可能等到較好品質，卻持續消耗 awake-idle；睡眠功率低，卻增加 wake latency 與 wake energy。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三個合法方向與保護對象</a:t>
            </a:r>
          </a:p>
        </p:txBody>
      </p:sp>
      <p:sp>
        <p:nvSpPr>
          <p:cNvPr id="5" name="Visual panel SEND"/>
          <p:cNvSpPr/>
          <p:nvPr/>
        </p:nvSpPr>
        <p:spPr>
          <a:xfrm>
            <a:off x="749808" y="2139696"/>
            <a:ext cx="3401568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SEND"/>
          <p:cNvSpPr txBox="1"/>
          <p:nvPr/>
        </p:nvSpPr>
        <p:spPr>
          <a:xfrm>
            <a:off x="877824" y="228600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SEND</a:t>
            </a:r>
          </a:p>
        </p:txBody>
      </p:sp>
      <p:sp>
        <p:nvSpPr>
          <p:cNvPr id="7" name="Visual body SEND"/>
          <p:cNvSpPr txBox="1"/>
          <p:nvPr/>
        </p:nvSpPr>
        <p:spPr>
          <a:xfrm>
            <a:off x="914400" y="2743200"/>
            <a:ext cx="3072384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守住窗口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付出 TX／RX／process</a:t>
            </a:r>
          </a:p>
        </p:txBody>
      </p:sp>
      <p:sp>
        <p:nvSpPr>
          <p:cNvPr id="8" name="Visual panel WAIT"/>
          <p:cNvSpPr/>
          <p:nvPr/>
        </p:nvSpPr>
        <p:spPr>
          <a:xfrm>
            <a:off x="4562856" y="2139696"/>
            <a:ext cx="3401568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WAIT"/>
          <p:cNvSpPr txBox="1"/>
          <p:nvPr/>
        </p:nvSpPr>
        <p:spPr>
          <a:xfrm>
            <a:off x="4690872" y="228600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0" name="Visual body WAIT"/>
          <p:cNvSpPr txBox="1"/>
          <p:nvPr/>
        </p:nvSpPr>
        <p:spPr>
          <a:xfrm>
            <a:off x="4727448" y="2743200"/>
            <a:ext cx="3072384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保持反應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付出 awake-idle</a:t>
            </a:r>
          </a:p>
        </p:txBody>
      </p:sp>
      <p:sp>
        <p:nvSpPr>
          <p:cNvPr id="11" name="Visual panel SLEEP"/>
          <p:cNvSpPr/>
          <p:nvPr/>
        </p:nvSpPr>
        <p:spPr>
          <a:xfrm>
            <a:off x="8375904" y="2139696"/>
            <a:ext cx="3401568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sual heading SLEEP"/>
          <p:cNvSpPr txBox="1"/>
          <p:nvPr/>
        </p:nvSpPr>
        <p:spPr>
          <a:xfrm>
            <a:off x="8503920" y="228600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3" name="Visual body SLEEP"/>
          <p:cNvSpPr txBox="1"/>
          <p:nvPr/>
        </p:nvSpPr>
        <p:spPr>
          <a:xfrm>
            <a:off x="8540496" y="2743200"/>
            <a:ext cx="3072384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降低等待功率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付出 wake latency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P003｜WAIT、SLEEP、SEND：合法 action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每一步選一個 action：WAIT（清醒閒置）、SLEEP（低功耗休息）或 SEND（傳送）。action 改變 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radio state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、packet 進度與服務結果。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action → </a:t>
            </a: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→ packet／service</a:t>
            </a:r>
          </a:p>
        </p:txBody>
      </p:sp>
      <p:sp>
        <p:nvSpPr>
          <p:cNvPr id="5" name="Action node WAIT"/>
          <p:cNvSpPr/>
          <p:nvPr/>
        </p:nvSpPr>
        <p:spPr>
          <a:xfrm>
            <a:off x="2121408" y="2139696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result WAIT"/>
          <p:cNvSpPr/>
          <p:nvPr/>
        </p:nvSpPr>
        <p:spPr>
          <a:xfrm>
            <a:off x="932688" y="2871216"/>
            <a:ext cx="2907792" cy="85953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tion result text WAIT"/>
          <p:cNvSpPr txBox="1"/>
          <p:nvPr/>
        </p:nvSpPr>
        <p:spPr>
          <a:xfrm>
            <a:off x="1060704" y="305409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awake-idle</a:t>
            </a:r>
          </a:p>
        </p:txBody>
      </p:sp>
      <p:cxnSp>
        <p:nvCxnSpPr>
          <p:cNvPr id="8" name="Action path"/>
          <p:cNvCxnSpPr/>
          <p:nvPr/>
        </p:nvCxnSpPr>
        <p:spPr>
          <a:xfrm>
            <a:off x="3840480" y="3310128"/>
            <a:ext cx="78638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ction node SLEEP"/>
          <p:cNvSpPr/>
          <p:nvPr/>
        </p:nvSpPr>
        <p:spPr>
          <a:xfrm>
            <a:off x="5815584" y="2139696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ction result SLEEP"/>
          <p:cNvSpPr/>
          <p:nvPr/>
        </p:nvSpPr>
        <p:spPr>
          <a:xfrm>
            <a:off x="4626864" y="2871216"/>
            <a:ext cx="2907792" cy="859536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tion result text SLEEP"/>
          <p:cNvSpPr txBox="1"/>
          <p:nvPr/>
        </p:nvSpPr>
        <p:spPr>
          <a:xfrm>
            <a:off x="4754880" y="305409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wake + sleep</a:t>
            </a:r>
          </a:p>
        </p:txBody>
      </p:sp>
      <p:cxnSp>
        <p:nvCxnSpPr>
          <p:cNvPr id="12" name="Action path"/>
          <p:cNvCxnSpPr/>
          <p:nvPr/>
        </p:nvCxnSpPr>
        <p:spPr>
          <a:xfrm>
            <a:off x="7534656" y="3310128"/>
            <a:ext cx="78638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ction node SEND_*"/>
          <p:cNvSpPr/>
          <p:nvPr/>
        </p:nvSpPr>
        <p:spPr>
          <a:xfrm>
            <a:off x="9509760" y="2139696"/>
            <a:ext cx="566928" cy="566928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ction result SEND_*"/>
          <p:cNvSpPr/>
          <p:nvPr/>
        </p:nvSpPr>
        <p:spPr>
          <a:xfrm>
            <a:off x="8321040" y="2871216"/>
            <a:ext cx="2907792" cy="85953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ction result text SEND_*"/>
          <p:cNvSpPr txBox="1"/>
          <p:nvPr/>
        </p:nvSpPr>
        <p:spPr>
          <a:xfrm>
            <a:off x="8449056" y="305409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SEND_ONE／SEND_URGENT／FLUSH_BATCH</a:t>
            </a:r>
          </a:p>
        </p:txBody>
      </p:sp>
      <p:sp>
        <p:nvSpPr>
          <p:cNvPr id="16" name="Action WAIT label"/>
          <p:cNvSpPr txBox="1"/>
          <p:nvPr/>
        </p:nvSpPr>
        <p:spPr>
          <a:xfrm>
            <a:off x="841248" y="1993392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7" name="Action SLEEP label"/>
          <p:cNvSpPr txBox="1"/>
          <p:nvPr/>
        </p:nvSpPr>
        <p:spPr>
          <a:xfrm>
            <a:off x="4535424" y="1993392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8" name="Action SEND label"/>
          <p:cNvSpPr txBox="1"/>
          <p:nvPr/>
        </p:nvSpPr>
        <p:spPr>
          <a:xfrm>
            <a:off x="8229600" y="1993392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SEND_*</a:t>
            </a:r>
          </a:p>
        </p:txBody>
      </p:sp>
      <p:sp>
        <p:nvSpPr>
          <p:cNvPr id="19" name="Action safety rule"/>
          <p:cNvSpPr txBox="1"/>
          <p:nvPr/>
        </p:nvSpPr>
        <p:spPr>
          <a:xfrm>
            <a:off x="1170432" y="3822191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contact_open = false → SLEEP；SEND_* 必須被拒絕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P004｜實際流程：安裝→baseline→修改→比較→網站回放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 Python 3.11＋`.venv` → 執行 baseline。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edit `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 → compare state／packet／service／J → website replay。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四個操作階段：edit → run → read → explain</a:t>
            </a:r>
          </a:p>
        </p:txBody>
      </p:sp>
      <p:sp>
        <p:nvSpPr>
          <p:cNvPr id="5" name="Promise node 1"/>
          <p:cNvSpPr/>
          <p:nvPr/>
        </p:nvSpPr>
        <p:spPr>
          <a:xfrm>
            <a:off x="1755648" y="2157984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romise number 1"/>
          <p:cNvSpPr txBox="1"/>
          <p:nvPr/>
        </p:nvSpPr>
        <p:spPr>
          <a:xfrm>
            <a:off x="1755648" y="228600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7" name="Promise step 改"/>
          <p:cNvSpPr/>
          <p:nvPr/>
        </p:nvSpPr>
        <p:spPr>
          <a:xfrm>
            <a:off x="859536" y="2944368"/>
            <a:ext cx="2377440" cy="78638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omise label 改"/>
          <p:cNvSpPr txBox="1"/>
          <p:nvPr/>
        </p:nvSpPr>
        <p:spPr>
          <a:xfrm>
            <a:off x="969264" y="3090672"/>
            <a:ext cx="21579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改｜active marked block</a:t>
            </a:r>
          </a:p>
        </p:txBody>
      </p:sp>
      <p:cxnSp>
        <p:nvCxnSpPr>
          <p:cNvPr id="9" name="Promise arrow"/>
          <p:cNvCxnSpPr/>
          <p:nvPr/>
        </p:nvCxnSpPr>
        <p:spPr>
          <a:xfrm>
            <a:off x="3236976" y="3337560"/>
            <a:ext cx="438911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romise node 2"/>
          <p:cNvSpPr/>
          <p:nvPr/>
        </p:nvSpPr>
        <p:spPr>
          <a:xfrm>
            <a:off x="4572000" y="2157984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romise number 2"/>
          <p:cNvSpPr txBox="1"/>
          <p:nvPr/>
        </p:nvSpPr>
        <p:spPr>
          <a:xfrm>
            <a:off x="4572000" y="228600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2" name="Promise step 跑"/>
          <p:cNvSpPr/>
          <p:nvPr/>
        </p:nvSpPr>
        <p:spPr>
          <a:xfrm>
            <a:off x="3675887" y="2944368"/>
            <a:ext cx="2377440" cy="786384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mise label 跑"/>
          <p:cNvSpPr txBox="1"/>
          <p:nvPr/>
        </p:nvSpPr>
        <p:spPr>
          <a:xfrm>
            <a:off x="3785615" y="3090672"/>
            <a:ext cx="21579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跑｜exact case</a:t>
            </a:r>
          </a:p>
        </p:txBody>
      </p:sp>
      <p:cxnSp>
        <p:nvCxnSpPr>
          <p:cNvPr id="14" name="Promise arrow"/>
          <p:cNvCxnSpPr/>
          <p:nvPr/>
        </p:nvCxnSpPr>
        <p:spPr>
          <a:xfrm>
            <a:off x="6053327" y="3337560"/>
            <a:ext cx="438913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mise node 3"/>
          <p:cNvSpPr/>
          <p:nvPr/>
        </p:nvSpPr>
        <p:spPr>
          <a:xfrm>
            <a:off x="7388352" y="2157984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mise number 3"/>
          <p:cNvSpPr txBox="1"/>
          <p:nvPr/>
        </p:nvSpPr>
        <p:spPr>
          <a:xfrm>
            <a:off x="7388352" y="228600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17" name="Promise step 讀"/>
          <p:cNvSpPr/>
          <p:nvPr/>
        </p:nvSpPr>
        <p:spPr>
          <a:xfrm>
            <a:off x="6492240" y="2944368"/>
            <a:ext cx="2377440" cy="78638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mise label 讀"/>
          <p:cNvSpPr txBox="1"/>
          <p:nvPr/>
        </p:nvSpPr>
        <p:spPr>
          <a:xfrm>
            <a:off x="6601968" y="3090672"/>
            <a:ext cx="21579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讀｜result／replay</a:t>
            </a:r>
          </a:p>
        </p:txBody>
      </p:sp>
      <p:cxnSp>
        <p:nvCxnSpPr>
          <p:cNvPr id="19" name="Promise arrow"/>
          <p:cNvCxnSpPr/>
          <p:nvPr/>
        </p:nvCxnSpPr>
        <p:spPr>
          <a:xfrm>
            <a:off x="8869680" y="3337560"/>
            <a:ext cx="438912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mise node 4"/>
          <p:cNvSpPr/>
          <p:nvPr/>
        </p:nvSpPr>
        <p:spPr>
          <a:xfrm>
            <a:off x="10204704" y="2157984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romise number 4"/>
          <p:cNvSpPr txBox="1"/>
          <p:nvPr/>
        </p:nvSpPr>
        <p:spPr>
          <a:xfrm>
            <a:off x="10204704" y="228600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2" name="Promise step 解釋"/>
          <p:cNvSpPr/>
          <p:nvPr/>
        </p:nvSpPr>
        <p:spPr>
          <a:xfrm>
            <a:off x="9308592" y="2944368"/>
            <a:ext cx="2377440" cy="786384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romise label 解釋"/>
          <p:cNvSpPr txBox="1"/>
          <p:nvPr/>
        </p:nvSpPr>
        <p:spPr>
          <a:xfrm>
            <a:off x="9418319" y="3090672"/>
            <a:ext cx="21579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解釋｜policy → event → 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P005｜因果鏈與 </a:t>
            </a:r>
            <a:r>
              <a:rPr sz="2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energy J（焦耳）由 state time、packet outcome 與 service 累積。中間任何一段沒有差異，最後的變化不歸因給這次修改。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每一段回到 result 或 replay</a:t>
            </a:r>
          </a:p>
        </p:txBody>
      </p:sp>
      <p:sp>
        <p:nvSpPr>
          <p:cNvPr id="5" name="Causal node 1"/>
          <p:cNvSpPr/>
          <p:nvPr/>
        </p:nvSpPr>
        <p:spPr>
          <a:xfrm>
            <a:off x="713232" y="2468880"/>
            <a:ext cx="1700784" cy="78638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usal node label 1"/>
          <p:cNvSpPr txBox="1"/>
          <p:nvPr/>
        </p:nvSpPr>
        <p:spPr>
          <a:xfrm>
            <a:off x="768096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7" name="Causal arrow"/>
          <p:cNvCxnSpPr/>
          <p:nvPr/>
        </p:nvCxnSpPr>
        <p:spPr>
          <a:xfrm>
            <a:off x="2414016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usal node 2"/>
          <p:cNvSpPr/>
          <p:nvPr/>
        </p:nvSpPr>
        <p:spPr>
          <a:xfrm>
            <a:off x="2615184" y="2468880"/>
            <a:ext cx="1700784" cy="78638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usal node label 2"/>
          <p:cNvSpPr txBox="1"/>
          <p:nvPr/>
        </p:nvSpPr>
        <p:spPr>
          <a:xfrm>
            <a:off x="2670048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</a:t>
            </a:r>
          </a:p>
        </p:txBody>
      </p:sp>
      <p:cxnSp>
        <p:nvCxnSpPr>
          <p:cNvPr id="10" name="Causal arrow"/>
          <p:cNvCxnSpPr/>
          <p:nvPr/>
        </p:nvCxnSpPr>
        <p:spPr>
          <a:xfrm>
            <a:off x="4315968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usal node 3"/>
          <p:cNvSpPr/>
          <p:nvPr/>
        </p:nvSpPr>
        <p:spPr>
          <a:xfrm>
            <a:off x="4517136" y="2468880"/>
            <a:ext cx="1700784" cy="78638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usal node label 3"/>
          <p:cNvSpPr txBox="1"/>
          <p:nvPr/>
        </p:nvSpPr>
        <p:spPr>
          <a:xfrm>
            <a:off x="4572000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cxnSp>
        <p:nvCxnSpPr>
          <p:cNvPr id="13" name="Causal arrow"/>
          <p:cNvCxnSpPr/>
          <p:nvPr/>
        </p:nvCxnSpPr>
        <p:spPr>
          <a:xfrm>
            <a:off x="6217920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usal node 4"/>
          <p:cNvSpPr/>
          <p:nvPr/>
        </p:nvSpPr>
        <p:spPr>
          <a:xfrm>
            <a:off x="6419088" y="2468880"/>
            <a:ext cx="1700784" cy="78638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usal node label 4"/>
          <p:cNvSpPr txBox="1"/>
          <p:nvPr/>
        </p:nvSpPr>
        <p:spPr>
          <a:xfrm>
            <a:off x="6473952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 / packet</a:t>
            </a:r>
          </a:p>
        </p:txBody>
      </p:sp>
      <p:cxnSp>
        <p:nvCxnSpPr>
          <p:cNvPr id="16" name="Causal arrow"/>
          <p:cNvCxnSpPr/>
          <p:nvPr/>
        </p:nvCxnSpPr>
        <p:spPr>
          <a:xfrm>
            <a:off x="8119872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usal node 5"/>
          <p:cNvSpPr/>
          <p:nvPr/>
        </p:nvSpPr>
        <p:spPr>
          <a:xfrm>
            <a:off x="8321040" y="2468880"/>
            <a:ext cx="1700784" cy="78638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usal node label 5"/>
          <p:cNvSpPr txBox="1"/>
          <p:nvPr/>
        </p:nvSpPr>
        <p:spPr>
          <a:xfrm>
            <a:off x="8375904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cxnSp>
        <p:nvCxnSpPr>
          <p:cNvPr id="19" name="Causal arrow"/>
          <p:cNvCxnSpPr/>
          <p:nvPr/>
        </p:nvCxnSpPr>
        <p:spPr>
          <a:xfrm>
            <a:off x="10021824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usal node 6"/>
          <p:cNvSpPr/>
          <p:nvPr/>
        </p:nvSpPr>
        <p:spPr>
          <a:xfrm>
            <a:off x="10222992" y="2468880"/>
            <a:ext cx="1700784" cy="78638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usal node label 6"/>
          <p:cNvSpPr txBox="1"/>
          <p:nvPr/>
        </p:nvSpPr>
        <p:spPr>
          <a:xfrm>
            <a:off x="10277856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22" name="Causal rule"/>
          <p:cNvSpPr txBox="1"/>
          <p:nvPr/>
        </p:nvSpPr>
        <p:spPr>
          <a:xfrm>
            <a:off x="1298448" y="3529584"/>
            <a:ext cx="96012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→ J；中間差異支援因果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P006｜LoRaEnergySim endpoint runner 的必要性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LoRaEnergySim runner：固定 scenario／policy／seed，重跑 endpoint case。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state／packet／service／J 形成 evidence；live telemetry 屬於另一類。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runner 的 evidence 範圍</a:t>
            </a:r>
          </a:p>
        </p:txBody>
      </p:sp>
      <p:sp>
        <p:nvSpPr>
          <p:cNvPr id="5" name="Visual panel ENDPOINT EVIDENCE"/>
          <p:cNvSpPr/>
          <p:nvPr/>
        </p:nvSpPr>
        <p:spPr>
          <a:xfrm>
            <a:off x="768096" y="2084831"/>
            <a:ext cx="5157216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ENDPOINT EVIDENCE"/>
          <p:cNvSpPr txBox="1"/>
          <p:nvPr/>
        </p:nvSpPr>
        <p:spPr>
          <a:xfrm>
            <a:off x="896112" y="2231136"/>
            <a:ext cx="4901183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ENDPOINT EVIDENCE</a:t>
            </a:r>
          </a:p>
        </p:txBody>
      </p:sp>
      <p:sp>
        <p:nvSpPr>
          <p:cNvPr id="7" name="Visual body ENDPOINT EVIDENCE"/>
          <p:cNvSpPr txBox="1"/>
          <p:nvPr/>
        </p:nvSpPr>
        <p:spPr>
          <a:xfrm>
            <a:off x="932688" y="2688336"/>
            <a:ext cx="4828031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sleep／awake-idle／TX／RX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attempt／retry／delivery／expiry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與 service 結果</a:t>
            </a:r>
          </a:p>
        </p:txBody>
      </p:sp>
      <p:sp>
        <p:nvSpPr>
          <p:cNvPr id="8" name="Visual panel CLAIM CEILING"/>
          <p:cNvSpPr/>
          <p:nvPr/>
        </p:nvSpPr>
        <p:spPr>
          <a:xfrm>
            <a:off x="6254496" y="2084831"/>
            <a:ext cx="5157216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CLAIM CEILING"/>
          <p:cNvSpPr txBox="1"/>
          <p:nvPr/>
        </p:nvSpPr>
        <p:spPr>
          <a:xfrm>
            <a:off x="6382512" y="2231136"/>
            <a:ext cx="4901183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CLAIM CEILING</a:t>
            </a:r>
          </a:p>
        </p:txBody>
      </p:sp>
      <p:sp>
        <p:nvSpPr>
          <p:cNvPr id="10" name="Visual body CLAIM CEILING"/>
          <p:cNvSpPr txBox="1"/>
          <p:nvPr/>
        </p:nvSpPr>
        <p:spPr>
          <a:xfrm>
            <a:off x="6419088" y="2688336"/>
            <a:ext cx="4828031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live telemetry 與 wall-plug energy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upstream repository execution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whole-system consumed J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P007｜LEO：changing service window 的例子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LEO 範例採用預先定義的 changing-service-window trace，作為 endpoint 傳輸時機的輸入。窗口會開、會關、會變短，品質也可能變動。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= changing service window worked example</a:t>
            </a:r>
          </a:p>
        </p:txBody>
      </p:sp>
      <p:cxnSp>
        <p:nvCxnSpPr>
          <p:cNvPr id="5" name="LEO window axis"/>
          <p:cNvCxnSpPr/>
          <p:nvPr/>
        </p:nvCxnSpPr>
        <p:spPr>
          <a:xfrm>
            <a:off x="1060704" y="2871216"/>
            <a:ext cx="9985248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EO stage 機會出現"/>
          <p:cNvSpPr/>
          <p:nvPr/>
        </p:nvSpPr>
        <p:spPr>
          <a:xfrm>
            <a:off x="1243584" y="2615184"/>
            <a:ext cx="530352" cy="53035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O label 機會出現"/>
          <p:cNvSpPr txBox="1"/>
          <p:nvPr/>
        </p:nvSpPr>
        <p:spPr>
          <a:xfrm>
            <a:off x="804672" y="3246120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機會出現</a:t>
            </a:r>
          </a:p>
        </p:txBody>
      </p:sp>
      <p:sp>
        <p:nvSpPr>
          <p:cNvPr id="8" name="LEO stage policy 選擇"/>
          <p:cNvSpPr/>
          <p:nvPr/>
        </p:nvSpPr>
        <p:spPr>
          <a:xfrm>
            <a:off x="3931920" y="2615184"/>
            <a:ext cx="530352" cy="530352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O label policy 選擇"/>
          <p:cNvSpPr txBox="1"/>
          <p:nvPr/>
        </p:nvSpPr>
        <p:spPr>
          <a:xfrm>
            <a:off x="3493008" y="3246120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選擇</a:t>
            </a:r>
          </a:p>
        </p:txBody>
      </p:sp>
      <p:sp>
        <p:nvSpPr>
          <p:cNvPr id="10" name="LEO stage 送／等"/>
          <p:cNvSpPr/>
          <p:nvPr/>
        </p:nvSpPr>
        <p:spPr>
          <a:xfrm>
            <a:off x="6711696" y="2615184"/>
            <a:ext cx="530352" cy="53035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O label 送／等"/>
          <p:cNvSpPr txBox="1"/>
          <p:nvPr/>
        </p:nvSpPr>
        <p:spPr>
          <a:xfrm>
            <a:off x="6272783" y="3246120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送／等</a:t>
            </a:r>
          </a:p>
        </p:txBody>
      </p:sp>
      <p:sp>
        <p:nvSpPr>
          <p:cNvPr id="12" name="LEO stage service／J"/>
          <p:cNvSpPr/>
          <p:nvPr/>
        </p:nvSpPr>
        <p:spPr>
          <a:xfrm>
            <a:off x="9381744" y="2615184"/>
            <a:ext cx="530352" cy="53035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O label service／J"/>
          <p:cNvSpPr txBox="1"/>
          <p:nvPr/>
        </p:nvSpPr>
        <p:spPr>
          <a:xfrm>
            <a:off x="8942832" y="3246120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service／J</a:t>
            </a:r>
          </a:p>
        </p:txBody>
      </p:sp>
      <p:sp>
        <p:nvSpPr>
          <p:cNvPr id="14" name="LEO transfer band"/>
          <p:cNvSpPr/>
          <p:nvPr/>
        </p:nvSpPr>
        <p:spPr>
          <a:xfrm>
            <a:off x="1097280" y="3657600"/>
            <a:ext cx="10012680" cy="493776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O transfer text"/>
          <p:cNvSpPr txBox="1"/>
          <p:nvPr/>
        </p:nvSpPr>
        <p:spPr>
          <a:xfrm>
            <a:off x="1280160" y="3767328"/>
            <a:ext cx="964692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同一機制可轉到田區上傳、HVAC 低負載、物流或 edge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P008｜從預測到結果：每次修改留下證據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預測 state／packet／service／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，修改 policy 並執行 exact case。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 case 固定 policy，不重新調參。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predict → edit → run → read → withheld</a:t>
            </a:r>
          </a:p>
        </p:txBody>
      </p:sp>
      <p:sp>
        <p:nvSpPr>
          <p:cNvPr id="5" name="Loop node predict"/>
          <p:cNvSpPr/>
          <p:nvPr/>
        </p:nvSpPr>
        <p:spPr>
          <a:xfrm>
            <a:off x="1572768" y="2148840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oop label predict"/>
          <p:cNvSpPr txBox="1"/>
          <p:nvPr/>
        </p:nvSpPr>
        <p:spPr>
          <a:xfrm>
            <a:off x="1225295" y="280720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predict</a:t>
            </a:r>
          </a:p>
        </p:txBody>
      </p:sp>
      <p:cxnSp>
        <p:nvCxnSpPr>
          <p:cNvPr id="7" name="Loop path"/>
          <p:cNvCxnSpPr/>
          <p:nvPr/>
        </p:nvCxnSpPr>
        <p:spPr>
          <a:xfrm flipV="1">
            <a:off x="2139696" y="2139696"/>
            <a:ext cx="1993391" cy="292608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oop node bounded edit"/>
          <p:cNvSpPr/>
          <p:nvPr/>
        </p:nvSpPr>
        <p:spPr>
          <a:xfrm>
            <a:off x="4133087" y="1856231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op label bounded edit"/>
          <p:cNvSpPr txBox="1"/>
          <p:nvPr/>
        </p:nvSpPr>
        <p:spPr>
          <a:xfrm>
            <a:off x="3785615" y="2514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bounded edit</a:t>
            </a:r>
          </a:p>
        </p:txBody>
      </p:sp>
      <p:cxnSp>
        <p:nvCxnSpPr>
          <p:cNvPr id="10" name="Loop path"/>
          <p:cNvCxnSpPr/>
          <p:nvPr/>
        </p:nvCxnSpPr>
        <p:spPr>
          <a:xfrm>
            <a:off x="4700016" y="2139696"/>
            <a:ext cx="2029968" cy="292608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op node exact run"/>
          <p:cNvSpPr/>
          <p:nvPr/>
        </p:nvSpPr>
        <p:spPr>
          <a:xfrm>
            <a:off x="6729984" y="2148840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oop label exact run"/>
          <p:cNvSpPr txBox="1"/>
          <p:nvPr/>
        </p:nvSpPr>
        <p:spPr>
          <a:xfrm>
            <a:off x="6382512" y="280720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exact run</a:t>
            </a:r>
          </a:p>
        </p:txBody>
      </p:sp>
      <p:cxnSp>
        <p:nvCxnSpPr>
          <p:cNvPr id="13" name="Loop path"/>
          <p:cNvCxnSpPr/>
          <p:nvPr/>
        </p:nvCxnSpPr>
        <p:spPr>
          <a:xfrm>
            <a:off x="7296912" y="2432304"/>
            <a:ext cx="1463040" cy="1289303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oop node result／replay"/>
          <p:cNvSpPr/>
          <p:nvPr/>
        </p:nvSpPr>
        <p:spPr>
          <a:xfrm>
            <a:off x="8759952" y="3438144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oop label result／replay"/>
          <p:cNvSpPr txBox="1"/>
          <p:nvPr/>
        </p:nvSpPr>
        <p:spPr>
          <a:xfrm>
            <a:off x="8412480" y="4096511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result／replay</a:t>
            </a:r>
          </a:p>
        </p:txBody>
      </p:sp>
      <p:cxnSp>
        <p:nvCxnSpPr>
          <p:cNvPr id="16" name="Loop path"/>
          <p:cNvCxnSpPr/>
          <p:nvPr/>
        </p:nvCxnSpPr>
        <p:spPr>
          <a:xfrm flipH="1">
            <a:off x="6729984" y="3721607"/>
            <a:ext cx="2596896" cy="402337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op node frozen"/>
          <p:cNvSpPr/>
          <p:nvPr/>
        </p:nvSpPr>
        <p:spPr>
          <a:xfrm>
            <a:off x="6729984" y="3840480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op label frozen"/>
          <p:cNvSpPr txBox="1"/>
          <p:nvPr/>
        </p:nvSpPr>
        <p:spPr>
          <a:xfrm>
            <a:off x="6382512" y="44988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frozen</a:t>
            </a:r>
          </a:p>
        </p:txBody>
      </p:sp>
      <p:cxnSp>
        <p:nvCxnSpPr>
          <p:cNvPr id="19" name="Loop path"/>
          <p:cNvCxnSpPr/>
          <p:nvPr/>
        </p:nvCxnSpPr>
        <p:spPr>
          <a:xfrm flipH="1">
            <a:off x="4133087" y="4123944"/>
            <a:ext cx="3163825" cy="27432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oop node withheld"/>
          <p:cNvSpPr/>
          <p:nvPr/>
        </p:nvSpPr>
        <p:spPr>
          <a:xfrm>
            <a:off x="4133087" y="4114800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oop label withheld"/>
          <p:cNvSpPr txBox="1"/>
          <p:nvPr/>
        </p:nvSpPr>
        <p:spPr>
          <a:xfrm>
            <a:off x="3785615" y="477316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withheld</a:t>
            </a:r>
          </a:p>
        </p:txBody>
      </p:sp>
      <p:sp>
        <p:nvSpPr>
          <p:cNvPr id="22" name="Loop rule"/>
          <p:cNvSpPr txBox="1"/>
          <p:nvPr/>
        </p:nvSpPr>
        <p:spPr>
          <a:xfrm>
            <a:off x="1408176" y="2962656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withheld 固定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不重新調參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P009｜claim 與來源邊界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result／replay = simulated data；READY（環境就緒）= verify gate。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來源鏈決定 claim ceiling；fresh setup／import 待核對。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claim ceiling 跟著來源鏈走</a:t>
            </a:r>
          </a:p>
        </p:txBody>
      </p:sp>
      <p:sp>
        <p:nvSpPr>
          <p:cNvPr id="5" name="Claim layer MODEL"/>
          <p:cNvSpPr/>
          <p:nvPr/>
        </p:nvSpPr>
        <p:spPr>
          <a:xfrm>
            <a:off x="1005840" y="2103120"/>
            <a:ext cx="10204704" cy="54864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aim layer heading MODEL"/>
          <p:cNvSpPr txBox="1"/>
          <p:nvPr/>
        </p:nvSpPr>
        <p:spPr>
          <a:xfrm>
            <a:off x="1097280" y="2221991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sp>
        <p:nvSpPr>
          <p:cNvPr id="7" name="Claim layer body MODEL"/>
          <p:cNvSpPr txBox="1"/>
          <p:nvPr/>
        </p:nvSpPr>
        <p:spPr>
          <a:xfrm>
            <a:off x="2670048" y="2221991"/>
            <a:ext cx="83576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本課模型中的 state／packet／service／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8" name="Claim layer LIVE"/>
          <p:cNvSpPr/>
          <p:nvPr/>
        </p:nvSpPr>
        <p:spPr>
          <a:xfrm>
            <a:off x="1408176" y="2724912"/>
            <a:ext cx="9400032" cy="54864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aim layer heading LIVE"/>
          <p:cNvSpPr txBox="1"/>
          <p:nvPr/>
        </p:nvSpPr>
        <p:spPr>
          <a:xfrm>
            <a:off x="1499616" y="2843784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LIVE</a:t>
            </a:r>
          </a:p>
        </p:txBody>
      </p:sp>
      <p:sp>
        <p:nvSpPr>
          <p:cNvPr id="10" name="Claim layer body LIVE"/>
          <p:cNvSpPr txBox="1"/>
          <p:nvPr/>
        </p:nvSpPr>
        <p:spPr>
          <a:xfrm>
            <a:off x="3072384" y="2843784"/>
            <a:ext cx="75529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telemetry、部署量測、whole-system J</a:t>
            </a:r>
          </a:p>
        </p:txBody>
      </p:sp>
      <p:sp>
        <p:nvSpPr>
          <p:cNvPr id="11" name="Claim layer CURRENT"/>
          <p:cNvSpPr/>
          <p:nvPr/>
        </p:nvSpPr>
        <p:spPr>
          <a:xfrm>
            <a:off x="1810512" y="3346704"/>
            <a:ext cx="8595360" cy="548640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laim layer heading CURRENT"/>
          <p:cNvSpPr txBox="1"/>
          <p:nvPr/>
        </p:nvSpPr>
        <p:spPr>
          <a:xfrm>
            <a:off x="1901952" y="3465576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CURRENT</a:t>
            </a:r>
          </a:p>
        </p:txBody>
      </p:sp>
      <p:sp>
        <p:nvSpPr>
          <p:cNvPr id="13" name="Claim layer body CURRENT"/>
          <p:cNvSpPr txBox="1"/>
          <p:nvPr/>
        </p:nvSpPr>
        <p:spPr>
          <a:xfrm>
            <a:off x="3474720" y="3465576"/>
            <a:ext cx="67482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fresh setup、READY、Leo import、browser replay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P010a｜使用命名 release asset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使用命名 release asset：`lora-energy-lab-v1.zip`。禁止以 branch 或資料夾拼裝 runner。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single release asset → single package root</a:t>
            </a:r>
          </a:p>
        </p:txBody>
      </p:sp>
      <p:sp>
        <p:nvSpPr>
          <p:cNvPr id="5" name="Visual panel RELEASE"/>
          <p:cNvSpPr/>
          <p:nvPr/>
        </p:nvSpPr>
        <p:spPr>
          <a:xfrm>
            <a:off x="841248" y="2084831"/>
            <a:ext cx="4389120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RELEASE"/>
          <p:cNvSpPr txBox="1"/>
          <p:nvPr/>
        </p:nvSpPr>
        <p:spPr>
          <a:xfrm>
            <a:off x="969264" y="2231136"/>
            <a:ext cx="4133087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RELEASE</a:t>
            </a:r>
          </a:p>
        </p:txBody>
      </p:sp>
      <p:sp>
        <p:nvSpPr>
          <p:cNvPr id="7" name="Visual body RELEASE"/>
          <p:cNvSpPr txBox="1"/>
          <p:nvPr/>
        </p:nvSpPr>
        <p:spPr>
          <a:xfrm>
            <a:off x="1005840" y="2688336"/>
            <a:ext cx="4059935" cy="1005839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lora-energy-lab-v1.zip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命名 release asset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ls -l／Get-ChildItem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artifact identity</a:t>
            </a:r>
          </a:p>
        </p:txBody>
      </p:sp>
      <p:cxnSp>
        <p:nvCxnSpPr>
          <p:cNvPr id="8" name="Release to root"/>
          <p:cNvCxnSpPr/>
          <p:nvPr/>
        </p:nvCxnSpPr>
        <p:spPr>
          <a:xfrm>
            <a:off x="5413248" y="2944368"/>
            <a:ext cx="1207008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PACKAGE ROOT"/>
          <p:cNvSpPr/>
          <p:nvPr/>
        </p:nvSpPr>
        <p:spPr>
          <a:xfrm>
            <a:off x="6784848" y="2084831"/>
            <a:ext cx="4370832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PACKAGE ROOT"/>
          <p:cNvSpPr txBox="1"/>
          <p:nvPr/>
        </p:nvSpPr>
        <p:spPr>
          <a:xfrm>
            <a:off x="6912864" y="2231136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 ROOT</a:t>
            </a:r>
          </a:p>
        </p:txBody>
      </p:sp>
      <p:sp>
        <p:nvSpPr>
          <p:cNvPr id="11" name="Visual body PACKAGE ROOT"/>
          <p:cNvSpPr txBox="1"/>
          <p:nvPr/>
        </p:nvSpPr>
        <p:spPr>
          <a:xfrm>
            <a:off x="6949440" y="2688336"/>
            <a:ext cx="4041648" cy="1005839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README + launchers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schemas + fallback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P010b｜解壓後只能有一個 package root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解壓後只應有一個 `lora-energy-lab/` 根目錄。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README、launcher、`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`、schemas、fallback 均位於此 root。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single release asset → single package root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29968"/>
            <a:ext cx="5394960" cy="20482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756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WSL／POSIX｜extracted root inventory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323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find lora-energy-lab -mindepth 1 -maxdepth 1 -printf '%f\n'</a:t>
            </a:r>
          </a:p>
        </p:txBody>
      </p:sp>
      <p:sp>
        <p:nvSpPr>
          <p:cNvPr id="8" name="Command context frame"/>
          <p:cNvSpPr/>
          <p:nvPr/>
        </p:nvSpPr>
        <p:spPr>
          <a:xfrm>
            <a:off x="6172200" y="2029968"/>
            <a:ext cx="5394960" cy="20482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context label"/>
          <p:cNvSpPr txBox="1"/>
          <p:nvPr/>
        </p:nvSpPr>
        <p:spPr>
          <a:xfrm>
            <a:off x="6281928" y="20756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PowerShell｜extracted root inventory</a:t>
            </a:r>
          </a:p>
        </p:txBody>
      </p:sp>
      <p:sp>
        <p:nvSpPr>
          <p:cNvPr id="10" name="Command line 1"/>
          <p:cNvSpPr txBox="1"/>
          <p:nvPr/>
        </p:nvSpPr>
        <p:spPr>
          <a:xfrm>
            <a:off x="6309360" y="24323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Get-ChildItem .\lora-energy-lab</a:t>
            </a:r>
          </a:p>
        </p:txBody>
      </p:sp>
      <p:sp>
        <p:nvSpPr>
          <p:cNvPr id="11" name="Package root rule"/>
          <p:cNvSpPr txBox="1"/>
          <p:nvPr/>
        </p:nvSpPr>
        <p:spPr>
          <a:xfrm>
            <a:off x="877824" y="4370832"/>
            <a:ext cx="10387584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可驗證結果：只有 lora-energy-lab/ root；不使用額外 release directory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P011a｜解壓位置：release asset 所在資料夾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目前 shell 位於 `lora-energy-lab-v1.zip` 所在資料夾；下一頁直接解壓並進入唯一的 `lora-energy-lab` root。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archive parent → extract → package root</a:t>
            </a:r>
          </a:p>
        </p:txBody>
      </p:sp>
      <p:sp>
        <p:nvSpPr>
          <p:cNvPr id="5" name="Visual panel WINDOWS POWERSHELL"/>
          <p:cNvSpPr/>
          <p:nvPr/>
        </p:nvSpPr>
        <p:spPr>
          <a:xfrm>
            <a:off x="841248" y="2057400"/>
            <a:ext cx="466344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WINDOWS POWERSHELL"/>
          <p:cNvSpPr txBox="1"/>
          <p:nvPr/>
        </p:nvSpPr>
        <p:spPr>
          <a:xfrm>
            <a:off x="969264" y="2203704"/>
            <a:ext cx="4407407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</a:t>
            </a:r>
          </a:p>
        </p:txBody>
      </p:sp>
      <p:sp>
        <p:nvSpPr>
          <p:cNvPr id="7" name="Visual body WINDOWS POWERSHELL"/>
          <p:cNvSpPr txBox="1"/>
          <p:nvPr/>
        </p:nvSpPr>
        <p:spPr>
          <a:xfrm>
            <a:off x="1005840" y="2660904"/>
            <a:ext cx="4334255" cy="85953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Get-Location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ZIP 與目前位置相同</a:t>
            </a:r>
          </a:p>
        </p:txBody>
      </p:sp>
      <p:sp>
        <p:nvSpPr>
          <p:cNvPr id="8" name="Visual panel WSL／POSIX"/>
          <p:cNvSpPr/>
          <p:nvPr/>
        </p:nvSpPr>
        <p:spPr>
          <a:xfrm>
            <a:off x="5705856" y="2057400"/>
            <a:ext cx="5468112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WSL／POSIX"/>
          <p:cNvSpPr txBox="1"/>
          <p:nvPr/>
        </p:nvSpPr>
        <p:spPr>
          <a:xfrm>
            <a:off x="5833872" y="2203704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</a:t>
            </a:r>
          </a:p>
        </p:txBody>
      </p:sp>
      <p:sp>
        <p:nvSpPr>
          <p:cNvPr id="10" name="Visual body WSL／POSIX"/>
          <p:cNvSpPr txBox="1"/>
          <p:nvPr/>
        </p:nvSpPr>
        <p:spPr>
          <a:xfrm>
            <a:off x="5870448" y="2660904"/>
            <a:ext cx="5138928" cy="85953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ZIP 與目前位置相同</a:t>
            </a:r>
          </a:p>
        </p:txBody>
      </p:sp>
      <p:sp>
        <p:nvSpPr>
          <p:cNvPr id="11" name="Archive parent route"/>
          <p:cNvSpPr txBox="1"/>
          <p:nvPr/>
        </p:nvSpPr>
        <p:spPr>
          <a:xfrm>
            <a:off x="2103120" y="3749039"/>
            <a:ext cx="806500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目前位置 → 平台對應解壓命令 → lora-energy-lab root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P011b｜解壓並進入唯一的 package root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兩個 shell 從 archive parent 解壓，並進入 `lora-energy-lab` root。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root 內有 launcher、policy、schemas、`fallback_artifacts/`。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PowerShell／WSL-POSIX exact extract → root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29968"/>
            <a:ext cx="539496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756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PowerShell｜archive parent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323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Expand-Archive .\lora-energy-lab-v1.zip -DestinationPath .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9077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Set-Location .\lora-energy-lab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3832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Get-Location</a:t>
            </a:r>
          </a:p>
        </p:txBody>
      </p:sp>
      <p:sp>
        <p:nvSpPr>
          <p:cNvPr id="10" name="Command context frame"/>
          <p:cNvSpPr/>
          <p:nvPr/>
        </p:nvSpPr>
        <p:spPr>
          <a:xfrm>
            <a:off x="6172200" y="2029968"/>
            <a:ext cx="539496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mmand context label"/>
          <p:cNvSpPr txBox="1"/>
          <p:nvPr/>
        </p:nvSpPr>
        <p:spPr>
          <a:xfrm>
            <a:off x="6281928" y="20756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WSL／POSIX｜archive parent</a:t>
            </a:r>
          </a:p>
        </p:txBody>
      </p:sp>
      <p:sp>
        <p:nvSpPr>
          <p:cNvPr id="12" name="Command line 1"/>
          <p:cNvSpPr txBox="1"/>
          <p:nvPr/>
        </p:nvSpPr>
        <p:spPr>
          <a:xfrm>
            <a:off x="6309360" y="24323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unzip lora-energy-lab-v1.zip</a:t>
            </a:r>
          </a:p>
        </p:txBody>
      </p:sp>
      <p:sp>
        <p:nvSpPr>
          <p:cNvPr id="13" name="Command line 2"/>
          <p:cNvSpPr txBox="1"/>
          <p:nvPr/>
        </p:nvSpPr>
        <p:spPr>
          <a:xfrm>
            <a:off x="6309360" y="29077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lora-energy-lab</a:t>
            </a:r>
          </a:p>
        </p:txBody>
      </p:sp>
      <p:sp>
        <p:nvSpPr>
          <p:cNvPr id="14" name="Command line 3"/>
          <p:cNvSpPr txBox="1"/>
          <p:nvPr/>
        </p:nvSpPr>
        <p:spPr>
          <a:xfrm>
            <a:off x="6309360" y="33832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</p:txBody>
      </p:sp>
      <p:sp>
        <p:nvSpPr>
          <p:cNvPr id="15" name="Extract rule"/>
          <p:cNvSpPr txBox="1"/>
          <p:nvPr/>
        </p:nvSpPr>
        <p:spPr>
          <a:xfrm>
            <a:off x="877824" y="4535424"/>
            <a:ext cx="10387584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兩個 shell 都以 lora-energy-lab 為 cwd；Windows 不執行 .sh，WSL/POSIX 不執行 .cmd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P012｜Windows shell 與 Python 3.11 identity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CMD、PowerShell、WSL 使用不同 shell／path。`py --list` 必須含 3.11；Windows native 使用 `setup.cmd`／`course.cmd`。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prompt → launcher → Python 3.11.x</a:t>
            </a:r>
          </a:p>
        </p:txBody>
      </p:sp>
      <p:sp>
        <p:nvSpPr>
          <p:cNvPr id="5" name="Visual panel CMD"/>
          <p:cNvSpPr/>
          <p:nvPr/>
        </p:nvSpPr>
        <p:spPr>
          <a:xfrm>
            <a:off x="804672" y="2084831"/>
            <a:ext cx="5138928" cy="17007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CMD"/>
          <p:cNvSpPr txBox="1"/>
          <p:nvPr/>
        </p:nvSpPr>
        <p:spPr>
          <a:xfrm>
            <a:off x="932688" y="2231136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CMD</a:t>
            </a:r>
          </a:p>
        </p:txBody>
      </p:sp>
      <p:sp>
        <p:nvSpPr>
          <p:cNvPr id="7" name="Visual body CMD"/>
          <p:cNvSpPr txBox="1"/>
          <p:nvPr/>
        </p:nvSpPr>
        <p:spPr>
          <a:xfrm>
            <a:off x="969264" y="2688336"/>
            <a:ext cx="4809744" cy="98755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CMD&gt; 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CMD&gt; py -3.11 --version</a:t>
            </a:r>
          </a:p>
        </p:txBody>
      </p:sp>
      <p:sp>
        <p:nvSpPr>
          <p:cNvPr id="8" name="Visual panel POWERSHELL"/>
          <p:cNvSpPr/>
          <p:nvPr/>
        </p:nvSpPr>
        <p:spPr>
          <a:xfrm>
            <a:off x="6236208" y="2084831"/>
            <a:ext cx="5138928" cy="17007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POWERSHELL"/>
          <p:cNvSpPr txBox="1"/>
          <p:nvPr/>
        </p:nvSpPr>
        <p:spPr>
          <a:xfrm>
            <a:off x="6364224" y="2231136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</a:t>
            </a:r>
          </a:p>
        </p:txBody>
      </p:sp>
      <p:sp>
        <p:nvSpPr>
          <p:cNvPr id="10" name="Visual body POWERSHELL"/>
          <p:cNvSpPr txBox="1"/>
          <p:nvPr/>
        </p:nvSpPr>
        <p:spPr>
          <a:xfrm>
            <a:off x="6400800" y="2688336"/>
            <a:ext cx="4809744" cy="98755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PS&gt; 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PS&gt; py -3.11 --version</a:t>
            </a:r>
          </a:p>
        </p:txBody>
      </p:sp>
      <p:sp>
        <p:nvSpPr>
          <p:cNvPr id="11" name="Windows launcher boundary"/>
          <p:cNvSpPr txBox="1"/>
          <p:nvPr/>
        </p:nvSpPr>
        <p:spPr>
          <a:xfrm>
            <a:off x="950976" y="4005072"/>
            <a:ext cx="1027785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native：setup.cmd／course.cmd｜POSIX／WSL：bash setup.sh／bash course.sh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P013｜Windows 缺少 Python 3.11：補正確 interpreter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`py --list` 缺少 3.11：安裝 Python 3.11.x 64-bit，保留 Python Launcher；PATH 可不勾選。重開 PowerShell，重新執行兩個版本命令。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缺少 3.11 時的官方 recovery route</a:t>
            </a:r>
          </a:p>
        </p:txBody>
      </p:sp>
      <p:sp>
        <p:nvSpPr>
          <p:cNvPr id="5" name="Visual panel 1｜官方下載"/>
          <p:cNvSpPr/>
          <p:nvPr/>
        </p:nvSpPr>
        <p:spPr>
          <a:xfrm>
            <a:off x="768096" y="2029968"/>
            <a:ext cx="5285232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1｜官方下載"/>
          <p:cNvSpPr txBox="1"/>
          <p:nvPr/>
        </p:nvSpPr>
        <p:spPr>
          <a:xfrm>
            <a:off x="896112" y="2176272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1｜官方下載</a:t>
            </a:r>
          </a:p>
        </p:txBody>
      </p:sp>
      <p:sp>
        <p:nvSpPr>
          <p:cNvPr id="7" name="Visual body 1｜官方下載"/>
          <p:cNvSpPr txBox="1"/>
          <p:nvPr/>
        </p:nvSpPr>
        <p:spPr>
          <a:xfrm>
            <a:off x="932688" y="2633472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https://www.python.org/downloads/windows/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3.11.x Windows installer (64-bit)</a:t>
            </a:r>
          </a:p>
        </p:txBody>
      </p:sp>
      <p:sp>
        <p:nvSpPr>
          <p:cNvPr id="8" name="Visual panel 2｜安裝選項"/>
          <p:cNvSpPr/>
          <p:nvPr/>
        </p:nvSpPr>
        <p:spPr>
          <a:xfrm>
            <a:off x="6144768" y="2029968"/>
            <a:ext cx="5285232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2｜安裝選項"/>
          <p:cNvSpPr txBox="1"/>
          <p:nvPr/>
        </p:nvSpPr>
        <p:spPr>
          <a:xfrm>
            <a:off x="6272783" y="2176272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2｜安裝選項</a:t>
            </a:r>
          </a:p>
        </p:txBody>
      </p:sp>
      <p:sp>
        <p:nvSpPr>
          <p:cNvPr id="10" name="Visual body 2｜安裝選項"/>
          <p:cNvSpPr txBox="1"/>
          <p:nvPr/>
        </p:nvSpPr>
        <p:spPr>
          <a:xfrm>
            <a:off x="6309359" y="2633472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Install Python Launcher for all users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PATH 可不勾選；使用 py -3.11</a:t>
            </a:r>
          </a:p>
        </p:txBody>
      </p:sp>
      <p:sp>
        <p:nvSpPr>
          <p:cNvPr id="11" name="Visual panel 3｜完成並重開 shell"/>
          <p:cNvSpPr/>
          <p:nvPr/>
        </p:nvSpPr>
        <p:spPr>
          <a:xfrm>
            <a:off x="768096" y="3822191"/>
            <a:ext cx="5285232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sual heading 3｜完成並重開 shell"/>
          <p:cNvSpPr txBox="1"/>
          <p:nvPr/>
        </p:nvSpPr>
        <p:spPr>
          <a:xfrm>
            <a:off x="896112" y="3968496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3｜完成並重開 shell</a:t>
            </a:r>
          </a:p>
        </p:txBody>
      </p:sp>
      <p:sp>
        <p:nvSpPr>
          <p:cNvPr id="13" name="Visual body 3｜完成並重開 shell"/>
          <p:cNvSpPr txBox="1"/>
          <p:nvPr/>
        </p:nvSpPr>
        <p:spPr>
          <a:xfrm>
            <a:off x="932688" y="4425696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完成安裝後重開 PowerShell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不要混用其他 minor</a:t>
            </a:r>
          </a:p>
        </p:txBody>
      </p:sp>
      <p:sp>
        <p:nvSpPr>
          <p:cNvPr id="14" name="Visual panel 4｜版本 gate"/>
          <p:cNvSpPr/>
          <p:nvPr/>
        </p:nvSpPr>
        <p:spPr>
          <a:xfrm>
            <a:off x="6144768" y="3822191"/>
            <a:ext cx="5285232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isual heading 4｜版本 gate"/>
          <p:cNvSpPr txBox="1"/>
          <p:nvPr/>
        </p:nvSpPr>
        <p:spPr>
          <a:xfrm>
            <a:off x="6272783" y="3968496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4｜版本 gate</a:t>
            </a:r>
          </a:p>
        </p:txBody>
      </p:sp>
      <p:sp>
        <p:nvSpPr>
          <p:cNvPr id="16" name="Visual body 4｜版本 gate"/>
          <p:cNvSpPr txBox="1"/>
          <p:nvPr/>
        </p:nvSpPr>
        <p:spPr>
          <a:xfrm>
            <a:off x="6309359" y="4425696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P014｜uv 取得與定位 Python 3.11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負責取得並定位 Python 3.11；`READY`、`result.json` 與 replay 由 package setup／run 產生。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uv 找 interpreter；package setup 才產生 receipt</a:t>
            </a:r>
          </a:p>
        </p:txBody>
      </p:sp>
      <p:sp>
        <p:nvSpPr>
          <p:cNvPr id="5" name="Visual panel WINDOWS POWERSHELL"/>
          <p:cNvSpPr/>
          <p:nvPr/>
        </p:nvSpPr>
        <p:spPr>
          <a:xfrm>
            <a:off x="804672" y="2048256"/>
            <a:ext cx="5212080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WINDOWS POWERSHELL"/>
          <p:cNvSpPr txBox="1"/>
          <p:nvPr/>
        </p:nvSpPr>
        <p:spPr>
          <a:xfrm>
            <a:off x="932688" y="2194560"/>
            <a:ext cx="49560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</a:t>
            </a:r>
          </a:p>
        </p:txBody>
      </p:sp>
      <p:sp>
        <p:nvSpPr>
          <p:cNvPr id="7" name="Visual body WINDOWS POWERSHELL"/>
          <p:cNvSpPr txBox="1"/>
          <p:nvPr/>
        </p:nvSpPr>
        <p:spPr>
          <a:xfrm>
            <a:off x="969264" y="2651760"/>
            <a:ext cx="4882896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find 3.11</a:t>
            </a:r>
          </a:p>
        </p:txBody>
      </p:sp>
      <p:sp>
        <p:nvSpPr>
          <p:cNvPr id="8" name="Visual panel POSIX／WSL"/>
          <p:cNvSpPr/>
          <p:nvPr/>
        </p:nvSpPr>
        <p:spPr>
          <a:xfrm>
            <a:off x="6199632" y="2048256"/>
            <a:ext cx="5212080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POSIX／WSL"/>
          <p:cNvSpPr txBox="1"/>
          <p:nvPr/>
        </p:nvSpPr>
        <p:spPr>
          <a:xfrm>
            <a:off x="6327648" y="2194560"/>
            <a:ext cx="49560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POSIX／WSL</a:t>
            </a:r>
          </a:p>
        </p:txBody>
      </p:sp>
      <p:sp>
        <p:nvSpPr>
          <p:cNvPr id="10" name="Visual body POSIX／WSL"/>
          <p:cNvSpPr txBox="1"/>
          <p:nvPr/>
        </p:nvSpPr>
        <p:spPr>
          <a:xfrm>
            <a:off x="6364224" y="2651760"/>
            <a:ext cx="4882896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find 3.11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exact interpreter path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P015｜每個 package 使用自己的 `.venv`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`.venv` 建立於 `lora-energy-lab/` root。Windows 與 WSL／Linux／macOS 使用不同 path，兩者不能互換；Windows 與 WSL 各自建立 venv。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system Python ≠ package-local `.venv`</a:t>
            </a:r>
          </a:p>
        </p:txBody>
      </p:sp>
      <p:sp>
        <p:nvSpPr>
          <p:cNvPr id="5" name="Visual panel SYSTEM PYTHON"/>
          <p:cNvSpPr/>
          <p:nvPr/>
        </p:nvSpPr>
        <p:spPr>
          <a:xfrm>
            <a:off x="859536" y="2084831"/>
            <a:ext cx="5065776" cy="1664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SYSTEM PYTHON"/>
          <p:cNvSpPr txBox="1"/>
          <p:nvPr/>
        </p:nvSpPr>
        <p:spPr>
          <a:xfrm>
            <a:off x="987552" y="2231136"/>
            <a:ext cx="4809744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96969"/>
                </a:solidFill>
                <a:latin typeface="Times New Roman"/>
                <a:ea typeface="標楷體"/>
                <a:cs typeface="Times New Roman"/>
              </a:rPr>
              <a:t>SYSTEM PYTHON</a:t>
            </a:r>
          </a:p>
        </p:txBody>
      </p:sp>
      <p:sp>
        <p:nvSpPr>
          <p:cNvPr id="7" name="Visual body SYSTEM PYTHON"/>
          <p:cNvSpPr txBox="1"/>
          <p:nvPr/>
        </p:nvSpPr>
        <p:spPr>
          <a:xfrm>
            <a:off x="1024127" y="2688336"/>
            <a:ext cx="4736592" cy="95097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其他專案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shared packages</a:t>
            </a:r>
          </a:p>
        </p:txBody>
      </p:sp>
      <p:cxnSp>
        <p:nvCxnSpPr>
          <p:cNvPr id="8" name="Venv boundary"/>
          <p:cNvCxnSpPr/>
          <p:nvPr/>
        </p:nvCxnSpPr>
        <p:spPr>
          <a:xfrm>
            <a:off x="5998464" y="2907792"/>
            <a:ext cx="512064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PACKAGE .VENV"/>
          <p:cNvSpPr/>
          <p:nvPr/>
        </p:nvSpPr>
        <p:spPr>
          <a:xfrm>
            <a:off x="6729984" y="2084831"/>
            <a:ext cx="4572000" cy="1664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PACKAGE .VENV"/>
          <p:cNvSpPr txBox="1"/>
          <p:nvPr/>
        </p:nvSpPr>
        <p:spPr>
          <a:xfrm>
            <a:off x="6858000" y="2231136"/>
            <a:ext cx="431596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PACKAGE .VENV</a:t>
            </a:r>
          </a:p>
        </p:txBody>
      </p:sp>
      <p:sp>
        <p:nvSpPr>
          <p:cNvPr id="11" name="Visual body PACKAGE .VENV"/>
          <p:cNvSpPr txBox="1"/>
          <p:nvPr/>
        </p:nvSpPr>
        <p:spPr>
          <a:xfrm>
            <a:off x="6894576" y="2688336"/>
            <a:ext cx="4242816" cy="95097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.venv\Scripts\python.exe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或 .venv/bin/python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3.11.x</a:t>
            </a:r>
          </a:p>
        </p:txBody>
      </p:sp>
      <p:sp>
        <p:nvSpPr>
          <p:cNvPr id="12" name="Venv platform boundary"/>
          <p:cNvSpPr txBox="1"/>
          <p:nvPr/>
        </p:nvSpPr>
        <p:spPr>
          <a:xfrm>
            <a:off x="1024128" y="3968496"/>
            <a:ext cx="1009497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venv 與 WSL／Linux venv 各自建立；path 不互換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P016a｜Windows setup：建立可重現 runtime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 建立隔離的 Python 3.11／`.venv`／lock runtime。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所有命令在 Windows 的 `lora-energy-lab` root；CMD 與 PowerShell 不混用。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package root｜setup → isolated runtime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11680"/>
            <a:ext cx="5394960" cy="2999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CMD｜lora-energy-lab root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setup.cmd</a:t>
            </a:r>
          </a:p>
        </p:txBody>
      </p:sp>
      <p:sp>
        <p:nvSpPr>
          <p:cNvPr id="8" name="Command context frame"/>
          <p:cNvSpPr/>
          <p:nvPr/>
        </p:nvSpPr>
        <p:spPr>
          <a:xfrm>
            <a:off x="6172200" y="2011680"/>
            <a:ext cx="5394960" cy="11521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context label"/>
          <p:cNvSpPr txBox="1"/>
          <p:nvPr/>
        </p:nvSpPr>
        <p:spPr>
          <a:xfrm>
            <a:off x="628192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PowerShell｜py launcher shortcut</a:t>
            </a:r>
          </a:p>
        </p:txBody>
      </p:sp>
      <p:sp>
        <p:nvSpPr>
          <p:cNvPr id="10" name="Command line 1"/>
          <p:cNvSpPr txBox="1"/>
          <p:nvPr/>
        </p:nvSpPr>
        <p:spPr>
          <a:xfrm>
            <a:off x="630936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11" name="Command context frame"/>
          <p:cNvSpPr/>
          <p:nvPr/>
        </p:nvSpPr>
        <p:spPr>
          <a:xfrm>
            <a:off x="6172200" y="3346704"/>
            <a:ext cx="5394960" cy="1664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mmand context label"/>
          <p:cNvSpPr txBox="1"/>
          <p:nvPr/>
        </p:nvSpPr>
        <p:spPr>
          <a:xfrm>
            <a:off x="6281928" y="3392424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PowerShell｜uv 3.11 fallback</a:t>
            </a:r>
          </a:p>
        </p:txBody>
      </p:sp>
      <p:sp>
        <p:nvSpPr>
          <p:cNvPr id="13" name="Command line 1"/>
          <p:cNvSpPr txBox="1"/>
          <p:nvPr/>
        </p:nvSpPr>
        <p:spPr>
          <a:xfrm>
            <a:off x="6309360" y="3749040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14" name="Command line 2"/>
          <p:cNvSpPr txBox="1"/>
          <p:nvPr/>
        </p:nvSpPr>
        <p:spPr>
          <a:xfrm>
            <a:off x="6309360" y="3990441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$python311 = (uv python find 3.11).Trim()</a:t>
            </a:r>
          </a:p>
        </p:txBody>
      </p:sp>
      <p:sp>
        <p:nvSpPr>
          <p:cNvPr id="15" name="Command line 3"/>
          <p:cNvSpPr txBox="1"/>
          <p:nvPr/>
        </p:nvSpPr>
        <p:spPr>
          <a:xfrm>
            <a:off x="6309360" y="4231843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$env:PYTHON_BIN = ('"{0}"' -f $python311)</a:t>
            </a:r>
          </a:p>
        </p:txBody>
      </p:sp>
      <p:sp>
        <p:nvSpPr>
          <p:cNvPr id="16" name="Command line 4"/>
          <p:cNvSpPr txBox="1"/>
          <p:nvPr/>
        </p:nvSpPr>
        <p:spPr>
          <a:xfrm>
            <a:off x="6309360" y="4473244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17" name="Command line 5"/>
          <p:cNvSpPr txBox="1"/>
          <p:nvPr/>
        </p:nvSpPr>
        <p:spPr>
          <a:xfrm>
            <a:off x="6309360" y="4714646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Remove-Item Env:PYTHON_BIN</a:t>
            </a:r>
          </a:p>
        </p:txBody>
      </p:sp>
      <p:sp>
        <p:nvSpPr>
          <p:cNvPr id="18" name="Setup result boundary"/>
          <p:cNvSpPr txBox="1"/>
          <p:nvPr/>
        </p:nvSpPr>
        <p:spPr>
          <a:xfrm>
            <a:off x="877824" y="5138928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CMD 與 PowerShell 各自完成 setup；result.json 尚未產生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P016b｜Windows verify：前置條件通過才允許 RUN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verify 檢查 Python、lock、scenario、policy API、schema。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 `lora-energy-lab` root 的 READY 才允許 RUN。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package root｜verify prerequisites → READY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48256"/>
            <a:ext cx="5394960" cy="18653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93976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CMD｜lora-energy-lab root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505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course.cmd verify</a:t>
            </a:r>
          </a:p>
        </p:txBody>
      </p:sp>
      <p:sp>
        <p:nvSpPr>
          <p:cNvPr id="8" name="Command context frame"/>
          <p:cNvSpPr/>
          <p:nvPr/>
        </p:nvSpPr>
        <p:spPr>
          <a:xfrm>
            <a:off x="6172200" y="2048256"/>
            <a:ext cx="5394960" cy="18653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context label"/>
          <p:cNvSpPr txBox="1"/>
          <p:nvPr/>
        </p:nvSpPr>
        <p:spPr>
          <a:xfrm>
            <a:off x="6281928" y="2093976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PowerShell｜lora-energy-lab root</a:t>
            </a:r>
          </a:p>
        </p:txBody>
      </p:sp>
      <p:sp>
        <p:nvSpPr>
          <p:cNvPr id="10" name="Command line 1"/>
          <p:cNvSpPr txBox="1"/>
          <p:nvPr/>
        </p:nvSpPr>
        <p:spPr>
          <a:xfrm>
            <a:off x="6309360" y="24505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11" name="Verify result boundary"/>
          <p:cNvSpPr txBox="1"/>
          <p:nvPr/>
        </p:nvSpPr>
        <p:spPr>
          <a:xfrm>
            <a:off x="877824" y="4224528"/>
            <a:ext cx="10387584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兩欄都產生 artifacts\verify-receipt.json：status READY；result.json 尚未產生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P017｜WSL：Ubuntu shell 與 Linux home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Ubuntu 使用 Linux home 與 bash `.sh`；Windows native 使用 `.cmd`，兩者的 venv path 不互換。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host → Ubuntu guest → Linux home</a:t>
            </a:r>
          </a:p>
        </p:txBody>
      </p:sp>
      <p:sp>
        <p:nvSpPr>
          <p:cNvPr id="5" name="Visual panel WINDOWS"/>
          <p:cNvSpPr/>
          <p:nvPr/>
        </p:nvSpPr>
        <p:spPr>
          <a:xfrm>
            <a:off x="786384" y="2048256"/>
            <a:ext cx="3200400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WINDOWS"/>
          <p:cNvSpPr txBox="1"/>
          <p:nvPr/>
        </p:nvSpPr>
        <p:spPr>
          <a:xfrm>
            <a:off x="914400" y="2194560"/>
            <a:ext cx="294436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</a:t>
            </a:r>
          </a:p>
        </p:txBody>
      </p:sp>
      <p:sp>
        <p:nvSpPr>
          <p:cNvPr id="7" name="Visual body WINDOWS"/>
          <p:cNvSpPr txBox="1"/>
          <p:nvPr/>
        </p:nvSpPr>
        <p:spPr>
          <a:xfrm>
            <a:off x="950976" y="2651760"/>
            <a:ext cx="2871216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-l -v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-d Ubuntu</a:t>
            </a:r>
          </a:p>
        </p:txBody>
      </p:sp>
      <p:cxnSp>
        <p:nvCxnSpPr>
          <p:cNvPr id="8" name="WSL entry arrow"/>
          <p:cNvCxnSpPr/>
          <p:nvPr/>
        </p:nvCxnSpPr>
        <p:spPr>
          <a:xfrm>
            <a:off x="4096512" y="2926080"/>
            <a:ext cx="841248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UBUNTU"/>
          <p:cNvSpPr/>
          <p:nvPr/>
        </p:nvSpPr>
        <p:spPr>
          <a:xfrm>
            <a:off x="5065776" y="2048256"/>
            <a:ext cx="2944368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UBUNTU"/>
          <p:cNvSpPr txBox="1"/>
          <p:nvPr/>
        </p:nvSpPr>
        <p:spPr>
          <a:xfrm>
            <a:off x="5193792" y="2194560"/>
            <a:ext cx="26883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UBUNTU</a:t>
            </a:r>
          </a:p>
        </p:txBody>
      </p:sp>
      <p:sp>
        <p:nvSpPr>
          <p:cNvPr id="11" name="Visual body UBUNTU"/>
          <p:cNvSpPr txBox="1"/>
          <p:nvPr/>
        </p:nvSpPr>
        <p:spPr>
          <a:xfrm>
            <a:off x="5230368" y="2651760"/>
            <a:ext cx="2615184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uname -a</a:t>
            </a:r>
          </a:p>
        </p:txBody>
      </p:sp>
      <p:cxnSp>
        <p:nvCxnSpPr>
          <p:cNvPr id="12" name="WSL path arrow"/>
          <p:cNvCxnSpPr/>
          <p:nvPr/>
        </p:nvCxnSpPr>
        <p:spPr>
          <a:xfrm>
            <a:off x="8138160" y="2926080"/>
            <a:ext cx="841248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Visual panel NEXT"/>
          <p:cNvSpPr/>
          <p:nvPr/>
        </p:nvSpPr>
        <p:spPr>
          <a:xfrm>
            <a:off x="9107424" y="2048256"/>
            <a:ext cx="2267712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sual heading NEXT"/>
          <p:cNvSpPr txBox="1"/>
          <p:nvPr/>
        </p:nvSpPr>
        <p:spPr>
          <a:xfrm>
            <a:off x="9235440" y="2194560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NEXT</a:t>
            </a:r>
          </a:p>
        </p:txBody>
      </p:sp>
      <p:sp>
        <p:nvSpPr>
          <p:cNvPr id="15" name="Visual body NEXT"/>
          <p:cNvSpPr txBox="1"/>
          <p:nvPr/>
        </p:nvSpPr>
        <p:spPr>
          <a:xfrm>
            <a:off x="9272016" y="2651760"/>
            <a:ext cx="1938528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setup.sh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course.sh</a:t>
            </a:r>
          </a:p>
        </p:txBody>
      </p:sp>
      <p:sp>
        <p:nvSpPr>
          <p:cNvPr id="16" name="WSL launcher boundary"/>
          <p:cNvSpPr txBox="1"/>
          <p:nvPr/>
        </p:nvSpPr>
        <p:spPr>
          <a:xfrm>
            <a:off x="914400" y="4023360"/>
            <a:ext cx="103327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native：.cmd｜Ubuntu／WSL：bash .sh｜Git Bash 非主要路徑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P018｜WSL 工具與 uv 的安裝順序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已確認的 Ubuntu shell 執行 `curl`、`unzip`、uv 與 Python 3.11 安裝命令。此 stage 只準備環境；`result.json` 由 runner stage 產生。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Ubuntu toolchain ladder</a:t>
            </a:r>
          </a:p>
        </p:txBody>
      </p:sp>
      <p:sp>
        <p:nvSpPr>
          <p:cNvPr id="5" name="Visual panel APT"/>
          <p:cNvSpPr/>
          <p:nvPr/>
        </p:nvSpPr>
        <p:spPr>
          <a:xfrm>
            <a:off x="896112" y="2103120"/>
            <a:ext cx="3273552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APT"/>
          <p:cNvSpPr txBox="1"/>
          <p:nvPr/>
        </p:nvSpPr>
        <p:spPr>
          <a:xfrm>
            <a:off x="1024128" y="2249424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APT</a:t>
            </a:r>
          </a:p>
        </p:txBody>
      </p:sp>
      <p:sp>
        <p:nvSpPr>
          <p:cNvPr id="7" name="Visual body APT"/>
          <p:cNvSpPr txBox="1"/>
          <p:nvPr/>
        </p:nvSpPr>
        <p:spPr>
          <a:xfrm>
            <a:off x="1060704" y="2706624"/>
            <a:ext cx="2944368" cy="84124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curl／unzip</a:t>
            </a:r>
          </a:p>
        </p:txBody>
      </p:sp>
      <p:cxnSp>
        <p:nvCxnSpPr>
          <p:cNvPr id="8" name="Toolchain arrow"/>
          <p:cNvCxnSpPr/>
          <p:nvPr/>
        </p:nvCxnSpPr>
        <p:spPr>
          <a:xfrm>
            <a:off x="4169664" y="2871216"/>
            <a:ext cx="475488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UV"/>
          <p:cNvSpPr/>
          <p:nvPr/>
        </p:nvSpPr>
        <p:spPr>
          <a:xfrm>
            <a:off x="4645152" y="2103120"/>
            <a:ext cx="3273552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UV"/>
          <p:cNvSpPr txBox="1"/>
          <p:nvPr/>
        </p:nvSpPr>
        <p:spPr>
          <a:xfrm>
            <a:off x="4773168" y="2249424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UV</a:t>
            </a:r>
          </a:p>
        </p:txBody>
      </p:sp>
      <p:sp>
        <p:nvSpPr>
          <p:cNvPr id="11" name="Visual body UV"/>
          <p:cNvSpPr txBox="1"/>
          <p:nvPr/>
        </p:nvSpPr>
        <p:spPr>
          <a:xfrm>
            <a:off x="4809744" y="2706624"/>
            <a:ext cx="2944368" cy="84124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installer + version</a:t>
            </a:r>
          </a:p>
        </p:txBody>
      </p:sp>
      <p:cxnSp>
        <p:nvCxnSpPr>
          <p:cNvPr id="12" name="Toolchain arrow"/>
          <p:cNvCxnSpPr/>
          <p:nvPr/>
        </p:nvCxnSpPr>
        <p:spPr>
          <a:xfrm>
            <a:off x="7918704" y="2871216"/>
            <a:ext cx="475488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Visual panel PYTHON"/>
          <p:cNvSpPr/>
          <p:nvPr/>
        </p:nvSpPr>
        <p:spPr>
          <a:xfrm>
            <a:off x="8394192" y="2103120"/>
            <a:ext cx="3273552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sual heading PYTHON"/>
          <p:cNvSpPr txBox="1"/>
          <p:nvPr/>
        </p:nvSpPr>
        <p:spPr>
          <a:xfrm>
            <a:off x="8522208" y="2249424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</a:t>
            </a:r>
          </a:p>
        </p:txBody>
      </p:sp>
      <p:sp>
        <p:nvSpPr>
          <p:cNvPr id="15" name="Visual body PYTHON"/>
          <p:cNvSpPr txBox="1"/>
          <p:nvPr/>
        </p:nvSpPr>
        <p:spPr>
          <a:xfrm>
            <a:off x="8558784" y="2706624"/>
            <a:ext cx="2944368" cy="84124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3.11 interpreter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P019a｜將 release asset 複製到 Linux home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WSL：ZIP 先放 `$HOME`；下一頁只形成一層 `lora-energy-lab`。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Downloads → WSL Linux home → package root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11680"/>
            <a:ext cx="5394960" cy="12070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PowerShell｜Downloads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14016"/>
            <a:ext cx="5120640" cy="35661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Set-Location "$HOME\Downloads"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788920"/>
            <a:ext cx="5120640" cy="35661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Get-ChildItem .\lora-energy-lab-v1.zip</a:t>
            </a:r>
          </a:p>
        </p:txBody>
      </p:sp>
      <p:sp>
        <p:nvSpPr>
          <p:cNvPr id="9" name="Command context frame"/>
          <p:cNvSpPr/>
          <p:nvPr/>
        </p:nvSpPr>
        <p:spPr>
          <a:xfrm>
            <a:off x="6172200" y="2011680"/>
            <a:ext cx="5394960" cy="2852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mand context label"/>
          <p:cNvSpPr txBox="1"/>
          <p:nvPr/>
        </p:nvSpPr>
        <p:spPr>
          <a:xfrm>
            <a:off x="628192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 bash｜copy into Linux home</a:t>
            </a:r>
          </a:p>
        </p:txBody>
      </p:sp>
      <p:sp>
        <p:nvSpPr>
          <p:cNvPr id="11" name="Command line 1"/>
          <p:cNvSpPr txBox="1"/>
          <p:nvPr/>
        </p:nvSpPr>
        <p:spPr>
          <a:xfrm>
            <a:off x="630936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WIN_USER="&lt;Windows帳號&gt;"</a:t>
            </a:r>
          </a:p>
        </p:txBody>
      </p:sp>
      <p:sp>
        <p:nvSpPr>
          <p:cNvPr id="12" name="Command line 2"/>
          <p:cNvSpPr txBox="1"/>
          <p:nvPr/>
        </p:nvSpPr>
        <p:spPr>
          <a:xfrm>
            <a:off x="630936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"/mnt/c/Users/$WIN_USER/Downloads"</a:t>
            </a:r>
          </a:p>
        </p:txBody>
      </p:sp>
      <p:sp>
        <p:nvSpPr>
          <p:cNvPr id="13" name="Command line 3"/>
          <p:cNvSpPr txBox="1"/>
          <p:nvPr/>
        </p:nvSpPr>
        <p:spPr>
          <a:xfrm>
            <a:off x="6309360" y="33649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cp lora-energy-lab-v1.zip "$HOME/"</a:t>
            </a:r>
          </a:p>
        </p:txBody>
      </p:sp>
      <p:sp>
        <p:nvSpPr>
          <p:cNvPr id="14" name="Command line 4"/>
          <p:cNvSpPr txBox="1"/>
          <p:nvPr/>
        </p:nvSpPr>
        <p:spPr>
          <a:xfrm>
            <a:off x="6309360" y="38404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"$HOME"</a:t>
            </a:r>
          </a:p>
        </p:txBody>
      </p:sp>
      <p:sp>
        <p:nvSpPr>
          <p:cNvPr id="15" name="Copy path rule"/>
          <p:cNvSpPr txBox="1"/>
          <p:nvPr/>
        </p:nvSpPr>
        <p:spPr>
          <a:xfrm>
            <a:off x="804672" y="5102352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`&lt;Windows帳號&gt;` 需替換成實際帳號；ZIP 先到 $HOME，下一頁解壓只形成一層 lora-energy-lab。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P019b｜WSL extract／root：建立 Linux venv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Linux home：unzip 後只形成一層 `lora-energy-lab` root。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 exact route：extract → root → READY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11680"/>
            <a:ext cx="5394960" cy="22128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WSL／POSIX｜Linux home → one root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unzip lora-energy-lab-v1.zip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lora-energy-lab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3649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</p:txBody>
      </p:sp>
      <p:sp>
        <p:nvSpPr>
          <p:cNvPr id="10" name="Command context frame"/>
          <p:cNvSpPr/>
          <p:nvPr/>
        </p:nvSpPr>
        <p:spPr>
          <a:xfrm>
            <a:off x="6172200" y="2011680"/>
            <a:ext cx="5394960" cy="22128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mmand context label"/>
          <p:cNvSpPr txBox="1"/>
          <p:nvPr/>
        </p:nvSpPr>
        <p:spPr>
          <a:xfrm>
            <a:off x="628192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WSL／POSIX｜lora-energy-lab root</a:t>
            </a:r>
          </a:p>
        </p:txBody>
      </p:sp>
      <p:sp>
        <p:nvSpPr>
          <p:cNvPr id="12" name="Command line 1"/>
          <p:cNvSpPr txBox="1"/>
          <p:nvPr/>
        </p:nvSpPr>
        <p:spPr>
          <a:xfrm>
            <a:off x="630936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13" name="Command line 2"/>
          <p:cNvSpPr txBox="1"/>
          <p:nvPr/>
        </p:nvSpPr>
        <p:spPr>
          <a:xfrm>
            <a:off x="630936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14" name="Root ready boundary"/>
          <p:cNvSpPr txBox="1"/>
          <p:nvPr/>
        </p:nvSpPr>
        <p:spPr>
          <a:xfrm>
            <a:off x="877824" y="4462272"/>
            <a:ext cx="10387584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同一 root 對應 .venv/bin/python、lock 與 verify-receipt.json；READY 才允許 RUN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P020｜POSIX runner 的最小入口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Linux 與 macOS 在 `lora-energy-lab` root 使用 POSIX launcher，interpreter 固定為 Python 3.11.x。setup 完成且 `course.sh verify` 成功後，進入 policy 操作。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POSIX：exact interpreter → setup → verify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950976" y="2066543"/>
            <a:ext cx="6309360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1060704" y="2112263"/>
            <a:ext cx="60899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lora-energy-lab root｜Linux／macOS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1088136" y="2468879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1088136" y="2944368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9" name="Visual panel GATE"/>
          <p:cNvSpPr/>
          <p:nvPr/>
        </p:nvSpPr>
        <p:spPr>
          <a:xfrm>
            <a:off x="7571231" y="2066543"/>
            <a:ext cx="3529584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GATE"/>
          <p:cNvSpPr txBox="1"/>
          <p:nvPr/>
        </p:nvSpPr>
        <p:spPr>
          <a:xfrm>
            <a:off x="7699248" y="2212848"/>
            <a:ext cx="3273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GATE</a:t>
            </a:r>
          </a:p>
        </p:txBody>
      </p:sp>
      <p:sp>
        <p:nvSpPr>
          <p:cNvPr id="11" name="Visual body GATE"/>
          <p:cNvSpPr txBox="1"/>
          <p:nvPr/>
        </p:nvSpPr>
        <p:spPr>
          <a:xfrm>
            <a:off x="7735823" y="2670048"/>
            <a:ext cx="3200400" cy="1005839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status: READY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package-local venv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P021a｜verify-receipt.json：schema example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`verify-receipt.json` 圖例只說明欄位與型別；現場值從 package root 讀取。RUN 輸出另見 `result.json` 與 `endpoint-replay.json`。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verify-receipt.json：schema／example</a:t>
            </a:r>
          </a:p>
        </p:txBody>
      </p:sp>
      <p:sp>
        <p:nvSpPr>
          <p:cNvPr id="5" name="Receipt JSON"/>
          <p:cNvSpPr/>
          <p:nvPr/>
        </p:nvSpPr>
        <p:spPr>
          <a:xfrm>
            <a:off x="950976" y="2011680"/>
            <a:ext cx="10241280" cy="1865376"/>
          </a:xfrm>
          <a:prstGeom prst="roundRect">
            <a:avLst/>
          </a:prstGeom>
          <a:solidFill>
            <a:srgbClr val="E9EDFC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eipt JSON text"/>
          <p:cNvSpPr txBox="1"/>
          <p:nvPr/>
        </p:nvSpPr>
        <p:spPr>
          <a:xfrm>
            <a:off x="1298448" y="2322576"/>
            <a:ext cx="9546336" cy="1225296"/>
          </a:xfrm>
          <a:prstGeom prst="rect">
            <a:avLst/>
          </a:prstGeom>
          <a:noFill/>
          <a:ln>
            <a:noFill/>
          </a:ln>
        </p:spPr>
        <p:txBody>
          <a:bodyPr wrap="square" lIns="36576" tIns="9144" rIns="36576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"status": "READY",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"python_version": "3.11.x",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"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": "ntpu-energy-decision-01"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}</a:t>
            </a:r>
          </a:p>
        </p:txBody>
      </p:sp>
      <p:sp>
        <p:nvSpPr>
          <p:cNvPr id="7" name="Receipt schema disclaimer"/>
          <p:cNvSpPr txBox="1"/>
          <p:nvPr/>
        </p:nvSpPr>
        <p:spPr>
          <a:xfrm>
            <a:off x="1078992" y="40416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SCHEMA／EXAMPLE ONLY｜值為示意；現場以實際 verify-receipt.json 為準</a:t>
            </a:r>
          </a:p>
        </p:txBody>
      </p:sp>
      <p:sp>
        <p:nvSpPr>
          <p:cNvPr id="8" name="Receipt output boundary"/>
          <p:cNvSpPr txBox="1"/>
          <p:nvPr/>
        </p:nvSpPr>
        <p:spPr>
          <a:xfrm>
            <a:off x="1078992" y="431596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energy/output：result.json＋endpoint-replay.json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P021b｜逐欄解讀：READY 與 energy evidence 分層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READY receipt 提供四個 identity fields。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四欄共同限定 claim ceiling；energy result 另屬 run evidence。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identity fields 共同限定 claim ceiling</a:t>
            </a:r>
          </a:p>
        </p:txBody>
      </p:sp>
      <p:sp>
        <p:nvSpPr>
          <p:cNvPr id="5" name="Receipt field scenario_id｜情境識別碼"/>
          <p:cNvSpPr/>
          <p:nvPr/>
        </p:nvSpPr>
        <p:spPr>
          <a:xfrm>
            <a:off x="713232" y="2048256"/>
            <a:ext cx="5230368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eipt field key scenario_id｜情境識別碼"/>
          <p:cNvSpPr txBox="1"/>
          <p:nvPr/>
        </p:nvSpPr>
        <p:spPr>
          <a:xfrm>
            <a:off x="859536" y="2176272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｜情境識別碼</a:t>
            </a:r>
          </a:p>
        </p:txBody>
      </p:sp>
      <p:sp>
        <p:nvSpPr>
          <p:cNvPr id="7" name="Receipt field value scenario_id｜情境識別碼"/>
          <p:cNvSpPr txBox="1"/>
          <p:nvPr/>
        </p:nvSpPr>
        <p:spPr>
          <a:xfrm>
            <a:off x="859536" y="2551176"/>
            <a:ext cx="493776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ntpu-energy-decision-01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字串；READY receipt</a:t>
            </a:r>
          </a:p>
        </p:txBody>
      </p:sp>
      <p:sp>
        <p:nvSpPr>
          <p:cNvPr id="8" name="Receipt field policy_api_version｜介面版本"/>
          <p:cNvSpPr/>
          <p:nvPr/>
        </p:nvSpPr>
        <p:spPr>
          <a:xfrm>
            <a:off x="6254496" y="2048256"/>
            <a:ext cx="5230368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eipt field key policy_api_version｜介面版本"/>
          <p:cNvSpPr txBox="1"/>
          <p:nvPr/>
        </p:nvSpPr>
        <p:spPr>
          <a:xfrm>
            <a:off x="6400800" y="2176272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｜介面版本</a:t>
            </a:r>
          </a:p>
        </p:txBody>
      </p:sp>
      <p:sp>
        <p:nvSpPr>
          <p:cNvPr id="10" name="Receipt field value policy_api_version｜介面版本"/>
          <p:cNvSpPr txBox="1"/>
          <p:nvPr/>
        </p:nvSpPr>
        <p:spPr>
          <a:xfrm>
            <a:off x="6400800" y="2551176"/>
            <a:ext cx="493776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lora-energy-policy-v1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字串；READY receipt</a:t>
            </a:r>
          </a:p>
        </p:txBody>
      </p:sp>
      <p:sp>
        <p:nvSpPr>
          <p:cNvPr id="11" name="Receipt field engine_mode｜引擎模式"/>
          <p:cNvSpPr/>
          <p:nvPr/>
        </p:nvSpPr>
        <p:spPr>
          <a:xfrm>
            <a:off x="713232" y="3749039"/>
            <a:ext cx="5230368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eipt field key engine_mode｜引擎模式"/>
          <p:cNvSpPr txBox="1"/>
          <p:nvPr/>
        </p:nvSpPr>
        <p:spPr>
          <a:xfrm>
            <a:off x="859536" y="3877055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engine_mode</a:t>
            </a: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｜引擎模式</a:t>
            </a:r>
          </a:p>
        </p:txBody>
      </p:sp>
      <p:sp>
        <p:nvSpPr>
          <p:cNvPr id="13" name="Receipt field value engine_mode｜引擎模式"/>
          <p:cNvSpPr txBox="1"/>
          <p:nvPr/>
        </p:nvSpPr>
        <p:spPr>
          <a:xfrm>
            <a:off x="859536" y="4251959"/>
            <a:ext cx="493776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coherent-course-simulated-adapter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分類；READY receipt</a:t>
            </a:r>
          </a:p>
        </p:txBody>
      </p:sp>
      <p:sp>
        <p:nvSpPr>
          <p:cNvPr id="14" name="Receipt field upstream｜上游執行"/>
          <p:cNvSpPr/>
          <p:nvPr/>
        </p:nvSpPr>
        <p:spPr>
          <a:xfrm>
            <a:off x="6254496" y="3749039"/>
            <a:ext cx="5230368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field key upstream｜上游執行"/>
          <p:cNvSpPr txBox="1"/>
          <p:nvPr/>
        </p:nvSpPr>
        <p:spPr>
          <a:xfrm>
            <a:off x="6400800" y="3877055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upstream｜上游執行</a:t>
            </a:r>
          </a:p>
        </p:txBody>
      </p:sp>
      <p:sp>
        <p:nvSpPr>
          <p:cNvPr id="16" name="Receipt field value upstream｜上游執行"/>
          <p:cNvSpPr txBox="1"/>
          <p:nvPr/>
        </p:nvSpPr>
        <p:spPr>
          <a:xfrm>
            <a:off x="6400800" y="4251959"/>
            <a:ext cx="493776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false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布林；READY receipt</a:t>
            </a:r>
          </a:p>
        </p:txBody>
      </p:sp>
      <p:sp>
        <p:nvSpPr>
          <p:cNvPr id="17" name="Receipt identity explanation"/>
          <p:cNvSpPr txBox="1"/>
          <p:nvPr/>
        </p:nvSpPr>
        <p:spPr>
          <a:xfrm>
            <a:off x="1078992" y="532180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作用：identity value 限定 claim ceiling；四欄均來自 READY receipt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P022｜setup 失敗：gate repair 與 same-scenario fallback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失敗範圍限於 Python minor、root、lock 或 policy。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READY 缺少時，分 shell verify，再選 same-scenario-fallback。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Windows／WSL verify route → repair or same-scenario fallback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1993392"/>
            <a:ext cx="539496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39112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PowerShell｜package root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395728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8" name="Command context frame"/>
          <p:cNvSpPr/>
          <p:nvPr/>
        </p:nvSpPr>
        <p:spPr>
          <a:xfrm>
            <a:off x="6172200" y="1993392"/>
            <a:ext cx="539496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context label"/>
          <p:cNvSpPr txBox="1"/>
          <p:nvPr/>
        </p:nvSpPr>
        <p:spPr>
          <a:xfrm>
            <a:off x="6281928" y="2039112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 bash｜package root</a:t>
            </a:r>
          </a:p>
        </p:txBody>
      </p:sp>
      <p:sp>
        <p:nvSpPr>
          <p:cNvPr id="10" name="Command line 1"/>
          <p:cNvSpPr txBox="1"/>
          <p:nvPr/>
        </p:nvSpPr>
        <p:spPr>
          <a:xfrm>
            <a:off x="6309360" y="2395728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11" name="Recovery input"/>
          <p:cNvSpPr/>
          <p:nvPr/>
        </p:nvSpPr>
        <p:spPr>
          <a:xfrm>
            <a:off x="5468112" y="3364992"/>
            <a:ext cx="658368" cy="65836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input label"/>
          <p:cNvSpPr txBox="1"/>
          <p:nvPr/>
        </p:nvSpPr>
        <p:spPr>
          <a:xfrm>
            <a:off x="5102352" y="3547872"/>
            <a:ext cx="1389888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error</a:t>
            </a:r>
          </a:p>
        </p:txBody>
      </p:sp>
      <p:cxnSp>
        <p:nvCxnSpPr>
          <p:cNvPr id="13" name="Repair branch"/>
          <p:cNvCxnSpPr/>
          <p:nvPr/>
        </p:nvCxnSpPr>
        <p:spPr>
          <a:xfrm flipH="1">
            <a:off x="2907792" y="4023360"/>
            <a:ext cx="2889504" cy="91440"/>
          </a:xfrm>
          <a:prstGeom prst="line">
            <a:avLst/>
          </a:prstGeom>
          <a:ln w="2032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allback branch"/>
          <p:cNvCxnSpPr/>
          <p:nvPr/>
        </p:nvCxnSpPr>
        <p:spPr>
          <a:xfrm>
            <a:off x="5797296" y="4023360"/>
            <a:ext cx="2852928" cy="9144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Visual panel REPAIR"/>
          <p:cNvSpPr/>
          <p:nvPr/>
        </p:nvSpPr>
        <p:spPr>
          <a:xfrm>
            <a:off x="859536" y="4114800"/>
            <a:ext cx="4315968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isual heading REPAIR"/>
          <p:cNvSpPr txBox="1"/>
          <p:nvPr/>
        </p:nvSpPr>
        <p:spPr>
          <a:xfrm>
            <a:off x="987552" y="4261104"/>
            <a:ext cx="4059935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REPAIR</a:t>
            </a:r>
          </a:p>
        </p:txBody>
      </p:sp>
      <p:sp>
        <p:nvSpPr>
          <p:cNvPr id="17" name="Visual body REPAIR"/>
          <p:cNvSpPr txBox="1"/>
          <p:nvPr/>
        </p:nvSpPr>
        <p:spPr>
          <a:xfrm>
            <a:off x="1024127" y="4718304"/>
            <a:ext cx="3986783" cy="16459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修目前指出的最小 gate</a:t>
            </a:r>
          </a:p>
        </p:txBody>
      </p:sp>
      <p:sp>
        <p:nvSpPr>
          <p:cNvPr id="18" name="Visual panel FALLBACK"/>
          <p:cNvSpPr/>
          <p:nvPr/>
        </p:nvSpPr>
        <p:spPr>
          <a:xfrm>
            <a:off x="7022592" y="4114800"/>
            <a:ext cx="4315968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isual heading FALLBACK"/>
          <p:cNvSpPr txBox="1"/>
          <p:nvPr/>
        </p:nvSpPr>
        <p:spPr>
          <a:xfrm>
            <a:off x="7150607" y="4261104"/>
            <a:ext cx="4059935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FALLBACK</a:t>
            </a:r>
          </a:p>
        </p:txBody>
      </p:sp>
      <p:sp>
        <p:nvSpPr>
          <p:cNvPr id="20" name="Visual body FALLBACK"/>
          <p:cNvSpPr txBox="1"/>
          <p:nvPr/>
        </p:nvSpPr>
        <p:spPr>
          <a:xfrm>
            <a:off x="7187183" y="4718304"/>
            <a:ext cx="3986783" cy="16459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same-scenario-fallback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P023｜可編輯檔案只有 `</a:t>
            </a:r>
            <a:r>
              <a:rPr sz="2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` 的 marked block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每個 lab 只修改 `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 目前 active 的 marked block；scenario、schemas、runner、Leo code 與 generated JSON 均為 read-only。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 editable file，四個 read-only boundary</a:t>
            </a:r>
          </a:p>
        </p:txBody>
      </p:sp>
      <p:sp>
        <p:nvSpPr>
          <p:cNvPr id="5" name="Visual panel EDIT"/>
          <p:cNvSpPr/>
          <p:nvPr/>
        </p:nvSpPr>
        <p:spPr>
          <a:xfrm>
            <a:off x="822960" y="2066543"/>
            <a:ext cx="4736592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EDIT"/>
          <p:cNvSpPr txBox="1"/>
          <p:nvPr/>
        </p:nvSpPr>
        <p:spPr>
          <a:xfrm>
            <a:off x="950976" y="2212848"/>
            <a:ext cx="4480559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EDIT</a:t>
            </a:r>
          </a:p>
        </p:txBody>
      </p:sp>
      <p:sp>
        <p:nvSpPr>
          <p:cNvPr id="7" name="Visual body EDIT"/>
          <p:cNvSpPr txBox="1"/>
          <p:nvPr/>
        </p:nvSpPr>
        <p:spPr>
          <a:xfrm>
            <a:off x="987552" y="2670048"/>
            <a:ext cx="4407407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active marked block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small diff</a:t>
            </a:r>
          </a:p>
        </p:txBody>
      </p:sp>
      <p:cxnSp>
        <p:nvCxnSpPr>
          <p:cNvPr id="8" name="Guard boundary"/>
          <p:cNvCxnSpPr/>
          <p:nvPr/>
        </p:nvCxnSpPr>
        <p:spPr>
          <a:xfrm>
            <a:off x="5650992" y="2926080"/>
            <a:ext cx="786384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READ-ONLY"/>
          <p:cNvSpPr/>
          <p:nvPr/>
        </p:nvSpPr>
        <p:spPr>
          <a:xfrm>
            <a:off x="6565392" y="2066543"/>
            <a:ext cx="4681728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READ-ONLY"/>
          <p:cNvSpPr txBox="1"/>
          <p:nvPr/>
        </p:nvSpPr>
        <p:spPr>
          <a:xfrm>
            <a:off x="6693407" y="2212848"/>
            <a:ext cx="442569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READ-ONLY</a:t>
            </a:r>
          </a:p>
        </p:txBody>
      </p:sp>
      <p:sp>
        <p:nvSpPr>
          <p:cNvPr id="11" name="Visual body READ-ONLY"/>
          <p:cNvSpPr txBox="1"/>
          <p:nvPr/>
        </p:nvSpPr>
        <p:spPr>
          <a:xfrm>
            <a:off x="6729983" y="2670048"/>
            <a:ext cx="4352544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schemas／runner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generated JSON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P024｜policy 讀取邊界與合法 action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`choose_action(observation)` 僅使用目前與過去允許的 observation；future quality、future energy 與 result summary 不屬於輸入；輸出符合 action contract。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當下 observation → 一個 legal action</a:t>
            </a:r>
          </a:p>
        </p:txBody>
      </p:sp>
      <p:sp>
        <p:nvSpPr>
          <p:cNvPr id="5" name="Visual panel OBSERVATION"/>
          <p:cNvSpPr/>
          <p:nvPr/>
        </p:nvSpPr>
        <p:spPr>
          <a:xfrm>
            <a:off x="804672" y="2048256"/>
            <a:ext cx="4700016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OBSERVATION"/>
          <p:cNvSpPr txBox="1"/>
          <p:nvPr/>
        </p:nvSpPr>
        <p:spPr>
          <a:xfrm>
            <a:off x="932688" y="2194560"/>
            <a:ext cx="4443983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7" name="Visual body OBSERVATION"/>
          <p:cNvSpPr txBox="1"/>
          <p:nvPr/>
        </p:nvSpPr>
        <p:spPr>
          <a:xfrm>
            <a:off x="969264" y="2651760"/>
            <a:ext cx="4370831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contact_open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quality／queue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urgent_due_in_s</a:t>
            </a:r>
          </a:p>
        </p:txBody>
      </p:sp>
      <p:cxnSp>
        <p:nvCxnSpPr>
          <p:cNvPr id="8" name="Policy IO arrow"/>
          <p:cNvCxnSpPr/>
          <p:nvPr/>
        </p:nvCxnSpPr>
        <p:spPr>
          <a:xfrm>
            <a:off x="5650992" y="2926080"/>
            <a:ext cx="768096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LEGAL ACTION"/>
          <p:cNvSpPr/>
          <p:nvPr/>
        </p:nvSpPr>
        <p:spPr>
          <a:xfrm>
            <a:off x="6565392" y="2048256"/>
            <a:ext cx="4754880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LEGAL ACTION"/>
          <p:cNvSpPr txBox="1"/>
          <p:nvPr/>
        </p:nvSpPr>
        <p:spPr>
          <a:xfrm>
            <a:off x="6693407" y="219456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LEGAL ACTION</a:t>
            </a:r>
          </a:p>
        </p:txBody>
      </p:sp>
      <p:sp>
        <p:nvSpPr>
          <p:cNvPr id="11" name="Visual body LEGAL ACTION"/>
          <p:cNvSpPr txBox="1"/>
          <p:nvPr/>
        </p:nvSpPr>
        <p:spPr>
          <a:xfrm>
            <a:off x="6729983" y="2651760"/>
            <a:ext cx="4425696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WAIT／SLEEP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SEND_ONE／SEND_URGENT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FLUSH_BATCH</a:t>
            </a:r>
          </a:p>
        </p:txBody>
      </p:sp>
      <p:sp>
        <p:nvSpPr>
          <p:cNvPr id="12" name="Policy no future"/>
          <p:cNvSpPr txBox="1"/>
          <p:nvPr/>
        </p:nvSpPr>
        <p:spPr>
          <a:xfrm>
            <a:off x="1298448" y="3895344"/>
            <a:ext cx="961948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future quality、future energy、result summary = 不可讀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P025｜常數是受控旋鈕：一次只改一個值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修改一個 bounded constant，執行 exact case。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A／B／C 的控制名稱見下方三個 lab。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每次只動一個 bounded control</a:t>
            </a:r>
          </a:p>
        </p:txBody>
      </p:sp>
      <p:sp>
        <p:nvSpPr>
          <p:cNvPr id="5" name="Visual panel LAB A"/>
          <p:cNvSpPr/>
          <p:nvPr/>
        </p:nvSpPr>
        <p:spPr>
          <a:xfrm>
            <a:off x="749808" y="2048256"/>
            <a:ext cx="3401568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LAB A"/>
          <p:cNvSpPr txBox="1"/>
          <p:nvPr/>
        </p:nvSpPr>
        <p:spPr>
          <a:xfrm>
            <a:off x="877824" y="219456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LAB A</a:t>
            </a:r>
          </a:p>
        </p:txBody>
      </p:sp>
      <p:sp>
        <p:nvSpPr>
          <p:cNvPr id="7" name="Visual body LAB A"/>
          <p:cNvSpPr txBox="1"/>
          <p:nvPr/>
        </p:nvSpPr>
        <p:spPr>
          <a:xfrm>
            <a:off x="914400" y="2651760"/>
            <a:ext cx="3072384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 → WAIT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awake-idle／wake</a:t>
            </a:r>
          </a:p>
        </p:txBody>
      </p:sp>
      <p:sp>
        <p:nvSpPr>
          <p:cNvPr id="8" name="Visual panel LAB B"/>
          <p:cNvSpPr/>
          <p:nvPr/>
        </p:nvSpPr>
        <p:spPr>
          <a:xfrm>
            <a:off x="4562856" y="2048256"/>
            <a:ext cx="3401568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LAB B"/>
          <p:cNvSpPr txBox="1"/>
          <p:nvPr/>
        </p:nvSpPr>
        <p:spPr>
          <a:xfrm>
            <a:off x="4690872" y="219456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</a:t>
            </a:r>
          </a:p>
        </p:txBody>
      </p:sp>
      <p:sp>
        <p:nvSpPr>
          <p:cNvPr id="10" name="Visual body LAB B"/>
          <p:cNvSpPr txBox="1"/>
          <p:nvPr/>
        </p:nvSpPr>
        <p:spPr>
          <a:xfrm>
            <a:off x="4727448" y="2651760"/>
            <a:ext cx="3072384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2 →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hold</a:t>
            </a:r>
          </a:p>
        </p:txBody>
      </p:sp>
      <p:sp>
        <p:nvSpPr>
          <p:cNvPr id="11" name="Visual panel LAB C"/>
          <p:cNvSpPr/>
          <p:nvPr/>
        </p:nvSpPr>
        <p:spPr>
          <a:xfrm>
            <a:off x="8375904" y="2048256"/>
            <a:ext cx="3401568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sual heading LAB C"/>
          <p:cNvSpPr txBox="1"/>
          <p:nvPr/>
        </p:nvSpPr>
        <p:spPr>
          <a:xfrm>
            <a:off x="8503920" y="219456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LAB C</a:t>
            </a:r>
          </a:p>
        </p:txBody>
      </p:sp>
      <p:sp>
        <p:nvSpPr>
          <p:cNvPr id="13" name="Visual body LAB C"/>
          <p:cNvSpPr txBox="1"/>
          <p:nvPr/>
        </p:nvSpPr>
        <p:spPr>
          <a:xfrm>
            <a:off x="8540496" y="2651760"/>
            <a:ext cx="3072384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20 → 5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 branch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P026｜條件分支：observation 轉成 action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`choose_action` 依窗口、急件期限與 pacing 產生 action。右側說明分支機制；實際修改位置是 `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 的 marked block。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MECHANISM-ONLY PSEUDOCODE｜讀條件，再追 return</a:t>
            </a:r>
          </a:p>
        </p:txBody>
      </p:sp>
      <p:sp>
        <p:nvSpPr>
          <p:cNvPr id="5" name="Policy code excerpt"/>
          <p:cNvSpPr/>
          <p:nvPr/>
        </p:nvSpPr>
        <p:spPr>
          <a:xfrm>
            <a:off x="804672" y="1975104"/>
            <a:ext cx="6437376" cy="2834640"/>
          </a:xfrm>
          <a:prstGeom prst="roundRect">
            <a:avLst/>
          </a:prstGeom>
          <a:solidFill>
            <a:srgbClr val="E9EDFC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licy code lines"/>
          <p:cNvSpPr txBox="1"/>
          <p:nvPr/>
        </p:nvSpPr>
        <p:spPr>
          <a:xfrm>
            <a:off x="1060704" y="2139696"/>
            <a:ext cx="5943600" cy="241401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if not observation.contact_open: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return SLEEP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if observation.urgent_pending: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if observation.urgent_due_in_s &lt;=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    return SEND_URGENT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if observation.steps_since_send &lt;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return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</p:txBody>
      </p:sp>
      <p:sp>
        <p:nvSpPr>
          <p:cNvPr id="7" name="Visual panel MECHANISM"/>
          <p:cNvSpPr/>
          <p:nvPr/>
        </p:nvSpPr>
        <p:spPr>
          <a:xfrm>
            <a:off x="7498079" y="1975104"/>
            <a:ext cx="3767328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isual heading MECHANISM"/>
          <p:cNvSpPr txBox="1"/>
          <p:nvPr/>
        </p:nvSpPr>
        <p:spPr>
          <a:xfrm>
            <a:off x="7626096" y="2121408"/>
            <a:ext cx="351129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9" name="Visual body MECHANISM"/>
          <p:cNvSpPr txBox="1"/>
          <p:nvPr/>
        </p:nvSpPr>
        <p:spPr>
          <a:xfrm>
            <a:off x="7662671" y="2578608"/>
            <a:ext cx="3438144" cy="212140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 → 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 → SEND_URGENT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 → REST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P027｜RUN：baseline 產生兩筆結果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Baseline：固定 scenario、seed 與原始 policy 的對照執行。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兩個 shell 都在 `lora-energy-lab` root；各用本平台 Python 3.11 venv。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lora-energy-lab root｜RUN：fixed scenario A baseline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11680"/>
            <a:ext cx="5394960" cy="23225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PowerShell｜package-local venv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.\.venv\Scripts\python.exe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A --case baseline</a:t>
            </a:r>
          </a:p>
        </p:txBody>
      </p:sp>
      <p:sp>
        <p:nvSpPr>
          <p:cNvPr id="9" name="Command context frame"/>
          <p:cNvSpPr/>
          <p:nvPr/>
        </p:nvSpPr>
        <p:spPr>
          <a:xfrm>
            <a:off x="6172200" y="2011680"/>
            <a:ext cx="5394960" cy="23225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mand context label"/>
          <p:cNvSpPr txBox="1"/>
          <p:nvPr/>
        </p:nvSpPr>
        <p:spPr>
          <a:xfrm>
            <a:off x="628192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 bash｜package-local venv</a:t>
            </a:r>
          </a:p>
        </p:txBody>
      </p:sp>
      <p:sp>
        <p:nvSpPr>
          <p:cNvPr id="11" name="Command line 1"/>
          <p:cNvSpPr txBox="1"/>
          <p:nvPr/>
        </p:nvSpPr>
        <p:spPr>
          <a:xfrm>
            <a:off x="630936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./.venv/bin/python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2" name="Command line 2"/>
          <p:cNvSpPr txBox="1"/>
          <p:nvPr/>
        </p:nvSpPr>
        <p:spPr>
          <a:xfrm>
            <a:off x="630936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13" name="Baseline result boundary"/>
          <p:cNvSpPr txBox="1"/>
          <p:nvPr/>
        </p:nvSpPr>
        <p:spPr>
          <a:xfrm>
            <a:off x="877824" y="4590288"/>
            <a:ext cx="10387584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兩欄執行同一固定 scenario／seed；輸出 result.json、endpoint-replay.json，JSON 印出 result_path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P028｜Windows 手動建立 Python 3.11 `.venv`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PowerShell 位於 `lora-energy-lab` root：先確認 Python 3.11，再確認 `venv` module，最後建立 `.venv`。Windows path 使用 `.venv\Scripts\python.exe`。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 exact route：check → install／locate → venv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1975104"/>
            <a:ext cx="10927080" cy="12252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20824"/>
            <a:ext cx="107076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1｜Python Launcher check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377440"/>
            <a:ext cx="10652759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761488"/>
            <a:ext cx="10652759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$python311 = (py -3.11 -c "import sys; print(sys.executable)").Trim()</a:t>
            </a:r>
          </a:p>
        </p:txBody>
      </p:sp>
      <p:sp>
        <p:nvSpPr>
          <p:cNvPr id="9" name="Command context frame"/>
          <p:cNvSpPr/>
          <p:nvPr/>
        </p:nvSpPr>
        <p:spPr>
          <a:xfrm>
            <a:off x="640080" y="3401568"/>
            <a:ext cx="539496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mand context label"/>
          <p:cNvSpPr txBox="1"/>
          <p:nvPr/>
        </p:nvSpPr>
        <p:spPr>
          <a:xfrm>
            <a:off x="749808" y="34472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2｜3.11 missing: uv route</a:t>
            </a:r>
          </a:p>
        </p:txBody>
      </p:sp>
      <p:sp>
        <p:nvSpPr>
          <p:cNvPr id="11" name="Command line 1"/>
          <p:cNvSpPr txBox="1"/>
          <p:nvPr/>
        </p:nvSpPr>
        <p:spPr>
          <a:xfrm>
            <a:off x="777240" y="3803904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</p:txBody>
      </p:sp>
      <p:sp>
        <p:nvSpPr>
          <p:cNvPr id="12" name="Command line 2"/>
          <p:cNvSpPr txBox="1"/>
          <p:nvPr/>
        </p:nvSpPr>
        <p:spPr>
          <a:xfrm>
            <a:off x="777240" y="4175760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13" name="Command line 3"/>
          <p:cNvSpPr txBox="1"/>
          <p:nvPr/>
        </p:nvSpPr>
        <p:spPr>
          <a:xfrm>
            <a:off x="777240" y="4547616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$python311 = (uv python find 3.11).Trim()</a:t>
            </a:r>
          </a:p>
        </p:txBody>
      </p:sp>
      <p:sp>
        <p:nvSpPr>
          <p:cNvPr id="14" name="Command context frame"/>
          <p:cNvSpPr/>
          <p:nvPr/>
        </p:nvSpPr>
        <p:spPr>
          <a:xfrm>
            <a:off x="6172200" y="3401568"/>
            <a:ext cx="539496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mmand context label"/>
          <p:cNvSpPr txBox="1"/>
          <p:nvPr/>
        </p:nvSpPr>
        <p:spPr>
          <a:xfrm>
            <a:off x="6281928" y="34472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3｜venv module and create</a:t>
            </a:r>
          </a:p>
        </p:txBody>
      </p:sp>
      <p:sp>
        <p:nvSpPr>
          <p:cNvPr id="16" name="Command line 1"/>
          <p:cNvSpPr txBox="1"/>
          <p:nvPr/>
        </p:nvSpPr>
        <p:spPr>
          <a:xfrm>
            <a:off x="6309360" y="3803904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&amp; $python311 --version</a:t>
            </a:r>
          </a:p>
        </p:txBody>
      </p:sp>
      <p:sp>
        <p:nvSpPr>
          <p:cNvPr id="17" name="Command line 2"/>
          <p:cNvSpPr txBox="1"/>
          <p:nvPr/>
        </p:nvSpPr>
        <p:spPr>
          <a:xfrm>
            <a:off x="6309360" y="4175760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&amp; $python311 -m venv --help</a:t>
            </a:r>
          </a:p>
        </p:txBody>
      </p:sp>
      <p:sp>
        <p:nvSpPr>
          <p:cNvPr id="18" name="Command line 3"/>
          <p:cNvSpPr txBox="1"/>
          <p:nvPr/>
        </p:nvSpPr>
        <p:spPr>
          <a:xfrm>
            <a:off x="6309360" y="4547616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&amp; $python311 -m venv .venv</a:t>
            </a:r>
          </a:p>
        </p:txBody>
      </p:sp>
      <p:sp>
        <p:nvSpPr>
          <p:cNvPr id="19" name="Windows manual boundary"/>
          <p:cNvSpPr txBox="1"/>
          <p:nvPr/>
        </p:nvSpPr>
        <p:spPr>
          <a:xfrm>
            <a:off x="877824" y="5120640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全部命令在 lora-energy-lab root；成功後有 .venv\Scripts\python.exe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P029｜Windows 啟用 `.venv`、locked install、verify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建立 `.venv` 後在同一個 PowerShell 視窗啟用、確認 prefix、安裝 locked requirements，再執行 `course.cmd verify`。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 exact route：activate → locked install → READY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1975104"/>
            <a:ext cx="10927080" cy="2944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20824"/>
            <a:ext cx="107076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package root｜同一 PowerShell 視窗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377440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.\.venv\Scripts\Activate.ps1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852928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328416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-c "import sys; assert sys.prefix != sys.base_prefix; print(sys.executable)"</a:t>
            </a:r>
          </a:p>
        </p:txBody>
      </p:sp>
      <p:sp>
        <p:nvSpPr>
          <p:cNvPr id="10" name="Command line 4"/>
          <p:cNvSpPr txBox="1"/>
          <p:nvPr/>
        </p:nvSpPr>
        <p:spPr>
          <a:xfrm>
            <a:off x="777240" y="3803904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-m pip install --disable-pip-version-check --require-hashes --no-deps -r .\requirements-lock.txt</a:t>
            </a:r>
          </a:p>
        </p:txBody>
      </p:sp>
      <p:sp>
        <p:nvSpPr>
          <p:cNvPr id="11" name="Command line 5"/>
          <p:cNvSpPr txBox="1"/>
          <p:nvPr/>
        </p:nvSpPr>
        <p:spPr>
          <a:xfrm>
            <a:off x="777240" y="4279392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12" name="Windows activation fallback"/>
          <p:cNvSpPr txBox="1"/>
          <p:nvPr/>
        </p:nvSpPr>
        <p:spPr>
          <a:xfrm>
            <a:off x="877824" y="5084064"/>
            <a:ext cx="10387584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PowerShell policy blocked → Command Prompt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call .venv\Scripts\activate.bat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P030｜WSL Ubuntu 24.04：定位並安裝 Python 3.11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Ubuntu 24.04 先查 apt Candidate。有則安裝 Python 3.11 與 venv；否則以 uv 安裝。兩個分支都設定 `PYTHON_BIN`，供下一頁建立 `.venv`。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WSL／Ubuntu exact route：detect → apt prerequisite → uv Python 3.11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1975104"/>
            <a:ext cx="539496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20824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1｜detect；apt Candidate branch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37744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command -v python3.11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78892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python3.11 --version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20040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apt-cache policy python3.11 python3.11-venv</a:t>
            </a:r>
          </a:p>
        </p:txBody>
      </p:sp>
      <p:sp>
        <p:nvSpPr>
          <p:cNvPr id="10" name="Command line 4"/>
          <p:cNvSpPr txBox="1"/>
          <p:nvPr/>
        </p:nvSpPr>
        <p:spPr>
          <a:xfrm>
            <a:off x="777240" y="361188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</p:txBody>
      </p:sp>
      <p:sp>
        <p:nvSpPr>
          <p:cNvPr id="11" name="Command line 5"/>
          <p:cNvSpPr txBox="1"/>
          <p:nvPr/>
        </p:nvSpPr>
        <p:spPr>
          <a:xfrm>
            <a:off x="777240" y="402336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install -y python3.11 python3.11-venv</a:t>
            </a:r>
          </a:p>
        </p:txBody>
      </p:sp>
      <p:sp>
        <p:nvSpPr>
          <p:cNvPr id="12" name="Command line 6"/>
          <p:cNvSpPr txBox="1"/>
          <p:nvPr/>
        </p:nvSpPr>
        <p:spPr>
          <a:xfrm>
            <a:off x="777240" y="443484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PYTHON_BIN="$(command -v python3.11)"</a:t>
            </a:r>
          </a:p>
        </p:txBody>
      </p:sp>
      <p:sp>
        <p:nvSpPr>
          <p:cNvPr id="13" name="Command context frame"/>
          <p:cNvSpPr/>
          <p:nvPr/>
        </p:nvSpPr>
        <p:spPr>
          <a:xfrm>
            <a:off x="6172200" y="1975104"/>
            <a:ext cx="539496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mmand context label"/>
          <p:cNvSpPr txBox="1"/>
          <p:nvPr/>
        </p:nvSpPr>
        <p:spPr>
          <a:xfrm>
            <a:off x="6281928" y="2020824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2｜curl + uv managed Python</a:t>
            </a:r>
          </a:p>
        </p:txBody>
      </p:sp>
      <p:sp>
        <p:nvSpPr>
          <p:cNvPr id="15" name="Command line 1"/>
          <p:cNvSpPr txBox="1"/>
          <p:nvPr/>
        </p:nvSpPr>
        <p:spPr>
          <a:xfrm>
            <a:off x="6309360" y="237744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install -y curl unzip</a:t>
            </a:r>
          </a:p>
        </p:txBody>
      </p:sp>
      <p:sp>
        <p:nvSpPr>
          <p:cNvPr id="16" name="Command line 2"/>
          <p:cNvSpPr txBox="1"/>
          <p:nvPr/>
        </p:nvSpPr>
        <p:spPr>
          <a:xfrm>
            <a:off x="6309360" y="278892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curl -LsSf https://astral.sh/uv/install.sh | sh</a:t>
            </a:r>
          </a:p>
        </p:txBody>
      </p:sp>
      <p:sp>
        <p:nvSpPr>
          <p:cNvPr id="17" name="Command line 3"/>
          <p:cNvSpPr txBox="1"/>
          <p:nvPr/>
        </p:nvSpPr>
        <p:spPr>
          <a:xfrm>
            <a:off x="6309360" y="320040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export PATH="$HOME/.local/bin:$PATH"</a:t>
            </a:r>
          </a:p>
        </p:txBody>
      </p:sp>
      <p:sp>
        <p:nvSpPr>
          <p:cNvPr id="18" name="Command line 4"/>
          <p:cNvSpPr txBox="1"/>
          <p:nvPr/>
        </p:nvSpPr>
        <p:spPr>
          <a:xfrm>
            <a:off x="6309360" y="361188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19" name="Command line 5"/>
          <p:cNvSpPr txBox="1"/>
          <p:nvPr/>
        </p:nvSpPr>
        <p:spPr>
          <a:xfrm>
            <a:off x="6309360" y="402336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PYTHON_BIN="$(uv python find 3.11)"</a:t>
            </a:r>
          </a:p>
        </p:txBody>
      </p:sp>
      <p:sp>
        <p:nvSpPr>
          <p:cNvPr id="20" name="Command line 6"/>
          <p:cNvSpPr txBox="1"/>
          <p:nvPr/>
        </p:nvSpPr>
        <p:spPr>
          <a:xfrm>
            <a:off x="6309360" y="443484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"$PYTHON_BIN" --version</a:t>
            </a:r>
          </a:p>
        </p:txBody>
      </p:sp>
      <p:sp>
        <p:nvSpPr>
          <p:cNvPr id="21" name="WSL Python boundary"/>
          <p:cNvSpPr txBox="1"/>
          <p:nvPr/>
        </p:nvSpPr>
        <p:spPr>
          <a:xfrm>
            <a:off x="877824" y="5102352"/>
            <a:ext cx="103875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有 Candidate：apt 安裝後設定 PYTHON_BIN；無 Candidate：uv 定位並設定 PYTHON_BIN；只在 WSL／Linux bash 執行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P031｜WSL `.venv/bin`：建立、啟用、locked install、verify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root 使用 `PYTHON_BIN` 建立 Linux `.venv`；source 後確認 3.11、locked install，再執行 `bash course.sh verify`。</a:t>
            </a:r>
          </a:p>
        </p:txBody>
      </p:sp>
      <p:sp>
        <p:nvSpPr>
          <p:cNvPr id="4" name="WSL venv route heading"/>
          <p:cNvSpPr txBox="1"/>
          <p:nvPr/>
        </p:nvSpPr>
        <p:spPr>
          <a:xfrm>
            <a:off x="768096" y="1847088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WSL／Ubuntu exact route：venv → source → locked install → READY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176272"/>
            <a:ext cx="1092708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221991"/>
            <a:ext cx="107076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Linux package root｜同一 WSL bash 視窗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578608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"$PYTHON_BIN" -m venv --help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905179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"$PYTHON_BIN" -m venv .venv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231750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source .venv/bin/activate</a:t>
            </a:r>
          </a:p>
        </p:txBody>
      </p:sp>
      <p:sp>
        <p:nvSpPr>
          <p:cNvPr id="10" name="Command line 4"/>
          <p:cNvSpPr txBox="1"/>
          <p:nvPr/>
        </p:nvSpPr>
        <p:spPr>
          <a:xfrm>
            <a:off x="777240" y="3558322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</p:txBody>
      </p:sp>
      <p:sp>
        <p:nvSpPr>
          <p:cNvPr id="11" name="Command line 5"/>
          <p:cNvSpPr txBox="1"/>
          <p:nvPr/>
        </p:nvSpPr>
        <p:spPr>
          <a:xfrm>
            <a:off x="777240" y="3884893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-c 'import sys; assert sys.prefix != sys.base_prefix; print(sys.executable)'</a:t>
            </a:r>
          </a:p>
        </p:txBody>
      </p:sp>
      <p:sp>
        <p:nvSpPr>
          <p:cNvPr id="12" name="Command line 6"/>
          <p:cNvSpPr txBox="1"/>
          <p:nvPr/>
        </p:nvSpPr>
        <p:spPr>
          <a:xfrm>
            <a:off x="777240" y="4211465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-m pip install --disable-pip-version-check --require-hashes --no-deps -r requirements-lock.txt</a:t>
            </a:r>
          </a:p>
        </p:txBody>
      </p:sp>
      <p:sp>
        <p:nvSpPr>
          <p:cNvPr id="13" name="Command line 7"/>
          <p:cNvSpPr txBox="1"/>
          <p:nvPr/>
        </p:nvSpPr>
        <p:spPr>
          <a:xfrm>
            <a:off x="777240" y="4538036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14" name="WSL venv boundary"/>
          <p:cNvSpPr txBox="1"/>
          <p:nvPr/>
        </p:nvSpPr>
        <p:spPr>
          <a:xfrm>
            <a:off x="877824" y="5102352"/>
            <a:ext cx="103875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WSL 使用 .venv/bin/python；Windows .venv\Scripts\python.exe 不互換，Windows CMD 不執行 .sh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