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"/>
  </p:notesMasterIdLst>
  <p:sldIdLst>
    <p:sldId id="256" r:id="rId3"/>
    <p:sldId id="257" r:id="rId2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C 以同一個服務窗口串起佇列、批次、急件、完成期限與端點能量。判讀順序由工作是否完成、期限是否通過、送達資料與端點 J 組成。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原始 student_policy.py 由窗口、急件、節奏、批次與等待分支組成。每個分支的中文作用、輸入條件與返回 action 都在頁面上對應。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baseline 使用原始 policy 建立比較 control，candidate 使用 margin 5 的 policy 產生第二筆 result。每條命令都關聯 result.json、事件 replay 與下一階段的判讀位置。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URGENT_MARGIN_S 定義急件距離期限的剩餘秒數門檻；唯一修改由 20 改為 5。修改前後的完整句、具體問題、action timing 與 service 欄位形成同一條因果鏈。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margin 5 的預測連接 action 時點、佇列與封包、服務／期限以及端點 J。每個欄位都標出來源、值型態或單位、作用與 run 後判讀。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兩筆 deterministic fallback 來自同一情境與固定 operation contract。服務、期限、送達資料、端點能量與效率都有中文欄名、單位、來源類型與判讀。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revision 將門檻由 5 改為 30，保留 candidate 的失敗紀錄並改變 urgent action 的觸發時點。修改前後的完整句與問題連接 deadline、送達資料與端點 J。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margin 30 的預測描述較早 urgent action、required packet、deadline 與端點能量的方向。結果判讀以 service、delivery、state ledger 與 endpoint J 的共同 evidence 定義。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Relationship Id="rId13" Type="http://schemas.openxmlformats.org/officeDocument/2006/relationships/image" Target="../media/image2.png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P064｜Lab C：資料等待、期限與耗能的取捨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Lab C queue timeline"/>
          <p:cNvSpPr/>
          <p:nvPr/>
        </p:nvSpPr>
        <p:spPr>
          <a:xfrm>
            <a:off x="694944" y="1298448"/>
            <a:ext cx="6656832" cy="3419856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6" name="Queue timeline heading"/>
          <p:cNvSpPr txBox="1"/>
          <p:nvPr/>
        </p:nvSpPr>
        <p:spPr>
          <a:xfrm>
            <a:off x="914400" y="1481328"/>
            <a:ext cx="6217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queue</a:t>
            </a:r>
            <a:r>
              <a:rPr sz="22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（佇列）中的工作沿 </a:t>
            </a:r>
            <a:r>
              <a:rPr sz="22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service</a:t>
            </a:r>
            <a:r>
              <a:rPr sz="22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 window（服務窗口）移動</a:t>
            </a:r>
          </a:p>
        </p:txBody>
      </p:sp>
      <p:cxnSp>
        <p:nvCxnSpPr>
          <p:cNvPr id="7" name="Editable connector"/>
          <p:cNvCxnSpPr/>
          <p:nvPr/>
        </p:nvCxnSpPr>
        <p:spPr>
          <a:xfrm>
            <a:off x="1188720" y="2907792"/>
            <a:ext cx="5596128" cy="0"/>
          </a:xfrm>
          <a:prstGeom prst="line">
            <a:avLst/>
          </a:prstGeom>
          <a:ln w="266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Queue stage marker"/>
          <p:cNvSpPr/>
          <p:nvPr/>
        </p:nvSpPr>
        <p:spPr>
          <a:xfrm>
            <a:off x="1115568" y="2761488"/>
            <a:ext cx="292608" cy="292608"/>
          </a:xfrm>
          <a:prstGeom prst="ellipse">
            <a:avLst/>
          </a:prstGeom>
          <a:solidFill>
            <a:srgbClr val="3D61B9"/>
          </a:solidFill>
          <a:ln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Queue stage heading"/>
          <p:cNvSpPr txBox="1"/>
          <p:nvPr/>
        </p:nvSpPr>
        <p:spPr>
          <a:xfrm>
            <a:off x="676656" y="1938528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D61B9"/>
                </a:solidFill>
                <a:latin typeface="Times New Roman"/>
                <a:ea typeface="DFKai-SB"/>
                <a:cs typeface="Times New Roman"/>
              </a:rPr>
              <a:t>一般資料</a:t>
            </a:r>
          </a:p>
        </p:txBody>
      </p:sp>
      <p:sp>
        <p:nvSpPr>
          <p:cNvPr id="10" name="Queue stage body"/>
          <p:cNvSpPr txBox="1"/>
          <p:nvPr/>
        </p:nvSpPr>
        <p:spPr>
          <a:xfrm>
            <a:off x="493775" y="3182112"/>
            <a:ext cx="1554480" cy="8412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可等待 batch（批次）</a:t>
            </a:r>
          </a:p>
        </p:txBody>
      </p:sp>
      <p:sp>
        <p:nvSpPr>
          <p:cNvPr id="11" name="Queue stage marker"/>
          <p:cNvSpPr/>
          <p:nvPr/>
        </p:nvSpPr>
        <p:spPr>
          <a:xfrm>
            <a:off x="2798064" y="2761488"/>
            <a:ext cx="292608" cy="292608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Queue stage heading"/>
          <p:cNvSpPr txBox="1"/>
          <p:nvPr/>
        </p:nvSpPr>
        <p:spPr>
          <a:xfrm>
            <a:off x="2359152" y="1938528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急件</a:t>
            </a:r>
          </a:p>
        </p:txBody>
      </p:sp>
      <p:sp>
        <p:nvSpPr>
          <p:cNvPr id="13" name="Queue stage body"/>
          <p:cNvSpPr txBox="1"/>
          <p:nvPr/>
        </p:nvSpPr>
        <p:spPr>
          <a:xfrm>
            <a:off x="2176272" y="3182112"/>
            <a:ext cx="1554480" cy="8412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urgent（急件）接近期限</a:t>
            </a:r>
          </a:p>
        </p:txBody>
      </p:sp>
      <p:sp>
        <p:nvSpPr>
          <p:cNvPr id="14" name="Queue stage marker"/>
          <p:cNvSpPr/>
          <p:nvPr/>
        </p:nvSpPr>
        <p:spPr>
          <a:xfrm>
            <a:off x="4498848" y="2761488"/>
            <a:ext cx="292608" cy="292608"/>
          </a:xfrm>
          <a:prstGeom prst="ellipse">
            <a:avLst/>
          </a:prstGeom>
          <a:solidFill>
            <a:srgbClr val="007474"/>
          </a:solidFill>
          <a:ln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Queue stage heading"/>
          <p:cNvSpPr txBox="1"/>
          <p:nvPr/>
        </p:nvSpPr>
        <p:spPr>
          <a:xfrm>
            <a:off x="4059935" y="1938528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07474"/>
                </a:solidFill>
                <a:latin typeface="Times New Roman"/>
                <a:ea typeface="DFKai-SB"/>
                <a:cs typeface="Times New Roman"/>
              </a:rPr>
              <a:t>送出</a:t>
            </a:r>
          </a:p>
        </p:txBody>
      </p:sp>
      <p:sp>
        <p:nvSpPr>
          <p:cNvPr id="16" name="Queue stage body"/>
          <p:cNvSpPr txBox="1"/>
          <p:nvPr/>
        </p:nvSpPr>
        <p:spPr>
          <a:xfrm>
            <a:off x="3877056" y="3182112"/>
            <a:ext cx="1554480" cy="8412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action（動作）產生 packet（封包）</a:t>
            </a:r>
          </a:p>
        </p:txBody>
      </p:sp>
      <p:sp>
        <p:nvSpPr>
          <p:cNvPr id="17" name="Queue stage marker"/>
          <p:cNvSpPr/>
          <p:nvPr/>
        </p:nvSpPr>
        <p:spPr>
          <a:xfrm>
            <a:off x="6144768" y="2761488"/>
            <a:ext cx="292608" cy="292608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Queue stage heading"/>
          <p:cNvSpPr txBox="1"/>
          <p:nvPr/>
        </p:nvSpPr>
        <p:spPr>
          <a:xfrm>
            <a:off x="5705856" y="1938528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DFKai-SB"/>
                <a:cs typeface="Times New Roman"/>
              </a:rPr>
              <a:t>完成</a:t>
            </a:r>
          </a:p>
        </p:txBody>
      </p:sp>
      <p:sp>
        <p:nvSpPr>
          <p:cNvPr id="19" name="Queue stage body"/>
          <p:cNvSpPr txBox="1"/>
          <p:nvPr/>
        </p:nvSpPr>
        <p:spPr>
          <a:xfrm>
            <a:off x="5522976" y="3182112"/>
            <a:ext cx="1554480" cy="8412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service</a:t>
            </a: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（服務）判定</a:t>
            </a:r>
          </a:p>
        </p:txBody>
      </p:sp>
      <p:sp>
        <p:nvSpPr>
          <p:cNvPr id="20" name="Lab C deadline definition panel"/>
          <p:cNvSpPr/>
          <p:nvPr/>
        </p:nvSpPr>
        <p:spPr>
          <a:xfrm>
            <a:off x="7589520" y="1298448"/>
            <a:ext cx="3621024" cy="95097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21" name="Lab C deadline definition label"/>
          <p:cNvSpPr txBox="1"/>
          <p:nvPr/>
        </p:nvSpPr>
        <p:spPr>
          <a:xfrm>
            <a:off x="7699248" y="1389888"/>
            <a:ext cx="1170432" cy="7680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deadline</a:t>
            </a:r>
            <a:r>
              <a:rPr sz="20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（完成期限）</a:t>
            </a:r>
          </a:p>
        </p:txBody>
      </p:sp>
      <p:sp>
        <p:nvSpPr>
          <p:cNvPr id="22" name="Lab C deadline definition explanation"/>
          <p:cNvSpPr txBox="1"/>
          <p:nvPr/>
        </p:nvSpPr>
        <p:spPr>
          <a:xfrm>
            <a:off x="8942832" y="1371600"/>
            <a:ext cx="2139696" cy="80467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來源：observation 的剩餘秒數；值：秒；作用：限制 packet 完成時間；判讀：期限通過才有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service</a:t>
            </a: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PASS。</a:t>
            </a:r>
          </a:p>
        </p:txBody>
      </p:sp>
      <p:sp>
        <p:nvSpPr>
          <p:cNvPr id="23" name="Lab C energy definition panel"/>
          <p:cNvSpPr/>
          <p:nvPr/>
        </p:nvSpPr>
        <p:spPr>
          <a:xfrm>
            <a:off x="7589520" y="2395728"/>
            <a:ext cx="3621024" cy="95097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24" name="Lab C energy definition label"/>
          <p:cNvSpPr txBox="1"/>
          <p:nvPr/>
        </p:nvSpPr>
        <p:spPr>
          <a:xfrm>
            <a:off x="7699248" y="2487168"/>
            <a:ext cx="1170432" cy="7680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DFKai-SB"/>
                <a:cs typeface="Times New Roman"/>
              </a:rPr>
              <a:t>endpoint energy（端點能量）</a:t>
            </a:r>
          </a:p>
        </p:txBody>
      </p:sp>
      <p:sp>
        <p:nvSpPr>
          <p:cNvPr id="25" name="Lab C energy definition explanation"/>
          <p:cNvSpPr txBox="1"/>
          <p:nvPr/>
        </p:nvSpPr>
        <p:spPr>
          <a:xfrm>
            <a:off x="8942832" y="2468880"/>
            <a:ext cx="2139696" cy="80467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來源：endpoint scope 的累積值；單位：J；作用：描述端點耗能；判讀：不能取代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service</a:t>
            </a: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或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deadline</a:t>
            </a: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。</a:t>
            </a:r>
          </a:p>
        </p:txBody>
      </p:sp>
      <p:sp>
        <p:nvSpPr>
          <p:cNvPr id="26" name="Lab C causal sentence panel"/>
          <p:cNvSpPr/>
          <p:nvPr/>
        </p:nvSpPr>
        <p:spPr>
          <a:xfrm>
            <a:off x="7589520" y="3675887"/>
            <a:ext cx="3621024" cy="1042415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27" name="Lab C causal sentence text"/>
          <p:cNvSpPr txBox="1"/>
          <p:nvPr/>
        </p:nvSpPr>
        <p:spPr>
          <a:xfrm>
            <a:off x="7735824" y="3730751"/>
            <a:ext cx="3328416" cy="9326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完整句：同一個窗口內，action 改變 packet 的完成時點；</a:t>
            </a:r>
            <a:r>
              <a:rPr sz="20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service</a:t>
            </a:r>
            <a:r>
              <a:rPr sz="20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／</a:t>
            </a:r>
            <a:r>
              <a:rPr sz="20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deadline</a:t>
            </a:r>
            <a:r>
              <a:rPr sz="20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 定義工作結果，</a:t>
            </a:r>
            <a:r>
              <a:rPr sz="20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endpoint J</a:t>
            </a:r>
            <a:r>
              <a:rPr sz="20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 描述端點代價。</a:t>
            </a:r>
          </a:p>
        </p:txBody>
      </p:sp>
      <p:sp>
        <p:nvSpPr>
          <p:cNvPr id="28" name="Lab C question panel"/>
          <p:cNvSpPr/>
          <p:nvPr/>
        </p:nvSpPr>
        <p:spPr>
          <a:xfrm>
            <a:off x="822960" y="4846320"/>
            <a:ext cx="10222992" cy="38404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29" name="Lab C question text"/>
          <p:cNvSpPr txBox="1"/>
          <p:nvPr/>
        </p:nvSpPr>
        <p:spPr>
          <a:xfrm>
            <a:off x="969264" y="4901183"/>
            <a:ext cx="99303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問題：</a:t>
            </a:r>
            <a:r>
              <a:rPr sz="19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bit/J</a:t>
            </a:r>
            <a:r>
              <a:rPr sz="19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 變高但急件逾期時，判讀應回到哪個 gate？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P065｜原始程式：門檻與分支的判斷順序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Original student_policy code panel"/>
          <p:cNvSpPr/>
          <p:nvPr/>
        </p:nvSpPr>
        <p:spPr>
          <a:xfrm>
            <a:off x="694944" y="1243584"/>
            <a:ext cx="5669280" cy="3822191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6" name="Original student_policy code text"/>
          <p:cNvSpPr txBox="1"/>
          <p:nvPr/>
        </p:nvSpPr>
        <p:spPr>
          <a:xfrm>
            <a:off x="859536" y="1371600"/>
            <a:ext cx="5340096" cy="3566159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BATCH_SIZE</a:t>
            </a: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= 3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URGENT_MARGIN_S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= 20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if observation.urgent_pending and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  observation.urgent_due_in_s &lt;=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URGENT_MARGIN_S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   return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SEND_URGENT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if observation.steps_since_send &lt;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PACE_GAP_STEPS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   return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REST_DURING_GAP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if quality_ready: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   return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FLUSH_BATCH</a:t>
            </a: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if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queue</a:t>
            </a: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_size &gt;=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BATCH_SIZE</a:t>
            </a: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else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SEND_ONE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return WAIT</a:t>
            </a:r>
          </a:p>
        </p:txBody>
      </p:sp>
      <p:sp>
        <p:nvSpPr>
          <p:cNvPr id="7" name="Original branch window panel"/>
          <p:cNvSpPr/>
          <p:nvPr/>
        </p:nvSpPr>
        <p:spPr>
          <a:xfrm>
            <a:off x="6583680" y="1261872"/>
            <a:ext cx="4608576" cy="78638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8" name="Original branch window number marker"/>
          <p:cNvSpPr/>
          <p:nvPr/>
        </p:nvSpPr>
        <p:spPr>
          <a:xfrm>
            <a:off x="6711696" y="1426463"/>
            <a:ext cx="329184" cy="329184"/>
          </a:xfrm>
          <a:prstGeom prst="ellipse">
            <a:avLst/>
          </a:prstGeom>
          <a:solidFill>
            <a:srgbClr val="992A2A"/>
          </a:solidFill>
          <a:ln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riginal branch window number"/>
          <p:cNvSpPr txBox="1"/>
          <p:nvPr/>
        </p:nvSpPr>
        <p:spPr>
          <a:xfrm>
            <a:off x="6711696" y="1426463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DFKai-SB"/>
                <a:cs typeface="Times New Roman"/>
              </a:rPr>
              <a:t>1</a:t>
            </a:r>
          </a:p>
        </p:txBody>
      </p:sp>
      <p:sp>
        <p:nvSpPr>
          <p:cNvPr id="10" name="Original branch window heading"/>
          <p:cNvSpPr txBox="1"/>
          <p:nvPr/>
        </p:nvSpPr>
        <p:spPr>
          <a:xfrm>
            <a:off x="7168896" y="1353312"/>
            <a:ext cx="38770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窗口 gate（服務窗口條件）</a:t>
            </a:r>
          </a:p>
        </p:txBody>
      </p:sp>
      <p:sp>
        <p:nvSpPr>
          <p:cNvPr id="11" name="Original branch window body"/>
          <p:cNvSpPr txBox="1"/>
          <p:nvPr/>
        </p:nvSpPr>
        <p:spPr>
          <a:xfrm>
            <a:off x="7168896" y="1645919"/>
            <a:ext cx="3877056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來源：window state；值：open／closed；作用：closed 返回 SLEEP；判讀：窗口關閉時不進入 urgent。</a:t>
            </a:r>
          </a:p>
        </p:txBody>
      </p:sp>
      <p:sp>
        <p:nvSpPr>
          <p:cNvPr id="12" name="Original branch urgent panel"/>
          <p:cNvSpPr/>
          <p:nvPr/>
        </p:nvSpPr>
        <p:spPr>
          <a:xfrm>
            <a:off x="6583680" y="2139696"/>
            <a:ext cx="4608576" cy="8961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3" name="Original branch urgent number marker"/>
          <p:cNvSpPr/>
          <p:nvPr/>
        </p:nvSpPr>
        <p:spPr>
          <a:xfrm>
            <a:off x="6711696" y="2304288"/>
            <a:ext cx="329184" cy="329184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riginal branch urgent number"/>
          <p:cNvSpPr txBox="1"/>
          <p:nvPr/>
        </p:nvSpPr>
        <p:spPr>
          <a:xfrm>
            <a:off x="6711696" y="2304288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DFKai-SB"/>
                <a:cs typeface="Times New Roman"/>
              </a:rPr>
              <a:t>2</a:t>
            </a:r>
          </a:p>
        </p:txBody>
      </p:sp>
      <p:sp>
        <p:nvSpPr>
          <p:cNvPr id="15" name="Original branch urgent heading"/>
          <p:cNvSpPr txBox="1"/>
          <p:nvPr/>
        </p:nvSpPr>
        <p:spPr>
          <a:xfrm>
            <a:off x="7168896" y="2231136"/>
            <a:ext cx="38770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urgent branch（急件分支）</a:t>
            </a:r>
          </a:p>
        </p:txBody>
      </p:sp>
      <p:sp>
        <p:nvSpPr>
          <p:cNvPr id="16" name="Original branch urgent body"/>
          <p:cNvSpPr txBox="1"/>
          <p:nvPr/>
        </p:nvSpPr>
        <p:spPr>
          <a:xfrm>
            <a:off x="7168896" y="2523744"/>
            <a:ext cx="3877056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來源：urgent_pending 與 urgent_due_in_s；值：秒；作用：≤20 秒返回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SEND_URGENT</a:t>
            </a: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；判讀：它先於 pacing／batch。</a:t>
            </a:r>
          </a:p>
        </p:txBody>
      </p:sp>
      <p:sp>
        <p:nvSpPr>
          <p:cNvPr id="17" name="Original branch pacing panel"/>
          <p:cNvSpPr/>
          <p:nvPr/>
        </p:nvSpPr>
        <p:spPr>
          <a:xfrm>
            <a:off x="6583680" y="3127248"/>
            <a:ext cx="4608576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8" name="Original branch pacing number marker"/>
          <p:cNvSpPr/>
          <p:nvPr/>
        </p:nvSpPr>
        <p:spPr>
          <a:xfrm>
            <a:off x="6711696" y="3291840"/>
            <a:ext cx="329184" cy="329184"/>
          </a:xfrm>
          <a:prstGeom prst="ellipse">
            <a:avLst/>
          </a:prstGeom>
          <a:solidFill>
            <a:srgbClr val="007474"/>
          </a:solidFill>
          <a:ln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riginal branch pacing number"/>
          <p:cNvSpPr txBox="1"/>
          <p:nvPr/>
        </p:nvSpPr>
        <p:spPr>
          <a:xfrm>
            <a:off x="6711696" y="3291840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DFKai-SB"/>
                <a:cs typeface="Times New Roman"/>
              </a:rPr>
              <a:t>3</a:t>
            </a:r>
          </a:p>
        </p:txBody>
      </p:sp>
      <p:sp>
        <p:nvSpPr>
          <p:cNvPr id="20" name="Original branch pacing heading"/>
          <p:cNvSpPr txBox="1"/>
          <p:nvPr/>
        </p:nvSpPr>
        <p:spPr>
          <a:xfrm>
            <a:off x="7168896" y="3218688"/>
            <a:ext cx="38770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474"/>
                </a:solidFill>
                <a:latin typeface="Times New Roman"/>
                <a:ea typeface="DFKai-SB"/>
                <a:cs typeface="Times New Roman"/>
              </a:rPr>
              <a:t>pacing／batch（節奏／批次）</a:t>
            </a:r>
          </a:p>
        </p:txBody>
      </p:sp>
      <p:sp>
        <p:nvSpPr>
          <p:cNvPr id="21" name="Original branch pacing body"/>
          <p:cNvSpPr txBox="1"/>
          <p:nvPr/>
        </p:nvSpPr>
        <p:spPr>
          <a:xfrm>
            <a:off x="7168896" y="3511296"/>
            <a:ext cx="3877056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來源：steps_since_send、quality_ready、</a:t>
            </a:r>
            <a:r>
              <a:rPr sz="18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queue</a:t>
            </a: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_size；值：步數、布林、張數；作用：REST、</a:t>
            </a:r>
            <a:r>
              <a:rPr sz="18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FLUSH_BATCH</a:t>
            </a: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或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SEND_ONE</a:t>
            </a: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。</a:t>
            </a:r>
          </a:p>
        </p:txBody>
      </p:sp>
      <p:sp>
        <p:nvSpPr>
          <p:cNvPr id="22" name="Original branch wait panel"/>
          <p:cNvSpPr/>
          <p:nvPr/>
        </p:nvSpPr>
        <p:spPr>
          <a:xfrm>
            <a:off x="6583680" y="4133087"/>
            <a:ext cx="4608576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23" name="Original branch wait number marker"/>
          <p:cNvSpPr/>
          <p:nvPr/>
        </p:nvSpPr>
        <p:spPr>
          <a:xfrm>
            <a:off x="6711696" y="4297679"/>
            <a:ext cx="329184" cy="329184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riginal branch wait number"/>
          <p:cNvSpPr txBox="1"/>
          <p:nvPr/>
        </p:nvSpPr>
        <p:spPr>
          <a:xfrm>
            <a:off x="6711696" y="4297679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DFKai-SB"/>
                <a:cs typeface="Times New Roman"/>
              </a:rPr>
              <a:t>4</a:t>
            </a:r>
          </a:p>
        </p:txBody>
      </p:sp>
      <p:sp>
        <p:nvSpPr>
          <p:cNvPr id="25" name="Original branch wait heading"/>
          <p:cNvSpPr txBox="1"/>
          <p:nvPr/>
        </p:nvSpPr>
        <p:spPr>
          <a:xfrm>
            <a:off x="7168896" y="4224527"/>
            <a:ext cx="38770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DFKai-SB"/>
                <a:cs typeface="Times New Roman"/>
              </a:rPr>
              <a:t>WAIT（等待）</a:t>
            </a:r>
          </a:p>
        </p:txBody>
      </p:sp>
      <p:sp>
        <p:nvSpPr>
          <p:cNvPr id="26" name="Original branch wait body"/>
          <p:cNvSpPr txBox="1"/>
          <p:nvPr/>
        </p:nvSpPr>
        <p:spPr>
          <a:xfrm>
            <a:off x="7168896" y="4517136"/>
            <a:ext cx="387705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來源：前述條件均未成立；值：action 列舉；作用：保留工作等待下一個 frame；判讀：沒有新送出事件。</a:t>
            </a:r>
          </a:p>
        </p:txBody>
      </p:sp>
      <p:sp>
        <p:nvSpPr>
          <p:cNvPr id="27" name="Original branch question panel"/>
          <p:cNvSpPr/>
          <p:nvPr/>
        </p:nvSpPr>
        <p:spPr>
          <a:xfrm>
            <a:off x="749808" y="5138928"/>
            <a:ext cx="10552176" cy="256032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28" name="Original branch question text"/>
          <p:cNvSpPr txBox="1"/>
          <p:nvPr/>
        </p:nvSpPr>
        <p:spPr>
          <a:xfrm>
            <a:off x="896112" y="5193792"/>
            <a:ext cx="10259567" cy="1463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問題：urgent_due_in_s ≤ 20 且 </a:t>
            </a:r>
            <a:r>
              <a:rPr sz="1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queue</a:t>
            </a:r>
            <a:r>
              <a:rPr sz="1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_size ≥ 3 時，返回 action 是 </a:t>
            </a:r>
            <a:r>
              <a:rPr sz="1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SEND_URGENT</a:t>
            </a:r>
            <a:r>
              <a:rPr sz="1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 還是 </a:t>
            </a:r>
            <a:r>
              <a:rPr sz="1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FLUSH_BATCH</a:t>
            </a:r>
            <a:r>
              <a:rPr sz="1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P066｜第一輪 run：baseline 與 candidate 的檔案收據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Baseline run receipt panel"/>
          <p:cNvSpPr/>
          <p:nvPr/>
        </p:nvSpPr>
        <p:spPr>
          <a:xfrm>
            <a:off x="713232" y="1225296"/>
            <a:ext cx="5321808" cy="151790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6" name="Baseline run receipt number marker"/>
          <p:cNvSpPr/>
          <p:nvPr/>
        </p:nvSpPr>
        <p:spPr>
          <a:xfrm>
            <a:off x="841248" y="1389888"/>
            <a:ext cx="329184" cy="329184"/>
          </a:xfrm>
          <a:prstGeom prst="ellipse">
            <a:avLst/>
          </a:prstGeom>
          <a:solidFill>
            <a:srgbClr val="3D61B9"/>
          </a:solidFill>
          <a:ln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aseline run receipt number"/>
          <p:cNvSpPr txBox="1"/>
          <p:nvPr/>
        </p:nvSpPr>
        <p:spPr>
          <a:xfrm>
            <a:off x="841248" y="1389888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DFKai-SB"/>
                <a:cs typeface="Times New Roman"/>
              </a:rPr>
              <a:t>1</a:t>
            </a:r>
          </a:p>
        </p:txBody>
      </p:sp>
      <p:sp>
        <p:nvSpPr>
          <p:cNvPr id="8" name="Baseline run receipt heading"/>
          <p:cNvSpPr txBox="1"/>
          <p:nvPr/>
        </p:nvSpPr>
        <p:spPr>
          <a:xfrm>
            <a:off x="1298448" y="1316736"/>
            <a:ext cx="4590288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D61B9"/>
                </a:solidFill>
                <a:latin typeface="Times New Roman"/>
                <a:ea typeface="DFKai-SB"/>
                <a:cs typeface="Times New Roman"/>
              </a:rPr>
              <a:t>baseline（原始 control）</a:t>
            </a:r>
          </a:p>
        </p:txBody>
      </p:sp>
      <p:sp>
        <p:nvSpPr>
          <p:cNvPr id="9" name="Baseline run receipt body"/>
          <p:cNvSpPr txBox="1"/>
          <p:nvPr/>
        </p:nvSpPr>
        <p:spPr>
          <a:xfrm>
            <a:off x="1298448" y="1609344"/>
            <a:ext cx="4590288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命令：bash course.sh run --lab C --case baseline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policy：</a:t>
            </a:r>
            <a:r>
              <a:rPr sz="19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URGENT_MARGIN_S</a:t>
            </a:r>
            <a:r>
              <a:rPr sz="19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=20；輸出：</a:t>
            </a:r>
            <a:r>
              <a:rPr sz="19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result.json</a:t>
            </a:r>
            <a:r>
              <a:rPr sz="19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與配對 replay；用途：固定比較基準。</a:t>
            </a:r>
          </a:p>
        </p:txBody>
      </p:sp>
      <p:sp>
        <p:nvSpPr>
          <p:cNvPr id="10" name="Candidate run receipt panel"/>
          <p:cNvSpPr/>
          <p:nvPr/>
        </p:nvSpPr>
        <p:spPr>
          <a:xfrm>
            <a:off x="6199632" y="1225296"/>
            <a:ext cx="5321808" cy="151790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1" name="Candidate run receipt number marker"/>
          <p:cNvSpPr/>
          <p:nvPr/>
        </p:nvSpPr>
        <p:spPr>
          <a:xfrm>
            <a:off x="6327648" y="1389888"/>
            <a:ext cx="329184" cy="329184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ndidate run receipt number"/>
          <p:cNvSpPr txBox="1"/>
          <p:nvPr/>
        </p:nvSpPr>
        <p:spPr>
          <a:xfrm>
            <a:off x="6327648" y="1389888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DFKai-SB"/>
                <a:cs typeface="Times New Roman"/>
              </a:rPr>
              <a:t>2</a:t>
            </a:r>
          </a:p>
        </p:txBody>
      </p:sp>
      <p:sp>
        <p:nvSpPr>
          <p:cNvPr id="13" name="Candidate run receipt heading"/>
          <p:cNvSpPr txBox="1"/>
          <p:nvPr/>
        </p:nvSpPr>
        <p:spPr>
          <a:xfrm>
            <a:off x="6784848" y="1316736"/>
            <a:ext cx="4590288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candidate（修改後案例）</a:t>
            </a:r>
          </a:p>
        </p:txBody>
      </p:sp>
      <p:sp>
        <p:nvSpPr>
          <p:cNvPr id="14" name="Candidate run receipt body"/>
          <p:cNvSpPr txBox="1"/>
          <p:nvPr/>
        </p:nvSpPr>
        <p:spPr>
          <a:xfrm>
            <a:off x="6784848" y="1609344"/>
            <a:ext cx="4590288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命令：bash course.sh run --lab C --case candidate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policy：完成 margin=5 edit；輸出：</a:t>
            </a:r>
            <a:r>
              <a:rPr sz="19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result.json</a:t>
            </a:r>
            <a:r>
              <a:rPr sz="19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與配對 replay；用途：對照唯一 edit 的結果。</a:t>
            </a:r>
          </a:p>
        </p:txBody>
      </p:sp>
      <p:cxnSp>
        <p:nvCxnSpPr>
          <p:cNvPr id="15" name="Editable connector"/>
          <p:cNvCxnSpPr/>
          <p:nvPr/>
        </p:nvCxnSpPr>
        <p:spPr>
          <a:xfrm>
            <a:off x="6016752" y="1993392"/>
            <a:ext cx="164592" cy="0"/>
          </a:xfrm>
          <a:prstGeom prst="line">
            <a:avLst/>
          </a:prstGeom>
          <a:ln w="2286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un result path panel"/>
          <p:cNvSpPr/>
          <p:nvPr/>
        </p:nvSpPr>
        <p:spPr>
          <a:xfrm>
            <a:off x="694944" y="3017520"/>
            <a:ext cx="10716768" cy="67665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7" name="Run result path label"/>
          <p:cNvSpPr txBox="1"/>
          <p:nvPr/>
        </p:nvSpPr>
        <p:spPr>
          <a:xfrm>
            <a:off x="804672" y="3108960"/>
            <a:ext cx="1993391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474"/>
                </a:solidFill>
                <a:latin typeface="Times New Roman"/>
                <a:ea typeface="DFKai-SB"/>
                <a:cs typeface="Times New Roman"/>
              </a:rPr>
              <a:t>result_path</a:t>
            </a:r>
            <a:r>
              <a:rPr sz="2000" b="1" i="0">
                <a:solidFill>
                  <a:srgbClr val="007474"/>
                </a:solidFill>
                <a:latin typeface="Times New Roman"/>
                <a:ea typeface="DFKai-SB"/>
                <a:cs typeface="Times New Roman"/>
              </a:rPr>
              <a:t>（結果路徑）</a:t>
            </a:r>
          </a:p>
        </p:txBody>
      </p:sp>
      <p:sp>
        <p:nvSpPr>
          <p:cNvPr id="18" name="Run result path explanation"/>
          <p:cNvSpPr txBox="1"/>
          <p:nvPr/>
        </p:nvSpPr>
        <p:spPr>
          <a:xfrm>
            <a:off x="2871215" y="3090672"/>
            <a:ext cx="841248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來源：terminal runner stdout；值：檔案路徑；作用：定位本次 </a:t>
            </a:r>
            <a:r>
              <a:rPr sz="19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result.json</a:t>
            </a:r>
            <a:r>
              <a:rPr sz="19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；判讀：路徑與 case identity 配對。</a:t>
            </a:r>
          </a:p>
        </p:txBody>
      </p:sp>
      <p:sp>
        <p:nvSpPr>
          <p:cNvPr id="19" name="Run replay panel"/>
          <p:cNvSpPr/>
          <p:nvPr/>
        </p:nvSpPr>
        <p:spPr>
          <a:xfrm>
            <a:off x="694944" y="3822191"/>
            <a:ext cx="10716768" cy="67665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20" name="Run replay label"/>
          <p:cNvSpPr txBox="1"/>
          <p:nvPr/>
        </p:nvSpPr>
        <p:spPr>
          <a:xfrm>
            <a:off x="804672" y="3913631"/>
            <a:ext cx="1993391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DFKai-SB"/>
                <a:cs typeface="Times New Roman"/>
              </a:rPr>
              <a:t>replay（事件重播）</a:t>
            </a:r>
          </a:p>
        </p:txBody>
      </p:sp>
      <p:sp>
        <p:nvSpPr>
          <p:cNvPr id="21" name="Run replay explanation"/>
          <p:cNvSpPr txBox="1"/>
          <p:nvPr/>
        </p:nvSpPr>
        <p:spPr>
          <a:xfrm>
            <a:off x="2871215" y="3895344"/>
            <a:ext cx="841248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來源：同一 run 的事件檔；值：frame 序列；作用：回看 action、packet、</a:t>
            </a:r>
            <a:r>
              <a:rPr sz="19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service</a:t>
            </a:r>
            <a:r>
              <a:rPr sz="19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；判讀：事件鏈支撐 J 的因果解讀。</a:t>
            </a:r>
          </a:p>
        </p:txBody>
      </p:sp>
      <p:sp>
        <p:nvSpPr>
          <p:cNvPr id="22" name="Run receipt interpretation panel"/>
          <p:cNvSpPr/>
          <p:nvPr/>
        </p:nvSpPr>
        <p:spPr>
          <a:xfrm>
            <a:off x="749808" y="4663440"/>
            <a:ext cx="10552176" cy="585216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23" name="Run receipt interpretation text"/>
          <p:cNvSpPr txBox="1"/>
          <p:nvPr/>
        </p:nvSpPr>
        <p:spPr>
          <a:xfrm>
            <a:off x="896112" y="4718303"/>
            <a:ext cx="10259567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操作結果：命令完成即保存 stdout 的 </a:t>
            </a:r>
            <a:r>
              <a:rPr sz="20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result_path</a:t>
            </a:r>
            <a:r>
              <a:rPr sz="20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；run receipt 只定位 artifact，結果判讀使用 </a:t>
            </a:r>
            <a:r>
              <a:rPr sz="20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service</a:t>
            </a:r>
            <a:r>
              <a:rPr sz="20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、</a:t>
            </a:r>
            <a:r>
              <a:rPr sz="20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deadline</a:t>
            </a:r>
            <a:r>
              <a:rPr sz="20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 與 replay。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P067｜exact edit 1：急件門檻由 20 秒改為 5 秒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Edit one before code panel"/>
          <p:cNvSpPr/>
          <p:nvPr/>
        </p:nvSpPr>
        <p:spPr>
          <a:xfrm>
            <a:off x="713232" y="1243584"/>
            <a:ext cx="5212080" cy="84124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6" name="Edit one before code text"/>
          <p:cNvSpPr txBox="1"/>
          <p:nvPr/>
        </p:nvSpPr>
        <p:spPr>
          <a:xfrm>
            <a:off x="877824" y="1371600"/>
            <a:ext cx="4882896" cy="58521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修改前：</a:t>
            </a:r>
            <a:r>
              <a:rPr sz="20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URGENT_MARGIN_S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= 20</a:t>
            </a:r>
          </a:p>
        </p:txBody>
      </p:sp>
      <p:sp>
        <p:nvSpPr>
          <p:cNvPr id="7" name="Edit one after code panel"/>
          <p:cNvSpPr/>
          <p:nvPr/>
        </p:nvSpPr>
        <p:spPr>
          <a:xfrm>
            <a:off x="6199632" y="1243584"/>
            <a:ext cx="5212080" cy="84124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8" name="Edit one after code text"/>
          <p:cNvSpPr txBox="1"/>
          <p:nvPr/>
        </p:nvSpPr>
        <p:spPr>
          <a:xfrm>
            <a:off x="6364224" y="1371600"/>
            <a:ext cx="4882896" cy="58521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修改後：</a:t>
            </a:r>
            <a:r>
              <a:rPr sz="20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URGENT_MARGIN_S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= 5</a:t>
            </a:r>
          </a:p>
        </p:txBody>
      </p:sp>
      <p:sp>
        <p:nvSpPr>
          <p:cNvPr id="9" name="Edit one field definition panel"/>
          <p:cNvSpPr/>
          <p:nvPr/>
        </p:nvSpPr>
        <p:spPr>
          <a:xfrm>
            <a:off x="694944" y="2304288"/>
            <a:ext cx="10716768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0" name="Edit one field definition label"/>
          <p:cNvSpPr txBox="1"/>
          <p:nvPr/>
        </p:nvSpPr>
        <p:spPr>
          <a:xfrm>
            <a:off x="804672" y="2395728"/>
            <a:ext cx="2121408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URGENT_MARGIN_S</a:t>
            </a:r>
            <a:r>
              <a:rPr sz="20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（急件門檻）</a:t>
            </a:r>
          </a:p>
        </p:txBody>
      </p:sp>
      <p:sp>
        <p:nvSpPr>
          <p:cNvPr id="11" name="Edit one field definition explanation"/>
          <p:cNvSpPr txBox="1"/>
          <p:nvPr/>
        </p:nvSpPr>
        <p:spPr>
          <a:xfrm>
            <a:off x="2999232" y="2377440"/>
            <a:ext cx="8284464" cy="6949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來源：</a:t>
            </a:r>
            <a:r>
              <a:rPr sz="19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student_policy.py</a:t>
            </a:r>
            <a:r>
              <a:rPr sz="19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marked line；值：秒；作用：比較 urgent_due_in_s 與剩餘秒數；判讀：5 秒使 </a:t>
            </a:r>
            <a:r>
              <a:rPr sz="19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SEND_URGENT</a:t>
            </a:r>
            <a:r>
              <a:rPr sz="19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更接近期限。</a:t>
            </a:r>
          </a:p>
        </p:txBody>
      </p:sp>
      <p:sp>
        <p:nvSpPr>
          <p:cNvPr id="12" name="Edit one observation definition panel"/>
          <p:cNvSpPr/>
          <p:nvPr/>
        </p:nvSpPr>
        <p:spPr>
          <a:xfrm>
            <a:off x="694944" y="3273552"/>
            <a:ext cx="10716768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3" name="Edit one observation definition label"/>
          <p:cNvSpPr txBox="1"/>
          <p:nvPr/>
        </p:nvSpPr>
        <p:spPr>
          <a:xfrm>
            <a:off x="804672" y="3364992"/>
            <a:ext cx="2121408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474"/>
                </a:solidFill>
                <a:latin typeface="Times New Roman"/>
                <a:ea typeface="DFKai-SB"/>
                <a:cs typeface="Times New Roman"/>
              </a:rPr>
              <a:t>urgent_due_in_s（剩餘秒數）</a:t>
            </a:r>
          </a:p>
        </p:txBody>
      </p:sp>
      <p:sp>
        <p:nvSpPr>
          <p:cNvPr id="14" name="Edit one observation definition explanation"/>
          <p:cNvSpPr txBox="1"/>
          <p:nvPr/>
        </p:nvSpPr>
        <p:spPr>
          <a:xfrm>
            <a:off x="2999232" y="3346704"/>
            <a:ext cx="8284464" cy="6949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來源：observation；值：秒；作用：提供分支判斷輸入；判讀：數值進入門檻範圍時才產生 urgent action。</a:t>
            </a:r>
          </a:p>
        </p:txBody>
      </p:sp>
      <p:sp>
        <p:nvSpPr>
          <p:cNvPr id="15" name="Edit one before sentence panel"/>
          <p:cNvSpPr/>
          <p:nvPr/>
        </p:nvSpPr>
        <p:spPr>
          <a:xfrm>
            <a:off x="749808" y="4315968"/>
            <a:ext cx="10552176" cy="56692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6" name="Edit one before sentence text"/>
          <p:cNvSpPr txBox="1"/>
          <p:nvPr/>
        </p:nvSpPr>
        <p:spPr>
          <a:xfrm>
            <a:off x="896112" y="4370831"/>
            <a:ext cx="10259567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修改前完整句：20 秒使較早的 urgent work 進入 </a:t>
            </a:r>
            <a:r>
              <a:rPr sz="19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SEND_URGENT</a:t>
            </a:r>
            <a:r>
              <a:rPr sz="19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。問題：此 action 的送出時點距離 </a:t>
            </a:r>
            <a:r>
              <a:rPr sz="19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deadline</a:t>
            </a:r>
            <a:r>
              <a:rPr sz="19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 多遠？</a:t>
            </a:r>
          </a:p>
        </p:txBody>
      </p:sp>
      <p:sp>
        <p:nvSpPr>
          <p:cNvPr id="17" name="Edit one after sentence panel"/>
          <p:cNvSpPr/>
          <p:nvPr/>
        </p:nvSpPr>
        <p:spPr>
          <a:xfrm>
            <a:off x="749808" y="4937760"/>
            <a:ext cx="10552176" cy="38404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8" name="Edit one after sentence text"/>
          <p:cNvSpPr txBox="1"/>
          <p:nvPr/>
        </p:nvSpPr>
        <p:spPr>
          <a:xfrm>
            <a:off x="896112" y="4992624"/>
            <a:ext cx="10259567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修改後完整句：5 秒把 urgent 觸發推近期限。問題：</a:t>
            </a:r>
            <a:r>
              <a:rPr sz="19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service</a:t>
            </a:r>
            <a:r>
              <a:rPr sz="19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 與 </a:t>
            </a:r>
            <a:r>
              <a:rPr sz="19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deadline</a:t>
            </a:r>
            <a:r>
              <a:rPr sz="19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 的結果是否仍通過？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P068｜margin 5：四個可觀察欄位的預測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Margin five prediction panel"/>
          <p:cNvSpPr/>
          <p:nvPr/>
        </p:nvSpPr>
        <p:spPr>
          <a:xfrm>
            <a:off x="694944" y="1261872"/>
            <a:ext cx="10716768" cy="67665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6" name="Margin five prediction label"/>
          <p:cNvSpPr txBox="1"/>
          <p:nvPr/>
        </p:nvSpPr>
        <p:spPr>
          <a:xfrm>
            <a:off x="804672" y="1353312"/>
            <a:ext cx="2176272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D61B9"/>
                </a:solidFill>
                <a:latin typeface="Times New Roman"/>
                <a:ea typeface="DFKai-SB"/>
                <a:cs typeface="Times New Roman"/>
              </a:rPr>
              <a:t>action timing（動作時點）</a:t>
            </a:r>
          </a:p>
        </p:txBody>
      </p:sp>
      <p:sp>
        <p:nvSpPr>
          <p:cNvPr id="7" name="Margin five prediction explanation"/>
          <p:cNvSpPr txBox="1"/>
          <p:nvPr/>
        </p:nvSpPr>
        <p:spPr>
          <a:xfrm>
            <a:off x="3054096" y="1335024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來源：event trace；值：frame／時間序列；作用：定位 </a:t>
            </a:r>
            <a:r>
              <a:rPr sz="19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SEND_URGENT</a:t>
            </a:r>
            <a:r>
              <a:rPr sz="19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；判讀：預測較晚觸發。</a:t>
            </a:r>
          </a:p>
        </p:txBody>
      </p:sp>
      <p:sp>
        <p:nvSpPr>
          <p:cNvPr id="8" name="Margin five prediction panel"/>
          <p:cNvSpPr/>
          <p:nvPr/>
        </p:nvSpPr>
        <p:spPr>
          <a:xfrm>
            <a:off x="694944" y="2066543"/>
            <a:ext cx="10716768" cy="67665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9" name="Margin five prediction label"/>
          <p:cNvSpPr txBox="1"/>
          <p:nvPr/>
        </p:nvSpPr>
        <p:spPr>
          <a:xfrm>
            <a:off x="804672" y="2157984"/>
            <a:ext cx="2176272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queue</a:t>
            </a:r>
            <a:r>
              <a:rPr sz="20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 packet（佇列／封包）</a:t>
            </a:r>
          </a:p>
        </p:txBody>
      </p:sp>
      <p:sp>
        <p:nvSpPr>
          <p:cNvPr id="10" name="Margin five prediction explanation"/>
          <p:cNvSpPr txBox="1"/>
          <p:nvPr/>
        </p:nvSpPr>
        <p:spPr>
          <a:xfrm>
            <a:off x="3054096" y="2139696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來源：</a:t>
            </a:r>
            <a:r>
              <a:rPr sz="19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queue</a:t>
            </a:r>
            <a:r>
              <a:rPr sz="19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與 packet event；值：count、bit；作用：讀等待與送達；判讀：晚送可能增加期限壓力。</a:t>
            </a:r>
          </a:p>
        </p:txBody>
      </p:sp>
      <p:sp>
        <p:nvSpPr>
          <p:cNvPr id="11" name="Margin five prediction panel"/>
          <p:cNvSpPr/>
          <p:nvPr/>
        </p:nvSpPr>
        <p:spPr>
          <a:xfrm>
            <a:off x="694944" y="2871215"/>
            <a:ext cx="10716768" cy="67665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2" name="Margin five prediction label"/>
          <p:cNvSpPr txBox="1"/>
          <p:nvPr/>
        </p:nvSpPr>
        <p:spPr>
          <a:xfrm>
            <a:off x="804672" y="2962656"/>
            <a:ext cx="2176272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service</a:t>
            </a:r>
            <a:r>
              <a:rPr sz="20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 </a:t>
            </a:r>
            <a:r>
              <a:rPr sz="20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deadline</a:t>
            </a:r>
            <a:r>
              <a:rPr sz="20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（服務／期限）</a:t>
            </a:r>
          </a:p>
        </p:txBody>
      </p:sp>
      <p:sp>
        <p:nvSpPr>
          <p:cNvPr id="13" name="Margin five prediction explanation"/>
          <p:cNvSpPr txBox="1"/>
          <p:nvPr/>
        </p:nvSpPr>
        <p:spPr>
          <a:xfrm>
            <a:off x="3054096" y="2944368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來源：result summary；值：PASS／FAIL；作用：定義工作結果；判讀：任一 FAIL 改變節能解讀。</a:t>
            </a:r>
          </a:p>
        </p:txBody>
      </p:sp>
      <p:sp>
        <p:nvSpPr>
          <p:cNvPr id="14" name="Margin five prediction panel"/>
          <p:cNvSpPr/>
          <p:nvPr/>
        </p:nvSpPr>
        <p:spPr>
          <a:xfrm>
            <a:off x="694944" y="3675887"/>
            <a:ext cx="10716768" cy="67665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5" name="Margin five prediction label"/>
          <p:cNvSpPr txBox="1"/>
          <p:nvPr/>
        </p:nvSpPr>
        <p:spPr>
          <a:xfrm>
            <a:off x="804672" y="3767327"/>
            <a:ext cx="2176272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DFKai-SB"/>
                <a:cs typeface="Times New Roman"/>
              </a:rPr>
              <a:t>endpoint J</a:t>
            </a:r>
            <a:r>
              <a:rPr sz="2000" b="1" i="0">
                <a:solidFill>
                  <a:srgbClr val="846826"/>
                </a:solidFill>
                <a:latin typeface="Times New Roman"/>
                <a:ea typeface="DFKai-SB"/>
                <a:cs typeface="Times New Roman"/>
              </a:rPr>
              <a:t>（端點能量）</a:t>
            </a:r>
          </a:p>
        </p:txBody>
      </p:sp>
      <p:sp>
        <p:nvSpPr>
          <p:cNvPr id="16" name="Margin five prediction explanation"/>
          <p:cNvSpPr txBox="1"/>
          <p:nvPr/>
        </p:nvSpPr>
        <p:spPr>
          <a:xfrm>
            <a:off x="3054096" y="3749039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來源：endpoint ledger；單位：J；作用：描述端點代價；判讀：少 J 需與送達及 gate 一起讀。</a:t>
            </a:r>
          </a:p>
        </p:txBody>
      </p:sp>
      <p:sp>
        <p:nvSpPr>
          <p:cNvPr id="17" name="Margin five prediction sentence panel"/>
          <p:cNvSpPr/>
          <p:nvPr/>
        </p:nvSpPr>
        <p:spPr>
          <a:xfrm>
            <a:off x="749808" y="4590288"/>
            <a:ext cx="10552176" cy="51206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8" name="Margin five prediction sentence text"/>
          <p:cNvSpPr txBox="1"/>
          <p:nvPr/>
        </p:nvSpPr>
        <p:spPr>
          <a:xfrm>
            <a:off x="896112" y="4645151"/>
            <a:ext cx="10259567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完整句：margin 5 的機制預測是 urgent 較晚、早期 TX／wake 可能減少，但 delivery 或 </a:t>
            </a:r>
            <a:r>
              <a:rPr sz="20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deadline</a:t>
            </a:r>
            <a:r>
              <a:rPr sz="20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 可能失敗。</a:t>
            </a:r>
          </a:p>
        </p:txBody>
      </p:sp>
      <p:sp>
        <p:nvSpPr>
          <p:cNvPr id="19" name="Margin five prediction question panel"/>
          <p:cNvSpPr/>
          <p:nvPr/>
        </p:nvSpPr>
        <p:spPr>
          <a:xfrm>
            <a:off x="749808" y="5157216"/>
            <a:ext cx="10552176" cy="256032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20" name="Margin five prediction question text"/>
          <p:cNvSpPr txBox="1"/>
          <p:nvPr/>
        </p:nvSpPr>
        <p:spPr>
          <a:xfrm>
            <a:off x="896112" y="5212079"/>
            <a:ext cx="10259567" cy="1463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問題：哪一個 gate 結果會改變『只是節能』的判讀？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P069｜baseline 與 candidate：gate-first 的比較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Comparison Chinese header"/>
          <p:cNvSpPr/>
          <p:nvPr/>
        </p:nvSpPr>
        <p:spPr>
          <a:xfrm>
            <a:off x="694944" y="1225296"/>
            <a:ext cx="1865376" cy="310896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案例／來源</a:t>
            </a:r>
          </a:p>
        </p:txBody>
      </p:sp>
      <p:sp>
        <p:nvSpPr>
          <p:cNvPr id="6" name="Comparison Chinese header"/>
          <p:cNvSpPr/>
          <p:nvPr/>
        </p:nvSpPr>
        <p:spPr>
          <a:xfrm>
            <a:off x="2615184" y="1225296"/>
            <a:ext cx="1920240" cy="310896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服務結果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service</a:t>
            </a:r>
          </a:p>
        </p:txBody>
      </p:sp>
      <p:sp>
        <p:nvSpPr>
          <p:cNvPr id="7" name="Comparison Chinese header"/>
          <p:cNvSpPr/>
          <p:nvPr/>
        </p:nvSpPr>
        <p:spPr>
          <a:xfrm>
            <a:off x="4590288" y="1225296"/>
            <a:ext cx="1920240" cy="310896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期限結果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deadline</a:t>
            </a:r>
          </a:p>
        </p:txBody>
      </p:sp>
      <p:sp>
        <p:nvSpPr>
          <p:cNvPr id="8" name="Comparison Chinese header"/>
          <p:cNvSpPr/>
          <p:nvPr/>
        </p:nvSpPr>
        <p:spPr>
          <a:xfrm>
            <a:off x="6565392" y="1225296"/>
            <a:ext cx="1865376" cy="310896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已送達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delivered bits</a:t>
            </a:r>
          </a:p>
        </p:txBody>
      </p:sp>
      <p:sp>
        <p:nvSpPr>
          <p:cNvPr id="9" name="Comparison Chinese header"/>
          <p:cNvSpPr/>
          <p:nvPr/>
        </p:nvSpPr>
        <p:spPr>
          <a:xfrm>
            <a:off x="8485632" y="1225296"/>
            <a:ext cx="1920240" cy="310896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端點能量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endpoint J</a:t>
            </a:r>
          </a:p>
        </p:txBody>
      </p:sp>
      <p:sp>
        <p:nvSpPr>
          <p:cNvPr id="10" name="Comparison Chinese header"/>
          <p:cNvSpPr/>
          <p:nvPr/>
        </p:nvSpPr>
        <p:spPr>
          <a:xfrm>
            <a:off x="10460736" y="1225296"/>
            <a:ext cx="2340864" cy="310896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能量效率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bit/J</a:t>
            </a:r>
          </a:p>
        </p:txBody>
      </p:sp>
      <p:sp>
        <p:nvSpPr>
          <p:cNvPr id="11" name="Comparison value"/>
          <p:cNvSpPr/>
          <p:nvPr/>
        </p:nvSpPr>
        <p:spPr>
          <a:xfrm>
            <a:off x="694944" y="1883664"/>
            <a:ext cx="1865376" cy="768096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D61B9"/>
                </a:solidFill>
                <a:latin typeface="Times New Roman"/>
                <a:ea typeface="DFKai-SB"/>
                <a:cs typeface="Times New Roman"/>
              </a:rPr>
              <a:t>baseline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D61B9"/>
                </a:solidFill>
                <a:latin typeface="Times New Roman"/>
                <a:ea typeface="DFKai-SB"/>
                <a:cs typeface="Times New Roman"/>
              </a:rPr>
              <a:t>固定原始 control</a:t>
            </a:r>
          </a:p>
        </p:txBody>
      </p:sp>
      <p:sp>
        <p:nvSpPr>
          <p:cNvPr id="12" name="Comparison value"/>
          <p:cNvSpPr/>
          <p:nvPr/>
        </p:nvSpPr>
        <p:spPr>
          <a:xfrm>
            <a:off x="2615184" y="1883664"/>
            <a:ext cx="1920240" cy="768096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PASS</a:t>
            </a:r>
          </a:p>
        </p:txBody>
      </p:sp>
      <p:sp>
        <p:nvSpPr>
          <p:cNvPr id="13" name="Comparison value"/>
          <p:cNvSpPr/>
          <p:nvPr/>
        </p:nvSpPr>
        <p:spPr>
          <a:xfrm>
            <a:off x="4590288" y="1883664"/>
            <a:ext cx="1920240" cy="768096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PASS</a:t>
            </a:r>
          </a:p>
        </p:txBody>
      </p:sp>
      <p:sp>
        <p:nvSpPr>
          <p:cNvPr id="14" name="Comparison value"/>
          <p:cNvSpPr/>
          <p:nvPr/>
        </p:nvSpPr>
        <p:spPr>
          <a:xfrm>
            <a:off x="6565392" y="1883664"/>
            <a:ext cx="1865376" cy="768096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10,400 bit</a:t>
            </a:r>
          </a:p>
        </p:txBody>
      </p:sp>
      <p:sp>
        <p:nvSpPr>
          <p:cNvPr id="15" name="Comparison value"/>
          <p:cNvSpPr/>
          <p:nvPr/>
        </p:nvSpPr>
        <p:spPr>
          <a:xfrm>
            <a:off x="8485632" y="1883664"/>
            <a:ext cx="1920240" cy="768096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10.66 J</a:t>
            </a:r>
          </a:p>
        </p:txBody>
      </p:sp>
      <p:sp>
        <p:nvSpPr>
          <p:cNvPr id="16" name="Comparison value"/>
          <p:cNvSpPr/>
          <p:nvPr/>
        </p:nvSpPr>
        <p:spPr>
          <a:xfrm>
            <a:off x="10460736" y="1883664"/>
            <a:ext cx="2340864" cy="768096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975.609756 </a:t>
            </a:r>
            <a:r>
              <a:rPr sz="1900" b="1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bit/J</a:t>
            </a:r>
          </a:p>
        </p:txBody>
      </p:sp>
      <p:sp>
        <p:nvSpPr>
          <p:cNvPr id="17" name="Comparison value"/>
          <p:cNvSpPr/>
          <p:nvPr/>
        </p:nvSpPr>
        <p:spPr>
          <a:xfrm>
            <a:off x="694944" y="2889504"/>
            <a:ext cx="1865376" cy="768096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candidate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同情境 </a:t>
            </a:r>
            <a:r>
              <a:rPr sz="19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fallback</a:t>
            </a:r>
          </a:p>
        </p:txBody>
      </p:sp>
      <p:sp>
        <p:nvSpPr>
          <p:cNvPr id="18" name="Comparison value"/>
          <p:cNvSpPr/>
          <p:nvPr/>
        </p:nvSpPr>
        <p:spPr>
          <a:xfrm>
            <a:off x="2615184" y="2889504"/>
            <a:ext cx="1920240" cy="768096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FAIL</a:t>
            </a:r>
          </a:p>
        </p:txBody>
      </p:sp>
      <p:sp>
        <p:nvSpPr>
          <p:cNvPr id="19" name="Comparison value"/>
          <p:cNvSpPr/>
          <p:nvPr/>
        </p:nvSpPr>
        <p:spPr>
          <a:xfrm>
            <a:off x="4590288" y="2889504"/>
            <a:ext cx="1920240" cy="768096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FAIL</a:t>
            </a:r>
          </a:p>
        </p:txBody>
      </p:sp>
      <p:sp>
        <p:nvSpPr>
          <p:cNvPr id="20" name="Comparison value"/>
          <p:cNvSpPr/>
          <p:nvPr/>
        </p:nvSpPr>
        <p:spPr>
          <a:xfrm>
            <a:off x="6565392" y="2889504"/>
            <a:ext cx="1865376" cy="768096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9,600 bit</a:t>
            </a:r>
          </a:p>
        </p:txBody>
      </p:sp>
      <p:sp>
        <p:nvSpPr>
          <p:cNvPr id="21" name="Comparison value"/>
          <p:cNvSpPr/>
          <p:nvPr/>
        </p:nvSpPr>
        <p:spPr>
          <a:xfrm>
            <a:off x="8485632" y="2889504"/>
            <a:ext cx="1920240" cy="768096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9.74 J</a:t>
            </a:r>
          </a:p>
        </p:txBody>
      </p:sp>
      <p:sp>
        <p:nvSpPr>
          <p:cNvPr id="22" name="Comparison value"/>
          <p:cNvSpPr/>
          <p:nvPr/>
        </p:nvSpPr>
        <p:spPr>
          <a:xfrm>
            <a:off x="10460736" y="2889504"/>
            <a:ext cx="2340864" cy="768096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985.626283 </a:t>
            </a:r>
            <a:r>
              <a:rPr sz="1900" b="1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bit/J</a:t>
            </a:r>
          </a:p>
        </p:txBody>
      </p:sp>
      <p:sp>
        <p:nvSpPr>
          <p:cNvPr id="23" name="Evidence source label"/>
          <p:cNvSpPr txBox="1"/>
          <p:nvPr/>
        </p:nvSpPr>
        <p:spPr>
          <a:xfrm>
            <a:off x="822960" y="4041648"/>
            <a:ext cx="1022299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DFKai-SB"/>
                <a:cs typeface="Times New Roman"/>
              </a:rPr>
              <a:t>資料來源：同情境 deterministic </a:t>
            </a:r>
            <a:r>
              <a:rPr sz="1800" b="0" i="0">
                <a:solidFill>
                  <a:srgbClr val="5A5E6F"/>
                </a:solidFill>
                <a:latin typeface="Times New Roman"/>
                <a:ea typeface="DFKai-SB"/>
                <a:cs typeface="Times New Roman"/>
              </a:rPr>
              <a:t>fallback</a:t>
            </a:r>
            <a:r>
              <a:rPr sz="1800" b="0" i="0">
                <a:solidFill>
                  <a:srgbClr val="5A5E6F"/>
                </a:solidFill>
                <a:latin typeface="Times New Roman"/>
                <a:ea typeface="DFKai-SB"/>
                <a:cs typeface="Times New Roman"/>
              </a:rPr>
              <a:t>；固定 scenario、policy edit 與 endpoint scope。</a:t>
            </a:r>
          </a:p>
        </p:txBody>
      </p:sp>
      <p:sp>
        <p:nvSpPr>
          <p:cNvPr id="24" name="Comparison interpretation panel"/>
          <p:cNvSpPr/>
          <p:nvPr/>
        </p:nvSpPr>
        <p:spPr>
          <a:xfrm>
            <a:off x="749808" y="4407408"/>
            <a:ext cx="10552176" cy="530352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25" name="Comparison interpretation text"/>
          <p:cNvSpPr txBox="1"/>
          <p:nvPr/>
        </p:nvSpPr>
        <p:spPr>
          <a:xfrm>
            <a:off x="896112" y="4462272"/>
            <a:ext cx="10259567" cy="420623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判讀句：candidate 少交付 800 bit 且 </a:t>
            </a:r>
            <a:r>
              <a:rPr sz="21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service</a:t>
            </a:r>
            <a:r>
              <a:rPr sz="21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／</a:t>
            </a:r>
            <a:r>
              <a:rPr sz="21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deadline</a:t>
            </a:r>
            <a:r>
              <a:rPr sz="21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 FAIL；較高 </a:t>
            </a:r>
            <a:r>
              <a:rPr sz="21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bit/J</a:t>
            </a:r>
            <a:r>
              <a:rPr sz="21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 不改寫 gate 結果。</a:t>
            </a:r>
          </a:p>
        </p:txBody>
      </p:sp>
      <p:sp>
        <p:nvSpPr>
          <p:cNvPr id="26" name="Comparison question panel"/>
          <p:cNvSpPr/>
          <p:nvPr/>
        </p:nvSpPr>
        <p:spPr>
          <a:xfrm>
            <a:off x="749808" y="4992624"/>
            <a:ext cx="10552176" cy="32918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27" name="Comparison question text"/>
          <p:cNvSpPr txBox="1"/>
          <p:nvPr/>
        </p:nvSpPr>
        <p:spPr>
          <a:xfrm>
            <a:off x="896112" y="5047488"/>
            <a:ext cx="10259567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問題：閱讀這五個欄位時，哪兩欄決定工作是否完成？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P070｜exact edit 2：急件門檻由 5 秒修訂為 30 秒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Revision candidate state"/>
          <p:cNvSpPr/>
          <p:nvPr/>
        </p:nvSpPr>
        <p:spPr>
          <a:xfrm>
            <a:off x="749808" y="1261872"/>
            <a:ext cx="3182112" cy="3328416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6" name="Revision candidate heading"/>
          <p:cNvSpPr txBox="1"/>
          <p:nvPr/>
        </p:nvSpPr>
        <p:spPr>
          <a:xfrm>
            <a:off x="950976" y="1481328"/>
            <a:ext cx="2779776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candidate（待修訂狀態）</a:t>
            </a:r>
          </a:p>
        </p:txBody>
      </p:sp>
      <p:sp>
        <p:nvSpPr>
          <p:cNvPr id="7" name="Revision candidate values"/>
          <p:cNvSpPr txBox="1"/>
          <p:nvPr/>
        </p:nvSpPr>
        <p:spPr>
          <a:xfrm>
            <a:off x="987552" y="2084831"/>
            <a:ext cx="2706624" cy="1042415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URGENT_MARGIN_S</a:t>
            </a:r>
            <a:r>
              <a:rPr sz="2200" b="1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= 5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service</a:t>
            </a:r>
            <a:r>
              <a:rPr sz="2200" b="1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= FAIL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deadline</a:t>
            </a:r>
            <a:r>
              <a:rPr sz="2200" b="1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= FAIL</a:t>
            </a:r>
          </a:p>
        </p:txBody>
      </p:sp>
      <p:sp>
        <p:nvSpPr>
          <p:cNvPr id="8" name="Revision candidate explanation"/>
          <p:cNvSpPr txBox="1"/>
          <p:nvPr/>
        </p:nvSpPr>
        <p:spPr>
          <a:xfrm>
            <a:off x="969264" y="3493008"/>
            <a:ext cx="2743200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來源：P069 的同情境 </a:t>
            </a:r>
            <a:r>
              <a:rPr sz="19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fallback</a:t>
            </a:r>
            <a:r>
              <a:rPr sz="19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。作用：保留失敗條件，作為 revision 的比較輸入。</a:t>
            </a:r>
          </a:p>
        </p:txBody>
      </p:sp>
      <p:cxnSp>
        <p:nvCxnSpPr>
          <p:cNvPr id="9" name="Editable connector"/>
          <p:cNvCxnSpPr/>
          <p:nvPr/>
        </p:nvCxnSpPr>
        <p:spPr>
          <a:xfrm>
            <a:off x="4096512" y="2926080"/>
            <a:ext cx="530352" cy="0"/>
          </a:xfrm>
          <a:prstGeom prst="line">
            <a:avLst/>
          </a:prstGeom>
          <a:ln w="2540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vision edit state"/>
          <p:cNvSpPr/>
          <p:nvPr/>
        </p:nvSpPr>
        <p:spPr>
          <a:xfrm>
            <a:off x="4773168" y="1261872"/>
            <a:ext cx="6437376" cy="3328416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1" name="Revision heading"/>
          <p:cNvSpPr txBox="1"/>
          <p:nvPr/>
        </p:nvSpPr>
        <p:spPr>
          <a:xfrm>
            <a:off x="5047488" y="1481328"/>
            <a:ext cx="5888736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007474"/>
                </a:solidFill>
                <a:latin typeface="Times New Roman"/>
                <a:ea typeface="DFKai-SB"/>
                <a:cs typeface="Times New Roman"/>
              </a:rPr>
              <a:t>revision（修訂 policy）：唯一 marked line</a:t>
            </a:r>
          </a:p>
        </p:txBody>
      </p:sp>
      <p:sp>
        <p:nvSpPr>
          <p:cNvPr id="12" name="Revision exact line panel"/>
          <p:cNvSpPr/>
          <p:nvPr/>
        </p:nvSpPr>
        <p:spPr>
          <a:xfrm>
            <a:off x="5138928" y="2048256"/>
            <a:ext cx="5705856" cy="74980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3" name="Revision exact line text"/>
          <p:cNvSpPr txBox="1"/>
          <p:nvPr/>
        </p:nvSpPr>
        <p:spPr>
          <a:xfrm>
            <a:off x="5303520" y="2176272"/>
            <a:ext cx="5376672" cy="493775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URGENT_MARGIN_S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= 30</a:t>
            </a:r>
          </a:p>
        </p:txBody>
      </p:sp>
      <p:sp>
        <p:nvSpPr>
          <p:cNvPr id="14" name="Revision field explanation"/>
          <p:cNvSpPr txBox="1"/>
          <p:nvPr/>
        </p:nvSpPr>
        <p:spPr>
          <a:xfrm>
            <a:off x="5084064" y="2999232"/>
            <a:ext cx="5797296" cy="8412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來源：</a:t>
            </a:r>
            <a:r>
              <a:rPr sz="20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student_policy.py</a:t>
            </a: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；值：30 秒；作用：urgent_due_in_s ≤ 30 時較早返回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SEND_URGENT</a:t>
            </a: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；判讀：delivery／</a:t>
            </a:r>
            <a:r>
              <a:rPr sz="20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deadline</a:t>
            </a: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由第二輪 result 決定。</a:t>
            </a:r>
          </a:p>
        </p:txBody>
      </p:sp>
      <p:sp>
        <p:nvSpPr>
          <p:cNvPr id="15" name="Revision question panel"/>
          <p:cNvSpPr/>
          <p:nvPr/>
        </p:nvSpPr>
        <p:spPr>
          <a:xfrm>
            <a:off x="749808" y="4828032"/>
            <a:ext cx="10552176" cy="548640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6" name="Revision question text"/>
          <p:cNvSpPr txBox="1"/>
          <p:nvPr/>
        </p:nvSpPr>
        <p:spPr>
          <a:xfrm>
            <a:off x="896112" y="4882896"/>
            <a:ext cx="10259567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完整句：5 → 30 代表較早介入急件；問題：增加 </a:t>
            </a:r>
            <a:r>
              <a:rPr sz="19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endpoint J</a:t>
            </a:r>
            <a:r>
              <a:rPr sz="19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 的條件下，required packet 是否於期限前完成？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P071｜margin 30：修訂後的受控預測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Revision prediction timeline"/>
          <p:cNvSpPr/>
          <p:nvPr/>
        </p:nvSpPr>
        <p:spPr>
          <a:xfrm>
            <a:off x="713232" y="1243584"/>
            <a:ext cx="3749039" cy="3438144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6" name="Revision prediction heading"/>
          <p:cNvSpPr txBox="1"/>
          <p:nvPr/>
        </p:nvSpPr>
        <p:spPr>
          <a:xfrm>
            <a:off x="932688" y="1463040"/>
            <a:ext cx="3310128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846826"/>
                </a:solidFill>
                <a:latin typeface="Times New Roman"/>
                <a:ea typeface="DFKai-SB"/>
                <a:cs typeface="Times New Roman"/>
              </a:rPr>
              <a:t>較早 action 的機制方向</a:t>
            </a:r>
          </a:p>
        </p:txBody>
      </p:sp>
      <p:cxnSp>
        <p:nvCxnSpPr>
          <p:cNvPr id="7" name="Editable connector"/>
          <p:cNvCxnSpPr/>
          <p:nvPr/>
        </p:nvCxnSpPr>
        <p:spPr>
          <a:xfrm>
            <a:off x="1152144" y="2944368"/>
            <a:ext cx="2907792" cy="0"/>
          </a:xfrm>
          <a:prstGeom prst="line">
            <a:avLst/>
          </a:prstGeom>
          <a:ln w="2540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ision prediction marker"/>
          <p:cNvSpPr/>
          <p:nvPr/>
        </p:nvSpPr>
        <p:spPr>
          <a:xfrm>
            <a:off x="1115568" y="2798064"/>
            <a:ext cx="292608" cy="292608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vision prediction token"/>
          <p:cNvSpPr txBox="1"/>
          <p:nvPr/>
        </p:nvSpPr>
        <p:spPr>
          <a:xfrm>
            <a:off x="768096" y="2048256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DFKai-SB"/>
                <a:cs typeface="Times New Roman"/>
              </a:rPr>
              <a:t>urgent</a:t>
            </a:r>
          </a:p>
        </p:txBody>
      </p:sp>
      <p:sp>
        <p:nvSpPr>
          <p:cNvPr id="10" name="Revision prediction body"/>
          <p:cNvSpPr txBox="1"/>
          <p:nvPr/>
        </p:nvSpPr>
        <p:spPr>
          <a:xfrm>
            <a:off x="603503" y="3273552"/>
            <a:ext cx="1298448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較早觸發</a:t>
            </a:r>
          </a:p>
        </p:txBody>
      </p:sp>
      <p:sp>
        <p:nvSpPr>
          <p:cNvPr id="11" name="Revision prediction marker"/>
          <p:cNvSpPr/>
          <p:nvPr/>
        </p:nvSpPr>
        <p:spPr>
          <a:xfrm>
            <a:off x="2432304" y="2798064"/>
            <a:ext cx="292608" cy="292608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vision prediction token"/>
          <p:cNvSpPr txBox="1"/>
          <p:nvPr/>
        </p:nvSpPr>
        <p:spPr>
          <a:xfrm>
            <a:off x="2084832" y="2048256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DFKai-SB"/>
                <a:cs typeface="Times New Roman"/>
              </a:rPr>
              <a:t>packet</a:t>
            </a:r>
          </a:p>
        </p:txBody>
      </p:sp>
      <p:sp>
        <p:nvSpPr>
          <p:cNvPr id="13" name="Revision prediction body"/>
          <p:cNvSpPr txBox="1"/>
          <p:nvPr/>
        </p:nvSpPr>
        <p:spPr>
          <a:xfrm>
            <a:off x="1920240" y="3273552"/>
            <a:ext cx="1298448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完成機會</a:t>
            </a:r>
          </a:p>
        </p:txBody>
      </p:sp>
      <p:sp>
        <p:nvSpPr>
          <p:cNvPr id="14" name="Revision prediction marker"/>
          <p:cNvSpPr/>
          <p:nvPr/>
        </p:nvSpPr>
        <p:spPr>
          <a:xfrm>
            <a:off x="3712463" y="2798064"/>
            <a:ext cx="292608" cy="292608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vision prediction token"/>
          <p:cNvSpPr txBox="1"/>
          <p:nvPr/>
        </p:nvSpPr>
        <p:spPr>
          <a:xfrm>
            <a:off x="3364991" y="2048256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DFKai-SB"/>
                <a:cs typeface="Times New Roman"/>
              </a:rPr>
              <a:t>deadline</a:t>
            </a:r>
          </a:p>
        </p:txBody>
      </p:sp>
      <p:sp>
        <p:nvSpPr>
          <p:cNvPr id="16" name="Revision prediction body"/>
          <p:cNvSpPr txBox="1"/>
          <p:nvPr/>
        </p:nvSpPr>
        <p:spPr>
          <a:xfrm>
            <a:off x="3200399" y="3273552"/>
            <a:ext cx="1298448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期限判定</a:t>
            </a:r>
          </a:p>
        </p:txBody>
      </p:sp>
      <p:sp>
        <p:nvSpPr>
          <p:cNvPr id="17" name="Revision prediction field panel"/>
          <p:cNvSpPr/>
          <p:nvPr/>
        </p:nvSpPr>
        <p:spPr>
          <a:xfrm>
            <a:off x="4736592" y="1280160"/>
            <a:ext cx="6473952" cy="67665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8" name="Revision prediction field label"/>
          <p:cNvSpPr txBox="1"/>
          <p:nvPr/>
        </p:nvSpPr>
        <p:spPr>
          <a:xfrm>
            <a:off x="4846320" y="1371600"/>
            <a:ext cx="230428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474"/>
                </a:solidFill>
                <a:latin typeface="Times New Roman"/>
                <a:ea typeface="DFKai-SB"/>
                <a:cs typeface="Times New Roman"/>
              </a:rPr>
              <a:t>required packet（必要封包）</a:t>
            </a:r>
          </a:p>
        </p:txBody>
      </p:sp>
      <p:sp>
        <p:nvSpPr>
          <p:cNvPr id="19" name="Revision prediction field explanation"/>
          <p:cNvSpPr txBox="1"/>
          <p:nvPr/>
        </p:nvSpPr>
        <p:spPr>
          <a:xfrm>
            <a:off x="7223760" y="1353312"/>
            <a:ext cx="3858768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來源：packet event；值：bit；作用：確認必要資料是否送達；判讀：delivery 是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service</a:t>
            </a: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的具體證據。</a:t>
            </a:r>
          </a:p>
        </p:txBody>
      </p:sp>
      <p:sp>
        <p:nvSpPr>
          <p:cNvPr id="20" name="Revision prediction field panel"/>
          <p:cNvSpPr/>
          <p:nvPr/>
        </p:nvSpPr>
        <p:spPr>
          <a:xfrm>
            <a:off x="4736592" y="2066543"/>
            <a:ext cx="6473952" cy="67665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21" name="Revision prediction field label"/>
          <p:cNvSpPr txBox="1"/>
          <p:nvPr/>
        </p:nvSpPr>
        <p:spPr>
          <a:xfrm>
            <a:off x="4846320" y="2157984"/>
            <a:ext cx="230428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service</a:t>
            </a:r>
            <a:r>
              <a:rPr sz="20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／</a:t>
            </a:r>
            <a:r>
              <a:rPr sz="20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deadline</a:t>
            </a:r>
            <a:r>
              <a:rPr sz="20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（服務／期限）</a:t>
            </a:r>
          </a:p>
        </p:txBody>
      </p:sp>
      <p:sp>
        <p:nvSpPr>
          <p:cNvPr id="22" name="Revision prediction field explanation"/>
          <p:cNvSpPr txBox="1"/>
          <p:nvPr/>
        </p:nvSpPr>
        <p:spPr>
          <a:xfrm>
            <a:off x="7223760" y="2139696"/>
            <a:ext cx="3858768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來源：result summary；值：PASS／FAIL；作用：判定窗口內完成；判讀：兩者共同定義 revision 成功條件。</a:t>
            </a:r>
          </a:p>
        </p:txBody>
      </p:sp>
      <p:sp>
        <p:nvSpPr>
          <p:cNvPr id="23" name="Revision prediction field panel"/>
          <p:cNvSpPr/>
          <p:nvPr/>
        </p:nvSpPr>
        <p:spPr>
          <a:xfrm>
            <a:off x="4736592" y="2852928"/>
            <a:ext cx="6473952" cy="67665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24" name="Revision prediction field label"/>
          <p:cNvSpPr txBox="1"/>
          <p:nvPr/>
        </p:nvSpPr>
        <p:spPr>
          <a:xfrm>
            <a:off x="4846320" y="2944368"/>
            <a:ext cx="230428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D61B9"/>
                </a:solidFill>
                <a:latin typeface="Times New Roman"/>
                <a:ea typeface="DFKai-SB"/>
                <a:cs typeface="Times New Roman"/>
              </a:rPr>
              <a:t>state ledger（狀態帳）</a:t>
            </a:r>
          </a:p>
        </p:txBody>
      </p:sp>
      <p:sp>
        <p:nvSpPr>
          <p:cNvPr id="25" name="Revision prediction field explanation"/>
          <p:cNvSpPr txBox="1"/>
          <p:nvPr/>
        </p:nvSpPr>
        <p:spPr>
          <a:xfrm>
            <a:off x="7223760" y="2926080"/>
            <a:ext cx="3858768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來源：replay frame；值：WAKE、TX、RX、retry 等事件；作用：連回 action 與 J；判讀：事件鏈解釋能量差異。</a:t>
            </a:r>
          </a:p>
        </p:txBody>
      </p:sp>
      <p:sp>
        <p:nvSpPr>
          <p:cNvPr id="26" name="Revision prediction field panel"/>
          <p:cNvSpPr/>
          <p:nvPr/>
        </p:nvSpPr>
        <p:spPr>
          <a:xfrm>
            <a:off x="4736592" y="3639312"/>
            <a:ext cx="6473952" cy="67665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27" name="Revision prediction field label"/>
          <p:cNvSpPr txBox="1"/>
          <p:nvPr/>
        </p:nvSpPr>
        <p:spPr>
          <a:xfrm>
            <a:off x="4846320" y="3730752"/>
            <a:ext cx="230428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DFKai-SB"/>
                <a:cs typeface="Times New Roman"/>
              </a:rPr>
              <a:t>endpoint J</a:t>
            </a:r>
            <a:r>
              <a:rPr sz="2000" b="1" i="0">
                <a:solidFill>
                  <a:srgbClr val="846826"/>
                </a:solidFill>
                <a:latin typeface="Times New Roman"/>
                <a:ea typeface="DFKai-SB"/>
                <a:cs typeface="Times New Roman"/>
              </a:rPr>
              <a:t>（端點能量）</a:t>
            </a:r>
          </a:p>
        </p:txBody>
      </p:sp>
      <p:sp>
        <p:nvSpPr>
          <p:cNvPr id="28" name="Revision prediction field explanation"/>
          <p:cNvSpPr txBox="1"/>
          <p:nvPr/>
        </p:nvSpPr>
        <p:spPr>
          <a:xfrm>
            <a:off x="7223760" y="3712463"/>
            <a:ext cx="3858768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來源：endpoint result；單位：J；作用：描述修訂代價；判讀：J 上升可與 delivery PASS 同時成立。</a:t>
            </a:r>
          </a:p>
        </p:txBody>
      </p:sp>
      <p:sp>
        <p:nvSpPr>
          <p:cNvPr id="29" name="Revision prediction sentence panel"/>
          <p:cNvSpPr/>
          <p:nvPr/>
        </p:nvSpPr>
        <p:spPr>
          <a:xfrm>
            <a:off x="749808" y="4590288"/>
            <a:ext cx="10552176" cy="47548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30" name="Revision prediction sentence text"/>
          <p:cNvSpPr txBox="1"/>
          <p:nvPr/>
        </p:nvSpPr>
        <p:spPr>
          <a:xfrm>
            <a:off x="896112" y="4645151"/>
            <a:ext cx="10259567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完整句：margin 30 預測較早送出、較高端點 J，並提高 required packet 在期限前完成的機率。</a:t>
            </a:r>
          </a:p>
        </p:txBody>
      </p:sp>
      <p:sp>
        <p:nvSpPr>
          <p:cNvPr id="31" name="Revision prediction question panel"/>
          <p:cNvSpPr/>
          <p:nvPr/>
        </p:nvSpPr>
        <p:spPr>
          <a:xfrm>
            <a:off x="749808" y="5102352"/>
            <a:ext cx="10552176" cy="274320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32" name="Revision prediction question text"/>
          <p:cNvSpPr txBox="1"/>
          <p:nvPr/>
        </p:nvSpPr>
        <p:spPr>
          <a:xfrm>
            <a:off x="896112" y="5157216"/>
            <a:ext cx="10259567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問題：哪三組 evidence 共同決定這個預測是否成立？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