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C 把 queue、batch、urgent deadline 和 endpoint J 放進同一個 service window。閱讀順序固定為 service、deadline、能量差異；畫面上的數值只作 coherent simulated result。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先沿著原始 branch 說出窗口、urgent、pacing、batch、wait 的返回順序。完整中文句與具體問題都放在投影上，使每個 action 均回到程式條件。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這一頁只集中第一輪的兩個 exact case，命令完成後立即保存 stdout 的 result_path。跑本身不承擔教學時間，下一頁的 edit 與 prediction 才是解釋核心。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先朗讀修改前的完整句與問題，再朗讀修改後的完整句與問題。只改 URGENT_MARGIN_S，其他 marked block、runner、scenario、schema 與 energy model 保持不動。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margin 5 的預測寫成可反駁句，避免押一個漂亮 KPI。要求同時指出 urgent action、queue、service／deadline 與 state／endpoint J 的證據位置。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這兩筆是 operation contract 的 packaged same-scenario deterministic fallback 參考，fresh measurement claim 不適用。閱讀順序固定為 service、deadline、完整因果句，再描述較低 J 與較高 bit/J。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的 failure 要保留下來，revision 只針對太晚介入提出修正。修改前後都要問是否能保住 deadline，以及還要一起讀哪些 state／J evidence。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預測可能較早花 endpoint energy，required packet 可能在期限前完成。J 上升且 deadline 變成 PASS 時，trade-off 由 delivery、deadline 與 state ledger 定義，結果不縮成單一效率數字。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這一頁只列 revision freeze 與 surprise 的 exact commands。surprise 沿用 frozen policy，不新增 edit、不重新調參，完成後立即保存兩個新的 stdout result_path。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baseline、candidate、revision 放在同一個 deterministic fallback ledger。candidate 的 bit/J 優勢被 service／deadline 否決，revision 的改善只屬於固定條件。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surprise 的 2,400 bit、5.41 J、3 次重傳與 3 張逾期封包是 fallback 參考。它界定 margin 30 的適用邊界；第三次調參不在規格內。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gate-first 階梯收束 Lab C。結論是 urgent margin 改變 deadline／energy trade-off，而且效果依 service condition 而定；結論不延伸為 margin 30 永遠最佳。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Leo /course 接收 runner 已產生的 result.json 與配對 replay。網站責任範圍為 validation、replay、workbook 保存；student_policy.py 的執行與驗證歸屬 terminal runner，READY 屬 browser record。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實際 upload 或同情境 fallback 提供來源、schema、identity、lineage、hash 和 import state。accepted 表示 endpoint artifact 通過匯入契約；provider 與 live measurement 不列入此 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replay 定義為 selector、八個欄位、queue、event 與 timeline 的同一條事件脈絡。每一次切 frame 都把 action 對回 student_policy.py 的 branch。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保存 prediction、結果 lineage、source、hash 與 recovery 狀態。完成度與 checkpoint 屬課程紀錄；service、energy 與策略排序由其他欄位定義。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建立 checkpoint、恢復、重設、復原、匯出與重新開啟都只管理本機課程紀錄。重開後仍要重新核對 run identity、source、role 和 service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Lab C 的 urgent deadline 映射到灌溉告警，把 endpoint J 映射到泵浦能源；服務 gate 優先於節能描述。這是 transfer reasoning，未提供 live farm KPI。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HVAC 的 urgent branch 語義包含舒適度、設備保護或尖峰事件。先確認 service condition 與 deadline，再比較控制動作造成的能源差異。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inference 把 packet delivery 換成新鮮度與任務完成，仍保留 source、trace、gate 與 endpoint scope。低 Joule 但 stale output 不能先稱為成功。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最後保留 condition、policy branch、event／service evidence、energy scope 和 claim ceiling。若需要 fresh run，先保存目前 identity，再依核准流程另開，不在 website 偷補結果。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左側是本次 browser session 已接受的 A／baseline endpoint upload，右側是同情境 fallback。source、case、hash 和 import gate 構成閱讀欄位；claim 維持 coherent simulated result、browser record、not measured。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accepted endpoint teaching evidence 顯示 service FAIL、6.92 J、4,800 bit 和 693.641618 bit/J。這四個欄位要按 service、delivered、endpoint J、bit/J 順序讀，不得使效率數字改寫 FAIL。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選擇器改變 replay frame，八個欄位要一起讀：Radio、Action、queue count、累積 endpoint J、elapsed、Contact ID、Contact、ordinal Quality。Quality 採 ordinal band；frame selector 使用各自 frame identity，不使用固定抽樣。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queue 告訴我們當下還有什麼工作，packet event 告訴我們這個 frame 發生什麼。先追生成、入列、attempt、retry、delivered 或 expired，再回到 service summary。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把 contact、quality、radio state 和 action 放在同一個 frame 序列；它描述 transition，不描述連續功率。每個 transition 對回 contact、urgent、pacing、batch 或 wait branch。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execution ledger 核對 experiment、case、role、service、endpoint J、source 和 run identity。畫面選到的列屬選取狀態；實際執行與 fallback 來源分開陳述。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provider 只說明 LEO scenario、TLE、contact、cell、frequency 和 dB 的 opportunity context，endpoint result 說明 imported runner artifact。Evidence view 的 503 MODQN 與 WebGL／GLTF warnings 不可宣稱 provider browser PASS。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依課程簡報填寫完整證據學習單、開啟 Leo 任務紀錄、checkpoint、restore、reset、undo、export、reopen 都要分別說明。這些 control 管理紀錄與回復，不替代 runner 或 scientific parity。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格式、identity、lineage 和 immutable duplicate 的錯誤維持原 session 狀態。matching artifact、release backup 或明確 fallback 提供 recovery 路徑；JSON、case 與 surprise provenance 維持原值。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記錄 READY 表示 terminal 已看見 machine-readable READY；Leo 端維持 browser-local record，Python 執行與驗證歸屬 terminal runner。安裝、verify、run、upload 與 Lab 完成由各自 receipt 定義；記錄備用環境表示採用 fallback 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全站導覽、語言切換、準備、實驗 A／B／C、證據、學習單與 fallback loader 只改焦點、語言或資料選擇。切頁不會完成 identity、service 或 upload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任務 1–10 的勾選與證據已鎖定是保存狀態，檢查證據並繼續只檢查目前課程段落。它不執行 Python、不重算 replay，也不宣布策略 PASS。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播放結果、暫停重播、slider、上一畫面和下一個畫面只控制 provider replay。endpoint selector 與 system replay timeline 各自保存 frame identity；兩層時間需分開判讀。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Elapsed、Contact ID、Contact 與 Quality 各自具有來源、值型態、作用與失敗不變項。四欄均隨 endpoint frame selector 更新，Quality 維持 ordinal quality_band 分類。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Prepare、導覽與 fallback、Workbook、replay 與 task controls 分組說明。每組列出動作、讀取／寫入資料、成功後狀態與驗證失敗時維持不變的資料。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P064｜Lab C：佇列要等批次，還是 urgent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優先？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一個門檻，三種結果：先保住服務，再讀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6" name="Lab C queue"/>
          <p:cNvSpPr/>
          <p:nvPr/>
        </p:nvSpPr>
        <p:spPr>
          <a:xfrm>
            <a:off x="786384" y="1426464"/>
            <a:ext cx="3291840" cy="219456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Lab C queue heading"/>
          <p:cNvSpPr txBox="1"/>
          <p:nvPr/>
        </p:nvSpPr>
        <p:spPr>
          <a:xfrm>
            <a:off x="914400" y="15361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QUEUE AGE</a:t>
            </a:r>
          </a:p>
        </p:txBody>
      </p:sp>
      <p:sp>
        <p:nvSpPr>
          <p:cNvPr id="8" name="Lab C queue body"/>
          <p:cNvSpPr txBox="1"/>
          <p:nvPr/>
        </p:nvSpPr>
        <p:spPr>
          <a:xfrm>
            <a:off x="932688" y="1901952"/>
            <a:ext cx="2999232" cy="160934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normal 與 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等待／批次壓力</a:t>
            </a:r>
          </a:p>
        </p:txBody>
      </p:sp>
      <p:sp>
        <p:nvSpPr>
          <p:cNvPr id="9" name="Lab C deadline"/>
          <p:cNvSpPr/>
          <p:nvPr/>
        </p:nvSpPr>
        <p:spPr>
          <a:xfrm>
            <a:off x="4443984" y="1426464"/>
            <a:ext cx="3291840" cy="219456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Lab C deadline heading"/>
          <p:cNvSpPr txBox="1"/>
          <p:nvPr/>
        </p:nvSpPr>
        <p:spPr>
          <a:xfrm>
            <a:off x="4572000" y="15361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11" name="Lab C deadline body"/>
          <p:cNvSpPr txBox="1"/>
          <p:nvPr/>
        </p:nvSpPr>
        <p:spPr>
          <a:xfrm>
            <a:off x="4590288" y="1901952"/>
            <a:ext cx="2999232" cy="160934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最晚完成時間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資料 freshness</a:t>
            </a:r>
          </a:p>
        </p:txBody>
      </p:sp>
      <p:sp>
        <p:nvSpPr>
          <p:cNvPr id="12" name="Lab C energy"/>
          <p:cNvSpPr/>
          <p:nvPr/>
        </p:nvSpPr>
        <p:spPr>
          <a:xfrm>
            <a:off x="8101583" y="1426464"/>
            <a:ext cx="3291840" cy="219456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Lab C energy heading"/>
          <p:cNvSpPr txBox="1"/>
          <p:nvPr/>
        </p:nvSpPr>
        <p:spPr>
          <a:xfrm>
            <a:off x="8229600" y="153619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14" name="Lab C energy body"/>
          <p:cNvSpPr txBox="1"/>
          <p:nvPr/>
        </p:nvSpPr>
        <p:spPr>
          <a:xfrm>
            <a:off x="8247888" y="1901952"/>
            <a:ext cx="2999232" cy="160934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累積能量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不能取代 gate</a:t>
            </a:r>
          </a:p>
        </p:txBody>
      </p:sp>
      <p:cxnSp>
        <p:nvCxnSpPr>
          <p:cNvPr id="15" name="Editable connector"/>
          <p:cNvCxnSpPr/>
          <p:nvPr/>
        </p:nvCxnSpPr>
        <p:spPr>
          <a:xfrm>
            <a:off x="2432304" y="3730752"/>
            <a:ext cx="3694176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ditable connector"/>
          <p:cNvCxnSpPr/>
          <p:nvPr/>
        </p:nvCxnSpPr>
        <p:spPr>
          <a:xfrm>
            <a:off x="6126480" y="3730752"/>
            <a:ext cx="3621024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ab C causal chain"/>
          <p:cNvSpPr txBox="1"/>
          <p:nvPr/>
        </p:nvSpPr>
        <p:spPr>
          <a:xfrm>
            <a:off x="960120" y="4005072"/>
            <a:ext cx="10168128" cy="7315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urgent branch → action timing → packet outcome → </a:t>
            </a:r>
            <a:r>
              <a:rPr sz="2400" b="1" i="1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2400" b="1" i="1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→ </a:t>
            </a:r>
            <a:r>
              <a:rPr sz="2400" b="1" i="1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18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P065｜先讀原始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：原本的門檻怎麼工作？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原始行為：完整 function 先看窗口，再看 urgent branch</a:t>
            </a:r>
          </a:p>
        </p:txBody>
      </p:sp>
      <p:sp>
        <p:nvSpPr>
          <p:cNvPr id="6" name="Original policy code"/>
          <p:cNvSpPr/>
          <p:nvPr/>
        </p:nvSpPr>
        <p:spPr>
          <a:xfrm>
            <a:off x="713232" y="1243584"/>
            <a:ext cx="5742432" cy="385876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Original policy code text"/>
          <p:cNvSpPr txBox="1"/>
          <p:nvPr/>
        </p:nvSpPr>
        <p:spPr>
          <a:xfrm>
            <a:off x="932688" y="1444752"/>
            <a:ext cx="5303520" cy="34930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BATCH_SIZE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20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if observation.urgent_pending and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observation.urgent_due_in_s &lt;=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if 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REST_DURING_GAP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if quality_ready: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FLUSH_BATCH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if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_size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BATCH_SIZE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else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return WAIT</a:t>
            </a:r>
          </a:p>
        </p:txBody>
      </p:sp>
      <p:sp>
        <p:nvSpPr>
          <p:cNvPr id="8" name="Original branch"/>
          <p:cNvSpPr/>
          <p:nvPr/>
        </p:nvSpPr>
        <p:spPr>
          <a:xfrm>
            <a:off x="6784848" y="1298448"/>
            <a:ext cx="4407408" cy="6400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9" name="Original branch heading"/>
          <p:cNvSpPr txBox="1"/>
          <p:nvPr/>
        </p:nvSpPr>
        <p:spPr>
          <a:xfrm>
            <a:off x="6912864" y="1408176"/>
            <a:ext cx="41513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窗口關閉</a:t>
            </a:r>
          </a:p>
        </p:txBody>
      </p:sp>
      <p:sp>
        <p:nvSpPr>
          <p:cNvPr id="10" name="Original branch body"/>
          <p:cNvSpPr txBox="1"/>
          <p:nvPr/>
        </p:nvSpPr>
        <p:spPr>
          <a:xfrm>
            <a:off x="6931152" y="1773936"/>
            <a:ext cx="4114800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SLEEP</a:t>
            </a:r>
          </a:p>
        </p:txBody>
      </p:sp>
      <p:sp>
        <p:nvSpPr>
          <p:cNvPr id="11" name="Original branch"/>
          <p:cNvSpPr/>
          <p:nvPr/>
        </p:nvSpPr>
        <p:spPr>
          <a:xfrm>
            <a:off x="6784848" y="2048255"/>
            <a:ext cx="4407408" cy="64008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2" name="Original branch heading"/>
          <p:cNvSpPr txBox="1"/>
          <p:nvPr/>
        </p:nvSpPr>
        <p:spPr>
          <a:xfrm>
            <a:off x="6912864" y="2157984"/>
            <a:ext cx="41513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urgent_due_in_s ≤ 20</a:t>
            </a:r>
          </a:p>
        </p:txBody>
      </p:sp>
      <p:sp>
        <p:nvSpPr>
          <p:cNvPr id="13" name="Original branch body"/>
          <p:cNvSpPr txBox="1"/>
          <p:nvPr/>
        </p:nvSpPr>
        <p:spPr>
          <a:xfrm>
            <a:off x="6931152" y="2523744"/>
            <a:ext cx="4114800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</a:p>
        </p:txBody>
      </p:sp>
      <p:sp>
        <p:nvSpPr>
          <p:cNvPr id="14" name="Original branch"/>
          <p:cNvSpPr/>
          <p:nvPr/>
        </p:nvSpPr>
        <p:spPr>
          <a:xfrm>
            <a:off x="6784848" y="2798063"/>
            <a:ext cx="4407408" cy="6400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Original branch heading"/>
          <p:cNvSpPr txBox="1"/>
          <p:nvPr/>
        </p:nvSpPr>
        <p:spPr>
          <a:xfrm>
            <a:off x="6912864" y="2907791"/>
            <a:ext cx="41513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pacing gap</a:t>
            </a:r>
          </a:p>
        </p:txBody>
      </p:sp>
      <p:sp>
        <p:nvSpPr>
          <p:cNvPr id="16" name="Original branch body"/>
          <p:cNvSpPr txBox="1"/>
          <p:nvPr/>
        </p:nvSpPr>
        <p:spPr>
          <a:xfrm>
            <a:off x="6931152" y="3273551"/>
            <a:ext cx="4114800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REST_DURING_GAP</a:t>
            </a:r>
          </a:p>
        </p:txBody>
      </p:sp>
      <p:sp>
        <p:nvSpPr>
          <p:cNvPr id="17" name="Original branch"/>
          <p:cNvSpPr/>
          <p:nvPr/>
        </p:nvSpPr>
        <p:spPr>
          <a:xfrm>
            <a:off x="6784848" y="3547871"/>
            <a:ext cx="4407408" cy="6400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8" name="Original branch heading"/>
          <p:cNvSpPr txBox="1"/>
          <p:nvPr/>
        </p:nvSpPr>
        <p:spPr>
          <a:xfrm>
            <a:off x="6912864" y="3657599"/>
            <a:ext cx="41513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quality + </a:t>
            </a: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queue</a:t>
            </a:r>
          </a:p>
        </p:txBody>
      </p:sp>
      <p:sp>
        <p:nvSpPr>
          <p:cNvPr id="19" name="Original branch body"/>
          <p:cNvSpPr txBox="1"/>
          <p:nvPr/>
        </p:nvSpPr>
        <p:spPr>
          <a:xfrm>
            <a:off x="6931152" y="4023359"/>
            <a:ext cx="4114800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FLUSH_BATCH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/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SEND_ONE</a:t>
            </a:r>
          </a:p>
        </p:txBody>
      </p:sp>
      <p:sp>
        <p:nvSpPr>
          <p:cNvPr id="20" name="Original branch"/>
          <p:cNvSpPr/>
          <p:nvPr/>
        </p:nvSpPr>
        <p:spPr>
          <a:xfrm>
            <a:off x="6784848" y="4297679"/>
            <a:ext cx="4407408" cy="64008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1" name="Original branch heading"/>
          <p:cNvSpPr txBox="1"/>
          <p:nvPr/>
        </p:nvSpPr>
        <p:spPr>
          <a:xfrm>
            <a:off x="6912864" y="4407407"/>
            <a:ext cx="41513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其他</a:t>
            </a:r>
          </a:p>
        </p:txBody>
      </p:sp>
      <p:sp>
        <p:nvSpPr>
          <p:cNvPr id="22" name="Original branch body"/>
          <p:cNvSpPr txBox="1"/>
          <p:nvPr/>
        </p:nvSpPr>
        <p:spPr>
          <a:xfrm>
            <a:off x="6931152" y="4773167"/>
            <a:ext cx="4114800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WAIT</a:t>
            </a:r>
          </a:p>
        </p:txBody>
      </p:sp>
      <p:sp>
        <p:nvSpPr>
          <p:cNvPr id="23" name="Original question"/>
          <p:cNvSpPr txBox="1"/>
          <p:nvPr/>
        </p:nvSpPr>
        <p:spPr>
          <a:xfrm>
            <a:off x="786384" y="519379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完整句：原始門檻 20 可能較早介入 urgent，優先於 pacing／batch；要觀察送出時點，不先猜 J。問題：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已達 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BATCH_SIZE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時，urgent branch 會先 flush 嗎？</a:t>
            </a:r>
          </a:p>
        </p:txBody>
      </p:sp>
      <p:sp>
        <p:nvSpPr>
          <p:cNvPr id="24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P066｜第一輪 compact run／receipt：baseline → candidate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一頁快速 run：命令完成後立刻保存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result_path</a:t>
            </a:r>
          </a:p>
        </p:txBody>
      </p:sp>
      <p:sp>
        <p:nvSpPr>
          <p:cNvPr id="6" name="Compact run left"/>
          <p:cNvSpPr/>
          <p:nvPr/>
        </p:nvSpPr>
        <p:spPr>
          <a:xfrm>
            <a:off x="731520" y="1225296"/>
            <a:ext cx="5230368" cy="33101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Compact run left heading"/>
          <p:cNvSpPr txBox="1"/>
          <p:nvPr/>
        </p:nvSpPr>
        <p:spPr>
          <a:xfrm>
            <a:off x="859536" y="1335024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BASELINE</a:t>
            </a:r>
          </a:p>
        </p:txBody>
      </p:sp>
      <p:sp>
        <p:nvSpPr>
          <p:cNvPr id="8" name="Compact run left body"/>
          <p:cNvSpPr txBox="1"/>
          <p:nvPr/>
        </p:nvSpPr>
        <p:spPr>
          <a:xfrm>
            <a:off x="877824" y="1700784"/>
            <a:ext cx="4937759" cy="2724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bash course.sh run --lab C --case baseline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untouched policy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stdout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result_path</a:t>
            </a:r>
          </a:p>
        </p:txBody>
      </p:sp>
      <p:sp>
        <p:nvSpPr>
          <p:cNvPr id="9" name="Compact run right"/>
          <p:cNvSpPr/>
          <p:nvPr/>
        </p:nvSpPr>
        <p:spPr>
          <a:xfrm>
            <a:off x="6217920" y="1225296"/>
            <a:ext cx="5230368" cy="331012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Compact run right heading"/>
          <p:cNvSpPr txBox="1"/>
          <p:nvPr/>
        </p:nvSpPr>
        <p:spPr>
          <a:xfrm>
            <a:off x="6345936" y="1335024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CANDIDATE</a:t>
            </a:r>
          </a:p>
        </p:txBody>
      </p:sp>
      <p:sp>
        <p:nvSpPr>
          <p:cNvPr id="11" name="Compact run right body"/>
          <p:cNvSpPr txBox="1"/>
          <p:nvPr/>
        </p:nvSpPr>
        <p:spPr>
          <a:xfrm>
            <a:off x="6364224" y="1700784"/>
            <a:ext cx="4937759" cy="2724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bash course.sh run --lab C --case candidate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完成 margin 5 edit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stdout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result_path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98464" y="2852928"/>
            <a:ext cx="18288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un teaching boundary"/>
          <p:cNvSpPr txBox="1"/>
          <p:nvPr/>
        </p:nvSpPr>
        <p:spPr>
          <a:xfrm>
            <a:off x="914400" y="4718304"/>
            <a:ext cx="1031443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receipt 只證明 artifact path 被產出；下一步讀來源、identity、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、replay。不要用 run 本身拖長教學。</a:t>
            </a:r>
          </a:p>
        </p:txBody>
      </p:sp>
      <p:sp>
        <p:nvSpPr>
          <p:cNvPr id="14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P067｜第一次 exact edit：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=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第一次 exact edit：只改一個 marked line，其他 branch 保持原樣</a:t>
            </a:r>
          </a:p>
        </p:txBody>
      </p:sp>
      <p:sp>
        <p:nvSpPr>
          <p:cNvPr id="6" name="Exact edit before"/>
          <p:cNvSpPr/>
          <p:nvPr/>
        </p:nvSpPr>
        <p:spPr>
          <a:xfrm>
            <a:off x="786384" y="1298448"/>
            <a:ext cx="5084064" cy="18836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Exact edit before heading"/>
          <p:cNvSpPr txBox="1"/>
          <p:nvPr/>
        </p:nvSpPr>
        <p:spPr>
          <a:xfrm>
            <a:off x="914400" y="1408176"/>
            <a:ext cx="482803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修改前完整句</a:t>
            </a:r>
          </a:p>
        </p:txBody>
      </p:sp>
      <p:sp>
        <p:nvSpPr>
          <p:cNvPr id="8" name="Exact edit before body"/>
          <p:cNvSpPr txBox="1"/>
          <p:nvPr/>
        </p:nvSpPr>
        <p:spPr>
          <a:xfrm>
            <a:off x="932688" y="1773936"/>
            <a:ext cx="4791455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20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它是 urgent override 門檻，不直接定義能量。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問題：哪個 observation 使 urgent branch 先返回？</a:t>
            </a:r>
          </a:p>
        </p:txBody>
      </p:sp>
      <p:sp>
        <p:nvSpPr>
          <p:cNvPr id="9" name="Exact edit after"/>
          <p:cNvSpPr/>
          <p:nvPr/>
        </p:nvSpPr>
        <p:spPr>
          <a:xfrm>
            <a:off x="6272784" y="1298448"/>
            <a:ext cx="5084064" cy="188366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Exact edit after heading"/>
          <p:cNvSpPr txBox="1"/>
          <p:nvPr/>
        </p:nvSpPr>
        <p:spPr>
          <a:xfrm>
            <a:off x="6400800" y="1408176"/>
            <a:ext cx="482803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修改後完整句</a:t>
            </a:r>
          </a:p>
        </p:txBody>
      </p:sp>
      <p:sp>
        <p:nvSpPr>
          <p:cNvPr id="11" name="Exact edit after body"/>
          <p:cNvSpPr txBox="1"/>
          <p:nvPr/>
        </p:nvSpPr>
        <p:spPr>
          <a:xfrm>
            <a:off x="6419088" y="1773936"/>
            <a:ext cx="4791455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期限更逼近時才觸發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問題：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與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欄位的狀態為何？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25312" y="2249424"/>
            <a:ext cx="29260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xact code line"/>
          <p:cNvSpPr/>
          <p:nvPr/>
        </p:nvSpPr>
        <p:spPr>
          <a:xfrm>
            <a:off x="1005840" y="3529584"/>
            <a:ext cx="10040112" cy="13350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Exact code line text"/>
          <p:cNvSpPr txBox="1"/>
          <p:nvPr/>
        </p:nvSpPr>
        <p:spPr>
          <a:xfrm>
            <a:off x="1261872" y="3767328"/>
            <a:ext cx="9528048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BATCH_SIZE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= 5    ← exact edit</a:t>
            </a:r>
          </a:p>
        </p:txBody>
      </p:sp>
      <p:sp>
        <p:nvSpPr>
          <p:cNvPr id="15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POLICY SURFACE｜marked block only｜SIMULATED TEACHING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P068｜candidate run 前的 prediction lock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prediction lock：margin 5 先寫機制，再跑 candidate</a:t>
            </a:r>
          </a:p>
        </p:txBody>
      </p:sp>
      <p:sp>
        <p:nvSpPr>
          <p:cNvPr id="6" name="Prediction evidence"/>
          <p:cNvSpPr/>
          <p:nvPr/>
        </p:nvSpPr>
        <p:spPr>
          <a:xfrm>
            <a:off x="694944" y="1408176"/>
            <a:ext cx="2615184" cy="20116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Prediction evidence heading"/>
          <p:cNvSpPr txBox="1"/>
          <p:nvPr/>
        </p:nvSpPr>
        <p:spPr>
          <a:xfrm>
            <a:off x="822960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urgent timing</a:t>
            </a:r>
          </a:p>
        </p:txBody>
      </p:sp>
      <p:sp>
        <p:nvSpPr>
          <p:cNvPr id="8" name="Prediction evidence body"/>
          <p:cNvSpPr txBox="1"/>
          <p:nvPr/>
        </p:nvSpPr>
        <p:spPr>
          <a:xfrm>
            <a:off x="841248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可能較晚／較早觸發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310128" y="2414016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ediction evidence"/>
          <p:cNvSpPr/>
          <p:nvPr/>
        </p:nvSpPr>
        <p:spPr>
          <a:xfrm>
            <a:off x="3474720" y="1408176"/>
            <a:ext cx="2615184" cy="201168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Prediction evidence heading"/>
          <p:cNvSpPr txBox="1"/>
          <p:nvPr/>
        </p:nvSpPr>
        <p:spPr>
          <a:xfrm>
            <a:off x="3602736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／packet</a:t>
            </a:r>
          </a:p>
        </p:txBody>
      </p:sp>
      <p:sp>
        <p:nvSpPr>
          <p:cNvPr id="12" name="Prediction evidence body"/>
          <p:cNvSpPr txBox="1"/>
          <p:nvPr/>
        </p:nvSpPr>
        <p:spPr>
          <a:xfrm>
            <a:off x="3621024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等待、delivery、expiry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6089904" y="2414016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ediction evidence"/>
          <p:cNvSpPr/>
          <p:nvPr/>
        </p:nvSpPr>
        <p:spPr>
          <a:xfrm>
            <a:off x="6254496" y="1408176"/>
            <a:ext cx="2615184" cy="20116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Prediction evidence heading"/>
          <p:cNvSpPr txBox="1"/>
          <p:nvPr/>
        </p:nvSpPr>
        <p:spPr>
          <a:xfrm>
            <a:off x="6382512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16" name="Prediction evidence body"/>
          <p:cNvSpPr txBox="1"/>
          <p:nvPr/>
        </p:nvSpPr>
        <p:spPr>
          <a:xfrm>
            <a:off x="6400800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可能 PASS，也可能 FAIL</a:t>
            </a:r>
          </a:p>
        </p:txBody>
      </p:sp>
      <p:cxnSp>
        <p:nvCxnSpPr>
          <p:cNvPr id="17" name="Editable connector"/>
          <p:cNvCxnSpPr/>
          <p:nvPr/>
        </p:nvCxnSpPr>
        <p:spPr>
          <a:xfrm>
            <a:off x="8869680" y="2414016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ediction evidence"/>
          <p:cNvSpPr/>
          <p:nvPr/>
        </p:nvSpPr>
        <p:spPr>
          <a:xfrm>
            <a:off x="9034272" y="1408176"/>
            <a:ext cx="2615184" cy="20116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Prediction evidence heading"/>
          <p:cNvSpPr txBox="1"/>
          <p:nvPr/>
        </p:nvSpPr>
        <p:spPr>
          <a:xfrm>
            <a:off x="9162288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state／</a:t>
            </a: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20" name="Prediction evidence body"/>
          <p:cNvSpPr txBox="1"/>
          <p:nvPr/>
        </p:nvSpPr>
        <p:spPr>
          <a:xfrm>
            <a:off x="9180576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wake／TX／retry 再解釋</a:t>
            </a:r>
          </a:p>
        </p:txBody>
      </p:sp>
      <p:sp>
        <p:nvSpPr>
          <p:cNvPr id="21" name="Prediction sentence"/>
          <p:cNvSpPr/>
          <p:nvPr/>
        </p:nvSpPr>
        <p:spPr>
          <a:xfrm>
            <a:off x="950976" y="3822191"/>
            <a:ext cx="10131552" cy="9875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2" name="Prediction sentence text"/>
          <p:cNvSpPr txBox="1"/>
          <p:nvPr/>
        </p:nvSpPr>
        <p:spPr>
          <a:xfrm>
            <a:off x="1188720" y="4023360"/>
            <a:ext cx="9656064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完整句：我把 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改成 5，預測 action 時機會改變；接著用 packet、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、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、state ledger 檢驗。具體問題：哪個 gate 失敗會推翻「只是省能量」？</a:t>
            </a:r>
          </a:p>
        </p:txBody>
      </p:sp>
      <p:sp>
        <p:nvSpPr>
          <p:cNvPr id="23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P069｜第一次 before／after：candidate 的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bit/J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受 gate 約束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before／after：先 gate，後 endpoint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</p:txBody>
      </p:sp>
      <p:sp>
        <p:nvSpPr>
          <p:cNvPr id="6" name="Before after ledger"/>
          <p:cNvSpPr/>
          <p:nvPr/>
        </p:nvSpPr>
        <p:spPr>
          <a:xfrm>
            <a:off x="841248" y="1353312"/>
            <a:ext cx="5047488" cy="25968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Before after ledger heading"/>
          <p:cNvSpPr txBox="1"/>
          <p:nvPr/>
        </p:nvSpPr>
        <p:spPr>
          <a:xfrm>
            <a:off x="969264" y="1463040"/>
            <a:ext cx="4791455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baseline｜20</a:t>
            </a:r>
          </a:p>
        </p:txBody>
      </p:sp>
      <p:sp>
        <p:nvSpPr>
          <p:cNvPr id="8" name="Before after ledger body"/>
          <p:cNvSpPr txBox="1"/>
          <p:nvPr/>
        </p:nvSpPr>
        <p:spPr>
          <a:xfrm>
            <a:off x="987552" y="1828800"/>
            <a:ext cx="4754879" cy="20116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10,400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10.66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975.609756 </a:t>
            </a: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PASS｜</a:t>
            </a: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PASS</a:t>
            </a:r>
          </a:p>
        </p:txBody>
      </p:sp>
      <p:sp>
        <p:nvSpPr>
          <p:cNvPr id="9" name="Before after ledger"/>
          <p:cNvSpPr/>
          <p:nvPr/>
        </p:nvSpPr>
        <p:spPr>
          <a:xfrm>
            <a:off x="6345936" y="1353312"/>
            <a:ext cx="5047488" cy="25968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Before after ledger heading"/>
          <p:cNvSpPr txBox="1"/>
          <p:nvPr/>
        </p:nvSpPr>
        <p:spPr>
          <a:xfrm>
            <a:off x="6473951" y="1463040"/>
            <a:ext cx="4791455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candidate｜5</a:t>
            </a:r>
          </a:p>
        </p:txBody>
      </p:sp>
      <p:sp>
        <p:nvSpPr>
          <p:cNvPr id="11" name="Before after ledger body"/>
          <p:cNvSpPr txBox="1"/>
          <p:nvPr/>
        </p:nvSpPr>
        <p:spPr>
          <a:xfrm>
            <a:off x="6492240" y="1828800"/>
            <a:ext cx="4754879" cy="20116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9,600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9.74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985.626283 </a:t>
            </a: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FAIL｜</a:t>
            </a: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FAIL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61888" y="2633472"/>
            <a:ext cx="256032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mpare causal sentence"/>
          <p:cNvSpPr txBox="1"/>
          <p:nvPr/>
        </p:nvSpPr>
        <p:spPr>
          <a:xfrm>
            <a:off x="950976" y="4279392"/>
            <a:ext cx="1014984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因果句：margin 5 使 urgent override 更晚，少交付 800 bit，兩個 gate FAIL；較高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bit/J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不得改寫成成功節能。</a:t>
            </a:r>
          </a:p>
        </p:txBody>
      </p:sp>
      <p:sp>
        <p:nvSpPr>
          <p:cNvPr id="14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P070｜第二次 exact edit：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= 30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第二次 exact revision：只改一個 marked line，其他 branch 保持原樣</a:t>
            </a:r>
          </a:p>
        </p:txBody>
      </p:sp>
      <p:sp>
        <p:nvSpPr>
          <p:cNvPr id="6" name="Exact edit before"/>
          <p:cNvSpPr/>
          <p:nvPr/>
        </p:nvSpPr>
        <p:spPr>
          <a:xfrm>
            <a:off x="786384" y="1298448"/>
            <a:ext cx="5084064" cy="18836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Exact edit before heading"/>
          <p:cNvSpPr txBox="1"/>
          <p:nvPr/>
        </p:nvSpPr>
        <p:spPr>
          <a:xfrm>
            <a:off x="914400" y="1408176"/>
            <a:ext cx="482803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修改前完整句</a:t>
            </a:r>
          </a:p>
        </p:txBody>
      </p:sp>
      <p:sp>
        <p:nvSpPr>
          <p:cNvPr id="8" name="Exact edit before body"/>
          <p:cNvSpPr txBox="1"/>
          <p:nvPr/>
        </p:nvSpPr>
        <p:spPr>
          <a:xfrm>
            <a:off x="932688" y="1773936"/>
            <a:ext cx="4791455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它是 urgent override 門檻，不直接定義能量。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問題：哪個 observation 使 urgent branch 先返回？</a:t>
            </a:r>
          </a:p>
        </p:txBody>
      </p:sp>
      <p:sp>
        <p:nvSpPr>
          <p:cNvPr id="9" name="Exact edit after"/>
          <p:cNvSpPr/>
          <p:nvPr/>
        </p:nvSpPr>
        <p:spPr>
          <a:xfrm>
            <a:off x="6272784" y="1298448"/>
            <a:ext cx="5084064" cy="188366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Exact edit after heading"/>
          <p:cNvSpPr txBox="1"/>
          <p:nvPr/>
        </p:nvSpPr>
        <p:spPr>
          <a:xfrm>
            <a:off x="6400800" y="1408176"/>
            <a:ext cx="482803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修改後完整句</a:t>
            </a:r>
          </a:p>
        </p:txBody>
      </p:sp>
      <p:sp>
        <p:nvSpPr>
          <p:cNvPr id="11" name="Exact edit after body"/>
          <p:cNvSpPr txBox="1"/>
          <p:nvPr/>
        </p:nvSpPr>
        <p:spPr>
          <a:xfrm>
            <a:off x="6419088" y="1773936"/>
            <a:ext cx="4791455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30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期限更逼近時才觸發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問題：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與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欄位的狀態為何？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25312" y="2249424"/>
            <a:ext cx="29260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xact code line"/>
          <p:cNvSpPr/>
          <p:nvPr/>
        </p:nvSpPr>
        <p:spPr>
          <a:xfrm>
            <a:off x="1005840" y="3529584"/>
            <a:ext cx="10040112" cy="13350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Exact code line text"/>
          <p:cNvSpPr txBox="1"/>
          <p:nvPr/>
        </p:nvSpPr>
        <p:spPr>
          <a:xfrm>
            <a:off x="1261872" y="3767328"/>
            <a:ext cx="9528048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BATCH_SIZE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1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= 30    ← exact edit</a:t>
            </a:r>
          </a:p>
        </p:txBody>
      </p:sp>
      <p:sp>
        <p:nvSpPr>
          <p:cNvPr id="15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POLICY SURFACE｜marked block only｜SIMULATED TEACHING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P071｜revision run 前：較早介入的可反駁預測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prediction lock：margin 30 先寫機制，再跑 candidate</a:t>
            </a:r>
          </a:p>
        </p:txBody>
      </p:sp>
      <p:sp>
        <p:nvSpPr>
          <p:cNvPr id="6" name="Prediction evidence"/>
          <p:cNvSpPr/>
          <p:nvPr/>
        </p:nvSpPr>
        <p:spPr>
          <a:xfrm>
            <a:off x="694944" y="1408176"/>
            <a:ext cx="2615184" cy="20116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Prediction evidence heading"/>
          <p:cNvSpPr txBox="1"/>
          <p:nvPr/>
        </p:nvSpPr>
        <p:spPr>
          <a:xfrm>
            <a:off x="822960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urgent timing</a:t>
            </a:r>
          </a:p>
        </p:txBody>
      </p:sp>
      <p:sp>
        <p:nvSpPr>
          <p:cNvPr id="8" name="Prediction evidence body"/>
          <p:cNvSpPr txBox="1"/>
          <p:nvPr/>
        </p:nvSpPr>
        <p:spPr>
          <a:xfrm>
            <a:off x="841248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可能較晚／較早觸發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310128" y="2414016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ediction evidence"/>
          <p:cNvSpPr/>
          <p:nvPr/>
        </p:nvSpPr>
        <p:spPr>
          <a:xfrm>
            <a:off x="3474720" y="1408176"/>
            <a:ext cx="2615184" cy="201168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Prediction evidence heading"/>
          <p:cNvSpPr txBox="1"/>
          <p:nvPr/>
        </p:nvSpPr>
        <p:spPr>
          <a:xfrm>
            <a:off x="3602736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／packet</a:t>
            </a:r>
          </a:p>
        </p:txBody>
      </p:sp>
      <p:sp>
        <p:nvSpPr>
          <p:cNvPr id="12" name="Prediction evidence body"/>
          <p:cNvSpPr txBox="1"/>
          <p:nvPr/>
        </p:nvSpPr>
        <p:spPr>
          <a:xfrm>
            <a:off x="3621024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等待、delivery、expiry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6089904" y="2414016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ediction evidence"/>
          <p:cNvSpPr/>
          <p:nvPr/>
        </p:nvSpPr>
        <p:spPr>
          <a:xfrm>
            <a:off x="6254496" y="1408176"/>
            <a:ext cx="2615184" cy="20116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Prediction evidence heading"/>
          <p:cNvSpPr txBox="1"/>
          <p:nvPr/>
        </p:nvSpPr>
        <p:spPr>
          <a:xfrm>
            <a:off x="6382512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16" name="Prediction evidence body"/>
          <p:cNvSpPr txBox="1"/>
          <p:nvPr/>
        </p:nvSpPr>
        <p:spPr>
          <a:xfrm>
            <a:off x="6400800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可能 PASS，也可能 FAIL</a:t>
            </a:r>
          </a:p>
        </p:txBody>
      </p:sp>
      <p:cxnSp>
        <p:nvCxnSpPr>
          <p:cNvPr id="17" name="Editable connector"/>
          <p:cNvCxnSpPr/>
          <p:nvPr/>
        </p:nvCxnSpPr>
        <p:spPr>
          <a:xfrm>
            <a:off x="8869680" y="2414016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ediction evidence"/>
          <p:cNvSpPr/>
          <p:nvPr/>
        </p:nvSpPr>
        <p:spPr>
          <a:xfrm>
            <a:off x="9034272" y="1408176"/>
            <a:ext cx="2615184" cy="20116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Prediction evidence heading"/>
          <p:cNvSpPr txBox="1"/>
          <p:nvPr/>
        </p:nvSpPr>
        <p:spPr>
          <a:xfrm>
            <a:off x="9162288" y="1517904"/>
            <a:ext cx="23591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state／</a:t>
            </a: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20" name="Prediction evidence body"/>
          <p:cNvSpPr txBox="1"/>
          <p:nvPr/>
        </p:nvSpPr>
        <p:spPr>
          <a:xfrm>
            <a:off x="9180576" y="1883664"/>
            <a:ext cx="2322576" cy="14264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wake／TX／retry 再解釋</a:t>
            </a:r>
          </a:p>
        </p:txBody>
      </p:sp>
      <p:sp>
        <p:nvSpPr>
          <p:cNvPr id="21" name="Prediction sentence"/>
          <p:cNvSpPr/>
          <p:nvPr/>
        </p:nvSpPr>
        <p:spPr>
          <a:xfrm>
            <a:off x="950976" y="3822191"/>
            <a:ext cx="10131552" cy="9875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2" name="Prediction sentence text"/>
          <p:cNvSpPr txBox="1"/>
          <p:nvPr/>
        </p:nvSpPr>
        <p:spPr>
          <a:xfrm>
            <a:off x="1188720" y="4023360"/>
            <a:ext cx="9656064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完整句：我把 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改成 30，預測 action 時機會改變；接著用 packet、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、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、state ledger 檢驗。具體問題：哪個 gate 失敗會推翻「只是省能量」？</a:t>
            </a:r>
          </a:p>
        </p:txBody>
      </p:sp>
      <p:sp>
        <p:nvSpPr>
          <p:cNvPr id="23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P072｜第二輪 compact run／receipt：revision freeze → surprise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一頁快速 run：命令完成後立刻保存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result_path</a:t>
            </a:r>
          </a:p>
        </p:txBody>
      </p:sp>
      <p:sp>
        <p:nvSpPr>
          <p:cNvPr id="6" name="Compact run left"/>
          <p:cNvSpPr/>
          <p:nvPr/>
        </p:nvSpPr>
        <p:spPr>
          <a:xfrm>
            <a:off x="731520" y="1225296"/>
            <a:ext cx="5230368" cy="331012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Compact run left heading"/>
          <p:cNvSpPr txBox="1"/>
          <p:nvPr/>
        </p:nvSpPr>
        <p:spPr>
          <a:xfrm>
            <a:off x="859536" y="1335024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REVISION + FREEZE</a:t>
            </a:r>
          </a:p>
        </p:txBody>
      </p:sp>
      <p:sp>
        <p:nvSpPr>
          <p:cNvPr id="8" name="Compact run left body"/>
          <p:cNvSpPr txBox="1"/>
          <p:nvPr/>
        </p:nvSpPr>
        <p:spPr>
          <a:xfrm>
            <a:off x="877824" y="1700784"/>
            <a:ext cx="4937759" cy="2724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bash course.sh run --lab C --case revision --freeze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margin 30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freeze receipt +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result_path</a:t>
            </a:r>
          </a:p>
        </p:txBody>
      </p:sp>
      <p:sp>
        <p:nvSpPr>
          <p:cNvPr id="9" name="Compact run right"/>
          <p:cNvSpPr/>
          <p:nvPr/>
        </p:nvSpPr>
        <p:spPr>
          <a:xfrm>
            <a:off x="6217920" y="1225296"/>
            <a:ext cx="5230368" cy="33101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Compact run right heading"/>
          <p:cNvSpPr txBox="1"/>
          <p:nvPr/>
        </p:nvSpPr>
        <p:spPr>
          <a:xfrm>
            <a:off x="6345936" y="1335024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SURPRISE WITHHELD</a:t>
            </a:r>
          </a:p>
        </p:txBody>
      </p:sp>
      <p:sp>
        <p:nvSpPr>
          <p:cNvPr id="11" name="Compact run right body"/>
          <p:cNvSpPr txBox="1"/>
          <p:nvPr/>
        </p:nvSpPr>
        <p:spPr>
          <a:xfrm>
            <a:off x="6364224" y="1700784"/>
            <a:ext cx="4937759" cy="2724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bash course.sh run --lab C --case surprise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policy bytes unchanged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→ replay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98464" y="2852928"/>
            <a:ext cx="18288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un teaching boundary"/>
          <p:cNvSpPr txBox="1"/>
          <p:nvPr/>
        </p:nvSpPr>
        <p:spPr>
          <a:xfrm>
            <a:off x="914400" y="4718304"/>
            <a:ext cx="1031443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receipt 只證明 artifact path 被產出；下一步讀來源、identity、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、replay。不要用 run 本身拖長教學。</a:t>
            </a:r>
          </a:p>
        </p:txBody>
      </p:sp>
      <p:sp>
        <p:nvSpPr>
          <p:cNvPr id="14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P073｜before／after／revision：三筆結果要沿同一條因果鏈讀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三筆 deterministic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：同一 scenario，先看 gate</a:t>
            </a:r>
          </a:p>
        </p:txBody>
      </p:sp>
      <p:sp>
        <p:nvSpPr>
          <p:cNvPr id="6" name="Ledger header"/>
          <p:cNvSpPr/>
          <p:nvPr/>
        </p:nvSpPr>
        <p:spPr>
          <a:xfrm>
            <a:off x="676656" y="1152144"/>
            <a:ext cx="1499616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role</a:t>
            </a:r>
          </a:p>
        </p:txBody>
      </p:sp>
      <p:sp>
        <p:nvSpPr>
          <p:cNvPr id="7" name="Ledger header"/>
          <p:cNvSpPr/>
          <p:nvPr/>
        </p:nvSpPr>
        <p:spPr>
          <a:xfrm>
            <a:off x="2267712" y="1152144"/>
            <a:ext cx="950976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margin</a:t>
            </a:r>
          </a:p>
        </p:txBody>
      </p:sp>
      <p:sp>
        <p:nvSpPr>
          <p:cNvPr id="8" name="Ledger header"/>
          <p:cNvSpPr/>
          <p:nvPr/>
        </p:nvSpPr>
        <p:spPr>
          <a:xfrm>
            <a:off x="3310128" y="1152144"/>
            <a:ext cx="1170432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delivered bit</a:t>
            </a:r>
          </a:p>
        </p:txBody>
      </p:sp>
      <p:sp>
        <p:nvSpPr>
          <p:cNvPr id="9" name="Ledger header"/>
          <p:cNvSpPr/>
          <p:nvPr/>
        </p:nvSpPr>
        <p:spPr>
          <a:xfrm>
            <a:off x="4608576" y="1152144"/>
            <a:ext cx="1170432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10" name="Ledger header"/>
          <p:cNvSpPr/>
          <p:nvPr/>
        </p:nvSpPr>
        <p:spPr>
          <a:xfrm>
            <a:off x="5961888" y="1152144"/>
            <a:ext cx="1609344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</p:txBody>
      </p:sp>
      <p:sp>
        <p:nvSpPr>
          <p:cNvPr id="11" name="Ledger header"/>
          <p:cNvSpPr/>
          <p:nvPr/>
        </p:nvSpPr>
        <p:spPr>
          <a:xfrm>
            <a:off x="7717536" y="1152144"/>
            <a:ext cx="2834640" cy="31089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12" name="Ledger cell"/>
          <p:cNvSpPr/>
          <p:nvPr/>
        </p:nvSpPr>
        <p:spPr>
          <a:xfrm>
            <a:off x="676656" y="1627632"/>
            <a:ext cx="1499616" cy="6583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before／baseline</a:t>
            </a:r>
          </a:p>
        </p:txBody>
      </p:sp>
      <p:sp>
        <p:nvSpPr>
          <p:cNvPr id="13" name="Ledger cell"/>
          <p:cNvSpPr/>
          <p:nvPr/>
        </p:nvSpPr>
        <p:spPr>
          <a:xfrm>
            <a:off x="2267712" y="1627632"/>
            <a:ext cx="950976" cy="6583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20</a:t>
            </a:r>
          </a:p>
        </p:txBody>
      </p:sp>
      <p:sp>
        <p:nvSpPr>
          <p:cNvPr id="14" name="Ledger cell"/>
          <p:cNvSpPr/>
          <p:nvPr/>
        </p:nvSpPr>
        <p:spPr>
          <a:xfrm>
            <a:off x="3310128" y="1627632"/>
            <a:ext cx="1170432" cy="6583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10,400</a:t>
            </a:r>
          </a:p>
        </p:txBody>
      </p:sp>
      <p:sp>
        <p:nvSpPr>
          <p:cNvPr id="15" name="Ledger cell"/>
          <p:cNvSpPr/>
          <p:nvPr/>
        </p:nvSpPr>
        <p:spPr>
          <a:xfrm>
            <a:off x="4608576" y="1627632"/>
            <a:ext cx="1170432" cy="6583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10.66</a:t>
            </a:r>
          </a:p>
        </p:txBody>
      </p:sp>
      <p:sp>
        <p:nvSpPr>
          <p:cNvPr id="16" name="Ledger cell"/>
          <p:cNvSpPr/>
          <p:nvPr/>
        </p:nvSpPr>
        <p:spPr>
          <a:xfrm>
            <a:off x="5961888" y="1627632"/>
            <a:ext cx="1609344" cy="6583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975.609756</a:t>
            </a:r>
          </a:p>
        </p:txBody>
      </p:sp>
      <p:sp>
        <p:nvSpPr>
          <p:cNvPr id="17" name="Ledger cell"/>
          <p:cNvSpPr/>
          <p:nvPr/>
        </p:nvSpPr>
        <p:spPr>
          <a:xfrm>
            <a:off x="7717536" y="1627632"/>
            <a:ext cx="2834640" cy="65836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PASS／PASS</a:t>
            </a:r>
          </a:p>
        </p:txBody>
      </p:sp>
      <p:sp>
        <p:nvSpPr>
          <p:cNvPr id="18" name="Ledger cell"/>
          <p:cNvSpPr/>
          <p:nvPr/>
        </p:nvSpPr>
        <p:spPr>
          <a:xfrm>
            <a:off x="676656" y="2523744"/>
            <a:ext cx="1499616" cy="6583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after／candidate</a:t>
            </a:r>
          </a:p>
        </p:txBody>
      </p:sp>
      <p:sp>
        <p:nvSpPr>
          <p:cNvPr id="19" name="Ledger cell"/>
          <p:cNvSpPr/>
          <p:nvPr/>
        </p:nvSpPr>
        <p:spPr>
          <a:xfrm>
            <a:off x="2267712" y="2523744"/>
            <a:ext cx="950976" cy="6583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5</a:t>
            </a:r>
          </a:p>
        </p:txBody>
      </p:sp>
      <p:sp>
        <p:nvSpPr>
          <p:cNvPr id="20" name="Ledger cell"/>
          <p:cNvSpPr/>
          <p:nvPr/>
        </p:nvSpPr>
        <p:spPr>
          <a:xfrm>
            <a:off x="3310128" y="2523744"/>
            <a:ext cx="1170432" cy="6583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9,600</a:t>
            </a:r>
          </a:p>
        </p:txBody>
      </p:sp>
      <p:sp>
        <p:nvSpPr>
          <p:cNvPr id="21" name="Ledger cell"/>
          <p:cNvSpPr/>
          <p:nvPr/>
        </p:nvSpPr>
        <p:spPr>
          <a:xfrm>
            <a:off x="4608576" y="2523744"/>
            <a:ext cx="1170432" cy="6583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9.74</a:t>
            </a:r>
          </a:p>
        </p:txBody>
      </p:sp>
      <p:sp>
        <p:nvSpPr>
          <p:cNvPr id="22" name="Ledger cell"/>
          <p:cNvSpPr/>
          <p:nvPr/>
        </p:nvSpPr>
        <p:spPr>
          <a:xfrm>
            <a:off x="5961888" y="2523744"/>
            <a:ext cx="1609344" cy="6583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985.626283</a:t>
            </a:r>
          </a:p>
        </p:txBody>
      </p:sp>
      <p:sp>
        <p:nvSpPr>
          <p:cNvPr id="23" name="Ledger cell"/>
          <p:cNvSpPr/>
          <p:nvPr/>
        </p:nvSpPr>
        <p:spPr>
          <a:xfrm>
            <a:off x="7717536" y="2523744"/>
            <a:ext cx="2834640" cy="65836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FAIL／FAIL</a:t>
            </a:r>
          </a:p>
        </p:txBody>
      </p:sp>
      <p:sp>
        <p:nvSpPr>
          <p:cNvPr id="24" name="Ledger cell"/>
          <p:cNvSpPr/>
          <p:nvPr/>
        </p:nvSpPr>
        <p:spPr>
          <a:xfrm>
            <a:off x="676656" y="3419856"/>
            <a:ext cx="1499616" cy="6583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revision</a:t>
            </a:r>
          </a:p>
        </p:txBody>
      </p:sp>
      <p:sp>
        <p:nvSpPr>
          <p:cNvPr id="25" name="Ledger cell"/>
          <p:cNvSpPr/>
          <p:nvPr/>
        </p:nvSpPr>
        <p:spPr>
          <a:xfrm>
            <a:off x="2267712" y="3419856"/>
            <a:ext cx="950976" cy="6583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30</a:t>
            </a:r>
          </a:p>
        </p:txBody>
      </p:sp>
      <p:sp>
        <p:nvSpPr>
          <p:cNvPr id="26" name="Ledger cell"/>
          <p:cNvSpPr/>
          <p:nvPr/>
        </p:nvSpPr>
        <p:spPr>
          <a:xfrm>
            <a:off x="3310128" y="3419856"/>
            <a:ext cx="1170432" cy="6583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10,400</a:t>
            </a:r>
          </a:p>
        </p:txBody>
      </p:sp>
      <p:sp>
        <p:nvSpPr>
          <p:cNvPr id="27" name="Ledger cell"/>
          <p:cNvSpPr/>
          <p:nvPr/>
        </p:nvSpPr>
        <p:spPr>
          <a:xfrm>
            <a:off x="4608576" y="3419856"/>
            <a:ext cx="1170432" cy="6583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10.66</a:t>
            </a:r>
          </a:p>
        </p:txBody>
      </p:sp>
      <p:sp>
        <p:nvSpPr>
          <p:cNvPr id="28" name="Ledger cell"/>
          <p:cNvSpPr/>
          <p:nvPr/>
        </p:nvSpPr>
        <p:spPr>
          <a:xfrm>
            <a:off x="5961888" y="3419856"/>
            <a:ext cx="1609344" cy="6583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975.609756</a:t>
            </a:r>
          </a:p>
        </p:txBody>
      </p:sp>
      <p:sp>
        <p:nvSpPr>
          <p:cNvPr id="29" name="Ledger cell"/>
          <p:cNvSpPr/>
          <p:nvPr/>
        </p:nvSpPr>
        <p:spPr>
          <a:xfrm>
            <a:off x="7717536" y="3419856"/>
            <a:ext cx="2834640" cy="65836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PASS／PASS</a:t>
            </a:r>
          </a:p>
        </p:txBody>
      </p:sp>
      <p:sp>
        <p:nvSpPr>
          <p:cNvPr id="30" name="Three-way causal sentence"/>
          <p:cNvSpPr txBox="1"/>
          <p:nvPr/>
        </p:nvSpPr>
        <p:spPr>
          <a:xfrm>
            <a:off x="914400" y="4517136"/>
            <a:ext cx="1031443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完整句：candidate 少交付且兩個 gate 失敗；revision 在固定 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恢復 gate，所以解釋的是較早介入的 trade-off；結論不延伸為 30 永遠最佳。</a:t>
            </a:r>
          </a:p>
        </p:txBody>
      </p:sp>
      <p:sp>
        <p:nvSpPr>
          <p:cNvPr id="31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P074｜surprise withheld：policy frozen，反例留存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withheld：policy frozen，反例不重調</a:t>
            </a:r>
          </a:p>
        </p:txBody>
      </p:sp>
      <p:sp>
        <p:nvSpPr>
          <p:cNvPr id="6" name="Frozen policy"/>
          <p:cNvSpPr/>
          <p:nvPr/>
        </p:nvSpPr>
        <p:spPr>
          <a:xfrm>
            <a:off x="786384" y="1389888"/>
            <a:ext cx="5065776" cy="272491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Frozen policy heading"/>
          <p:cNvSpPr txBox="1"/>
          <p:nvPr/>
        </p:nvSpPr>
        <p:spPr>
          <a:xfrm>
            <a:off x="914400" y="1499616"/>
            <a:ext cx="4809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FROZEN REVISION</a:t>
            </a:r>
          </a:p>
        </p:txBody>
      </p:sp>
      <p:sp>
        <p:nvSpPr>
          <p:cNvPr id="8" name="Frozen policy body"/>
          <p:cNvSpPr txBox="1"/>
          <p:nvPr/>
        </p:nvSpPr>
        <p:spPr>
          <a:xfrm>
            <a:off x="932688" y="1865376"/>
            <a:ext cx="4773168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URGENT_MARGIN_S</a:t>
            </a: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= 30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policy bytes unchanged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保留 revision receipt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不新增 edit</a:t>
            </a:r>
          </a:p>
        </p:txBody>
      </p:sp>
      <p:sp>
        <p:nvSpPr>
          <p:cNvPr id="9" name="Surprise evidence"/>
          <p:cNvSpPr/>
          <p:nvPr/>
        </p:nvSpPr>
        <p:spPr>
          <a:xfrm>
            <a:off x="6272784" y="1389888"/>
            <a:ext cx="5065776" cy="2724912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Surprise evidence heading"/>
          <p:cNvSpPr txBox="1"/>
          <p:nvPr/>
        </p:nvSpPr>
        <p:spPr>
          <a:xfrm>
            <a:off x="6400800" y="1499616"/>
            <a:ext cx="4809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SURPRISE FALLBACK</a:t>
            </a:r>
          </a:p>
        </p:txBody>
      </p:sp>
      <p:sp>
        <p:nvSpPr>
          <p:cNvPr id="11" name="Surprise evidence body"/>
          <p:cNvSpPr txBox="1"/>
          <p:nvPr/>
        </p:nvSpPr>
        <p:spPr>
          <a:xfrm>
            <a:off x="6419088" y="1865376"/>
            <a:ext cx="4773168" cy="21396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2,400 delivered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5.41 J｜443.622921 </a:t>
            </a:r>
            <a:r>
              <a:rPr sz="21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3 retransmissions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3 expired packets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FAIL｜</a:t>
            </a:r>
            <a:r>
              <a:rPr sz="21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FAIL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07024" y="2743200"/>
            <a:ext cx="310896" cy="0"/>
          </a:xfrm>
          <a:prstGeom prst="line">
            <a:avLst/>
          </a:prstGeom>
          <a:ln w="2540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urprise boundary"/>
          <p:cNvSpPr txBox="1"/>
          <p:nvPr/>
        </p:nvSpPr>
        <p:spPr>
          <a:xfrm>
            <a:off x="914400" y="4443984"/>
            <a:ext cx="10351008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具體問題：5.41 J 比 revision 低，是否再改 margin？答案：不要；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FAIL，保存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result_path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與 provenance，使 surprise 界定 claim ceiling。</a:t>
            </a:r>
          </a:p>
        </p:txBody>
      </p:sp>
      <p:sp>
        <p:nvSpPr>
          <p:cNvPr id="14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P075｜Lab C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gate 優先於 J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gate-first：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先於 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6" name="Gate ladder"/>
          <p:cNvSpPr/>
          <p:nvPr/>
        </p:nvSpPr>
        <p:spPr>
          <a:xfrm>
            <a:off x="822960" y="1389888"/>
            <a:ext cx="2395728" cy="118872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Gate ladder heading"/>
          <p:cNvSpPr txBox="1"/>
          <p:nvPr/>
        </p:nvSpPr>
        <p:spPr>
          <a:xfrm>
            <a:off x="950976" y="1499616"/>
            <a:ext cx="213969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1｜</a:t>
            </a: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service</a:t>
            </a:r>
          </a:p>
        </p:txBody>
      </p:sp>
      <p:sp>
        <p:nvSpPr>
          <p:cNvPr id="8" name="Gate ladder body"/>
          <p:cNvSpPr txBox="1"/>
          <p:nvPr/>
        </p:nvSpPr>
        <p:spPr>
          <a:xfrm>
            <a:off x="969264" y="1865376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工作是否保住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218688" y="1984248"/>
            <a:ext cx="256032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Gate ladder"/>
          <p:cNvSpPr/>
          <p:nvPr/>
        </p:nvSpPr>
        <p:spPr>
          <a:xfrm>
            <a:off x="3584448" y="1618488"/>
            <a:ext cx="2395728" cy="118872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Gate ladder heading"/>
          <p:cNvSpPr txBox="1"/>
          <p:nvPr/>
        </p:nvSpPr>
        <p:spPr>
          <a:xfrm>
            <a:off x="3712463" y="1728216"/>
            <a:ext cx="213969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2｜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12" name="Gate ladder body"/>
          <p:cNvSpPr txBox="1"/>
          <p:nvPr/>
        </p:nvSpPr>
        <p:spPr>
          <a:xfrm>
            <a:off x="3730752" y="2093976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期限／freshness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5980176" y="2212848"/>
            <a:ext cx="256032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Gate ladder"/>
          <p:cNvSpPr/>
          <p:nvPr/>
        </p:nvSpPr>
        <p:spPr>
          <a:xfrm>
            <a:off x="6345936" y="1847088"/>
            <a:ext cx="2395728" cy="118872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Gate ladder heading"/>
          <p:cNvSpPr txBox="1"/>
          <p:nvPr/>
        </p:nvSpPr>
        <p:spPr>
          <a:xfrm>
            <a:off x="6473952" y="1956816"/>
            <a:ext cx="213969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3｜delivery</a:t>
            </a:r>
          </a:p>
        </p:txBody>
      </p:sp>
      <p:sp>
        <p:nvSpPr>
          <p:cNvPr id="16" name="Gate ladder body"/>
          <p:cNvSpPr txBox="1"/>
          <p:nvPr/>
        </p:nvSpPr>
        <p:spPr>
          <a:xfrm>
            <a:off x="6492240" y="2322576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bit／expired／retry</a:t>
            </a:r>
          </a:p>
        </p:txBody>
      </p:sp>
      <p:cxnSp>
        <p:nvCxnSpPr>
          <p:cNvPr id="17" name="Editable connector"/>
          <p:cNvCxnSpPr/>
          <p:nvPr/>
        </p:nvCxnSpPr>
        <p:spPr>
          <a:xfrm>
            <a:off x="8741664" y="2441448"/>
            <a:ext cx="256032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Gate ladder"/>
          <p:cNvSpPr/>
          <p:nvPr/>
        </p:nvSpPr>
        <p:spPr>
          <a:xfrm>
            <a:off x="9107424" y="2075688"/>
            <a:ext cx="2395728" cy="118872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Gate ladder heading"/>
          <p:cNvSpPr txBox="1"/>
          <p:nvPr/>
        </p:nvSpPr>
        <p:spPr>
          <a:xfrm>
            <a:off x="9235440" y="2185416"/>
            <a:ext cx="213969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4｜</a:t>
            </a: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20" name="Gate ladder body"/>
          <p:cNvSpPr txBox="1"/>
          <p:nvPr/>
        </p:nvSpPr>
        <p:spPr>
          <a:xfrm>
            <a:off x="9253728" y="2551176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最後才描述</a:t>
            </a:r>
          </a:p>
        </p:txBody>
      </p:sp>
      <p:sp>
        <p:nvSpPr>
          <p:cNvPr id="21" name="Gate conclusion"/>
          <p:cNvSpPr txBox="1"/>
          <p:nvPr/>
        </p:nvSpPr>
        <p:spPr>
          <a:xfrm>
            <a:off x="1005840" y="4206240"/>
            <a:ext cx="1009497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收束句：margin 會改變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／energy trade-off；效果依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condition 而定，高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bit/J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不構成成功判定。</a:t>
            </a:r>
          </a:p>
        </p:txBody>
      </p:sp>
      <p:sp>
        <p:nvSpPr>
          <p:cNvPr id="22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P076｜網站責任：驗證、重播、保存；Python 由 terminal runner 執行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website boundary：驗證、重播、保存，不執行 Python</a:t>
            </a:r>
          </a:p>
        </p:txBody>
      </p:sp>
      <p:sp>
        <p:nvSpPr>
          <p:cNvPr id="6" name="Website responsibility"/>
          <p:cNvSpPr/>
          <p:nvPr/>
        </p:nvSpPr>
        <p:spPr>
          <a:xfrm>
            <a:off x="566928" y="1371600"/>
            <a:ext cx="2542032" cy="2084831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Website responsibility heading"/>
          <p:cNvSpPr txBox="1"/>
          <p:nvPr/>
        </p:nvSpPr>
        <p:spPr>
          <a:xfrm>
            <a:off x="694944" y="14813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本機 runner</a:t>
            </a:r>
          </a:p>
        </p:txBody>
      </p:sp>
      <p:sp>
        <p:nvSpPr>
          <p:cNvPr id="8" name="Website responsibility body"/>
          <p:cNvSpPr txBox="1"/>
          <p:nvPr/>
        </p:nvSpPr>
        <p:spPr>
          <a:xfrm>
            <a:off x="713232" y="1847088"/>
            <a:ext cx="2249424" cy="14996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產生 </a:t>
            </a:r>
            <a:r>
              <a:rPr sz="21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result.json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108960" y="2414016"/>
            <a:ext cx="20116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ebsite responsibility"/>
          <p:cNvSpPr/>
          <p:nvPr/>
        </p:nvSpPr>
        <p:spPr>
          <a:xfrm>
            <a:off x="3328416" y="1371600"/>
            <a:ext cx="2542032" cy="2084831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Website responsibility heading"/>
          <p:cNvSpPr txBox="1"/>
          <p:nvPr/>
        </p:nvSpPr>
        <p:spPr>
          <a:xfrm>
            <a:off x="3456432" y="14813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import gate</a:t>
            </a:r>
          </a:p>
        </p:txBody>
      </p:sp>
      <p:sp>
        <p:nvSpPr>
          <p:cNvPr id="12" name="Website responsibility body"/>
          <p:cNvSpPr txBox="1"/>
          <p:nvPr/>
        </p:nvSpPr>
        <p:spPr>
          <a:xfrm>
            <a:off x="3474720" y="1847088"/>
            <a:ext cx="2249424" cy="14996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schema／identity／units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lineage／hash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5870448" y="2414016"/>
            <a:ext cx="20116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Website responsibility"/>
          <p:cNvSpPr/>
          <p:nvPr/>
        </p:nvSpPr>
        <p:spPr>
          <a:xfrm>
            <a:off x="6089904" y="1371600"/>
            <a:ext cx="2542032" cy="2084831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Website responsibility heading"/>
          <p:cNvSpPr txBox="1"/>
          <p:nvPr/>
        </p:nvSpPr>
        <p:spPr>
          <a:xfrm>
            <a:off x="6217920" y="14813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Leo replay</a:t>
            </a:r>
          </a:p>
        </p:txBody>
      </p:sp>
      <p:sp>
        <p:nvSpPr>
          <p:cNvPr id="16" name="Website responsibility body"/>
          <p:cNvSpPr txBox="1"/>
          <p:nvPr/>
        </p:nvSpPr>
        <p:spPr>
          <a:xfrm>
            <a:off x="6236208" y="1847088"/>
            <a:ext cx="2249424" cy="14996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endpoint fields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／event／timeline</a:t>
            </a:r>
          </a:p>
        </p:txBody>
      </p:sp>
      <p:cxnSp>
        <p:nvCxnSpPr>
          <p:cNvPr id="17" name="Editable connector"/>
          <p:cNvCxnSpPr/>
          <p:nvPr/>
        </p:nvCxnSpPr>
        <p:spPr>
          <a:xfrm>
            <a:off x="8631936" y="2414016"/>
            <a:ext cx="20116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Website responsibility"/>
          <p:cNvSpPr/>
          <p:nvPr/>
        </p:nvSpPr>
        <p:spPr>
          <a:xfrm>
            <a:off x="8851392" y="1371600"/>
            <a:ext cx="2542032" cy="2084831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Website responsibility heading"/>
          <p:cNvSpPr txBox="1"/>
          <p:nvPr/>
        </p:nvSpPr>
        <p:spPr>
          <a:xfrm>
            <a:off x="8979408" y="14813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Workbook</a:t>
            </a:r>
          </a:p>
        </p:txBody>
      </p:sp>
      <p:sp>
        <p:nvSpPr>
          <p:cNvPr id="20" name="Website responsibility body"/>
          <p:cNvSpPr txBox="1"/>
          <p:nvPr/>
        </p:nvSpPr>
        <p:spPr>
          <a:xfrm>
            <a:off x="8997696" y="1847088"/>
            <a:ext cx="2249424" cy="14996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prediction／role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source／checkpoint</a:t>
            </a:r>
          </a:p>
        </p:txBody>
      </p:sp>
      <p:sp>
        <p:nvSpPr>
          <p:cNvPr id="21" name="Website boundary text"/>
          <p:cNvSpPr txBox="1"/>
          <p:nvPr/>
        </p:nvSpPr>
        <p:spPr>
          <a:xfrm>
            <a:off x="914400" y="3968496"/>
            <a:ext cx="10314432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網站不下載／安裝 Python，不執行 policy，不重算 provider；它只把已產生且通過 gate 的 artifact 帶進 replay 與 workbook。</a:t>
            </a:r>
          </a:p>
        </p:txBody>
      </p:sp>
      <p:sp>
        <p:nvSpPr>
          <p:cNvPr id="22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P077｜import gate：source／gates／hash 的讀取順序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import ladder：source → gates → hash → accepted／rejected</a:t>
            </a:r>
          </a:p>
        </p:txBody>
      </p:sp>
      <p:pic>
        <p:nvPicPr>
          <p:cNvPr id="6" name="Actual upload header evidence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25296"/>
            <a:ext cx="5175504" cy="2048256"/>
          </a:xfrm>
          <a:prstGeom prst="rect">
            <a:avLst/>
          </a:prstGeom>
        </p:spPr>
      </p:pic>
      <p:sp>
        <p:nvSpPr>
          <p:cNvPr id="7" name="Import gate order"/>
          <p:cNvSpPr/>
          <p:nvPr/>
        </p:nvSpPr>
        <p:spPr>
          <a:xfrm>
            <a:off x="6181344" y="1225296"/>
            <a:ext cx="5138928" cy="204825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Import gate order heading"/>
          <p:cNvSpPr txBox="1"/>
          <p:nvPr/>
        </p:nvSpPr>
        <p:spPr>
          <a:xfrm>
            <a:off x="6309359" y="1335024"/>
            <a:ext cx="488289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GATE ORDER</a:t>
            </a:r>
          </a:p>
        </p:txBody>
      </p:sp>
      <p:sp>
        <p:nvSpPr>
          <p:cNvPr id="9" name="Import gate order body"/>
          <p:cNvSpPr txBox="1"/>
          <p:nvPr/>
        </p:nvSpPr>
        <p:spPr>
          <a:xfrm>
            <a:off x="6327648" y="1700784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選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format／schema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experiment／case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lineage／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policy hash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import state</a:t>
            </a:r>
          </a:p>
        </p:txBody>
      </p:sp>
      <p:sp>
        <p:nvSpPr>
          <p:cNvPr id="10" name="Import accepted identity"/>
          <p:cNvSpPr txBox="1"/>
          <p:nvPr/>
        </p:nvSpPr>
        <p:spPr>
          <a:xfrm>
            <a:off x="841248" y="3602736"/>
            <a:ext cx="10369296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匯入狀態：已接受｜實驗 A／baseline｜來源：實際執行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驗證範圍：endpoint result 的 schema、identity、units 與 provenance。</a:t>
            </a:r>
          </a:p>
        </p:txBody>
      </p:sp>
      <p:sp>
        <p:nvSpPr>
          <p:cNvPr id="11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P078｜frame selector 與事件脈絡：回到 policy branch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replay 的一個 frame 同時帶著八個欄位與事件脈絡</a:t>
            </a:r>
          </a:p>
        </p:txBody>
      </p:sp>
      <p:sp>
        <p:nvSpPr>
          <p:cNvPr id="6" name="Frame selector"/>
          <p:cNvSpPr/>
          <p:nvPr/>
        </p:nvSpPr>
        <p:spPr>
          <a:xfrm>
            <a:off x="768096" y="1243584"/>
            <a:ext cx="2487168" cy="3108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Frame 00</a:t>
            </a:r>
          </a:p>
        </p:txBody>
      </p:sp>
      <p:sp>
        <p:nvSpPr>
          <p:cNvPr id="7" name="Frame selector"/>
          <p:cNvSpPr/>
          <p:nvPr/>
        </p:nvSpPr>
        <p:spPr>
          <a:xfrm>
            <a:off x="3456432" y="1243584"/>
            <a:ext cx="2487168" cy="3108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Frame 01</a:t>
            </a:r>
          </a:p>
        </p:txBody>
      </p:sp>
      <p:sp>
        <p:nvSpPr>
          <p:cNvPr id="8" name="Frame selector"/>
          <p:cNvSpPr/>
          <p:nvPr/>
        </p:nvSpPr>
        <p:spPr>
          <a:xfrm>
            <a:off x="6144768" y="1243584"/>
            <a:ext cx="2487168" cy="31089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Frame 02</a:t>
            </a:r>
          </a:p>
        </p:txBody>
      </p:sp>
      <p:sp>
        <p:nvSpPr>
          <p:cNvPr id="9" name="Frame selector"/>
          <p:cNvSpPr/>
          <p:nvPr/>
        </p:nvSpPr>
        <p:spPr>
          <a:xfrm>
            <a:off x="8833104" y="1243584"/>
            <a:ext cx="2487168" cy="310896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Frame 03</a:t>
            </a:r>
          </a:p>
        </p:txBody>
      </p:sp>
      <p:sp>
        <p:nvSpPr>
          <p:cNvPr id="10" name="Eight replay fields"/>
          <p:cNvSpPr/>
          <p:nvPr/>
        </p:nvSpPr>
        <p:spPr>
          <a:xfrm>
            <a:off x="676656" y="1847088"/>
            <a:ext cx="2542032" cy="7498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Eight replay fields heading"/>
          <p:cNvSpPr txBox="1"/>
          <p:nvPr/>
        </p:nvSpPr>
        <p:spPr>
          <a:xfrm>
            <a:off x="804672" y="195681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Radio</a:t>
            </a:r>
          </a:p>
        </p:txBody>
      </p:sp>
      <p:sp>
        <p:nvSpPr>
          <p:cNvPr id="12" name="Eight replay fields body"/>
          <p:cNvSpPr txBox="1"/>
          <p:nvPr/>
        </p:nvSpPr>
        <p:spPr>
          <a:xfrm>
            <a:off x="822960" y="2322576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SLEEP／TX／RX</a:t>
            </a:r>
          </a:p>
        </p:txBody>
      </p:sp>
      <p:sp>
        <p:nvSpPr>
          <p:cNvPr id="13" name="Eight replay fields"/>
          <p:cNvSpPr/>
          <p:nvPr/>
        </p:nvSpPr>
        <p:spPr>
          <a:xfrm>
            <a:off x="3456432" y="1847088"/>
            <a:ext cx="2542032" cy="7498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Eight replay fields heading"/>
          <p:cNvSpPr txBox="1"/>
          <p:nvPr/>
        </p:nvSpPr>
        <p:spPr>
          <a:xfrm>
            <a:off x="3584448" y="195681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Action</a:t>
            </a:r>
          </a:p>
        </p:txBody>
      </p:sp>
      <p:sp>
        <p:nvSpPr>
          <p:cNvPr id="15" name="Eight replay fields body"/>
          <p:cNvSpPr txBox="1"/>
          <p:nvPr/>
        </p:nvSpPr>
        <p:spPr>
          <a:xfrm>
            <a:off x="3602736" y="2322576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WAIT／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SEND_URGENT</a:t>
            </a:r>
          </a:p>
        </p:txBody>
      </p:sp>
      <p:sp>
        <p:nvSpPr>
          <p:cNvPr id="16" name="Eight replay fields"/>
          <p:cNvSpPr/>
          <p:nvPr/>
        </p:nvSpPr>
        <p:spPr>
          <a:xfrm>
            <a:off x="6236208" y="1847088"/>
            <a:ext cx="2542032" cy="7498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Eight replay fields heading"/>
          <p:cNvSpPr txBox="1"/>
          <p:nvPr/>
        </p:nvSpPr>
        <p:spPr>
          <a:xfrm>
            <a:off x="6364224" y="195681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Queue count</a:t>
            </a:r>
          </a:p>
        </p:txBody>
      </p:sp>
      <p:sp>
        <p:nvSpPr>
          <p:cNvPr id="18" name="Eight replay fields body"/>
          <p:cNvSpPr txBox="1"/>
          <p:nvPr/>
        </p:nvSpPr>
        <p:spPr>
          <a:xfrm>
            <a:off x="6382512" y="2322576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尚待處理</a:t>
            </a:r>
          </a:p>
        </p:txBody>
      </p:sp>
      <p:sp>
        <p:nvSpPr>
          <p:cNvPr id="19" name="Eight replay fields"/>
          <p:cNvSpPr/>
          <p:nvPr/>
        </p:nvSpPr>
        <p:spPr>
          <a:xfrm>
            <a:off x="9015984" y="1847088"/>
            <a:ext cx="2542032" cy="74980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0" name="Eight replay fields heading"/>
          <p:cNvSpPr txBox="1"/>
          <p:nvPr/>
        </p:nvSpPr>
        <p:spPr>
          <a:xfrm>
            <a:off x="9144000" y="195681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累積 </a:t>
            </a: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21" name="Eight replay fields body"/>
          <p:cNvSpPr txBox="1"/>
          <p:nvPr/>
        </p:nvSpPr>
        <p:spPr>
          <a:xfrm>
            <a:off x="9162288" y="2322576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run-to-frame</a:t>
            </a:r>
          </a:p>
        </p:txBody>
      </p:sp>
      <p:sp>
        <p:nvSpPr>
          <p:cNvPr id="22" name="Eight replay fields"/>
          <p:cNvSpPr/>
          <p:nvPr/>
        </p:nvSpPr>
        <p:spPr>
          <a:xfrm>
            <a:off x="676656" y="2779776"/>
            <a:ext cx="2542032" cy="7498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3" name="Eight replay fields heading"/>
          <p:cNvSpPr txBox="1"/>
          <p:nvPr/>
        </p:nvSpPr>
        <p:spPr>
          <a:xfrm>
            <a:off x="804672" y="28895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Elapsed</a:t>
            </a:r>
          </a:p>
        </p:txBody>
      </p:sp>
      <p:sp>
        <p:nvSpPr>
          <p:cNvPr id="24" name="Eight replay fields body"/>
          <p:cNvSpPr txBox="1"/>
          <p:nvPr/>
        </p:nvSpPr>
        <p:spPr>
          <a:xfrm>
            <a:off x="822960" y="3255264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trace elapsed</a:t>
            </a:r>
          </a:p>
        </p:txBody>
      </p:sp>
      <p:sp>
        <p:nvSpPr>
          <p:cNvPr id="25" name="Eight replay fields"/>
          <p:cNvSpPr/>
          <p:nvPr/>
        </p:nvSpPr>
        <p:spPr>
          <a:xfrm>
            <a:off x="3456432" y="2779776"/>
            <a:ext cx="2542032" cy="7498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6" name="Eight replay fields heading"/>
          <p:cNvSpPr txBox="1"/>
          <p:nvPr/>
        </p:nvSpPr>
        <p:spPr>
          <a:xfrm>
            <a:off x="3584448" y="28895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Contact ID</a:t>
            </a:r>
          </a:p>
        </p:txBody>
      </p:sp>
      <p:sp>
        <p:nvSpPr>
          <p:cNvPr id="27" name="Eight replay fields body"/>
          <p:cNvSpPr txBox="1"/>
          <p:nvPr/>
        </p:nvSpPr>
        <p:spPr>
          <a:xfrm>
            <a:off x="3602736" y="3255264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目前 contact</a:t>
            </a:r>
          </a:p>
        </p:txBody>
      </p:sp>
      <p:sp>
        <p:nvSpPr>
          <p:cNvPr id="28" name="Eight replay fields"/>
          <p:cNvSpPr/>
          <p:nvPr/>
        </p:nvSpPr>
        <p:spPr>
          <a:xfrm>
            <a:off x="6236208" y="2779776"/>
            <a:ext cx="2542032" cy="7498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9" name="Eight replay fields heading"/>
          <p:cNvSpPr txBox="1"/>
          <p:nvPr/>
        </p:nvSpPr>
        <p:spPr>
          <a:xfrm>
            <a:off x="6364224" y="28895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Contact</a:t>
            </a:r>
          </a:p>
        </p:txBody>
      </p:sp>
      <p:sp>
        <p:nvSpPr>
          <p:cNvPr id="30" name="Eight replay fields body"/>
          <p:cNvSpPr txBox="1"/>
          <p:nvPr/>
        </p:nvSpPr>
        <p:spPr>
          <a:xfrm>
            <a:off x="6382512" y="3255264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開／關</a:t>
            </a:r>
          </a:p>
        </p:txBody>
      </p:sp>
      <p:sp>
        <p:nvSpPr>
          <p:cNvPr id="31" name="Eight replay fields"/>
          <p:cNvSpPr/>
          <p:nvPr/>
        </p:nvSpPr>
        <p:spPr>
          <a:xfrm>
            <a:off x="9015984" y="2779776"/>
            <a:ext cx="2542032" cy="74980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32" name="Eight replay fields heading"/>
          <p:cNvSpPr txBox="1"/>
          <p:nvPr/>
        </p:nvSpPr>
        <p:spPr>
          <a:xfrm>
            <a:off x="9144000" y="28895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Quality</a:t>
            </a:r>
          </a:p>
        </p:txBody>
      </p:sp>
      <p:sp>
        <p:nvSpPr>
          <p:cNvPr id="33" name="Eight replay fields body"/>
          <p:cNvSpPr txBox="1"/>
          <p:nvPr/>
        </p:nvSpPr>
        <p:spPr>
          <a:xfrm>
            <a:off x="9162288" y="3255264"/>
            <a:ext cx="2249424" cy="16459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ordinal quality_band</a:t>
            </a:r>
          </a:p>
        </p:txBody>
      </p:sp>
      <p:sp>
        <p:nvSpPr>
          <p:cNvPr id="34" name="Replay causal path"/>
          <p:cNvSpPr txBox="1"/>
          <p:nvPr/>
        </p:nvSpPr>
        <p:spPr>
          <a:xfrm>
            <a:off x="932688" y="4023360"/>
            <a:ext cx="10259568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frame →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→ event → timeline → policy branch；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Action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顯示 — 表示該 frame 無新 action，radio state 仍由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Radio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欄位定義。</a:t>
            </a:r>
          </a:p>
        </p:txBody>
      </p:sp>
      <p:sp>
        <p:nvSpPr>
          <p:cNvPr id="35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P079｜Workbook：prediction、result、replay、source、hash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Workbook：完成度與策略分數分離</a:t>
            </a:r>
          </a:p>
        </p:txBody>
      </p:sp>
      <p:sp>
        <p:nvSpPr>
          <p:cNvPr id="6" name="Workbook evidence"/>
          <p:cNvSpPr/>
          <p:nvPr/>
        </p:nvSpPr>
        <p:spPr>
          <a:xfrm>
            <a:off x="749808" y="1298448"/>
            <a:ext cx="5175504" cy="281635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Workbook evidence heading"/>
          <p:cNvSpPr txBox="1"/>
          <p:nvPr/>
        </p:nvSpPr>
        <p:spPr>
          <a:xfrm>
            <a:off x="877824" y="1408176"/>
            <a:ext cx="4919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填寫 evidence</a:t>
            </a:r>
          </a:p>
        </p:txBody>
      </p:sp>
      <p:sp>
        <p:nvSpPr>
          <p:cNvPr id="8" name="Workbook evidence body"/>
          <p:cNvSpPr txBox="1"/>
          <p:nvPr/>
        </p:nvSpPr>
        <p:spPr>
          <a:xfrm>
            <a:off x="896112" y="1773936"/>
            <a:ext cx="4882896" cy="22311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prediction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result／replay lineage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source／hash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role／</a:t>
            </a: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gate</a:t>
            </a:r>
          </a:p>
        </p:txBody>
      </p:sp>
      <p:sp>
        <p:nvSpPr>
          <p:cNvPr id="9" name="Workbook recovery"/>
          <p:cNvSpPr/>
          <p:nvPr/>
        </p:nvSpPr>
        <p:spPr>
          <a:xfrm>
            <a:off x="6236208" y="1298448"/>
            <a:ext cx="5175504" cy="281635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Workbook recovery heading"/>
          <p:cNvSpPr txBox="1"/>
          <p:nvPr/>
        </p:nvSpPr>
        <p:spPr>
          <a:xfrm>
            <a:off x="6364224" y="1408176"/>
            <a:ext cx="4919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保存與恢復</a:t>
            </a:r>
          </a:p>
        </p:txBody>
      </p:sp>
      <p:sp>
        <p:nvSpPr>
          <p:cNvPr id="11" name="Workbook recovery body"/>
          <p:cNvSpPr txBox="1"/>
          <p:nvPr/>
        </p:nvSpPr>
        <p:spPr>
          <a:xfrm>
            <a:off x="6382512" y="1773936"/>
            <a:ext cx="4882896" cy="22311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checkpoint #／完成度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建立／恢復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匯出／重新開啟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0/10 表示 workbook 段落完成度；policy score 由 </a:t>
            </a:r>
            <a:r>
              <a:rPr sz="21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／J 欄位定義</a:t>
            </a:r>
          </a:p>
        </p:txBody>
      </p:sp>
      <p:cxnSp>
        <p:nvCxnSpPr>
          <p:cNvPr id="12" name="Editable connector"/>
          <p:cNvCxnSpPr/>
          <p:nvPr/>
        </p:nvCxnSpPr>
        <p:spPr>
          <a:xfrm>
            <a:off x="5943600" y="2706624"/>
            <a:ext cx="256032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Workbook sentence"/>
          <p:cNvSpPr txBox="1"/>
          <p:nvPr/>
        </p:nvSpPr>
        <p:spPr>
          <a:xfrm>
            <a:off x="932688" y="4498848"/>
            <a:ext cx="10241280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可直接講：重新開啟要重新核對 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run identity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、source、role 和 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；Workbook 不會替缺失 evidence 補成 COMPLETE。</a:t>
            </a:r>
          </a:p>
        </p:txBody>
      </p:sp>
      <p:sp>
        <p:nvSpPr>
          <p:cNvPr id="14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P080｜保存與重開：checkpoint 不會替缺失證據補答案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保存、重設、復原、匯出、重開：每個 control 有自己的責任</a:t>
            </a:r>
          </a:p>
        </p:txBody>
      </p:sp>
      <p:sp>
        <p:nvSpPr>
          <p:cNvPr id="6" name="Workbook control"/>
          <p:cNvSpPr/>
          <p:nvPr/>
        </p:nvSpPr>
        <p:spPr>
          <a:xfrm>
            <a:off x="694944" y="1280160"/>
            <a:ext cx="3401568" cy="106070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Workbook control heading"/>
          <p:cNvSpPr txBox="1"/>
          <p:nvPr/>
        </p:nvSpPr>
        <p:spPr>
          <a:xfrm>
            <a:off x="822960" y="1389888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建立存檔點</a:t>
            </a:r>
          </a:p>
        </p:txBody>
      </p:sp>
      <p:sp>
        <p:nvSpPr>
          <p:cNvPr id="8" name="Workbook control body"/>
          <p:cNvSpPr txBox="1"/>
          <p:nvPr/>
        </p:nvSpPr>
        <p:spPr>
          <a:xfrm>
            <a:off x="841248" y="1755648"/>
            <a:ext cx="3108960" cy="475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保存可恢復的 prediction／hash</a:t>
            </a:r>
          </a:p>
        </p:txBody>
      </p:sp>
      <p:sp>
        <p:nvSpPr>
          <p:cNvPr id="9" name="Workbook control"/>
          <p:cNvSpPr/>
          <p:nvPr/>
        </p:nvSpPr>
        <p:spPr>
          <a:xfrm>
            <a:off x="4407407" y="1280160"/>
            <a:ext cx="3401568" cy="106070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Workbook control heading"/>
          <p:cNvSpPr txBox="1"/>
          <p:nvPr/>
        </p:nvSpPr>
        <p:spPr>
          <a:xfrm>
            <a:off x="4535423" y="1389888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恢復存檔點</a:t>
            </a:r>
          </a:p>
        </p:txBody>
      </p:sp>
      <p:sp>
        <p:nvSpPr>
          <p:cNvPr id="11" name="Workbook control body"/>
          <p:cNvSpPr txBox="1"/>
          <p:nvPr/>
        </p:nvSpPr>
        <p:spPr>
          <a:xfrm>
            <a:off x="4553712" y="1755648"/>
            <a:ext cx="3108960" cy="475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回到已保存狀態</a:t>
            </a:r>
          </a:p>
        </p:txBody>
      </p:sp>
      <p:sp>
        <p:nvSpPr>
          <p:cNvPr id="12" name="Workbook control"/>
          <p:cNvSpPr/>
          <p:nvPr/>
        </p:nvSpPr>
        <p:spPr>
          <a:xfrm>
            <a:off x="8119871" y="1280160"/>
            <a:ext cx="3401568" cy="1060704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Workbook control heading"/>
          <p:cNvSpPr txBox="1"/>
          <p:nvPr/>
        </p:nvSpPr>
        <p:spPr>
          <a:xfrm>
            <a:off x="8247888" y="1389888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重設本機進度</a:t>
            </a:r>
          </a:p>
        </p:txBody>
      </p:sp>
      <p:sp>
        <p:nvSpPr>
          <p:cNvPr id="14" name="Workbook control body"/>
          <p:cNvSpPr txBox="1"/>
          <p:nvPr/>
        </p:nvSpPr>
        <p:spPr>
          <a:xfrm>
            <a:off x="8266175" y="1755648"/>
            <a:ext cx="3108960" cy="475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清除本機課程紀錄</a:t>
            </a:r>
          </a:p>
        </p:txBody>
      </p:sp>
      <p:sp>
        <p:nvSpPr>
          <p:cNvPr id="15" name="Workbook control"/>
          <p:cNvSpPr/>
          <p:nvPr/>
        </p:nvSpPr>
        <p:spPr>
          <a:xfrm>
            <a:off x="694944" y="2596896"/>
            <a:ext cx="3401568" cy="106070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Workbook control heading"/>
          <p:cNvSpPr txBox="1"/>
          <p:nvPr/>
        </p:nvSpPr>
        <p:spPr>
          <a:xfrm>
            <a:off x="822960" y="2706624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復原重設</a:t>
            </a:r>
          </a:p>
        </p:txBody>
      </p:sp>
      <p:sp>
        <p:nvSpPr>
          <p:cNvPr id="17" name="Workbook control body"/>
          <p:cNvSpPr txBox="1"/>
          <p:nvPr/>
        </p:nvSpPr>
        <p:spPr>
          <a:xfrm>
            <a:off x="841248" y="3072384"/>
            <a:ext cx="3108960" cy="475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撤回 reset 的本機狀態</a:t>
            </a:r>
          </a:p>
        </p:txBody>
      </p:sp>
      <p:sp>
        <p:nvSpPr>
          <p:cNvPr id="18" name="Workbook control"/>
          <p:cNvSpPr/>
          <p:nvPr/>
        </p:nvSpPr>
        <p:spPr>
          <a:xfrm>
            <a:off x="4407407" y="2596896"/>
            <a:ext cx="3401568" cy="106070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Workbook control heading"/>
          <p:cNvSpPr txBox="1"/>
          <p:nvPr/>
        </p:nvSpPr>
        <p:spPr>
          <a:xfrm>
            <a:off x="4535423" y="2706624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匯出學習單</a:t>
            </a:r>
          </a:p>
        </p:txBody>
      </p:sp>
      <p:sp>
        <p:nvSpPr>
          <p:cNvPr id="20" name="Workbook control body"/>
          <p:cNvSpPr txBox="1"/>
          <p:nvPr/>
        </p:nvSpPr>
        <p:spPr>
          <a:xfrm>
            <a:off x="4553712" y="3072384"/>
            <a:ext cx="3108960" cy="475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保存可攜的 workbook</a:t>
            </a:r>
          </a:p>
        </p:txBody>
      </p:sp>
      <p:sp>
        <p:nvSpPr>
          <p:cNvPr id="21" name="Workbook control"/>
          <p:cNvSpPr/>
          <p:nvPr/>
        </p:nvSpPr>
        <p:spPr>
          <a:xfrm>
            <a:off x="8119871" y="2596896"/>
            <a:ext cx="3401568" cy="106070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2" name="Workbook control heading"/>
          <p:cNvSpPr txBox="1"/>
          <p:nvPr/>
        </p:nvSpPr>
        <p:spPr>
          <a:xfrm>
            <a:off x="8247888" y="2706624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重新開啟學習單</a:t>
            </a:r>
          </a:p>
        </p:txBody>
      </p:sp>
      <p:sp>
        <p:nvSpPr>
          <p:cNvPr id="23" name="Workbook control body"/>
          <p:cNvSpPr txBox="1"/>
          <p:nvPr/>
        </p:nvSpPr>
        <p:spPr>
          <a:xfrm>
            <a:off x="8266175" y="3072384"/>
            <a:ext cx="3108960" cy="475487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再核對 identity／source</a:t>
            </a:r>
          </a:p>
        </p:txBody>
      </p:sp>
      <p:sp>
        <p:nvSpPr>
          <p:cNvPr id="24" name="Save boundary"/>
          <p:cNvSpPr txBox="1"/>
          <p:nvPr/>
        </p:nvSpPr>
        <p:spPr>
          <a:xfrm>
            <a:off x="877824" y="4242816"/>
            <a:ext cx="1038758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reset／undo 只管理本機紀錄；它們不復原 runner，也不使 import gate、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1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gate 或 withheld 結果消失。</a:t>
            </a:r>
          </a:p>
        </p:txBody>
      </p:sp>
      <p:sp>
        <p:nvSpPr>
          <p:cNvPr id="25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P081｜transfer：智慧農場把 gate-first 變成灌溉決策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transfer：智慧農場 仍然先 gate，再談 energy</a:t>
            </a:r>
          </a:p>
        </p:txBody>
      </p:sp>
      <p:sp>
        <p:nvSpPr>
          <p:cNvPr id="6" name="Transfer 智慧農場"/>
          <p:cNvSpPr/>
          <p:nvPr/>
        </p:nvSpPr>
        <p:spPr>
          <a:xfrm>
            <a:off x="822960" y="1463040"/>
            <a:ext cx="3236976" cy="217627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Transfer 智慧農場 heading"/>
          <p:cNvSpPr txBox="1"/>
          <p:nvPr/>
        </p:nvSpPr>
        <p:spPr>
          <a:xfrm>
            <a:off x="950976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urgent</a:t>
            </a:r>
          </a:p>
        </p:txBody>
      </p:sp>
      <p:sp>
        <p:nvSpPr>
          <p:cNvPr id="8" name="Transfer 智慧農場 body"/>
          <p:cNvSpPr txBox="1"/>
          <p:nvPr/>
        </p:nvSpPr>
        <p:spPr>
          <a:xfrm>
            <a:off x="969264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灌溉告警／水位期限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4059936" y="2560320"/>
            <a:ext cx="274320" cy="0"/>
          </a:xfrm>
          <a:prstGeom prst="line">
            <a:avLst/>
          </a:prstGeom>
          <a:ln w="2413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nsfer 智慧農場"/>
          <p:cNvSpPr/>
          <p:nvPr/>
        </p:nvSpPr>
        <p:spPr>
          <a:xfrm>
            <a:off x="4425696" y="1463040"/>
            <a:ext cx="3236976" cy="217627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Transfer 智慧農場 heading"/>
          <p:cNvSpPr txBox="1"/>
          <p:nvPr/>
        </p:nvSpPr>
        <p:spPr>
          <a:xfrm>
            <a:off x="4553712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service</a:t>
            </a:r>
          </a:p>
        </p:txBody>
      </p:sp>
      <p:sp>
        <p:nvSpPr>
          <p:cNvPr id="12" name="Transfer 智慧農場 body"/>
          <p:cNvSpPr txBox="1"/>
          <p:nvPr/>
        </p:nvSpPr>
        <p:spPr>
          <a:xfrm>
            <a:off x="4572000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作物／水位被保住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662671" y="2560320"/>
            <a:ext cx="274321" cy="0"/>
          </a:xfrm>
          <a:prstGeom prst="line">
            <a:avLst/>
          </a:prstGeom>
          <a:ln w="2413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nsfer 智慧農場"/>
          <p:cNvSpPr/>
          <p:nvPr/>
        </p:nvSpPr>
        <p:spPr>
          <a:xfrm>
            <a:off x="8028431" y="1463040"/>
            <a:ext cx="3236976" cy="217627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Transfer 智慧農場 heading"/>
          <p:cNvSpPr txBox="1"/>
          <p:nvPr/>
        </p:nvSpPr>
        <p:spPr>
          <a:xfrm>
            <a:off x="8156448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energy</a:t>
            </a:r>
          </a:p>
        </p:txBody>
      </p:sp>
      <p:sp>
        <p:nvSpPr>
          <p:cNvPr id="16" name="Transfer 智慧農場 body"/>
          <p:cNvSpPr txBox="1"/>
          <p:nvPr/>
        </p:nvSpPr>
        <p:spPr>
          <a:xfrm>
            <a:off x="8174736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泵浦 </a:t>
            </a:r>
            <a:r>
              <a:rPr sz="24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17" name="Transfer causal chain"/>
          <p:cNvSpPr txBox="1"/>
          <p:nvPr/>
        </p:nvSpPr>
        <p:spPr>
          <a:xfrm>
            <a:off x="914400" y="4078224"/>
            <a:ext cx="1025956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轉移內容是一條因果句：condition → policy branch → event →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evidence → scoped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；KPI 需依場景另行定義。</a:t>
            </a:r>
          </a:p>
        </p:txBody>
      </p:sp>
      <p:sp>
        <p:nvSpPr>
          <p:cNvPr id="18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P082｜transfer：HVAC 先守舒適與設備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transfer：HVAC 仍然先 gate，再談 energy</a:t>
            </a:r>
          </a:p>
        </p:txBody>
      </p:sp>
      <p:sp>
        <p:nvSpPr>
          <p:cNvPr id="6" name="Transfer HVAC"/>
          <p:cNvSpPr/>
          <p:nvPr/>
        </p:nvSpPr>
        <p:spPr>
          <a:xfrm>
            <a:off x="822960" y="1463040"/>
            <a:ext cx="3236976" cy="217627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Transfer HVAC heading"/>
          <p:cNvSpPr txBox="1"/>
          <p:nvPr/>
        </p:nvSpPr>
        <p:spPr>
          <a:xfrm>
            <a:off x="950976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urgent</a:t>
            </a:r>
          </a:p>
        </p:txBody>
      </p:sp>
      <p:sp>
        <p:nvSpPr>
          <p:cNvPr id="8" name="Transfer HVAC body"/>
          <p:cNvSpPr txBox="1"/>
          <p:nvPr/>
        </p:nvSpPr>
        <p:spPr>
          <a:xfrm>
            <a:off x="969264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舒適／設備保護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4059936" y="2560320"/>
            <a:ext cx="274320" cy="0"/>
          </a:xfrm>
          <a:prstGeom prst="line">
            <a:avLst/>
          </a:prstGeom>
          <a:ln w="2413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nsfer HVAC"/>
          <p:cNvSpPr/>
          <p:nvPr/>
        </p:nvSpPr>
        <p:spPr>
          <a:xfrm>
            <a:off x="4425696" y="1463040"/>
            <a:ext cx="3236976" cy="217627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Transfer HVAC heading"/>
          <p:cNvSpPr txBox="1"/>
          <p:nvPr/>
        </p:nvSpPr>
        <p:spPr>
          <a:xfrm>
            <a:off x="4553712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service</a:t>
            </a:r>
          </a:p>
        </p:txBody>
      </p:sp>
      <p:sp>
        <p:nvSpPr>
          <p:cNvPr id="12" name="Transfer HVAC body"/>
          <p:cNvSpPr txBox="1"/>
          <p:nvPr/>
        </p:nvSpPr>
        <p:spPr>
          <a:xfrm>
            <a:off x="4572000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／freshness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662671" y="2560320"/>
            <a:ext cx="274321" cy="0"/>
          </a:xfrm>
          <a:prstGeom prst="line">
            <a:avLst/>
          </a:prstGeom>
          <a:ln w="2413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nsfer HVAC"/>
          <p:cNvSpPr/>
          <p:nvPr/>
        </p:nvSpPr>
        <p:spPr>
          <a:xfrm>
            <a:off x="8028431" y="1463040"/>
            <a:ext cx="3236976" cy="217627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Transfer HVAC heading"/>
          <p:cNvSpPr txBox="1"/>
          <p:nvPr/>
        </p:nvSpPr>
        <p:spPr>
          <a:xfrm>
            <a:off x="8156448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energy</a:t>
            </a:r>
          </a:p>
        </p:txBody>
      </p:sp>
      <p:sp>
        <p:nvSpPr>
          <p:cNvPr id="16" name="Transfer HVAC body"/>
          <p:cNvSpPr txBox="1"/>
          <p:nvPr/>
        </p:nvSpPr>
        <p:spPr>
          <a:xfrm>
            <a:off x="8174736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風機／壓縮機 J</a:t>
            </a:r>
          </a:p>
        </p:txBody>
      </p:sp>
      <p:sp>
        <p:nvSpPr>
          <p:cNvPr id="17" name="Transfer causal chain"/>
          <p:cNvSpPr txBox="1"/>
          <p:nvPr/>
        </p:nvSpPr>
        <p:spPr>
          <a:xfrm>
            <a:off x="914400" y="4078224"/>
            <a:ext cx="1025956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轉移內容是一條因果句：condition → policy branch → event →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evidence → scoped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；KPI 需依場景另行定義。</a:t>
            </a:r>
          </a:p>
        </p:txBody>
      </p:sp>
      <p:sp>
        <p:nvSpPr>
          <p:cNvPr id="18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P083｜transfer：edge inference 先守 freshness，再看 Joule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transfer：edge inference 仍然先 gate，再談 energy</a:t>
            </a:r>
          </a:p>
        </p:txBody>
      </p:sp>
      <p:sp>
        <p:nvSpPr>
          <p:cNvPr id="6" name="Transfer edge inference"/>
          <p:cNvSpPr/>
          <p:nvPr/>
        </p:nvSpPr>
        <p:spPr>
          <a:xfrm>
            <a:off x="822960" y="1463040"/>
            <a:ext cx="3236976" cy="217627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Transfer edge inference heading"/>
          <p:cNvSpPr txBox="1"/>
          <p:nvPr/>
        </p:nvSpPr>
        <p:spPr>
          <a:xfrm>
            <a:off x="950976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urgent</a:t>
            </a:r>
          </a:p>
        </p:txBody>
      </p:sp>
      <p:sp>
        <p:nvSpPr>
          <p:cNvPr id="8" name="Transfer edge inference body"/>
          <p:cNvSpPr txBox="1"/>
          <p:nvPr/>
        </p:nvSpPr>
        <p:spPr>
          <a:xfrm>
            <a:off x="969264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fresh inference </a:t>
            </a:r>
            <a:r>
              <a:rPr sz="24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deadline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4059936" y="2560320"/>
            <a:ext cx="274320" cy="0"/>
          </a:xfrm>
          <a:prstGeom prst="line">
            <a:avLst/>
          </a:prstGeom>
          <a:ln w="2413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nsfer edge inference"/>
          <p:cNvSpPr/>
          <p:nvPr/>
        </p:nvSpPr>
        <p:spPr>
          <a:xfrm>
            <a:off x="4425696" y="1463040"/>
            <a:ext cx="3236976" cy="217627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Transfer edge inference heading"/>
          <p:cNvSpPr txBox="1"/>
          <p:nvPr/>
        </p:nvSpPr>
        <p:spPr>
          <a:xfrm>
            <a:off x="4553712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service</a:t>
            </a:r>
          </a:p>
        </p:txBody>
      </p:sp>
      <p:sp>
        <p:nvSpPr>
          <p:cNvPr id="12" name="Transfer edge inference body"/>
          <p:cNvSpPr txBox="1"/>
          <p:nvPr/>
        </p:nvSpPr>
        <p:spPr>
          <a:xfrm>
            <a:off x="4572000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任務完成／結果新鮮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7662671" y="2560320"/>
            <a:ext cx="274321" cy="0"/>
          </a:xfrm>
          <a:prstGeom prst="line">
            <a:avLst/>
          </a:prstGeom>
          <a:ln w="2413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nsfer edge inference"/>
          <p:cNvSpPr/>
          <p:nvPr/>
        </p:nvSpPr>
        <p:spPr>
          <a:xfrm>
            <a:off x="8028431" y="1463040"/>
            <a:ext cx="3236976" cy="217627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Transfer edge inference heading"/>
          <p:cNvSpPr txBox="1"/>
          <p:nvPr/>
        </p:nvSpPr>
        <p:spPr>
          <a:xfrm>
            <a:off x="8156448" y="1572768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energy</a:t>
            </a:r>
          </a:p>
        </p:txBody>
      </p:sp>
      <p:sp>
        <p:nvSpPr>
          <p:cNvPr id="16" name="Transfer edge inference body"/>
          <p:cNvSpPr txBox="1"/>
          <p:nvPr/>
        </p:nvSpPr>
        <p:spPr>
          <a:xfrm>
            <a:off x="8174736" y="1938528"/>
            <a:ext cx="2944368" cy="15910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edge </a:t>
            </a:r>
            <a:r>
              <a:rPr sz="24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4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oule</a:t>
            </a:r>
          </a:p>
        </p:txBody>
      </p:sp>
      <p:sp>
        <p:nvSpPr>
          <p:cNvPr id="17" name="Transfer causal chain"/>
          <p:cNvSpPr txBox="1"/>
          <p:nvPr/>
        </p:nvSpPr>
        <p:spPr>
          <a:xfrm>
            <a:off x="914400" y="4078224"/>
            <a:ext cx="1025956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轉移內容是一條因果句：condition → policy branch → event →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evidence → scoped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2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；KPI 需依場景另行定義。</a:t>
            </a:r>
          </a:p>
        </p:txBody>
      </p:sp>
      <p:sp>
        <p:nvSpPr>
          <p:cNvPr id="18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P084｜transfer exit：把可移植的因果句帶回 workbook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transfer exit：把可移植的因果句帶回 workbook</a:t>
            </a:r>
          </a:p>
        </p:txBody>
      </p:sp>
      <p:sp>
        <p:nvSpPr>
          <p:cNvPr id="6" name="Transfer exit"/>
          <p:cNvSpPr/>
          <p:nvPr/>
        </p:nvSpPr>
        <p:spPr>
          <a:xfrm>
            <a:off x="585216" y="1371600"/>
            <a:ext cx="2523744" cy="1261872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Transfer exit heading"/>
          <p:cNvSpPr txBox="1"/>
          <p:nvPr/>
        </p:nvSpPr>
        <p:spPr>
          <a:xfrm>
            <a:off x="713232" y="1481328"/>
            <a:ext cx="226771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CONDITION</a:t>
            </a:r>
          </a:p>
        </p:txBody>
      </p:sp>
      <p:sp>
        <p:nvSpPr>
          <p:cNvPr id="8" name="Transfer exit body"/>
          <p:cNvSpPr txBox="1"/>
          <p:nvPr/>
        </p:nvSpPr>
        <p:spPr>
          <a:xfrm>
            <a:off x="731520" y="1847088"/>
            <a:ext cx="2231136" cy="6766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哪個窗口／期限？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3108960" y="2011680"/>
            <a:ext cx="20116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ransfer exit"/>
          <p:cNvSpPr/>
          <p:nvPr/>
        </p:nvSpPr>
        <p:spPr>
          <a:xfrm>
            <a:off x="3401568" y="1371600"/>
            <a:ext cx="2523744" cy="1261872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Transfer exit heading"/>
          <p:cNvSpPr txBox="1"/>
          <p:nvPr/>
        </p:nvSpPr>
        <p:spPr>
          <a:xfrm>
            <a:off x="3529584" y="1481328"/>
            <a:ext cx="226771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BRANCH</a:t>
            </a:r>
          </a:p>
        </p:txBody>
      </p:sp>
      <p:sp>
        <p:nvSpPr>
          <p:cNvPr id="12" name="Transfer exit body"/>
          <p:cNvSpPr txBox="1"/>
          <p:nvPr/>
        </p:nvSpPr>
        <p:spPr>
          <a:xfrm>
            <a:off x="3547872" y="1847088"/>
            <a:ext cx="2231136" cy="6766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哪個 policy action？</a:t>
            </a:r>
          </a:p>
        </p:txBody>
      </p:sp>
      <p:cxnSp>
        <p:nvCxnSpPr>
          <p:cNvPr id="13" name="Editable connector"/>
          <p:cNvCxnSpPr/>
          <p:nvPr/>
        </p:nvCxnSpPr>
        <p:spPr>
          <a:xfrm>
            <a:off x="5925312" y="2011680"/>
            <a:ext cx="20116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nsfer exit"/>
          <p:cNvSpPr/>
          <p:nvPr/>
        </p:nvSpPr>
        <p:spPr>
          <a:xfrm>
            <a:off x="6217920" y="1371600"/>
            <a:ext cx="2523744" cy="1261872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5" name="Transfer exit heading"/>
          <p:cNvSpPr txBox="1"/>
          <p:nvPr/>
        </p:nvSpPr>
        <p:spPr>
          <a:xfrm>
            <a:off x="6345936" y="1481328"/>
            <a:ext cx="226771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EVENT</a:t>
            </a:r>
          </a:p>
        </p:txBody>
      </p:sp>
      <p:sp>
        <p:nvSpPr>
          <p:cNvPr id="16" name="Transfer exit body"/>
          <p:cNvSpPr txBox="1"/>
          <p:nvPr/>
        </p:nvSpPr>
        <p:spPr>
          <a:xfrm>
            <a:off x="6364224" y="1847088"/>
            <a:ext cx="2231136" cy="6766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／retry／expiry？</a:t>
            </a:r>
          </a:p>
        </p:txBody>
      </p:sp>
      <p:cxnSp>
        <p:nvCxnSpPr>
          <p:cNvPr id="17" name="Editable connector"/>
          <p:cNvCxnSpPr/>
          <p:nvPr/>
        </p:nvCxnSpPr>
        <p:spPr>
          <a:xfrm>
            <a:off x="8741664" y="2011680"/>
            <a:ext cx="201168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ransfer exit"/>
          <p:cNvSpPr/>
          <p:nvPr/>
        </p:nvSpPr>
        <p:spPr>
          <a:xfrm>
            <a:off x="9034272" y="1371600"/>
            <a:ext cx="2523744" cy="1261872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Transfer exit heading"/>
          <p:cNvSpPr txBox="1"/>
          <p:nvPr/>
        </p:nvSpPr>
        <p:spPr>
          <a:xfrm>
            <a:off x="9162288" y="1481328"/>
            <a:ext cx="2267711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CLAIM</a:t>
            </a:r>
          </a:p>
        </p:txBody>
      </p:sp>
      <p:sp>
        <p:nvSpPr>
          <p:cNvPr id="20" name="Transfer exit body"/>
          <p:cNvSpPr txBox="1"/>
          <p:nvPr/>
        </p:nvSpPr>
        <p:spPr>
          <a:xfrm>
            <a:off x="9180576" y="1847088"/>
            <a:ext cx="2231136" cy="67665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scope 與反例？</a:t>
            </a:r>
          </a:p>
        </p:txBody>
      </p:sp>
      <p:sp>
        <p:nvSpPr>
          <p:cNvPr id="21" name="Exit rule"/>
          <p:cNvSpPr txBox="1"/>
          <p:nvPr/>
        </p:nvSpPr>
        <p:spPr>
          <a:xfrm>
            <a:off x="877824" y="3163824"/>
            <a:ext cx="10369296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若需要 fresh run：先保存目前 result／replay／workbook identity，再依核准流程另開。website 只驗證、重播、保存，不偷偷補 Python 結果。</a:t>
            </a:r>
          </a:p>
        </p:txBody>
      </p:sp>
      <p:sp>
        <p:nvSpPr>
          <p:cNvPr id="22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P085｜current /course：來源與匯入 gate 分屏讀取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current /course：source、case、hash、source label 要先讀</a:t>
            </a:r>
          </a:p>
        </p:txBody>
      </p:sp>
      <p:pic>
        <p:nvPicPr>
          <p:cNvPr id="6" name="Current accepted upload" descr="08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5504688" cy="2249424"/>
          </a:xfrm>
          <a:prstGeom prst="rect">
            <a:avLst/>
          </a:prstGeom>
        </p:spPr>
      </p:pic>
      <p:pic>
        <p:nvPicPr>
          <p:cNvPr id="7" name="Same-scenario fallback" descr="03-fall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188720"/>
            <a:ext cx="5138928" cy="2249424"/>
          </a:xfrm>
          <a:prstGeom prst="rect">
            <a:avLst/>
          </a:prstGeom>
        </p:spPr>
      </p:pic>
      <p:sp>
        <p:nvSpPr>
          <p:cNvPr id="8" name="Source actual label"/>
          <p:cNvSpPr/>
          <p:nvPr/>
        </p:nvSpPr>
        <p:spPr>
          <a:xfrm>
            <a:off x="877824" y="3584448"/>
            <a:ext cx="5065776" cy="31089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實際上傳｜A / baseline｜source 實際執行</a:t>
            </a:r>
          </a:p>
        </p:txBody>
      </p:sp>
      <p:sp>
        <p:nvSpPr>
          <p:cNvPr id="9" name="Source fallback label"/>
          <p:cNvSpPr/>
          <p:nvPr/>
        </p:nvSpPr>
        <p:spPr>
          <a:xfrm>
            <a:off x="6656832" y="3584448"/>
            <a:ext cx="4663440" cy="3108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同情境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｜source 分開標示</a:t>
            </a:r>
          </a:p>
        </p:txBody>
      </p:sp>
      <p:sp>
        <p:nvSpPr>
          <p:cNvPr id="10" name="Source provenance"/>
          <p:cNvSpPr txBox="1"/>
          <p:nvPr/>
        </p:nvSpPr>
        <p:spPr>
          <a:xfrm>
            <a:off x="859536" y="4078224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實際執行與同情境 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分別保存 artifact source 與 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run identity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資料類型：coherent simulated endpoint result。</a:t>
            </a:r>
          </a:p>
        </p:txBody>
      </p:sp>
      <p:sp>
        <p:nvSpPr>
          <p:cNvPr id="11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P086｜current /course：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-first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-first summary：四個欄位有固定閱讀順序</a:t>
            </a:r>
          </a:p>
        </p:txBody>
      </p:sp>
      <p:pic>
        <p:nvPicPr>
          <p:cNvPr id="6" name="Current summary evidence" descr="08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07008"/>
            <a:ext cx="5010912" cy="3035808"/>
          </a:xfrm>
          <a:prstGeom prst="rect">
            <a:avLst/>
          </a:prstGeom>
        </p:spPr>
      </p:pic>
      <p:sp>
        <p:nvSpPr>
          <p:cNvPr id="7" name="Service summary step"/>
          <p:cNvSpPr/>
          <p:nvPr/>
        </p:nvSpPr>
        <p:spPr>
          <a:xfrm>
            <a:off x="6053328" y="1243584"/>
            <a:ext cx="5230368" cy="6400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Service summary step heading"/>
          <p:cNvSpPr txBox="1"/>
          <p:nvPr/>
        </p:nvSpPr>
        <p:spPr>
          <a:xfrm>
            <a:off x="6181344" y="1353312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1｜服務</a:t>
            </a:r>
          </a:p>
        </p:txBody>
      </p:sp>
      <p:sp>
        <p:nvSpPr>
          <p:cNvPr id="9" name="Service summary step body"/>
          <p:cNvSpPr txBox="1"/>
          <p:nvPr/>
        </p:nvSpPr>
        <p:spPr>
          <a:xfrm>
            <a:off x="6199632" y="1719072"/>
            <a:ext cx="4937759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FAIL</a:t>
            </a:r>
          </a:p>
        </p:txBody>
      </p:sp>
      <p:sp>
        <p:nvSpPr>
          <p:cNvPr id="10" name="Service summary step"/>
          <p:cNvSpPr/>
          <p:nvPr/>
        </p:nvSpPr>
        <p:spPr>
          <a:xfrm>
            <a:off x="6053328" y="2029968"/>
            <a:ext cx="5230368" cy="6400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Service summary step heading"/>
          <p:cNvSpPr txBox="1"/>
          <p:nvPr/>
        </p:nvSpPr>
        <p:spPr>
          <a:xfrm>
            <a:off x="6181344" y="2139696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2｜已送達</a:t>
            </a:r>
          </a:p>
        </p:txBody>
      </p:sp>
      <p:sp>
        <p:nvSpPr>
          <p:cNvPr id="12" name="Service summary step body"/>
          <p:cNvSpPr txBox="1"/>
          <p:nvPr/>
        </p:nvSpPr>
        <p:spPr>
          <a:xfrm>
            <a:off x="6199632" y="2505456"/>
            <a:ext cx="4937759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4,800 bit</a:t>
            </a:r>
          </a:p>
        </p:txBody>
      </p:sp>
      <p:sp>
        <p:nvSpPr>
          <p:cNvPr id="13" name="Service summary step"/>
          <p:cNvSpPr/>
          <p:nvPr/>
        </p:nvSpPr>
        <p:spPr>
          <a:xfrm>
            <a:off x="6053328" y="2816352"/>
            <a:ext cx="5230368" cy="6400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Service summary step heading"/>
          <p:cNvSpPr txBox="1"/>
          <p:nvPr/>
        </p:nvSpPr>
        <p:spPr>
          <a:xfrm>
            <a:off x="6181344" y="2926080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3｜端點能量</a:t>
            </a:r>
          </a:p>
        </p:txBody>
      </p:sp>
      <p:sp>
        <p:nvSpPr>
          <p:cNvPr id="15" name="Service summary step body"/>
          <p:cNvSpPr txBox="1"/>
          <p:nvPr/>
        </p:nvSpPr>
        <p:spPr>
          <a:xfrm>
            <a:off x="6199632" y="3291840"/>
            <a:ext cx="4937759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6.92 J</a:t>
            </a:r>
          </a:p>
        </p:txBody>
      </p:sp>
      <p:sp>
        <p:nvSpPr>
          <p:cNvPr id="16" name="Service summary step"/>
          <p:cNvSpPr/>
          <p:nvPr/>
        </p:nvSpPr>
        <p:spPr>
          <a:xfrm>
            <a:off x="6053328" y="3602736"/>
            <a:ext cx="5230368" cy="64008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Service summary step heading"/>
          <p:cNvSpPr txBox="1"/>
          <p:nvPr/>
        </p:nvSpPr>
        <p:spPr>
          <a:xfrm>
            <a:off x="6181344" y="3712464"/>
            <a:ext cx="49743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4｜端點 </a:t>
            </a: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bit/J</a:t>
            </a:r>
          </a:p>
        </p:txBody>
      </p:sp>
      <p:sp>
        <p:nvSpPr>
          <p:cNvPr id="18" name="Service summary step body"/>
          <p:cNvSpPr txBox="1"/>
          <p:nvPr/>
        </p:nvSpPr>
        <p:spPr>
          <a:xfrm>
            <a:off x="6199632" y="4078224"/>
            <a:ext cx="4937759" cy="548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693.641618</a:t>
            </a:r>
          </a:p>
        </p:txBody>
      </p:sp>
      <p:sp>
        <p:nvSpPr>
          <p:cNvPr id="19" name="Service first sentence"/>
          <p:cNvSpPr txBox="1"/>
          <p:nvPr/>
        </p:nvSpPr>
        <p:spPr>
          <a:xfrm>
            <a:off x="896112" y="4553712"/>
            <a:ext cx="1031443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完整句：這一筆先是 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FAIL；再描述 delivery、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、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bit/J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。效率數字僅描述 run，不得把失敗改成成功。</a:t>
            </a:r>
          </a:p>
        </p:txBody>
      </p:sp>
      <p:sp>
        <p:nvSpPr>
          <p:cNvPr id="20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P087｜current /course：frame selector 與八個 replay fields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frame selector：前四欄的來源、值型態與作用</a:t>
            </a:r>
          </a:p>
        </p:txBody>
      </p:sp>
      <p:pic>
        <p:nvPicPr>
          <p:cNvPr id="6" name="Frame selector evidence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3072384" cy="3493008"/>
          </a:xfrm>
          <a:prstGeom prst="rect">
            <a:avLst/>
          </a:prstGeom>
        </p:spPr>
      </p:pic>
      <p:sp>
        <p:nvSpPr>
          <p:cNvPr id="7" name="Current first four fields"/>
          <p:cNvSpPr/>
          <p:nvPr/>
        </p:nvSpPr>
        <p:spPr>
          <a:xfrm>
            <a:off x="4005072" y="1225296"/>
            <a:ext cx="3401568" cy="14264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Current first four fields heading"/>
          <p:cNvSpPr txBox="1"/>
          <p:nvPr/>
        </p:nvSpPr>
        <p:spPr>
          <a:xfrm>
            <a:off x="4133087" y="1335024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Radio</a:t>
            </a: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｜無線電狀態</a:t>
            </a:r>
          </a:p>
        </p:txBody>
      </p:sp>
      <p:sp>
        <p:nvSpPr>
          <p:cNvPr id="9" name="Current first four fields body"/>
          <p:cNvSpPr txBox="1"/>
          <p:nvPr/>
        </p:nvSpPr>
        <p:spPr>
          <a:xfrm>
            <a:off x="4151376" y="1700784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來源：endpoint replay frame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值：分類；作用：state transition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成功：frame 更新；失敗：selector 狀態維持</a:t>
            </a:r>
          </a:p>
        </p:txBody>
      </p:sp>
      <p:sp>
        <p:nvSpPr>
          <p:cNvPr id="10" name="Current first four fields"/>
          <p:cNvSpPr/>
          <p:nvPr/>
        </p:nvSpPr>
        <p:spPr>
          <a:xfrm>
            <a:off x="7699248" y="1225296"/>
            <a:ext cx="3401568" cy="142646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Current first four fields heading"/>
          <p:cNvSpPr txBox="1"/>
          <p:nvPr/>
        </p:nvSpPr>
        <p:spPr>
          <a:xfrm>
            <a:off x="7827264" y="1335024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Action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｜策略動作</a:t>
            </a:r>
          </a:p>
        </p:txBody>
      </p:sp>
      <p:sp>
        <p:nvSpPr>
          <p:cNvPr id="12" name="Current first four fields body"/>
          <p:cNvSpPr txBox="1"/>
          <p:nvPr/>
        </p:nvSpPr>
        <p:spPr>
          <a:xfrm>
            <a:off x="7845552" y="1700784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來源：policy event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值：分類或 —；作用：對回 branch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成功：event 更新；失敗：原 action 維持</a:t>
            </a:r>
          </a:p>
        </p:txBody>
      </p:sp>
      <p:sp>
        <p:nvSpPr>
          <p:cNvPr id="13" name="Current first four fields"/>
          <p:cNvSpPr/>
          <p:nvPr/>
        </p:nvSpPr>
        <p:spPr>
          <a:xfrm>
            <a:off x="4005072" y="2926080"/>
            <a:ext cx="3401568" cy="142646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Current first four fields heading"/>
          <p:cNvSpPr txBox="1"/>
          <p:nvPr/>
        </p:nvSpPr>
        <p:spPr>
          <a:xfrm>
            <a:off x="4133087" y="3035808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Queue count｜佇列數</a:t>
            </a:r>
          </a:p>
        </p:txBody>
      </p:sp>
      <p:sp>
        <p:nvSpPr>
          <p:cNvPr id="15" name="Current first four fields body"/>
          <p:cNvSpPr txBox="1"/>
          <p:nvPr/>
        </p:nvSpPr>
        <p:spPr>
          <a:xfrm>
            <a:off x="4151376" y="3401568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來源：frame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ledger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值：封包數；作用：批次／等待判讀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成功：數值更新；失敗：原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狀態維持</a:t>
            </a:r>
          </a:p>
        </p:txBody>
      </p:sp>
      <p:sp>
        <p:nvSpPr>
          <p:cNvPr id="16" name="Current first four fields"/>
          <p:cNvSpPr/>
          <p:nvPr/>
        </p:nvSpPr>
        <p:spPr>
          <a:xfrm>
            <a:off x="7699248" y="2926080"/>
            <a:ext cx="3401568" cy="142646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Current first four fields heading"/>
          <p:cNvSpPr txBox="1"/>
          <p:nvPr/>
        </p:nvSpPr>
        <p:spPr>
          <a:xfrm>
            <a:off x="7827264" y="3035808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累積 </a:t>
            </a: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endpoint J</a:t>
            </a: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｜端點能量</a:t>
            </a:r>
          </a:p>
        </p:txBody>
      </p:sp>
      <p:sp>
        <p:nvSpPr>
          <p:cNvPr id="18" name="Current first four fields body"/>
          <p:cNvSpPr txBox="1"/>
          <p:nvPr/>
        </p:nvSpPr>
        <p:spPr>
          <a:xfrm>
            <a:off x="7845552" y="3401568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來源：endpoint energy ledger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值：J；作用：run-to-frame 累積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成功：J 更新；失敗：原 frame 值維持</a:t>
            </a:r>
          </a:p>
        </p:txBody>
      </p:sp>
      <p:sp>
        <p:nvSpPr>
          <p:cNvPr id="19" name="Field selector rule"/>
          <p:cNvSpPr txBox="1"/>
          <p:nvPr/>
        </p:nvSpPr>
        <p:spPr>
          <a:xfrm>
            <a:off x="4041648" y="4736592"/>
            <a:ext cx="702259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selector 讀取 endpoint frame；八欄、</a:t>
            </a: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與 event 以同一 frame identity 更新。</a:t>
            </a:r>
          </a:p>
        </p:txBody>
      </p:sp>
      <p:sp>
        <p:nvSpPr>
          <p:cNvPr id="20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P088｜current /course：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與 packet event 是因果錨點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與 packet event：先找 delivered／expired 的證據</a:t>
            </a:r>
          </a:p>
        </p:txBody>
      </p:sp>
      <p:pic>
        <p:nvPicPr>
          <p:cNvPr id="6" name="Current queue evidence" descr="08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8720"/>
            <a:ext cx="3767328" cy="3383280"/>
          </a:xfrm>
          <a:prstGeom prst="rect">
            <a:avLst/>
          </a:prstGeom>
        </p:spPr>
      </p:pic>
      <p:sp>
        <p:nvSpPr>
          <p:cNvPr id="7" name="Queue event trace"/>
          <p:cNvSpPr/>
          <p:nvPr/>
        </p:nvSpPr>
        <p:spPr>
          <a:xfrm>
            <a:off x="4681728" y="1335024"/>
            <a:ext cx="1591056" cy="182880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Queue event trace heading"/>
          <p:cNvSpPr txBox="1"/>
          <p:nvPr/>
        </p:nvSpPr>
        <p:spPr>
          <a:xfrm>
            <a:off x="4809744" y="144475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生成／入 </a:t>
            </a: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queue</a:t>
            </a:r>
          </a:p>
        </p:txBody>
      </p:sp>
      <p:sp>
        <p:nvSpPr>
          <p:cNvPr id="9" name="Queue event trace body"/>
          <p:cNvSpPr txBox="1"/>
          <p:nvPr/>
        </p:nvSpPr>
        <p:spPr>
          <a:xfrm>
            <a:off x="4828032" y="1810512"/>
            <a:ext cx="1298448" cy="12435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normal-1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6272784" y="2249424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Queue event trace"/>
          <p:cNvSpPr/>
          <p:nvPr/>
        </p:nvSpPr>
        <p:spPr>
          <a:xfrm>
            <a:off x="6437376" y="1335024"/>
            <a:ext cx="1591056" cy="182880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2" name="Queue event trace heading"/>
          <p:cNvSpPr txBox="1"/>
          <p:nvPr/>
        </p:nvSpPr>
        <p:spPr>
          <a:xfrm>
            <a:off x="6565392" y="144475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attempt</a:t>
            </a:r>
          </a:p>
        </p:txBody>
      </p:sp>
      <p:sp>
        <p:nvSpPr>
          <p:cNvPr id="13" name="Queue event trace body"/>
          <p:cNvSpPr txBox="1"/>
          <p:nvPr/>
        </p:nvSpPr>
        <p:spPr>
          <a:xfrm>
            <a:off x="6583680" y="1810512"/>
            <a:ext cx="1298448" cy="12435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evt-0000</a:t>
            </a:r>
          </a:p>
        </p:txBody>
      </p:sp>
      <p:cxnSp>
        <p:nvCxnSpPr>
          <p:cNvPr id="14" name="Editable connector"/>
          <p:cNvCxnSpPr/>
          <p:nvPr/>
        </p:nvCxnSpPr>
        <p:spPr>
          <a:xfrm>
            <a:off x="8028431" y="2249424"/>
            <a:ext cx="201169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Queue event trace"/>
          <p:cNvSpPr/>
          <p:nvPr/>
        </p:nvSpPr>
        <p:spPr>
          <a:xfrm>
            <a:off x="8193024" y="1335024"/>
            <a:ext cx="1591056" cy="182880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Queue event trace heading"/>
          <p:cNvSpPr txBox="1"/>
          <p:nvPr/>
        </p:nvSpPr>
        <p:spPr>
          <a:xfrm>
            <a:off x="8321040" y="144475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retry／collision</a:t>
            </a:r>
          </a:p>
        </p:txBody>
      </p:sp>
      <p:sp>
        <p:nvSpPr>
          <p:cNvPr id="17" name="Queue event trace body"/>
          <p:cNvSpPr txBox="1"/>
          <p:nvPr/>
        </p:nvSpPr>
        <p:spPr>
          <a:xfrm>
            <a:off x="8339328" y="1810512"/>
            <a:ext cx="1298448" cy="12435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frame n+1</a:t>
            </a:r>
          </a:p>
        </p:txBody>
      </p:sp>
      <p:cxnSp>
        <p:nvCxnSpPr>
          <p:cNvPr id="18" name="Editable connector"/>
          <p:cNvCxnSpPr/>
          <p:nvPr/>
        </p:nvCxnSpPr>
        <p:spPr>
          <a:xfrm>
            <a:off x="9784080" y="2249424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Queue event trace"/>
          <p:cNvSpPr/>
          <p:nvPr/>
        </p:nvSpPr>
        <p:spPr>
          <a:xfrm>
            <a:off x="9948672" y="1335024"/>
            <a:ext cx="1591056" cy="182880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0" name="Queue event trace heading"/>
          <p:cNvSpPr txBox="1"/>
          <p:nvPr/>
        </p:nvSpPr>
        <p:spPr>
          <a:xfrm>
            <a:off x="10076688" y="144475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delivered／expired</a:t>
            </a:r>
          </a:p>
        </p:txBody>
      </p:sp>
      <p:sp>
        <p:nvSpPr>
          <p:cNvPr id="21" name="Queue event trace body"/>
          <p:cNvSpPr txBox="1"/>
          <p:nvPr/>
        </p:nvSpPr>
        <p:spPr>
          <a:xfrm>
            <a:off x="10094976" y="1810512"/>
            <a:ext cx="1298448" cy="12435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gate</a:t>
            </a:r>
          </a:p>
        </p:txBody>
      </p:sp>
      <p:sp>
        <p:nvSpPr>
          <p:cNvPr id="22" name="Queue rule"/>
          <p:cNvSpPr txBox="1"/>
          <p:nvPr/>
        </p:nvSpPr>
        <p:spPr>
          <a:xfrm>
            <a:off x="4700016" y="3584448"/>
            <a:ext cx="6309360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變空 ≠ delivered；要看 packet event、expired、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與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1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。</a:t>
            </a:r>
          </a:p>
        </p:txBody>
      </p:sp>
      <p:sp>
        <p:nvSpPr>
          <p:cNvPr id="23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P089｜current /course：timeline 對回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分支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timeline：把每個 frame 對回 policy branch，不當連續功率圖</a:t>
            </a:r>
          </a:p>
        </p:txBody>
      </p:sp>
      <p:pic>
        <p:nvPicPr>
          <p:cNvPr id="6" name="Current timeline evidence" descr="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170432"/>
            <a:ext cx="10661904" cy="841248"/>
          </a:xfrm>
          <a:prstGeom prst="rect">
            <a:avLst/>
          </a:prstGeom>
        </p:spPr>
      </p:pic>
      <p:sp>
        <p:nvSpPr>
          <p:cNvPr id="7" name="Timeline branch"/>
          <p:cNvSpPr/>
          <p:nvPr/>
        </p:nvSpPr>
        <p:spPr>
          <a:xfrm>
            <a:off x="896112" y="2322576"/>
            <a:ext cx="4974336" cy="493776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Timeline condition"/>
          <p:cNvSpPr txBox="1"/>
          <p:nvPr/>
        </p:nvSpPr>
        <p:spPr>
          <a:xfrm>
            <a:off x="1060704" y="2414016"/>
            <a:ext cx="45354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contact_open = false</a:t>
            </a:r>
          </a:p>
        </p:txBody>
      </p:sp>
      <p:cxnSp>
        <p:nvCxnSpPr>
          <p:cNvPr id="9" name="Editable connector"/>
          <p:cNvCxnSpPr/>
          <p:nvPr/>
        </p:nvCxnSpPr>
        <p:spPr>
          <a:xfrm>
            <a:off x="5980176" y="2569464"/>
            <a:ext cx="420624" cy="0"/>
          </a:xfrm>
          <a:prstGeom prst="line">
            <a:avLst/>
          </a:prstGeom>
          <a:ln w="17780">
            <a:solidFill>
              <a:srgbClr val="99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meline action"/>
          <p:cNvSpPr/>
          <p:nvPr/>
        </p:nvSpPr>
        <p:spPr>
          <a:xfrm>
            <a:off x="6492240" y="2322576"/>
            <a:ext cx="4370832" cy="4937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Timeline action text"/>
          <p:cNvSpPr txBox="1"/>
          <p:nvPr/>
        </p:nvSpPr>
        <p:spPr>
          <a:xfrm>
            <a:off x="6656832" y="2414016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SLEEP</a:t>
            </a:r>
          </a:p>
        </p:txBody>
      </p:sp>
      <p:sp>
        <p:nvSpPr>
          <p:cNvPr id="12" name="Timeline branch"/>
          <p:cNvSpPr/>
          <p:nvPr/>
        </p:nvSpPr>
        <p:spPr>
          <a:xfrm>
            <a:off x="896112" y="2907792"/>
            <a:ext cx="4974336" cy="49377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Timeline condition"/>
          <p:cNvSpPr txBox="1"/>
          <p:nvPr/>
        </p:nvSpPr>
        <p:spPr>
          <a:xfrm>
            <a:off x="1060704" y="2999232"/>
            <a:ext cx="45354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urgent_pending ∧ due ≤ margin</a:t>
            </a:r>
          </a:p>
        </p:txBody>
      </p:sp>
      <p:cxnSp>
        <p:nvCxnSpPr>
          <p:cNvPr id="14" name="Editable connector"/>
          <p:cNvCxnSpPr/>
          <p:nvPr/>
        </p:nvCxnSpPr>
        <p:spPr>
          <a:xfrm>
            <a:off x="5980176" y="3154680"/>
            <a:ext cx="420624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line action"/>
          <p:cNvSpPr/>
          <p:nvPr/>
        </p:nvSpPr>
        <p:spPr>
          <a:xfrm>
            <a:off x="6492240" y="2907792"/>
            <a:ext cx="4370832" cy="4937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Timeline action text"/>
          <p:cNvSpPr txBox="1"/>
          <p:nvPr/>
        </p:nvSpPr>
        <p:spPr>
          <a:xfrm>
            <a:off x="6656832" y="2999232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SEND_URGENT</a:t>
            </a:r>
          </a:p>
        </p:txBody>
      </p:sp>
      <p:sp>
        <p:nvSpPr>
          <p:cNvPr id="17" name="Timeline branch"/>
          <p:cNvSpPr/>
          <p:nvPr/>
        </p:nvSpPr>
        <p:spPr>
          <a:xfrm>
            <a:off x="896112" y="3493008"/>
            <a:ext cx="4974336" cy="49377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8" name="Timeline condition"/>
          <p:cNvSpPr txBox="1"/>
          <p:nvPr/>
        </p:nvSpPr>
        <p:spPr>
          <a:xfrm>
            <a:off x="1060704" y="3584448"/>
            <a:ext cx="45354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steps_since_send &lt; gap</a:t>
            </a:r>
          </a:p>
        </p:txBody>
      </p:sp>
      <p:cxnSp>
        <p:nvCxnSpPr>
          <p:cNvPr id="19" name="Editable connector"/>
          <p:cNvCxnSpPr/>
          <p:nvPr/>
        </p:nvCxnSpPr>
        <p:spPr>
          <a:xfrm>
            <a:off x="5980176" y="3739896"/>
            <a:ext cx="420624" cy="0"/>
          </a:xfrm>
          <a:prstGeom prst="line">
            <a:avLst/>
          </a:prstGeom>
          <a:ln w="17780">
            <a:solidFill>
              <a:srgbClr val="3D61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imeline action"/>
          <p:cNvSpPr/>
          <p:nvPr/>
        </p:nvSpPr>
        <p:spPr>
          <a:xfrm>
            <a:off x="6492240" y="3493008"/>
            <a:ext cx="4370832" cy="4937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1" name="Timeline action text"/>
          <p:cNvSpPr txBox="1"/>
          <p:nvPr/>
        </p:nvSpPr>
        <p:spPr>
          <a:xfrm>
            <a:off x="6656832" y="3584448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REST_DURING_GAP</a:t>
            </a:r>
          </a:p>
        </p:txBody>
      </p:sp>
      <p:sp>
        <p:nvSpPr>
          <p:cNvPr id="22" name="Timeline branch"/>
          <p:cNvSpPr/>
          <p:nvPr/>
        </p:nvSpPr>
        <p:spPr>
          <a:xfrm>
            <a:off x="896112" y="4078224"/>
            <a:ext cx="4974336" cy="49377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3" name="Timeline condition"/>
          <p:cNvSpPr txBox="1"/>
          <p:nvPr/>
        </p:nvSpPr>
        <p:spPr>
          <a:xfrm>
            <a:off x="1060704" y="4169663"/>
            <a:ext cx="45354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quality_ready ∧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≥ batch</a:t>
            </a:r>
          </a:p>
        </p:txBody>
      </p:sp>
      <p:cxnSp>
        <p:nvCxnSpPr>
          <p:cNvPr id="24" name="Editable connector"/>
          <p:cNvCxnSpPr/>
          <p:nvPr/>
        </p:nvCxnSpPr>
        <p:spPr>
          <a:xfrm>
            <a:off x="5980176" y="4325112"/>
            <a:ext cx="420624" cy="0"/>
          </a:xfrm>
          <a:prstGeom prst="line">
            <a:avLst/>
          </a:prstGeom>
          <a:ln w="17780">
            <a:solidFill>
              <a:srgbClr val="007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imeline action"/>
          <p:cNvSpPr/>
          <p:nvPr/>
        </p:nvSpPr>
        <p:spPr>
          <a:xfrm>
            <a:off x="6492240" y="4078224"/>
            <a:ext cx="4370832" cy="4937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6" name="Timeline action text"/>
          <p:cNvSpPr txBox="1"/>
          <p:nvPr/>
        </p:nvSpPr>
        <p:spPr>
          <a:xfrm>
            <a:off x="6656832" y="4169663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FLUSH_BATCH</a:t>
            </a:r>
          </a:p>
        </p:txBody>
      </p:sp>
      <p:sp>
        <p:nvSpPr>
          <p:cNvPr id="27" name="Timeline branch"/>
          <p:cNvSpPr/>
          <p:nvPr/>
        </p:nvSpPr>
        <p:spPr>
          <a:xfrm>
            <a:off x="896112" y="4663440"/>
            <a:ext cx="4974336" cy="493776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8" name="Timeline condition"/>
          <p:cNvSpPr txBox="1"/>
          <p:nvPr/>
        </p:nvSpPr>
        <p:spPr>
          <a:xfrm>
            <a:off x="1060704" y="4754879"/>
            <a:ext cx="453542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其餘</a:t>
            </a:r>
          </a:p>
        </p:txBody>
      </p:sp>
      <p:cxnSp>
        <p:nvCxnSpPr>
          <p:cNvPr id="29" name="Editable connector"/>
          <p:cNvCxnSpPr/>
          <p:nvPr/>
        </p:nvCxnSpPr>
        <p:spPr>
          <a:xfrm>
            <a:off x="5980176" y="4910327"/>
            <a:ext cx="420624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imeline action"/>
          <p:cNvSpPr/>
          <p:nvPr/>
        </p:nvSpPr>
        <p:spPr>
          <a:xfrm>
            <a:off x="6492240" y="4663440"/>
            <a:ext cx="4370832" cy="493776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31" name="Timeline action text"/>
          <p:cNvSpPr txBox="1"/>
          <p:nvPr/>
        </p:nvSpPr>
        <p:spPr>
          <a:xfrm>
            <a:off x="6656832" y="4754879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WAIT／</a:t>
            </a:r>
            <a:r>
              <a:rPr sz="1900" b="1" i="1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SEND_ONE</a:t>
            </a:r>
          </a:p>
        </p:txBody>
      </p:sp>
      <p:sp>
        <p:nvSpPr>
          <p:cNvPr id="32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P090｜current /course：ledger 顯示目前選取，best strategy 另由 gate 定義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execution ledger：目前選取 ≠ 最佳策略</a:t>
            </a:r>
          </a:p>
        </p:txBody>
      </p:sp>
      <p:pic>
        <p:nvPicPr>
          <p:cNvPr id="6" name="Current execution ledger" descr="08-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3913632" cy="3566160"/>
          </a:xfrm>
          <a:prstGeom prst="rect">
            <a:avLst/>
          </a:prstGeom>
        </p:spPr>
      </p:pic>
      <p:sp>
        <p:nvSpPr>
          <p:cNvPr id="7" name="Ledger field"/>
          <p:cNvSpPr/>
          <p:nvPr/>
        </p:nvSpPr>
        <p:spPr>
          <a:xfrm>
            <a:off x="4864608" y="1280160"/>
            <a:ext cx="2889504" cy="84124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Ledger field heading"/>
          <p:cNvSpPr txBox="1"/>
          <p:nvPr/>
        </p:nvSpPr>
        <p:spPr>
          <a:xfrm>
            <a:off x="4992624" y="1389888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experiment／case</a:t>
            </a:r>
          </a:p>
        </p:txBody>
      </p:sp>
      <p:sp>
        <p:nvSpPr>
          <p:cNvPr id="9" name="Ledger field body"/>
          <p:cNvSpPr txBox="1"/>
          <p:nvPr/>
        </p:nvSpPr>
        <p:spPr>
          <a:xfrm>
            <a:off x="5010912" y="1755648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屬於哪個 lab／case</a:t>
            </a:r>
          </a:p>
        </p:txBody>
      </p:sp>
      <p:sp>
        <p:nvSpPr>
          <p:cNvPr id="10" name="Ledger field"/>
          <p:cNvSpPr/>
          <p:nvPr/>
        </p:nvSpPr>
        <p:spPr>
          <a:xfrm>
            <a:off x="8065008" y="1280160"/>
            <a:ext cx="2889504" cy="84124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Ledger field heading"/>
          <p:cNvSpPr txBox="1"/>
          <p:nvPr/>
        </p:nvSpPr>
        <p:spPr>
          <a:xfrm>
            <a:off x="8193024" y="1389888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display</a:t>
            </a:r>
          </a:p>
        </p:txBody>
      </p:sp>
      <p:sp>
        <p:nvSpPr>
          <p:cNvPr id="12" name="Ledger field body"/>
          <p:cNvSpPr txBox="1"/>
          <p:nvPr/>
        </p:nvSpPr>
        <p:spPr>
          <a:xfrm>
            <a:off x="8211312" y="1755648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目前選取；best strategy 另由 gate 定義</a:t>
            </a:r>
          </a:p>
        </p:txBody>
      </p:sp>
      <p:sp>
        <p:nvSpPr>
          <p:cNvPr id="13" name="Ledger field"/>
          <p:cNvSpPr/>
          <p:nvPr/>
        </p:nvSpPr>
        <p:spPr>
          <a:xfrm>
            <a:off x="4864608" y="2304288"/>
            <a:ext cx="2889504" cy="84124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Ledger field heading"/>
          <p:cNvSpPr txBox="1"/>
          <p:nvPr/>
        </p:nvSpPr>
        <p:spPr>
          <a:xfrm>
            <a:off x="4992624" y="2414016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role</a:t>
            </a:r>
          </a:p>
        </p:txBody>
      </p:sp>
      <p:sp>
        <p:nvSpPr>
          <p:cNvPr id="15" name="Ledger field body"/>
          <p:cNvSpPr txBox="1"/>
          <p:nvPr/>
        </p:nvSpPr>
        <p:spPr>
          <a:xfrm>
            <a:off x="5010912" y="27797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baseline／candidate／revision／withheld</a:t>
            </a:r>
          </a:p>
        </p:txBody>
      </p:sp>
      <p:sp>
        <p:nvSpPr>
          <p:cNvPr id="16" name="Ledger field"/>
          <p:cNvSpPr/>
          <p:nvPr/>
        </p:nvSpPr>
        <p:spPr>
          <a:xfrm>
            <a:off x="8065008" y="2304288"/>
            <a:ext cx="2889504" cy="84124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Ledger field heading"/>
          <p:cNvSpPr txBox="1"/>
          <p:nvPr/>
        </p:nvSpPr>
        <p:spPr>
          <a:xfrm>
            <a:off x="8193024" y="2414016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service</a:t>
            </a:r>
          </a:p>
        </p:txBody>
      </p:sp>
      <p:sp>
        <p:nvSpPr>
          <p:cNvPr id="18" name="Ledger field body"/>
          <p:cNvSpPr txBox="1"/>
          <p:nvPr/>
        </p:nvSpPr>
        <p:spPr>
          <a:xfrm>
            <a:off x="8211312" y="2779776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每列保留 gate</a:t>
            </a:r>
          </a:p>
        </p:txBody>
      </p:sp>
      <p:sp>
        <p:nvSpPr>
          <p:cNvPr id="19" name="Ledger field"/>
          <p:cNvSpPr/>
          <p:nvPr/>
        </p:nvSpPr>
        <p:spPr>
          <a:xfrm>
            <a:off x="4864608" y="3328416"/>
            <a:ext cx="2889504" cy="84124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0" name="Ledger field heading"/>
          <p:cNvSpPr txBox="1"/>
          <p:nvPr/>
        </p:nvSpPr>
        <p:spPr>
          <a:xfrm>
            <a:off x="4992624" y="3438144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endpoint J</a:t>
            </a:r>
          </a:p>
        </p:txBody>
      </p:sp>
      <p:sp>
        <p:nvSpPr>
          <p:cNvPr id="21" name="Ledger field body"/>
          <p:cNvSpPr txBox="1"/>
          <p:nvPr/>
        </p:nvSpPr>
        <p:spPr>
          <a:xfrm>
            <a:off x="5010912" y="380390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同 boundary 比較</a:t>
            </a:r>
          </a:p>
        </p:txBody>
      </p:sp>
      <p:sp>
        <p:nvSpPr>
          <p:cNvPr id="22" name="Ledger field"/>
          <p:cNvSpPr/>
          <p:nvPr/>
        </p:nvSpPr>
        <p:spPr>
          <a:xfrm>
            <a:off x="8065008" y="3328416"/>
            <a:ext cx="2889504" cy="84124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3" name="Ledger field heading"/>
          <p:cNvSpPr txBox="1"/>
          <p:nvPr/>
        </p:nvSpPr>
        <p:spPr>
          <a:xfrm>
            <a:off x="8193024" y="3438144"/>
            <a:ext cx="263347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source</a:t>
            </a:r>
          </a:p>
        </p:txBody>
      </p:sp>
      <p:sp>
        <p:nvSpPr>
          <p:cNvPr id="24" name="Ledger field body"/>
          <p:cNvSpPr txBox="1"/>
          <p:nvPr/>
        </p:nvSpPr>
        <p:spPr>
          <a:xfrm>
            <a:off x="8211312" y="3803904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actual 與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分開</a:t>
            </a:r>
          </a:p>
        </p:txBody>
      </p:sp>
      <p:sp>
        <p:nvSpPr>
          <p:cNvPr id="25" name="Ledger source boundary"/>
          <p:cNvSpPr txBox="1"/>
          <p:nvPr/>
        </p:nvSpPr>
        <p:spPr>
          <a:xfrm>
            <a:off x="4919472" y="4590288"/>
            <a:ext cx="623620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source 不同，不能只比較 J。</a:t>
            </a:r>
          </a:p>
        </p:txBody>
      </p:sp>
      <p:sp>
        <p:nvSpPr>
          <p:cNvPr id="26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P091｜current /course：provider 與 endpoint 是兩層證據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provider ↔ endpoint：兩層 evidence 各自有 identity</a:t>
            </a:r>
          </a:p>
        </p:txBody>
      </p:sp>
      <p:pic>
        <p:nvPicPr>
          <p:cNvPr id="6" name="Provider evidence" descr="04-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5120640" cy="3584448"/>
          </a:xfrm>
          <a:prstGeom prst="rect">
            <a:avLst/>
          </a:prstGeom>
        </p:spPr>
      </p:pic>
      <p:sp>
        <p:nvSpPr>
          <p:cNvPr id="7" name="Endpoint boundary"/>
          <p:cNvSpPr/>
          <p:nvPr/>
        </p:nvSpPr>
        <p:spPr>
          <a:xfrm>
            <a:off x="6144768" y="1170432"/>
            <a:ext cx="5065776" cy="358444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Endpoint boundary heading"/>
          <p:cNvSpPr txBox="1"/>
          <p:nvPr/>
        </p:nvSpPr>
        <p:spPr>
          <a:xfrm>
            <a:off x="6272783" y="1280160"/>
            <a:ext cx="480974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IMPORTED ENDPOINT RESULT</a:t>
            </a:r>
          </a:p>
        </p:txBody>
      </p:sp>
      <p:sp>
        <p:nvSpPr>
          <p:cNvPr id="9" name="Endpoint boundary body"/>
          <p:cNvSpPr txBox="1"/>
          <p:nvPr/>
        </p:nvSpPr>
        <p:spPr>
          <a:xfrm>
            <a:off x="6291072" y="1645920"/>
            <a:ext cx="4773168" cy="29992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source／</a:t>
            </a:r>
            <a:r>
              <a:rPr sz="23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run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summary／replay／ledger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endpoint scope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不升格為 canonical replay</a:t>
            </a:r>
          </a:p>
        </p:txBody>
      </p:sp>
      <p:cxnSp>
        <p:nvCxnSpPr>
          <p:cNvPr id="10" name="Editable connector"/>
          <p:cNvCxnSpPr/>
          <p:nvPr/>
        </p:nvCxnSpPr>
        <p:spPr>
          <a:xfrm>
            <a:off x="5797296" y="2962656"/>
            <a:ext cx="274320" cy="0"/>
          </a:xfrm>
          <a:prstGeom prst="line">
            <a:avLst/>
          </a:prstGeom>
          <a:ln w="2159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ovider warning"/>
          <p:cNvSpPr txBox="1"/>
          <p:nvPr/>
        </p:nvSpPr>
        <p:spPr>
          <a:xfrm>
            <a:off x="896112" y="4828032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Evidence view：503 MODQN bundle requests 與 WebGL／GLTF warnings；不可宣稱 provider browser PASS。</a:t>
            </a:r>
          </a:p>
        </p:txBody>
      </p:sp>
      <p:sp>
        <p:nvSpPr>
          <p:cNvPr id="12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P092｜current /course：Workbook controls 與證據保存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Workbook controls：任務紀錄、證據鎖定與 recovery 要分開</a:t>
            </a:r>
          </a:p>
        </p:txBody>
      </p:sp>
      <p:pic>
        <p:nvPicPr>
          <p:cNvPr id="6" name="Workbook controls evidence" descr="05-work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70432"/>
            <a:ext cx="3858768" cy="3529584"/>
          </a:xfrm>
          <a:prstGeom prst="rect">
            <a:avLst/>
          </a:prstGeom>
        </p:spPr>
      </p:pic>
      <p:sp>
        <p:nvSpPr>
          <p:cNvPr id="7" name="Workbook current control"/>
          <p:cNvSpPr/>
          <p:nvPr/>
        </p:nvSpPr>
        <p:spPr>
          <a:xfrm>
            <a:off x="4773168" y="1261872"/>
            <a:ext cx="2907792" cy="124358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Workbook current control heading"/>
          <p:cNvSpPr txBox="1"/>
          <p:nvPr/>
        </p:nvSpPr>
        <p:spPr>
          <a:xfrm>
            <a:off x="4901183" y="1371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依課程簡報填寫完整證據學習單</a:t>
            </a:r>
          </a:p>
        </p:txBody>
      </p:sp>
      <p:sp>
        <p:nvSpPr>
          <p:cNvPr id="9" name="Workbook current control body"/>
          <p:cNvSpPr txBox="1"/>
          <p:nvPr/>
        </p:nvSpPr>
        <p:spPr>
          <a:xfrm>
            <a:off x="4919472" y="1737360"/>
            <a:ext cx="2615184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展開 workbook；答案驗證另由 evidence gate 處理</a:t>
            </a:r>
          </a:p>
        </p:txBody>
      </p:sp>
      <p:sp>
        <p:nvSpPr>
          <p:cNvPr id="10" name="Workbook current control"/>
          <p:cNvSpPr/>
          <p:nvPr/>
        </p:nvSpPr>
        <p:spPr>
          <a:xfrm>
            <a:off x="7991856" y="1261872"/>
            <a:ext cx="2907792" cy="124358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Workbook current control heading"/>
          <p:cNvSpPr txBox="1"/>
          <p:nvPr/>
        </p:nvSpPr>
        <p:spPr>
          <a:xfrm>
            <a:off x="8119872" y="1371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開啟 Leo 任務紀錄</a:t>
            </a:r>
          </a:p>
        </p:txBody>
      </p:sp>
      <p:sp>
        <p:nvSpPr>
          <p:cNvPr id="12" name="Workbook current control body"/>
          <p:cNvSpPr txBox="1"/>
          <p:nvPr/>
        </p:nvSpPr>
        <p:spPr>
          <a:xfrm>
            <a:off x="8138160" y="1737360"/>
            <a:ext cx="2615184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展開 task 1–10</a:t>
            </a:r>
          </a:p>
        </p:txBody>
      </p:sp>
      <p:sp>
        <p:nvSpPr>
          <p:cNvPr id="13" name="Workbook current control"/>
          <p:cNvSpPr/>
          <p:nvPr/>
        </p:nvSpPr>
        <p:spPr>
          <a:xfrm>
            <a:off x="4773168" y="2834639"/>
            <a:ext cx="2907792" cy="124358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Workbook current control heading"/>
          <p:cNvSpPr txBox="1"/>
          <p:nvPr/>
        </p:nvSpPr>
        <p:spPr>
          <a:xfrm>
            <a:off x="4901183" y="294436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檢查證據並繼續</a:t>
            </a:r>
          </a:p>
        </p:txBody>
      </p:sp>
      <p:sp>
        <p:nvSpPr>
          <p:cNvPr id="15" name="Workbook current control body"/>
          <p:cNvSpPr txBox="1"/>
          <p:nvPr/>
        </p:nvSpPr>
        <p:spPr>
          <a:xfrm>
            <a:off x="4919472" y="3310127"/>
            <a:ext cx="2615184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檢查目前段落，解鎖下一段</a:t>
            </a:r>
          </a:p>
        </p:txBody>
      </p:sp>
      <p:sp>
        <p:nvSpPr>
          <p:cNvPr id="16" name="Workbook current control"/>
          <p:cNvSpPr/>
          <p:nvPr/>
        </p:nvSpPr>
        <p:spPr>
          <a:xfrm>
            <a:off x="7991856" y="2834639"/>
            <a:ext cx="2907792" cy="124358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Workbook current control heading"/>
          <p:cNvSpPr txBox="1"/>
          <p:nvPr/>
        </p:nvSpPr>
        <p:spPr>
          <a:xfrm>
            <a:off x="8119872" y="294436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證據已鎖定</a:t>
            </a:r>
          </a:p>
        </p:txBody>
      </p:sp>
      <p:sp>
        <p:nvSpPr>
          <p:cNvPr id="18" name="Workbook current control body"/>
          <p:cNvSpPr txBox="1"/>
          <p:nvPr/>
        </p:nvSpPr>
        <p:spPr>
          <a:xfrm>
            <a:off x="8138160" y="3310127"/>
            <a:ext cx="2615184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保存段落；scientific parity 另行驗證</a:t>
            </a:r>
          </a:p>
        </p:txBody>
      </p:sp>
      <p:sp>
        <p:nvSpPr>
          <p:cNvPr id="19" name="Task lock boundary"/>
          <p:cNvSpPr txBox="1"/>
          <p:nvPr/>
        </p:nvSpPr>
        <p:spPr>
          <a:xfrm>
            <a:off x="4754880" y="4498848"/>
            <a:ext cx="629107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task ✓ 是保存狀態；仍要回到 result、replay、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與因果句。</a:t>
            </a:r>
          </a:p>
        </p:txBody>
      </p:sp>
      <p:sp>
        <p:nvSpPr>
          <p:cNvPr id="20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P093｜current /course：rejection 與 recovery fail closed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rejection／recovery：fail closed，原 session 不悄悄變動</a:t>
            </a:r>
          </a:p>
        </p:txBody>
      </p:sp>
      <p:pic>
        <p:nvPicPr>
          <p:cNvPr id="6" name="Fallback environment evidence" descr="00-pre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803904" cy="3419856"/>
          </a:xfrm>
          <a:prstGeom prst="rect">
            <a:avLst/>
          </a:prstGeom>
        </p:spPr>
      </p:pic>
      <p:sp>
        <p:nvSpPr>
          <p:cNvPr id="7" name="Recovery branch"/>
          <p:cNvSpPr/>
          <p:nvPr/>
        </p:nvSpPr>
        <p:spPr>
          <a:xfrm>
            <a:off x="4773168" y="1261872"/>
            <a:ext cx="2907792" cy="115214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Recovery branch heading"/>
          <p:cNvSpPr txBox="1"/>
          <p:nvPr/>
        </p:nvSpPr>
        <p:spPr>
          <a:xfrm>
            <a:off x="4901183" y="1371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格式／schema</a:t>
            </a:r>
          </a:p>
        </p:txBody>
      </p:sp>
      <p:sp>
        <p:nvSpPr>
          <p:cNvPr id="9" name="Recovery branch body"/>
          <p:cNvSpPr txBox="1"/>
          <p:nvPr/>
        </p:nvSpPr>
        <p:spPr>
          <a:xfrm>
            <a:off x="4919472" y="1737360"/>
            <a:ext cx="261518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保留錯誤 → 對照 contract</a:t>
            </a:r>
          </a:p>
        </p:txBody>
      </p:sp>
      <p:sp>
        <p:nvSpPr>
          <p:cNvPr id="10" name="Recovery branch"/>
          <p:cNvSpPr/>
          <p:nvPr/>
        </p:nvSpPr>
        <p:spPr>
          <a:xfrm>
            <a:off x="7973567" y="1261872"/>
            <a:ext cx="2907792" cy="115214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Recovery branch heading"/>
          <p:cNvSpPr txBox="1"/>
          <p:nvPr/>
        </p:nvSpPr>
        <p:spPr>
          <a:xfrm>
            <a:off x="8101583" y="13716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identity／lineage</a:t>
            </a:r>
          </a:p>
        </p:txBody>
      </p:sp>
      <p:sp>
        <p:nvSpPr>
          <p:cNvPr id="12" name="Recovery branch body"/>
          <p:cNvSpPr txBox="1"/>
          <p:nvPr/>
        </p:nvSpPr>
        <p:spPr>
          <a:xfrm>
            <a:off x="8119871" y="1737360"/>
            <a:ext cx="261518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回 matching artifact</a:t>
            </a:r>
          </a:p>
        </p:txBody>
      </p:sp>
      <p:sp>
        <p:nvSpPr>
          <p:cNvPr id="13" name="Recovery branch"/>
          <p:cNvSpPr/>
          <p:nvPr/>
        </p:nvSpPr>
        <p:spPr>
          <a:xfrm>
            <a:off x="4773168" y="2743200"/>
            <a:ext cx="2907792" cy="1152144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Recovery branch heading"/>
          <p:cNvSpPr txBox="1"/>
          <p:nvPr/>
        </p:nvSpPr>
        <p:spPr>
          <a:xfrm>
            <a:off x="4901183" y="28529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immutable duplicate</a:t>
            </a:r>
          </a:p>
        </p:txBody>
      </p:sp>
      <p:sp>
        <p:nvSpPr>
          <p:cNvPr id="15" name="Recovery branch body"/>
          <p:cNvSpPr txBox="1"/>
          <p:nvPr/>
        </p:nvSpPr>
        <p:spPr>
          <a:xfrm>
            <a:off x="4919472" y="3218688"/>
            <a:ext cx="261518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停止重按 → 保留 session</a:t>
            </a:r>
          </a:p>
        </p:txBody>
      </p:sp>
      <p:sp>
        <p:nvSpPr>
          <p:cNvPr id="16" name="Recovery branch"/>
          <p:cNvSpPr/>
          <p:nvPr/>
        </p:nvSpPr>
        <p:spPr>
          <a:xfrm>
            <a:off x="7973567" y="2743200"/>
            <a:ext cx="2907792" cy="115214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Recovery branch heading"/>
          <p:cNvSpPr txBox="1"/>
          <p:nvPr/>
        </p:nvSpPr>
        <p:spPr>
          <a:xfrm>
            <a:off x="8101583" y="2852928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provider 503</a:t>
            </a:r>
          </a:p>
        </p:txBody>
      </p:sp>
      <p:sp>
        <p:nvSpPr>
          <p:cNvPr id="18" name="Recovery branch body"/>
          <p:cNvSpPr txBox="1"/>
          <p:nvPr/>
        </p:nvSpPr>
        <p:spPr>
          <a:xfrm>
            <a:off x="8119871" y="3218688"/>
            <a:ext cx="2615184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保留 warning，不稱 browser PASS</a:t>
            </a:r>
          </a:p>
        </p:txBody>
      </p:sp>
      <p:sp>
        <p:nvSpPr>
          <p:cNvPr id="19" name="Recovery rule"/>
          <p:cNvSpPr txBox="1"/>
          <p:nvPr/>
        </p:nvSpPr>
        <p:spPr>
          <a:xfrm>
            <a:off x="4773168" y="4480560"/>
            <a:ext cx="6181344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可直接講：不手改 JSON、不換 case、不洗掉 surprise；回 release backup／matching 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9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，保存 recovery note。</a:t>
            </a:r>
          </a:p>
        </p:txBody>
      </p:sp>
      <p:sp>
        <p:nvSpPr>
          <p:cNvPr id="20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P094｜Prepare 的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READY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：browser-local terminal receipt record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Prepare：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READY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是 browser-local record；run proof 由 runner receipt 定義</a:t>
            </a:r>
          </a:p>
        </p:txBody>
      </p:sp>
      <p:pic>
        <p:nvPicPr>
          <p:cNvPr id="6" name="READY current screen" descr="09-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15568"/>
            <a:ext cx="5596128" cy="3602736"/>
          </a:xfrm>
          <a:prstGeom prst="rect">
            <a:avLst/>
          </a:prstGeom>
        </p:spPr>
      </p:pic>
      <p:sp>
        <p:nvSpPr>
          <p:cNvPr id="7" name="READY semantics"/>
          <p:cNvSpPr/>
          <p:nvPr/>
        </p:nvSpPr>
        <p:spPr>
          <a:xfrm>
            <a:off x="6473952" y="1115568"/>
            <a:ext cx="4846320" cy="149961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READY semantics heading"/>
          <p:cNvSpPr txBox="1"/>
          <p:nvPr/>
        </p:nvSpPr>
        <p:spPr>
          <a:xfrm>
            <a:off x="6601968" y="1225295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記錄 </a:t>
            </a:r>
            <a:r>
              <a:rPr sz="19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READY</a:t>
            </a:r>
          </a:p>
        </p:txBody>
      </p:sp>
      <p:sp>
        <p:nvSpPr>
          <p:cNvPr id="9" name="READY semantics body"/>
          <p:cNvSpPr txBox="1"/>
          <p:nvPr/>
        </p:nvSpPr>
        <p:spPr>
          <a:xfrm>
            <a:off x="6620256" y="1591056"/>
            <a:ext cx="4553712" cy="91439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只記錄 terminal 已看見 machine-readable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Leo 沒有執行／驗證 Python</a:t>
            </a:r>
          </a:p>
        </p:txBody>
      </p:sp>
      <p:sp>
        <p:nvSpPr>
          <p:cNvPr id="10" name="Fallback semantics"/>
          <p:cNvSpPr/>
          <p:nvPr/>
        </p:nvSpPr>
        <p:spPr>
          <a:xfrm>
            <a:off x="6473952" y="2798064"/>
            <a:ext cx="4846320" cy="1499616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Fallback semantics heading"/>
          <p:cNvSpPr txBox="1"/>
          <p:nvPr/>
        </p:nvSpPr>
        <p:spPr>
          <a:xfrm>
            <a:off x="6601968" y="2907792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記錄備用環境</a:t>
            </a:r>
          </a:p>
        </p:txBody>
      </p:sp>
      <p:sp>
        <p:nvSpPr>
          <p:cNvPr id="12" name="Fallback semantics body"/>
          <p:cNvSpPr txBox="1"/>
          <p:nvPr/>
        </p:nvSpPr>
        <p:spPr>
          <a:xfrm>
            <a:off x="6620256" y="3273552"/>
            <a:ext cx="4553712" cy="91439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誠實標示 setup／verify 無法完成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改走 same-scenario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fallback</a:t>
            </a:r>
          </a:p>
        </p:txBody>
      </p:sp>
      <p:sp>
        <p:nvSpPr>
          <p:cNvPr id="13" name="READY boundary"/>
          <p:cNvSpPr txBox="1"/>
          <p:nvPr/>
        </p:nvSpPr>
        <p:spPr>
          <a:xfrm>
            <a:off x="877824" y="4882896"/>
            <a:ext cx="10332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READY</a:t>
            </a: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 不安裝、不 verify、不 run、不 upload、不產生 </a:t>
            </a: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result.json</a:t>
            </a:r>
            <a:r>
              <a:rPr sz="20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，也不證明 Lab 完成。</a:t>
            </a:r>
          </a:p>
        </p:txBody>
      </p:sp>
      <p:sp>
        <p:nvSpPr>
          <p:cNvPr id="14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P095｜全站導覽與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loader：按鈕只改畫面狀態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全站 nav／language／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 loader：只改焦點與來源</a:t>
            </a:r>
          </a:p>
        </p:txBody>
      </p:sp>
      <p:sp>
        <p:nvSpPr>
          <p:cNvPr id="6" name="Global nav control"/>
          <p:cNvSpPr/>
          <p:nvPr/>
        </p:nvSpPr>
        <p:spPr>
          <a:xfrm>
            <a:off x="694944" y="1298448"/>
            <a:ext cx="2505456" cy="129844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Global nav control heading"/>
          <p:cNvSpPr txBox="1"/>
          <p:nvPr/>
        </p:nvSpPr>
        <p:spPr>
          <a:xfrm>
            <a:off x="822960" y="1408176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直接前往操作區</a:t>
            </a:r>
          </a:p>
        </p:txBody>
      </p:sp>
      <p:sp>
        <p:nvSpPr>
          <p:cNvPr id="8" name="Global nav control body"/>
          <p:cNvSpPr txBox="1"/>
          <p:nvPr/>
        </p:nvSpPr>
        <p:spPr>
          <a:xfrm>
            <a:off x="841248" y="1773936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跳到工作台</a:t>
            </a:r>
          </a:p>
        </p:txBody>
      </p:sp>
      <p:sp>
        <p:nvSpPr>
          <p:cNvPr id="9" name="Global nav control"/>
          <p:cNvSpPr/>
          <p:nvPr/>
        </p:nvSpPr>
        <p:spPr>
          <a:xfrm>
            <a:off x="3456432" y="1298448"/>
            <a:ext cx="2505456" cy="129844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Global nav control heading"/>
          <p:cNvSpPr txBox="1"/>
          <p:nvPr/>
        </p:nvSpPr>
        <p:spPr>
          <a:xfrm>
            <a:off x="3584448" y="1408176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返回 Leo 首頁</a:t>
            </a:r>
          </a:p>
        </p:txBody>
      </p:sp>
      <p:sp>
        <p:nvSpPr>
          <p:cNvPr id="11" name="Global nav control body"/>
          <p:cNvSpPr txBox="1"/>
          <p:nvPr/>
        </p:nvSpPr>
        <p:spPr>
          <a:xfrm>
            <a:off x="3602736" y="1773936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離開課程區</a:t>
            </a:r>
          </a:p>
        </p:txBody>
      </p:sp>
      <p:sp>
        <p:nvSpPr>
          <p:cNvPr id="12" name="Global nav control"/>
          <p:cNvSpPr/>
          <p:nvPr/>
        </p:nvSpPr>
        <p:spPr>
          <a:xfrm>
            <a:off x="6217920" y="1298448"/>
            <a:ext cx="2505456" cy="129844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Global nav control heading"/>
          <p:cNvSpPr txBox="1"/>
          <p:nvPr/>
        </p:nvSpPr>
        <p:spPr>
          <a:xfrm>
            <a:off x="6345936" y="1408176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繁中／EN</a:t>
            </a:r>
          </a:p>
        </p:txBody>
      </p:sp>
      <p:sp>
        <p:nvSpPr>
          <p:cNvPr id="14" name="Global nav control body"/>
          <p:cNvSpPr txBox="1"/>
          <p:nvPr/>
        </p:nvSpPr>
        <p:spPr>
          <a:xfrm>
            <a:off x="6364224" y="1773936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切換語言</a:t>
            </a:r>
          </a:p>
        </p:txBody>
      </p:sp>
      <p:sp>
        <p:nvSpPr>
          <p:cNvPr id="15" name="Global nav control"/>
          <p:cNvSpPr/>
          <p:nvPr/>
        </p:nvSpPr>
        <p:spPr>
          <a:xfrm>
            <a:off x="8979408" y="1298448"/>
            <a:ext cx="2505456" cy="129844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Global nav control heading"/>
          <p:cNvSpPr txBox="1"/>
          <p:nvPr/>
        </p:nvSpPr>
        <p:spPr>
          <a:xfrm>
            <a:off x="9107424" y="1408176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準備</a:t>
            </a:r>
          </a:p>
        </p:txBody>
      </p:sp>
      <p:sp>
        <p:nvSpPr>
          <p:cNvPr id="17" name="Global nav control body"/>
          <p:cNvSpPr txBox="1"/>
          <p:nvPr/>
        </p:nvSpPr>
        <p:spPr>
          <a:xfrm>
            <a:off x="9125712" y="1773936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看 setup／</a:t>
            </a:r>
            <a:r>
              <a:rPr sz="19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READY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狀態</a:t>
            </a:r>
          </a:p>
        </p:txBody>
      </p:sp>
      <p:sp>
        <p:nvSpPr>
          <p:cNvPr id="18" name="Course nav control"/>
          <p:cNvSpPr/>
          <p:nvPr/>
        </p:nvSpPr>
        <p:spPr>
          <a:xfrm>
            <a:off x="694944" y="2999232"/>
            <a:ext cx="2505456" cy="12984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Course nav control heading"/>
          <p:cNvSpPr txBox="1"/>
          <p:nvPr/>
        </p:nvSpPr>
        <p:spPr>
          <a:xfrm>
            <a:off x="822960" y="3108960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實驗 A／B／C</a:t>
            </a:r>
          </a:p>
        </p:txBody>
      </p:sp>
      <p:sp>
        <p:nvSpPr>
          <p:cNvPr id="20" name="Course nav control body"/>
          <p:cNvSpPr txBox="1"/>
          <p:nvPr/>
        </p:nvSpPr>
        <p:spPr>
          <a:xfrm>
            <a:off x="841248" y="3474720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切換 workbench</a:t>
            </a:r>
          </a:p>
        </p:txBody>
      </p:sp>
      <p:sp>
        <p:nvSpPr>
          <p:cNvPr id="21" name="Course nav control"/>
          <p:cNvSpPr/>
          <p:nvPr/>
        </p:nvSpPr>
        <p:spPr>
          <a:xfrm>
            <a:off x="3456432" y="2999232"/>
            <a:ext cx="2505456" cy="12984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2" name="Course nav control heading"/>
          <p:cNvSpPr txBox="1"/>
          <p:nvPr/>
        </p:nvSpPr>
        <p:spPr>
          <a:xfrm>
            <a:off x="3584448" y="3108960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證據</a:t>
            </a:r>
          </a:p>
        </p:txBody>
      </p:sp>
      <p:sp>
        <p:nvSpPr>
          <p:cNvPr id="23" name="Course nav control body"/>
          <p:cNvSpPr txBox="1"/>
          <p:nvPr/>
        </p:nvSpPr>
        <p:spPr>
          <a:xfrm>
            <a:off x="3602736" y="3474720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provider／endpoint boundary</a:t>
            </a:r>
          </a:p>
        </p:txBody>
      </p:sp>
      <p:sp>
        <p:nvSpPr>
          <p:cNvPr id="24" name="Course nav control"/>
          <p:cNvSpPr/>
          <p:nvPr/>
        </p:nvSpPr>
        <p:spPr>
          <a:xfrm>
            <a:off x="6217920" y="2999232"/>
            <a:ext cx="2505456" cy="12984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5" name="Course nav control heading"/>
          <p:cNvSpPr txBox="1"/>
          <p:nvPr/>
        </p:nvSpPr>
        <p:spPr>
          <a:xfrm>
            <a:off x="6345936" y="3108960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學習單</a:t>
            </a:r>
          </a:p>
        </p:txBody>
      </p:sp>
      <p:sp>
        <p:nvSpPr>
          <p:cNvPr id="26" name="Course nav control body"/>
          <p:cNvSpPr txBox="1"/>
          <p:nvPr/>
        </p:nvSpPr>
        <p:spPr>
          <a:xfrm>
            <a:off x="6364224" y="3474720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checkpoint／export／reopen</a:t>
            </a:r>
          </a:p>
        </p:txBody>
      </p:sp>
      <p:sp>
        <p:nvSpPr>
          <p:cNvPr id="27" name="Course nav control"/>
          <p:cNvSpPr/>
          <p:nvPr/>
        </p:nvSpPr>
        <p:spPr>
          <a:xfrm>
            <a:off x="8979408" y="2999232"/>
            <a:ext cx="2505456" cy="1298448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8" name="Course nav control heading"/>
          <p:cNvSpPr txBox="1"/>
          <p:nvPr/>
        </p:nvSpPr>
        <p:spPr>
          <a:xfrm>
            <a:off x="9107424" y="3108960"/>
            <a:ext cx="2249424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載入下一筆備用資料</a:t>
            </a:r>
          </a:p>
        </p:txBody>
      </p:sp>
      <p:sp>
        <p:nvSpPr>
          <p:cNvPr id="29" name="Course nav control body"/>
          <p:cNvSpPr txBox="1"/>
          <p:nvPr/>
        </p:nvSpPr>
        <p:spPr>
          <a:xfrm>
            <a:off x="9125712" y="3474720"/>
            <a:ext cx="2212848" cy="713231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依順序載入，不挑 best</a:t>
            </a:r>
          </a:p>
        </p:txBody>
      </p:sp>
      <p:sp>
        <p:nvSpPr>
          <p:cNvPr id="30" name="Navigation boundary"/>
          <p:cNvSpPr txBox="1"/>
          <p:nvPr/>
        </p:nvSpPr>
        <p:spPr>
          <a:xfrm>
            <a:off x="914400" y="4663440"/>
            <a:ext cx="10314432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切頁、切語言、載入 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都不跳過 identity／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gate，也不執行 Python。</a:t>
            </a:r>
          </a:p>
        </p:txBody>
      </p:sp>
      <p:sp>
        <p:nvSpPr>
          <p:cNvPr id="31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P096｜Task lock 與證據按鈕：檢查課程段落，不代替 runner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Task 1–10：解鎖課程段落，不代替 runner</a:t>
            </a:r>
          </a:p>
        </p:txBody>
      </p:sp>
      <p:sp>
        <p:nvSpPr>
          <p:cNvPr id="6" name="Task lock"/>
          <p:cNvSpPr/>
          <p:nvPr/>
        </p:nvSpPr>
        <p:spPr>
          <a:xfrm>
            <a:off x="676656" y="1298448"/>
            <a:ext cx="1993392" cy="76809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Task lock heading"/>
          <p:cNvSpPr txBox="1"/>
          <p:nvPr/>
        </p:nvSpPr>
        <p:spPr>
          <a:xfrm>
            <a:off x="804672" y="140817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Task 1</a:t>
            </a:r>
          </a:p>
        </p:txBody>
      </p:sp>
      <p:sp>
        <p:nvSpPr>
          <p:cNvPr id="8" name="Task lock body"/>
          <p:cNvSpPr txBox="1"/>
          <p:nvPr/>
        </p:nvSpPr>
        <p:spPr>
          <a:xfrm>
            <a:off x="822960" y="1773936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9" name="Task lock"/>
          <p:cNvSpPr/>
          <p:nvPr/>
        </p:nvSpPr>
        <p:spPr>
          <a:xfrm>
            <a:off x="2889504" y="1298448"/>
            <a:ext cx="1993392" cy="76809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Task lock heading"/>
          <p:cNvSpPr txBox="1"/>
          <p:nvPr/>
        </p:nvSpPr>
        <p:spPr>
          <a:xfrm>
            <a:off x="3017520" y="140817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Task 2</a:t>
            </a:r>
          </a:p>
        </p:txBody>
      </p:sp>
      <p:sp>
        <p:nvSpPr>
          <p:cNvPr id="11" name="Task lock body"/>
          <p:cNvSpPr txBox="1"/>
          <p:nvPr/>
        </p:nvSpPr>
        <p:spPr>
          <a:xfrm>
            <a:off x="3035808" y="1773936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12" name="Task lock"/>
          <p:cNvSpPr/>
          <p:nvPr/>
        </p:nvSpPr>
        <p:spPr>
          <a:xfrm>
            <a:off x="5102352" y="1298448"/>
            <a:ext cx="1993392" cy="76809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Task lock heading"/>
          <p:cNvSpPr txBox="1"/>
          <p:nvPr/>
        </p:nvSpPr>
        <p:spPr>
          <a:xfrm>
            <a:off x="5230368" y="140817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Task 3</a:t>
            </a:r>
          </a:p>
        </p:txBody>
      </p:sp>
      <p:sp>
        <p:nvSpPr>
          <p:cNvPr id="14" name="Task lock body"/>
          <p:cNvSpPr txBox="1"/>
          <p:nvPr/>
        </p:nvSpPr>
        <p:spPr>
          <a:xfrm>
            <a:off x="5248656" y="1773936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15" name="Task lock"/>
          <p:cNvSpPr/>
          <p:nvPr/>
        </p:nvSpPr>
        <p:spPr>
          <a:xfrm>
            <a:off x="7315200" y="1298448"/>
            <a:ext cx="1993392" cy="768096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Task lock heading"/>
          <p:cNvSpPr txBox="1"/>
          <p:nvPr/>
        </p:nvSpPr>
        <p:spPr>
          <a:xfrm>
            <a:off x="7443216" y="140817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Task 4</a:t>
            </a:r>
          </a:p>
        </p:txBody>
      </p:sp>
      <p:sp>
        <p:nvSpPr>
          <p:cNvPr id="17" name="Task lock body"/>
          <p:cNvSpPr txBox="1"/>
          <p:nvPr/>
        </p:nvSpPr>
        <p:spPr>
          <a:xfrm>
            <a:off x="7461504" y="1773936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18" name="Task lock"/>
          <p:cNvSpPr/>
          <p:nvPr/>
        </p:nvSpPr>
        <p:spPr>
          <a:xfrm>
            <a:off x="9528048" y="1298448"/>
            <a:ext cx="1993392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9" name="Task lock heading"/>
          <p:cNvSpPr txBox="1"/>
          <p:nvPr/>
        </p:nvSpPr>
        <p:spPr>
          <a:xfrm>
            <a:off x="9656064" y="1408176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Task 5</a:t>
            </a:r>
          </a:p>
        </p:txBody>
      </p:sp>
      <p:sp>
        <p:nvSpPr>
          <p:cNvPr id="20" name="Task lock body"/>
          <p:cNvSpPr txBox="1"/>
          <p:nvPr/>
        </p:nvSpPr>
        <p:spPr>
          <a:xfrm>
            <a:off x="9674352" y="1773936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21" name="Task lock"/>
          <p:cNvSpPr/>
          <p:nvPr/>
        </p:nvSpPr>
        <p:spPr>
          <a:xfrm>
            <a:off x="676656" y="2286000"/>
            <a:ext cx="1993392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2" name="Task lock heading"/>
          <p:cNvSpPr txBox="1"/>
          <p:nvPr/>
        </p:nvSpPr>
        <p:spPr>
          <a:xfrm>
            <a:off x="804672" y="239572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Task 6</a:t>
            </a:r>
          </a:p>
        </p:txBody>
      </p:sp>
      <p:sp>
        <p:nvSpPr>
          <p:cNvPr id="23" name="Task lock body"/>
          <p:cNvSpPr txBox="1"/>
          <p:nvPr/>
        </p:nvSpPr>
        <p:spPr>
          <a:xfrm>
            <a:off x="822960" y="2761488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24" name="Task lock"/>
          <p:cNvSpPr/>
          <p:nvPr/>
        </p:nvSpPr>
        <p:spPr>
          <a:xfrm>
            <a:off x="2889504" y="2286000"/>
            <a:ext cx="1993392" cy="768096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5" name="Task lock heading"/>
          <p:cNvSpPr txBox="1"/>
          <p:nvPr/>
        </p:nvSpPr>
        <p:spPr>
          <a:xfrm>
            <a:off x="3017520" y="239572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Task 7</a:t>
            </a:r>
          </a:p>
        </p:txBody>
      </p:sp>
      <p:sp>
        <p:nvSpPr>
          <p:cNvPr id="26" name="Task lock body"/>
          <p:cNvSpPr txBox="1"/>
          <p:nvPr/>
        </p:nvSpPr>
        <p:spPr>
          <a:xfrm>
            <a:off x="3035808" y="2761488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27" name="Task lock"/>
          <p:cNvSpPr/>
          <p:nvPr/>
        </p:nvSpPr>
        <p:spPr>
          <a:xfrm>
            <a:off x="5102352" y="2286000"/>
            <a:ext cx="1993392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8" name="Task lock heading"/>
          <p:cNvSpPr txBox="1"/>
          <p:nvPr/>
        </p:nvSpPr>
        <p:spPr>
          <a:xfrm>
            <a:off x="5230368" y="239572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Task 8</a:t>
            </a:r>
          </a:p>
        </p:txBody>
      </p:sp>
      <p:sp>
        <p:nvSpPr>
          <p:cNvPr id="29" name="Task lock body"/>
          <p:cNvSpPr txBox="1"/>
          <p:nvPr/>
        </p:nvSpPr>
        <p:spPr>
          <a:xfrm>
            <a:off x="5248656" y="2761488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30" name="Task lock"/>
          <p:cNvSpPr/>
          <p:nvPr/>
        </p:nvSpPr>
        <p:spPr>
          <a:xfrm>
            <a:off x="7315200" y="2286000"/>
            <a:ext cx="1993392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31" name="Task lock heading"/>
          <p:cNvSpPr txBox="1"/>
          <p:nvPr/>
        </p:nvSpPr>
        <p:spPr>
          <a:xfrm>
            <a:off x="7443216" y="239572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Task 9</a:t>
            </a:r>
          </a:p>
        </p:txBody>
      </p:sp>
      <p:sp>
        <p:nvSpPr>
          <p:cNvPr id="32" name="Task lock body"/>
          <p:cNvSpPr txBox="1"/>
          <p:nvPr/>
        </p:nvSpPr>
        <p:spPr>
          <a:xfrm>
            <a:off x="7461504" y="2761488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33" name="Task lock"/>
          <p:cNvSpPr/>
          <p:nvPr/>
        </p:nvSpPr>
        <p:spPr>
          <a:xfrm>
            <a:off x="9528048" y="2286000"/>
            <a:ext cx="1993392" cy="768096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34" name="Task lock heading"/>
          <p:cNvSpPr txBox="1"/>
          <p:nvPr/>
        </p:nvSpPr>
        <p:spPr>
          <a:xfrm>
            <a:off x="9656064" y="239572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Task 10</a:t>
            </a:r>
          </a:p>
        </p:txBody>
      </p:sp>
      <p:sp>
        <p:nvSpPr>
          <p:cNvPr id="35" name="Task lock body"/>
          <p:cNvSpPr txBox="1"/>
          <p:nvPr/>
        </p:nvSpPr>
        <p:spPr>
          <a:xfrm>
            <a:off x="9674352" y="2761488"/>
            <a:ext cx="1700784" cy="182879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disabled → ✓ 保存</a:t>
            </a:r>
          </a:p>
        </p:txBody>
      </p:sp>
      <p:sp>
        <p:nvSpPr>
          <p:cNvPr id="36" name="Check evidence button"/>
          <p:cNvSpPr/>
          <p:nvPr/>
        </p:nvSpPr>
        <p:spPr>
          <a:xfrm>
            <a:off x="841248" y="3621024"/>
            <a:ext cx="5010912" cy="93268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37" name="Check evidence button heading"/>
          <p:cNvSpPr txBox="1"/>
          <p:nvPr/>
        </p:nvSpPr>
        <p:spPr>
          <a:xfrm>
            <a:off x="969264" y="373075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檢查證據並繼續</a:t>
            </a:r>
          </a:p>
        </p:txBody>
      </p:sp>
      <p:sp>
        <p:nvSpPr>
          <p:cNvPr id="38" name="Check evidence button body"/>
          <p:cNvSpPr txBox="1"/>
          <p:nvPr/>
        </p:nvSpPr>
        <p:spPr>
          <a:xfrm>
            <a:off x="987552" y="4096512"/>
            <a:ext cx="4718304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檢查目前段落條件，通過才解鎖下一段</a:t>
            </a:r>
          </a:p>
        </p:txBody>
      </p:sp>
      <p:sp>
        <p:nvSpPr>
          <p:cNvPr id="39" name="Evidence locked button"/>
          <p:cNvSpPr/>
          <p:nvPr/>
        </p:nvSpPr>
        <p:spPr>
          <a:xfrm>
            <a:off x="6144768" y="3621024"/>
            <a:ext cx="5010912" cy="93268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40" name="Evidence locked button heading"/>
          <p:cNvSpPr txBox="1"/>
          <p:nvPr/>
        </p:nvSpPr>
        <p:spPr>
          <a:xfrm>
            <a:off x="6272783" y="373075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證據已鎖定</a:t>
            </a:r>
          </a:p>
        </p:txBody>
      </p:sp>
      <p:sp>
        <p:nvSpPr>
          <p:cNvPr id="41" name="Evidence locked button body"/>
          <p:cNvSpPr txBox="1"/>
          <p:nvPr/>
        </p:nvSpPr>
        <p:spPr>
          <a:xfrm>
            <a:off x="6291072" y="4096512"/>
            <a:ext cx="4718304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保存完成段落，不等於 scientific parity</a:t>
            </a:r>
          </a:p>
        </p:txBody>
      </p:sp>
      <p:sp>
        <p:nvSpPr>
          <p:cNvPr id="42" name="Task boundary"/>
          <p:cNvSpPr txBox="1"/>
          <p:nvPr/>
        </p:nvSpPr>
        <p:spPr>
          <a:xfrm>
            <a:off x="950976" y="4846320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✓ 不能跳過 </a:t>
            </a:r>
            <a:r>
              <a:rPr sz="19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service</a:t>
            </a:r>
            <a:r>
              <a:rPr sz="19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／</a:t>
            </a:r>
            <a:r>
              <a:rPr sz="19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deadline</a:t>
            </a:r>
            <a:r>
              <a:rPr sz="19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；按鈕不執行 Python、不重算 replay、不宣布策略 PASS。</a:t>
            </a:r>
          </a:p>
        </p:txBody>
      </p:sp>
      <p:sp>
        <p:nvSpPr>
          <p:cNvPr id="43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P097｜Provider replay controls：provider frames 與 endpoint result 分層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provider replay controls：各自移動，各自保留 frame identity</a:t>
            </a:r>
          </a:p>
        </p:txBody>
      </p:sp>
      <p:pic>
        <p:nvPicPr>
          <p:cNvPr id="6" name="Provider replay timeline" descr="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52144"/>
            <a:ext cx="10680192" cy="786384"/>
          </a:xfrm>
          <a:prstGeom prst="rect">
            <a:avLst/>
          </a:prstGeom>
        </p:spPr>
      </p:pic>
      <p:sp>
        <p:nvSpPr>
          <p:cNvPr id="7" name="Provider replay control"/>
          <p:cNvSpPr/>
          <p:nvPr/>
        </p:nvSpPr>
        <p:spPr>
          <a:xfrm>
            <a:off x="640080" y="2286000"/>
            <a:ext cx="2084831" cy="1097280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Provider replay control heading"/>
          <p:cNvSpPr txBox="1"/>
          <p:nvPr/>
        </p:nvSpPr>
        <p:spPr>
          <a:xfrm>
            <a:off x="768096" y="2395728"/>
            <a:ext cx="1828799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播放結果</a:t>
            </a:r>
          </a:p>
        </p:txBody>
      </p:sp>
      <p:sp>
        <p:nvSpPr>
          <p:cNvPr id="9" name="Provider replay control body"/>
          <p:cNvSpPr txBox="1"/>
          <p:nvPr/>
        </p:nvSpPr>
        <p:spPr>
          <a:xfrm>
            <a:off x="786384" y="2761488"/>
            <a:ext cx="1792223" cy="5120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provider replay play</a:t>
            </a:r>
          </a:p>
        </p:txBody>
      </p:sp>
      <p:sp>
        <p:nvSpPr>
          <p:cNvPr id="10" name="Provider replay control"/>
          <p:cNvSpPr/>
          <p:nvPr/>
        </p:nvSpPr>
        <p:spPr>
          <a:xfrm>
            <a:off x="2834639" y="2286000"/>
            <a:ext cx="2084831" cy="1097280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Provider replay control heading"/>
          <p:cNvSpPr txBox="1"/>
          <p:nvPr/>
        </p:nvSpPr>
        <p:spPr>
          <a:xfrm>
            <a:off x="2962656" y="2395728"/>
            <a:ext cx="1828799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暫停重播</a:t>
            </a:r>
          </a:p>
        </p:txBody>
      </p:sp>
      <p:sp>
        <p:nvSpPr>
          <p:cNvPr id="12" name="Provider replay control body"/>
          <p:cNvSpPr txBox="1"/>
          <p:nvPr/>
        </p:nvSpPr>
        <p:spPr>
          <a:xfrm>
            <a:off x="2980944" y="2761488"/>
            <a:ext cx="1792223" cy="5120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pause</a:t>
            </a:r>
          </a:p>
        </p:txBody>
      </p:sp>
      <p:sp>
        <p:nvSpPr>
          <p:cNvPr id="13" name="Provider replay control"/>
          <p:cNvSpPr/>
          <p:nvPr/>
        </p:nvSpPr>
        <p:spPr>
          <a:xfrm>
            <a:off x="5029200" y="2286000"/>
            <a:ext cx="2084831" cy="1097280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Provider replay control heading"/>
          <p:cNvSpPr txBox="1"/>
          <p:nvPr/>
        </p:nvSpPr>
        <p:spPr>
          <a:xfrm>
            <a:off x="5157216" y="2395728"/>
            <a:ext cx="1828799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slider</a:t>
            </a:r>
          </a:p>
        </p:txBody>
      </p:sp>
      <p:sp>
        <p:nvSpPr>
          <p:cNvPr id="15" name="Provider replay control body"/>
          <p:cNvSpPr txBox="1"/>
          <p:nvPr/>
        </p:nvSpPr>
        <p:spPr>
          <a:xfrm>
            <a:off x="5175504" y="2761488"/>
            <a:ext cx="1792223" cy="5120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選 provider frame</a:t>
            </a:r>
          </a:p>
        </p:txBody>
      </p:sp>
      <p:sp>
        <p:nvSpPr>
          <p:cNvPr id="16" name="Provider replay control"/>
          <p:cNvSpPr/>
          <p:nvPr/>
        </p:nvSpPr>
        <p:spPr>
          <a:xfrm>
            <a:off x="7223760" y="2286000"/>
            <a:ext cx="2084831" cy="1097280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Provider replay control heading"/>
          <p:cNvSpPr txBox="1"/>
          <p:nvPr/>
        </p:nvSpPr>
        <p:spPr>
          <a:xfrm>
            <a:off x="7351776" y="2395728"/>
            <a:ext cx="1828799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←</a:t>
            </a:r>
          </a:p>
        </p:txBody>
      </p:sp>
      <p:sp>
        <p:nvSpPr>
          <p:cNvPr id="18" name="Provider replay control body"/>
          <p:cNvSpPr txBox="1"/>
          <p:nvPr/>
        </p:nvSpPr>
        <p:spPr>
          <a:xfrm>
            <a:off x="7370064" y="2761488"/>
            <a:ext cx="1792223" cy="5120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上一畫面</a:t>
            </a:r>
          </a:p>
        </p:txBody>
      </p:sp>
      <p:sp>
        <p:nvSpPr>
          <p:cNvPr id="19" name="Provider replay control"/>
          <p:cNvSpPr/>
          <p:nvPr/>
        </p:nvSpPr>
        <p:spPr>
          <a:xfrm>
            <a:off x="9418320" y="2286000"/>
            <a:ext cx="2084831" cy="1097280"/>
          </a:xfrm>
          <a:prstGeom prst="roundRect">
            <a:avLst/>
          </a:prstGeom>
          <a:solidFill>
            <a:srgbClr val="FDEFEF"/>
          </a:solidFill>
          <a:ln w="1397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0" name="Provider replay control heading"/>
          <p:cNvSpPr txBox="1"/>
          <p:nvPr/>
        </p:nvSpPr>
        <p:spPr>
          <a:xfrm>
            <a:off x="9546336" y="2395728"/>
            <a:ext cx="1828799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下一個畫面 →</a:t>
            </a:r>
          </a:p>
        </p:txBody>
      </p:sp>
      <p:sp>
        <p:nvSpPr>
          <p:cNvPr id="21" name="Provider replay control body"/>
          <p:cNvSpPr txBox="1"/>
          <p:nvPr/>
        </p:nvSpPr>
        <p:spPr>
          <a:xfrm>
            <a:off x="9564624" y="2761488"/>
            <a:ext cx="1792223" cy="512063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下一 provider frame</a:t>
            </a:r>
          </a:p>
        </p:txBody>
      </p:sp>
      <p:sp>
        <p:nvSpPr>
          <p:cNvPr id="22" name="Endpoint replay control"/>
          <p:cNvSpPr/>
          <p:nvPr/>
        </p:nvSpPr>
        <p:spPr>
          <a:xfrm>
            <a:off x="786384" y="3822191"/>
            <a:ext cx="4992624" cy="102412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3" name="Endpoint replay control heading"/>
          <p:cNvSpPr txBox="1"/>
          <p:nvPr/>
        </p:nvSpPr>
        <p:spPr>
          <a:xfrm>
            <a:off x="914400" y="3931920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endpoint frame selector</a:t>
            </a:r>
          </a:p>
        </p:txBody>
      </p:sp>
      <p:sp>
        <p:nvSpPr>
          <p:cNvPr id="24" name="Endpoint replay control body"/>
          <p:cNvSpPr txBox="1"/>
          <p:nvPr/>
        </p:nvSpPr>
        <p:spPr>
          <a:xfrm>
            <a:off x="932688" y="4297679"/>
            <a:ext cx="470001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八欄＋</a:t>
            </a:r>
            <a:r>
              <a:rPr sz="20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＋event 跟著 endpoint frame 更新</a:t>
            </a:r>
          </a:p>
        </p:txBody>
      </p:sp>
      <p:sp>
        <p:nvSpPr>
          <p:cNvPr id="25" name="System replay control"/>
          <p:cNvSpPr/>
          <p:nvPr/>
        </p:nvSpPr>
        <p:spPr>
          <a:xfrm>
            <a:off x="6126480" y="3822191"/>
            <a:ext cx="4992624" cy="102412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26" name="System replay control heading"/>
          <p:cNvSpPr txBox="1"/>
          <p:nvPr/>
        </p:nvSpPr>
        <p:spPr>
          <a:xfrm>
            <a:off x="6254496" y="3931920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system replay timeline</a:t>
            </a:r>
          </a:p>
        </p:txBody>
      </p:sp>
      <p:sp>
        <p:nvSpPr>
          <p:cNvPr id="27" name="System replay control body"/>
          <p:cNvSpPr txBox="1"/>
          <p:nvPr/>
        </p:nvSpPr>
        <p:spPr>
          <a:xfrm>
            <a:off x="6272784" y="4297679"/>
            <a:ext cx="4700016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provider context；不保證與 endpoint time 同步</a:t>
            </a:r>
          </a:p>
        </p:txBody>
      </p:sp>
      <p:sp>
        <p:nvSpPr>
          <p:cNvPr id="28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P098｜current /course：八個 replay 欄位的後四欄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frame selector：後四欄的來源、值型態與作用</a:t>
            </a:r>
          </a:p>
        </p:txBody>
      </p:sp>
      <p:pic>
        <p:nvPicPr>
          <p:cNvPr id="6" name="Frame selector evidence continued" descr="08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3072384" cy="3493008"/>
          </a:xfrm>
          <a:prstGeom prst="rect">
            <a:avLst/>
          </a:prstGeom>
        </p:spPr>
      </p:pic>
      <p:sp>
        <p:nvSpPr>
          <p:cNvPr id="7" name="Current last four fields"/>
          <p:cNvSpPr/>
          <p:nvPr/>
        </p:nvSpPr>
        <p:spPr>
          <a:xfrm>
            <a:off x="4005072" y="1225296"/>
            <a:ext cx="3401568" cy="1426464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8" name="Current last four fields heading"/>
          <p:cNvSpPr txBox="1"/>
          <p:nvPr/>
        </p:nvSpPr>
        <p:spPr>
          <a:xfrm>
            <a:off x="4133087" y="1335024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Elapsed｜經過時間</a:t>
            </a:r>
          </a:p>
        </p:txBody>
      </p:sp>
      <p:sp>
        <p:nvSpPr>
          <p:cNvPr id="9" name="Current last four fields body"/>
          <p:cNvSpPr txBox="1"/>
          <p:nvPr/>
        </p:nvSpPr>
        <p:spPr>
          <a:xfrm>
            <a:off x="4151376" y="1700784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來源：endpoint trace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值：時間；作用：frame 順序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成功：elapsed 更新；失敗：原 trace 狀態維持</a:t>
            </a:r>
          </a:p>
        </p:txBody>
      </p:sp>
      <p:sp>
        <p:nvSpPr>
          <p:cNvPr id="10" name="Current last four fields"/>
          <p:cNvSpPr/>
          <p:nvPr/>
        </p:nvSpPr>
        <p:spPr>
          <a:xfrm>
            <a:off x="7699248" y="1225296"/>
            <a:ext cx="3401568" cy="1426464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1" name="Current last four fields heading"/>
          <p:cNvSpPr txBox="1"/>
          <p:nvPr/>
        </p:nvSpPr>
        <p:spPr>
          <a:xfrm>
            <a:off x="7827264" y="1335024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Contact ID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｜接觸識別碼</a:t>
            </a:r>
          </a:p>
        </p:txBody>
      </p:sp>
      <p:sp>
        <p:nvSpPr>
          <p:cNvPr id="12" name="Current last four fields body"/>
          <p:cNvSpPr txBox="1"/>
          <p:nvPr/>
        </p:nvSpPr>
        <p:spPr>
          <a:xfrm>
            <a:off x="7845552" y="1700784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來源：contact trace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值：字串識別碼；作用：對齊窗口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成功：ID 更新；失敗：原 contact identity 維持</a:t>
            </a:r>
          </a:p>
        </p:txBody>
      </p:sp>
      <p:sp>
        <p:nvSpPr>
          <p:cNvPr id="13" name="Current last four fields"/>
          <p:cNvSpPr/>
          <p:nvPr/>
        </p:nvSpPr>
        <p:spPr>
          <a:xfrm>
            <a:off x="4005072" y="2926080"/>
            <a:ext cx="3401568" cy="1426464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4" name="Current last four fields heading"/>
          <p:cNvSpPr txBox="1"/>
          <p:nvPr/>
        </p:nvSpPr>
        <p:spPr>
          <a:xfrm>
            <a:off x="4133087" y="3035808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Contact｜接觸狀態</a:t>
            </a:r>
          </a:p>
        </p:txBody>
      </p:sp>
      <p:sp>
        <p:nvSpPr>
          <p:cNvPr id="15" name="Current last four fields body"/>
          <p:cNvSpPr txBox="1"/>
          <p:nvPr/>
        </p:nvSpPr>
        <p:spPr>
          <a:xfrm>
            <a:off x="4151376" y="3401568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來源：contact event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值：開啟／關閉布林狀態；作用：合法 action 判讀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成功：狀態更新；失敗：原窗口狀態維持</a:t>
            </a:r>
          </a:p>
        </p:txBody>
      </p:sp>
      <p:sp>
        <p:nvSpPr>
          <p:cNvPr id="16" name="Current last four fields"/>
          <p:cNvSpPr/>
          <p:nvPr/>
        </p:nvSpPr>
        <p:spPr>
          <a:xfrm>
            <a:off x="7699248" y="2926080"/>
            <a:ext cx="3401568" cy="1426464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7" name="Current last four fields heading"/>
          <p:cNvSpPr txBox="1"/>
          <p:nvPr/>
        </p:nvSpPr>
        <p:spPr>
          <a:xfrm>
            <a:off x="7827264" y="3035808"/>
            <a:ext cx="314553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Quality</a:t>
            </a: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｜連線品質</a:t>
            </a:r>
          </a:p>
        </p:txBody>
      </p:sp>
      <p:sp>
        <p:nvSpPr>
          <p:cNvPr id="18" name="Current last four fields body"/>
          <p:cNvSpPr txBox="1"/>
          <p:nvPr/>
        </p:nvSpPr>
        <p:spPr>
          <a:xfrm>
            <a:off x="7845552" y="3401568"/>
            <a:ext cx="3108960" cy="8412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來源：runner quality trace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值：ordinal quality_band 分類；作用：quality_ready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成功：band 更新；失敗：原 quality 分類維持</a:t>
            </a:r>
          </a:p>
        </p:txBody>
      </p:sp>
      <p:sp>
        <p:nvSpPr>
          <p:cNvPr id="19" name="Field interpretation rule"/>
          <p:cNvSpPr txBox="1"/>
          <p:nvPr/>
        </p:nvSpPr>
        <p:spPr>
          <a:xfrm>
            <a:off x="4041648" y="4736592"/>
            <a:ext cx="7022592" cy="4206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Quality</a:t>
            </a:r>
            <a:r>
              <a:rPr sz="19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 使用 ordinal band 分類；其值不換算 dB。selector failure 維持原 frame 與原 workbook。</a:t>
            </a:r>
          </a:p>
        </p:txBody>
      </p:sp>
      <p:sp>
        <p:nvSpPr>
          <p:cNvPr id="20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P099｜current /course：控制項的讀寫、成功變化與失敗不變項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Teaching lead"/>
          <p:cNvSpPr txBox="1"/>
          <p:nvPr/>
        </p:nvSpPr>
        <p:spPr>
          <a:xfrm>
            <a:off x="786384" y="859536"/>
            <a:ext cx="10625328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35377F"/>
                </a:solidFill>
                <a:latin typeface="Times New Roman"/>
                <a:ea typeface="DFKai-SB"/>
                <a:cs typeface="Times New Roman"/>
              </a:rPr>
              <a:t>current /course controls：動作、讀寫、成功變化與失敗不變項</a:t>
            </a:r>
          </a:p>
        </p:txBody>
      </p:sp>
      <p:sp>
        <p:nvSpPr>
          <p:cNvPr id="6" name="Control contract group"/>
          <p:cNvSpPr/>
          <p:nvPr/>
        </p:nvSpPr>
        <p:spPr>
          <a:xfrm>
            <a:off x="658368" y="1207008"/>
            <a:ext cx="5321808" cy="1847088"/>
          </a:xfrm>
          <a:prstGeom prst="roundRect">
            <a:avLst/>
          </a:prstGeom>
          <a:solidFill>
            <a:srgbClr val="ECF1FE"/>
          </a:solidFill>
          <a:ln w="13970">
            <a:solidFill>
              <a:srgbClr val="3D61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7" name="Control contract group heading"/>
          <p:cNvSpPr txBox="1"/>
          <p:nvPr/>
        </p:nvSpPr>
        <p:spPr>
          <a:xfrm>
            <a:off x="786384" y="1316736"/>
            <a:ext cx="50657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D61B9"/>
                </a:solidFill>
                <a:latin typeface="Times New Roman"/>
                <a:ea typeface="DFKai-SB"/>
                <a:cs typeface="Times New Roman"/>
              </a:rPr>
              <a:t>Prepare｜準備控制</a:t>
            </a:r>
          </a:p>
        </p:txBody>
      </p:sp>
      <p:sp>
        <p:nvSpPr>
          <p:cNvPr id="8" name="Control contract group body"/>
          <p:cNvSpPr txBox="1"/>
          <p:nvPr/>
        </p:nvSpPr>
        <p:spPr>
          <a:xfrm>
            <a:off x="804672" y="1682496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開啟 GitHub 課程套件：讀 repository／README，寫 browser focus；成功開啟套件，失敗保持 Prepare。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記錄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READY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：讀 terminal receipt，寫 browser-local status；成功顯示已就緒，失敗保留原 status。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記錄備用環境：讀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 choice，寫 browser-local source；驗證失敗時原 source 不變。</a:t>
            </a:r>
          </a:p>
        </p:txBody>
      </p:sp>
      <p:sp>
        <p:nvSpPr>
          <p:cNvPr id="9" name="Control contract group"/>
          <p:cNvSpPr/>
          <p:nvPr/>
        </p:nvSpPr>
        <p:spPr>
          <a:xfrm>
            <a:off x="6400800" y="1207008"/>
            <a:ext cx="5321808" cy="1847088"/>
          </a:xfrm>
          <a:prstGeom prst="roundRect">
            <a:avLst/>
          </a:prstGeom>
          <a:solidFill>
            <a:srgbClr val="F4EDF7"/>
          </a:solidFill>
          <a:ln w="1397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0" name="Control contract group heading"/>
          <p:cNvSpPr txBox="1"/>
          <p:nvPr/>
        </p:nvSpPr>
        <p:spPr>
          <a:xfrm>
            <a:off x="6528816" y="1316736"/>
            <a:ext cx="50657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導覽／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800" b="1" i="0">
                <a:solidFill>
                  <a:srgbClr val="660066"/>
                </a:solidFill>
                <a:latin typeface="Times New Roman"/>
                <a:ea typeface="DFKai-SB"/>
                <a:cs typeface="Times New Roman"/>
              </a:rPr>
              <a:t>｜頁面控制</a:t>
            </a:r>
          </a:p>
        </p:txBody>
      </p:sp>
      <p:sp>
        <p:nvSpPr>
          <p:cNvPr id="11" name="Control contract group body"/>
          <p:cNvSpPr txBox="1"/>
          <p:nvPr/>
        </p:nvSpPr>
        <p:spPr>
          <a:xfrm>
            <a:off x="6547104" y="1682496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直接前往操作區、返回 Leo 首頁、繁中／EN：讀 navigation state，寫 focus／language；成功更新畫面，失敗保留目前頁。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準備、實驗 A／B／C、證據、學習單：讀 section state，寫 route；成功切換工作台，失敗保留 current section。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載入下一筆備用資料：讀 experiment order，寫 selected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fallback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；identity 不符時原 result 保持。</a:t>
            </a:r>
          </a:p>
        </p:txBody>
      </p:sp>
      <p:sp>
        <p:nvSpPr>
          <p:cNvPr id="12" name="Control contract group"/>
          <p:cNvSpPr/>
          <p:nvPr/>
        </p:nvSpPr>
        <p:spPr>
          <a:xfrm>
            <a:off x="658368" y="3291839"/>
            <a:ext cx="5321808" cy="1847088"/>
          </a:xfrm>
          <a:prstGeom prst="roundRect">
            <a:avLst/>
          </a:prstGeom>
          <a:solidFill>
            <a:srgbClr val="E8F7F4"/>
          </a:solidFill>
          <a:ln w="13970">
            <a:solidFill>
              <a:srgbClr val="00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3" name="Control contract group heading"/>
          <p:cNvSpPr txBox="1"/>
          <p:nvPr/>
        </p:nvSpPr>
        <p:spPr>
          <a:xfrm>
            <a:off x="786384" y="3401568"/>
            <a:ext cx="50657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474"/>
                </a:solidFill>
                <a:latin typeface="Times New Roman"/>
                <a:ea typeface="DFKai-SB"/>
                <a:cs typeface="Times New Roman"/>
              </a:rPr>
              <a:t>Workbook｜保存控制</a:t>
            </a:r>
          </a:p>
        </p:txBody>
      </p:sp>
      <p:sp>
        <p:nvSpPr>
          <p:cNvPr id="14" name="Control contract group body"/>
          <p:cNvSpPr txBox="1"/>
          <p:nvPr/>
        </p:nvSpPr>
        <p:spPr>
          <a:xfrm>
            <a:off x="804672" y="3767327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建立／恢復存檔點：讀 prediction、hash、role、source，寫 checkpoint；成功更新 checkpoint #，驗證失敗保留原 workbook。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重設本機進度／復原重設：讀 local progress，寫 reset state；成功改變本機紀錄，失敗保留原 progress。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匯出／重新開啟學習單：讀 workbook lineage，寫 exported file／reopened state；identity 不符時原 workbook 不變。</a:t>
            </a:r>
          </a:p>
        </p:txBody>
      </p:sp>
      <p:sp>
        <p:nvSpPr>
          <p:cNvPr id="15" name="Control contract group"/>
          <p:cNvSpPr/>
          <p:nvPr/>
        </p:nvSpPr>
        <p:spPr>
          <a:xfrm>
            <a:off x="6400800" y="3291839"/>
            <a:ext cx="5321808" cy="1847088"/>
          </a:xfrm>
          <a:prstGeom prst="roundRect">
            <a:avLst/>
          </a:prstGeom>
          <a:solidFill>
            <a:srgbClr val="FDF9E2"/>
          </a:solidFill>
          <a:ln w="1397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/>
            </a:r>
          </a:p>
        </p:txBody>
      </p:sp>
      <p:sp>
        <p:nvSpPr>
          <p:cNvPr id="16" name="Control contract group heading"/>
          <p:cNvSpPr txBox="1"/>
          <p:nvPr/>
        </p:nvSpPr>
        <p:spPr>
          <a:xfrm>
            <a:off x="6528816" y="3401568"/>
            <a:ext cx="5065776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DFKai-SB"/>
                <a:cs typeface="Times New Roman"/>
              </a:rPr>
              <a:t>Replay／Task｜事件與段落控制</a:t>
            </a:r>
          </a:p>
        </p:txBody>
      </p:sp>
      <p:sp>
        <p:nvSpPr>
          <p:cNvPr id="17" name="Control contract group body"/>
          <p:cNvSpPr txBox="1"/>
          <p:nvPr/>
        </p:nvSpPr>
        <p:spPr>
          <a:xfrm>
            <a:off x="6547104" y="3767327"/>
            <a:ext cx="5029200" cy="12618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播放結果／暫停重播、slider、上一畫面、下一個畫面：讀 provider frame sequence，寫 playback cursor；成功更新 provider frame，失敗維持原 cursor。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endpoint selector／無線電接觸時間軸：讀 endpoint frames，寫 selected frame／toggle；成功更新八欄、</a:t>
            </a:r>
            <a:r>
              <a:rPr sz="1800" b="0" i="1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queue</a:t>
            </a: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、event，失敗維持原 frame。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DFKai-SB"/>
                <a:cs typeface="Times New Roman"/>
              </a:rPr>
              <a:t>任務 1–10、檢查證據並繼續、證據已鎖定：讀 task evidence，寫 completion／lock；條件不足時原 task 與 workbook 維持。</a:t>
            </a:r>
          </a:p>
        </p:txBody>
      </p:sp>
      <p:sp>
        <p:nvSpPr>
          <p:cNvPr id="18" name="Claim boundary"/>
          <p:cNvSpPr txBox="1"/>
          <p:nvPr/>
        </p:nvSpPr>
        <p:spPr>
          <a:xfrm>
            <a:off x="658368" y="5358384"/>
            <a:ext cx="10789920" cy="2468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DFKai-SB"/>
                <a:cs typeface="Times New Roman"/>
              </a:rPr>
              <a:t>SIMULATED TEACHING DATA｜NOT LIVE｜NOT MEASURED｜NOT CANONICAL-PARITY-VERIFIED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