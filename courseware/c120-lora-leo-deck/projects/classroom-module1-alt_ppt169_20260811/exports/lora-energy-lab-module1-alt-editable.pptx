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今天先不從衛星名詞開始。我們先看一個 IoT endpoint 的選擇：現在送、短暫等待，或進入低功耗休眠。每個選擇會改變狀態停留、封包服務與 endpoint energy，這個模擬教學資料會把整條因果鏈留下來。 若操作受阻，若有人把畫面解讀成 live 或量測結果，先回到 endpoint boundary；這一版不宣稱 live、measured 或 canonical parity。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請沿著箭頭讀這一頁。policy 只能使用當下看得到的 observation，action 才會改變狀態、封包與服務，最後才談功率乘時間的累積結果。若只看到動畫而沒有中間證據，我們不把它稱為節能證據。 若操作受阻，只有畫面變化、沒有 state／packet／service／J 差異時，判定 evidence gate 未通過。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這裡的重點不是背框架名稱，而是它能把 sleep、processing、transmit、receive、packet、retry 與 energy 結果接起來。課程 wrapper 只保留可重現、可閱讀的控制面，讓後續改動有清楚的觀察點。 若操作受阻，若只改到 label 或動畫，保留結果並回到同一個 scenario 的機制檢查。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在這裡是索引，不是課程終點。它提供變動的服務窗口，讓現在送還是等一下有明顯後果；同一種推理也能搬到智慧農場、HVAC 或 edge device。 若操作受阻，若解讀擴大到真實衛星測量，停在 changing-window 圖，回到 course boundary。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左邊的 endpoint replay 和右邊的 C-120 system replay 可以共享 scenario 與 clock，但不能因為欄位名稱像就互相改寫。這一頁先建立 scope 防線，後面每一次判讀都回到這裡。 若操作受阻，欄位名稱相似但 scope 不同時，標記不相容，回到原始 artifact，不手動換欄。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 lab 都會沿著這條環走，但每一頁的視覺和操作不同。先寫下可能改變的 state、packet、service 或 J，再改一小塊、跑結果、匯入 replay，最後用不調參的條件檢驗假說。 若操作受阻，預測被推翻時保留原文；若 identity 不一致，回到 matching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這張只做一次邊界確認。請先讀 marked block 和 diff，說出它可能改變的 state、queue 或 service，再執行任何 runner。若非標記區域也變了，就不要把那次結果當成受控比較。 若操作受阻，非 marked 區域出現差異就停止編輯，回到 package identity 或 known-good copy。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 route map，不是課程時程。先取對 archive，再分辨 Windows 或 WSL，固定 Python 3.11 和 package-local venv，最後才讀 policy。每個節點都保留一個可以回看的輸出。 若操作受阻，任何 gate 卡住，保留錯誤，沿同一條 package identity 的 recovery 路徑返回。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進入命令前先把 claim ceiling 說清楚。這是 deterministic simulated teaching data，不是 live telemetry、量測結果或 canonical parity 通過。之後若看到尚未凍結的欄位或 KPI，我們保留缺口而不捏造。 若操作受阻，看到未凍結 URL、畫面或數字時，留作 placeholder，不能自行填成 evidence。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拿到 artifact 後不要從不同 branch 或 source 拼檔案。先在解壓後的父目錄列出根目錄內容；目前 local artifact 已完成 fresh extract、Python 3.11 setup、READY 與 19/19 tests。根目錄結構不對，就先停止，不要把後面的 shell 或結果當成同一份 release。 若操作受阻，根目錄多一層、必要檔案缺失或檔案來自不同 source 時停止，重新取得同一份指定 artifact。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目前可核對的是 source repo、scenario／anchor／lock identity，以及 local artifact `lora-energy-lab-v1.zip` 的 bytes／SHA-256。public GitHub Release URL 尚未凍結，投影片明示 `RELEASE_ASSET_PENDING`；不要放猜測 URL、ZIP 或 checksum。hash 不符時要停止，不能用相似 source 取代。 若操作受阻，repo unavailable or local hashes mismatch: preserve output and stop; do not substitute another branch, archive, or guessed public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先看提示字元，確認自己是在 CMD 還是 PowerShell，再執行兩個 launcher 命令。畫面上可以教正確路徑，但 Windows 的 clean-run receipt 仍是 pending；若沒有 3.11，下一頁只走安裝或 uv 的 recovery。 若操作受阻，沒有 3.11 或 launcher 失敗：保留輸出，走 Python installer 或 uv recovery；不要硬用另一個版本。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若 launcher 沒有 3.11，請沿著官方 Windows 下載頁選擇 3.11.x 的 64-bit installer，安裝時保留 Python Launcher。完成後重新開 shell 再驗證；這頁是明確路徑，不把尚未完成的 clean install 說成已通過。 若操作受阻，安裝器、PATH 或 launcher 仍失敗：保留錯誤，改走 uv recovery；不修改 lock 或套件內容。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這條路徑是 launcher 的 recovery，不是把最新 Python 硬塞進來。先確認 uv，再安裝和尋找 3.11；最後輸出的是 interpreter path。若網路或 policy 阻擋，留下錯誤並走同 scenario fallback。 若操作受阻，uv 安裝或下載受阻：保留錯誤，回到同一 package 的 fallback；不要移除版本 pin。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隔離環境不是多一道儀式，而是讓 dependency graph 可解釋。Windows 和 WSL 是不同檔案環境，不能互拷 `.venv`；不需要平常 activate，只要確認 runner 找到 package-local interpreter。 若操作受阻，path 指到跨環境 venv 時停止，刪除或重建動作交由 setup gate 處理；先保留錯誤和 package identity。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PowerShell 的 package root 依序設定 interpreter、跑 setup，再跑 verify。setup 只建立環境，verify 才確認契約；目前這頁的 Windows native clean-run receipt 還沒完成，所以用 pending 標示，而不是放假輸出。 若操作受阻，若版本、lock 或 identity 失敗，保留 receipt 和錯誤，先修目前 gate；不能用手改 JSON 偽造 READY。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WSL 是另一個 shell 與檔案環境。尚未安裝才由系統管理員 PowerShell 走 `wsl --install`；進入 Ubuntu 後，用 `pwd` 和 `uname -a` 確認自己真的在 Linux。clean-run 仍待補，不能把命令列表當實機收據。 若操作受阻，WSL 未啟用、distribution 不對或 path 混用時停在 shell gate；保留輸出，回到 Windows 或同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Ubuntu 先裝最小工具，再用 uv 取得 3.11。這些命令只為了讓 setup 有 interpreter 和 unzip 能力，並不代表 runner 已經執行。若政策或網路阻擋，保留錯誤，不能刪掉 lock 來繞過。 若操作受阻，apt／installer 被網路或 policy 擋住時保留 stderr，走同 package fallback；不把 setup error 當 energy evidence。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這頁只示範 Linux package root 的 setup／verify；local artifact 已有明確 VERIFIED LOCAL ARTIFACT 標籤，但 public release asset 仍 pending，所以不放 Windows Downloads 的猜測 ZIP 命令。每一步都用 Linux path，Windows 的 `.venv` 不跨過來。 若操作受阻，解壓層級、path 或 interpreter 不符時停止，保留錯誤並回到 package identity；不要拷貝另一個 OS 的 venv。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POSIX 入口把兩行命令縮到最小，但不省略驗證。先用明確的 `python3.11` 建環境，再用同一 package 的 course launcher verify。這頁的 clean-run 仍 pending，不能因為命令看起來合理就宣稱通過。 若操作受阻，找不到 `python3.11` 或 verify 失敗時保留命令輸出，回到 interpreter／package gate，不補填 READY。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READY 不是實驗結果，而是環境和契約可以進入 runner 的訊號。請從檔案讀 status、Python、scenario、API、lock 和 claim ceiling；local artifact 的 fresh receipt 已在本地跑通，但課堂環境仍要重跑並保留原始檔。這頁只展示目前指定 identity：scenario `ntpu-energy-decision-01`、API `lora-energy-policy-v1`，不填猜測結果。 若操作受阻，缺欄、版本不符或 scenario 不一致時，保留 receipt，回到對應 gate；不可手改成 READY。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setup 或 verify 失敗，先把錯誤放回它所屬的環境層，確認 Python、根目錄、lock 和 scenario。只修目前 gate 指出的最小問題；若仍無法 READY，就保留同一 scenario 的 fallback 標記，不把安裝失敗誤說成 energy result。 若操作受阻，不刪錯誤、不手改 receipt、不用空陣列或零值假裝成功；必要時回 known-good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現在才進入可編輯面。先看 status 和 diff，再只改 `student_policy.py` 的 marked block；engine、scenario、schema、runner 和 generated JSON 都保持唯讀。這個邊界是後面 policy hash 和結果判讀成立的前提。 若操作受阻，非 marked 檔案或區域出現差異，停止本次 run，回到 release identity 或 known-good copy。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只可以依當下允許的 observation 選 action，不能偷看 future quality、future energy 或 result summary。先用搜尋和 syntax guard 讀 bounded function，再把每個合法 action 對應到可能的 state 或 packet 後果。 若操作受阻，syntax 或 action 名稱錯誤只修 marked block；API 不一致就回 package identity，不擴充 action set。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這裡只需要讀懂 Python 的常數與等號，不要求掌握整個 framework。每次先預測它可能改變的 state、queue 或 service，再做一個小 diff；如果值超出 guard，修回允許範圍，不要放寬 runner。 若操作受阻，值超出 bounded range 或 syntax 失敗，只修 marked line；不改 runner 或放寬 guard。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看條件時先圈出它讀的是哪一個當下 observation，再說出每個分支的 legal action。這會把程式閱讀接回機制，而不是把 future result 偷渡進 decision。若錯誤不在 marked block，就停止編輯並保留 traceback。 若操作受阻，名稱或縮排錯誤只改 marked block；traceback 指到非 marked 區域時保留錯誤並回 recovery。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最後用一個最小 Python 觀念收束：縮排決定條件屬於哪個分支，`return` 決定 runner 收到的 action。這不是 framework 除錯課；只修 marked line，其他 traceback 保留並交回 recovery gate。 若操作受阻，錯誤指向 marked line 才修；非 marked 錯誤保留、回到 package checkpoint 或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786384" y="950976"/>
            <a:ext cx="6903720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3" name="Cover subtitle"/>
          <p:cNvSpPr txBox="1"/>
          <p:nvPr/>
        </p:nvSpPr>
        <p:spPr>
          <a:xfrm>
            <a:off x="868680" y="2350008"/>
            <a:ext cx="658368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C-120｜LoRaEnergySim × </a:t>
            </a: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智慧節能與物聯網應用</a:t>
            </a:r>
          </a:p>
        </p:txBody>
      </p:sp>
      <p:sp>
        <p:nvSpPr>
          <p:cNvPr id="4" name="Cover causal chain"/>
          <p:cNvSpPr txBox="1"/>
          <p:nvPr/>
        </p:nvSpPr>
        <p:spPr>
          <a:xfrm>
            <a:off x="896112" y="3017520"/>
            <a:ext cx="635508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→ state time → packet / service → endpoint energy</a:t>
            </a:r>
          </a:p>
        </p:txBody>
      </p:sp>
      <p:sp>
        <p:nvSpPr>
          <p:cNvPr id="5" name="Cover causal ribbon"/>
          <p:cNvSpPr/>
          <p:nvPr/>
        </p:nvSpPr>
        <p:spPr>
          <a:xfrm>
            <a:off x="896112" y="4023360"/>
            <a:ext cx="6903720" cy="6583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ver causal ribbon text"/>
          <p:cNvSpPr txBox="1"/>
          <p:nvPr/>
        </p:nvSpPr>
        <p:spPr>
          <a:xfrm>
            <a:off x="1097280" y="4215384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觀察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→  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決策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→  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→  endpoint J</a:t>
            </a:r>
          </a:p>
        </p:txBody>
      </p:sp>
      <p:sp>
        <p:nvSpPr>
          <p:cNvPr id="7" name="Claim boundary"/>
          <p:cNvSpPr txBox="1"/>
          <p:nvPr/>
        </p:nvSpPr>
        <p:spPr>
          <a:xfrm>
            <a:off x="896112" y="4965192"/>
            <a:ext cx="699516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  <p:sp>
        <p:nvSpPr>
          <p:cNvPr id="8" name="Cover window visual"/>
          <p:cNvSpPr/>
          <p:nvPr/>
        </p:nvSpPr>
        <p:spPr>
          <a:xfrm>
            <a:off x="8321040" y="1417320"/>
            <a:ext cx="2761488" cy="3547872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 label"/>
          <p:cNvSpPr txBox="1"/>
          <p:nvPr/>
        </p:nvSpPr>
        <p:spPr>
          <a:xfrm>
            <a:off x="8577072" y="1664208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WINDOW</a:t>
            </a:r>
          </a:p>
        </p:txBody>
      </p:sp>
      <p:cxnSp>
        <p:nvCxnSpPr>
          <p:cNvPr id="10" name="Window axis"/>
          <p:cNvCxnSpPr/>
          <p:nvPr/>
        </p:nvCxnSpPr>
        <p:spPr>
          <a:xfrm>
            <a:off x="8668512" y="4224528"/>
            <a:ext cx="205740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Window signal"/>
          <p:cNvCxnSpPr/>
          <p:nvPr/>
        </p:nvCxnSpPr>
        <p:spPr>
          <a:xfrm flipV="1">
            <a:off x="8759952" y="3200400"/>
            <a:ext cx="0" cy="1024128"/>
          </a:xfrm>
          <a:prstGeom prst="line">
            <a:avLst/>
          </a:prstGeom>
          <a:ln w="508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Window sample"/>
          <p:cNvSpPr/>
          <p:nvPr/>
        </p:nvSpPr>
        <p:spPr>
          <a:xfrm>
            <a:off x="8686800" y="3127248"/>
            <a:ext cx="146304" cy="14630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Window signal"/>
          <p:cNvCxnSpPr/>
          <p:nvPr/>
        </p:nvCxnSpPr>
        <p:spPr>
          <a:xfrm flipV="1">
            <a:off x="9262872" y="2487168"/>
            <a:ext cx="0" cy="1737360"/>
          </a:xfrm>
          <a:prstGeom prst="line">
            <a:avLst/>
          </a:prstGeom>
          <a:ln w="5080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Window sample"/>
          <p:cNvSpPr/>
          <p:nvPr/>
        </p:nvSpPr>
        <p:spPr>
          <a:xfrm>
            <a:off x="9189720" y="2414016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Window signal"/>
          <p:cNvCxnSpPr/>
          <p:nvPr/>
        </p:nvCxnSpPr>
        <p:spPr>
          <a:xfrm flipV="1">
            <a:off x="9765792" y="3474720"/>
            <a:ext cx="0" cy="749808"/>
          </a:xfrm>
          <a:prstGeom prst="line">
            <a:avLst/>
          </a:prstGeom>
          <a:ln w="508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Window sample"/>
          <p:cNvSpPr/>
          <p:nvPr/>
        </p:nvSpPr>
        <p:spPr>
          <a:xfrm>
            <a:off x="9692640" y="3401568"/>
            <a:ext cx="146304" cy="146304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Window signal"/>
          <p:cNvCxnSpPr/>
          <p:nvPr/>
        </p:nvCxnSpPr>
        <p:spPr>
          <a:xfrm flipV="1">
            <a:off x="10268712" y="2834640"/>
            <a:ext cx="0" cy="1389888"/>
          </a:xfrm>
          <a:prstGeom prst="line">
            <a:avLst/>
          </a:prstGeom>
          <a:ln w="5080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Window sample"/>
          <p:cNvSpPr/>
          <p:nvPr/>
        </p:nvSpPr>
        <p:spPr>
          <a:xfrm>
            <a:off x="10195560" y="2761488"/>
            <a:ext cx="146304" cy="14630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indow scope"/>
          <p:cNvSpPr txBox="1"/>
          <p:nvPr/>
        </p:nvSpPr>
        <p:spPr>
          <a:xfrm>
            <a:off x="8613648" y="4471416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LEO = example, not measurement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Causal node 1"/>
          <p:cNvSpPr/>
          <p:nvPr/>
        </p:nvSpPr>
        <p:spPr>
          <a:xfrm>
            <a:off x="640080" y="1664208"/>
            <a:ext cx="1517904" cy="8778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node text 1"/>
          <p:cNvSpPr txBox="1"/>
          <p:nvPr/>
        </p:nvSpPr>
        <p:spPr>
          <a:xfrm>
            <a:off x="713231" y="1920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9" name="Causal arrow"/>
          <p:cNvCxnSpPr/>
          <p:nvPr/>
        </p:nvCxnSpPr>
        <p:spPr>
          <a:xfrm>
            <a:off x="2157984" y="2103120"/>
            <a:ext cx="219455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usal node 2"/>
          <p:cNvSpPr/>
          <p:nvPr/>
        </p:nvSpPr>
        <p:spPr>
          <a:xfrm>
            <a:off x="2377439" y="1664208"/>
            <a:ext cx="1325880" cy="8778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usal node text 2"/>
          <p:cNvSpPr txBox="1"/>
          <p:nvPr/>
        </p:nvSpPr>
        <p:spPr>
          <a:xfrm>
            <a:off x="2450591" y="1920240"/>
            <a:ext cx="11795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cxnSp>
        <p:nvCxnSpPr>
          <p:cNvPr id="12" name="Causal arrow"/>
          <p:cNvCxnSpPr/>
          <p:nvPr/>
        </p:nvCxnSpPr>
        <p:spPr>
          <a:xfrm>
            <a:off x="3703320" y="2103120"/>
            <a:ext cx="219456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usal node 3"/>
          <p:cNvSpPr/>
          <p:nvPr/>
        </p:nvSpPr>
        <p:spPr>
          <a:xfrm>
            <a:off x="3922775" y="1664208"/>
            <a:ext cx="1234440" cy="8778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usal node text 3"/>
          <p:cNvSpPr txBox="1"/>
          <p:nvPr/>
        </p:nvSpPr>
        <p:spPr>
          <a:xfrm>
            <a:off x="3995927" y="1920240"/>
            <a:ext cx="108813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cxnSp>
        <p:nvCxnSpPr>
          <p:cNvPr id="15" name="Causal arrow"/>
          <p:cNvCxnSpPr/>
          <p:nvPr/>
        </p:nvCxnSpPr>
        <p:spPr>
          <a:xfrm>
            <a:off x="5157215" y="2103120"/>
            <a:ext cx="219456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usal node 4"/>
          <p:cNvSpPr/>
          <p:nvPr/>
        </p:nvSpPr>
        <p:spPr>
          <a:xfrm>
            <a:off x="5376671" y="1664208"/>
            <a:ext cx="1719072" cy="87782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usal node text 4"/>
          <p:cNvSpPr txBox="1"/>
          <p:nvPr/>
        </p:nvSpPr>
        <p:spPr>
          <a:xfrm>
            <a:off x="5449823" y="192024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state / packet</a:t>
            </a:r>
          </a:p>
        </p:txBody>
      </p:sp>
      <p:cxnSp>
        <p:nvCxnSpPr>
          <p:cNvPr id="18" name="Causal arrow"/>
          <p:cNvCxnSpPr/>
          <p:nvPr/>
        </p:nvCxnSpPr>
        <p:spPr>
          <a:xfrm>
            <a:off x="7095743" y="2103120"/>
            <a:ext cx="219456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usal node 5"/>
          <p:cNvSpPr/>
          <p:nvPr/>
        </p:nvSpPr>
        <p:spPr>
          <a:xfrm>
            <a:off x="7315199" y="1664208"/>
            <a:ext cx="1298448" cy="87782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usal node text 5"/>
          <p:cNvSpPr txBox="1"/>
          <p:nvPr/>
        </p:nvSpPr>
        <p:spPr>
          <a:xfrm>
            <a:off x="7388351" y="1920240"/>
            <a:ext cx="115214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21" name="Causal arrow"/>
          <p:cNvCxnSpPr/>
          <p:nvPr/>
        </p:nvCxnSpPr>
        <p:spPr>
          <a:xfrm>
            <a:off x="8613647" y="2103120"/>
            <a:ext cx="219456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usal node 6"/>
          <p:cNvSpPr/>
          <p:nvPr/>
        </p:nvSpPr>
        <p:spPr>
          <a:xfrm>
            <a:off x="8833103" y="1664208"/>
            <a:ext cx="914400" cy="87782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usal node text 6"/>
          <p:cNvSpPr txBox="1"/>
          <p:nvPr/>
        </p:nvSpPr>
        <p:spPr>
          <a:xfrm>
            <a:off x="8906255" y="1920240"/>
            <a:ext cx="76809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24" name="Causal read panel"/>
          <p:cNvSpPr/>
          <p:nvPr/>
        </p:nvSpPr>
        <p:spPr>
          <a:xfrm>
            <a:off x="822960" y="3072384"/>
            <a:ext cx="4736592" cy="1874519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usal read heading"/>
          <p:cNvSpPr txBox="1"/>
          <p:nvPr/>
        </p:nvSpPr>
        <p:spPr>
          <a:xfrm>
            <a:off x="1060704" y="3319272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先看什麼</a:t>
            </a: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26" name="Causal read text"/>
          <p:cNvSpPr txBox="1"/>
          <p:nvPr/>
        </p:nvSpPr>
        <p:spPr>
          <a:xfrm>
            <a:off x="1078992" y="3749039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當下允許的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observation；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不要用最後的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反推一個不存在的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decision。</a:t>
            </a:r>
          </a:p>
        </p:txBody>
      </p:sp>
      <p:sp>
        <p:nvSpPr>
          <p:cNvPr id="27" name="Causal evidence panel"/>
          <p:cNvSpPr/>
          <p:nvPr/>
        </p:nvSpPr>
        <p:spPr>
          <a:xfrm>
            <a:off x="5833872" y="3072384"/>
            <a:ext cx="5230368" cy="1874519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usal verdict heading"/>
          <p:cNvSpPr txBox="1"/>
          <p:nvPr/>
        </p:nvSpPr>
        <p:spPr>
          <a:xfrm>
            <a:off x="6089904" y="3319272"/>
            <a:ext cx="473659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最後怎麼判</a:t>
            </a: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29" name="Causal verdict text"/>
          <p:cNvSpPr txBox="1"/>
          <p:nvPr/>
        </p:nvSpPr>
        <p:spPr>
          <a:xfrm>
            <a:off x="6108192" y="3749039"/>
            <a:ext cx="4681728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每一段都要能回到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result／replay；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只有動畫變化不算</a:t>
            </a:r>
            <a:r>
              <a:rPr sz="2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evidence。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為什麼適合智慧節能與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IoT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Scope caption"/>
          <p:cNvSpPr txBox="1"/>
          <p:nvPr/>
        </p:nvSpPr>
        <p:spPr>
          <a:xfrm>
            <a:off x="841248" y="118872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工具價值來自可追溯的</a:t>
            </a:r>
            <a:r>
              <a:rPr sz="2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endpoint mechanism，</a:t>
            </a:r>
            <a:r>
              <a:rPr sz="2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而不是名詞數量</a:t>
            </a:r>
            <a:r>
              <a:rPr sz="2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ndpoint scope"/>
          <p:cNvSpPr/>
          <p:nvPr/>
        </p:nvSpPr>
        <p:spPr>
          <a:xfrm>
            <a:off x="841248" y="1847088"/>
            <a:ext cx="4983480" cy="3154680"/>
          </a:xfrm>
          <a:prstGeom prst="roundRect">
            <a:avLst/>
          </a:prstGeom>
          <a:solidFill>
            <a:srgbClr val="ECF1FE"/>
          </a:solidFill>
          <a:ln w="1778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dpoint scope label"/>
          <p:cNvSpPr txBox="1"/>
          <p:nvPr/>
        </p:nvSpPr>
        <p:spPr>
          <a:xfrm>
            <a:off x="1097280" y="210312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LOW-POWER ENDPOINT</a:t>
            </a:r>
          </a:p>
        </p:txBody>
      </p:sp>
      <p:sp>
        <p:nvSpPr>
          <p:cNvPr id="8" name="Scope SLEEP"/>
          <p:cNvSpPr/>
          <p:nvPr/>
        </p:nvSpPr>
        <p:spPr>
          <a:xfrm>
            <a:off x="1188720" y="2788920"/>
            <a:ext cx="1024128" cy="65836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cope SLEEP label"/>
          <p:cNvSpPr txBox="1"/>
          <p:nvPr/>
        </p:nvSpPr>
        <p:spPr>
          <a:xfrm>
            <a:off x="1234440" y="299923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0" name="Scope PROCESS"/>
          <p:cNvSpPr/>
          <p:nvPr/>
        </p:nvSpPr>
        <p:spPr>
          <a:xfrm>
            <a:off x="2057400" y="2788920"/>
            <a:ext cx="1024128" cy="6583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cope PROCESS label"/>
          <p:cNvSpPr txBox="1"/>
          <p:nvPr/>
        </p:nvSpPr>
        <p:spPr>
          <a:xfrm>
            <a:off x="2103120" y="299923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sp>
        <p:nvSpPr>
          <p:cNvPr id="12" name="Scope TX / RX"/>
          <p:cNvSpPr/>
          <p:nvPr/>
        </p:nvSpPr>
        <p:spPr>
          <a:xfrm>
            <a:off x="2926080" y="2788920"/>
            <a:ext cx="1024128" cy="65836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cope TX / RX label"/>
          <p:cNvSpPr txBox="1"/>
          <p:nvPr/>
        </p:nvSpPr>
        <p:spPr>
          <a:xfrm>
            <a:off x="2971800" y="299923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sp>
        <p:nvSpPr>
          <p:cNvPr id="14" name="Scope RETRY"/>
          <p:cNvSpPr/>
          <p:nvPr/>
        </p:nvSpPr>
        <p:spPr>
          <a:xfrm>
            <a:off x="3794760" y="2788920"/>
            <a:ext cx="1024128" cy="658368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cope RETRY label"/>
          <p:cNvSpPr txBox="1"/>
          <p:nvPr/>
        </p:nvSpPr>
        <p:spPr>
          <a:xfrm>
            <a:off x="3840480" y="299923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1682496" y="3118104"/>
            <a:ext cx="356616" cy="0"/>
          </a:xfrm>
          <a:prstGeom prst="line">
            <a:avLst/>
          </a:prstGeom>
          <a:ln w="1651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ditable connector"/>
          <p:cNvCxnSpPr/>
          <p:nvPr/>
        </p:nvCxnSpPr>
        <p:spPr>
          <a:xfrm>
            <a:off x="2706624" y="3118104"/>
            <a:ext cx="201168" cy="0"/>
          </a:xfrm>
          <a:prstGeom prst="line">
            <a:avLst/>
          </a:prstGeom>
          <a:ln w="1651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ditable connector"/>
          <p:cNvCxnSpPr/>
          <p:nvPr/>
        </p:nvCxnSpPr>
        <p:spPr>
          <a:xfrm>
            <a:off x="3950208" y="3118104"/>
            <a:ext cx="201168" cy="0"/>
          </a:xfrm>
          <a:prstGeom prst="line">
            <a:avLst/>
          </a:prstGeom>
          <a:ln w="1651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ndpoint outputs"/>
          <p:cNvSpPr txBox="1"/>
          <p:nvPr/>
        </p:nvSpPr>
        <p:spPr>
          <a:xfrm>
            <a:off x="1115568" y="4069080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packet / service / endpoint J</a:t>
            </a:r>
          </a:p>
        </p:txBody>
      </p:sp>
      <p:sp>
        <p:nvSpPr>
          <p:cNvPr id="20" name="Teaching scope"/>
          <p:cNvSpPr/>
          <p:nvPr/>
        </p:nvSpPr>
        <p:spPr>
          <a:xfrm>
            <a:off x="6144768" y="1847088"/>
            <a:ext cx="4901184" cy="3154680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Wrapper label"/>
          <p:cNvSpPr txBox="1"/>
          <p:nvPr/>
        </p:nvSpPr>
        <p:spPr>
          <a:xfrm>
            <a:off x="6400800" y="2103120"/>
            <a:ext cx="440740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TEACHING WRAPPER</a:t>
            </a:r>
          </a:p>
        </p:txBody>
      </p:sp>
      <p:cxnSp>
        <p:nvCxnSpPr>
          <p:cNvPr id="22" name="Wrapper flow"/>
          <p:cNvCxnSpPr/>
          <p:nvPr/>
        </p:nvCxnSpPr>
        <p:spPr>
          <a:xfrm>
            <a:off x="6858000" y="3401568"/>
            <a:ext cx="352044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Wrapper dot"/>
          <p:cNvSpPr/>
          <p:nvPr/>
        </p:nvSpPr>
        <p:spPr>
          <a:xfrm>
            <a:off x="6729984" y="3218688"/>
            <a:ext cx="347472" cy="34747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Wrapper label"/>
          <p:cNvSpPr txBox="1"/>
          <p:nvPr/>
        </p:nvSpPr>
        <p:spPr>
          <a:xfrm>
            <a:off x="6455664" y="3712463"/>
            <a:ext cx="8961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</p:txBody>
      </p:sp>
      <p:sp>
        <p:nvSpPr>
          <p:cNvPr id="25" name="Wrapper dot"/>
          <p:cNvSpPr/>
          <p:nvPr/>
        </p:nvSpPr>
        <p:spPr>
          <a:xfrm>
            <a:off x="7882127" y="3218688"/>
            <a:ext cx="347472" cy="34747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rapper label"/>
          <p:cNvSpPr txBox="1"/>
          <p:nvPr/>
        </p:nvSpPr>
        <p:spPr>
          <a:xfrm>
            <a:off x="7607807" y="3712463"/>
            <a:ext cx="8961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27" name="Wrapper dot"/>
          <p:cNvSpPr/>
          <p:nvPr/>
        </p:nvSpPr>
        <p:spPr>
          <a:xfrm>
            <a:off x="9034272" y="3218688"/>
            <a:ext cx="347472" cy="34747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Wrapper label"/>
          <p:cNvSpPr txBox="1"/>
          <p:nvPr/>
        </p:nvSpPr>
        <p:spPr>
          <a:xfrm>
            <a:off x="8759952" y="3712463"/>
            <a:ext cx="8961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</p:txBody>
      </p:sp>
      <p:sp>
        <p:nvSpPr>
          <p:cNvPr id="29" name="Wrapper dot"/>
          <p:cNvSpPr/>
          <p:nvPr/>
        </p:nvSpPr>
        <p:spPr>
          <a:xfrm>
            <a:off x="10186416" y="3218688"/>
            <a:ext cx="347472" cy="347472"/>
          </a:xfrm>
          <a:prstGeom prst="ellipse">
            <a:avLst/>
          </a:prstGeom>
          <a:solidFill>
            <a:srgbClr val="C03737"/>
          </a:solidFill>
          <a:ln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Wrapper label"/>
          <p:cNvSpPr txBox="1"/>
          <p:nvPr/>
        </p:nvSpPr>
        <p:spPr>
          <a:xfrm>
            <a:off x="9912096" y="3712463"/>
            <a:ext cx="8961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claim</a:t>
            </a:r>
          </a:p>
        </p:txBody>
      </p:sp>
      <p:sp>
        <p:nvSpPr>
          <p:cNvPr id="31" name="Wrapper rule"/>
          <p:cNvSpPr txBox="1"/>
          <p:nvPr/>
        </p:nvSpPr>
        <p:spPr>
          <a:xfrm>
            <a:off x="6547104" y="4242816"/>
            <a:ext cx="409651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每個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都要留下可觀察的中間欄位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Timeline caption"/>
          <p:cNvSpPr txBox="1"/>
          <p:nvPr/>
        </p:nvSpPr>
        <p:spPr>
          <a:xfrm>
            <a:off x="822960" y="1170432"/>
            <a:ext cx="1046988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changing service window；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控制問題仍然是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endpoint 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send / wait / sleep。</a:t>
            </a:r>
          </a:p>
        </p:txBody>
      </p:sp>
      <p:cxnSp>
        <p:nvCxnSpPr>
          <p:cNvPr id="8" name="Window timeline"/>
          <p:cNvCxnSpPr/>
          <p:nvPr/>
        </p:nvCxnSpPr>
        <p:spPr>
          <a:xfrm>
            <a:off x="960120" y="3163824"/>
            <a:ext cx="10058400" cy="0"/>
          </a:xfrm>
          <a:prstGeom prst="line">
            <a:avLst/>
          </a:prstGeom>
          <a:ln w="279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Window segment 不可服務"/>
          <p:cNvSpPr/>
          <p:nvPr/>
        </p:nvSpPr>
        <p:spPr>
          <a:xfrm>
            <a:off x="1143000" y="2542032"/>
            <a:ext cx="1874519" cy="749808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segment label 不可服務"/>
          <p:cNvSpPr txBox="1"/>
          <p:nvPr/>
        </p:nvSpPr>
        <p:spPr>
          <a:xfrm>
            <a:off x="1197864" y="2770632"/>
            <a:ext cx="1764791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不可服務</a:t>
            </a:r>
          </a:p>
        </p:txBody>
      </p:sp>
      <p:sp>
        <p:nvSpPr>
          <p:cNvPr id="11" name="Window segment 機會出現"/>
          <p:cNvSpPr/>
          <p:nvPr/>
        </p:nvSpPr>
        <p:spPr>
          <a:xfrm>
            <a:off x="3017520" y="2542032"/>
            <a:ext cx="2057400" cy="74980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indow segment label 機會出現"/>
          <p:cNvSpPr txBox="1"/>
          <p:nvPr/>
        </p:nvSpPr>
        <p:spPr>
          <a:xfrm>
            <a:off x="3072384" y="2770632"/>
            <a:ext cx="194767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機會出現</a:t>
            </a:r>
          </a:p>
        </p:txBody>
      </p:sp>
      <p:sp>
        <p:nvSpPr>
          <p:cNvPr id="13" name="Window segment quality 變動"/>
          <p:cNvSpPr/>
          <p:nvPr/>
        </p:nvSpPr>
        <p:spPr>
          <a:xfrm>
            <a:off x="5074920" y="2542032"/>
            <a:ext cx="2331720" cy="74980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segment label quality 變動"/>
          <p:cNvSpPr txBox="1"/>
          <p:nvPr/>
        </p:nvSpPr>
        <p:spPr>
          <a:xfrm>
            <a:off x="5129783" y="2770632"/>
            <a:ext cx="2221991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quality </a:t>
            </a: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變動</a:t>
            </a:r>
          </a:p>
        </p:txBody>
      </p:sp>
      <p:sp>
        <p:nvSpPr>
          <p:cNvPr id="15" name="Window segment 窗口收窄"/>
          <p:cNvSpPr/>
          <p:nvPr/>
        </p:nvSpPr>
        <p:spPr>
          <a:xfrm>
            <a:off x="7406640" y="2542032"/>
            <a:ext cx="2331720" cy="74980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indow segment label 窗口收窄"/>
          <p:cNvSpPr txBox="1"/>
          <p:nvPr/>
        </p:nvSpPr>
        <p:spPr>
          <a:xfrm>
            <a:off x="7461504" y="2770632"/>
            <a:ext cx="2221991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窗口收窄</a:t>
            </a:r>
          </a:p>
        </p:txBody>
      </p:sp>
      <p:sp>
        <p:nvSpPr>
          <p:cNvPr id="17" name="Window segment 關閉"/>
          <p:cNvSpPr/>
          <p:nvPr/>
        </p:nvSpPr>
        <p:spPr>
          <a:xfrm>
            <a:off x="9738360" y="2542032"/>
            <a:ext cx="1005840" cy="749808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indow segment label 關閉"/>
          <p:cNvSpPr txBox="1"/>
          <p:nvPr/>
        </p:nvSpPr>
        <p:spPr>
          <a:xfrm>
            <a:off x="9793224" y="2770632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關閉</a:t>
            </a:r>
          </a:p>
        </p:txBody>
      </p:sp>
      <p:sp>
        <p:nvSpPr>
          <p:cNvPr id="19" name="Timeline policy"/>
          <p:cNvSpPr/>
          <p:nvPr/>
        </p:nvSpPr>
        <p:spPr>
          <a:xfrm>
            <a:off x="932688" y="3767328"/>
            <a:ext cx="3154680" cy="123444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meline policy heading"/>
          <p:cNvSpPr txBox="1"/>
          <p:nvPr/>
        </p:nvSpPr>
        <p:spPr>
          <a:xfrm>
            <a:off x="1152144" y="4014215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sp>
        <p:nvSpPr>
          <p:cNvPr id="21" name="Timeline policy body"/>
          <p:cNvSpPr txBox="1"/>
          <p:nvPr/>
        </p:nvSpPr>
        <p:spPr>
          <a:xfrm>
            <a:off x="1133856" y="440740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send now / wait / sleep</a:t>
            </a:r>
          </a:p>
        </p:txBody>
      </p:sp>
      <p:sp>
        <p:nvSpPr>
          <p:cNvPr id="22" name="Timeline service"/>
          <p:cNvSpPr/>
          <p:nvPr/>
        </p:nvSpPr>
        <p:spPr>
          <a:xfrm>
            <a:off x="4462272" y="3767328"/>
            <a:ext cx="3154680" cy="123444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meline service heading"/>
          <p:cNvSpPr txBox="1"/>
          <p:nvPr/>
        </p:nvSpPr>
        <p:spPr>
          <a:xfrm>
            <a:off x="4681728" y="4014215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24" name="Timeline service body"/>
          <p:cNvSpPr txBox="1"/>
          <p:nvPr/>
        </p:nvSpPr>
        <p:spPr>
          <a:xfrm>
            <a:off x="4663440" y="440740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delivery / deadline / window</a:t>
            </a:r>
          </a:p>
        </p:txBody>
      </p:sp>
      <p:sp>
        <p:nvSpPr>
          <p:cNvPr id="25" name="Timeline energy"/>
          <p:cNvSpPr/>
          <p:nvPr/>
        </p:nvSpPr>
        <p:spPr>
          <a:xfrm>
            <a:off x="7991856" y="3767328"/>
            <a:ext cx="3154680" cy="123444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meline energy heading"/>
          <p:cNvSpPr txBox="1"/>
          <p:nvPr/>
        </p:nvSpPr>
        <p:spPr>
          <a:xfrm>
            <a:off x="8211312" y="4014215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ENERGY</a:t>
            </a:r>
          </a:p>
        </p:txBody>
      </p:sp>
      <p:sp>
        <p:nvSpPr>
          <p:cNvPr id="27" name="Timeline energy body"/>
          <p:cNvSpPr txBox="1"/>
          <p:nvPr/>
        </p:nvSpPr>
        <p:spPr>
          <a:xfrm>
            <a:off x="8193024" y="440740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state time → endpoint 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Endpoint evidence boundary"/>
          <p:cNvSpPr/>
          <p:nvPr/>
        </p:nvSpPr>
        <p:spPr>
          <a:xfrm>
            <a:off x="777240" y="1417320"/>
            <a:ext cx="5001768" cy="4224528"/>
          </a:xfrm>
          <a:prstGeom prst="roundRect">
            <a:avLst/>
          </a:prstGeom>
          <a:solidFill>
            <a:srgbClr val="ECF1FE"/>
          </a:solidFill>
          <a:ln w="1778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dpoint evidence heading"/>
          <p:cNvSpPr txBox="1"/>
          <p:nvPr/>
        </p:nvSpPr>
        <p:spPr>
          <a:xfrm>
            <a:off x="1042415" y="1700784"/>
            <a:ext cx="44622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REPLAY</a:t>
            </a:r>
          </a:p>
        </p:txBody>
      </p:sp>
      <p:cxnSp>
        <p:nvCxnSpPr>
          <p:cNvPr id="7" name="Endpoint replay path"/>
          <p:cNvCxnSpPr/>
          <p:nvPr/>
        </p:nvCxnSpPr>
        <p:spPr>
          <a:xfrm>
            <a:off x="1234440" y="2606040"/>
            <a:ext cx="4069080" cy="0"/>
          </a:xfrm>
          <a:prstGeom prst="line">
            <a:avLst/>
          </a:prstGeom>
          <a:ln w="2540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ndpoint replay dot"/>
          <p:cNvSpPr/>
          <p:nvPr/>
        </p:nvSpPr>
        <p:spPr>
          <a:xfrm>
            <a:off x="1325880" y="2423160"/>
            <a:ext cx="347472" cy="34747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ndpoint replay label"/>
          <p:cNvSpPr txBox="1"/>
          <p:nvPr/>
        </p:nvSpPr>
        <p:spPr>
          <a:xfrm>
            <a:off x="1106424" y="2971800"/>
            <a:ext cx="7863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10" name="Endpoint replay dot"/>
          <p:cNvSpPr/>
          <p:nvPr/>
        </p:nvSpPr>
        <p:spPr>
          <a:xfrm>
            <a:off x="2423160" y="2423160"/>
            <a:ext cx="347472" cy="34747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ndpoint replay label"/>
          <p:cNvSpPr txBox="1"/>
          <p:nvPr/>
        </p:nvSpPr>
        <p:spPr>
          <a:xfrm>
            <a:off x="2203704" y="2971800"/>
            <a:ext cx="7863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2" name="Endpoint replay dot"/>
          <p:cNvSpPr/>
          <p:nvPr/>
        </p:nvSpPr>
        <p:spPr>
          <a:xfrm>
            <a:off x="3520440" y="2423160"/>
            <a:ext cx="347472" cy="34747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ndpoint replay label"/>
          <p:cNvSpPr txBox="1"/>
          <p:nvPr/>
        </p:nvSpPr>
        <p:spPr>
          <a:xfrm>
            <a:off x="3300984" y="2971800"/>
            <a:ext cx="7863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4" name="Endpoint replay dot"/>
          <p:cNvSpPr/>
          <p:nvPr/>
        </p:nvSpPr>
        <p:spPr>
          <a:xfrm>
            <a:off x="4617720" y="2423160"/>
            <a:ext cx="347472" cy="34747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ndpoint replay label"/>
          <p:cNvSpPr txBox="1"/>
          <p:nvPr/>
        </p:nvSpPr>
        <p:spPr>
          <a:xfrm>
            <a:off x="4398264" y="2971800"/>
            <a:ext cx="7863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16" name="Endpoint boundary text"/>
          <p:cNvSpPr txBox="1"/>
          <p:nvPr/>
        </p:nvSpPr>
        <p:spPr>
          <a:xfrm>
            <a:off x="1152144" y="3785615"/>
            <a:ext cx="422452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可說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：endpoint service、endpoint J、state duration。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不可說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：whole-system、wall-plug、canonical parity。</a:t>
            </a:r>
          </a:p>
        </p:txBody>
      </p:sp>
      <p:sp>
        <p:nvSpPr>
          <p:cNvPr id="17" name="System evidence boundary"/>
          <p:cNvSpPr/>
          <p:nvPr/>
        </p:nvSpPr>
        <p:spPr>
          <a:xfrm>
            <a:off x="6217920" y="1417320"/>
            <a:ext cx="5047488" cy="4224528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ystem evidence heading"/>
          <p:cNvSpPr txBox="1"/>
          <p:nvPr/>
        </p:nvSpPr>
        <p:spPr>
          <a:xfrm>
            <a:off x="6492240" y="1700784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C-120 SYSTEM REPLAY</a:t>
            </a:r>
          </a:p>
        </p:txBody>
      </p:sp>
      <p:cxnSp>
        <p:nvCxnSpPr>
          <p:cNvPr id="19" name="System replay path"/>
          <p:cNvCxnSpPr/>
          <p:nvPr/>
        </p:nvCxnSpPr>
        <p:spPr>
          <a:xfrm>
            <a:off x="6812280" y="2606040"/>
            <a:ext cx="393192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ystem replay dot"/>
          <p:cNvSpPr/>
          <p:nvPr/>
        </p:nvSpPr>
        <p:spPr>
          <a:xfrm>
            <a:off x="6903720" y="2423160"/>
            <a:ext cx="347472" cy="34747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ystem replay label"/>
          <p:cNvSpPr txBox="1"/>
          <p:nvPr/>
        </p:nvSpPr>
        <p:spPr>
          <a:xfrm>
            <a:off x="6574536" y="297180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</p:txBody>
      </p:sp>
      <p:sp>
        <p:nvSpPr>
          <p:cNvPr id="22" name="System replay dot"/>
          <p:cNvSpPr/>
          <p:nvPr/>
        </p:nvSpPr>
        <p:spPr>
          <a:xfrm>
            <a:off x="8183879" y="2423160"/>
            <a:ext cx="347472" cy="34747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ystem replay label"/>
          <p:cNvSpPr txBox="1"/>
          <p:nvPr/>
        </p:nvSpPr>
        <p:spPr>
          <a:xfrm>
            <a:off x="7854696" y="297180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24" name="System replay dot"/>
          <p:cNvSpPr/>
          <p:nvPr/>
        </p:nvSpPr>
        <p:spPr>
          <a:xfrm>
            <a:off x="9464040" y="2423160"/>
            <a:ext cx="347472" cy="34747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ystem replay label"/>
          <p:cNvSpPr txBox="1"/>
          <p:nvPr/>
        </p:nvSpPr>
        <p:spPr>
          <a:xfrm>
            <a:off x="9134856" y="297180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budget</a:t>
            </a:r>
          </a:p>
        </p:txBody>
      </p:sp>
      <p:sp>
        <p:nvSpPr>
          <p:cNvPr id="26" name="System replay dot"/>
          <p:cNvSpPr/>
          <p:nvPr/>
        </p:nvSpPr>
        <p:spPr>
          <a:xfrm>
            <a:off x="10515600" y="2423160"/>
            <a:ext cx="347472" cy="347472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ystem replay label"/>
          <p:cNvSpPr txBox="1"/>
          <p:nvPr/>
        </p:nvSpPr>
        <p:spPr>
          <a:xfrm>
            <a:off x="10186416" y="297180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workbook</a:t>
            </a:r>
          </a:p>
        </p:txBody>
      </p:sp>
      <p:sp>
        <p:nvSpPr>
          <p:cNvPr id="28" name="System boundary text"/>
          <p:cNvSpPr txBox="1"/>
          <p:nvPr/>
        </p:nvSpPr>
        <p:spPr>
          <a:xfrm>
            <a:off x="6547104" y="3785615"/>
            <a:ext cx="440740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可共享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：scenario、clock、workbook lineage。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欄位語義與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boundary。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Loop node PREDICT"/>
          <p:cNvSpPr/>
          <p:nvPr/>
        </p:nvSpPr>
        <p:spPr>
          <a:xfrm>
            <a:off x="5184648" y="1280160"/>
            <a:ext cx="1371600" cy="56692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op node label PREDICT"/>
          <p:cNvSpPr txBox="1"/>
          <p:nvPr/>
        </p:nvSpPr>
        <p:spPr>
          <a:xfrm>
            <a:off x="5266944" y="1472184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PREDICT</a:t>
            </a:r>
          </a:p>
        </p:txBody>
      </p:sp>
      <p:cxnSp>
        <p:nvCxnSpPr>
          <p:cNvPr id="9" name="Loop arrow"/>
          <p:cNvCxnSpPr/>
          <p:nvPr/>
        </p:nvCxnSpPr>
        <p:spPr>
          <a:xfrm>
            <a:off x="5870448" y="1828800"/>
            <a:ext cx="2770632" cy="45720"/>
          </a:xfrm>
          <a:prstGeom prst="line">
            <a:avLst/>
          </a:prstGeom>
          <a:ln w="17145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op node EDIT"/>
          <p:cNvSpPr/>
          <p:nvPr/>
        </p:nvSpPr>
        <p:spPr>
          <a:xfrm>
            <a:off x="7955279" y="1874520"/>
            <a:ext cx="1371600" cy="56692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oop node label EDIT"/>
          <p:cNvSpPr txBox="1"/>
          <p:nvPr/>
        </p:nvSpPr>
        <p:spPr>
          <a:xfrm>
            <a:off x="8037575" y="2066544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EDIT</a:t>
            </a:r>
          </a:p>
        </p:txBody>
      </p:sp>
      <p:cxnSp>
        <p:nvCxnSpPr>
          <p:cNvPr id="12" name="Loop arrow"/>
          <p:cNvCxnSpPr/>
          <p:nvPr/>
        </p:nvCxnSpPr>
        <p:spPr>
          <a:xfrm flipH="1">
            <a:off x="8613648" y="2423160"/>
            <a:ext cx="27432" cy="1234440"/>
          </a:xfrm>
          <a:prstGeom prst="line">
            <a:avLst/>
          </a:prstGeom>
          <a:ln w="17145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oop node RUN"/>
          <p:cNvSpPr/>
          <p:nvPr/>
        </p:nvSpPr>
        <p:spPr>
          <a:xfrm>
            <a:off x="7927848" y="3657600"/>
            <a:ext cx="1371600" cy="56692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op node label RUN"/>
          <p:cNvSpPr txBox="1"/>
          <p:nvPr/>
        </p:nvSpPr>
        <p:spPr>
          <a:xfrm>
            <a:off x="8010144" y="3849624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Loop arrow"/>
          <p:cNvCxnSpPr/>
          <p:nvPr/>
        </p:nvCxnSpPr>
        <p:spPr>
          <a:xfrm flipH="1">
            <a:off x="5870448" y="4206240"/>
            <a:ext cx="2743200" cy="109728"/>
          </a:xfrm>
          <a:prstGeom prst="line">
            <a:avLst/>
          </a:prstGeom>
          <a:ln w="17145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op node REPLAY"/>
          <p:cNvSpPr/>
          <p:nvPr/>
        </p:nvSpPr>
        <p:spPr>
          <a:xfrm>
            <a:off x="5184648" y="4315968"/>
            <a:ext cx="1371600" cy="56692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oop node label REPLAY"/>
          <p:cNvSpPr txBox="1"/>
          <p:nvPr/>
        </p:nvSpPr>
        <p:spPr>
          <a:xfrm>
            <a:off x="5266944" y="4507992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</p:txBody>
      </p:sp>
      <p:cxnSp>
        <p:nvCxnSpPr>
          <p:cNvPr id="18" name="Loop arrow"/>
          <p:cNvCxnSpPr/>
          <p:nvPr/>
        </p:nvCxnSpPr>
        <p:spPr>
          <a:xfrm flipH="1" flipV="1">
            <a:off x="3063240" y="4206240"/>
            <a:ext cx="2807208" cy="109728"/>
          </a:xfrm>
          <a:prstGeom prst="line">
            <a:avLst/>
          </a:prstGeom>
          <a:ln w="17145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op node WITHHELD"/>
          <p:cNvSpPr/>
          <p:nvPr/>
        </p:nvSpPr>
        <p:spPr>
          <a:xfrm>
            <a:off x="2377440" y="3657600"/>
            <a:ext cx="1371600" cy="566928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op node label WITHHELD"/>
          <p:cNvSpPr txBox="1"/>
          <p:nvPr/>
        </p:nvSpPr>
        <p:spPr>
          <a:xfrm>
            <a:off x="2459736" y="3849624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cxnSp>
        <p:nvCxnSpPr>
          <p:cNvPr id="21" name="Loop arrow"/>
          <p:cNvCxnSpPr/>
          <p:nvPr/>
        </p:nvCxnSpPr>
        <p:spPr>
          <a:xfrm flipV="1">
            <a:off x="3063240" y="2423160"/>
            <a:ext cx="0" cy="1234440"/>
          </a:xfrm>
          <a:prstGeom prst="line">
            <a:avLst/>
          </a:prstGeom>
          <a:ln w="17145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oop node IMPORT"/>
          <p:cNvSpPr/>
          <p:nvPr/>
        </p:nvSpPr>
        <p:spPr>
          <a:xfrm>
            <a:off x="2377440" y="1874520"/>
            <a:ext cx="1371600" cy="56692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oop node label IMPORT"/>
          <p:cNvSpPr txBox="1"/>
          <p:nvPr/>
        </p:nvSpPr>
        <p:spPr>
          <a:xfrm>
            <a:off x="2459736" y="2066544"/>
            <a:ext cx="120700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IMPORT</a:t>
            </a:r>
          </a:p>
        </p:txBody>
      </p:sp>
      <p:cxnSp>
        <p:nvCxnSpPr>
          <p:cNvPr id="24" name="Loop arrow"/>
          <p:cNvCxnSpPr/>
          <p:nvPr/>
        </p:nvCxnSpPr>
        <p:spPr>
          <a:xfrm flipV="1">
            <a:off x="3063240" y="1828800"/>
            <a:ext cx="2807208" cy="45720"/>
          </a:xfrm>
          <a:prstGeom prst="line">
            <a:avLst/>
          </a:prstGeom>
          <a:ln w="17145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Loop invariant"/>
          <p:cNvSpPr/>
          <p:nvPr/>
        </p:nvSpPr>
        <p:spPr>
          <a:xfrm>
            <a:off x="4709160" y="2487168"/>
            <a:ext cx="2377440" cy="1115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oop invariant text"/>
          <p:cNvSpPr txBox="1"/>
          <p:nvPr/>
        </p:nvSpPr>
        <p:spPr>
          <a:xfrm>
            <a:off x="4901184" y="2734056"/>
            <a:ext cx="1993392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</a:t>
            </a:r>
          </a:p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hash </a:t>
            </a: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可追溯</a:t>
            </a:r>
          </a:p>
        </p:txBody>
      </p:sp>
      <p:sp>
        <p:nvSpPr>
          <p:cNvPr id="27" name="Loop verdict"/>
          <p:cNvSpPr txBox="1"/>
          <p:nvPr/>
        </p:nvSpPr>
        <p:spPr>
          <a:xfrm>
            <a:off x="1097280" y="5358384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withheld 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retune；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預測被推翻仍是有價值的</a:t>
            </a:r>
            <a:r>
              <a:rPr sz="22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evidence。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621792" y="164592"/>
            <a:ext cx="1092708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必須追得到一個機制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terminal panel"/>
          <p:cNvSpPr/>
          <p:nvPr/>
        </p:nvSpPr>
        <p:spPr>
          <a:xfrm>
            <a:off x="713232" y="1225296"/>
            <a:ext cx="5504688" cy="4370832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peration context heading"/>
          <p:cNvSpPr txBox="1"/>
          <p:nvPr/>
        </p:nvSpPr>
        <p:spPr>
          <a:xfrm>
            <a:off x="932688" y="1481328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CONTEXT / RUN</a:t>
            </a:r>
          </a:p>
        </p:txBody>
      </p:sp>
      <p:sp>
        <p:nvSpPr>
          <p:cNvPr id="7" name="Operation exact command"/>
          <p:cNvSpPr txBox="1"/>
          <p:nvPr/>
        </p:nvSpPr>
        <p:spPr>
          <a:xfrm>
            <a:off x="950976" y="1847088"/>
            <a:ext cx="502920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package root；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sed -n '1,180p' student_policy.py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</p:txBody>
      </p:sp>
      <p:cxnSp>
        <p:nvCxnSpPr>
          <p:cNvPr id="8" name="Operation divider"/>
          <p:cNvCxnSpPr/>
          <p:nvPr/>
        </p:nvCxnSpPr>
        <p:spPr>
          <a:xfrm>
            <a:off x="950976" y="3054096"/>
            <a:ext cx="4956048" cy="0"/>
          </a:xfrm>
          <a:prstGeom prst="line">
            <a:avLst/>
          </a:prstGeom>
          <a:ln w="1397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peration mechanism heading"/>
          <p:cNvSpPr txBox="1"/>
          <p:nvPr/>
        </p:nvSpPr>
        <p:spPr>
          <a:xfrm>
            <a:off x="932688" y="3273552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Operation mechanism body"/>
          <p:cNvSpPr txBox="1"/>
          <p:nvPr/>
        </p:nvSpPr>
        <p:spPr>
          <a:xfrm>
            <a:off x="950976" y="3657600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只看標記區塊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先辨認允許改的控制面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bytes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改變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timing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branch；engine、scenario、schema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不變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Operation output panel"/>
          <p:cNvSpPr/>
          <p:nvPr/>
        </p:nvSpPr>
        <p:spPr>
          <a:xfrm>
            <a:off x="6537960" y="1225296"/>
            <a:ext cx="4690872" cy="1956816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eration expected heading"/>
          <p:cNvSpPr txBox="1"/>
          <p:nvPr/>
        </p:nvSpPr>
        <p:spPr>
          <a:xfrm>
            <a:off x="6784848" y="1481328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預期可見輸出</a:t>
            </a:r>
          </a:p>
        </p:txBody>
      </p:sp>
      <p:sp>
        <p:nvSpPr>
          <p:cNvPr id="13" name="Operation expected body"/>
          <p:cNvSpPr txBox="1"/>
          <p:nvPr/>
        </p:nvSpPr>
        <p:spPr>
          <a:xfrm>
            <a:off x="6784848" y="1920240"/>
            <a:ext cx="418795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小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diff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可回溯到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hash，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後續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才有因果資格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537960" y="3493008"/>
            <a:ext cx="4690872" cy="2103120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eration recovery heading"/>
          <p:cNvSpPr txBox="1"/>
          <p:nvPr/>
        </p:nvSpPr>
        <p:spPr>
          <a:xfrm>
            <a:off x="6784848" y="3749039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失敗回復</a:t>
            </a:r>
          </a:p>
        </p:txBody>
      </p:sp>
      <p:sp>
        <p:nvSpPr>
          <p:cNvPr id="16" name="Operation recovery body"/>
          <p:cNvSpPr txBox="1"/>
          <p:nvPr/>
        </p:nvSpPr>
        <p:spPr>
          <a:xfrm>
            <a:off x="6784848" y="4187952"/>
            <a:ext cx="418795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非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區域出現差異就停止編輯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 identity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known-good copy。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今天的路徑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先把工具變成可回復的入口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cxnSp>
        <p:nvCxnSpPr>
          <p:cNvPr id="7" name="Route spine"/>
          <p:cNvCxnSpPr/>
          <p:nvPr/>
        </p:nvCxnSpPr>
        <p:spPr>
          <a:xfrm>
            <a:off x="987552" y="2834640"/>
            <a:ext cx="10058400" cy="0"/>
          </a:xfrm>
          <a:prstGeom prst="line">
            <a:avLst/>
          </a:prstGeom>
          <a:ln w="266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te node 1"/>
          <p:cNvSpPr/>
          <p:nvPr/>
        </p:nvSpPr>
        <p:spPr>
          <a:xfrm>
            <a:off x="1143000" y="257860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te label 1"/>
          <p:cNvSpPr txBox="1"/>
          <p:nvPr/>
        </p:nvSpPr>
        <p:spPr>
          <a:xfrm>
            <a:off x="731520" y="184708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WHY</a:t>
            </a:r>
          </a:p>
        </p:txBody>
      </p:sp>
      <p:sp>
        <p:nvSpPr>
          <p:cNvPr id="10" name="Route node 2"/>
          <p:cNvSpPr/>
          <p:nvPr/>
        </p:nvSpPr>
        <p:spPr>
          <a:xfrm>
            <a:off x="2331720" y="2578608"/>
            <a:ext cx="512064" cy="51206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te label 2"/>
          <p:cNvSpPr txBox="1"/>
          <p:nvPr/>
        </p:nvSpPr>
        <p:spPr>
          <a:xfrm>
            <a:off x="1920239" y="331012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PACKAGE</a:t>
            </a:r>
          </a:p>
        </p:txBody>
      </p:sp>
      <p:sp>
        <p:nvSpPr>
          <p:cNvPr id="12" name="Route node 3"/>
          <p:cNvSpPr/>
          <p:nvPr/>
        </p:nvSpPr>
        <p:spPr>
          <a:xfrm>
            <a:off x="3611880" y="2578608"/>
            <a:ext cx="512064" cy="51206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te label 3"/>
          <p:cNvSpPr txBox="1"/>
          <p:nvPr/>
        </p:nvSpPr>
        <p:spPr>
          <a:xfrm>
            <a:off x="3200400" y="184708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SHELL</a:t>
            </a:r>
          </a:p>
        </p:txBody>
      </p:sp>
      <p:sp>
        <p:nvSpPr>
          <p:cNvPr id="14" name="Route node 4"/>
          <p:cNvSpPr/>
          <p:nvPr/>
        </p:nvSpPr>
        <p:spPr>
          <a:xfrm>
            <a:off x="4846320" y="2578608"/>
            <a:ext cx="512064" cy="512064"/>
          </a:xfrm>
          <a:prstGeom prst="ellipse">
            <a:avLst/>
          </a:prstGeom>
          <a:solidFill>
            <a:srgbClr val="ECD882"/>
          </a:solidFill>
          <a:ln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te label 4"/>
          <p:cNvSpPr txBox="1"/>
          <p:nvPr/>
        </p:nvSpPr>
        <p:spPr>
          <a:xfrm>
            <a:off x="4434840" y="331012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PY 3.11</a:t>
            </a:r>
          </a:p>
        </p:txBody>
      </p:sp>
      <p:sp>
        <p:nvSpPr>
          <p:cNvPr id="16" name="Route node 5"/>
          <p:cNvSpPr/>
          <p:nvPr/>
        </p:nvSpPr>
        <p:spPr>
          <a:xfrm>
            <a:off x="6263640" y="2578608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te label 5"/>
          <p:cNvSpPr txBox="1"/>
          <p:nvPr/>
        </p:nvSpPr>
        <p:spPr>
          <a:xfrm>
            <a:off x="5852159" y="184708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sp>
        <p:nvSpPr>
          <p:cNvPr id="18" name="Route node 6"/>
          <p:cNvSpPr/>
          <p:nvPr/>
        </p:nvSpPr>
        <p:spPr>
          <a:xfrm>
            <a:off x="7543800" y="2578608"/>
            <a:ext cx="512064" cy="51206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te label 6"/>
          <p:cNvSpPr txBox="1"/>
          <p:nvPr/>
        </p:nvSpPr>
        <p:spPr>
          <a:xfrm>
            <a:off x="7132320" y="331012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VERIFY</a:t>
            </a:r>
          </a:p>
        </p:txBody>
      </p:sp>
      <p:sp>
        <p:nvSpPr>
          <p:cNvPr id="20" name="Route node 7"/>
          <p:cNvSpPr/>
          <p:nvPr/>
        </p:nvSpPr>
        <p:spPr>
          <a:xfrm>
            <a:off x="8796528" y="2578608"/>
            <a:ext cx="512064" cy="51206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te label 7"/>
          <p:cNvSpPr txBox="1"/>
          <p:nvPr/>
        </p:nvSpPr>
        <p:spPr>
          <a:xfrm>
            <a:off x="8385048" y="184708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22" name="Route node 8"/>
          <p:cNvSpPr/>
          <p:nvPr/>
        </p:nvSpPr>
        <p:spPr>
          <a:xfrm>
            <a:off x="10058400" y="2578608"/>
            <a:ext cx="512064" cy="512064"/>
          </a:xfrm>
          <a:prstGeom prst="ellipse">
            <a:avLst/>
          </a:prstGeom>
          <a:solidFill>
            <a:srgbClr val="C03737"/>
          </a:solidFill>
          <a:ln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te label 8"/>
          <p:cNvSpPr txBox="1"/>
          <p:nvPr/>
        </p:nvSpPr>
        <p:spPr>
          <a:xfrm>
            <a:off x="9646920" y="331012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sp>
        <p:nvSpPr>
          <p:cNvPr id="24" name="Route entry"/>
          <p:cNvSpPr/>
          <p:nvPr/>
        </p:nvSpPr>
        <p:spPr>
          <a:xfrm>
            <a:off x="1042415" y="4187952"/>
            <a:ext cx="4370832" cy="11155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te entry text"/>
          <p:cNvSpPr txBox="1"/>
          <p:nvPr/>
        </p:nvSpPr>
        <p:spPr>
          <a:xfrm>
            <a:off x="1261872" y="4416552"/>
            <a:ext cx="393192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先取對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identity，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再選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shell。</a:t>
            </a:r>
          </a:p>
        </p:txBody>
      </p:sp>
      <p:sp>
        <p:nvSpPr>
          <p:cNvPr id="26" name="Route recovery"/>
          <p:cNvSpPr/>
          <p:nvPr/>
        </p:nvSpPr>
        <p:spPr>
          <a:xfrm>
            <a:off x="5669280" y="4187952"/>
            <a:ext cx="5376672" cy="11155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te recovery text"/>
          <p:cNvSpPr txBox="1"/>
          <p:nvPr/>
        </p:nvSpPr>
        <p:spPr>
          <a:xfrm>
            <a:off x="5925312" y="4416552"/>
            <a:ext cx="4864608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每個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都有輸出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失敗沿同一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回來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Claim level 1"/>
          <p:cNvSpPr/>
          <p:nvPr/>
        </p:nvSpPr>
        <p:spPr>
          <a:xfrm>
            <a:off x="969264" y="1627632"/>
            <a:ext cx="10003536" cy="51206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aim level text 1"/>
          <p:cNvSpPr txBox="1"/>
          <p:nvPr/>
        </p:nvSpPr>
        <p:spPr>
          <a:xfrm>
            <a:off x="1133856" y="1764792"/>
            <a:ext cx="967435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COURSE-PACKAGED ｜ </a:t>
            </a: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有明示的</a:t>
            </a: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 scenario </a:t>
            </a: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 runner boundary</a:t>
            </a:r>
          </a:p>
        </p:txBody>
      </p:sp>
      <p:sp>
        <p:nvSpPr>
          <p:cNvPr id="7" name="Claim level 2"/>
          <p:cNvSpPr/>
          <p:nvPr/>
        </p:nvSpPr>
        <p:spPr>
          <a:xfrm>
            <a:off x="1225296" y="2322576"/>
            <a:ext cx="9491472" cy="51206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aim level text 2"/>
          <p:cNvSpPr txBox="1"/>
          <p:nvPr/>
        </p:nvSpPr>
        <p:spPr>
          <a:xfrm>
            <a:off x="1389888" y="2459736"/>
            <a:ext cx="916228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｜ </a:t>
            </a:r>
            <a:r>
              <a:rPr sz="2000" b="0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可重播</a:t>
            </a:r>
            <a:r>
              <a:rPr sz="2000" b="0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但不是</a:t>
            </a:r>
            <a:r>
              <a:rPr sz="2000" b="0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 live telemetry</a:t>
            </a:r>
          </a:p>
        </p:txBody>
      </p:sp>
      <p:sp>
        <p:nvSpPr>
          <p:cNvPr id="9" name="Claim level 3"/>
          <p:cNvSpPr/>
          <p:nvPr/>
        </p:nvSpPr>
        <p:spPr>
          <a:xfrm>
            <a:off x="1481328" y="3017520"/>
            <a:ext cx="8979408" cy="51206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aim level text 3"/>
          <p:cNvSpPr txBox="1"/>
          <p:nvPr/>
        </p:nvSpPr>
        <p:spPr>
          <a:xfrm>
            <a:off x="1645920" y="3154679"/>
            <a:ext cx="86502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NOT MEASURED ｜ </a:t>
            </a:r>
            <a:r>
              <a:rPr sz="2000" b="0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不把畫面或</a:t>
            </a:r>
            <a:r>
              <a:rPr sz="2000" b="0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 KPI </a:t>
            </a:r>
            <a:r>
              <a:rPr sz="2000" b="0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說成量測</a:t>
            </a:r>
          </a:p>
        </p:txBody>
      </p:sp>
      <p:sp>
        <p:nvSpPr>
          <p:cNvPr id="11" name="Claim level 4"/>
          <p:cNvSpPr/>
          <p:nvPr/>
        </p:nvSpPr>
        <p:spPr>
          <a:xfrm>
            <a:off x="1737360" y="3712464"/>
            <a:ext cx="8467344" cy="51206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laim level text 4"/>
          <p:cNvSpPr txBox="1"/>
          <p:nvPr/>
        </p:nvSpPr>
        <p:spPr>
          <a:xfrm>
            <a:off x="1901952" y="3849624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NOT CANONICAL PARITY ｜ </a:t>
            </a:r>
            <a:r>
              <a:rPr sz="2000" b="0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未通過的</a:t>
            </a:r>
            <a:r>
              <a:rPr sz="2000" b="0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contract </a:t>
            </a:r>
            <a:r>
              <a:rPr sz="2000" b="0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不自行升級</a:t>
            </a:r>
          </a:p>
        </p:txBody>
      </p:sp>
      <p:sp>
        <p:nvSpPr>
          <p:cNvPr id="13" name="Claim gate"/>
          <p:cNvSpPr/>
          <p:nvPr/>
        </p:nvSpPr>
        <p:spPr>
          <a:xfrm>
            <a:off x="950976" y="4443984"/>
            <a:ext cx="10085832" cy="950976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aim gate text"/>
          <p:cNvSpPr txBox="1"/>
          <p:nvPr/>
        </p:nvSpPr>
        <p:spPr>
          <a:xfrm>
            <a:off x="1188720" y="4718304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看到未凍結的</a:t>
            </a: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URL、</a:t>
            </a: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畫面或數字</a:t>
            </a: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留</a:t>
            </a: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placeholder，</a:t>
            </a: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不補成</a:t>
            </a: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evidence。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套件根目錄是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Operation terminal panel"/>
          <p:cNvSpPr/>
          <p:nvPr/>
        </p:nvSpPr>
        <p:spPr>
          <a:xfrm>
            <a:off x="713232" y="1225296"/>
            <a:ext cx="5504688" cy="4370832"/>
          </a:xfrm>
          <a:prstGeom prst="roundRect">
            <a:avLst/>
          </a:prstGeom>
          <a:solidFill>
            <a:srgbClr val="ECF1FE"/>
          </a:solidFill>
          <a:ln w="1651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eration context heading"/>
          <p:cNvSpPr txBox="1"/>
          <p:nvPr/>
        </p:nvSpPr>
        <p:spPr>
          <a:xfrm>
            <a:off x="932688" y="1481328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CONTEXT / RUN</a:t>
            </a:r>
          </a:p>
        </p:txBody>
      </p:sp>
      <p:sp>
        <p:nvSpPr>
          <p:cNvPr id="9" name="Operation exact command"/>
          <p:cNvSpPr txBox="1"/>
          <p:nvPr/>
        </p:nvSpPr>
        <p:spPr>
          <a:xfrm>
            <a:off x="950976" y="1847088"/>
            <a:ext cx="502920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解壓後的父目錄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（POSIX shell）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lora-energy-lab -maxdepth 1 -type f -print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ls lora-energy-lab/lora_energy_lab lora-energy-lab/scenarios</a:t>
            </a:r>
          </a:p>
        </p:txBody>
      </p:sp>
      <p:cxnSp>
        <p:nvCxnSpPr>
          <p:cNvPr id="10" name="Operation divider"/>
          <p:cNvCxnSpPr/>
          <p:nvPr/>
        </p:nvCxnSpPr>
        <p:spPr>
          <a:xfrm>
            <a:off x="950976" y="3054096"/>
            <a:ext cx="4956048" cy="0"/>
          </a:xfrm>
          <a:prstGeom prst="line">
            <a:avLst/>
          </a:prstGeom>
          <a:ln w="1397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peration mechanism heading"/>
          <p:cNvSpPr txBox="1"/>
          <p:nvPr/>
        </p:nvSpPr>
        <p:spPr>
          <a:xfrm>
            <a:off x="932688" y="3273552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2" name="Operation mechanism body"/>
          <p:cNvSpPr txBox="1"/>
          <p:nvPr/>
        </p:nvSpPr>
        <p:spPr>
          <a:xfrm>
            <a:off x="950976" y="3657600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runner、Python module、scenario、schema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和說明來自同一個根目錄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single root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setup、course launcher、module、policy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綁在同一份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reviewed artifact。</a:t>
            </a:r>
          </a:p>
        </p:txBody>
      </p:sp>
      <p:sp>
        <p:nvSpPr>
          <p:cNvPr id="13" name="Operation output panel"/>
          <p:cNvSpPr/>
          <p:nvPr/>
        </p:nvSpPr>
        <p:spPr>
          <a:xfrm>
            <a:off x="6537960" y="1225296"/>
            <a:ext cx="4690872" cy="1956816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eration expected heading"/>
          <p:cNvSpPr txBox="1"/>
          <p:nvPr/>
        </p:nvSpPr>
        <p:spPr>
          <a:xfrm>
            <a:off x="6784848" y="1481328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預期可見輸出</a:t>
            </a:r>
          </a:p>
        </p:txBody>
      </p:sp>
      <p:sp>
        <p:nvSpPr>
          <p:cNvPr id="15" name="Operation expected body"/>
          <p:cNvSpPr txBox="1"/>
          <p:nvPr/>
        </p:nvSpPr>
        <p:spPr>
          <a:xfrm>
            <a:off x="6784848" y="1920240"/>
            <a:ext cx="418795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run_lab.py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setup.sh / setup.cmd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course.sh / course.cmd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lora_energy_lab/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scenarios/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537960" y="3493008"/>
            <a:ext cx="4690872" cy="2103120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eration recovery heading"/>
          <p:cNvSpPr txBox="1"/>
          <p:nvPr/>
        </p:nvSpPr>
        <p:spPr>
          <a:xfrm>
            <a:off x="6784848" y="3749039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失敗回復</a:t>
            </a:r>
          </a:p>
        </p:txBody>
      </p:sp>
      <p:sp>
        <p:nvSpPr>
          <p:cNvPr id="18" name="Operation recovery body"/>
          <p:cNvSpPr txBox="1"/>
          <p:nvPr/>
        </p:nvSpPr>
        <p:spPr>
          <a:xfrm>
            <a:off x="6784848" y="4187952"/>
            <a:ext cx="418795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根目錄多一層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必要檔案缺失或檔案來自不同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source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時停止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重新取得同一份指定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artifact。</a:t>
            </a:r>
          </a:p>
        </p:txBody>
      </p:sp>
      <p:sp>
        <p:nvSpPr>
          <p:cNvPr id="19" name="Folder tree cue"/>
          <p:cNvSpPr/>
          <p:nvPr/>
        </p:nvSpPr>
        <p:spPr>
          <a:xfrm>
            <a:off x="7360920" y="5010912"/>
            <a:ext cx="3072384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older tree cue text"/>
          <p:cNvSpPr txBox="1"/>
          <p:nvPr/>
        </p:nvSpPr>
        <p:spPr>
          <a:xfrm>
            <a:off x="7479792" y="51389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single root / 65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取得目前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source，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identity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Download instruction"/>
          <p:cNvSpPr txBox="1"/>
          <p:nvPr/>
        </p:nvSpPr>
        <p:spPr>
          <a:xfrm>
            <a:off x="749808" y="1170432"/>
            <a:ext cx="1056132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source、local artifact、public release：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三種狀態要分開寫</a:t>
            </a:r>
            <a:r>
              <a:rPr sz="22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Download purpose mechanism"/>
          <p:cNvSpPr txBox="1"/>
          <p:nvPr/>
        </p:nvSpPr>
        <p:spPr>
          <a:xfrm>
            <a:off x="804672" y="1490472"/>
            <a:ext cx="104241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</a:t>
            </a: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source bytes </a:t>
            </a: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identity，</a:t>
            </a: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再進入</a:t>
            </a: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setup；Mechanism: scenario／anchor／lock hash </a:t>
            </a: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綁定同一</a:t>
            </a: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runner。</a:t>
            </a:r>
          </a:p>
        </p:txBody>
      </p:sp>
      <p:sp>
        <p:nvSpPr>
          <p:cNvPr id="7" name="Download zip panel"/>
          <p:cNvSpPr/>
          <p:nvPr/>
        </p:nvSpPr>
        <p:spPr>
          <a:xfrm>
            <a:off x="713232" y="1700784"/>
            <a:ext cx="5376672" cy="2450592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load zip heading"/>
          <p:cNvSpPr txBox="1"/>
          <p:nvPr/>
        </p:nvSpPr>
        <p:spPr>
          <a:xfrm>
            <a:off x="950976" y="1956816"/>
            <a:ext cx="490118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SOURCE REPO／LOCAL ARTIFACT</a:t>
            </a:r>
          </a:p>
        </p:txBody>
      </p:sp>
      <p:sp>
        <p:nvSpPr>
          <p:cNvPr id="9" name="Download zip text"/>
          <p:cNvSpPr txBox="1"/>
          <p:nvPr/>
        </p:nvSpPr>
        <p:spPr>
          <a:xfrm>
            <a:off x="969264" y="2304288"/>
            <a:ext cx="4846320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https://github.com/cedarwud/lora-energy-lab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root: lora-energy-lab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module: lora_energy_lab</a:t>
            </a:r>
          </a:p>
          <a:p>
            <a:pPr algn="ctr">
              <a:spcAft>
                <a:spcPts val="300"/>
              </a:spcAft>
            </a:pP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VERIFIED LOCAL ARTIFACT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lora-energy-lab-v1.zip｜121139 bytes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sha256:047e8459988d8bee59fbfdcc39189e00048f3697968901ce5b6e5363dc9e8c8c</a:t>
            </a:r>
          </a:p>
        </p:txBody>
      </p:sp>
      <p:sp>
        <p:nvSpPr>
          <p:cNvPr id="10" name="Download hash panel"/>
          <p:cNvSpPr/>
          <p:nvPr/>
        </p:nvSpPr>
        <p:spPr>
          <a:xfrm>
            <a:off x="6309360" y="1700784"/>
            <a:ext cx="4901184" cy="2450592"/>
          </a:xfrm>
          <a:prstGeom prst="roundRect">
            <a:avLst/>
          </a:prstGeom>
          <a:solidFill>
            <a:srgbClr val="ECF1FE"/>
          </a:solidFill>
          <a:ln w="1651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load hash heading"/>
          <p:cNvSpPr txBox="1"/>
          <p:nvPr/>
        </p:nvSpPr>
        <p:spPr>
          <a:xfrm>
            <a:off x="6547104" y="1956816"/>
            <a:ext cx="442569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SCENARIO／ANCHOR／LOCK／RELEASE</a:t>
            </a:r>
          </a:p>
        </p:txBody>
      </p:sp>
      <p:sp>
        <p:nvSpPr>
          <p:cNvPr id="12" name="Download hash text"/>
          <p:cNvSpPr txBox="1"/>
          <p:nvPr/>
        </p:nvSpPr>
        <p:spPr>
          <a:xfrm>
            <a:off x="6565392" y="2304288"/>
            <a:ext cx="4389120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scenario: ntpu-energy-decision-01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sha256:c157c76ed283074cdd17c1b689b83e168022abd2ca6ef8d9c337e69ab31a6593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anchor: sha256:cfe84682a71c0c0ea09c273d4cd033c32818da63cf1695ace4363b9d789c50f9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lock: sha256:f1d1fe3339137d56e4e9ea9d141b764eaa183a8f40933bad597d734bbf310197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policy: sha256:9917d2cde2e8c0eae8339b7eea2e358bf8577b4eb6aaf1e928674f6b8964ef68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public release: RELEASE_ASSET_PENDING</a:t>
            </a:r>
          </a:p>
        </p:txBody>
      </p:sp>
      <p:sp>
        <p:nvSpPr>
          <p:cNvPr id="13" name="Download expected text"/>
          <p:cNvSpPr txBox="1"/>
          <p:nvPr/>
        </p:nvSpPr>
        <p:spPr>
          <a:xfrm>
            <a:off x="6565392" y="38587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Expected: identity matches；public release remains pending。</a:t>
            </a:r>
          </a:p>
        </p:txBody>
      </p:sp>
      <p:sp>
        <p:nvSpPr>
          <p:cNvPr id="14" name="Download command panel"/>
          <p:cNvSpPr/>
          <p:nvPr/>
        </p:nvSpPr>
        <p:spPr>
          <a:xfrm>
            <a:off x="731520" y="4297680"/>
            <a:ext cx="6473952" cy="1225296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load context text"/>
          <p:cNvSpPr txBox="1"/>
          <p:nvPr/>
        </p:nvSpPr>
        <p:spPr>
          <a:xfrm>
            <a:off x="950976" y="4462272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POSIX shell；source parent </a:t>
            </a:r>
            <a:r>
              <a:rPr sz="16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6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local artifact </a:t>
            </a:r>
            <a:r>
              <a:rPr sz="16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目錄</a:t>
            </a:r>
            <a:r>
              <a:rPr sz="16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6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不要猜</a:t>
            </a:r>
            <a:r>
              <a:rPr sz="16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public release URL</a:t>
            </a:r>
          </a:p>
        </p:txBody>
      </p:sp>
      <p:sp>
        <p:nvSpPr>
          <p:cNvPr id="16" name="Download command text"/>
          <p:cNvSpPr txBox="1"/>
          <p:nvPr/>
        </p:nvSpPr>
        <p:spPr>
          <a:xfrm>
            <a:off x="950976" y="4718304"/>
            <a:ext cx="603504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clone https://github.com/cedarwud/lora-energy-lab.git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sha256sum scenarios/ntpu-energy-decision-01.json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sha256sum requirements-lock.txt</a:t>
            </a:r>
          </a:p>
        </p:txBody>
      </p:sp>
      <p:sp>
        <p:nvSpPr>
          <p:cNvPr id="17" name="Download recovery panel"/>
          <p:cNvSpPr/>
          <p:nvPr/>
        </p:nvSpPr>
        <p:spPr>
          <a:xfrm>
            <a:off x="7571231" y="4297680"/>
            <a:ext cx="3639312" cy="122529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load recovery text"/>
          <p:cNvSpPr txBox="1"/>
          <p:nvPr/>
        </p:nvSpPr>
        <p:spPr>
          <a:xfrm>
            <a:off x="7754112" y="4517136"/>
            <a:ext cx="3273552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repo unavailable or local hashes mismatch: preserve output and stop; do not substitute another branch, archive, or guessed public URL.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原生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launcher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5" name="Shell context"/>
          <p:cNvSpPr txBox="1"/>
          <p:nvPr/>
        </p:nvSpPr>
        <p:spPr>
          <a:xfrm>
            <a:off x="786384" y="109728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</a:t>
            </a:r>
            <a:r>
              <a:rPr sz="1500" b="0" i="1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C:\...&gt;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CMD；</a:t>
            </a:r>
            <a:r>
              <a:rPr sz="1500" b="0" i="1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PS C:\...&gt;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PowerShell；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位於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package root</a:t>
            </a:r>
          </a:p>
        </p:txBody>
      </p:sp>
      <p:sp>
        <p:nvSpPr>
          <p:cNvPr id="6" name="Shell instruction"/>
          <p:cNvSpPr txBox="1"/>
          <p:nvPr/>
        </p:nvSpPr>
        <p:spPr>
          <a:xfrm>
            <a:off x="786384" y="134416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先辨識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prompt，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再辨識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interpreter；Run: py --list  /  py -3.11 --version</a:t>
            </a:r>
          </a:p>
        </p:txBody>
      </p:sp>
      <p:sp>
        <p:nvSpPr>
          <p:cNvPr id="7" name="CMD panel"/>
          <p:cNvSpPr/>
          <p:nvPr/>
        </p:nvSpPr>
        <p:spPr>
          <a:xfrm>
            <a:off x="786384" y="1792224"/>
            <a:ext cx="4983480" cy="1993392"/>
          </a:xfrm>
          <a:prstGeom prst="roundRect">
            <a:avLst/>
          </a:prstGeom>
          <a:solidFill>
            <a:srgbClr val="ECF1FE"/>
          </a:solidFill>
          <a:ln w="1651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MD heading"/>
          <p:cNvSpPr txBox="1"/>
          <p:nvPr/>
        </p:nvSpPr>
        <p:spPr>
          <a:xfrm>
            <a:off x="1024128" y="2048256"/>
            <a:ext cx="451713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CMD｜C:\...&gt;</a:t>
            </a:r>
          </a:p>
        </p:txBody>
      </p:sp>
      <p:sp>
        <p:nvSpPr>
          <p:cNvPr id="9" name="CMD command"/>
          <p:cNvSpPr txBox="1"/>
          <p:nvPr/>
        </p:nvSpPr>
        <p:spPr>
          <a:xfrm>
            <a:off x="1078992" y="2523744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spcAft>
                <a:spcPts val="3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10" name="PowerShell panel"/>
          <p:cNvSpPr/>
          <p:nvPr/>
        </p:nvSpPr>
        <p:spPr>
          <a:xfrm>
            <a:off x="6236208" y="1792224"/>
            <a:ext cx="4983480" cy="1993392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werShell heading"/>
          <p:cNvSpPr txBox="1"/>
          <p:nvPr/>
        </p:nvSpPr>
        <p:spPr>
          <a:xfrm>
            <a:off x="6473952" y="2048256"/>
            <a:ext cx="451713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PowerShell｜PS C:\...&gt;</a:t>
            </a:r>
          </a:p>
        </p:txBody>
      </p:sp>
      <p:sp>
        <p:nvSpPr>
          <p:cNvPr id="12" name="PowerShell command"/>
          <p:cNvSpPr txBox="1"/>
          <p:nvPr/>
        </p:nvSpPr>
        <p:spPr>
          <a:xfrm>
            <a:off x="6528816" y="2523744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spcAft>
                <a:spcPts val="3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cxnSp>
        <p:nvCxnSpPr>
          <p:cNvPr id="13" name="Shell separator"/>
          <p:cNvCxnSpPr/>
          <p:nvPr/>
        </p:nvCxnSpPr>
        <p:spPr>
          <a:xfrm>
            <a:off x="5943600" y="1993392"/>
            <a:ext cx="0" cy="1682495"/>
          </a:xfrm>
          <a:prstGeom prst="line">
            <a:avLst/>
          </a:prstGeom>
          <a:ln w="2032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hell expected panel"/>
          <p:cNvSpPr/>
          <p:nvPr/>
        </p:nvSpPr>
        <p:spPr>
          <a:xfrm>
            <a:off x="859536" y="4224528"/>
            <a:ext cx="10287000" cy="11521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hell expected text"/>
          <p:cNvSpPr txBox="1"/>
          <p:nvPr/>
        </p:nvSpPr>
        <p:spPr>
          <a:xfrm>
            <a:off x="1097280" y="4443984"/>
            <a:ext cx="9802368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預期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：list 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含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3.11，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版本回傳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Python 3.11.x。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保留輸出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走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Python installer 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uv recovery；Windows clean-run：PENDING。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Python 3.11：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官方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安裝路徑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7" name="Python install context"/>
          <p:cNvSpPr txBox="1"/>
          <p:nvPr/>
        </p:nvSpPr>
        <p:spPr>
          <a:xfrm>
            <a:off x="841248" y="109728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Windows 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瀏覽器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官方下載頁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完成後重新開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CMD 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PowerShell</a:t>
            </a:r>
          </a:p>
        </p:txBody>
      </p:sp>
      <p:sp>
        <p:nvSpPr>
          <p:cNvPr id="8" name="Python install command"/>
          <p:cNvSpPr txBox="1"/>
          <p:nvPr/>
        </p:nvSpPr>
        <p:spPr>
          <a:xfrm>
            <a:off x="841248" y="1335024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</a:t>
            </a: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建立</a:t>
            </a: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runner </a:t>
            </a: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預期的</a:t>
            </a: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3.11；Mechanism: Python Launcher </a:t>
            </a: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綁定</a:t>
            </a: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interpreter。Run: py --list  /  py -3.11 --version</a:t>
            </a:r>
          </a:p>
        </p:txBody>
      </p:sp>
      <p:sp>
        <p:nvSpPr>
          <p:cNvPr id="9" name="Python install step 1"/>
          <p:cNvSpPr/>
          <p:nvPr/>
        </p:nvSpPr>
        <p:spPr>
          <a:xfrm>
            <a:off x="960120" y="1874519"/>
            <a:ext cx="530352" cy="5303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ython install number 1"/>
          <p:cNvSpPr txBox="1"/>
          <p:nvPr/>
        </p:nvSpPr>
        <p:spPr>
          <a:xfrm>
            <a:off x="1033272" y="200253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cxnSp>
        <p:nvCxnSpPr>
          <p:cNvPr id="11" name="Python install arrow"/>
          <p:cNvCxnSpPr/>
          <p:nvPr/>
        </p:nvCxnSpPr>
        <p:spPr>
          <a:xfrm>
            <a:off x="1490472" y="2139696"/>
            <a:ext cx="2779776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ython install card 1"/>
          <p:cNvSpPr/>
          <p:nvPr/>
        </p:nvSpPr>
        <p:spPr>
          <a:xfrm>
            <a:off x="539496" y="2651760"/>
            <a:ext cx="2615184" cy="12984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ython install label 1"/>
          <p:cNvSpPr txBox="1"/>
          <p:nvPr/>
        </p:nvSpPr>
        <p:spPr>
          <a:xfrm>
            <a:off x="685800" y="288036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官方</a:t>
            </a: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 Windows downloads</a:t>
            </a:r>
          </a:p>
        </p:txBody>
      </p:sp>
      <p:sp>
        <p:nvSpPr>
          <p:cNvPr id="14" name="Python install detail 1"/>
          <p:cNvSpPr txBox="1"/>
          <p:nvPr/>
        </p:nvSpPr>
        <p:spPr>
          <a:xfrm>
            <a:off x="704088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</p:txBody>
      </p:sp>
      <p:sp>
        <p:nvSpPr>
          <p:cNvPr id="15" name="Python install step 2"/>
          <p:cNvSpPr/>
          <p:nvPr/>
        </p:nvSpPr>
        <p:spPr>
          <a:xfrm>
            <a:off x="4526280" y="1874519"/>
            <a:ext cx="530352" cy="53035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ython install number 2"/>
          <p:cNvSpPr txBox="1"/>
          <p:nvPr/>
        </p:nvSpPr>
        <p:spPr>
          <a:xfrm>
            <a:off x="4599432" y="200253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cxnSp>
        <p:nvCxnSpPr>
          <p:cNvPr id="17" name="Python install arrow"/>
          <p:cNvCxnSpPr/>
          <p:nvPr/>
        </p:nvCxnSpPr>
        <p:spPr>
          <a:xfrm>
            <a:off x="5056632" y="2139696"/>
            <a:ext cx="2779776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ython install card 2"/>
          <p:cNvSpPr/>
          <p:nvPr/>
        </p:nvSpPr>
        <p:spPr>
          <a:xfrm>
            <a:off x="4105656" y="2651760"/>
            <a:ext cx="2615184" cy="129844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ython install label 2"/>
          <p:cNvSpPr txBox="1"/>
          <p:nvPr/>
        </p:nvSpPr>
        <p:spPr>
          <a:xfrm>
            <a:off x="4251960" y="288036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Python 3.11.x / installer</a:t>
            </a:r>
          </a:p>
        </p:txBody>
      </p:sp>
      <p:sp>
        <p:nvSpPr>
          <p:cNvPr id="20" name="Python install detail 2"/>
          <p:cNvSpPr txBox="1"/>
          <p:nvPr/>
        </p:nvSpPr>
        <p:spPr>
          <a:xfrm>
            <a:off x="4270248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Windows installer (64-bit)</a:t>
            </a:r>
          </a:p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</p:txBody>
      </p:sp>
      <p:sp>
        <p:nvSpPr>
          <p:cNvPr id="21" name="Python install step 3"/>
          <p:cNvSpPr/>
          <p:nvPr/>
        </p:nvSpPr>
        <p:spPr>
          <a:xfrm>
            <a:off x="8092440" y="1874519"/>
            <a:ext cx="530352" cy="53035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ython install number 3"/>
          <p:cNvSpPr txBox="1"/>
          <p:nvPr/>
        </p:nvSpPr>
        <p:spPr>
          <a:xfrm>
            <a:off x="8165592" y="200253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3" name="Python install card 3"/>
          <p:cNvSpPr/>
          <p:nvPr/>
        </p:nvSpPr>
        <p:spPr>
          <a:xfrm>
            <a:off x="7671815" y="2651760"/>
            <a:ext cx="2615184" cy="12984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ython install label 3"/>
          <p:cNvSpPr txBox="1"/>
          <p:nvPr/>
        </p:nvSpPr>
        <p:spPr>
          <a:xfrm>
            <a:off x="7818119" y="288036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重新開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 shell</a:t>
            </a:r>
          </a:p>
        </p:txBody>
      </p:sp>
      <p:sp>
        <p:nvSpPr>
          <p:cNvPr id="25" name="Python install detail 3"/>
          <p:cNvSpPr txBox="1"/>
          <p:nvPr/>
        </p:nvSpPr>
        <p:spPr>
          <a:xfrm>
            <a:off x="7836408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26" name="Python install recovery"/>
          <p:cNvSpPr/>
          <p:nvPr/>
        </p:nvSpPr>
        <p:spPr>
          <a:xfrm>
            <a:off x="932688" y="4443984"/>
            <a:ext cx="10186416" cy="96926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ython install recovery text"/>
          <p:cNvSpPr txBox="1"/>
          <p:nvPr/>
        </p:nvSpPr>
        <p:spPr>
          <a:xfrm>
            <a:off x="1170432" y="4700016"/>
            <a:ext cx="9710928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預期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：3.11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可由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launcher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找到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若仍失敗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走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uv recovery。clean install：PENDING。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uv：Python 3.11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的可追溯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recovery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7" name="uv context"/>
          <p:cNvSpPr txBox="1"/>
          <p:nvPr/>
        </p:nvSpPr>
        <p:spPr>
          <a:xfrm>
            <a:off x="822960" y="1060704"/>
            <a:ext cx="10460736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Windows PowerShell；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位於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package root 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或可寫的工具目錄</a:t>
            </a:r>
          </a:p>
        </p:txBody>
      </p:sp>
      <p:sp>
        <p:nvSpPr>
          <p:cNvPr id="8" name="uv instruction"/>
          <p:cNvSpPr txBox="1"/>
          <p:nvPr/>
        </p:nvSpPr>
        <p:spPr>
          <a:xfrm>
            <a:off x="822960" y="1298448"/>
            <a:ext cx="1046073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uv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解決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interpreter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取得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不是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dependency lock，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也不是結果產生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。Run: winget → uv python install 3.11 → uv python find 3.11</a:t>
            </a:r>
          </a:p>
        </p:txBody>
      </p:sp>
      <p:sp>
        <p:nvSpPr>
          <p:cNvPr id="9" name="uv row INSTALL"/>
          <p:cNvSpPr/>
          <p:nvPr/>
        </p:nvSpPr>
        <p:spPr>
          <a:xfrm>
            <a:off x="987552" y="1883664"/>
            <a:ext cx="10012680" cy="64008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v label INSTALL"/>
          <p:cNvSpPr txBox="1"/>
          <p:nvPr/>
        </p:nvSpPr>
        <p:spPr>
          <a:xfrm>
            <a:off x="1207008" y="2066544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INSTALL</a:t>
            </a:r>
          </a:p>
        </p:txBody>
      </p:sp>
      <p:cxnSp>
        <p:nvCxnSpPr>
          <p:cNvPr id="11" name="uv row arrow"/>
          <p:cNvCxnSpPr/>
          <p:nvPr/>
        </p:nvCxnSpPr>
        <p:spPr>
          <a:xfrm>
            <a:off x="2487168" y="2203704"/>
            <a:ext cx="365760" cy="0"/>
          </a:xfrm>
          <a:prstGeom prst="line">
            <a:avLst/>
          </a:prstGeom>
          <a:ln w="1524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uv command INSTALL"/>
          <p:cNvSpPr txBox="1"/>
          <p:nvPr/>
        </p:nvSpPr>
        <p:spPr>
          <a:xfrm>
            <a:off x="3035808" y="2039112"/>
            <a:ext cx="7607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13" name="uv row PIN"/>
          <p:cNvSpPr/>
          <p:nvPr/>
        </p:nvSpPr>
        <p:spPr>
          <a:xfrm>
            <a:off x="987552" y="2816352"/>
            <a:ext cx="10012680" cy="6400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v label PIN"/>
          <p:cNvSpPr txBox="1"/>
          <p:nvPr/>
        </p:nvSpPr>
        <p:spPr>
          <a:xfrm>
            <a:off x="1207008" y="2999232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PIN</a:t>
            </a:r>
          </a:p>
        </p:txBody>
      </p:sp>
      <p:cxnSp>
        <p:nvCxnSpPr>
          <p:cNvPr id="15" name="uv row arrow"/>
          <p:cNvCxnSpPr/>
          <p:nvPr/>
        </p:nvCxnSpPr>
        <p:spPr>
          <a:xfrm>
            <a:off x="2487168" y="3136392"/>
            <a:ext cx="365760" cy="0"/>
          </a:xfrm>
          <a:prstGeom prst="line">
            <a:avLst/>
          </a:prstGeom>
          <a:ln w="1524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uv command PIN"/>
          <p:cNvSpPr txBox="1"/>
          <p:nvPr/>
        </p:nvSpPr>
        <p:spPr>
          <a:xfrm>
            <a:off x="3035808" y="2971800"/>
            <a:ext cx="7607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7" name="uv row LOCATE"/>
          <p:cNvSpPr/>
          <p:nvPr/>
        </p:nvSpPr>
        <p:spPr>
          <a:xfrm>
            <a:off x="987552" y="3749039"/>
            <a:ext cx="10012680" cy="64008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v label LOCATE"/>
          <p:cNvSpPr txBox="1"/>
          <p:nvPr/>
        </p:nvSpPr>
        <p:spPr>
          <a:xfrm>
            <a:off x="1207008" y="3931920"/>
            <a:ext cx="117043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LOCATE</a:t>
            </a:r>
          </a:p>
        </p:txBody>
      </p:sp>
      <p:cxnSp>
        <p:nvCxnSpPr>
          <p:cNvPr id="19" name="uv row arrow"/>
          <p:cNvCxnSpPr/>
          <p:nvPr/>
        </p:nvCxnSpPr>
        <p:spPr>
          <a:xfrm>
            <a:off x="2487168" y="4069079"/>
            <a:ext cx="365760" cy="0"/>
          </a:xfrm>
          <a:prstGeom prst="line">
            <a:avLst/>
          </a:prstGeom>
          <a:ln w="1524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uv command LOCATE"/>
          <p:cNvSpPr txBox="1"/>
          <p:nvPr/>
        </p:nvSpPr>
        <p:spPr>
          <a:xfrm>
            <a:off x="3035808" y="3904487"/>
            <a:ext cx="7607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21" name="uv expected"/>
          <p:cNvSpPr/>
          <p:nvPr/>
        </p:nvSpPr>
        <p:spPr>
          <a:xfrm>
            <a:off x="1005840" y="4846320"/>
            <a:ext cx="9985248" cy="6400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v expected text"/>
          <p:cNvSpPr txBox="1"/>
          <p:nvPr/>
        </p:nvSpPr>
        <p:spPr>
          <a:xfrm>
            <a:off x="1225296" y="5047488"/>
            <a:ext cx="954633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預期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最後一行回傳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interpreter path；Windows clean-run：PENDING。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失敗就保留錯誤並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fallback。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Windows、WSL、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系統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Python：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三者不能共用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venv context"/>
          <p:cNvSpPr txBox="1"/>
          <p:nvPr/>
        </p:nvSpPr>
        <p:spPr>
          <a:xfrm>
            <a:off x="822960" y="1060704"/>
            <a:ext cx="1044244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Windows package root；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另有獨立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WSL Linux package root</a:t>
            </a:r>
          </a:p>
        </p:txBody>
      </p:sp>
      <p:sp>
        <p:nvSpPr>
          <p:cNvPr id="6" name="venv instruction"/>
          <p:cNvSpPr txBox="1"/>
          <p:nvPr/>
        </p:nvSpPr>
        <p:spPr>
          <a:xfrm>
            <a:off x="822960" y="1298448"/>
            <a:ext cx="104424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OS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不共用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interpreter bytes。Run: .\.venv\Scripts\python.exe --version  /  .venv/bin/python --version</a:t>
            </a:r>
          </a:p>
        </p:txBody>
      </p:sp>
      <p:sp>
        <p:nvSpPr>
          <p:cNvPr id="7" name="System Python"/>
          <p:cNvSpPr/>
          <p:nvPr/>
        </p:nvSpPr>
        <p:spPr>
          <a:xfrm>
            <a:off x="841248" y="1847088"/>
            <a:ext cx="3154680" cy="30175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ystem Python label"/>
          <p:cNvSpPr txBox="1"/>
          <p:nvPr/>
        </p:nvSpPr>
        <p:spPr>
          <a:xfrm>
            <a:off x="1097280" y="213969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SYSTEM PYTHON</a:t>
            </a:r>
          </a:p>
        </p:txBody>
      </p:sp>
      <p:sp>
        <p:nvSpPr>
          <p:cNvPr id="9" name="System Python body"/>
          <p:cNvSpPr txBox="1"/>
          <p:nvPr/>
        </p:nvSpPr>
        <p:spPr>
          <a:xfrm>
            <a:off x="1078992" y="2743200"/>
            <a:ext cx="2670048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可能服務其他專案</a:t>
            </a:r>
          </a:p>
          <a:p>
            <a:pPr algn="ctr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不作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runner identity</a:t>
            </a:r>
          </a:p>
        </p:txBody>
      </p:sp>
      <p:sp>
        <p:nvSpPr>
          <p:cNvPr id="10" name="Windows venv"/>
          <p:cNvSpPr/>
          <p:nvPr/>
        </p:nvSpPr>
        <p:spPr>
          <a:xfrm>
            <a:off x="4498848" y="1847088"/>
            <a:ext cx="3154680" cy="30175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ndows venv label"/>
          <p:cNvSpPr txBox="1"/>
          <p:nvPr/>
        </p:nvSpPr>
        <p:spPr>
          <a:xfrm>
            <a:off x="4736592" y="2139696"/>
            <a:ext cx="268833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sp>
        <p:nvSpPr>
          <p:cNvPr id="12" name="Windows venv body"/>
          <p:cNvSpPr txBox="1"/>
          <p:nvPr/>
        </p:nvSpPr>
        <p:spPr>
          <a:xfrm>
            <a:off x="4718304" y="2743200"/>
            <a:ext cx="2724912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</a:t>
            </a:r>
          </a:p>
        </p:txBody>
      </p:sp>
      <p:sp>
        <p:nvSpPr>
          <p:cNvPr id="13" name="WSL venv"/>
          <p:cNvSpPr/>
          <p:nvPr/>
        </p:nvSpPr>
        <p:spPr>
          <a:xfrm>
            <a:off x="8156448" y="1847088"/>
            <a:ext cx="3154680" cy="301752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SL venv label"/>
          <p:cNvSpPr txBox="1"/>
          <p:nvPr/>
        </p:nvSpPr>
        <p:spPr>
          <a:xfrm>
            <a:off x="8394192" y="2139696"/>
            <a:ext cx="268833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sp>
        <p:nvSpPr>
          <p:cNvPr id="15" name="WSL venv body"/>
          <p:cNvSpPr txBox="1"/>
          <p:nvPr/>
        </p:nvSpPr>
        <p:spPr>
          <a:xfrm>
            <a:off x="8375904" y="2743200"/>
            <a:ext cx="2724912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.venv/bin/python</a:t>
            </a:r>
          </a:p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Linux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</a:t>
            </a:r>
          </a:p>
        </p:txBody>
      </p:sp>
      <p:sp>
        <p:nvSpPr>
          <p:cNvPr id="16" name="venv recovery"/>
          <p:cNvSpPr txBox="1"/>
          <p:nvPr/>
        </p:nvSpPr>
        <p:spPr>
          <a:xfrm>
            <a:off x="896112" y="5175504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預期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兩個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path 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都落在各自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1900" b="1" i="1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不要跨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OS 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複製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停在</a:t>
            </a:r>
            <a:r>
              <a:rPr sz="19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setup gate。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Windows：setup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後立刻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verify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5" name="Operation terminal panel"/>
          <p:cNvSpPr/>
          <p:nvPr/>
        </p:nvSpPr>
        <p:spPr>
          <a:xfrm>
            <a:off x="713232" y="1225296"/>
            <a:ext cx="5504688" cy="4370832"/>
          </a:xfrm>
          <a:prstGeom prst="roundRect">
            <a:avLst/>
          </a:prstGeom>
          <a:solidFill>
            <a:srgbClr val="ECF1FE"/>
          </a:solidFill>
          <a:ln w="1651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peration context heading"/>
          <p:cNvSpPr txBox="1"/>
          <p:nvPr/>
        </p:nvSpPr>
        <p:spPr>
          <a:xfrm>
            <a:off x="932688" y="1481328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CONTEXT / RUN</a:t>
            </a:r>
          </a:p>
        </p:txBody>
      </p:sp>
      <p:sp>
        <p:nvSpPr>
          <p:cNvPr id="7" name="Operation exact command"/>
          <p:cNvSpPr txBox="1"/>
          <p:nvPr/>
        </p:nvSpPr>
        <p:spPr>
          <a:xfrm>
            <a:off x="950976" y="1847088"/>
            <a:ext cx="502920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PowerShell；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Set-Location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到解壓後的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lora-energy-lab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根目錄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cxnSp>
        <p:nvCxnSpPr>
          <p:cNvPr id="8" name="Operation divider"/>
          <p:cNvCxnSpPr/>
          <p:nvPr/>
        </p:nvCxnSpPr>
        <p:spPr>
          <a:xfrm>
            <a:off x="950976" y="3054096"/>
            <a:ext cx="4956048" cy="0"/>
          </a:xfrm>
          <a:prstGeom prst="line">
            <a:avLst/>
          </a:prstGeom>
          <a:ln w="1397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peration mechanism heading"/>
          <p:cNvSpPr txBox="1"/>
          <p:nvPr/>
        </p:nvSpPr>
        <p:spPr>
          <a:xfrm>
            <a:off x="932688" y="3273552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Operation mechanism body"/>
          <p:cNvSpPr txBox="1"/>
          <p:nvPr/>
        </p:nvSpPr>
        <p:spPr>
          <a:xfrm>
            <a:off x="950976" y="3657600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建立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venv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並依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lock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；verify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interpreter、wrapper、policy API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identity。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同一個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 root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產生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machine-readable receipt，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讓後續操作有固定入口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Operation output panel"/>
          <p:cNvSpPr/>
          <p:nvPr/>
        </p:nvSpPr>
        <p:spPr>
          <a:xfrm>
            <a:off x="6537960" y="1225296"/>
            <a:ext cx="4690872" cy="1956816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eration expected heading"/>
          <p:cNvSpPr txBox="1"/>
          <p:nvPr/>
        </p:nvSpPr>
        <p:spPr>
          <a:xfrm>
            <a:off x="6784848" y="1481328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預期可見輸出</a:t>
            </a:r>
          </a:p>
        </p:txBody>
      </p:sp>
      <p:sp>
        <p:nvSpPr>
          <p:cNvPr id="13" name="Operation expected body"/>
          <p:cNvSpPr txBox="1"/>
          <p:nvPr/>
        </p:nvSpPr>
        <p:spPr>
          <a:xfrm>
            <a:off x="6784848" y="1920240"/>
            <a:ext cx="418795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預期看到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、Python version、scenario_id、lock／policy identity；Windows clean-run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pending。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537960" y="3493008"/>
            <a:ext cx="4690872" cy="2103120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eration recovery heading"/>
          <p:cNvSpPr txBox="1"/>
          <p:nvPr/>
        </p:nvSpPr>
        <p:spPr>
          <a:xfrm>
            <a:off x="6784848" y="3749039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失敗回復</a:t>
            </a:r>
          </a:p>
        </p:txBody>
      </p:sp>
      <p:sp>
        <p:nvSpPr>
          <p:cNvPr id="16" name="Operation recovery body"/>
          <p:cNvSpPr txBox="1"/>
          <p:nvPr/>
        </p:nvSpPr>
        <p:spPr>
          <a:xfrm>
            <a:off x="6784848" y="4187952"/>
            <a:ext cx="418795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若版本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和錯誤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先修目前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gate；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不能用手改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JSON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偽造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READY。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Ubuntu shell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5" name="Operation terminal panel"/>
          <p:cNvSpPr/>
          <p:nvPr/>
        </p:nvSpPr>
        <p:spPr>
          <a:xfrm>
            <a:off x="713232" y="1225296"/>
            <a:ext cx="5504688" cy="4370832"/>
          </a:xfrm>
          <a:prstGeom prst="roundRect">
            <a:avLst/>
          </a:prstGeom>
          <a:solidFill>
            <a:srgbClr val="ECF1FE"/>
          </a:solidFill>
          <a:ln w="1651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peration context heading"/>
          <p:cNvSpPr txBox="1"/>
          <p:nvPr/>
        </p:nvSpPr>
        <p:spPr>
          <a:xfrm>
            <a:off x="932688" y="1481328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CONTEXT / RUN</a:t>
            </a:r>
          </a:p>
        </p:txBody>
      </p:sp>
      <p:sp>
        <p:nvSpPr>
          <p:cNvPr id="7" name="Operation exact command"/>
          <p:cNvSpPr txBox="1"/>
          <p:nvPr/>
        </p:nvSpPr>
        <p:spPr>
          <a:xfrm>
            <a:off x="950976" y="1847088"/>
            <a:ext cx="502920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PowerShell → Ubuntu shell；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不要把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CMD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指令貼進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Ubuntu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wsl --install -d Ubuntu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8" name="Operation divider"/>
          <p:cNvCxnSpPr/>
          <p:nvPr/>
        </p:nvCxnSpPr>
        <p:spPr>
          <a:xfrm>
            <a:off x="950976" y="3054096"/>
            <a:ext cx="4956048" cy="0"/>
          </a:xfrm>
          <a:prstGeom prst="line">
            <a:avLst/>
          </a:prstGeom>
          <a:ln w="1397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peration mechanism heading"/>
          <p:cNvSpPr txBox="1"/>
          <p:nvPr/>
        </p:nvSpPr>
        <p:spPr>
          <a:xfrm>
            <a:off x="932688" y="3273552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Operation mechanism body"/>
          <p:cNvSpPr txBox="1"/>
          <p:nvPr/>
        </p:nvSpPr>
        <p:spPr>
          <a:xfrm>
            <a:off x="950976" y="3657600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辨認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管理指令與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Linux runner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的檔案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／shell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邊界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看到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Linux home path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3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uname -a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才使用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3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setup.sh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3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.venv/bin/python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Operation output panel"/>
          <p:cNvSpPr/>
          <p:nvPr/>
        </p:nvSpPr>
        <p:spPr>
          <a:xfrm>
            <a:off x="6537960" y="1225296"/>
            <a:ext cx="4690872" cy="1956816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eration expected heading"/>
          <p:cNvSpPr txBox="1"/>
          <p:nvPr/>
        </p:nvSpPr>
        <p:spPr>
          <a:xfrm>
            <a:off x="6784848" y="1481328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預期可見輸出</a:t>
            </a:r>
          </a:p>
        </p:txBody>
      </p:sp>
      <p:sp>
        <p:nvSpPr>
          <p:cNvPr id="13" name="Operation expected body"/>
          <p:cNvSpPr txBox="1"/>
          <p:nvPr/>
        </p:nvSpPr>
        <p:spPr>
          <a:xfrm>
            <a:off x="6784848" y="1920240"/>
            <a:ext cx="418795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Ubuntu distribution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狀態清楚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Linux path；WSL clean-run evidence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目前待補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537960" y="3493008"/>
            <a:ext cx="4690872" cy="2103120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eration recovery heading"/>
          <p:cNvSpPr txBox="1"/>
          <p:nvPr/>
        </p:nvSpPr>
        <p:spPr>
          <a:xfrm>
            <a:off x="6784848" y="3749039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失敗回復</a:t>
            </a:r>
          </a:p>
        </p:txBody>
      </p:sp>
      <p:sp>
        <p:nvSpPr>
          <p:cNvPr id="16" name="Operation recovery body"/>
          <p:cNvSpPr txBox="1"/>
          <p:nvPr/>
        </p:nvSpPr>
        <p:spPr>
          <a:xfrm>
            <a:off x="6784848" y="4187952"/>
            <a:ext cx="418795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未啟用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、distribution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不對或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path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混用時停在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 gate；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保留輸出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fallback。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工具鏈只服務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setup，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不產生結果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7" name="Operation terminal panel"/>
          <p:cNvSpPr/>
          <p:nvPr/>
        </p:nvSpPr>
        <p:spPr>
          <a:xfrm>
            <a:off x="713232" y="1225296"/>
            <a:ext cx="5504688" cy="4370832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eration context heading"/>
          <p:cNvSpPr txBox="1"/>
          <p:nvPr/>
        </p:nvSpPr>
        <p:spPr>
          <a:xfrm>
            <a:off x="932688" y="1481328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CONTEXT / RUN</a:t>
            </a:r>
          </a:p>
        </p:txBody>
      </p:sp>
      <p:sp>
        <p:nvSpPr>
          <p:cNvPr id="9" name="Operation exact command"/>
          <p:cNvSpPr txBox="1"/>
          <p:nvPr/>
        </p:nvSpPr>
        <p:spPr>
          <a:xfrm>
            <a:off x="950976" y="1847088"/>
            <a:ext cx="502920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Ubuntu shell；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位於可寫的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home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 parent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cxnSp>
        <p:nvCxnSpPr>
          <p:cNvPr id="10" name="Operation divider"/>
          <p:cNvCxnSpPr/>
          <p:nvPr/>
        </p:nvCxnSpPr>
        <p:spPr>
          <a:xfrm>
            <a:off x="950976" y="3054096"/>
            <a:ext cx="4956048" cy="0"/>
          </a:xfrm>
          <a:prstGeom prst="line">
            <a:avLst/>
          </a:prstGeom>
          <a:ln w="1397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peration mechanism heading"/>
          <p:cNvSpPr txBox="1"/>
          <p:nvPr/>
        </p:nvSpPr>
        <p:spPr>
          <a:xfrm>
            <a:off x="932688" y="3273552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2" name="Operation mechanism body"/>
          <p:cNvSpPr txBox="1"/>
          <p:nvPr/>
        </p:nvSpPr>
        <p:spPr>
          <a:xfrm>
            <a:off x="950976" y="3657600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補上解壓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下載與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exact interpreter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工具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供後面的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 setup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apt、curl、uv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只建立環境前提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它們不會填寫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result。</a:t>
            </a:r>
          </a:p>
        </p:txBody>
      </p:sp>
      <p:sp>
        <p:nvSpPr>
          <p:cNvPr id="13" name="Operation output panel"/>
          <p:cNvSpPr/>
          <p:nvPr/>
        </p:nvSpPr>
        <p:spPr>
          <a:xfrm>
            <a:off x="6537960" y="1225296"/>
            <a:ext cx="4690872" cy="1956816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eration expected heading"/>
          <p:cNvSpPr txBox="1"/>
          <p:nvPr/>
        </p:nvSpPr>
        <p:spPr>
          <a:xfrm>
            <a:off x="6784848" y="1481328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預期可見輸出</a:t>
            </a:r>
          </a:p>
        </p:txBody>
      </p:sp>
      <p:sp>
        <p:nvSpPr>
          <p:cNvPr id="15" name="Operation expected body"/>
          <p:cNvSpPr txBox="1"/>
          <p:nvPr/>
        </p:nvSpPr>
        <p:spPr>
          <a:xfrm>
            <a:off x="6784848" y="1920240"/>
            <a:ext cx="418795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uv --version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可回傳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；WSL clean-run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pending。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537960" y="3493008"/>
            <a:ext cx="4690872" cy="2103120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eration recovery heading"/>
          <p:cNvSpPr txBox="1"/>
          <p:nvPr/>
        </p:nvSpPr>
        <p:spPr>
          <a:xfrm>
            <a:off x="6784848" y="3749039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失敗回復</a:t>
            </a:r>
          </a:p>
        </p:txBody>
      </p:sp>
      <p:sp>
        <p:nvSpPr>
          <p:cNvPr id="18" name="Operation recovery body"/>
          <p:cNvSpPr txBox="1"/>
          <p:nvPr/>
        </p:nvSpPr>
        <p:spPr>
          <a:xfrm>
            <a:off x="6784848" y="4187952"/>
            <a:ext cx="418795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apt／installer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被網路或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擋住時保留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stderr，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走同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 fallback；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不把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 error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當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energy evidence。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Windows Downloads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Linux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7" name="Operation terminal panel"/>
          <p:cNvSpPr/>
          <p:nvPr/>
        </p:nvSpPr>
        <p:spPr>
          <a:xfrm>
            <a:off x="713232" y="1225296"/>
            <a:ext cx="5504688" cy="4370832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eration context heading"/>
          <p:cNvSpPr txBox="1"/>
          <p:nvPr/>
        </p:nvSpPr>
        <p:spPr>
          <a:xfrm>
            <a:off x="932688" y="1481328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CONTEXT / RUN</a:t>
            </a:r>
          </a:p>
        </p:txBody>
      </p:sp>
      <p:sp>
        <p:nvSpPr>
          <p:cNvPr id="9" name="Operation exact command"/>
          <p:cNvSpPr txBox="1"/>
          <p:nvPr/>
        </p:nvSpPr>
        <p:spPr>
          <a:xfrm>
            <a:off x="950976" y="1847088"/>
            <a:ext cx="502920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Ubuntu shell；local artifact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已位於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home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 parent；public release asset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尚未凍結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cd /path/to/lora-energy-lab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PYTHON_BIN="$(uv python find 3.11)" bash setup.sh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cxnSp>
        <p:nvCxnSpPr>
          <p:cNvPr id="10" name="Operation divider"/>
          <p:cNvCxnSpPr/>
          <p:nvPr/>
        </p:nvCxnSpPr>
        <p:spPr>
          <a:xfrm>
            <a:off x="950976" y="3054096"/>
            <a:ext cx="4956048" cy="0"/>
          </a:xfrm>
          <a:prstGeom prst="line">
            <a:avLst/>
          </a:prstGeom>
          <a:ln w="1397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peration mechanism heading"/>
          <p:cNvSpPr txBox="1"/>
          <p:nvPr/>
        </p:nvSpPr>
        <p:spPr>
          <a:xfrm>
            <a:off x="932688" y="3273552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2" name="Operation mechanism body"/>
          <p:cNvSpPr txBox="1"/>
          <p:nvPr/>
        </p:nvSpPr>
        <p:spPr>
          <a:xfrm>
            <a:off x="950976" y="3657600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Linux package root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建立專屬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3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不攜入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Windows venv。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setup、verify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都在同一個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Linux root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中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；local artifact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只在明示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VERIFIED LOCAL ARTIFACT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時使用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，receipt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可追到同一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source。</a:t>
            </a:r>
          </a:p>
        </p:txBody>
      </p:sp>
      <p:sp>
        <p:nvSpPr>
          <p:cNvPr id="13" name="Operation output panel"/>
          <p:cNvSpPr/>
          <p:nvPr/>
        </p:nvSpPr>
        <p:spPr>
          <a:xfrm>
            <a:off x="6537960" y="1225296"/>
            <a:ext cx="4690872" cy="1956816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eration expected heading"/>
          <p:cNvSpPr txBox="1"/>
          <p:nvPr/>
        </p:nvSpPr>
        <p:spPr>
          <a:xfrm>
            <a:off x="6784848" y="1481328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預期可見輸出</a:t>
            </a:r>
          </a:p>
        </p:txBody>
      </p:sp>
      <p:sp>
        <p:nvSpPr>
          <p:cNvPr id="15" name="Operation expected body"/>
          <p:cNvSpPr txBox="1"/>
          <p:nvPr/>
        </p:nvSpPr>
        <p:spPr>
          <a:xfrm>
            <a:off x="6784848" y="1920240"/>
            <a:ext cx="418795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.venv/bin/python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存在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，verify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預期回傳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READY；WSL clean-run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pending。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537960" y="3493008"/>
            <a:ext cx="4690872" cy="2103120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eration recovery heading"/>
          <p:cNvSpPr txBox="1"/>
          <p:nvPr/>
        </p:nvSpPr>
        <p:spPr>
          <a:xfrm>
            <a:off x="6784848" y="3749039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失敗回復</a:t>
            </a:r>
          </a:p>
        </p:txBody>
      </p:sp>
      <p:sp>
        <p:nvSpPr>
          <p:cNvPr id="18" name="Operation recovery body"/>
          <p:cNvSpPr txBox="1"/>
          <p:nvPr/>
        </p:nvSpPr>
        <p:spPr>
          <a:xfrm>
            <a:off x="6784848" y="4187952"/>
            <a:ext cx="418795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解壓層級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、path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interpreter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不符時停止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 identity；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不要拷貝另一個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OS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venv。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 runner：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一組最小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setup／verify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入口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5" name="Operation terminal panel"/>
          <p:cNvSpPr/>
          <p:nvPr/>
        </p:nvSpPr>
        <p:spPr>
          <a:xfrm>
            <a:off x="713232" y="1225296"/>
            <a:ext cx="5504688" cy="4370832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peration context heading"/>
          <p:cNvSpPr txBox="1"/>
          <p:nvPr/>
        </p:nvSpPr>
        <p:spPr>
          <a:xfrm>
            <a:off x="932688" y="1481328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CONTEXT / RUN</a:t>
            </a:r>
          </a:p>
        </p:txBody>
      </p:sp>
      <p:sp>
        <p:nvSpPr>
          <p:cNvPr id="7" name="Operation exact command"/>
          <p:cNvSpPr txBox="1"/>
          <p:nvPr/>
        </p:nvSpPr>
        <p:spPr>
          <a:xfrm>
            <a:off x="950976" y="1847088"/>
            <a:ext cx="502920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Linux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macOS POSIX shell；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已位於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 root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cxnSp>
        <p:nvCxnSpPr>
          <p:cNvPr id="8" name="Operation divider"/>
          <p:cNvCxnSpPr/>
          <p:nvPr/>
        </p:nvCxnSpPr>
        <p:spPr>
          <a:xfrm>
            <a:off x="950976" y="3054096"/>
            <a:ext cx="4956048" cy="0"/>
          </a:xfrm>
          <a:prstGeom prst="line">
            <a:avLst/>
          </a:prstGeom>
          <a:ln w="1397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peration mechanism heading"/>
          <p:cNvSpPr txBox="1"/>
          <p:nvPr/>
        </p:nvSpPr>
        <p:spPr>
          <a:xfrm>
            <a:off x="932688" y="3273552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Operation mechanism body"/>
          <p:cNvSpPr txBox="1"/>
          <p:nvPr/>
        </p:nvSpPr>
        <p:spPr>
          <a:xfrm>
            <a:off x="950976" y="3657600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POSIX shell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重現同一個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package-local environment gate。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shell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驗證語義不變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：venv、lock、policy API、scenario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boundary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都要對齊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Operation output panel"/>
          <p:cNvSpPr/>
          <p:nvPr/>
        </p:nvSpPr>
        <p:spPr>
          <a:xfrm>
            <a:off x="6537960" y="1225296"/>
            <a:ext cx="4690872" cy="1956816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eration expected heading"/>
          <p:cNvSpPr txBox="1"/>
          <p:nvPr/>
        </p:nvSpPr>
        <p:spPr>
          <a:xfrm>
            <a:off x="6784848" y="1481328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預期可見輸出</a:t>
            </a:r>
          </a:p>
        </p:txBody>
      </p:sp>
      <p:sp>
        <p:nvSpPr>
          <p:cNvPr id="13" name="Operation expected body"/>
          <p:cNvSpPr txBox="1"/>
          <p:nvPr/>
        </p:nvSpPr>
        <p:spPr>
          <a:xfrm>
            <a:off x="6784848" y="1920240"/>
            <a:ext cx="418795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verify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應寫出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READY receipt；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目前沒有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fresh POSIX clean-run，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pending。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537960" y="3493008"/>
            <a:ext cx="4690872" cy="2103120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eration recovery heading"/>
          <p:cNvSpPr txBox="1"/>
          <p:nvPr/>
        </p:nvSpPr>
        <p:spPr>
          <a:xfrm>
            <a:off x="6784848" y="3749039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失敗回復</a:t>
            </a:r>
          </a:p>
        </p:txBody>
      </p:sp>
      <p:sp>
        <p:nvSpPr>
          <p:cNvPr id="16" name="Operation recovery body"/>
          <p:cNvSpPr txBox="1"/>
          <p:nvPr/>
        </p:nvSpPr>
        <p:spPr>
          <a:xfrm>
            <a:off x="6784848" y="4187952"/>
            <a:ext cx="418795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找不到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python3.11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verify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失敗時保留命令輸出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interpreter／package gate，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不補填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READY。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READY receipt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7" name="Operation terminal panel"/>
          <p:cNvSpPr/>
          <p:nvPr/>
        </p:nvSpPr>
        <p:spPr>
          <a:xfrm>
            <a:off x="713232" y="1225296"/>
            <a:ext cx="5504688" cy="4370832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eration context heading"/>
          <p:cNvSpPr txBox="1"/>
          <p:nvPr/>
        </p:nvSpPr>
        <p:spPr>
          <a:xfrm>
            <a:off x="932688" y="1481328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CONTEXT / RUN</a:t>
            </a:r>
          </a:p>
        </p:txBody>
      </p:sp>
      <p:sp>
        <p:nvSpPr>
          <p:cNvPr id="9" name="Operation exact command"/>
          <p:cNvSpPr txBox="1"/>
          <p:nvPr/>
        </p:nvSpPr>
        <p:spPr>
          <a:xfrm>
            <a:off x="950976" y="1847088"/>
            <a:ext cx="502920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package root；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已完成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setup／verify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shell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cat artifacts/verify-receipt.json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Get-Content artifacts\verify-receipt.json</a:t>
            </a:r>
          </a:p>
        </p:txBody>
      </p:sp>
      <p:cxnSp>
        <p:nvCxnSpPr>
          <p:cNvPr id="10" name="Operation divider"/>
          <p:cNvCxnSpPr/>
          <p:nvPr/>
        </p:nvCxnSpPr>
        <p:spPr>
          <a:xfrm>
            <a:off x="950976" y="3054096"/>
            <a:ext cx="4956048" cy="0"/>
          </a:xfrm>
          <a:prstGeom prst="line">
            <a:avLst/>
          </a:prstGeom>
          <a:ln w="1397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peration mechanism heading"/>
          <p:cNvSpPr txBox="1"/>
          <p:nvPr/>
        </p:nvSpPr>
        <p:spPr>
          <a:xfrm>
            <a:off x="932688" y="3273552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2" name="Operation mechanism body"/>
          <p:cNvSpPr txBox="1"/>
          <p:nvPr/>
        </p:nvSpPr>
        <p:spPr>
          <a:xfrm>
            <a:off x="950976" y="3657600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machine-readable receipt，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而不是只看終端最後一行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status、Python、scenario、policy API、lock、engine mode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claim ceiling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必須同時成立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Operation output panel"/>
          <p:cNvSpPr/>
          <p:nvPr/>
        </p:nvSpPr>
        <p:spPr>
          <a:xfrm>
            <a:off x="6537960" y="1225296"/>
            <a:ext cx="4690872" cy="1956816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eration expected heading"/>
          <p:cNvSpPr txBox="1"/>
          <p:nvPr/>
        </p:nvSpPr>
        <p:spPr>
          <a:xfrm>
            <a:off x="6784848" y="1481328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預期可見輸出</a:t>
            </a:r>
          </a:p>
        </p:txBody>
      </p:sp>
      <p:sp>
        <p:nvSpPr>
          <p:cNvPr id="15" name="Operation expected body"/>
          <p:cNvSpPr txBox="1"/>
          <p:nvPr/>
        </p:nvSpPr>
        <p:spPr>
          <a:xfrm>
            <a:off x="6784848" y="1920240"/>
            <a:ext cx="418795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看到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status: READY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3.11.x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scenario_id: ntpu-energy-decision-01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policy_api_version: lora-energy-policy-v1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engine_mode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；local artifact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已核對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19/19 tests，fresh receipt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仍待課堂重跑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6" name="Operation recovery panel"/>
          <p:cNvSpPr/>
          <p:nvPr/>
        </p:nvSpPr>
        <p:spPr>
          <a:xfrm>
            <a:off x="6537960" y="3493008"/>
            <a:ext cx="4690872" cy="2103120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eration recovery heading"/>
          <p:cNvSpPr txBox="1"/>
          <p:nvPr/>
        </p:nvSpPr>
        <p:spPr>
          <a:xfrm>
            <a:off x="6784848" y="3749039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失敗回復</a:t>
            </a:r>
          </a:p>
        </p:txBody>
      </p:sp>
      <p:sp>
        <p:nvSpPr>
          <p:cNvPr id="18" name="Operation recovery body"/>
          <p:cNvSpPr txBox="1"/>
          <p:nvPr/>
        </p:nvSpPr>
        <p:spPr>
          <a:xfrm>
            <a:off x="6784848" y="4187952"/>
            <a:ext cx="418795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缺欄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版本不符或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scenario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不一致時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回到對應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gate；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不可手改成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READY。</a:t>
            </a:r>
          </a:p>
        </p:txBody>
      </p:sp>
      <p:sp>
        <p:nvSpPr>
          <p:cNvPr id="19" name="Receipt status cue"/>
          <p:cNvSpPr/>
          <p:nvPr/>
        </p:nvSpPr>
        <p:spPr>
          <a:xfrm>
            <a:off x="7114032" y="2304288"/>
            <a:ext cx="3822191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eipt status cue text"/>
          <p:cNvSpPr txBox="1"/>
          <p:nvPr/>
        </p:nvSpPr>
        <p:spPr>
          <a:xfrm>
            <a:off x="7242048" y="2432304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READY ≠ energy result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result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Recovery context"/>
          <p:cNvSpPr txBox="1"/>
          <p:nvPr/>
        </p:nvSpPr>
        <p:spPr>
          <a:xfrm>
            <a:off x="822960" y="1060704"/>
            <a:ext cx="10460736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任何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shell；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目前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15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的錯誤輸出仍保留</a:t>
            </a:r>
          </a:p>
        </p:txBody>
      </p:sp>
      <p:sp>
        <p:nvSpPr>
          <p:cNvPr id="6" name="Recovery command"/>
          <p:cNvSpPr txBox="1"/>
          <p:nvPr/>
        </p:nvSpPr>
        <p:spPr>
          <a:xfrm>
            <a:off x="822960" y="1280160"/>
            <a:ext cx="1046073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stderr →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Python / root / lock / scenario →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重跑目前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gate</a:t>
            </a:r>
          </a:p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無法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READY → same-scenario fallback</a:t>
            </a:r>
          </a:p>
        </p:txBody>
      </p:sp>
      <p:sp>
        <p:nvSpPr>
          <p:cNvPr id="7" name="Recovery instruction"/>
          <p:cNvSpPr txBox="1"/>
          <p:nvPr/>
        </p:nvSpPr>
        <p:spPr>
          <a:xfrm>
            <a:off x="822960" y="1664208"/>
            <a:ext cx="1046073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先保留錯誤</a:t>
            </a:r>
            <a:r>
              <a:rPr sz="21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1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再判定能否回到</a:t>
            </a:r>
            <a:r>
              <a:rPr sz="21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READY；</a:t>
            </a:r>
            <a:r>
              <a:rPr sz="21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不要用空值填平紅燈</a:t>
            </a:r>
            <a:r>
              <a:rPr sz="21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Recovery error"/>
          <p:cNvSpPr/>
          <p:nvPr/>
        </p:nvSpPr>
        <p:spPr>
          <a:xfrm>
            <a:off x="841248" y="1920240"/>
            <a:ext cx="2395728" cy="1115568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very error label"/>
          <p:cNvSpPr txBox="1"/>
          <p:nvPr/>
        </p:nvSpPr>
        <p:spPr>
          <a:xfrm>
            <a:off x="1060704" y="2212848"/>
            <a:ext cx="195681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ERROR</a:t>
            </a:r>
          </a:p>
        </p:txBody>
      </p:sp>
      <p:cxnSp>
        <p:nvCxnSpPr>
          <p:cNvPr id="10" name="Recovery arrow"/>
          <p:cNvCxnSpPr/>
          <p:nvPr/>
        </p:nvCxnSpPr>
        <p:spPr>
          <a:xfrm>
            <a:off x="3273552" y="2487168"/>
            <a:ext cx="585216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overy diagnose"/>
          <p:cNvSpPr/>
          <p:nvPr/>
        </p:nvSpPr>
        <p:spPr>
          <a:xfrm>
            <a:off x="3950208" y="1920240"/>
            <a:ext cx="2761488" cy="11155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diagnose text"/>
          <p:cNvSpPr txBox="1"/>
          <p:nvPr/>
        </p:nvSpPr>
        <p:spPr>
          <a:xfrm>
            <a:off x="4187952" y="2139696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stderr</a:t>
            </a:r>
          </a:p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root／Python／lock</a:t>
            </a:r>
          </a:p>
        </p:txBody>
      </p:sp>
      <p:cxnSp>
        <p:nvCxnSpPr>
          <p:cNvPr id="13" name="Recovery arrow"/>
          <p:cNvCxnSpPr/>
          <p:nvPr/>
        </p:nvCxnSpPr>
        <p:spPr>
          <a:xfrm>
            <a:off x="6766560" y="2487168"/>
            <a:ext cx="585215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overy retry"/>
          <p:cNvSpPr/>
          <p:nvPr/>
        </p:nvSpPr>
        <p:spPr>
          <a:xfrm>
            <a:off x="7443216" y="1920240"/>
            <a:ext cx="2743200" cy="111556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retry text"/>
          <p:cNvSpPr txBox="1"/>
          <p:nvPr/>
        </p:nvSpPr>
        <p:spPr>
          <a:xfrm>
            <a:off x="7680960" y="2139696"/>
            <a:ext cx="22677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重跑目前</a:t>
            </a: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gate</a:t>
            </a:r>
          </a:p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不改</a:t>
            </a: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receipt</a:t>
            </a:r>
          </a:p>
        </p:txBody>
      </p:sp>
      <p:cxnSp>
        <p:nvCxnSpPr>
          <p:cNvPr id="16" name="Recovery fallback arrow"/>
          <p:cNvCxnSpPr/>
          <p:nvPr/>
        </p:nvCxnSpPr>
        <p:spPr>
          <a:xfrm>
            <a:off x="8814816" y="3108960"/>
            <a:ext cx="0" cy="621792"/>
          </a:xfrm>
          <a:prstGeom prst="line">
            <a:avLst/>
          </a:prstGeom>
          <a:ln w="2032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overy ready"/>
          <p:cNvSpPr/>
          <p:nvPr/>
        </p:nvSpPr>
        <p:spPr>
          <a:xfrm>
            <a:off x="3694176" y="3877056"/>
            <a:ext cx="3675887" cy="11704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overy ready text"/>
          <p:cNvSpPr txBox="1"/>
          <p:nvPr/>
        </p:nvSpPr>
        <p:spPr>
          <a:xfrm>
            <a:off x="3950208" y="4133087"/>
            <a:ext cx="3163824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可進入</a:t>
            </a: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runner</a:t>
            </a:r>
          </a:p>
        </p:txBody>
      </p:sp>
      <p:sp>
        <p:nvSpPr>
          <p:cNvPr id="19" name="Recovery fallback"/>
          <p:cNvSpPr/>
          <p:nvPr/>
        </p:nvSpPr>
        <p:spPr>
          <a:xfrm>
            <a:off x="7479792" y="3877056"/>
            <a:ext cx="2743200" cy="117043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overy fallback text"/>
          <p:cNvSpPr txBox="1"/>
          <p:nvPr/>
        </p:nvSpPr>
        <p:spPr>
          <a:xfrm>
            <a:off x="7699248" y="4133087"/>
            <a:ext cx="2304288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same-scenario</a:t>
            </a:r>
          </a:p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fallback</a:t>
            </a:r>
          </a:p>
        </p:txBody>
      </p:sp>
      <p:sp>
        <p:nvSpPr>
          <p:cNvPr id="21" name="Recovery verdict"/>
          <p:cNvSpPr txBox="1"/>
          <p:nvPr/>
        </p:nvSpPr>
        <p:spPr>
          <a:xfrm>
            <a:off x="932688" y="5321808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兩條合法出口</a:t>
            </a: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READY receipt，</a:t>
            </a: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或明示</a:t>
            </a: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fallback；</a:t>
            </a: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沒有第三條</a:t>
            </a: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『</a:t>
            </a: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看起來通過</a:t>
            </a: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』。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Operation terminal panel"/>
          <p:cNvSpPr/>
          <p:nvPr/>
        </p:nvSpPr>
        <p:spPr>
          <a:xfrm>
            <a:off x="713232" y="1225296"/>
            <a:ext cx="5504688" cy="4370832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peration context heading"/>
          <p:cNvSpPr txBox="1"/>
          <p:nvPr/>
        </p:nvSpPr>
        <p:spPr>
          <a:xfrm>
            <a:off x="932688" y="1481328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CONTEXT / RUN</a:t>
            </a:r>
          </a:p>
        </p:txBody>
      </p:sp>
      <p:sp>
        <p:nvSpPr>
          <p:cNvPr id="7" name="Operation exact command"/>
          <p:cNvSpPr txBox="1"/>
          <p:nvPr/>
        </p:nvSpPr>
        <p:spPr>
          <a:xfrm>
            <a:off x="950976" y="1847088"/>
            <a:ext cx="502920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package root；verify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已通過或已明示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fallback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status --short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cxnSp>
        <p:nvCxnSpPr>
          <p:cNvPr id="8" name="Operation divider"/>
          <p:cNvCxnSpPr/>
          <p:nvPr/>
        </p:nvCxnSpPr>
        <p:spPr>
          <a:xfrm>
            <a:off x="950976" y="3054096"/>
            <a:ext cx="4956048" cy="0"/>
          </a:xfrm>
          <a:prstGeom prst="line">
            <a:avLst/>
          </a:prstGeom>
          <a:ln w="1397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peration mechanism heading"/>
          <p:cNvSpPr txBox="1"/>
          <p:nvPr/>
        </p:nvSpPr>
        <p:spPr>
          <a:xfrm>
            <a:off x="932688" y="3273552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目的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機制</a:t>
            </a:r>
          </a:p>
        </p:txBody>
      </p:sp>
      <p:sp>
        <p:nvSpPr>
          <p:cNvPr id="10" name="Operation mechanism body"/>
          <p:cNvSpPr txBox="1"/>
          <p:nvPr/>
        </p:nvSpPr>
        <p:spPr>
          <a:xfrm>
            <a:off x="950976" y="3657600"/>
            <a:ext cx="5010912" cy="12252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隔離一個可控制變因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engine、scenario、schema、runner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和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generated JSON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不變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hash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可以解釋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candidate；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非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變更會破壞公平比較</a:t>
            </a: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Operation output panel"/>
          <p:cNvSpPr/>
          <p:nvPr/>
        </p:nvSpPr>
        <p:spPr>
          <a:xfrm>
            <a:off x="6537960" y="1225296"/>
            <a:ext cx="4690872" cy="1956816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eration expected heading"/>
          <p:cNvSpPr txBox="1"/>
          <p:nvPr/>
        </p:nvSpPr>
        <p:spPr>
          <a:xfrm>
            <a:off x="6784848" y="1481328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預期可見輸出</a:t>
            </a:r>
          </a:p>
        </p:txBody>
      </p:sp>
      <p:sp>
        <p:nvSpPr>
          <p:cNvPr id="13" name="Operation expected body"/>
          <p:cNvSpPr txBox="1"/>
          <p:nvPr/>
        </p:nvSpPr>
        <p:spPr>
          <a:xfrm>
            <a:off x="6784848" y="1920240"/>
            <a:ext cx="418795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diff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只落在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block；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下一步可計算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policy identity。</a:t>
            </a:r>
          </a:p>
        </p:txBody>
      </p:sp>
      <p:sp>
        <p:nvSpPr>
          <p:cNvPr id="14" name="Operation recovery panel"/>
          <p:cNvSpPr/>
          <p:nvPr/>
        </p:nvSpPr>
        <p:spPr>
          <a:xfrm>
            <a:off x="6537960" y="3493008"/>
            <a:ext cx="4690872" cy="2103120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eration recovery heading"/>
          <p:cNvSpPr txBox="1"/>
          <p:nvPr/>
        </p:nvSpPr>
        <p:spPr>
          <a:xfrm>
            <a:off x="6784848" y="3749039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判讀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失敗回復</a:t>
            </a:r>
          </a:p>
        </p:txBody>
      </p:sp>
      <p:sp>
        <p:nvSpPr>
          <p:cNvPr id="16" name="Operation recovery body"/>
          <p:cNvSpPr txBox="1"/>
          <p:nvPr/>
        </p:nvSpPr>
        <p:spPr>
          <a:xfrm>
            <a:off x="6784848" y="4187952"/>
            <a:ext cx="4187952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非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檔案或區域出現差異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停止本次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release identity 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known-good copy。</a:t>
            </a:r>
          </a:p>
        </p:txBody>
      </p:sp>
      <p:sp>
        <p:nvSpPr>
          <p:cNvPr id="17" name="Edit lock cue"/>
          <p:cNvSpPr/>
          <p:nvPr/>
        </p:nvSpPr>
        <p:spPr>
          <a:xfrm>
            <a:off x="6912864" y="2340864"/>
            <a:ext cx="3968496" cy="621792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 lock cue text"/>
          <p:cNvSpPr txBox="1"/>
          <p:nvPr/>
        </p:nvSpPr>
        <p:spPr>
          <a:xfrm>
            <a:off x="7114032" y="252374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非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marked 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區域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：READ-ONLY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5" name="API context"/>
          <p:cNvSpPr txBox="1"/>
          <p:nvPr/>
        </p:nvSpPr>
        <p:spPr>
          <a:xfrm>
            <a:off x="822960" y="1042415"/>
            <a:ext cx="1046073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開啟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bounded function</a:t>
            </a:r>
          </a:p>
        </p:txBody>
      </p:sp>
      <p:sp>
        <p:nvSpPr>
          <p:cNvPr id="6" name="API command"/>
          <p:cNvSpPr txBox="1"/>
          <p:nvPr/>
        </p:nvSpPr>
        <p:spPr>
          <a:xfrm>
            <a:off x="822960" y="1243584"/>
            <a:ext cx="1046073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"choose_action|WAIT|SLEEP|SEND_ONE|SEND_URGENT|FLUSH_BATCH" student_policy.py</a:t>
            </a:r>
          </a:p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7" name="API observation"/>
          <p:cNvSpPr/>
          <p:nvPr/>
        </p:nvSpPr>
        <p:spPr>
          <a:xfrm>
            <a:off x="804672" y="1627632"/>
            <a:ext cx="2980944" cy="316382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PI observation heading"/>
          <p:cNvSpPr txBox="1"/>
          <p:nvPr/>
        </p:nvSpPr>
        <p:spPr>
          <a:xfrm>
            <a:off x="1024128" y="1920240"/>
            <a:ext cx="254203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9" name="API observation body"/>
          <p:cNvSpPr txBox="1"/>
          <p:nvPr/>
        </p:nvSpPr>
        <p:spPr>
          <a:xfrm>
            <a:off x="1024128" y="2505456"/>
            <a:ext cx="2542032" cy="11155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</a:t>
            </a:r>
          </a:p>
          <a:p>
            <a:pPr algn="ctr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  <a:p>
            <a:pPr algn="ctr">
              <a:spcAft>
                <a:spcPts val="3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remaining window</a:t>
            </a:r>
          </a:p>
        </p:txBody>
      </p:sp>
      <p:cxnSp>
        <p:nvCxnSpPr>
          <p:cNvPr id="10" name="API arrow"/>
          <p:cNvCxnSpPr/>
          <p:nvPr/>
        </p:nvCxnSpPr>
        <p:spPr>
          <a:xfrm>
            <a:off x="3840480" y="3200400"/>
            <a:ext cx="621792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PI function"/>
          <p:cNvSpPr/>
          <p:nvPr/>
        </p:nvSpPr>
        <p:spPr>
          <a:xfrm>
            <a:off x="4553712" y="1627632"/>
            <a:ext cx="2980944" cy="3163824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I function heading"/>
          <p:cNvSpPr txBox="1"/>
          <p:nvPr/>
        </p:nvSpPr>
        <p:spPr>
          <a:xfrm>
            <a:off x="4773168" y="1920240"/>
            <a:ext cx="254203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choose_action(...) </a:t>
            </a:r>
          </a:p>
        </p:txBody>
      </p:sp>
      <p:sp>
        <p:nvSpPr>
          <p:cNvPr id="13" name="API function body"/>
          <p:cNvSpPr txBox="1"/>
          <p:nvPr/>
        </p:nvSpPr>
        <p:spPr>
          <a:xfrm>
            <a:off x="4773168" y="2505456"/>
            <a:ext cx="2542032" cy="11155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只讀當下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observation</a:t>
            </a:r>
          </a:p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不讀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result</a:t>
            </a:r>
          </a:p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不改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engine</a:t>
            </a:r>
          </a:p>
        </p:txBody>
      </p:sp>
      <p:cxnSp>
        <p:nvCxnSpPr>
          <p:cNvPr id="14" name="API arrow"/>
          <p:cNvCxnSpPr/>
          <p:nvPr/>
        </p:nvCxnSpPr>
        <p:spPr>
          <a:xfrm>
            <a:off x="7589520" y="3200400"/>
            <a:ext cx="621792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PI action"/>
          <p:cNvSpPr/>
          <p:nvPr/>
        </p:nvSpPr>
        <p:spPr>
          <a:xfrm>
            <a:off x="8302752" y="1627632"/>
            <a:ext cx="2980944" cy="316382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PI action heading"/>
          <p:cNvSpPr txBox="1"/>
          <p:nvPr/>
        </p:nvSpPr>
        <p:spPr>
          <a:xfrm>
            <a:off x="8522208" y="1920240"/>
            <a:ext cx="254203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LEGAL ACTION</a:t>
            </a:r>
          </a:p>
        </p:txBody>
      </p:sp>
      <p:sp>
        <p:nvSpPr>
          <p:cNvPr id="17" name="API action body"/>
          <p:cNvSpPr txBox="1"/>
          <p:nvPr/>
        </p:nvSpPr>
        <p:spPr>
          <a:xfrm>
            <a:off x="8503920" y="2505456"/>
            <a:ext cx="2578608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spcAft>
                <a:spcPts val="300"/>
              </a:spcAft>
            </a:pPr>
            <a:r>
              <a:rPr sz="21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spcAft>
                <a:spcPts val="300"/>
              </a:spcAft>
            </a:pPr>
            <a:r>
              <a:rPr sz="21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SEND_ONE</a:t>
            </a:r>
          </a:p>
          <a:p>
            <a:pPr algn="ctr">
              <a:spcAft>
                <a:spcPts val="300"/>
              </a:spcAft>
            </a:pPr>
            <a:r>
              <a:rPr sz="21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SEND_URGENT / FLUSH_BATCH</a:t>
            </a:r>
          </a:p>
        </p:txBody>
      </p:sp>
      <p:sp>
        <p:nvSpPr>
          <p:cNvPr id="18" name="API recovery"/>
          <p:cNvSpPr/>
          <p:nvPr/>
        </p:nvSpPr>
        <p:spPr>
          <a:xfrm>
            <a:off x="932688" y="5138928"/>
            <a:ext cx="10259568" cy="42062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PI recovery text"/>
          <p:cNvSpPr txBox="1"/>
          <p:nvPr/>
        </p:nvSpPr>
        <p:spPr>
          <a:xfrm>
            <a:off x="1133856" y="5212080"/>
            <a:ext cx="985723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預期</a:t>
            </a: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action token + syntax guard；</a:t>
            </a: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只修</a:t>
            </a: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marked block，API mismatch </a:t>
            </a: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就回</a:t>
            </a: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package identity。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7" name="Constants context"/>
          <p:cNvSpPr txBox="1"/>
          <p:nvPr/>
        </p:nvSpPr>
        <p:spPr>
          <a:xfrm>
            <a:off x="841248" y="1024128"/>
            <a:ext cx="103327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</a:t>
            </a:r>
            <a:r>
              <a:rPr sz="1400" b="0" i="1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marked constants 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區域</a:t>
            </a:r>
          </a:p>
        </p:txBody>
      </p:sp>
      <p:sp>
        <p:nvSpPr>
          <p:cNvPr id="8" name="Constants command"/>
          <p:cNvSpPr txBox="1"/>
          <p:nvPr/>
        </p:nvSpPr>
        <p:spPr>
          <a:xfrm>
            <a:off x="841248" y="1225296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"PACE_GAP_STEPS|REST_DURING_GAP|BATCH_SIZE|URGENT_MARGIN_S" student_policy.py</a:t>
            </a:r>
          </a:p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9" name="Constants code panel"/>
          <p:cNvSpPr/>
          <p:nvPr/>
        </p:nvSpPr>
        <p:spPr>
          <a:xfrm>
            <a:off x="841248" y="1572768"/>
            <a:ext cx="6419088" cy="3401568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tants heading"/>
          <p:cNvSpPr txBox="1"/>
          <p:nvPr/>
        </p:nvSpPr>
        <p:spPr>
          <a:xfrm>
            <a:off x="1078992" y="1847088"/>
            <a:ext cx="59253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student_policy.py｜marked constants</a:t>
            </a:r>
          </a:p>
        </p:txBody>
      </p:sp>
      <p:sp>
        <p:nvSpPr>
          <p:cNvPr id="11" name="Constants code"/>
          <p:cNvSpPr txBox="1"/>
          <p:nvPr/>
        </p:nvSpPr>
        <p:spPr>
          <a:xfrm>
            <a:off x="1170432" y="2395728"/>
            <a:ext cx="5705856" cy="14081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spcAft>
                <a:spcPts val="300"/>
              </a:spcAft>
            </a:pP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spcAft>
                <a:spcPts val="300"/>
              </a:spcAft>
            </a:pP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spcAft>
                <a:spcPts val="300"/>
              </a:spcAft>
            </a:pPr>
            <a:r>
              <a:rPr sz="22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</p:txBody>
      </p:sp>
      <p:cxnSp>
        <p:nvCxnSpPr>
          <p:cNvPr id="12" name="Constants mechanism arrow"/>
          <p:cNvCxnSpPr/>
          <p:nvPr/>
        </p:nvCxnSpPr>
        <p:spPr>
          <a:xfrm>
            <a:off x="1188720" y="4297680"/>
            <a:ext cx="5687568" cy="0"/>
          </a:xfrm>
          <a:prstGeom prst="line">
            <a:avLst/>
          </a:prstGeom>
          <a:ln w="2032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stants mechanism"/>
          <p:cNvSpPr txBox="1"/>
          <p:nvPr/>
        </p:nvSpPr>
        <p:spPr>
          <a:xfrm>
            <a:off x="1152144" y="4480560"/>
            <a:ext cx="577900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one control → one predicted mechanism</a:t>
            </a:r>
          </a:p>
        </p:txBody>
      </p:sp>
      <p:sp>
        <p:nvSpPr>
          <p:cNvPr id="14" name="Constants input"/>
          <p:cNvSpPr/>
          <p:nvPr/>
        </p:nvSpPr>
        <p:spPr>
          <a:xfrm>
            <a:off x="7626096" y="1572768"/>
            <a:ext cx="3547872" cy="146304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nstants input heading"/>
          <p:cNvSpPr txBox="1"/>
          <p:nvPr/>
        </p:nvSpPr>
        <p:spPr>
          <a:xfrm>
            <a:off x="7863840" y="18288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先預測</a:t>
            </a:r>
          </a:p>
        </p:txBody>
      </p:sp>
      <p:sp>
        <p:nvSpPr>
          <p:cNvPr id="16" name="Constants input body"/>
          <p:cNvSpPr txBox="1"/>
          <p:nvPr/>
        </p:nvSpPr>
        <p:spPr>
          <a:xfrm>
            <a:off x="7882127" y="2231136"/>
            <a:ext cx="3035808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等待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？wake？queue age？deadline？</a:t>
            </a:r>
          </a:p>
        </p:txBody>
      </p:sp>
      <p:sp>
        <p:nvSpPr>
          <p:cNvPr id="17" name="Constants guard"/>
          <p:cNvSpPr/>
          <p:nvPr/>
        </p:nvSpPr>
        <p:spPr>
          <a:xfrm>
            <a:off x="7626096" y="3364992"/>
            <a:ext cx="3547872" cy="160934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stants guard heading"/>
          <p:cNvSpPr txBox="1"/>
          <p:nvPr/>
        </p:nvSpPr>
        <p:spPr>
          <a:xfrm>
            <a:off x="7863840" y="3621024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guard</a:t>
            </a:r>
          </a:p>
        </p:txBody>
      </p:sp>
      <p:sp>
        <p:nvSpPr>
          <p:cNvPr id="19" name="Constants guard body"/>
          <p:cNvSpPr txBox="1"/>
          <p:nvPr/>
        </p:nvSpPr>
        <p:spPr>
          <a:xfrm>
            <a:off x="7882127" y="4023360"/>
            <a:ext cx="3035808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超出範圍就拒絕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不放寬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runner。</a:t>
            </a:r>
          </a:p>
        </p:txBody>
      </p:sp>
      <p:sp>
        <p:nvSpPr>
          <p:cNvPr id="20" name="Constants recovery"/>
          <p:cNvSpPr txBox="1"/>
          <p:nvPr/>
        </p:nvSpPr>
        <p:spPr>
          <a:xfrm>
            <a:off x="932688" y="5230368"/>
            <a:ext cx="10204704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預期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小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diff + syntax guard；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值超界只修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marked line，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不放寬</a:t>
            </a: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 guard；receipt：PENDING。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observation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7" name="Branch context"/>
          <p:cNvSpPr txBox="1"/>
          <p:nvPr/>
        </p:nvSpPr>
        <p:spPr>
          <a:xfrm>
            <a:off x="822960" y="1024128"/>
            <a:ext cx="1046073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root；marked </a:t>
            </a:r>
            <a:r>
              <a:rPr sz="1400" b="0" i="1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區域</a:t>
            </a:r>
          </a:p>
        </p:txBody>
      </p:sp>
      <p:sp>
        <p:nvSpPr>
          <p:cNvPr id="8" name="Branch command"/>
          <p:cNvSpPr txBox="1"/>
          <p:nvPr/>
        </p:nvSpPr>
        <p:spPr>
          <a:xfrm>
            <a:off x="822960" y="1225296"/>
            <a:ext cx="1046073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'1,180p' student_policy.py</a:t>
            </a:r>
          </a:p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9" name="Branch observation"/>
          <p:cNvSpPr/>
          <p:nvPr/>
        </p:nvSpPr>
        <p:spPr>
          <a:xfrm>
            <a:off x="4526280" y="1481328"/>
            <a:ext cx="2487168" cy="6583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ranch observation text"/>
          <p:cNvSpPr txBox="1"/>
          <p:nvPr/>
        </p:nvSpPr>
        <p:spPr>
          <a:xfrm>
            <a:off x="4727448" y="1700784"/>
            <a:ext cx="2084831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observation now</a:t>
            </a:r>
          </a:p>
        </p:txBody>
      </p:sp>
      <p:cxnSp>
        <p:nvCxnSpPr>
          <p:cNvPr id="11" name="Branch left"/>
          <p:cNvCxnSpPr/>
          <p:nvPr/>
        </p:nvCxnSpPr>
        <p:spPr>
          <a:xfrm flipH="1">
            <a:off x="2999232" y="2157984"/>
            <a:ext cx="2779776" cy="73152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Branch middle"/>
          <p:cNvCxnSpPr/>
          <p:nvPr/>
        </p:nvCxnSpPr>
        <p:spPr>
          <a:xfrm>
            <a:off x="5779008" y="2157984"/>
            <a:ext cx="0" cy="73152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Branch right"/>
          <p:cNvCxnSpPr/>
          <p:nvPr/>
        </p:nvCxnSpPr>
        <p:spPr>
          <a:xfrm>
            <a:off x="5779008" y="2157984"/>
            <a:ext cx="2779776" cy="73152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ranch condition A"/>
          <p:cNvSpPr/>
          <p:nvPr/>
        </p:nvSpPr>
        <p:spPr>
          <a:xfrm>
            <a:off x="1554480" y="3035808"/>
            <a:ext cx="2505456" cy="107899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ranch condition condition A"/>
          <p:cNvSpPr txBox="1"/>
          <p:nvPr/>
        </p:nvSpPr>
        <p:spPr>
          <a:xfrm>
            <a:off x="1700784" y="3246120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condition A</a:t>
            </a:r>
          </a:p>
        </p:txBody>
      </p:sp>
      <p:sp>
        <p:nvSpPr>
          <p:cNvPr id="16" name="Branch action return WAIT"/>
          <p:cNvSpPr txBox="1"/>
          <p:nvPr/>
        </p:nvSpPr>
        <p:spPr>
          <a:xfrm>
            <a:off x="1700784" y="3639312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return WAIT</a:t>
            </a:r>
          </a:p>
        </p:txBody>
      </p:sp>
      <p:sp>
        <p:nvSpPr>
          <p:cNvPr id="17" name="Branch condition B"/>
          <p:cNvSpPr/>
          <p:nvPr/>
        </p:nvSpPr>
        <p:spPr>
          <a:xfrm>
            <a:off x="4462272" y="3035808"/>
            <a:ext cx="2505456" cy="10789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ranch condition condition B"/>
          <p:cNvSpPr txBox="1"/>
          <p:nvPr/>
        </p:nvSpPr>
        <p:spPr>
          <a:xfrm>
            <a:off x="4608576" y="3246120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condition B</a:t>
            </a:r>
          </a:p>
        </p:txBody>
      </p:sp>
      <p:sp>
        <p:nvSpPr>
          <p:cNvPr id="19" name="Branch action return SLEEP"/>
          <p:cNvSpPr txBox="1"/>
          <p:nvPr/>
        </p:nvSpPr>
        <p:spPr>
          <a:xfrm>
            <a:off x="4608576" y="3639312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return SLEEP</a:t>
            </a:r>
          </a:p>
        </p:txBody>
      </p:sp>
      <p:sp>
        <p:nvSpPr>
          <p:cNvPr id="20" name="Branch else"/>
          <p:cNvSpPr/>
          <p:nvPr/>
        </p:nvSpPr>
        <p:spPr>
          <a:xfrm>
            <a:off x="7370064" y="3035808"/>
            <a:ext cx="2505456" cy="10789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ranch condition else"/>
          <p:cNvSpPr txBox="1"/>
          <p:nvPr/>
        </p:nvSpPr>
        <p:spPr>
          <a:xfrm>
            <a:off x="7516368" y="3246120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else</a:t>
            </a:r>
          </a:p>
        </p:txBody>
      </p:sp>
      <p:sp>
        <p:nvSpPr>
          <p:cNvPr id="22" name="Branch action return SEND_ONE"/>
          <p:cNvSpPr txBox="1"/>
          <p:nvPr/>
        </p:nvSpPr>
        <p:spPr>
          <a:xfrm>
            <a:off x="7516368" y="3639312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return SEND_ONE</a:t>
            </a:r>
          </a:p>
        </p:txBody>
      </p:sp>
      <p:sp>
        <p:nvSpPr>
          <p:cNvPr id="23" name="Branch rule"/>
          <p:cNvSpPr/>
          <p:nvPr/>
        </p:nvSpPr>
        <p:spPr>
          <a:xfrm>
            <a:off x="932688" y="4663440"/>
            <a:ext cx="10222992" cy="74980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ranch rule text"/>
          <p:cNvSpPr txBox="1"/>
          <p:nvPr/>
        </p:nvSpPr>
        <p:spPr>
          <a:xfrm>
            <a:off x="1170432" y="4828032"/>
            <a:ext cx="976579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預期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每個分支回傳合法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action；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只修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marked block，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非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marked traceback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保留並回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recovery。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36576" bIns="27432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return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6676"/>
            <a:ext cx="3191256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PENDING / NOT CLEAN-RUN VERIFIED</a:t>
            </a:r>
          </a:p>
        </p:txBody>
      </p:sp>
      <p:sp>
        <p:nvSpPr>
          <p:cNvPr id="5" name="Return context"/>
          <p:cNvSpPr txBox="1"/>
          <p:nvPr/>
        </p:nvSpPr>
        <p:spPr>
          <a:xfrm>
            <a:off x="822960" y="1024128"/>
            <a:ext cx="1046073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root；syntax guard 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以前的</a:t>
            </a:r>
            <a:r>
              <a:rPr sz="14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marked function</a:t>
            </a:r>
          </a:p>
        </p:txBody>
      </p:sp>
      <p:sp>
        <p:nvSpPr>
          <p:cNvPr id="6" name="Return command"/>
          <p:cNvSpPr txBox="1"/>
          <p:nvPr/>
        </p:nvSpPr>
        <p:spPr>
          <a:xfrm>
            <a:off x="822960" y="1225296"/>
            <a:ext cx="1046073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py_compile student_policy.py</a:t>
            </a:r>
          </a:p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guard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只修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marked line，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重跑同一命令</a:t>
            </a:r>
          </a:p>
        </p:txBody>
      </p:sp>
      <p:sp>
        <p:nvSpPr>
          <p:cNvPr id="7" name="Return before"/>
          <p:cNvSpPr/>
          <p:nvPr/>
        </p:nvSpPr>
        <p:spPr>
          <a:xfrm>
            <a:off x="804672" y="1554480"/>
            <a:ext cx="5074920" cy="3401568"/>
          </a:xfrm>
          <a:prstGeom prst="roundRect">
            <a:avLst/>
          </a:prstGeom>
          <a:solidFill>
            <a:srgbClr val="FDEFEF"/>
          </a:solidFill>
          <a:ln w="1651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turn before heading"/>
          <p:cNvSpPr txBox="1"/>
          <p:nvPr/>
        </p:nvSpPr>
        <p:spPr>
          <a:xfrm>
            <a:off x="1042415" y="1810512"/>
            <a:ext cx="4590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錯誤讀法</a:t>
            </a: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混在同一縮排</a:t>
            </a:r>
          </a:p>
        </p:txBody>
      </p:sp>
      <p:sp>
        <p:nvSpPr>
          <p:cNvPr id="9" name="Return before code"/>
          <p:cNvSpPr txBox="1"/>
          <p:nvPr/>
        </p:nvSpPr>
        <p:spPr>
          <a:xfrm>
            <a:off x="1152144" y="2340864"/>
            <a:ext cx="4389120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if condition:</a:t>
            </a:r>
          </a:p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return WAIT</a:t>
            </a:r>
          </a:p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else:</a:t>
            </a:r>
          </a:p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return SEND_ONE</a:t>
            </a:r>
          </a:p>
        </p:txBody>
      </p:sp>
      <p:sp>
        <p:nvSpPr>
          <p:cNvPr id="10" name="Return after"/>
          <p:cNvSpPr/>
          <p:nvPr/>
        </p:nvSpPr>
        <p:spPr>
          <a:xfrm>
            <a:off x="6327648" y="1554480"/>
            <a:ext cx="4937760" cy="3401568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turn after heading"/>
          <p:cNvSpPr txBox="1"/>
          <p:nvPr/>
        </p:nvSpPr>
        <p:spPr>
          <a:xfrm>
            <a:off x="6565392" y="1810512"/>
            <a:ext cx="44622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安全讀法</a:t>
            </a: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縮排對應</a:t>
            </a: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 branch</a:t>
            </a:r>
          </a:p>
        </p:txBody>
      </p:sp>
      <p:sp>
        <p:nvSpPr>
          <p:cNvPr id="12" name="Return after code"/>
          <p:cNvSpPr txBox="1"/>
          <p:nvPr/>
        </p:nvSpPr>
        <p:spPr>
          <a:xfrm>
            <a:off x="6711696" y="2340864"/>
            <a:ext cx="4169663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if condition:</a:t>
            </a:r>
          </a:p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   return WAIT</a:t>
            </a:r>
          </a:p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else:</a:t>
            </a:r>
          </a:p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   return SEND_ONE</a:t>
            </a:r>
          </a:p>
        </p:txBody>
      </p:sp>
      <p:cxnSp>
        <p:nvCxnSpPr>
          <p:cNvPr id="13" name="Return separator"/>
          <p:cNvCxnSpPr/>
          <p:nvPr/>
        </p:nvCxnSpPr>
        <p:spPr>
          <a:xfrm>
            <a:off x="5961888" y="2029968"/>
            <a:ext cx="237744" cy="2468880"/>
          </a:xfrm>
          <a:prstGeom prst="line">
            <a:avLst/>
          </a:prstGeom>
          <a:ln w="1905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urn recovery"/>
          <p:cNvSpPr/>
          <p:nvPr/>
        </p:nvSpPr>
        <p:spPr>
          <a:xfrm>
            <a:off x="914400" y="5230368"/>
            <a:ext cx="10296144" cy="42062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turn recovery text"/>
          <p:cNvSpPr txBox="1"/>
          <p:nvPr/>
        </p:nvSpPr>
        <p:spPr>
          <a:xfrm>
            <a:off x="1133856" y="5303520"/>
            <a:ext cx="985723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預期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：syntax guard 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通過且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只修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marked line，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非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marked traceback 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回</a:t>
            </a: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checkpoint / fallback。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