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ns3="http://schemas.microsoft.com/office/powerpoint/2012/main" xmlns:p="http://schemas.openxmlformats.org/presentationml/2006/main" xmlns:r="http://schemas.openxmlformats.org/officeDocument/2006/relationships" saveSubsetFonts="1">
  <p:sldMasterIdLst>
    <p:sldMasterId id="2147483708" r:id="rId1"/>
  </p:sldMasterIdLst>
  <p:notesMasterIdLst>
    <p:notesMasterId r:id="rId4"/>
  </p:notesMasterIdLst>
  <p:sldIdLst>
    <p:sldId id="296" r:id="rId9"/>
    <p:sldId id="297" r:id="rId10"/>
    <p:sldId id="298" r:id="rId11"/>
    <p:sldId id="299" r:id="rId12"/>
    <p:sldId id="300" r:id="rId13"/>
    <p:sldId id="301" r:id="rId14"/>
    <p:sldId id="302" r:id="rId15"/>
    <p:sldId id="303" r:id="rId16"/>
    <p:sldId id="304" r:id="rId17"/>
    <p:sldId id="305" r:id="rId18"/>
    <p:sldId id="306" r:id="rId19"/>
    <p:sldId id="307" r:id="rId20"/>
    <p:sldId id="308" r:id="rId21"/>
    <p:sldId id="309" r:id="rId22"/>
    <p:sldId id="310" r:id="rId23"/>
    <p:sldId id="311" r:id="rId24"/>
    <p:sldId id="312" r:id="rId25"/>
    <p:sldId id="313" r:id="rId26"/>
    <p:sldId id="314" r:id="rId27"/>
    <p:sldId id="315" r:id="rId28"/>
    <p:sldId id="316" r:id="rId29"/>
    <p:sldId id="317" r:id="rId30"/>
    <p:sldId id="318" r:id="rId31"/>
    <p:sldId id="319" r:id="rId32"/>
    <p:sldId id="320" r:id="rId33"/>
    <p:sldId id="321" r:id="rId34"/>
    <p:sldId id="322" r:id="rId35"/>
  </p:sldIdLst>
  <p:sldSz cx="12192000" cy="6858000"/>
  <p:notesSz cx="7104063" cy="10234613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ns3:sldGuideLst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00000"/>
    <a:srgbClr val="5169CF"/>
    <a:srgbClr val="A1A1A1"/>
    <a:srgbClr val="5F75D3"/>
    <a:srgbClr val="EFA5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C4B1156A-380E-4F78-BDF5-A606A8083BF9}" styleName="中等深淺樣式 4 - 輔色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5DA37D80-6434-44D0-A028-1B22A696006F}" styleName="淺色樣式 3 - 輔色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346" autoAdjust="0"/>
    <p:restoredTop sz="76848" autoAdjust="0"/>
  </p:normalViewPr>
  <p:slideViewPr>
    <p:cSldViewPr snapToGrid="0">
      <p:cViewPr varScale="1">
        <p:scale>
          <a:sx n="88" d="100"/>
          <a:sy n="88" d="100"/>
        </p:scale>
        <p:origin x="153" y="42"/>
      </p:cViewPr>
      <p:guideLst/>
    </p:cSldViewPr>
  </p:slideViewPr>
  <p:notesTextViewPr>
    <p:cViewPr>
      <p:scale>
        <a:sx n="150" d="100"/>
        <a:sy n="150" d="100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78427" cy="513508"/>
          </a:xfrm>
          <a:prstGeom prst="rect">
            <a:avLst/>
          </a:prstGeom>
        </p:spPr>
        <p:txBody>
          <a:bodyPr vert="horz" lIns="94787" tIns="47393" rIns="94787" bIns="47393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787" tIns="47393" rIns="94787" bIns="47393" rtlCol="0"/>
          <a:lstStyle>
            <a:lvl1pPr algn="r">
              <a:defRPr sz="1200"/>
            </a:lvl1pPr>
          </a:lstStyle>
          <a:p>
            <a:fld id="{6E184DA3-7456-445E-B789-C4A3C11A868B}" type="datetimeFigureOut">
              <a:rPr lang="zh-TW" altLang="en-US" smtClean="0"/>
              <a:t>2025/12/10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38863" cy="34528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787" tIns="47393" rIns="94787" bIns="47393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710407" y="4925408"/>
            <a:ext cx="5683250" cy="4029879"/>
          </a:xfrm>
          <a:prstGeom prst="rect">
            <a:avLst/>
          </a:prstGeom>
        </p:spPr>
        <p:txBody>
          <a:bodyPr vert="horz" lIns="94787" tIns="47393" rIns="94787" bIns="47393" rtlCol="0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1" y="9721106"/>
            <a:ext cx="3078427" cy="513507"/>
          </a:xfrm>
          <a:prstGeom prst="rect">
            <a:avLst/>
          </a:prstGeom>
        </p:spPr>
        <p:txBody>
          <a:bodyPr vert="horz" lIns="94787" tIns="47393" rIns="94787" bIns="47393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4023993" y="9721106"/>
            <a:ext cx="3078427" cy="513507"/>
          </a:xfrm>
          <a:prstGeom prst="rect">
            <a:avLst/>
          </a:prstGeom>
        </p:spPr>
        <p:txBody>
          <a:bodyPr vert="horz" lIns="94787" tIns="47393" rIns="94787" bIns="47393" rtlCol="0" anchor="b"/>
          <a:lstStyle>
            <a:lvl1pPr algn="r">
              <a:defRPr sz="1200"/>
            </a:lvl1pPr>
          </a:lstStyle>
          <a:p>
            <a:fld id="{E0BAEFB6-4136-4525-B476-790D9DDC512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206002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今天先不從衛星名詞開始。我們從一個 IoT endpoint 的選擇開始：現在送、短暫等待，或進入低功耗休眠。每個選擇會改變 radio state 停留時間、封包結果與服務，最後才在 endpoint energy ledger 中留下可追溯的 J。 若 claim 被擴大：停在 endpoint / system boundary；不可把模擬資料說成 live 或 measured。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請看箭頭，不要跳到最右邊。先有 observation，policy 才選 action；action 會改變等待、喚醒、處理、收發與封包結果；服務條件確認後，才談功率乘上時間累積出的 endpoint energy。 若 claim 被擴大：停在 endpoint / system boundary；不可把模擬資料說成 live 或 measured。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智慧節能不是只把功率欄位改小，而是讓裝置在工作與等待之間做出可解釋的取捨。相關模型把 sleep、processing、transmit、receive、packet、collision、retry 與 energy 結果連起來。 若 claim 被擴大：停在 endpoint / system boundary；不可把模擬資料說成 live 或 measured。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LEO 在這裡不是衛星工程課的終點，而是 changing service window 的例子。可服務的機會會出現、消失、變短或變長，讓現在送還是等一下變得可觀察。 若 claim 被擴大：停在 endpoint / system boundary；不可把模擬資料說成 live 或 measured。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左邊的 endpoint replay 可以回答封包、佇列、radio state、endpoint energy 與 endpoint service；右邊的 system replay 才承擔既有 C-120 canonical fields。 若 claim 被擴大：停在 endpoint / system boundary；不可把模擬資料說成 live 或 measured。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每個 lab 都先記下預期會變的 state time、packet outcome、service 或 endpoint J，再只改標記區塊，跑 baseline 與 candidate，匯入 result 看 replay，最後用 withheld case 檢驗。 若 claim 被擴大：停在 endpoint / system boundary；不可把模擬資料說成 live 或 measured。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這張卡片只問一件事：你改的那一行透過哪個機制影響哪一筆 evidence？如果結果沒有 consequential diff，就記錄 gate 未通過，不用畫面效果替代。 若 claim 被擴大：停在 endpoint / system boundary；不可把模擬資料說成 live 或 measured。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先把工具與場景的關係講清楚，再完成能回復的 setup；接著建立 endpoint state 與服務邊界的共同語言，最後把機制轉到其他 IoT 場景。 若 claim 被擴大：停在 endpoint / system boundary；不可把模擬資料說成 live 或 measured。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在進入命令前，我們先把能說什麼與不能說什麼放在同一張圖。這是 course-owned、deterministic、simulated 的 endpoint energy lab，不是 live telemetry、量測結果或 canonical parity 通過。 若 claim 被擴大：停在 endpoint / system boundary；不可把模擬資料說成 live 或 measured。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local artifact 已凍結為 121,139 bytes；解壓後仍不要從不同 branch 拼檔案，先確認 root 與必要檔案。 shell、版本、lock 或 receipt 不符：保留錯誤，回到 setup gate；仍受阻就使用同 scenario fallback。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local ZIP 已核對為 121,139 bytes，SHA-256 為 047e8459988d8bee59fbfdcc39189e00048f3697968901ce5b6e5363dc9e8c8c。這是 local artifact 證據，不擴張成公開 GitHub Release 已可下載。 local hash 不符：停止並重新取得 owner 指定檔案；公開 URL 未發布：保留 placeholder，不改用舊 URL 或其他 branch。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如果畫面開頭是 C:\...&gt;，我們在 CMD；如果是 PS C:\...&gt;，我們在 PowerShell。先執行 py --list，再執行 py -3.11 --version；看到 3.11.x 才進入 setup。 shell、版本、lock 或 receipt 不符：保留錯誤，回到 setup gate；仍受阻就使用同 scenario fallback。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如果 py --list 沒有 3.11，開啟畫面上的官方 Windows 下載頁，選 Python 3.11.x 的 64-bit installer 並保留 Python Launcher。完成後關閉再開 shell，重跑 py --list 與 py -3.11 --version。 shell、版本、lock 或 receipt 不符：保留錯誤，回到 setup gate；仍受阻就使用同 scenario fallback。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當 launcher 找不到 3.11，可以用 uv 取得 exact interpreter。先裝 uv，再跑 uv python install 3.11 與 uv python find 3.11；如果仍找不到，保留錯誤走 fallback。 shell、版本、lock 或 receipt 不符：保留錯誤，回到 setup gate；仍受阻就使用同 scenario fallback。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隔離環境讓 runner 的 dependency graph 不受其他專案污染。Windows interpreter 應落在 .venv\Scripts\python.exe，不能拿 WSL 的 .venv/bin/python 來用。 shell、版本、lock 或 receipt 不符：保留錯誤，回到 setup gate；仍受阻就使用同 scenario fallback。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在 package root 的 PowerShell，先設定 PYTHON_BIN，再執行 .\setup.cmd，完成後執行 .\course.cmd verify。畫面保留 READY / PLACEHOLDER，因為 Windows native command 尚未 clean-run。 shell、版本、lock 或 receipt 不符：保留錯誤，回到 setup gate；仍受阻就使用同 scenario fallback。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WSL 是另一個 shell 與檔案環境。先用 wsl -l -v 確認 Ubuntu，進入後跑 pwd 與 uname -a；如果看到 Linux home path，才使用 setup.sh。 shell、版本、lock 或 receipt 不符：保留錯誤，回到 setup gate；仍受阻就使用同 scenario fallback。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在 Ubuntu shell 先更新套件索引並安裝 curl、unzip，再依 installer 安裝 uv。重新開 shell 後跑 uv --version、uv python install 3.11 與 uv python find 3.11。 shell、版本、lock 或 receipt 不符：保留錯誤，回到 setup gate；仍受阻就使用同 scenario fallback。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release asset 尚未指定，所以畫面保留 RELEASE_ASSET_PENDING。收到正式 asset 後，從 /mnt/c/Users/&lt;YourName&gt;/Downloads/ 複製到 WSL Linux home，再在 package root 建立 WSL 專用的 .venv/bin/python。 shell、版本、lock 或 receipt 不符：保留錯誤，回到 setup gate；仍受阻就使用同 scenario fallback。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在 Linux 或 macOS 的 POSIX shell，先以 PYTHON_BIN=python3.11 bash setup.sh 指定 interpreter，再以 bash course.sh verify 做同一份 gate。 shell、版本、lock 或 receipt 不符：保留錯誤，回到 setup gate；仍受阻就使用同 scenario fallback。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請在 receipt 中找 status、Python version、scenario identity、policy API、lock、engine mode 與 claim boundary。READY 只表示可以進入 runner，不表示完成任何節能實驗。 shell、版本、lock 或 receipt 不符：保留錯誤，回到 setup gate；仍受阻就使用同 scenario fallback。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如果 setup 或 verify 出現錯誤，先確認 Python minor、package root、lock 與 scenario，只修目前 gate 指出的最小問題。若仍無法建立 READY，就選同 scenario fallback，並記錄 source mode。 shell、版本、lock 或 receipt 不符：保留錯誤，回到 setup gate；仍受阻就使用同 scenario fallback。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在整個實驗中，我們只改 student_policy.py 的 marked blocks。不要改 upstream framework、scenario、schema、runner、Leo code 或 generated JSON；檔案與 release 不同就回到 package identity。 policy guard 或 syntax 失敗：只修 marked block 的最小行；不要改 runner、schema 或 generated JSON。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policy 只能依當下允許的 observation 做選擇，不能偷看未來品質、future energy 或 result summary，也不能回傳契約外的 action。 policy guard 或 syntax 失敗：只修 marked block 的最小行；不要改 runner、schema 或 generated JSON。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這裡只需要讀懂變數名稱、等號和允許值。斜體顯示的變數是 policy 控制點；runner 會檢查 bounded range，實際 release line number 尚未凍結。 policy guard 或 syntax 失敗：只修 marked block 的最小行；不要改 runner、schema 或 generated JSON。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看一個 Boolean 條件時，先圈出它讀的是哪個 observation，再指出每個分支會回傳什麼 action。若 syntax 或名稱錯誤，修 marked block 的最小行，不碰 runner。 policy guard 或 syntax 失敗：只修 marked block 的最小行；不要改 runner、schema 或 generated JSON。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縮排決定條件屬於哪個分支，return 決定 runner 收到哪個 action。若錯誤指向 marked line，只修該行並重新做 policy guard；若指向非 marked 區域，保留錯誤走 recovery。 policy guard 或 syntax 失敗：只修 marked block 的最小行；不要改 runner、schema 或 generated JSON。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圖片 12">
            <a:extLst>
              <a:ext uri="{FF2B5EF4-FFF2-40B4-BE49-F238E27FC236}">
                <a16:creationId xmlns:a16="http://schemas.microsoft.com/office/drawing/2014/main" id="{805DCD4E-0403-46F3-858B-5BF02EA5CC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Line 12">
            <a:extLst>
              <a:ext uri="{FF2B5EF4-FFF2-40B4-BE49-F238E27FC236}">
                <a16:creationId xmlns:a16="http://schemas.microsoft.com/office/drawing/2014/main" id="{C41B0D54-DF44-4127-9A39-B15ADA472D5D}"/>
              </a:ext>
            </a:extLst>
          </p:cNvPr>
          <p:cNvSpPr>
            <a:spLocks noChangeShapeType="1"/>
          </p:cNvSpPr>
          <p:nvPr/>
        </p:nvSpPr>
        <p:spPr bwMode="auto">
          <a:xfrm>
            <a:off x="1001184" y="2312353"/>
            <a:ext cx="0" cy="76200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5" name="Line 13">
            <a:extLst>
              <a:ext uri="{FF2B5EF4-FFF2-40B4-BE49-F238E27FC236}">
                <a16:creationId xmlns:a16="http://schemas.microsoft.com/office/drawing/2014/main" id="{B2658828-45E5-4D11-9E76-B8625DD6F827}"/>
              </a:ext>
            </a:extLst>
          </p:cNvPr>
          <p:cNvSpPr>
            <a:spLocks noChangeShapeType="1"/>
          </p:cNvSpPr>
          <p:nvPr/>
        </p:nvSpPr>
        <p:spPr bwMode="auto">
          <a:xfrm>
            <a:off x="683685" y="2844165"/>
            <a:ext cx="10943167" cy="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149508" name="Rectangle 4"/>
          <p:cNvSpPr>
            <a:spLocks noGrp="1" noChangeArrowheads="1"/>
          </p:cNvSpPr>
          <p:nvPr>
            <p:ph type="ctrTitle"/>
          </p:nvPr>
        </p:nvSpPr>
        <p:spPr>
          <a:xfrm>
            <a:off x="1132417" y="1581209"/>
            <a:ext cx="10363200" cy="1143000"/>
          </a:xfrm>
        </p:spPr>
        <p:txBody>
          <a:bodyPr/>
          <a:lstStyle>
            <a:lvl1pPr>
              <a:defRPr sz="3200" b="0" baseline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r>
              <a:rPr lang="zh-TW" altLang="en-US"/>
              <a:t>按一下以編輯母片標題樣式</a:t>
            </a:r>
            <a:endParaRPr lang="de-DE"/>
          </a:p>
        </p:txBody>
      </p:sp>
      <p:sp>
        <p:nvSpPr>
          <p:cNvPr id="149509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1780117" y="2935777"/>
            <a:ext cx="8534400" cy="1438103"/>
          </a:xfrm>
        </p:spPr>
        <p:txBody>
          <a:bodyPr/>
          <a:lstStyle>
            <a:lvl1pPr marL="0" indent="0" algn="ctr">
              <a:buFont typeface="Symbol" pitchFamily="18" charset="2"/>
              <a:buNone/>
              <a:defRPr sz="28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r>
              <a:rPr lang="zh-TW" altLang="en-US"/>
              <a:t>按一下以編輯母片副標題樣式</a:t>
            </a:r>
            <a:endParaRPr lang="de-DE" dirty="0"/>
          </a:p>
        </p:txBody>
      </p:sp>
      <p:sp>
        <p:nvSpPr>
          <p:cNvPr id="10" name="Rectangle 28">
            <a:extLst>
              <a:ext uri="{FF2B5EF4-FFF2-40B4-BE49-F238E27FC236}">
                <a16:creationId xmlns:a16="http://schemas.microsoft.com/office/drawing/2014/main" id="{8B435778-36B6-470A-939D-7E55FA1407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34700" y="6340475"/>
            <a:ext cx="8890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kumimoji="0" sz="14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5pPr>
            <a:lvl6pPr marL="22860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6pPr>
            <a:lvl7pPr marL="27432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7pPr>
            <a:lvl8pPr marL="32004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8pPr>
            <a:lvl9pPr marL="36576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9pPr>
          </a:lstStyle>
          <a:p>
            <a:pPr>
              <a:defRPr/>
            </a:pPr>
            <a:fld id="{69B0E891-B98C-44D2-AD8F-C733BD4A6D71}" type="slidenum">
              <a:rPr lang="zh-TW" altLang="en-US" sz="1400" baseline="0" smtClean="0">
                <a:latin typeface="Times New Roman" panose="02020603050405020304" pitchFamily="18" charset="0"/>
                <a:ea typeface="標楷體" panose="03000509000000000000" pitchFamily="65" charset="-120"/>
              </a:rPr>
              <a:pPr>
                <a:defRPr/>
              </a:pPr>
              <a:t>‹#›</a:t>
            </a:fld>
            <a:endParaRPr lang="en-US" altLang="zh-TW" sz="1400" baseline="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7F80F928-0BFD-43F3-B309-F20FD4B2E04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6113509"/>
            <a:ext cx="12192000" cy="216208"/>
          </a:xfrm>
          <a:prstGeom prst="rect">
            <a:avLst/>
          </a:prstGeom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4DFD7906-056A-47BA-A5D9-39A4EA473B5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875182" y="0"/>
            <a:ext cx="2265448" cy="323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32835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8">
            <a:extLst>
              <a:ext uri="{FF2B5EF4-FFF2-40B4-BE49-F238E27FC236}">
                <a16:creationId xmlns:a16="http://schemas.microsoft.com/office/drawing/2014/main" id="{46B19FCD-9041-49CE-B2A7-94FA63606C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34700" y="6340475"/>
            <a:ext cx="8890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kumimoji="0" sz="14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5pPr>
            <a:lvl6pPr marL="22860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6pPr>
            <a:lvl7pPr marL="27432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7pPr>
            <a:lvl8pPr marL="32004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8pPr>
            <a:lvl9pPr marL="36576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9pPr>
          </a:lstStyle>
          <a:p>
            <a:pPr>
              <a:defRPr/>
            </a:pPr>
            <a:fld id="{69B0E891-B98C-44D2-AD8F-C733BD4A6D71}" type="slidenum">
              <a:rPr lang="zh-TW" altLang="en-US" sz="1400" baseline="0" smtClean="0">
                <a:latin typeface="Times New Roman" panose="02020603050405020304" pitchFamily="18" charset="0"/>
                <a:ea typeface="標楷體" panose="03000509000000000000" pitchFamily="65" charset="-120"/>
              </a:rPr>
              <a:pPr>
                <a:defRPr/>
              </a:pPr>
              <a:t>‹#›</a:t>
            </a:fld>
            <a:endParaRPr lang="en-US" altLang="zh-TW" sz="1400" baseline="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8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  <a:lvl2pPr>
              <a:defRPr sz="24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2pPr>
            <a:lvl3pPr>
              <a:defRPr sz="2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3pPr>
            <a:lvl4pPr>
              <a:defRPr sz="20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4pPr>
            <a:lvl5pPr>
              <a:defRPr sz="20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5pPr>
          </a:lstStyle>
          <a:p>
            <a:pPr lvl="0"/>
            <a:r>
              <a:rPr lang="zh-TW" altLang="en-US" dirty="0"/>
              <a:t>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CB7FDDD4-34FF-4C30-A3FA-0C9DE9C65A8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21662"/>
            <a:ext cx="12192000" cy="216208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7BBD6104-E76A-4DD4-96A1-B5DFE36EE11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210800" y="0"/>
            <a:ext cx="1981200" cy="283029"/>
          </a:xfrm>
          <a:prstGeom prst="rect">
            <a:avLst/>
          </a:prstGeom>
        </p:spPr>
      </p:pic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6537E7AB-D74C-4DDB-911A-5E4E55C8C56F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495728" y="6340475"/>
            <a:ext cx="10705672" cy="350555"/>
          </a:xfrm>
        </p:spPr>
        <p:txBody>
          <a:bodyPr/>
          <a:lstStyle>
            <a:lvl1pPr marL="0" indent="0">
              <a:buFontTx/>
              <a:buNone/>
              <a:defRPr sz="14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  <a:lvl2pPr>
              <a:defRPr sz="24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2pPr>
          </a:lstStyle>
          <a:p>
            <a:pPr lvl="0"/>
            <a:r>
              <a:rPr lang="zh-TW" altLang="en-US" dirty="0"/>
              <a:t>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37873401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565152" y="914400"/>
            <a:ext cx="5556249" cy="5191125"/>
          </a:xfrm>
        </p:spPr>
        <p:txBody>
          <a:bodyPr/>
          <a:lstStyle>
            <a:lvl1pPr>
              <a:defRPr sz="2800" baseline="0"/>
            </a:lvl1pPr>
            <a:lvl2pPr>
              <a:defRPr sz="2400" baseline="0"/>
            </a:lvl2pPr>
            <a:lvl3pPr>
              <a:defRPr sz="2000" baseline="0"/>
            </a:lvl3pPr>
            <a:lvl4pPr>
              <a:defRPr sz="1800" baseline="0"/>
            </a:lvl4pPr>
            <a:lvl5pPr>
              <a:defRPr sz="1800" baseline="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324601" y="914400"/>
            <a:ext cx="5558367" cy="5191125"/>
          </a:xfrm>
        </p:spPr>
        <p:txBody>
          <a:bodyPr/>
          <a:lstStyle>
            <a:lvl1pPr>
              <a:defRPr sz="2800" baseline="0"/>
            </a:lvl1pPr>
            <a:lvl2pPr>
              <a:defRPr sz="2400" baseline="0"/>
            </a:lvl2pPr>
            <a:lvl3pPr>
              <a:defRPr sz="2000" baseline="0"/>
            </a:lvl3pPr>
            <a:lvl4pPr>
              <a:defRPr sz="1800" baseline="0"/>
            </a:lvl4pPr>
            <a:lvl5pPr>
              <a:defRPr sz="1800" baseline="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Rectangle 28">
            <a:extLst>
              <a:ext uri="{FF2B5EF4-FFF2-40B4-BE49-F238E27FC236}">
                <a16:creationId xmlns:a16="http://schemas.microsoft.com/office/drawing/2014/main" id="{C777D388-01C3-486D-A87C-B924DC57D28F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 baseline="0"/>
            </a:lvl1pPr>
          </a:lstStyle>
          <a:p>
            <a:fld id="{45D5892C-9710-48A3-8372-2122A7AD32EA}" type="slidenum">
              <a:rPr lang="zh-TW" altLang="en-US" smtClean="0"/>
              <a:pPr/>
              <a:t>‹#›</a:t>
            </a:fld>
            <a:endParaRPr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4D893B48-16BE-E45D-6372-999419BFA52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73081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0" y="177801"/>
            <a:ext cx="10972800" cy="575732"/>
          </a:xfrm>
        </p:spPr>
        <p:txBody>
          <a:bodyPr/>
          <a:lstStyle>
            <a:lvl1pPr>
              <a:defRPr baseline="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 baseline="0"/>
            </a:lvl1pPr>
            <a:lvl2pPr>
              <a:defRPr sz="2000" baseline="0"/>
            </a:lvl2pPr>
            <a:lvl3pPr>
              <a:defRPr sz="1800" baseline="0"/>
            </a:lvl3pPr>
            <a:lvl4pPr>
              <a:defRPr sz="1600" baseline="0"/>
            </a:lvl4pPr>
            <a:lvl5pPr>
              <a:defRPr sz="1600" baseline="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 baseline="0"/>
            </a:lvl1pPr>
            <a:lvl2pPr>
              <a:defRPr sz="2000" baseline="0"/>
            </a:lvl2pPr>
            <a:lvl3pPr>
              <a:defRPr sz="1800" baseline="0"/>
            </a:lvl3pPr>
            <a:lvl4pPr>
              <a:defRPr sz="1600" baseline="0"/>
            </a:lvl4pPr>
            <a:lvl5pPr>
              <a:defRPr sz="1600" baseline="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Rectangle 28">
            <a:extLst>
              <a:ext uri="{FF2B5EF4-FFF2-40B4-BE49-F238E27FC236}">
                <a16:creationId xmlns:a16="http://schemas.microsoft.com/office/drawing/2014/main" id="{B243DEEE-11C0-45AB-B44D-DA0457D5804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 baseline="0"/>
            </a:lvl1pPr>
          </a:lstStyle>
          <a:p>
            <a:fld id="{45D5892C-9710-48A3-8372-2122A7AD32EA}" type="slidenum">
              <a:rPr lang="zh-TW" altLang="en-US" smtClean="0"/>
              <a:pPr/>
              <a:t>‹#›</a:t>
            </a:fld>
            <a:endParaRPr lang="zh-TW" altLang="en-US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B112EF57-5A2F-97E4-31F4-6B2593170BE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84284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50333" y="150813"/>
            <a:ext cx="11438467" cy="57150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Rectangle 28">
            <a:extLst>
              <a:ext uri="{FF2B5EF4-FFF2-40B4-BE49-F238E27FC236}">
                <a16:creationId xmlns:a16="http://schemas.microsoft.com/office/drawing/2014/main" id="{C39D7682-F964-461A-AAAE-372642E0A382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20D15BFF-517B-3F62-F57C-7D32F1722A2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40158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8">
            <a:extLst>
              <a:ext uri="{FF2B5EF4-FFF2-40B4-BE49-F238E27FC236}">
                <a16:creationId xmlns:a16="http://schemas.microsoft.com/office/drawing/2014/main" id="{F27029BD-E6AF-407F-ACA5-95E13AE34ACC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76503788-F803-DC83-ED63-88E8F575E8A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41512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599" y="228601"/>
            <a:ext cx="11356623" cy="505355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948267"/>
            <a:ext cx="7199488" cy="5177896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1" y="948268"/>
            <a:ext cx="4011084" cy="517789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Rectangle 28">
            <a:extLst>
              <a:ext uri="{FF2B5EF4-FFF2-40B4-BE49-F238E27FC236}">
                <a16:creationId xmlns:a16="http://schemas.microsoft.com/office/drawing/2014/main" id="{E618970D-DD05-4ECF-8733-3A668C35F980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50F9C425-8EE6-52EC-F828-4140E6EFA47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53242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94783" y="135466"/>
            <a:ext cx="11360151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939800"/>
            <a:ext cx="7315200" cy="378777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TW" altLang="en-US" noProof="0"/>
              <a:t>按一下圖示以新增圖片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028672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Rectangle 28">
            <a:extLst>
              <a:ext uri="{FF2B5EF4-FFF2-40B4-BE49-F238E27FC236}">
                <a16:creationId xmlns:a16="http://schemas.microsoft.com/office/drawing/2014/main" id="{C45A8477-25E2-4F3E-A2CA-70F6EA99A4A9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302888C7-1B6B-55CD-3260-A183B3AD7E3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73602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28">
            <a:extLst>
              <a:ext uri="{FF2B5EF4-FFF2-40B4-BE49-F238E27FC236}">
                <a16:creationId xmlns:a16="http://schemas.microsoft.com/office/drawing/2014/main" id="{A425C922-DC02-4EB7-87C5-86932890B28B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BE837BF0-9322-459D-EC50-1D7F6B46FE5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88488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9139063" y="931333"/>
            <a:ext cx="2842683" cy="5174192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550334" y="931333"/>
            <a:ext cx="8329084" cy="5174192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4" name="Rectangle 28">
            <a:extLst>
              <a:ext uri="{FF2B5EF4-FFF2-40B4-BE49-F238E27FC236}">
                <a16:creationId xmlns:a16="http://schemas.microsoft.com/office/drawing/2014/main" id="{42F45190-893E-4A4D-AC70-724C5AF4D211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5B2D1CF3-7FC4-BA66-E0BC-42D6639BC53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847334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theme" Target="../theme/theme1.xml"/><Relationship Id="rId12" Type="http://schemas.openxmlformats.org/officeDocument/2006/relationships/image" Target="../media/image1.png"/><Relationship Id="rId13" Type="http://schemas.openxmlformats.org/officeDocument/2006/relationships/image" Target="../media/image2.png"/><Relationship Id="rId1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A9ABF8AB-B0B8-4681-BD44-8CF5E845AA7F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26" name="Rectangle 4">
            <a:extLst>
              <a:ext uri="{FF2B5EF4-FFF2-40B4-BE49-F238E27FC236}">
                <a16:creationId xmlns:a16="http://schemas.microsoft.com/office/drawing/2014/main" id="{E37310E9-2521-4BB7-B15D-959B68467A8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65151" y="141288"/>
            <a:ext cx="11417300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endParaRPr lang="en-US" altLang="zh-TW" dirty="0"/>
          </a:p>
        </p:txBody>
      </p:sp>
      <p:sp>
        <p:nvSpPr>
          <p:cNvPr id="1027" name="Rectangle 5">
            <a:extLst>
              <a:ext uri="{FF2B5EF4-FFF2-40B4-BE49-F238E27FC236}">
                <a16:creationId xmlns:a16="http://schemas.microsoft.com/office/drawing/2014/main" id="{794864E5-9918-4FF7-9866-35661BF2624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65151" y="914400"/>
            <a:ext cx="11417300" cy="5191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 dirty="0" err="1"/>
              <a:t>Klicken</a:t>
            </a:r>
            <a:r>
              <a:rPr lang="en-US" altLang="zh-TW" dirty="0"/>
              <a:t> Sie, um die </a:t>
            </a:r>
            <a:r>
              <a:rPr lang="en-US" altLang="zh-TW" dirty="0" err="1"/>
              <a:t>Formate</a:t>
            </a:r>
            <a:r>
              <a:rPr lang="en-US" altLang="zh-TW" dirty="0"/>
              <a:t> des </a:t>
            </a:r>
            <a:r>
              <a:rPr lang="en-US" altLang="zh-TW" dirty="0" err="1"/>
              <a:t>Vorlagentextes</a:t>
            </a:r>
            <a:r>
              <a:rPr lang="en-US" altLang="zh-TW" dirty="0"/>
              <a:t> </a:t>
            </a:r>
            <a:r>
              <a:rPr lang="en-US" altLang="zh-TW" dirty="0" err="1"/>
              <a:t>zu</a:t>
            </a:r>
            <a:r>
              <a:rPr lang="en-US" altLang="zh-TW" dirty="0"/>
              <a:t> </a:t>
            </a:r>
            <a:r>
              <a:rPr lang="en-US" altLang="zh-TW" dirty="0" err="1"/>
              <a:t>bearbeiten</a:t>
            </a:r>
            <a:endParaRPr lang="en-US" altLang="zh-TW" dirty="0"/>
          </a:p>
          <a:p>
            <a:pPr lvl="1"/>
            <a:r>
              <a:rPr lang="en-US" altLang="zh-TW" dirty="0" err="1"/>
              <a:t>Zweite</a:t>
            </a:r>
            <a:r>
              <a:rPr lang="en-US" altLang="zh-TW" dirty="0"/>
              <a:t> </a:t>
            </a:r>
            <a:r>
              <a:rPr lang="en-US" altLang="zh-TW" dirty="0" err="1"/>
              <a:t>Ebene</a:t>
            </a:r>
            <a:endParaRPr lang="en-US" altLang="zh-TW" dirty="0"/>
          </a:p>
          <a:p>
            <a:pPr lvl="2"/>
            <a:r>
              <a:rPr lang="en-US" altLang="zh-TW" dirty="0" err="1"/>
              <a:t>Dritte</a:t>
            </a:r>
            <a:r>
              <a:rPr lang="en-US" altLang="zh-TW" dirty="0"/>
              <a:t> </a:t>
            </a:r>
            <a:r>
              <a:rPr lang="en-US" altLang="zh-TW" dirty="0" err="1"/>
              <a:t>Ebene</a:t>
            </a:r>
            <a:endParaRPr lang="en-US" altLang="zh-TW" dirty="0"/>
          </a:p>
          <a:p>
            <a:pPr lvl="3"/>
            <a:r>
              <a:rPr lang="en-US" altLang="zh-TW" dirty="0" err="1"/>
              <a:t>Vierte</a:t>
            </a:r>
            <a:r>
              <a:rPr lang="en-US" altLang="zh-TW" dirty="0"/>
              <a:t> </a:t>
            </a:r>
            <a:r>
              <a:rPr lang="en-US" altLang="zh-TW" dirty="0" err="1"/>
              <a:t>Ebene</a:t>
            </a:r>
            <a:endParaRPr lang="en-US" altLang="zh-TW" dirty="0"/>
          </a:p>
          <a:p>
            <a:pPr lvl="4"/>
            <a:r>
              <a:rPr lang="en-US" altLang="zh-TW" dirty="0" err="1"/>
              <a:t>Fünfte</a:t>
            </a:r>
            <a:r>
              <a:rPr lang="en-US" altLang="zh-TW" dirty="0"/>
              <a:t> </a:t>
            </a:r>
            <a:r>
              <a:rPr lang="en-US" altLang="zh-TW" dirty="0" err="1"/>
              <a:t>Ebene</a:t>
            </a:r>
            <a:endParaRPr lang="en-US" altLang="zh-TW" dirty="0"/>
          </a:p>
        </p:txBody>
      </p:sp>
      <p:sp>
        <p:nvSpPr>
          <p:cNvPr id="1028" name="Line 22">
            <a:extLst>
              <a:ext uri="{FF2B5EF4-FFF2-40B4-BE49-F238E27FC236}">
                <a16:creationId xmlns:a16="http://schemas.microsoft.com/office/drawing/2014/main" id="{AB7F6124-04C7-45E8-AA65-7F9F759D65F9}"/>
              </a:ext>
            </a:extLst>
          </p:cNvPr>
          <p:cNvSpPr>
            <a:spLocks noChangeShapeType="1"/>
          </p:cNvSpPr>
          <p:nvPr/>
        </p:nvSpPr>
        <p:spPr bwMode="auto">
          <a:xfrm>
            <a:off x="425451" y="252413"/>
            <a:ext cx="0" cy="69215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1029" name="Line 24">
            <a:extLst>
              <a:ext uri="{FF2B5EF4-FFF2-40B4-BE49-F238E27FC236}">
                <a16:creationId xmlns:a16="http://schemas.microsoft.com/office/drawing/2014/main" id="{C8074568-B491-4B67-9A93-41BE6E79B626}"/>
              </a:ext>
            </a:extLst>
          </p:cNvPr>
          <p:cNvSpPr>
            <a:spLocks noChangeShapeType="1"/>
          </p:cNvSpPr>
          <p:nvPr/>
        </p:nvSpPr>
        <p:spPr bwMode="auto">
          <a:xfrm>
            <a:off x="209551" y="784225"/>
            <a:ext cx="11772900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1030" name="Line 25">
            <a:extLst>
              <a:ext uri="{FF2B5EF4-FFF2-40B4-BE49-F238E27FC236}">
                <a16:creationId xmlns:a16="http://schemas.microsoft.com/office/drawing/2014/main" id="{311CE126-5E96-48EA-A8E4-423F29F2B71C}"/>
              </a:ext>
            </a:extLst>
          </p:cNvPr>
          <p:cNvSpPr>
            <a:spLocks noChangeShapeType="1"/>
          </p:cNvSpPr>
          <p:nvPr/>
        </p:nvSpPr>
        <p:spPr bwMode="auto">
          <a:xfrm>
            <a:off x="209551" y="6240463"/>
            <a:ext cx="11772900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148508" name="Rectangle 28">
            <a:extLst>
              <a:ext uri="{FF2B5EF4-FFF2-40B4-BE49-F238E27FC236}">
                <a16:creationId xmlns:a16="http://schemas.microsoft.com/office/drawing/2014/main" id="{87C75FDA-A8B1-4916-8A2B-A105EA9C4F4B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934700" y="6340475"/>
            <a:ext cx="8890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kumimoji="0" sz="14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fld id="{45D5892C-9710-48A3-8372-2122A7AD32EA}" type="slidenum">
              <a:rPr lang="zh-TW" altLang="en-US" smtClean="0"/>
              <a:pPr/>
              <a:t>‹#›</a:t>
            </a:fld>
            <a:endParaRPr lang="zh-TW" altLang="en-US"/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70913959-438C-19FB-F2F8-1592E452ADC8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  <p:pic>
        <p:nvPicPr>
          <p:cNvPr id="4" name="圖片 3">
            <a:extLst>
              <a:ext uri="{FF2B5EF4-FFF2-40B4-BE49-F238E27FC236}">
                <a16:creationId xmlns:a16="http://schemas.microsoft.com/office/drawing/2014/main" id="{D03BE1FC-A522-6621-C15D-29238ADFB2C5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10210800" y="0"/>
            <a:ext cx="1981200" cy="283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08897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2" r:id="rId3"/>
    <p:sldLayoutId id="2147483713" r:id="rId4"/>
    <p:sldLayoutId id="2147483714" r:id="rId5"/>
    <p:sldLayoutId id="2147483715" r:id="rId6"/>
    <p:sldLayoutId id="2147483716" r:id="rId7"/>
    <p:sldLayoutId id="2147483717" r:id="rId8"/>
    <p:sldLayoutId id="2147483718" r:id="rId9"/>
    <p:sldLayoutId id="2147483719" r:id="rId10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2800" b="1" baseline="0">
          <a:solidFill>
            <a:schemeClr val="tx1"/>
          </a:solidFill>
          <a:latin typeface="Times New Roman" panose="02020603050405020304" pitchFamily="18" charset="0"/>
          <a:ea typeface="標楷體" panose="03000509000000000000" pitchFamily="65" charset="-120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9pPr>
    </p:titleStyle>
    <p:bodyStyle>
      <a:lvl1pPr marL="285750" indent="-2857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24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  <a:cs typeface="+mn-cs"/>
        </a:defRPr>
      </a:lvl1pPr>
      <a:lvl2pPr marL="762000" indent="-2857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20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</a:defRPr>
      </a:lvl2pPr>
      <a:lvl3pPr marL="1238250" indent="-2857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24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</a:defRPr>
      </a:lvl3pPr>
      <a:lvl4pPr marL="16192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16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</a:defRPr>
      </a:lvl4pPr>
      <a:lvl5pPr marL="20002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16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</a:defRPr>
      </a:lvl5pPr>
      <a:lvl6pPr marL="24574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itchFamily="18" charset="2"/>
        <a:buChar char="·"/>
        <a:defRPr sz="1600">
          <a:solidFill>
            <a:srgbClr val="000000"/>
          </a:solidFill>
          <a:latin typeface="+mn-lt"/>
        </a:defRPr>
      </a:lvl6pPr>
      <a:lvl7pPr marL="29146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itchFamily="18" charset="2"/>
        <a:buChar char="·"/>
        <a:defRPr sz="1600">
          <a:solidFill>
            <a:srgbClr val="000000"/>
          </a:solidFill>
          <a:latin typeface="+mn-lt"/>
        </a:defRPr>
      </a:lvl7pPr>
      <a:lvl8pPr marL="33718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itchFamily="18" charset="2"/>
        <a:buChar char="·"/>
        <a:defRPr sz="1600">
          <a:solidFill>
            <a:srgbClr val="000000"/>
          </a:solidFill>
          <a:latin typeface="+mn-lt"/>
        </a:defRPr>
      </a:lvl8pPr>
      <a:lvl9pPr marL="38290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itchFamily="18" charset="2"/>
        <a:buChar char="·"/>
        <a:defRPr sz="1600">
          <a:solidFill>
            <a:srgbClr val="000000"/>
          </a:solidFill>
          <a:latin typeface="+mn-lt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9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4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5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6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1DD83AA-F47A-45B9-B139-7BEF20F9502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altLang="zh-TW" b="0" i="0" u="none" strike="noStrike" baseline="0" dirty="0">
                <a:latin typeface="Times-Roman"/>
              </a:rPr>
              <a:t>Energy-Efficiency-Based Joint Uplink Resources</a:t>
            </a:r>
            <a:r>
              <a:rPr lang="zh-TW" altLang="en-US" b="0" i="0" u="none" strike="noStrike" baseline="0" dirty="0">
                <a:latin typeface="Times-Roman"/>
              </a:rPr>
              <a:t> </a:t>
            </a:r>
            <a:r>
              <a:rPr lang="en-US" altLang="zh-TW" b="0" i="0" u="none" strike="noStrike" baseline="0" dirty="0">
                <a:latin typeface="Times-Roman"/>
              </a:rPr>
              <a:t>Allocation for LEO Satellite Beam-Hopping System</a:t>
            </a:r>
            <a:endParaRPr lang="zh-TW" altLang="en-US" dirty="0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46C66A00-D57B-4EA9-AA9B-8637032128C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TW" b="0" i="0" u="none" strike="noStrike" baseline="0" dirty="0">
                <a:latin typeface="Times-Roman"/>
              </a:rPr>
              <a:t>IEEE Internet of Things, </a:t>
            </a:r>
            <a:r>
              <a:rPr lang="en-US" altLang="zh-TW" i="0" u="none" strike="noStrike" baseline="0" dirty="0">
                <a:latin typeface="Times-Roman"/>
              </a:rPr>
              <a:t>2025</a:t>
            </a:r>
            <a:r>
              <a:rPr lang="en-US" altLang="zh-TW" b="0" i="0" u="none" strike="noStrike" baseline="0" dirty="0">
                <a:latin typeface="Times-Roman"/>
              </a:rPr>
              <a:t>.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3932752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上行 </a:t>
            </a:r>
            <a:r>
              <a:rPr lang="en-US" altLang="zh-TW" dirty="0"/>
              <a:t>LEO </a:t>
            </a:r>
            <a:r>
              <a:rPr lang="zh-TW" altLang="en-US" dirty="0"/>
              <a:t>衛星 </a:t>
            </a:r>
            <a:r>
              <a:rPr lang="en-US" altLang="zh-TW" dirty="0"/>
              <a:t>BH </a:t>
            </a:r>
            <a:r>
              <a:rPr lang="zh-TW" altLang="en-US" dirty="0"/>
              <a:t>系統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位於受照射波束內的終端將會受到同頻跨波束干擾。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-Roman"/>
              </a:rPr>
              <a:t>Songsong</a:t>
            </a:r>
            <a:r>
              <a:rPr lang="en-US" altLang="zh-TW" b="1" i="0" u="none" strike="noStrike" baseline="0" dirty="0">
                <a:latin typeface="Times-Roman"/>
              </a:rPr>
              <a:t> Cai</a:t>
            </a:r>
            <a:r>
              <a:rPr lang="zh-TW" altLang="en-US" b="1" i="0" u="none" strike="noStrike" baseline="0" dirty="0">
                <a:latin typeface="Times-Roman"/>
              </a:rPr>
              <a:t> </a:t>
            </a:r>
            <a:r>
              <a:rPr lang="en-US" altLang="zh-TW" b="0" i="0" u="none" strike="noStrike" baseline="0" dirty="0">
                <a:latin typeface="Times-Roman"/>
              </a:rPr>
              <a:t>et al. “Energy-Efficiency-Based Joint Uplink Resources</a:t>
            </a:r>
            <a:r>
              <a:rPr lang="zh-TW" altLang="en-US" b="0" i="0" u="none" strike="noStrike" baseline="0" dirty="0">
                <a:latin typeface="Times-Roman"/>
              </a:rPr>
              <a:t> </a:t>
            </a:r>
            <a:r>
              <a:rPr lang="en-US" altLang="zh-TW" b="0" i="0" u="none" strike="noStrike" baseline="0" dirty="0">
                <a:latin typeface="Times-Roman"/>
              </a:rPr>
              <a:t>Allocation for LEO Satellite Beam-Hopping System,” IEEE Internet of Things, </a:t>
            </a:r>
            <a:r>
              <a:rPr lang="en-US" altLang="zh-TW" i="0" u="none" strike="noStrike" baseline="0" dirty="0">
                <a:latin typeface="Times-Roman"/>
              </a:rPr>
              <a:t>2025</a:t>
            </a:r>
            <a:r>
              <a:rPr lang="en-US" altLang="zh-TW" b="0" i="0" u="none" strike="noStrike" baseline="0" dirty="0">
                <a:latin typeface="Times-Roman"/>
              </a:rPr>
              <a:t>.</a:t>
            </a:r>
            <a:endParaRPr lang="zh-TW" altLang="en-US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669816228"/>
      </p:ext>
    </p:extLst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5010912"/>
            <a:ext cx="0" cy="347472"/>
          </a:xfrm>
        </p:spPr>
        <p:txBody>
          <a:bodyPr wrap="square" lIns="73152" tIns="54864" rIns="73152" bIns="54864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C-120｜LoRaEnergySim × 智慧節能與物聯網應用</a:t>
            </a:r>
          </a:p>
        </p:txBody>
      </p:sp>
      <p:sp>
        <p:nvSpPr>
          <p:cNvPr id="4" name="Native title anchor"/>
          <p:cNvSpPr txBox="1"/>
          <p:nvPr/>
        </p:nvSpPr>
        <p:spPr>
          <a:xfrm>
            <a:off x="594360" y="201168"/>
            <a:ext cx="10561320" cy="621792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每一次 SEND、WAIT、SLEEP 都是能源決策</a:t>
            </a:r>
          </a:p>
        </p:txBody>
      </p:sp>
      <p:sp>
        <p:nvSpPr>
          <p:cNvPr id="5" name="Native title anchor"/>
          <p:cNvSpPr txBox="1"/>
          <p:nvPr/>
        </p:nvSpPr>
        <p:spPr>
          <a:xfrm>
            <a:off x="594360" y="201168"/>
            <a:ext cx="10561320" cy="621792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每一次 SEND、WAIT、SLEEP 都是能源決策</a:t>
            </a:r>
          </a:p>
        </p:txBody>
      </p:sp>
      <p:sp>
        <p:nvSpPr>
          <p:cNvPr id="6" name="Causal chain ribbon"/>
          <p:cNvSpPr txBox="1"/>
          <p:nvPr/>
        </p:nvSpPr>
        <p:spPr>
          <a:xfrm>
            <a:off x="841248" y="2423160"/>
            <a:ext cx="10469880" cy="475488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4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policy → state time → packet / service → endpoint energy</a:t>
            </a:r>
          </a:p>
        </p:txBody>
      </p:sp>
      <p:sp>
        <p:nvSpPr>
          <p:cNvPr id="7" name="Cover state SEND"/>
          <p:cNvSpPr/>
          <p:nvPr/>
        </p:nvSpPr>
        <p:spPr>
          <a:xfrm>
            <a:off x="914400" y="3218688"/>
            <a:ext cx="2468880" cy="914400"/>
          </a:xfrm>
          <a:prstGeom prst="roundRect">
            <a:avLst/>
          </a:prstGeom>
          <a:noFill/>
          <a:ln w="1524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over state label SEND"/>
          <p:cNvSpPr txBox="1"/>
          <p:nvPr/>
        </p:nvSpPr>
        <p:spPr>
          <a:xfrm>
            <a:off x="987552" y="3401568"/>
            <a:ext cx="2322576" cy="411480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3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SEND</a:t>
            </a:r>
          </a:p>
        </p:txBody>
      </p:sp>
      <p:cxnSp>
        <p:nvCxnSpPr>
          <p:cNvPr id="9" name="Cover causal arrow"/>
          <p:cNvCxnSpPr/>
          <p:nvPr/>
        </p:nvCxnSpPr>
        <p:spPr>
          <a:xfrm>
            <a:off x="3383280" y="3675887"/>
            <a:ext cx="219456" cy="0"/>
          </a:xfrm>
          <a:prstGeom prst="line">
            <a:avLst/>
          </a:prstGeom>
          <a:ln w="22860">
            <a:solidFill>
              <a:srgbClr val="8468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Cover state WAIT"/>
          <p:cNvSpPr/>
          <p:nvPr/>
        </p:nvSpPr>
        <p:spPr>
          <a:xfrm>
            <a:off x="3602736" y="3218688"/>
            <a:ext cx="2468880" cy="914400"/>
          </a:xfrm>
          <a:prstGeom prst="roundRect">
            <a:avLst/>
          </a:prstGeom>
          <a:noFill/>
          <a:ln w="1524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over state label WAIT"/>
          <p:cNvSpPr txBox="1"/>
          <p:nvPr/>
        </p:nvSpPr>
        <p:spPr>
          <a:xfrm>
            <a:off x="3675888" y="3401568"/>
            <a:ext cx="2322576" cy="411480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3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WAIT</a:t>
            </a:r>
          </a:p>
        </p:txBody>
      </p:sp>
      <p:cxnSp>
        <p:nvCxnSpPr>
          <p:cNvPr id="12" name="Cover causal arrow"/>
          <p:cNvCxnSpPr/>
          <p:nvPr/>
        </p:nvCxnSpPr>
        <p:spPr>
          <a:xfrm>
            <a:off x="6071616" y="3675887"/>
            <a:ext cx="219456" cy="0"/>
          </a:xfrm>
          <a:prstGeom prst="line">
            <a:avLst/>
          </a:prstGeom>
          <a:ln w="22860">
            <a:solidFill>
              <a:srgbClr val="8468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Cover state SLEEP"/>
          <p:cNvSpPr/>
          <p:nvPr/>
        </p:nvSpPr>
        <p:spPr>
          <a:xfrm>
            <a:off x="6291072" y="3218688"/>
            <a:ext cx="2468880" cy="914400"/>
          </a:xfrm>
          <a:prstGeom prst="roundRect">
            <a:avLst/>
          </a:prstGeom>
          <a:noFill/>
          <a:ln w="1524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over state label SLEEP"/>
          <p:cNvSpPr txBox="1"/>
          <p:nvPr/>
        </p:nvSpPr>
        <p:spPr>
          <a:xfrm>
            <a:off x="6364224" y="3401568"/>
            <a:ext cx="2322576" cy="411480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3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SLEEP</a:t>
            </a:r>
          </a:p>
        </p:txBody>
      </p:sp>
      <p:cxnSp>
        <p:nvCxnSpPr>
          <p:cNvPr id="15" name="Cover causal arrow"/>
          <p:cNvCxnSpPr/>
          <p:nvPr/>
        </p:nvCxnSpPr>
        <p:spPr>
          <a:xfrm>
            <a:off x="8759952" y="3675887"/>
            <a:ext cx="219456" cy="0"/>
          </a:xfrm>
          <a:prstGeom prst="line">
            <a:avLst/>
          </a:prstGeom>
          <a:ln w="22860">
            <a:solidFill>
              <a:srgbClr val="8468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Cover state SERVICE / J"/>
          <p:cNvSpPr/>
          <p:nvPr/>
        </p:nvSpPr>
        <p:spPr>
          <a:xfrm>
            <a:off x="8979408" y="3218688"/>
            <a:ext cx="2468880" cy="914400"/>
          </a:xfrm>
          <a:prstGeom prst="roundRect">
            <a:avLst/>
          </a:prstGeom>
          <a:noFill/>
          <a:ln w="1524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over state label SERVICE / J"/>
          <p:cNvSpPr txBox="1"/>
          <p:nvPr/>
        </p:nvSpPr>
        <p:spPr>
          <a:xfrm>
            <a:off x="9052560" y="3401568"/>
            <a:ext cx="2322576" cy="411480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3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SERVICE / J</a:t>
            </a:r>
          </a:p>
        </p:txBody>
      </p:sp>
      <p:sp>
        <p:nvSpPr>
          <p:cNvPr id="18" name="Simulation boundary"/>
          <p:cNvSpPr txBox="1"/>
          <p:nvPr/>
        </p:nvSpPr>
        <p:spPr>
          <a:xfrm>
            <a:off x="2743200" y="4370832"/>
            <a:ext cx="6720840" cy="438912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SIMULATED TEACHING DATA｜先追機制，再讀證據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27432" tIns="9144" rIns="27432" bIns="9144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節能是一條可檢驗的因果鏈</a:t>
            </a:r>
          </a:p>
        </p:txBody>
      </p:sp>
      <p:sp>
        <p:nvSpPr>
          <p:cNvPr id="3" name="Flow stage 1"/>
          <p:cNvSpPr/>
          <p:nvPr/>
        </p:nvSpPr>
        <p:spPr>
          <a:xfrm>
            <a:off x="676656" y="2011680"/>
            <a:ext cx="1664208" cy="1024128"/>
          </a:xfrm>
          <a:prstGeom prst="roundRect">
            <a:avLst/>
          </a:prstGeom>
          <a:noFill/>
          <a:ln w="1524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low stage label 1"/>
          <p:cNvSpPr txBox="1"/>
          <p:nvPr/>
        </p:nvSpPr>
        <p:spPr>
          <a:xfrm>
            <a:off x="740664" y="2203704"/>
            <a:ext cx="1536192" cy="512064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observation</a:t>
            </a:r>
          </a:p>
        </p:txBody>
      </p:sp>
      <p:cxnSp>
        <p:nvCxnSpPr>
          <p:cNvPr id="5" name="Flow arrow"/>
          <p:cNvCxnSpPr/>
          <p:nvPr/>
        </p:nvCxnSpPr>
        <p:spPr>
          <a:xfrm>
            <a:off x="2340864" y="2523744"/>
            <a:ext cx="237744" cy="0"/>
          </a:xfrm>
          <a:prstGeom prst="line">
            <a:avLst/>
          </a:prstGeom>
          <a:ln w="20320">
            <a:solidFill>
              <a:srgbClr val="8468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low stage 2"/>
          <p:cNvSpPr/>
          <p:nvPr/>
        </p:nvSpPr>
        <p:spPr>
          <a:xfrm>
            <a:off x="2578608" y="2011680"/>
            <a:ext cx="1664208" cy="1024128"/>
          </a:xfrm>
          <a:prstGeom prst="roundRect">
            <a:avLst/>
          </a:prstGeom>
          <a:noFill/>
          <a:ln w="1524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low stage label 2"/>
          <p:cNvSpPr txBox="1"/>
          <p:nvPr/>
        </p:nvSpPr>
        <p:spPr>
          <a:xfrm>
            <a:off x="2642616" y="2203704"/>
            <a:ext cx="1536192" cy="512064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policy</a:t>
            </a:r>
          </a:p>
        </p:txBody>
      </p:sp>
      <p:cxnSp>
        <p:nvCxnSpPr>
          <p:cNvPr id="8" name="Flow arrow"/>
          <p:cNvCxnSpPr/>
          <p:nvPr/>
        </p:nvCxnSpPr>
        <p:spPr>
          <a:xfrm>
            <a:off x="4242816" y="2523744"/>
            <a:ext cx="237744" cy="0"/>
          </a:xfrm>
          <a:prstGeom prst="line">
            <a:avLst/>
          </a:prstGeom>
          <a:ln w="20320">
            <a:solidFill>
              <a:srgbClr val="8468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Flow stage 3"/>
          <p:cNvSpPr/>
          <p:nvPr/>
        </p:nvSpPr>
        <p:spPr>
          <a:xfrm>
            <a:off x="4480560" y="2011680"/>
            <a:ext cx="1664208" cy="1024128"/>
          </a:xfrm>
          <a:prstGeom prst="roundRect">
            <a:avLst/>
          </a:prstGeom>
          <a:noFill/>
          <a:ln w="1524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Flow stage label 3"/>
          <p:cNvSpPr txBox="1"/>
          <p:nvPr/>
        </p:nvSpPr>
        <p:spPr>
          <a:xfrm>
            <a:off x="4544568" y="2203704"/>
            <a:ext cx="1536192" cy="512064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action</a:t>
            </a:r>
          </a:p>
        </p:txBody>
      </p:sp>
      <p:cxnSp>
        <p:nvCxnSpPr>
          <p:cNvPr id="11" name="Flow arrow"/>
          <p:cNvCxnSpPr/>
          <p:nvPr/>
        </p:nvCxnSpPr>
        <p:spPr>
          <a:xfrm>
            <a:off x="6144768" y="2523744"/>
            <a:ext cx="237744" cy="0"/>
          </a:xfrm>
          <a:prstGeom prst="line">
            <a:avLst/>
          </a:prstGeom>
          <a:ln w="20320">
            <a:solidFill>
              <a:srgbClr val="8468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Flow stage 4"/>
          <p:cNvSpPr/>
          <p:nvPr/>
        </p:nvSpPr>
        <p:spPr>
          <a:xfrm>
            <a:off x="6382512" y="2011680"/>
            <a:ext cx="1664208" cy="1024128"/>
          </a:xfrm>
          <a:prstGeom prst="roundRect">
            <a:avLst/>
          </a:prstGeom>
          <a:noFill/>
          <a:ln w="1524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low stage label 4"/>
          <p:cNvSpPr txBox="1"/>
          <p:nvPr/>
        </p:nvSpPr>
        <p:spPr>
          <a:xfrm>
            <a:off x="6446520" y="2203704"/>
            <a:ext cx="1536192" cy="512064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state / packet</a:t>
            </a:r>
          </a:p>
        </p:txBody>
      </p:sp>
      <p:cxnSp>
        <p:nvCxnSpPr>
          <p:cNvPr id="14" name="Flow arrow"/>
          <p:cNvCxnSpPr/>
          <p:nvPr/>
        </p:nvCxnSpPr>
        <p:spPr>
          <a:xfrm>
            <a:off x="8046720" y="2523744"/>
            <a:ext cx="237744" cy="0"/>
          </a:xfrm>
          <a:prstGeom prst="line">
            <a:avLst/>
          </a:prstGeom>
          <a:ln w="20320">
            <a:solidFill>
              <a:srgbClr val="8468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low stage 5"/>
          <p:cNvSpPr/>
          <p:nvPr/>
        </p:nvSpPr>
        <p:spPr>
          <a:xfrm>
            <a:off x="8284464" y="2011680"/>
            <a:ext cx="1664208" cy="1024128"/>
          </a:xfrm>
          <a:prstGeom prst="roundRect">
            <a:avLst/>
          </a:prstGeom>
          <a:noFill/>
          <a:ln w="1524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low stage label 5"/>
          <p:cNvSpPr txBox="1"/>
          <p:nvPr/>
        </p:nvSpPr>
        <p:spPr>
          <a:xfrm>
            <a:off x="8348472" y="2203704"/>
            <a:ext cx="1536192" cy="512064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service</a:t>
            </a:r>
          </a:p>
        </p:txBody>
      </p:sp>
      <p:cxnSp>
        <p:nvCxnSpPr>
          <p:cNvPr id="17" name="Flow arrow"/>
          <p:cNvCxnSpPr/>
          <p:nvPr/>
        </p:nvCxnSpPr>
        <p:spPr>
          <a:xfrm>
            <a:off x="9948672" y="2523744"/>
            <a:ext cx="237744" cy="0"/>
          </a:xfrm>
          <a:prstGeom prst="line">
            <a:avLst/>
          </a:prstGeom>
          <a:ln w="20320">
            <a:solidFill>
              <a:srgbClr val="8468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low stage 6"/>
          <p:cNvSpPr/>
          <p:nvPr/>
        </p:nvSpPr>
        <p:spPr>
          <a:xfrm>
            <a:off x="10186416" y="2011680"/>
            <a:ext cx="1664208" cy="1024128"/>
          </a:xfrm>
          <a:prstGeom prst="roundRect">
            <a:avLst/>
          </a:prstGeom>
          <a:noFill/>
          <a:ln w="1524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low stage label 6"/>
          <p:cNvSpPr txBox="1"/>
          <p:nvPr/>
        </p:nvSpPr>
        <p:spPr>
          <a:xfrm>
            <a:off x="10250424" y="2203704"/>
            <a:ext cx="1536192" cy="512064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J</a:t>
            </a:r>
          </a:p>
        </p:txBody>
      </p:sp>
      <p:sp>
        <p:nvSpPr>
          <p:cNvPr id="20" name="Flow interpretation"/>
          <p:cNvSpPr txBox="1"/>
          <p:nvPr/>
        </p:nvSpPr>
        <p:spPr>
          <a:xfrm>
            <a:off x="914400" y="3502152"/>
            <a:ext cx="10287000" cy="713232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每一段都要能回到 result / replay；沒有 state、packet、service 或 energy 差異，就不能稱為節能證據。</a:t>
            </a:r>
          </a:p>
        </p:txBody>
      </p:sp>
      <p:sp>
        <p:nvSpPr>
          <p:cNvPr id="21" name="Flow rule"/>
          <p:cNvSpPr txBox="1"/>
          <p:nvPr/>
        </p:nvSpPr>
        <p:spPr>
          <a:xfrm>
            <a:off x="1645920" y="4315968"/>
            <a:ext cx="8915400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觀察先於選擇｜服務先於 J</a:t>
            </a:r>
          </a:p>
        </p:txBody>
      </p:sp>
      <p:sp>
        <p:nvSpPr>
          <p:cNvPr id="22" name="Evidence status tag"/>
          <p:cNvSpPr txBox="1"/>
          <p:nvPr/>
        </p:nvSpPr>
        <p:spPr>
          <a:xfrm>
            <a:off x="7315200" y="5230368"/>
            <a:ext cx="4224528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27432" tIns="9144" rIns="27432" bIns="9144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LoRaEnergySim 為什麼直接服務智慧節能與 IoT</a:t>
            </a:r>
          </a:p>
        </p:txBody>
      </p:sp>
      <p:sp>
        <p:nvSpPr>
          <p:cNvPr id="3" name="Scope card STATE"/>
          <p:cNvSpPr/>
          <p:nvPr/>
        </p:nvSpPr>
        <p:spPr>
          <a:xfrm>
            <a:off x="749808" y="1444752"/>
            <a:ext cx="3401568" cy="3017520"/>
          </a:xfrm>
          <a:prstGeom prst="roundRect">
            <a:avLst/>
          </a:prstGeom>
          <a:noFill/>
          <a:ln w="1524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cope marker STATE"/>
          <p:cNvSpPr/>
          <p:nvPr/>
        </p:nvSpPr>
        <p:spPr>
          <a:xfrm>
            <a:off x="2103120" y="1700784"/>
            <a:ext cx="658368" cy="658368"/>
          </a:xfrm>
          <a:prstGeom prst="ellipse">
            <a:avLst/>
          </a:prstGeom>
          <a:solidFill>
            <a:srgbClr val="6F89F7"/>
          </a:solidFill>
          <a:ln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Scope heading STATE"/>
          <p:cNvSpPr txBox="1"/>
          <p:nvPr/>
        </p:nvSpPr>
        <p:spPr>
          <a:xfrm>
            <a:off x="1005840" y="2523744"/>
            <a:ext cx="2889504" cy="411480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4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STATE</a:t>
            </a:r>
          </a:p>
        </p:txBody>
      </p:sp>
      <p:sp>
        <p:nvSpPr>
          <p:cNvPr id="6" name="Scope body STATE"/>
          <p:cNvSpPr txBox="1"/>
          <p:nvPr/>
        </p:nvSpPr>
        <p:spPr>
          <a:xfrm>
            <a:off x="1005840" y="3090672"/>
            <a:ext cx="2889504" cy="841248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sleep / processing / TX / RX</a:t>
            </a:r>
          </a:p>
        </p:txBody>
      </p:sp>
      <p:sp>
        <p:nvSpPr>
          <p:cNvPr id="7" name="Scope card PACKET"/>
          <p:cNvSpPr/>
          <p:nvPr/>
        </p:nvSpPr>
        <p:spPr>
          <a:xfrm>
            <a:off x="4562856" y="1444752"/>
            <a:ext cx="3401568" cy="3017520"/>
          </a:xfrm>
          <a:prstGeom prst="roundRect">
            <a:avLst/>
          </a:prstGeom>
          <a:noFill/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Scope marker PACKET"/>
          <p:cNvSpPr/>
          <p:nvPr/>
        </p:nvSpPr>
        <p:spPr>
          <a:xfrm>
            <a:off x="5916168" y="1700784"/>
            <a:ext cx="658368" cy="658368"/>
          </a:xfrm>
          <a:prstGeom prst="ellipse">
            <a:avLst/>
          </a:prstGeom>
          <a:solidFill>
            <a:srgbClr val="846826"/>
          </a:solidFill>
          <a:ln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Scope heading PACKET"/>
          <p:cNvSpPr txBox="1"/>
          <p:nvPr/>
        </p:nvSpPr>
        <p:spPr>
          <a:xfrm>
            <a:off x="4818888" y="2523744"/>
            <a:ext cx="2889504" cy="411480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4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PACKET</a:t>
            </a:r>
          </a:p>
        </p:txBody>
      </p:sp>
      <p:sp>
        <p:nvSpPr>
          <p:cNvPr id="10" name="Scope body PACKET"/>
          <p:cNvSpPr txBox="1"/>
          <p:nvPr/>
        </p:nvSpPr>
        <p:spPr>
          <a:xfrm>
            <a:off x="4818888" y="3090672"/>
            <a:ext cx="2889504" cy="841248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collision / retry / delivered</a:t>
            </a:r>
          </a:p>
        </p:txBody>
      </p:sp>
      <p:sp>
        <p:nvSpPr>
          <p:cNvPr id="11" name="Scope card ENERGY"/>
          <p:cNvSpPr/>
          <p:nvPr/>
        </p:nvSpPr>
        <p:spPr>
          <a:xfrm>
            <a:off x="8375904" y="1444752"/>
            <a:ext cx="3401568" cy="3017520"/>
          </a:xfrm>
          <a:prstGeom prst="roundRect">
            <a:avLst/>
          </a:prstGeom>
          <a:noFill/>
          <a:ln w="1524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Scope marker ENERGY"/>
          <p:cNvSpPr/>
          <p:nvPr/>
        </p:nvSpPr>
        <p:spPr>
          <a:xfrm>
            <a:off x="9729216" y="1700784"/>
            <a:ext cx="658368" cy="658368"/>
          </a:xfrm>
          <a:prstGeom prst="ellipse">
            <a:avLst/>
          </a:prstGeom>
          <a:solidFill>
            <a:srgbClr val="35377F"/>
          </a:solidFill>
          <a:ln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Scope heading ENERGY"/>
          <p:cNvSpPr txBox="1"/>
          <p:nvPr/>
        </p:nvSpPr>
        <p:spPr>
          <a:xfrm>
            <a:off x="8631936" y="2523744"/>
            <a:ext cx="2889504" cy="411480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4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ENERGY</a:t>
            </a:r>
          </a:p>
        </p:txBody>
      </p:sp>
      <p:sp>
        <p:nvSpPr>
          <p:cNvPr id="14" name="Scope body ENERGY"/>
          <p:cNvSpPr txBox="1"/>
          <p:nvPr/>
        </p:nvSpPr>
        <p:spPr>
          <a:xfrm>
            <a:off x="8631936" y="3090672"/>
            <a:ext cx="2889504" cy="841248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state time → </a:t>
            </a:r>
            <a:r>
              <a:rPr sz="20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endpoint J</a:t>
            </a:r>
          </a:p>
        </p:txBody>
      </p:sp>
      <p:sp>
        <p:nvSpPr>
          <p:cNvPr id="15" name="Scope takeaway"/>
          <p:cNvSpPr txBox="1"/>
          <p:nvPr/>
        </p:nvSpPr>
        <p:spPr>
          <a:xfrm>
            <a:off x="1024128" y="4599432"/>
            <a:ext cx="10149840" cy="347472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一個 action 會讓哪一層改變？先說機制，再看結果。</a:t>
            </a:r>
          </a:p>
        </p:txBody>
      </p:sp>
      <p:sp>
        <p:nvSpPr>
          <p:cNvPr id="16" name="Evidence status tag"/>
          <p:cNvSpPr txBox="1"/>
          <p:nvPr/>
        </p:nvSpPr>
        <p:spPr>
          <a:xfrm>
            <a:off x="7315200" y="5230368"/>
            <a:ext cx="4224528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27432" tIns="9144" rIns="27432" bIns="9144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LEO 只提供會改變的服務窗口</a:t>
            </a:r>
          </a:p>
        </p:txBody>
      </p:sp>
      <p:sp>
        <p:nvSpPr>
          <p:cNvPr id="3" name="LEO scope tag"/>
          <p:cNvSpPr txBox="1"/>
          <p:nvPr/>
        </p:nvSpPr>
        <p:spPr>
          <a:xfrm>
            <a:off x="868680" y="1353312"/>
            <a:ext cx="10378440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LEO = changing service window；本頁只示範窗口機制</a:t>
            </a:r>
          </a:p>
        </p:txBody>
      </p:sp>
      <p:cxnSp>
        <p:nvCxnSpPr>
          <p:cNvPr id="4" name="Service window axis"/>
          <p:cNvCxnSpPr/>
          <p:nvPr/>
        </p:nvCxnSpPr>
        <p:spPr>
          <a:xfrm>
            <a:off x="1051560" y="2788920"/>
            <a:ext cx="9966960" cy="0"/>
          </a:xfrm>
          <a:prstGeom prst="line">
            <a:avLst/>
          </a:prstGeom>
          <a:ln w="2667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Window point 機會出現"/>
          <p:cNvSpPr/>
          <p:nvPr/>
        </p:nvSpPr>
        <p:spPr>
          <a:xfrm>
            <a:off x="1170432" y="2532888"/>
            <a:ext cx="512064" cy="512064"/>
          </a:xfrm>
          <a:prstGeom prst="ellipse">
            <a:avLst/>
          </a:prstGeom>
          <a:solidFill>
            <a:srgbClr val="6F89F7"/>
          </a:solidFill>
          <a:ln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Window label 機會出現"/>
          <p:cNvSpPr txBox="1"/>
          <p:nvPr/>
        </p:nvSpPr>
        <p:spPr>
          <a:xfrm>
            <a:off x="667512" y="3218688"/>
            <a:ext cx="1600200" cy="475488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機會出現</a:t>
            </a:r>
          </a:p>
        </p:txBody>
      </p:sp>
      <p:sp>
        <p:nvSpPr>
          <p:cNvPr id="7" name="Window point policy 選擇"/>
          <p:cNvSpPr/>
          <p:nvPr/>
        </p:nvSpPr>
        <p:spPr>
          <a:xfrm>
            <a:off x="3913632" y="2532888"/>
            <a:ext cx="512064" cy="512064"/>
          </a:xfrm>
          <a:prstGeom prst="ellipse">
            <a:avLst/>
          </a:prstGeom>
          <a:solidFill>
            <a:srgbClr val="846826"/>
          </a:solidFill>
          <a:ln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Window label policy 選擇"/>
          <p:cNvSpPr txBox="1"/>
          <p:nvPr/>
        </p:nvSpPr>
        <p:spPr>
          <a:xfrm>
            <a:off x="3410712" y="3218688"/>
            <a:ext cx="1600200" cy="475488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policy 選擇</a:t>
            </a:r>
          </a:p>
        </p:txBody>
      </p:sp>
      <p:sp>
        <p:nvSpPr>
          <p:cNvPr id="9" name="Window point 送 / 等"/>
          <p:cNvSpPr/>
          <p:nvPr/>
        </p:nvSpPr>
        <p:spPr>
          <a:xfrm>
            <a:off x="6720840" y="2532888"/>
            <a:ext cx="512064" cy="512064"/>
          </a:xfrm>
          <a:prstGeom prst="ellipse">
            <a:avLst/>
          </a:prstGeom>
          <a:solidFill>
            <a:srgbClr val="6F89F7"/>
          </a:solidFill>
          <a:ln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Window label 送 / 等"/>
          <p:cNvSpPr txBox="1"/>
          <p:nvPr/>
        </p:nvSpPr>
        <p:spPr>
          <a:xfrm>
            <a:off x="6217920" y="3218688"/>
            <a:ext cx="1600200" cy="475488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送 / 等</a:t>
            </a:r>
          </a:p>
        </p:txBody>
      </p:sp>
      <p:sp>
        <p:nvSpPr>
          <p:cNvPr id="11" name="Window point service / energy"/>
          <p:cNvSpPr/>
          <p:nvPr/>
        </p:nvSpPr>
        <p:spPr>
          <a:xfrm>
            <a:off x="9326880" y="2532888"/>
            <a:ext cx="512064" cy="512064"/>
          </a:xfrm>
          <a:prstGeom prst="ellipse">
            <a:avLst/>
          </a:prstGeom>
          <a:solidFill>
            <a:srgbClr val="35377F"/>
          </a:solidFill>
          <a:ln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Window label service / energy"/>
          <p:cNvSpPr txBox="1"/>
          <p:nvPr/>
        </p:nvSpPr>
        <p:spPr>
          <a:xfrm>
            <a:off x="8823959" y="3218688"/>
            <a:ext cx="1600200" cy="475488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service / energy</a:t>
            </a:r>
          </a:p>
        </p:txBody>
      </p:sp>
      <p:sp>
        <p:nvSpPr>
          <p:cNvPr id="13" name="Window band"/>
          <p:cNvSpPr/>
          <p:nvPr/>
        </p:nvSpPr>
        <p:spPr>
          <a:xfrm>
            <a:off x="1051560" y="4078224"/>
            <a:ext cx="9921240" cy="621792"/>
          </a:xfrm>
          <a:prstGeom prst="roundRect">
            <a:avLst/>
          </a:prstGeom>
          <a:noFill/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Window explanation"/>
          <p:cNvSpPr txBox="1"/>
          <p:nvPr/>
        </p:nvSpPr>
        <p:spPr>
          <a:xfrm>
            <a:off x="1234440" y="4187952"/>
            <a:ext cx="955548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窗口長短改變機會；機會改變 policy；policy 改變 service / </a:t>
            </a:r>
            <a:r>
              <a:rPr sz="2000" b="0" i="1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endpoint J</a:t>
            </a:r>
          </a:p>
        </p:txBody>
      </p:sp>
      <p:sp>
        <p:nvSpPr>
          <p:cNvPr id="15" name="Evidence status tag"/>
          <p:cNvSpPr txBox="1"/>
          <p:nvPr/>
        </p:nvSpPr>
        <p:spPr>
          <a:xfrm>
            <a:off x="7315200" y="5230368"/>
            <a:ext cx="4224528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27432" tIns="9144" rIns="27432" bIns="9144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兩層 evidence 不能互相冒充</a:t>
            </a:r>
          </a:p>
        </p:txBody>
      </p:sp>
      <p:sp>
        <p:nvSpPr>
          <p:cNvPr id="3" name="Evidence layer 1"/>
          <p:cNvSpPr/>
          <p:nvPr/>
        </p:nvSpPr>
        <p:spPr>
          <a:xfrm>
            <a:off x="768096" y="1481328"/>
            <a:ext cx="5074920" cy="3218688"/>
          </a:xfrm>
          <a:prstGeom prst="roundRect">
            <a:avLst/>
          </a:prstGeom>
          <a:noFill/>
          <a:ln w="1524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Layer heading 1"/>
          <p:cNvSpPr txBox="1"/>
          <p:nvPr/>
        </p:nvSpPr>
        <p:spPr>
          <a:xfrm>
            <a:off x="969264" y="1682496"/>
            <a:ext cx="4663440" cy="438912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3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ENDPOINT LAYER</a:t>
            </a:r>
          </a:p>
        </p:txBody>
      </p:sp>
      <p:sp>
        <p:nvSpPr>
          <p:cNvPr id="5" name="Layer body 1"/>
          <p:cNvSpPr txBox="1"/>
          <p:nvPr/>
        </p:nvSpPr>
        <p:spPr>
          <a:xfrm>
            <a:off x="1088136" y="2340864"/>
            <a:ext cx="4425696" cy="1572768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queue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packet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state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endpoint J</a:t>
            </a:r>
          </a:p>
        </p:txBody>
      </p:sp>
      <p:sp>
        <p:nvSpPr>
          <p:cNvPr id="6" name="Evidence layer 2"/>
          <p:cNvSpPr/>
          <p:nvPr/>
        </p:nvSpPr>
        <p:spPr>
          <a:xfrm>
            <a:off x="6300216" y="1481328"/>
            <a:ext cx="5074920" cy="3218688"/>
          </a:xfrm>
          <a:prstGeom prst="roundRect">
            <a:avLst/>
          </a:prstGeom>
          <a:noFill/>
          <a:ln w="1524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Layer heading 2"/>
          <p:cNvSpPr txBox="1"/>
          <p:nvPr/>
        </p:nvSpPr>
        <p:spPr>
          <a:xfrm>
            <a:off x="6501383" y="1682496"/>
            <a:ext cx="4663440" cy="438912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3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SYSTEM LAYER</a:t>
            </a:r>
          </a:p>
        </p:txBody>
      </p:sp>
      <p:sp>
        <p:nvSpPr>
          <p:cNvPr id="8" name="Layer body 2"/>
          <p:cNvSpPr txBox="1"/>
          <p:nvPr/>
        </p:nvSpPr>
        <p:spPr>
          <a:xfrm>
            <a:off x="6620255" y="2340864"/>
            <a:ext cx="4425696" cy="1572768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既有 C-120 authority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canonical fields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不可互寫</a:t>
            </a:r>
          </a:p>
        </p:txBody>
      </p:sp>
      <p:cxnSp>
        <p:nvCxnSpPr>
          <p:cNvPr id="9" name="Layer boundary"/>
          <p:cNvCxnSpPr/>
          <p:nvPr/>
        </p:nvCxnSpPr>
        <p:spPr>
          <a:xfrm>
            <a:off x="6099048" y="1901952"/>
            <a:ext cx="0" cy="2414016"/>
          </a:xfrm>
          <a:prstGeom prst="line">
            <a:avLst/>
          </a:prstGeom>
          <a:ln w="25400">
            <a:solidFill>
              <a:srgbClr val="8468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ayer rule"/>
          <p:cNvSpPr txBox="1"/>
          <p:nvPr/>
        </p:nvSpPr>
        <p:spPr>
          <a:xfrm>
            <a:off x="1170432" y="4864608"/>
            <a:ext cx="9875520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共享 scenario / clock / workbook，不共享語義與 energy boundary</a:t>
            </a:r>
          </a:p>
        </p:txBody>
      </p:sp>
      <p:sp>
        <p:nvSpPr>
          <p:cNvPr id="11" name="Evidence status tag"/>
          <p:cNvSpPr txBox="1"/>
          <p:nvPr/>
        </p:nvSpPr>
        <p:spPr>
          <a:xfrm>
            <a:off x="7315200" y="5230368"/>
            <a:ext cx="4224528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 txBox="1"/>
          <p:nvPr/>
        </p:nvSpPr>
        <p:spPr>
          <a:xfrm>
            <a:off x="594360" y="201168"/>
            <a:ext cx="10561320" cy="621792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從預測走到可反駁的結果</a:t>
            </a:r>
          </a:p>
        </p:txBody>
      </p:sp>
      <p:sp>
        <p:nvSpPr>
          <p:cNvPr id="3" name="Native title anchor"/>
          <p:cNvSpPr txBox="1"/>
          <p:nvPr/>
        </p:nvSpPr>
        <p:spPr>
          <a:xfrm>
            <a:off x="594360" y="201168"/>
            <a:ext cx="10561320" cy="621792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從預測走到可反駁的結果</a:t>
            </a:r>
          </a:p>
        </p:txBody>
      </p:sp>
      <p:sp>
        <p:nvSpPr>
          <p:cNvPr id="4" name="Loop node predict"/>
          <p:cNvSpPr/>
          <p:nvPr/>
        </p:nvSpPr>
        <p:spPr>
          <a:xfrm>
            <a:off x="1417320" y="1572768"/>
            <a:ext cx="566928" cy="566928"/>
          </a:xfrm>
          <a:prstGeom prst="ellipse">
            <a:avLst/>
          </a:prstGeom>
          <a:solidFill>
            <a:srgbClr val="6F89F7"/>
          </a:solidFill>
          <a:ln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Loop label predict"/>
          <p:cNvSpPr txBox="1"/>
          <p:nvPr/>
        </p:nvSpPr>
        <p:spPr>
          <a:xfrm>
            <a:off x="1069848" y="2286000"/>
            <a:ext cx="1261872" cy="347472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predict</a:t>
            </a:r>
          </a:p>
        </p:txBody>
      </p:sp>
      <p:cxnSp>
        <p:nvCxnSpPr>
          <p:cNvPr id="6" name="Loop arrow"/>
          <p:cNvCxnSpPr/>
          <p:nvPr/>
        </p:nvCxnSpPr>
        <p:spPr>
          <a:xfrm flipV="1">
            <a:off x="1984248" y="1636776"/>
            <a:ext cx="2176272" cy="219455"/>
          </a:xfrm>
          <a:prstGeom prst="line">
            <a:avLst/>
          </a:prstGeom>
          <a:ln w="1524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Loop node edit"/>
          <p:cNvSpPr/>
          <p:nvPr/>
        </p:nvSpPr>
        <p:spPr>
          <a:xfrm>
            <a:off x="4160520" y="1353312"/>
            <a:ext cx="566928" cy="566928"/>
          </a:xfrm>
          <a:prstGeom prst="ellipse">
            <a:avLst/>
          </a:prstGeom>
          <a:solidFill>
            <a:srgbClr val="846826"/>
          </a:solidFill>
          <a:ln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Loop label edit"/>
          <p:cNvSpPr txBox="1"/>
          <p:nvPr/>
        </p:nvSpPr>
        <p:spPr>
          <a:xfrm>
            <a:off x="3813048" y="2066543"/>
            <a:ext cx="1261872" cy="347472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edit</a:t>
            </a:r>
          </a:p>
        </p:txBody>
      </p:sp>
      <p:cxnSp>
        <p:nvCxnSpPr>
          <p:cNvPr id="9" name="Loop arrow"/>
          <p:cNvCxnSpPr/>
          <p:nvPr/>
        </p:nvCxnSpPr>
        <p:spPr>
          <a:xfrm>
            <a:off x="4727448" y="1636776"/>
            <a:ext cx="2240280" cy="219455"/>
          </a:xfrm>
          <a:prstGeom prst="line">
            <a:avLst/>
          </a:prstGeom>
          <a:ln w="1524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oop node run"/>
          <p:cNvSpPr/>
          <p:nvPr/>
        </p:nvSpPr>
        <p:spPr>
          <a:xfrm>
            <a:off x="6967728" y="1572768"/>
            <a:ext cx="566928" cy="566928"/>
          </a:xfrm>
          <a:prstGeom prst="ellipse">
            <a:avLst/>
          </a:prstGeom>
          <a:solidFill>
            <a:srgbClr val="6F89F7"/>
          </a:solidFill>
          <a:ln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Loop label run"/>
          <p:cNvSpPr txBox="1"/>
          <p:nvPr/>
        </p:nvSpPr>
        <p:spPr>
          <a:xfrm>
            <a:off x="6620256" y="2286000"/>
            <a:ext cx="1261872" cy="347472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run</a:t>
            </a:r>
          </a:p>
        </p:txBody>
      </p:sp>
      <p:cxnSp>
        <p:nvCxnSpPr>
          <p:cNvPr id="12" name="Loop arrow"/>
          <p:cNvCxnSpPr/>
          <p:nvPr/>
        </p:nvCxnSpPr>
        <p:spPr>
          <a:xfrm>
            <a:off x="7534656" y="1856231"/>
            <a:ext cx="1353312" cy="1645921"/>
          </a:xfrm>
          <a:prstGeom prst="line">
            <a:avLst/>
          </a:prstGeom>
          <a:ln w="1524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Loop node import"/>
          <p:cNvSpPr/>
          <p:nvPr/>
        </p:nvSpPr>
        <p:spPr>
          <a:xfrm>
            <a:off x="8887968" y="3218688"/>
            <a:ext cx="566928" cy="566928"/>
          </a:xfrm>
          <a:prstGeom prst="ellipse">
            <a:avLst/>
          </a:prstGeom>
          <a:solidFill>
            <a:srgbClr val="846826"/>
          </a:solidFill>
          <a:ln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Loop label import"/>
          <p:cNvSpPr txBox="1"/>
          <p:nvPr/>
        </p:nvSpPr>
        <p:spPr>
          <a:xfrm>
            <a:off x="8540496" y="3931920"/>
            <a:ext cx="1261872" cy="347472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import</a:t>
            </a:r>
          </a:p>
        </p:txBody>
      </p:sp>
      <p:cxnSp>
        <p:nvCxnSpPr>
          <p:cNvPr id="15" name="Loop arrow"/>
          <p:cNvCxnSpPr/>
          <p:nvPr/>
        </p:nvCxnSpPr>
        <p:spPr>
          <a:xfrm flipH="1">
            <a:off x="6967728" y="3502152"/>
            <a:ext cx="2487168" cy="877824"/>
          </a:xfrm>
          <a:prstGeom prst="line">
            <a:avLst/>
          </a:prstGeom>
          <a:ln w="1524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Loop node replay"/>
          <p:cNvSpPr/>
          <p:nvPr/>
        </p:nvSpPr>
        <p:spPr>
          <a:xfrm>
            <a:off x="6967728" y="4096512"/>
            <a:ext cx="566928" cy="566928"/>
          </a:xfrm>
          <a:prstGeom prst="ellipse">
            <a:avLst/>
          </a:prstGeom>
          <a:solidFill>
            <a:srgbClr val="6F89F7"/>
          </a:solidFill>
          <a:ln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Loop label replay"/>
          <p:cNvSpPr txBox="1"/>
          <p:nvPr/>
        </p:nvSpPr>
        <p:spPr>
          <a:xfrm>
            <a:off x="6620256" y="4809744"/>
            <a:ext cx="1261872" cy="347472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replay</a:t>
            </a:r>
          </a:p>
        </p:txBody>
      </p:sp>
      <p:cxnSp>
        <p:nvCxnSpPr>
          <p:cNvPr id="18" name="Loop arrow"/>
          <p:cNvCxnSpPr/>
          <p:nvPr/>
        </p:nvCxnSpPr>
        <p:spPr>
          <a:xfrm flipH="1">
            <a:off x="4160520" y="4379976"/>
            <a:ext cx="3374136" cy="219455"/>
          </a:xfrm>
          <a:prstGeom prst="line">
            <a:avLst/>
          </a:prstGeom>
          <a:ln w="1524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Loop node withheld"/>
          <p:cNvSpPr/>
          <p:nvPr/>
        </p:nvSpPr>
        <p:spPr>
          <a:xfrm>
            <a:off x="4160520" y="4315968"/>
            <a:ext cx="566928" cy="566928"/>
          </a:xfrm>
          <a:prstGeom prst="ellipse">
            <a:avLst/>
          </a:prstGeom>
          <a:solidFill>
            <a:srgbClr val="846826"/>
          </a:solidFill>
          <a:ln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Loop label withheld"/>
          <p:cNvSpPr txBox="1"/>
          <p:nvPr/>
        </p:nvSpPr>
        <p:spPr>
          <a:xfrm>
            <a:off x="3813048" y="5029200"/>
            <a:ext cx="1261872" cy="347472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withheld</a:t>
            </a:r>
          </a:p>
        </p:txBody>
      </p:sp>
      <p:cxnSp>
        <p:nvCxnSpPr>
          <p:cNvPr id="21" name="Loop closure arrow"/>
          <p:cNvCxnSpPr/>
          <p:nvPr/>
        </p:nvCxnSpPr>
        <p:spPr>
          <a:xfrm flipH="1" flipV="1">
            <a:off x="1700784" y="1938528"/>
            <a:ext cx="2743200" cy="2660904"/>
          </a:xfrm>
          <a:prstGeom prst="line">
            <a:avLst/>
          </a:prstGeom>
          <a:ln w="15240">
            <a:solidFill>
              <a:srgbClr val="8468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Loop rule"/>
          <p:cNvSpPr txBox="1"/>
          <p:nvPr/>
        </p:nvSpPr>
        <p:spPr>
          <a:xfrm>
            <a:off x="1481328" y="2770632"/>
            <a:ext cx="3291840" cy="621792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預測可被推翻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不要 retune hidden</a:t>
            </a:r>
          </a:p>
        </p:txBody>
      </p:sp>
      <p:sp>
        <p:nvSpPr>
          <p:cNvPr id="23" name="Evidence status tag"/>
          <p:cNvSpPr txBox="1"/>
          <p:nvPr/>
        </p:nvSpPr>
        <p:spPr>
          <a:xfrm>
            <a:off x="7315200" y="5230368"/>
            <a:ext cx="4224528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27432" tIns="9144" rIns="27432" bIns="9144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一個小改動，必須能追到一個機制</a:t>
            </a:r>
          </a:p>
        </p:txBody>
      </p:sp>
      <p:sp>
        <p:nvSpPr>
          <p:cNvPr id="3" name="Guarded file"/>
          <p:cNvSpPr/>
          <p:nvPr/>
        </p:nvSpPr>
        <p:spPr>
          <a:xfrm>
            <a:off x="804672" y="1444752"/>
            <a:ext cx="4663440" cy="2999232"/>
          </a:xfrm>
          <a:prstGeom prst="roundRect">
            <a:avLst/>
          </a:prstGeom>
          <a:noFill/>
          <a:ln w="1524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Guarded filename"/>
          <p:cNvSpPr txBox="1"/>
          <p:nvPr/>
        </p:nvSpPr>
        <p:spPr>
          <a:xfrm>
            <a:off x="1024128" y="1709928"/>
            <a:ext cx="4224528" cy="475488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400" b="1" i="1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student_policy.py</a:t>
            </a:r>
          </a:p>
        </p:txBody>
      </p:sp>
      <p:sp>
        <p:nvSpPr>
          <p:cNvPr id="5" name="Guarded block"/>
          <p:cNvSpPr txBox="1"/>
          <p:nvPr/>
        </p:nvSpPr>
        <p:spPr>
          <a:xfrm>
            <a:off x="1170432" y="2414016"/>
            <a:ext cx="3931920" cy="1481328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MARKED BLOCK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只改這裡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policy hash → result → replay</a:t>
            </a:r>
          </a:p>
        </p:txBody>
      </p:sp>
      <p:sp>
        <p:nvSpPr>
          <p:cNvPr id="6" name="Read-only lock scenario"/>
          <p:cNvSpPr/>
          <p:nvPr/>
        </p:nvSpPr>
        <p:spPr>
          <a:xfrm>
            <a:off x="6016752" y="1572768"/>
            <a:ext cx="2267712" cy="877824"/>
          </a:xfrm>
          <a:prstGeom prst="roundRect">
            <a:avLst/>
          </a:prstGeom>
          <a:noFill/>
          <a:ln w="15240"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ad-only label scenario"/>
          <p:cNvSpPr txBox="1"/>
          <p:nvPr/>
        </p:nvSpPr>
        <p:spPr>
          <a:xfrm>
            <a:off x="6089904" y="1755648"/>
            <a:ext cx="2121408" cy="457200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🔒 scenario</a:t>
            </a:r>
          </a:p>
        </p:txBody>
      </p:sp>
      <p:sp>
        <p:nvSpPr>
          <p:cNvPr id="8" name="Read-only lock schemas"/>
          <p:cNvSpPr/>
          <p:nvPr/>
        </p:nvSpPr>
        <p:spPr>
          <a:xfrm>
            <a:off x="8686800" y="1572768"/>
            <a:ext cx="2267712" cy="877824"/>
          </a:xfrm>
          <a:prstGeom prst="roundRect">
            <a:avLst/>
          </a:prstGeom>
          <a:noFill/>
          <a:ln w="15240"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ad-only label schemas"/>
          <p:cNvSpPr txBox="1"/>
          <p:nvPr/>
        </p:nvSpPr>
        <p:spPr>
          <a:xfrm>
            <a:off x="8759952" y="1755648"/>
            <a:ext cx="2121408" cy="457200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🔒 schemas</a:t>
            </a:r>
          </a:p>
        </p:txBody>
      </p:sp>
      <p:sp>
        <p:nvSpPr>
          <p:cNvPr id="10" name="Read-only lock runner"/>
          <p:cNvSpPr/>
          <p:nvPr/>
        </p:nvSpPr>
        <p:spPr>
          <a:xfrm>
            <a:off x="6016752" y="2852928"/>
            <a:ext cx="2267712" cy="877824"/>
          </a:xfrm>
          <a:prstGeom prst="roundRect">
            <a:avLst/>
          </a:prstGeom>
          <a:noFill/>
          <a:ln w="15240"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ad-only label runner"/>
          <p:cNvSpPr txBox="1"/>
          <p:nvPr/>
        </p:nvSpPr>
        <p:spPr>
          <a:xfrm>
            <a:off x="6089904" y="3035808"/>
            <a:ext cx="2121408" cy="457200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🔒 runner</a:t>
            </a:r>
          </a:p>
        </p:txBody>
      </p:sp>
      <p:sp>
        <p:nvSpPr>
          <p:cNvPr id="12" name="Read-only lock generated JSON"/>
          <p:cNvSpPr/>
          <p:nvPr/>
        </p:nvSpPr>
        <p:spPr>
          <a:xfrm>
            <a:off x="8686800" y="2852928"/>
            <a:ext cx="2267712" cy="877824"/>
          </a:xfrm>
          <a:prstGeom prst="roundRect">
            <a:avLst/>
          </a:prstGeom>
          <a:noFill/>
          <a:ln w="15240"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ad-only label generated JSON"/>
          <p:cNvSpPr txBox="1"/>
          <p:nvPr/>
        </p:nvSpPr>
        <p:spPr>
          <a:xfrm>
            <a:off x="8759952" y="3035808"/>
            <a:ext cx="2121408" cy="457200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🔒 generated JSON</a:t>
            </a:r>
          </a:p>
        </p:txBody>
      </p:sp>
      <p:sp>
        <p:nvSpPr>
          <p:cNvPr id="14" name="Guard stop rule"/>
          <p:cNvSpPr txBox="1"/>
          <p:nvPr/>
        </p:nvSpPr>
        <p:spPr>
          <a:xfrm>
            <a:off x="6053328" y="4462272"/>
            <a:ext cx="5175504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沒有 consequential diff → 停在 gate</a:t>
            </a:r>
          </a:p>
        </p:txBody>
      </p:sp>
      <p:sp>
        <p:nvSpPr>
          <p:cNvPr id="15" name="Evidence status tag"/>
          <p:cNvSpPr txBox="1"/>
          <p:nvPr/>
        </p:nvSpPr>
        <p:spPr>
          <a:xfrm>
            <a:off x="7315200" y="5230368"/>
            <a:ext cx="4224528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27432" tIns="9144" rIns="27432" bIns="9144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今天的教學路徑</a:t>
            </a:r>
          </a:p>
        </p:txBody>
      </p:sp>
      <p:sp>
        <p:nvSpPr>
          <p:cNvPr id="3" name="Route node why"/>
          <p:cNvSpPr/>
          <p:nvPr/>
        </p:nvSpPr>
        <p:spPr>
          <a:xfrm>
            <a:off x="987552" y="1965960"/>
            <a:ext cx="585216" cy="585216"/>
          </a:xfrm>
          <a:prstGeom prst="ellipse">
            <a:avLst/>
          </a:prstGeom>
          <a:solidFill>
            <a:srgbClr val="6F89F7"/>
          </a:solidFill>
          <a:ln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te label why"/>
          <p:cNvSpPr txBox="1"/>
          <p:nvPr/>
        </p:nvSpPr>
        <p:spPr>
          <a:xfrm>
            <a:off x="731520" y="2679191"/>
            <a:ext cx="1280160" cy="384048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why</a:t>
            </a:r>
          </a:p>
        </p:txBody>
      </p:sp>
      <p:cxnSp>
        <p:nvCxnSpPr>
          <p:cNvPr id="5" name="Route arrow"/>
          <p:cNvCxnSpPr/>
          <p:nvPr/>
        </p:nvCxnSpPr>
        <p:spPr>
          <a:xfrm>
            <a:off x="1783080" y="2249424"/>
            <a:ext cx="128016" cy="0"/>
          </a:xfrm>
          <a:prstGeom prst="line">
            <a:avLst/>
          </a:prstGeom>
          <a:ln w="1397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te node setup"/>
          <p:cNvSpPr/>
          <p:nvPr/>
        </p:nvSpPr>
        <p:spPr>
          <a:xfrm>
            <a:off x="2112264" y="1965960"/>
            <a:ext cx="585216" cy="585216"/>
          </a:xfrm>
          <a:prstGeom prst="ellipse">
            <a:avLst/>
          </a:prstGeom>
          <a:solidFill>
            <a:srgbClr val="846826"/>
          </a:solidFill>
          <a:ln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te label setup"/>
          <p:cNvSpPr txBox="1"/>
          <p:nvPr/>
        </p:nvSpPr>
        <p:spPr>
          <a:xfrm>
            <a:off x="1856231" y="2679191"/>
            <a:ext cx="1280160" cy="384048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setup</a:t>
            </a:r>
          </a:p>
        </p:txBody>
      </p:sp>
      <p:cxnSp>
        <p:nvCxnSpPr>
          <p:cNvPr id="8" name="Route arrow"/>
          <p:cNvCxnSpPr/>
          <p:nvPr/>
        </p:nvCxnSpPr>
        <p:spPr>
          <a:xfrm>
            <a:off x="2907792" y="2249424"/>
            <a:ext cx="128016" cy="0"/>
          </a:xfrm>
          <a:prstGeom prst="line">
            <a:avLst/>
          </a:prstGeom>
          <a:ln w="1397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te node endpoint"/>
          <p:cNvSpPr/>
          <p:nvPr/>
        </p:nvSpPr>
        <p:spPr>
          <a:xfrm>
            <a:off x="3236976" y="1965960"/>
            <a:ext cx="585216" cy="585216"/>
          </a:xfrm>
          <a:prstGeom prst="ellipse">
            <a:avLst/>
          </a:prstGeom>
          <a:solidFill>
            <a:srgbClr val="6F89F7"/>
          </a:solidFill>
          <a:ln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te label endpoint"/>
          <p:cNvSpPr txBox="1"/>
          <p:nvPr/>
        </p:nvSpPr>
        <p:spPr>
          <a:xfrm>
            <a:off x="2980944" y="2679191"/>
            <a:ext cx="1280160" cy="384048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endpoint</a:t>
            </a:r>
          </a:p>
        </p:txBody>
      </p:sp>
      <p:cxnSp>
        <p:nvCxnSpPr>
          <p:cNvPr id="11" name="Route arrow"/>
          <p:cNvCxnSpPr/>
          <p:nvPr/>
        </p:nvCxnSpPr>
        <p:spPr>
          <a:xfrm>
            <a:off x="4032503" y="2249424"/>
            <a:ext cx="128017" cy="0"/>
          </a:xfrm>
          <a:prstGeom prst="line">
            <a:avLst/>
          </a:prstGeom>
          <a:ln w="1397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te node anchor"/>
          <p:cNvSpPr/>
          <p:nvPr/>
        </p:nvSpPr>
        <p:spPr>
          <a:xfrm>
            <a:off x="4361688" y="1965960"/>
            <a:ext cx="585216" cy="585216"/>
          </a:xfrm>
          <a:prstGeom prst="ellipse">
            <a:avLst/>
          </a:prstGeom>
          <a:solidFill>
            <a:srgbClr val="846826"/>
          </a:solidFill>
          <a:ln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te label anchor"/>
          <p:cNvSpPr txBox="1"/>
          <p:nvPr/>
        </p:nvSpPr>
        <p:spPr>
          <a:xfrm>
            <a:off x="4105656" y="2679191"/>
            <a:ext cx="1280160" cy="384048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anchor</a:t>
            </a:r>
          </a:p>
        </p:txBody>
      </p:sp>
      <p:cxnSp>
        <p:nvCxnSpPr>
          <p:cNvPr id="14" name="Route arrow"/>
          <p:cNvCxnSpPr/>
          <p:nvPr/>
        </p:nvCxnSpPr>
        <p:spPr>
          <a:xfrm>
            <a:off x="5157216" y="2249424"/>
            <a:ext cx="128016" cy="0"/>
          </a:xfrm>
          <a:prstGeom prst="line">
            <a:avLst/>
          </a:prstGeom>
          <a:ln w="1397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te node A"/>
          <p:cNvSpPr/>
          <p:nvPr/>
        </p:nvSpPr>
        <p:spPr>
          <a:xfrm>
            <a:off x="5486400" y="1965960"/>
            <a:ext cx="585216" cy="585216"/>
          </a:xfrm>
          <a:prstGeom prst="ellipse">
            <a:avLst/>
          </a:prstGeom>
          <a:solidFill>
            <a:srgbClr val="6F89F7"/>
          </a:solidFill>
          <a:ln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te label A"/>
          <p:cNvSpPr txBox="1"/>
          <p:nvPr/>
        </p:nvSpPr>
        <p:spPr>
          <a:xfrm>
            <a:off x="5230368" y="2679191"/>
            <a:ext cx="1280160" cy="384048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A</a:t>
            </a:r>
          </a:p>
        </p:txBody>
      </p:sp>
      <p:cxnSp>
        <p:nvCxnSpPr>
          <p:cNvPr id="17" name="Route arrow"/>
          <p:cNvCxnSpPr/>
          <p:nvPr/>
        </p:nvCxnSpPr>
        <p:spPr>
          <a:xfrm>
            <a:off x="6281927" y="2249424"/>
            <a:ext cx="128017" cy="0"/>
          </a:xfrm>
          <a:prstGeom prst="line">
            <a:avLst/>
          </a:prstGeom>
          <a:ln w="1397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te node B"/>
          <p:cNvSpPr/>
          <p:nvPr/>
        </p:nvSpPr>
        <p:spPr>
          <a:xfrm>
            <a:off x="6611112" y="1965960"/>
            <a:ext cx="585216" cy="585216"/>
          </a:xfrm>
          <a:prstGeom prst="ellipse">
            <a:avLst/>
          </a:prstGeom>
          <a:solidFill>
            <a:srgbClr val="846826"/>
          </a:solidFill>
          <a:ln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te label B"/>
          <p:cNvSpPr txBox="1"/>
          <p:nvPr/>
        </p:nvSpPr>
        <p:spPr>
          <a:xfrm>
            <a:off x="6355080" y="2679191"/>
            <a:ext cx="1280160" cy="384048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B</a:t>
            </a:r>
          </a:p>
        </p:txBody>
      </p:sp>
      <p:cxnSp>
        <p:nvCxnSpPr>
          <p:cNvPr id="20" name="Route arrow"/>
          <p:cNvCxnSpPr/>
          <p:nvPr/>
        </p:nvCxnSpPr>
        <p:spPr>
          <a:xfrm>
            <a:off x="7406640" y="2249424"/>
            <a:ext cx="128016" cy="0"/>
          </a:xfrm>
          <a:prstGeom prst="line">
            <a:avLst/>
          </a:prstGeom>
          <a:ln w="1397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te node recovery"/>
          <p:cNvSpPr/>
          <p:nvPr/>
        </p:nvSpPr>
        <p:spPr>
          <a:xfrm>
            <a:off x="7735823" y="1965960"/>
            <a:ext cx="585216" cy="585216"/>
          </a:xfrm>
          <a:prstGeom prst="ellipse">
            <a:avLst/>
          </a:prstGeom>
          <a:solidFill>
            <a:srgbClr val="6F89F7"/>
          </a:solidFill>
          <a:ln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te label recovery"/>
          <p:cNvSpPr txBox="1"/>
          <p:nvPr/>
        </p:nvSpPr>
        <p:spPr>
          <a:xfrm>
            <a:off x="7479792" y="2679191"/>
            <a:ext cx="1280160" cy="384048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recovery</a:t>
            </a:r>
          </a:p>
        </p:txBody>
      </p:sp>
      <p:cxnSp>
        <p:nvCxnSpPr>
          <p:cNvPr id="23" name="Route arrow"/>
          <p:cNvCxnSpPr/>
          <p:nvPr/>
        </p:nvCxnSpPr>
        <p:spPr>
          <a:xfrm>
            <a:off x="8531352" y="2249424"/>
            <a:ext cx="128016" cy="0"/>
          </a:xfrm>
          <a:prstGeom prst="line">
            <a:avLst/>
          </a:prstGeom>
          <a:ln w="1397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te node C"/>
          <p:cNvSpPr/>
          <p:nvPr/>
        </p:nvSpPr>
        <p:spPr>
          <a:xfrm>
            <a:off x="8860536" y="1965960"/>
            <a:ext cx="585216" cy="585216"/>
          </a:xfrm>
          <a:prstGeom prst="ellipse">
            <a:avLst/>
          </a:prstGeom>
          <a:solidFill>
            <a:srgbClr val="846826"/>
          </a:solidFill>
          <a:ln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te label C"/>
          <p:cNvSpPr txBox="1"/>
          <p:nvPr/>
        </p:nvSpPr>
        <p:spPr>
          <a:xfrm>
            <a:off x="8604504" y="2679191"/>
            <a:ext cx="1280160" cy="384048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C</a:t>
            </a:r>
          </a:p>
        </p:txBody>
      </p:sp>
      <p:cxnSp>
        <p:nvCxnSpPr>
          <p:cNvPr id="26" name="Route arrow"/>
          <p:cNvCxnSpPr/>
          <p:nvPr/>
        </p:nvCxnSpPr>
        <p:spPr>
          <a:xfrm>
            <a:off x="9656064" y="2249424"/>
            <a:ext cx="128016" cy="0"/>
          </a:xfrm>
          <a:prstGeom prst="line">
            <a:avLst/>
          </a:prstGeom>
          <a:ln w="1397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te node evidence"/>
          <p:cNvSpPr/>
          <p:nvPr/>
        </p:nvSpPr>
        <p:spPr>
          <a:xfrm>
            <a:off x="9985248" y="1965960"/>
            <a:ext cx="585216" cy="585216"/>
          </a:xfrm>
          <a:prstGeom prst="ellipse">
            <a:avLst/>
          </a:prstGeom>
          <a:solidFill>
            <a:srgbClr val="6F89F7"/>
          </a:solidFill>
          <a:ln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te label evidence"/>
          <p:cNvSpPr txBox="1"/>
          <p:nvPr/>
        </p:nvSpPr>
        <p:spPr>
          <a:xfrm>
            <a:off x="9729216" y="2679191"/>
            <a:ext cx="1280160" cy="384048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evidence</a:t>
            </a:r>
          </a:p>
        </p:txBody>
      </p:sp>
      <p:cxnSp>
        <p:nvCxnSpPr>
          <p:cNvPr id="29" name="Route arrow"/>
          <p:cNvCxnSpPr/>
          <p:nvPr/>
        </p:nvCxnSpPr>
        <p:spPr>
          <a:xfrm>
            <a:off x="10780776" y="2249424"/>
            <a:ext cx="128016" cy="0"/>
          </a:xfrm>
          <a:prstGeom prst="line">
            <a:avLst/>
          </a:prstGeom>
          <a:ln w="1397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te node transfer"/>
          <p:cNvSpPr/>
          <p:nvPr/>
        </p:nvSpPr>
        <p:spPr>
          <a:xfrm>
            <a:off x="11109960" y="1965960"/>
            <a:ext cx="585216" cy="585216"/>
          </a:xfrm>
          <a:prstGeom prst="ellipse">
            <a:avLst/>
          </a:prstGeom>
          <a:solidFill>
            <a:srgbClr val="846826"/>
          </a:solidFill>
          <a:ln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te label transfer"/>
          <p:cNvSpPr txBox="1"/>
          <p:nvPr/>
        </p:nvSpPr>
        <p:spPr>
          <a:xfrm>
            <a:off x="10853928" y="2679191"/>
            <a:ext cx="1280160" cy="384048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transfer</a:t>
            </a:r>
          </a:p>
        </p:txBody>
      </p:sp>
      <p:sp>
        <p:nvSpPr>
          <p:cNvPr id="32" name="Route explanation"/>
          <p:cNvSpPr txBox="1"/>
          <p:nvPr/>
        </p:nvSpPr>
        <p:spPr>
          <a:xfrm>
            <a:off x="1005840" y="3895344"/>
            <a:ext cx="10241280" cy="658368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0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每一個節點都要有 gate、receipt 與 recovery；受阻時沿同一 scenario 回來。</a:t>
            </a:r>
          </a:p>
        </p:txBody>
      </p:sp>
      <p:sp>
        <p:nvSpPr>
          <p:cNvPr id="33" name="Evidence status tag"/>
          <p:cNvSpPr txBox="1"/>
          <p:nvPr/>
        </p:nvSpPr>
        <p:spPr>
          <a:xfrm>
            <a:off x="7315200" y="5230368"/>
            <a:ext cx="4224528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27432" tIns="9144" rIns="27432" bIns="9144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開場檢查點：先確認 claim 邊界</a:t>
            </a:r>
          </a:p>
        </p:txBody>
      </p:sp>
      <p:sp>
        <p:nvSpPr>
          <p:cNvPr id="3" name="Claim scope"/>
          <p:cNvSpPr txBox="1"/>
          <p:nvPr/>
        </p:nvSpPr>
        <p:spPr>
          <a:xfrm>
            <a:off x="868680" y="1261872"/>
            <a:ext cx="10378440" cy="438912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course-packaged simulated endpoint-energy lab</a:t>
            </a:r>
          </a:p>
        </p:txBody>
      </p:sp>
      <p:sp>
        <p:nvSpPr>
          <p:cNvPr id="4" name="Claim ladder 1"/>
          <p:cNvSpPr/>
          <p:nvPr/>
        </p:nvSpPr>
        <p:spPr>
          <a:xfrm>
            <a:off x="1188720" y="1965960"/>
            <a:ext cx="9784080" cy="530352"/>
          </a:xfrm>
          <a:prstGeom prst="roundRect">
            <a:avLst/>
          </a:prstGeom>
          <a:noFill/>
          <a:ln w="1524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laim heading 1"/>
          <p:cNvSpPr txBox="1"/>
          <p:nvPr/>
        </p:nvSpPr>
        <p:spPr>
          <a:xfrm>
            <a:off x="1316736" y="2039112"/>
            <a:ext cx="1051560" cy="347472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可說</a:t>
            </a:r>
          </a:p>
        </p:txBody>
      </p:sp>
      <p:sp>
        <p:nvSpPr>
          <p:cNvPr id="6" name="Claim body 1"/>
          <p:cNvSpPr txBox="1"/>
          <p:nvPr/>
        </p:nvSpPr>
        <p:spPr>
          <a:xfrm>
            <a:off x="2468880" y="2039112"/>
            <a:ext cx="8339327" cy="347472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course-owned / deterministic / simulated</a:t>
            </a:r>
          </a:p>
        </p:txBody>
      </p:sp>
      <p:sp>
        <p:nvSpPr>
          <p:cNvPr id="7" name="Claim ladder 2"/>
          <p:cNvSpPr/>
          <p:nvPr/>
        </p:nvSpPr>
        <p:spPr>
          <a:xfrm>
            <a:off x="1618488" y="2596896"/>
            <a:ext cx="8924544" cy="530352"/>
          </a:xfrm>
          <a:prstGeom prst="roundRect">
            <a:avLst/>
          </a:prstGeom>
          <a:noFill/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laim heading 2"/>
          <p:cNvSpPr txBox="1"/>
          <p:nvPr/>
        </p:nvSpPr>
        <p:spPr>
          <a:xfrm>
            <a:off x="1746504" y="2670048"/>
            <a:ext cx="1051560" cy="347472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不可說</a:t>
            </a:r>
          </a:p>
        </p:txBody>
      </p:sp>
      <p:sp>
        <p:nvSpPr>
          <p:cNvPr id="9" name="Claim body 2"/>
          <p:cNvSpPr txBox="1"/>
          <p:nvPr/>
        </p:nvSpPr>
        <p:spPr>
          <a:xfrm>
            <a:off x="2898648" y="2670048"/>
            <a:ext cx="7479792" cy="347472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NOT LIVE / NOT MEASURED</a:t>
            </a:r>
          </a:p>
        </p:txBody>
      </p:sp>
      <p:sp>
        <p:nvSpPr>
          <p:cNvPr id="10" name="Claim ladder 3"/>
          <p:cNvSpPr/>
          <p:nvPr/>
        </p:nvSpPr>
        <p:spPr>
          <a:xfrm>
            <a:off x="2048256" y="3227832"/>
            <a:ext cx="8065008" cy="530352"/>
          </a:xfrm>
          <a:prstGeom prst="roundRect">
            <a:avLst/>
          </a:prstGeom>
          <a:noFill/>
          <a:ln w="1524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laim heading 3"/>
          <p:cNvSpPr txBox="1"/>
          <p:nvPr/>
        </p:nvSpPr>
        <p:spPr>
          <a:xfrm>
            <a:off x="2176272" y="3300984"/>
            <a:ext cx="1051560" cy="347472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尚未驗證</a:t>
            </a:r>
          </a:p>
        </p:txBody>
      </p:sp>
      <p:sp>
        <p:nvSpPr>
          <p:cNvPr id="12" name="Claim body 3"/>
          <p:cNvSpPr txBox="1"/>
          <p:nvPr/>
        </p:nvSpPr>
        <p:spPr>
          <a:xfrm>
            <a:off x="3328416" y="3300984"/>
            <a:ext cx="6620256" cy="347472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NOT CANONICAL-PARITY-VERIFIED</a:t>
            </a:r>
          </a:p>
        </p:txBody>
      </p:sp>
      <p:sp>
        <p:nvSpPr>
          <p:cNvPr id="13" name="Claim ladder 4"/>
          <p:cNvSpPr/>
          <p:nvPr/>
        </p:nvSpPr>
        <p:spPr>
          <a:xfrm>
            <a:off x="2478024" y="3858768"/>
            <a:ext cx="7205471" cy="530352"/>
          </a:xfrm>
          <a:prstGeom prst="roundRect">
            <a:avLst/>
          </a:prstGeom>
          <a:noFill/>
          <a:ln w="15240"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laim heading 4"/>
          <p:cNvSpPr txBox="1"/>
          <p:nvPr/>
        </p:nvSpPr>
        <p:spPr>
          <a:xfrm>
            <a:off x="2606040" y="3931920"/>
            <a:ext cx="1051560" cy="347472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696969"/>
                </a:solidFill>
                <a:latin typeface="Times New Roman"/>
                <a:ea typeface="標楷體"/>
                <a:cs typeface="Times New Roman"/>
              </a:rPr>
              <a:t>處理方式</a:t>
            </a:r>
          </a:p>
        </p:txBody>
      </p:sp>
      <p:sp>
        <p:nvSpPr>
          <p:cNvPr id="15" name="Claim body 4"/>
          <p:cNvSpPr txBox="1"/>
          <p:nvPr/>
        </p:nvSpPr>
        <p:spPr>
          <a:xfrm>
            <a:off x="3758183" y="3931920"/>
            <a:ext cx="5760719" cy="347472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URL / screenshot / KPI 缺口 → PLACEHOLDER</a:t>
            </a:r>
          </a:p>
        </p:txBody>
      </p:sp>
      <p:sp>
        <p:nvSpPr>
          <p:cNvPr id="16" name="Claim provenance"/>
          <p:cNvSpPr txBox="1"/>
          <p:nvPr/>
        </p:nvSpPr>
        <p:spPr>
          <a:xfrm>
            <a:off x="1298448" y="4754880"/>
            <a:ext cx="9509760" cy="329184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邊界會跟著 result、replay、import 與 workbook provenance 一起走</a:t>
            </a:r>
          </a:p>
        </p:txBody>
      </p:sp>
      <p:sp>
        <p:nvSpPr>
          <p:cNvPr id="17" name="Evidence status tag"/>
          <p:cNvSpPr txBox="1"/>
          <p:nvPr/>
        </p:nvSpPr>
        <p:spPr>
          <a:xfrm>
            <a:off x="7315200" y="5230368"/>
            <a:ext cx="4224528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27432" tIns="9144" rIns="27432" bIns="9144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套件根目錄是一條 provenance 邊界</a:t>
            </a:r>
          </a:p>
        </p:txBody>
      </p:sp>
      <p:sp>
        <p:nvSpPr>
          <p:cNvPr id="3" name="Exact command context frame"/>
          <p:cNvSpPr/>
          <p:nvPr/>
        </p:nvSpPr>
        <p:spPr>
          <a:xfrm>
            <a:off x="658368" y="960120"/>
            <a:ext cx="10881360" cy="585216"/>
          </a:xfrm>
          <a:prstGeom prst="roundRect">
            <a:avLst/>
          </a:prstGeom>
          <a:noFill/>
          <a:ln w="1524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Exact command line 1"/>
          <p:cNvSpPr txBox="1"/>
          <p:nvPr/>
        </p:nvSpPr>
        <p:spPr>
          <a:xfrm>
            <a:off x="822960" y="987552"/>
            <a:ext cx="5102352" cy="228600"/>
          </a:xfrm>
          <a:prstGeom prst="rect">
            <a:avLst/>
          </a:prstGeom>
          <a:noFill/>
          <a:ln>
            <a:noFill/>
          </a:ln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解壓後：cd lora-energy-lab</a:t>
            </a:r>
          </a:p>
        </p:txBody>
      </p:sp>
      <p:sp>
        <p:nvSpPr>
          <p:cNvPr id="5" name="Exact command line 2"/>
          <p:cNvSpPr txBox="1"/>
          <p:nvPr/>
        </p:nvSpPr>
        <p:spPr>
          <a:xfrm>
            <a:off x="822960" y="1216152"/>
            <a:ext cx="5102352" cy="228600"/>
          </a:xfrm>
          <a:prstGeom prst="rect">
            <a:avLst/>
          </a:prstGeom>
          <a:noFill/>
          <a:ln>
            <a:noFill/>
          </a:ln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POSIX：find . -maxdepth 2 -type f</a:t>
            </a:r>
          </a:p>
        </p:txBody>
      </p:sp>
      <p:sp>
        <p:nvSpPr>
          <p:cNvPr id="6" name="Exact command line 3"/>
          <p:cNvSpPr txBox="1"/>
          <p:nvPr/>
        </p:nvSpPr>
        <p:spPr>
          <a:xfrm>
            <a:off x="6144768" y="987552"/>
            <a:ext cx="5102352" cy="228600"/>
          </a:xfrm>
          <a:prstGeom prst="rect">
            <a:avLst/>
          </a:prstGeom>
          <a:noFill/>
          <a:ln>
            <a:noFill/>
          </a:ln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Windows：Get-ChildItem -Recurse -File</a:t>
            </a:r>
          </a:p>
        </p:txBody>
      </p:sp>
      <p:sp>
        <p:nvSpPr>
          <p:cNvPr id="7" name="Package tree"/>
          <p:cNvSpPr/>
          <p:nvPr/>
        </p:nvSpPr>
        <p:spPr>
          <a:xfrm>
            <a:off x="749808" y="1627632"/>
            <a:ext cx="4956048" cy="3236976"/>
          </a:xfrm>
          <a:prstGeom prst="roundRect">
            <a:avLst/>
          </a:prstGeom>
          <a:noFill/>
          <a:ln w="1524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Package root"/>
          <p:cNvSpPr txBox="1"/>
          <p:nvPr/>
        </p:nvSpPr>
        <p:spPr>
          <a:xfrm>
            <a:off x="1042415" y="1828800"/>
            <a:ext cx="4389120" cy="402336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3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lora-energy-lab/</a:t>
            </a:r>
          </a:p>
        </p:txBody>
      </p:sp>
      <p:sp>
        <p:nvSpPr>
          <p:cNvPr id="9" name="Package item 1"/>
          <p:cNvSpPr txBox="1"/>
          <p:nvPr/>
        </p:nvSpPr>
        <p:spPr>
          <a:xfrm>
            <a:off x="1170432" y="2212848"/>
            <a:ext cx="4224528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├─ README.en.md / README.zh-TW.md</a:t>
            </a:r>
          </a:p>
        </p:txBody>
      </p:sp>
      <p:sp>
        <p:nvSpPr>
          <p:cNvPr id="10" name="Package item 2"/>
          <p:cNvSpPr txBox="1"/>
          <p:nvPr/>
        </p:nvSpPr>
        <p:spPr>
          <a:xfrm>
            <a:off x="1170432" y="2578608"/>
            <a:ext cx="4224528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├─ setup.sh / setup.cmd</a:t>
            </a:r>
          </a:p>
        </p:txBody>
      </p:sp>
      <p:sp>
        <p:nvSpPr>
          <p:cNvPr id="11" name="Package item 3"/>
          <p:cNvSpPr txBox="1"/>
          <p:nvPr/>
        </p:nvSpPr>
        <p:spPr>
          <a:xfrm>
            <a:off x="1170432" y="2944368"/>
            <a:ext cx="4224528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├─ course.sh / course.cmd</a:t>
            </a:r>
          </a:p>
        </p:txBody>
      </p:sp>
      <p:sp>
        <p:nvSpPr>
          <p:cNvPr id="12" name="Package item 4"/>
          <p:cNvSpPr txBox="1"/>
          <p:nvPr/>
        </p:nvSpPr>
        <p:spPr>
          <a:xfrm>
            <a:off x="1170432" y="3310128"/>
            <a:ext cx="4224528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├─ </a:t>
            </a:r>
            <a:r>
              <a:rPr sz="18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student_policy.py</a:t>
            </a:r>
          </a:p>
        </p:txBody>
      </p:sp>
      <p:sp>
        <p:nvSpPr>
          <p:cNvPr id="13" name="Package item 5"/>
          <p:cNvSpPr txBox="1"/>
          <p:nvPr/>
        </p:nvSpPr>
        <p:spPr>
          <a:xfrm>
            <a:off x="1170432" y="3675887"/>
            <a:ext cx="4224528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├─ lora_energy_lab/</a:t>
            </a:r>
          </a:p>
        </p:txBody>
      </p:sp>
      <p:sp>
        <p:nvSpPr>
          <p:cNvPr id="14" name="Package item 6"/>
          <p:cNvSpPr txBox="1"/>
          <p:nvPr/>
        </p:nvSpPr>
        <p:spPr>
          <a:xfrm>
            <a:off x="1170432" y="4041648"/>
            <a:ext cx="4224528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├─ scenarios/</a:t>
            </a:r>
          </a:p>
        </p:txBody>
      </p:sp>
      <p:sp>
        <p:nvSpPr>
          <p:cNvPr id="15" name="Package item 7"/>
          <p:cNvSpPr txBox="1"/>
          <p:nvPr/>
        </p:nvSpPr>
        <p:spPr>
          <a:xfrm>
            <a:off x="1170432" y="4407408"/>
            <a:ext cx="4224528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└─ schemas/</a:t>
            </a:r>
          </a:p>
        </p:txBody>
      </p:sp>
      <p:sp>
        <p:nvSpPr>
          <p:cNvPr id="16" name="Provenance gate"/>
          <p:cNvSpPr/>
          <p:nvPr/>
        </p:nvSpPr>
        <p:spPr>
          <a:xfrm>
            <a:off x="6236208" y="1627632"/>
            <a:ext cx="5047488" cy="3236976"/>
          </a:xfrm>
          <a:prstGeom prst="roundRect">
            <a:avLst/>
          </a:prstGeom>
          <a:noFill/>
          <a:ln w="1524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Provenance heading"/>
          <p:cNvSpPr txBox="1"/>
          <p:nvPr/>
        </p:nvSpPr>
        <p:spPr>
          <a:xfrm>
            <a:off x="6492240" y="1865376"/>
            <a:ext cx="4517136" cy="420624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3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provenance gate</a:t>
            </a:r>
          </a:p>
        </p:txBody>
      </p:sp>
      <p:sp>
        <p:nvSpPr>
          <p:cNvPr id="18" name="Provenance body"/>
          <p:cNvSpPr txBox="1"/>
          <p:nvPr/>
        </p:nvSpPr>
        <p:spPr>
          <a:xfrm>
            <a:off x="6693408" y="2505456"/>
            <a:ext cx="4096512" cy="1499616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single root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reviewed bytes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commit 32cc723…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required files present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identity mismatch → STOP</a:t>
            </a:r>
          </a:p>
        </p:txBody>
      </p:sp>
      <p:cxnSp>
        <p:nvCxnSpPr>
          <p:cNvPr id="19" name="Root to gate"/>
          <p:cNvCxnSpPr/>
          <p:nvPr/>
        </p:nvCxnSpPr>
        <p:spPr>
          <a:xfrm>
            <a:off x="5705856" y="3236976"/>
            <a:ext cx="530352" cy="0"/>
          </a:xfrm>
          <a:prstGeom prst="line">
            <a:avLst/>
          </a:prstGeom>
          <a:ln w="22860">
            <a:solidFill>
              <a:srgbClr val="8468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Evidence status tag"/>
          <p:cNvSpPr txBox="1"/>
          <p:nvPr/>
        </p:nvSpPr>
        <p:spPr>
          <a:xfrm>
            <a:off x="7315200" y="5230368"/>
            <a:ext cx="4224528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VERIFIED LOCAL ARTIFACT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27432" tIns="9144" rIns="27432" bIns="9144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先核對 local artifact，再等待公開 release</a:t>
            </a:r>
          </a:p>
        </p:txBody>
      </p:sp>
      <p:sp>
        <p:nvSpPr>
          <p:cNvPr id="3" name="Exact command context frame"/>
          <p:cNvSpPr/>
          <p:nvPr/>
        </p:nvSpPr>
        <p:spPr>
          <a:xfrm>
            <a:off x="658368" y="960120"/>
            <a:ext cx="10881360" cy="585216"/>
          </a:xfrm>
          <a:prstGeom prst="roundRect">
            <a:avLst/>
          </a:prstGeom>
          <a:noFill/>
          <a:ln w="1524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Exact command line 1"/>
          <p:cNvSpPr txBox="1"/>
          <p:nvPr/>
        </p:nvSpPr>
        <p:spPr>
          <a:xfrm>
            <a:off x="822960" y="987552"/>
            <a:ext cx="5102352" cy="228600"/>
          </a:xfrm>
          <a:prstGeom prst="rect">
            <a:avLst/>
          </a:prstGeom>
          <a:noFill/>
          <a:ln>
            <a:noFill/>
          </a:ln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ls -l ~/lora-energy-lab-v1.zip</a:t>
            </a:r>
          </a:p>
        </p:txBody>
      </p:sp>
      <p:sp>
        <p:nvSpPr>
          <p:cNvPr id="5" name="Exact command line 2"/>
          <p:cNvSpPr txBox="1"/>
          <p:nvPr/>
        </p:nvSpPr>
        <p:spPr>
          <a:xfrm>
            <a:off x="822960" y="1216152"/>
            <a:ext cx="5102352" cy="228600"/>
          </a:xfrm>
          <a:prstGeom prst="rect">
            <a:avLst/>
          </a:prstGeom>
          <a:noFill/>
          <a:ln>
            <a:noFill/>
          </a:ln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sha256sum ~/lora-energy-lab-v1.zip</a:t>
            </a:r>
          </a:p>
        </p:txBody>
      </p:sp>
      <p:sp>
        <p:nvSpPr>
          <p:cNvPr id="6" name="Exact command line 3"/>
          <p:cNvSpPr txBox="1"/>
          <p:nvPr/>
        </p:nvSpPr>
        <p:spPr>
          <a:xfrm>
            <a:off x="6144768" y="987552"/>
            <a:ext cx="5102352" cy="228600"/>
          </a:xfrm>
          <a:prstGeom prst="rect">
            <a:avLst/>
          </a:prstGeom>
          <a:noFill/>
          <a:ln>
            <a:noFill/>
          </a:ln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# public URL: RELEASE_ASSET_PENDING</a:t>
            </a:r>
          </a:p>
        </p:txBody>
      </p:sp>
      <p:sp>
        <p:nvSpPr>
          <p:cNvPr id="7" name="Checksum artifact LOCAL ZIP"/>
          <p:cNvSpPr/>
          <p:nvPr/>
        </p:nvSpPr>
        <p:spPr>
          <a:xfrm>
            <a:off x="804672" y="1755648"/>
            <a:ext cx="5084064" cy="1554480"/>
          </a:xfrm>
          <a:prstGeom prst="roundRect">
            <a:avLst/>
          </a:prstGeom>
          <a:noFill/>
          <a:ln w="1524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hecksum heading LOCAL ZIP"/>
          <p:cNvSpPr txBox="1"/>
          <p:nvPr/>
        </p:nvSpPr>
        <p:spPr>
          <a:xfrm>
            <a:off x="969264" y="1975104"/>
            <a:ext cx="4754880" cy="347472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3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LOCAL ZIP</a:t>
            </a:r>
          </a:p>
        </p:txBody>
      </p:sp>
      <p:sp>
        <p:nvSpPr>
          <p:cNvPr id="9" name="Checksum body LOCAL ZIP"/>
          <p:cNvSpPr txBox="1"/>
          <p:nvPr/>
        </p:nvSpPr>
        <p:spPr>
          <a:xfrm>
            <a:off x="1024128" y="2468880"/>
            <a:ext cx="4645152" cy="530352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lora-energy-lab-v1.zip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121,139 bytes</a:t>
            </a:r>
          </a:p>
        </p:txBody>
      </p:sp>
      <p:sp>
        <p:nvSpPr>
          <p:cNvPr id="10" name="Checksum artifact SHA-256"/>
          <p:cNvSpPr/>
          <p:nvPr/>
        </p:nvSpPr>
        <p:spPr>
          <a:xfrm>
            <a:off x="6364224" y="1755648"/>
            <a:ext cx="5084064" cy="1554480"/>
          </a:xfrm>
          <a:prstGeom prst="roundRect">
            <a:avLst/>
          </a:prstGeom>
          <a:noFill/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hecksum heading SHA-256"/>
          <p:cNvSpPr txBox="1"/>
          <p:nvPr/>
        </p:nvSpPr>
        <p:spPr>
          <a:xfrm>
            <a:off x="6528816" y="1975104"/>
            <a:ext cx="4754880" cy="347472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3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SHA-256</a:t>
            </a:r>
          </a:p>
        </p:txBody>
      </p:sp>
      <p:sp>
        <p:nvSpPr>
          <p:cNvPr id="12" name="Checksum body SHA-256"/>
          <p:cNvSpPr txBox="1"/>
          <p:nvPr/>
        </p:nvSpPr>
        <p:spPr>
          <a:xfrm>
            <a:off x="6583680" y="2468880"/>
            <a:ext cx="4645152" cy="530352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047e8459988d8bee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59fbfdcc39189e00048f3697968901ce5b6e5363dc9e8c8c</a:t>
            </a:r>
          </a:p>
        </p:txBody>
      </p:sp>
      <p:sp>
        <p:nvSpPr>
          <p:cNvPr id="13" name="Repository identity"/>
          <p:cNvSpPr txBox="1"/>
          <p:nvPr/>
        </p:nvSpPr>
        <p:spPr>
          <a:xfrm>
            <a:off x="1060704" y="3328416"/>
            <a:ext cx="10076688" cy="274320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696969"/>
                </a:solidFill>
                <a:latin typeface="Times New Roman"/>
                <a:ea typeface="標楷體"/>
                <a:cs typeface="Times New Roman"/>
              </a:rPr>
              <a:t>repo：github.com/cedarwud/lora-energy-lab</a:t>
            </a:r>
          </a:p>
        </p:txBody>
      </p:sp>
      <p:sp>
        <p:nvSpPr>
          <p:cNvPr id="14" name="Hash receipt"/>
          <p:cNvSpPr/>
          <p:nvPr/>
        </p:nvSpPr>
        <p:spPr>
          <a:xfrm>
            <a:off x="841248" y="3621024"/>
            <a:ext cx="10515600" cy="987552"/>
          </a:xfrm>
          <a:prstGeom prst="roundRect">
            <a:avLst/>
          </a:prstGeom>
          <a:noFill/>
          <a:ln w="1524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Hash status"/>
          <p:cNvSpPr txBox="1"/>
          <p:nvPr/>
        </p:nvSpPr>
        <p:spPr>
          <a:xfrm>
            <a:off x="1024128" y="3822191"/>
            <a:ext cx="1014984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receipt：VERIFIED LOCAL ARTIFACT｜19/19 tests PASS</a:t>
            </a:r>
          </a:p>
        </p:txBody>
      </p:sp>
      <p:sp>
        <p:nvSpPr>
          <p:cNvPr id="16" name="Hash limitation"/>
          <p:cNvSpPr txBox="1"/>
          <p:nvPr/>
        </p:nvSpPr>
        <p:spPr>
          <a:xfrm>
            <a:off x="1097280" y="4206240"/>
            <a:ext cx="10003536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公開 GitHub Release URL：RELEASE_ASSET_PENDING</a:t>
            </a:r>
          </a:p>
        </p:txBody>
      </p:sp>
      <p:sp>
        <p:nvSpPr>
          <p:cNvPr id="17" name="Evidence status tag"/>
          <p:cNvSpPr txBox="1"/>
          <p:nvPr/>
        </p:nvSpPr>
        <p:spPr>
          <a:xfrm>
            <a:off x="7315200" y="5230368"/>
            <a:ext cx="4224528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VERIFIED LOCAL ARTIFACT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27432" tIns="9144" rIns="27432" bIns="9144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Windows 原生先確認 shell 與 launcher</a:t>
            </a:r>
          </a:p>
        </p:txBody>
      </p:sp>
      <p:sp>
        <p:nvSpPr>
          <p:cNvPr id="3" name="Shell panel CMD"/>
          <p:cNvSpPr/>
          <p:nvPr/>
        </p:nvSpPr>
        <p:spPr>
          <a:xfrm>
            <a:off x="804672" y="1298448"/>
            <a:ext cx="5084064" cy="3182112"/>
          </a:xfrm>
          <a:prstGeom prst="roundRect">
            <a:avLst/>
          </a:prstGeom>
          <a:noFill/>
          <a:ln w="1524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hell heading CMD"/>
          <p:cNvSpPr txBox="1"/>
          <p:nvPr/>
        </p:nvSpPr>
        <p:spPr>
          <a:xfrm>
            <a:off x="987552" y="1554480"/>
            <a:ext cx="4718304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3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CMD</a:t>
            </a:r>
          </a:p>
        </p:txBody>
      </p:sp>
      <p:sp>
        <p:nvSpPr>
          <p:cNvPr id="5" name="Shell prompt CMD"/>
          <p:cNvSpPr txBox="1"/>
          <p:nvPr/>
        </p:nvSpPr>
        <p:spPr>
          <a:xfrm>
            <a:off x="1060704" y="2130552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C:\...&gt;</a:t>
            </a:r>
          </a:p>
        </p:txBody>
      </p:sp>
      <p:sp>
        <p:nvSpPr>
          <p:cNvPr id="6" name="Shell commands CMD"/>
          <p:cNvSpPr txBox="1"/>
          <p:nvPr/>
        </p:nvSpPr>
        <p:spPr>
          <a:xfrm>
            <a:off x="1060704" y="2779776"/>
            <a:ext cx="4572000" cy="859536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py --list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py -3.11 --version</a:t>
            </a:r>
          </a:p>
        </p:txBody>
      </p:sp>
      <p:sp>
        <p:nvSpPr>
          <p:cNvPr id="7" name="Shell panel PowerShell"/>
          <p:cNvSpPr/>
          <p:nvPr/>
        </p:nvSpPr>
        <p:spPr>
          <a:xfrm>
            <a:off x="6364224" y="1298448"/>
            <a:ext cx="5084064" cy="3182112"/>
          </a:xfrm>
          <a:prstGeom prst="roundRect">
            <a:avLst/>
          </a:prstGeom>
          <a:noFill/>
          <a:ln w="1524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Shell heading PowerShell"/>
          <p:cNvSpPr txBox="1"/>
          <p:nvPr/>
        </p:nvSpPr>
        <p:spPr>
          <a:xfrm>
            <a:off x="6547104" y="1554480"/>
            <a:ext cx="4718304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3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PowerShell</a:t>
            </a:r>
          </a:p>
        </p:txBody>
      </p:sp>
      <p:sp>
        <p:nvSpPr>
          <p:cNvPr id="9" name="Shell prompt PowerShell"/>
          <p:cNvSpPr txBox="1"/>
          <p:nvPr/>
        </p:nvSpPr>
        <p:spPr>
          <a:xfrm>
            <a:off x="6620256" y="2130552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PS C:\...&gt;</a:t>
            </a:r>
          </a:p>
        </p:txBody>
      </p:sp>
      <p:sp>
        <p:nvSpPr>
          <p:cNvPr id="10" name="Shell commands PowerShell"/>
          <p:cNvSpPr txBox="1"/>
          <p:nvPr/>
        </p:nvSpPr>
        <p:spPr>
          <a:xfrm>
            <a:off x="6620256" y="2779776"/>
            <a:ext cx="4572000" cy="859536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py --list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py -3.11 --version</a:t>
            </a:r>
          </a:p>
        </p:txBody>
      </p:sp>
      <p:sp>
        <p:nvSpPr>
          <p:cNvPr id="11" name="Shell expected"/>
          <p:cNvSpPr txBox="1"/>
          <p:nvPr/>
        </p:nvSpPr>
        <p:spPr>
          <a:xfrm>
            <a:off x="1097280" y="4681728"/>
            <a:ext cx="10003536" cy="347472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預期：PLACEHOLDER｜看到 Python 3.11.x 才進入 setup</a:t>
            </a:r>
          </a:p>
        </p:txBody>
      </p:sp>
      <p:sp>
        <p:nvSpPr>
          <p:cNvPr id="12" name="Evidence status tag"/>
          <p:cNvSpPr txBox="1"/>
          <p:nvPr/>
        </p:nvSpPr>
        <p:spPr>
          <a:xfrm>
            <a:off x="7315200" y="5230368"/>
            <a:ext cx="4224528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IMPLEMENTED / NOT VERIFIED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27432" tIns="9144" rIns="27432" bIns="9144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沒有 Python 3.11 時的 Windows 安裝路徑</a:t>
            </a:r>
          </a:p>
        </p:txBody>
      </p:sp>
      <p:sp>
        <p:nvSpPr>
          <p:cNvPr id="3" name="Exact command context frame"/>
          <p:cNvSpPr/>
          <p:nvPr/>
        </p:nvSpPr>
        <p:spPr>
          <a:xfrm>
            <a:off x="658368" y="960120"/>
            <a:ext cx="10881360" cy="585216"/>
          </a:xfrm>
          <a:prstGeom prst="roundRect">
            <a:avLst/>
          </a:prstGeom>
          <a:noFill/>
          <a:ln w="1524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Exact command line 1"/>
          <p:cNvSpPr txBox="1"/>
          <p:nvPr/>
        </p:nvSpPr>
        <p:spPr>
          <a:xfrm>
            <a:off x="822960" y="987552"/>
            <a:ext cx="5102352" cy="228600"/>
          </a:xfrm>
          <a:prstGeom prst="rect">
            <a:avLst/>
          </a:prstGeom>
          <a:noFill/>
          <a:ln>
            <a:noFill/>
          </a:ln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開啟：https://www.python.org/downloads/windows/</a:t>
            </a:r>
          </a:p>
        </p:txBody>
      </p:sp>
      <p:sp>
        <p:nvSpPr>
          <p:cNvPr id="5" name="Exact command line 2"/>
          <p:cNvSpPr txBox="1"/>
          <p:nvPr/>
        </p:nvSpPr>
        <p:spPr>
          <a:xfrm>
            <a:off x="822960" y="1216152"/>
            <a:ext cx="5102352" cy="228600"/>
          </a:xfrm>
          <a:prstGeom prst="rect">
            <a:avLst/>
          </a:prstGeom>
          <a:noFill/>
          <a:ln>
            <a:noFill/>
          </a:ln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安裝後：py --list</a:t>
            </a:r>
          </a:p>
        </p:txBody>
      </p:sp>
      <p:sp>
        <p:nvSpPr>
          <p:cNvPr id="6" name="Exact command line 3"/>
          <p:cNvSpPr txBox="1"/>
          <p:nvPr/>
        </p:nvSpPr>
        <p:spPr>
          <a:xfrm>
            <a:off x="6144768" y="987552"/>
            <a:ext cx="5102352" cy="228600"/>
          </a:xfrm>
          <a:prstGeom prst="rect">
            <a:avLst/>
          </a:prstGeom>
          <a:noFill/>
          <a:ln>
            <a:noFill/>
          </a:ln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確認：py -3.11 --version</a:t>
            </a:r>
          </a:p>
        </p:txBody>
      </p:sp>
      <p:cxnSp>
        <p:nvCxnSpPr>
          <p:cNvPr id="7" name="Recovery spine"/>
          <p:cNvCxnSpPr/>
          <p:nvPr/>
        </p:nvCxnSpPr>
        <p:spPr>
          <a:xfrm>
            <a:off x="1335024" y="1755648"/>
            <a:ext cx="0" cy="2871216"/>
          </a:xfrm>
          <a:prstGeom prst="line">
            <a:avLst/>
          </a:prstGeom>
          <a:ln w="2540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overy step 1"/>
          <p:cNvSpPr/>
          <p:nvPr/>
        </p:nvSpPr>
        <p:spPr>
          <a:xfrm>
            <a:off x="1078992" y="1664208"/>
            <a:ext cx="512064" cy="512064"/>
          </a:xfrm>
          <a:prstGeom prst="ellipse">
            <a:avLst/>
          </a:prstGeom>
          <a:solidFill>
            <a:srgbClr val="6F89F7"/>
          </a:solidFill>
          <a:ln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overy number 1"/>
          <p:cNvSpPr txBox="1"/>
          <p:nvPr/>
        </p:nvSpPr>
        <p:spPr>
          <a:xfrm>
            <a:off x="1078992" y="1746504"/>
            <a:ext cx="512064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Times New Roman"/>
                <a:ea typeface="標楷體"/>
                <a:cs typeface="Times New Roman"/>
              </a:rPr>
              <a:t>1</a:t>
            </a:r>
          </a:p>
        </p:txBody>
      </p:sp>
      <p:sp>
        <p:nvSpPr>
          <p:cNvPr id="10" name="Recovery frame 1"/>
          <p:cNvSpPr/>
          <p:nvPr/>
        </p:nvSpPr>
        <p:spPr>
          <a:xfrm>
            <a:off x="1938528" y="1627632"/>
            <a:ext cx="8796528" cy="603504"/>
          </a:xfrm>
          <a:prstGeom prst="roundRect">
            <a:avLst/>
          </a:prstGeom>
          <a:noFill/>
          <a:ln w="1524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overy heading 1"/>
          <p:cNvSpPr txBox="1"/>
          <p:nvPr/>
        </p:nvSpPr>
        <p:spPr>
          <a:xfrm>
            <a:off x="2139696" y="1709928"/>
            <a:ext cx="3127248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official installer / uv</a:t>
            </a:r>
          </a:p>
        </p:txBody>
      </p:sp>
      <p:sp>
        <p:nvSpPr>
          <p:cNvPr id="12" name="Recovery body 1"/>
          <p:cNvSpPr txBox="1"/>
          <p:nvPr/>
        </p:nvSpPr>
        <p:spPr>
          <a:xfrm>
            <a:off x="5358384" y="1709928"/>
            <a:ext cx="5065776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取得 Python 3.11.x</a:t>
            </a:r>
          </a:p>
        </p:txBody>
      </p:sp>
      <p:sp>
        <p:nvSpPr>
          <p:cNvPr id="13" name="Recovery step 2"/>
          <p:cNvSpPr/>
          <p:nvPr/>
        </p:nvSpPr>
        <p:spPr>
          <a:xfrm>
            <a:off x="1078992" y="2414016"/>
            <a:ext cx="512064" cy="512064"/>
          </a:xfrm>
          <a:prstGeom prst="ellipse">
            <a:avLst/>
          </a:prstGeom>
          <a:solidFill>
            <a:srgbClr val="846826"/>
          </a:solidFill>
          <a:ln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overy number 2"/>
          <p:cNvSpPr txBox="1"/>
          <p:nvPr/>
        </p:nvSpPr>
        <p:spPr>
          <a:xfrm>
            <a:off x="1078992" y="2496312"/>
            <a:ext cx="512064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Times New Roman"/>
                <a:ea typeface="標楷體"/>
                <a:cs typeface="Times New Roman"/>
              </a:rPr>
              <a:t>2</a:t>
            </a:r>
          </a:p>
        </p:txBody>
      </p:sp>
      <p:sp>
        <p:nvSpPr>
          <p:cNvPr id="15" name="Recovery frame 2"/>
          <p:cNvSpPr/>
          <p:nvPr/>
        </p:nvSpPr>
        <p:spPr>
          <a:xfrm>
            <a:off x="1938528" y="2377440"/>
            <a:ext cx="8796528" cy="603504"/>
          </a:xfrm>
          <a:prstGeom prst="roundRect">
            <a:avLst/>
          </a:prstGeom>
          <a:noFill/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overy heading 2"/>
          <p:cNvSpPr txBox="1"/>
          <p:nvPr/>
        </p:nvSpPr>
        <p:spPr>
          <a:xfrm>
            <a:off x="2139696" y="2459736"/>
            <a:ext cx="3127248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Python Launcher</a:t>
            </a:r>
          </a:p>
        </p:txBody>
      </p:sp>
      <p:sp>
        <p:nvSpPr>
          <p:cNvPr id="17" name="Recovery body 2"/>
          <p:cNvSpPr txBox="1"/>
          <p:nvPr/>
        </p:nvSpPr>
        <p:spPr>
          <a:xfrm>
            <a:off x="5358384" y="2459736"/>
            <a:ext cx="5065776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保留 py --list</a:t>
            </a:r>
          </a:p>
        </p:txBody>
      </p:sp>
      <p:sp>
        <p:nvSpPr>
          <p:cNvPr id="18" name="Recovery step 3"/>
          <p:cNvSpPr/>
          <p:nvPr/>
        </p:nvSpPr>
        <p:spPr>
          <a:xfrm>
            <a:off x="1078992" y="3163824"/>
            <a:ext cx="512064" cy="512064"/>
          </a:xfrm>
          <a:prstGeom prst="ellipse">
            <a:avLst/>
          </a:prstGeom>
          <a:solidFill>
            <a:srgbClr val="6F89F7"/>
          </a:solidFill>
          <a:ln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overy number 3"/>
          <p:cNvSpPr txBox="1"/>
          <p:nvPr/>
        </p:nvSpPr>
        <p:spPr>
          <a:xfrm>
            <a:off x="1078992" y="3246120"/>
            <a:ext cx="512064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Times New Roman"/>
                <a:ea typeface="標楷體"/>
                <a:cs typeface="Times New Roman"/>
              </a:rPr>
              <a:t>3</a:t>
            </a:r>
          </a:p>
        </p:txBody>
      </p:sp>
      <p:sp>
        <p:nvSpPr>
          <p:cNvPr id="20" name="Recovery frame 3"/>
          <p:cNvSpPr/>
          <p:nvPr/>
        </p:nvSpPr>
        <p:spPr>
          <a:xfrm>
            <a:off x="1938528" y="3127248"/>
            <a:ext cx="8796528" cy="603504"/>
          </a:xfrm>
          <a:prstGeom prst="roundRect">
            <a:avLst/>
          </a:prstGeom>
          <a:noFill/>
          <a:ln w="1524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overy heading 3"/>
          <p:cNvSpPr txBox="1"/>
          <p:nvPr/>
        </p:nvSpPr>
        <p:spPr>
          <a:xfrm>
            <a:off x="2139696" y="3209544"/>
            <a:ext cx="3127248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reopen shell</a:t>
            </a:r>
          </a:p>
        </p:txBody>
      </p:sp>
      <p:sp>
        <p:nvSpPr>
          <p:cNvPr id="22" name="Recovery body 3"/>
          <p:cNvSpPr txBox="1"/>
          <p:nvPr/>
        </p:nvSpPr>
        <p:spPr>
          <a:xfrm>
            <a:off x="5358384" y="3209544"/>
            <a:ext cx="5065776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清掉舊 PATH 狀態</a:t>
            </a:r>
          </a:p>
        </p:txBody>
      </p:sp>
      <p:sp>
        <p:nvSpPr>
          <p:cNvPr id="23" name="Recovery step 4"/>
          <p:cNvSpPr/>
          <p:nvPr/>
        </p:nvSpPr>
        <p:spPr>
          <a:xfrm>
            <a:off x="1078992" y="3913632"/>
            <a:ext cx="512064" cy="512064"/>
          </a:xfrm>
          <a:prstGeom prst="ellipse">
            <a:avLst/>
          </a:prstGeom>
          <a:solidFill>
            <a:srgbClr val="35377F"/>
          </a:solidFill>
          <a:ln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overy number 4"/>
          <p:cNvSpPr txBox="1"/>
          <p:nvPr/>
        </p:nvSpPr>
        <p:spPr>
          <a:xfrm>
            <a:off x="1078992" y="3995928"/>
            <a:ext cx="512064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Times New Roman"/>
                <a:ea typeface="標楷體"/>
                <a:cs typeface="Times New Roman"/>
              </a:rPr>
              <a:t>4</a:t>
            </a:r>
          </a:p>
        </p:txBody>
      </p:sp>
      <p:sp>
        <p:nvSpPr>
          <p:cNvPr id="25" name="Recovery frame 4"/>
          <p:cNvSpPr/>
          <p:nvPr/>
        </p:nvSpPr>
        <p:spPr>
          <a:xfrm>
            <a:off x="1938528" y="3877056"/>
            <a:ext cx="8796528" cy="603504"/>
          </a:xfrm>
          <a:prstGeom prst="roundRect">
            <a:avLst/>
          </a:prstGeom>
          <a:noFill/>
          <a:ln w="1524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overy heading 4"/>
          <p:cNvSpPr txBox="1"/>
          <p:nvPr/>
        </p:nvSpPr>
        <p:spPr>
          <a:xfrm>
            <a:off x="2139696" y="3959352"/>
            <a:ext cx="3127248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version gate</a:t>
            </a:r>
          </a:p>
        </p:txBody>
      </p:sp>
      <p:sp>
        <p:nvSpPr>
          <p:cNvPr id="27" name="Recovery body 4"/>
          <p:cNvSpPr txBox="1"/>
          <p:nvPr/>
        </p:nvSpPr>
        <p:spPr>
          <a:xfrm>
            <a:off x="5358384" y="3959352"/>
            <a:ext cx="5065776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py -3.11 --version</a:t>
            </a:r>
          </a:p>
        </p:txBody>
      </p:sp>
      <p:sp>
        <p:nvSpPr>
          <p:cNvPr id="28" name="Evidence status tag"/>
          <p:cNvSpPr txBox="1"/>
          <p:nvPr/>
        </p:nvSpPr>
        <p:spPr>
          <a:xfrm>
            <a:off x="7315200" y="5230368"/>
            <a:ext cx="4224528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IMPLEMENTED / NOT VERIFIED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 txBox="1"/>
          <p:nvPr/>
        </p:nvSpPr>
        <p:spPr>
          <a:xfrm>
            <a:off x="594360" y="201168"/>
            <a:ext cx="10561320" cy="621792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uv 是 Python 3.11 的 recovery 工具</a:t>
            </a:r>
          </a:p>
        </p:txBody>
      </p:sp>
      <p:sp>
        <p:nvSpPr>
          <p:cNvPr id="3" name="Native title anchor"/>
          <p:cNvSpPr txBox="1"/>
          <p:nvPr/>
        </p:nvSpPr>
        <p:spPr>
          <a:xfrm>
            <a:off x="594360" y="201168"/>
            <a:ext cx="10561320" cy="621792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uv 是 Python 3.11 的 recovery 工具</a:t>
            </a:r>
          </a:p>
        </p:txBody>
      </p:sp>
      <p:sp>
        <p:nvSpPr>
          <p:cNvPr id="4" name="Command context frame"/>
          <p:cNvSpPr/>
          <p:nvPr/>
        </p:nvSpPr>
        <p:spPr>
          <a:xfrm>
            <a:off x="749808" y="1298448"/>
            <a:ext cx="6903720" cy="3328416"/>
          </a:xfrm>
          <a:prstGeom prst="roundRect">
            <a:avLst/>
          </a:prstGeom>
          <a:noFill/>
          <a:ln w="1524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ommand context label"/>
          <p:cNvSpPr txBox="1"/>
          <p:nvPr/>
        </p:nvSpPr>
        <p:spPr>
          <a:xfrm>
            <a:off x="859536" y="1344168"/>
            <a:ext cx="6684264" cy="310896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PowerShell / POSIX command ribbon</a:t>
            </a:r>
          </a:p>
        </p:txBody>
      </p:sp>
      <p:sp>
        <p:nvSpPr>
          <p:cNvPr id="6" name="Command line 1"/>
          <p:cNvSpPr txBox="1"/>
          <p:nvPr/>
        </p:nvSpPr>
        <p:spPr>
          <a:xfrm>
            <a:off x="886968" y="1700784"/>
            <a:ext cx="6629400" cy="457200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winget install --id=astral-sh.uv -e</a:t>
            </a:r>
          </a:p>
        </p:txBody>
      </p:sp>
      <p:sp>
        <p:nvSpPr>
          <p:cNvPr id="7" name="Command line 2"/>
          <p:cNvSpPr txBox="1"/>
          <p:nvPr/>
        </p:nvSpPr>
        <p:spPr>
          <a:xfrm>
            <a:off x="886968" y="2176272"/>
            <a:ext cx="6629400" cy="457200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uv python install 3.11</a:t>
            </a:r>
          </a:p>
        </p:txBody>
      </p:sp>
      <p:sp>
        <p:nvSpPr>
          <p:cNvPr id="8" name="Command line 3"/>
          <p:cNvSpPr txBox="1"/>
          <p:nvPr/>
        </p:nvSpPr>
        <p:spPr>
          <a:xfrm>
            <a:off x="886968" y="2651760"/>
            <a:ext cx="6629400" cy="457200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uv python find 3.11</a:t>
            </a:r>
          </a:p>
        </p:txBody>
      </p:sp>
      <p:sp>
        <p:nvSpPr>
          <p:cNvPr id="9" name="Command expected panel"/>
          <p:cNvSpPr/>
          <p:nvPr/>
        </p:nvSpPr>
        <p:spPr>
          <a:xfrm>
            <a:off x="8010144" y="1298448"/>
            <a:ext cx="3291840" cy="3328416"/>
          </a:xfrm>
          <a:prstGeom prst="roundRect">
            <a:avLst/>
          </a:prstGeom>
          <a:noFill/>
          <a:ln w="1524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Command receipt heading"/>
          <p:cNvSpPr txBox="1"/>
          <p:nvPr/>
        </p:nvSpPr>
        <p:spPr>
          <a:xfrm>
            <a:off x="8229600" y="1591056"/>
            <a:ext cx="2852928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receipt / purpose</a:t>
            </a:r>
          </a:p>
        </p:txBody>
      </p:sp>
      <p:sp>
        <p:nvSpPr>
          <p:cNvPr id="11" name="Command expected body"/>
          <p:cNvSpPr txBox="1"/>
          <p:nvPr/>
        </p:nvSpPr>
        <p:spPr>
          <a:xfrm>
            <a:off x="8339327" y="2249424"/>
            <a:ext cx="2633472" cy="1572768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預期 receipt：PLACEHOLDER｜uv fresh setup 尚未驗證；成功時回傳實際 path。</a:t>
            </a:r>
          </a:p>
        </p:txBody>
      </p:sp>
      <p:sp>
        <p:nvSpPr>
          <p:cNvPr id="12" name="Evidence status tag"/>
          <p:cNvSpPr txBox="1"/>
          <p:nvPr/>
        </p:nvSpPr>
        <p:spPr>
          <a:xfrm>
            <a:off x="7315200" y="5230368"/>
            <a:ext cx="4224528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IMPLEMENTED / NOT VERIFIED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27432" tIns="9144" rIns="27432" bIns="9144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Windows 用 package-local .venv</a:t>
            </a:r>
          </a:p>
        </p:txBody>
      </p:sp>
      <p:sp>
        <p:nvSpPr>
          <p:cNvPr id="3" name="Exact command context frame"/>
          <p:cNvSpPr/>
          <p:nvPr/>
        </p:nvSpPr>
        <p:spPr>
          <a:xfrm>
            <a:off x="658368" y="960120"/>
            <a:ext cx="10881360" cy="356616"/>
          </a:xfrm>
          <a:prstGeom prst="roundRect">
            <a:avLst/>
          </a:prstGeom>
          <a:noFill/>
          <a:ln w="1524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Exact command line 1"/>
          <p:cNvSpPr txBox="1"/>
          <p:nvPr/>
        </p:nvSpPr>
        <p:spPr>
          <a:xfrm>
            <a:off x="822960" y="987552"/>
            <a:ext cx="5102352" cy="228600"/>
          </a:xfrm>
          <a:prstGeom prst="rect">
            <a:avLst/>
          </a:prstGeom>
          <a:noFill/>
          <a:ln>
            <a:noFill/>
          </a:ln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PS&gt; Get-ChildItem .venv\Scripts\python.exe</a:t>
            </a:r>
          </a:p>
        </p:txBody>
      </p:sp>
      <p:sp>
        <p:nvSpPr>
          <p:cNvPr id="5" name="Exact command line 2"/>
          <p:cNvSpPr txBox="1"/>
          <p:nvPr/>
        </p:nvSpPr>
        <p:spPr>
          <a:xfrm>
            <a:off x="6144768" y="987552"/>
            <a:ext cx="5102352" cy="228600"/>
          </a:xfrm>
          <a:prstGeom prst="rect">
            <a:avLst/>
          </a:prstGeom>
          <a:noFill/>
          <a:ln>
            <a:noFill/>
          </a:ln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PS&gt; .\.venv\Scripts\python.exe --version</a:t>
            </a:r>
          </a:p>
        </p:txBody>
      </p:sp>
      <p:sp>
        <p:nvSpPr>
          <p:cNvPr id="6" name="Environment panel SYSTEM PYTHON"/>
          <p:cNvSpPr/>
          <p:nvPr/>
        </p:nvSpPr>
        <p:spPr>
          <a:xfrm>
            <a:off x="877824" y="1417320"/>
            <a:ext cx="5065776" cy="2194560"/>
          </a:xfrm>
          <a:prstGeom prst="roundRect">
            <a:avLst/>
          </a:prstGeom>
          <a:noFill/>
          <a:ln w="15240"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Environment heading SYSTEM PYTHON"/>
          <p:cNvSpPr txBox="1"/>
          <p:nvPr/>
        </p:nvSpPr>
        <p:spPr>
          <a:xfrm>
            <a:off x="1060704" y="1664208"/>
            <a:ext cx="4700016" cy="402336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696969"/>
                </a:solidFill>
                <a:latin typeface="Times New Roman"/>
                <a:ea typeface="標楷體"/>
                <a:cs typeface="Times New Roman"/>
              </a:rPr>
              <a:t>SYSTEM PYTHON</a:t>
            </a:r>
          </a:p>
        </p:txBody>
      </p:sp>
      <p:sp>
        <p:nvSpPr>
          <p:cNvPr id="8" name="Environment body SYSTEM PYTHON"/>
          <p:cNvSpPr txBox="1"/>
          <p:nvPr/>
        </p:nvSpPr>
        <p:spPr>
          <a:xfrm>
            <a:off x="1115568" y="2340864"/>
            <a:ext cx="4590288" cy="749808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other project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shared packages</a:t>
            </a:r>
          </a:p>
        </p:txBody>
      </p:sp>
      <p:sp>
        <p:nvSpPr>
          <p:cNvPr id="9" name="Environment panel PACKAGE .venv"/>
          <p:cNvSpPr/>
          <p:nvPr/>
        </p:nvSpPr>
        <p:spPr>
          <a:xfrm>
            <a:off x="6437376" y="1417320"/>
            <a:ext cx="5065776" cy="2194560"/>
          </a:xfrm>
          <a:prstGeom prst="roundRect">
            <a:avLst/>
          </a:prstGeom>
          <a:noFill/>
          <a:ln w="1524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nvironment heading PACKAGE .venv"/>
          <p:cNvSpPr txBox="1"/>
          <p:nvPr/>
        </p:nvSpPr>
        <p:spPr>
          <a:xfrm>
            <a:off x="6620256" y="1664208"/>
            <a:ext cx="4700016" cy="402336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PACKAGE .venv</a:t>
            </a:r>
          </a:p>
        </p:txBody>
      </p:sp>
      <p:sp>
        <p:nvSpPr>
          <p:cNvPr id="11" name="Environment body PACKAGE .venv"/>
          <p:cNvSpPr txBox="1"/>
          <p:nvPr/>
        </p:nvSpPr>
        <p:spPr>
          <a:xfrm>
            <a:off x="6675120" y="2340864"/>
            <a:ext cx="4590288" cy="749808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.venv\Scripts\python.exe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package-local lock</a:t>
            </a:r>
          </a:p>
        </p:txBody>
      </p:sp>
      <p:cxnSp>
        <p:nvCxnSpPr>
          <p:cNvPr id="12" name="Environment boundary"/>
          <p:cNvCxnSpPr/>
          <p:nvPr/>
        </p:nvCxnSpPr>
        <p:spPr>
          <a:xfrm>
            <a:off x="5961888" y="2505456"/>
            <a:ext cx="0" cy="896112"/>
          </a:xfrm>
          <a:prstGeom prst="line">
            <a:avLst/>
          </a:prstGeom>
          <a:ln w="25400">
            <a:solidFill>
              <a:srgbClr val="8468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Environment rule"/>
          <p:cNvSpPr txBox="1"/>
          <p:nvPr/>
        </p:nvSpPr>
        <p:spPr>
          <a:xfrm>
            <a:off x="1874519" y="4041648"/>
            <a:ext cx="8449056" cy="512064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不要共享 WSL .venv｜正常上課不必 activate，launcher 優先找 package-local venv</a:t>
            </a:r>
          </a:p>
        </p:txBody>
      </p:sp>
      <p:sp>
        <p:nvSpPr>
          <p:cNvPr id="14" name="Evidence status tag"/>
          <p:cNvSpPr txBox="1"/>
          <p:nvPr/>
        </p:nvSpPr>
        <p:spPr>
          <a:xfrm>
            <a:off x="7315200" y="5230368"/>
            <a:ext cx="4224528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IMPLEMENTED / NOT VERIFIED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27432" tIns="9144" rIns="27432" bIns="9144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Windows 執行 setup 與 verify</a:t>
            </a:r>
          </a:p>
        </p:txBody>
      </p:sp>
      <p:sp>
        <p:nvSpPr>
          <p:cNvPr id="3" name="Command context frame"/>
          <p:cNvSpPr/>
          <p:nvPr/>
        </p:nvSpPr>
        <p:spPr>
          <a:xfrm>
            <a:off x="749808" y="1298448"/>
            <a:ext cx="5907024" cy="3383280"/>
          </a:xfrm>
          <a:prstGeom prst="roundRect">
            <a:avLst/>
          </a:prstGeom>
          <a:noFill/>
          <a:ln w="1524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ommand context label"/>
          <p:cNvSpPr txBox="1"/>
          <p:nvPr/>
        </p:nvSpPr>
        <p:spPr>
          <a:xfrm>
            <a:off x="859536" y="1344168"/>
            <a:ext cx="5687568" cy="310896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Windows PowerShell / package root</a:t>
            </a:r>
          </a:p>
        </p:txBody>
      </p:sp>
      <p:sp>
        <p:nvSpPr>
          <p:cNvPr id="5" name="Command line 1"/>
          <p:cNvSpPr txBox="1"/>
          <p:nvPr/>
        </p:nvSpPr>
        <p:spPr>
          <a:xfrm>
            <a:off x="886968" y="1700784"/>
            <a:ext cx="5632704" cy="457200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$env:PYTHON_BIN = "py -3.11"</a:t>
            </a:r>
          </a:p>
        </p:txBody>
      </p:sp>
      <p:sp>
        <p:nvSpPr>
          <p:cNvPr id="6" name="Command line 2"/>
          <p:cNvSpPr txBox="1"/>
          <p:nvPr/>
        </p:nvSpPr>
        <p:spPr>
          <a:xfrm>
            <a:off x="886968" y="2176272"/>
            <a:ext cx="5632704" cy="457200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.\setup.cmd</a:t>
            </a:r>
          </a:p>
        </p:txBody>
      </p:sp>
      <p:sp>
        <p:nvSpPr>
          <p:cNvPr id="7" name="Command line 3"/>
          <p:cNvSpPr txBox="1"/>
          <p:nvPr/>
        </p:nvSpPr>
        <p:spPr>
          <a:xfrm>
            <a:off x="886968" y="2651760"/>
            <a:ext cx="5632704" cy="457200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.\course.cmd verify</a:t>
            </a:r>
          </a:p>
        </p:txBody>
      </p:sp>
      <p:cxnSp>
        <p:nvCxnSpPr>
          <p:cNvPr id="8" name="Command to receipt"/>
          <p:cNvCxnSpPr/>
          <p:nvPr/>
        </p:nvCxnSpPr>
        <p:spPr>
          <a:xfrm>
            <a:off x="6821424" y="2971800"/>
            <a:ext cx="512064" cy="0"/>
          </a:xfrm>
          <a:prstGeom prst="line">
            <a:avLst/>
          </a:prstGeom>
          <a:ln w="22860">
            <a:solidFill>
              <a:srgbClr val="8468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ady receipt panel"/>
          <p:cNvSpPr/>
          <p:nvPr/>
        </p:nvSpPr>
        <p:spPr>
          <a:xfrm>
            <a:off x="7424927" y="1298448"/>
            <a:ext cx="3877056" cy="3383280"/>
          </a:xfrm>
          <a:prstGeom prst="roundRect">
            <a:avLst/>
          </a:prstGeom>
          <a:noFill/>
          <a:ln w="1524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ady receipt heading"/>
          <p:cNvSpPr txBox="1"/>
          <p:nvPr/>
        </p:nvSpPr>
        <p:spPr>
          <a:xfrm>
            <a:off x="7626096" y="1600200"/>
            <a:ext cx="3474720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machine-readable receipt</a:t>
            </a:r>
          </a:p>
        </p:txBody>
      </p:sp>
      <p:sp>
        <p:nvSpPr>
          <p:cNvPr id="11" name="Ready receipt fields"/>
          <p:cNvSpPr txBox="1"/>
          <p:nvPr/>
        </p:nvSpPr>
        <p:spPr>
          <a:xfrm>
            <a:off x="7790688" y="2221992"/>
            <a:ext cx="3163824" cy="1298448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status: READY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Python 3.11.x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scenario_id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policy_api_version</a:t>
            </a:r>
          </a:p>
        </p:txBody>
      </p:sp>
      <p:sp>
        <p:nvSpPr>
          <p:cNvPr id="12" name="Ready receipt status"/>
          <p:cNvSpPr txBox="1"/>
          <p:nvPr/>
        </p:nvSpPr>
        <p:spPr>
          <a:xfrm>
            <a:off x="7680960" y="3931920"/>
            <a:ext cx="3383280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目前：READY / PLACEHOLDER</a:t>
            </a:r>
          </a:p>
        </p:txBody>
      </p:sp>
      <p:sp>
        <p:nvSpPr>
          <p:cNvPr id="13" name="Evidence status tag"/>
          <p:cNvSpPr txBox="1"/>
          <p:nvPr/>
        </p:nvSpPr>
        <p:spPr>
          <a:xfrm>
            <a:off x="7315200" y="5230368"/>
            <a:ext cx="4224528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IMPLEMENTED / NOT VERIFIED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27432" tIns="9144" rIns="27432" bIns="9144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WSL 先確認它真的是 Ubuntu shell</a:t>
            </a:r>
          </a:p>
        </p:txBody>
      </p:sp>
      <p:sp>
        <p:nvSpPr>
          <p:cNvPr id="3" name="PowerShell WSL panel"/>
          <p:cNvSpPr/>
          <p:nvPr/>
        </p:nvSpPr>
        <p:spPr>
          <a:xfrm>
            <a:off x="768096" y="1261872"/>
            <a:ext cx="5212080" cy="3438144"/>
          </a:xfrm>
          <a:prstGeom prst="roundRect">
            <a:avLst/>
          </a:prstGeom>
          <a:noFill/>
          <a:ln w="1524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owerShell WSL heading"/>
          <p:cNvSpPr txBox="1"/>
          <p:nvPr/>
        </p:nvSpPr>
        <p:spPr>
          <a:xfrm>
            <a:off x="1005840" y="1554480"/>
            <a:ext cx="4736592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PowerShell（系統管理員）</a:t>
            </a:r>
          </a:p>
        </p:txBody>
      </p:sp>
      <p:sp>
        <p:nvSpPr>
          <p:cNvPr id="5" name="PowerShell WSL commands"/>
          <p:cNvSpPr txBox="1"/>
          <p:nvPr/>
        </p:nvSpPr>
        <p:spPr>
          <a:xfrm>
            <a:off x="1078992" y="2194560"/>
            <a:ext cx="4590288" cy="1280160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wsl --install -d Ubuntu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wsl -l -v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→ 進入 Ubuntu</a:t>
            </a:r>
          </a:p>
        </p:txBody>
      </p:sp>
      <p:sp>
        <p:nvSpPr>
          <p:cNvPr id="6" name="Ubuntu WSL panel"/>
          <p:cNvSpPr/>
          <p:nvPr/>
        </p:nvSpPr>
        <p:spPr>
          <a:xfrm>
            <a:off x="6217920" y="1261872"/>
            <a:ext cx="5212080" cy="3438144"/>
          </a:xfrm>
          <a:prstGeom prst="roundRect">
            <a:avLst/>
          </a:prstGeom>
          <a:noFill/>
          <a:ln w="1524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Ubuntu heading"/>
          <p:cNvSpPr txBox="1"/>
          <p:nvPr/>
        </p:nvSpPr>
        <p:spPr>
          <a:xfrm>
            <a:off x="6473952" y="1554480"/>
            <a:ext cx="4681728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Ubuntu shell</a:t>
            </a:r>
          </a:p>
        </p:txBody>
      </p:sp>
      <p:sp>
        <p:nvSpPr>
          <p:cNvPr id="8" name="Ubuntu commands"/>
          <p:cNvSpPr txBox="1"/>
          <p:nvPr/>
        </p:nvSpPr>
        <p:spPr>
          <a:xfrm>
            <a:off x="6565392" y="2194560"/>
            <a:ext cx="4517136" cy="1280160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pwd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uname -a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→ Linux home path 才用 setup.sh</a:t>
            </a:r>
          </a:p>
        </p:txBody>
      </p:sp>
      <p:sp>
        <p:nvSpPr>
          <p:cNvPr id="9" name="Evidence status tag"/>
          <p:cNvSpPr txBox="1"/>
          <p:nvPr/>
        </p:nvSpPr>
        <p:spPr>
          <a:xfrm>
            <a:off x="7315200" y="5230368"/>
            <a:ext cx="4224528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IMPLEMENTED / NOT VERIFIED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27432" tIns="9144" rIns="27432" bIns="9144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WSL 安裝工具與 uv</a:t>
            </a:r>
          </a:p>
        </p:txBody>
      </p:sp>
      <p:sp>
        <p:nvSpPr>
          <p:cNvPr id="3" name="Exact command context frame"/>
          <p:cNvSpPr/>
          <p:nvPr/>
        </p:nvSpPr>
        <p:spPr>
          <a:xfrm>
            <a:off x="658368" y="960120"/>
            <a:ext cx="10881360" cy="585216"/>
          </a:xfrm>
          <a:prstGeom prst="roundRect">
            <a:avLst/>
          </a:prstGeom>
          <a:noFill/>
          <a:ln w="1524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Exact command line 1"/>
          <p:cNvSpPr txBox="1"/>
          <p:nvPr/>
        </p:nvSpPr>
        <p:spPr>
          <a:xfrm>
            <a:off x="822960" y="987552"/>
            <a:ext cx="5102352" cy="228600"/>
          </a:xfrm>
          <a:prstGeom prst="rect">
            <a:avLst/>
          </a:prstGeom>
          <a:noFill/>
          <a:ln>
            <a:noFill/>
          </a:ln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sudo apt update</a:t>
            </a:r>
          </a:p>
        </p:txBody>
      </p:sp>
      <p:sp>
        <p:nvSpPr>
          <p:cNvPr id="5" name="Exact command line 2"/>
          <p:cNvSpPr txBox="1"/>
          <p:nvPr/>
        </p:nvSpPr>
        <p:spPr>
          <a:xfrm>
            <a:off x="822960" y="1216152"/>
            <a:ext cx="5102352" cy="228600"/>
          </a:xfrm>
          <a:prstGeom prst="rect">
            <a:avLst/>
          </a:prstGeom>
          <a:noFill/>
          <a:ln>
            <a:noFill/>
          </a:ln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sudo apt install -y curl unzip</a:t>
            </a:r>
          </a:p>
        </p:txBody>
      </p:sp>
      <p:sp>
        <p:nvSpPr>
          <p:cNvPr id="6" name="Exact command line 3"/>
          <p:cNvSpPr txBox="1"/>
          <p:nvPr/>
        </p:nvSpPr>
        <p:spPr>
          <a:xfrm>
            <a:off x="6144768" y="987552"/>
            <a:ext cx="5102352" cy="228600"/>
          </a:xfrm>
          <a:prstGeom prst="rect">
            <a:avLst/>
          </a:prstGeom>
          <a:noFill/>
          <a:ln>
            <a:noFill/>
          </a:ln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curl -LsSf https://astral.sh/uv/install.sh | sh</a:t>
            </a:r>
          </a:p>
        </p:txBody>
      </p:sp>
      <p:sp>
        <p:nvSpPr>
          <p:cNvPr id="7" name="Exact command line 4"/>
          <p:cNvSpPr txBox="1"/>
          <p:nvPr/>
        </p:nvSpPr>
        <p:spPr>
          <a:xfrm>
            <a:off x="6144768" y="1216152"/>
            <a:ext cx="5102352" cy="228600"/>
          </a:xfrm>
          <a:prstGeom prst="rect">
            <a:avLst/>
          </a:prstGeom>
          <a:noFill/>
          <a:ln>
            <a:noFill/>
          </a:ln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uv --version &amp;&amp; uv python find 3.11</a:t>
            </a:r>
          </a:p>
        </p:txBody>
      </p:sp>
      <p:cxnSp>
        <p:nvCxnSpPr>
          <p:cNvPr id="8" name="Recovery spine"/>
          <p:cNvCxnSpPr/>
          <p:nvPr/>
        </p:nvCxnSpPr>
        <p:spPr>
          <a:xfrm>
            <a:off x="1335024" y="1755648"/>
            <a:ext cx="0" cy="2871216"/>
          </a:xfrm>
          <a:prstGeom prst="line">
            <a:avLst/>
          </a:prstGeom>
          <a:ln w="2540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overy step 1"/>
          <p:cNvSpPr/>
          <p:nvPr/>
        </p:nvSpPr>
        <p:spPr>
          <a:xfrm>
            <a:off x="1078992" y="1664208"/>
            <a:ext cx="512064" cy="512064"/>
          </a:xfrm>
          <a:prstGeom prst="ellipse">
            <a:avLst/>
          </a:prstGeom>
          <a:solidFill>
            <a:srgbClr val="6F89F7"/>
          </a:solidFill>
          <a:ln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overy number 1"/>
          <p:cNvSpPr txBox="1"/>
          <p:nvPr/>
        </p:nvSpPr>
        <p:spPr>
          <a:xfrm>
            <a:off x="1078992" y="1746504"/>
            <a:ext cx="512064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Times New Roman"/>
                <a:ea typeface="標楷體"/>
                <a:cs typeface="Times New Roman"/>
              </a:rPr>
              <a:t>1</a:t>
            </a:r>
          </a:p>
        </p:txBody>
      </p:sp>
      <p:sp>
        <p:nvSpPr>
          <p:cNvPr id="11" name="Recovery frame 1"/>
          <p:cNvSpPr/>
          <p:nvPr/>
        </p:nvSpPr>
        <p:spPr>
          <a:xfrm>
            <a:off x="1938528" y="1627632"/>
            <a:ext cx="8796528" cy="603504"/>
          </a:xfrm>
          <a:prstGeom prst="roundRect">
            <a:avLst/>
          </a:prstGeom>
          <a:noFill/>
          <a:ln w="1524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overy heading 1"/>
          <p:cNvSpPr txBox="1"/>
          <p:nvPr/>
        </p:nvSpPr>
        <p:spPr>
          <a:xfrm>
            <a:off x="2139696" y="1709928"/>
            <a:ext cx="3127248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official installer / uv</a:t>
            </a:r>
          </a:p>
        </p:txBody>
      </p:sp>
      <p:sp>
        <p:nvSpPr>
          <p:cNvPr id="13" name="Recovery body 1"/>
          <p:cNvSpPr txBox="1"/>
          <p:nvPr/>
        </p:nvSpPr>
        <p:spPr>
          <a:xfrm>
            <a:off x="5358384" y="1709928"/>
            <a:ext cx="5065776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取得 Python 3.11.x</a:t>
            </a:r>
          </a:p>
        </p:txBody>
      </p:sp>
      <p:sp>
        <p:nvSpPr>
          <p:cNvPr id="14" name="Recovery step 2"/>
          <p:cNvSpPr/>
          <p:nvPr/>
        </p:nvSpPr>
        <p:spPr>
          <a:xfrm>
            <a:off x="1078992" y="2414016"/>
            <a:ext cx="512064" cy="512064"/>
          </a:xfrm>
          <a:prstGeom prst="ellipse">
            <a:avLst/>
          </a:prstGeom>
          <a:solidFill>
            <a:srgbClr val="846826"/>
          </a:solidFill>
          <a:ln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overy number 2"/>
          <p:cNvSpPr txBox="1"/>
          <p:nvPr/>
        </p:nvSpPr>
        <p:spPr>
          <a:xfrm>
            <a:off x="1078992" y="2496312"/>
            <a:ext cx="512064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Times New Roman"/>
                <a:ea typeface="標楷體"/>
                <a:cs typeface="Times New Roman"/>
              </a:rPr>
              <a:t>2</a:t>
            </a:r>
          </a:p>
        </p:txBody>
      </p:sp>
      <p:sp>
        <p:nvSpPr>
          <p:cNvPr id="16" name="Recovery frame 2"/>
          <p:cNvSpPr/>
          <p:nvPr/>
        </p:nvSpPr>
        <p:spPr>
          <a:xfrm>
            <a:off x="1938528" y="2377440"/>
            <a:ext cx="8796528" cy="603504"/>
          </a:xfrm>
          <a:prstGeom prst="roundRect">
            <a:avLst/>
          </a:prstGeom>
          <a:noFill/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overy heading 2"/>
          <p:cNvSpPr txBox="1"/>
          <p:nvPr/>
        </p:nvSpPr>
        <p:spPr>
          <a:xfrm>
            <a:off x="2139696" y="2459736"/>
            <a:ext cx="3127248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Python Launcher</a:t>
            </a:r>
          </a:p>
        </p:txBody>
      </p:sp>
      <p:sp>
        <p:nvSpPr>
          <p:cNvPr id="18" name="Recovery body 2"/>
          <p:cNvSpPr txBox="1"/>
          <p:nvPr/>
        </p:nvSpPr>
        <p:spPr>
          <a:xfrm>
            <a:off x="5358384" y="2459736"/>
            <a:ext cx="5065776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保留 py --list</a:t>
            </a:r>
          </a:p>
        </p:txBody>
      </p:sp>
      <p:sp>
        <p:nvSpPr>
          <p:cNvPr id="19" name="Recovery step 3"/>
          <p:cNvSpPr/>
          <p:nvPr/>
        </p:nvSpPr>
        <p:spPr>
          <a:xfrm>
            <a:off x="1078992" y="3163824"/>
            <a:ext cx="512064" cy="512064"/>
          </a:xfrm>
          <a:prstGeom prst="ellipse">
            <a:avLst/>
          </a:prstGeom>
          <a:solidFill>
            <a:srgbClr val="6F89F7"/>
          </a:solidFill>
          <a:ln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overy number 3"/>
          <p:cNvSpPr txBox="1"/>
          <p:nvPr/>
        </p:nvSpPr>
        <p:spPr>
          <a:xfrm>
            <a:off x="1078992" y="3246120"/>
            <a:ext cx="512064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Times New Roman"/>
                <a:ea typeface="標楷體"/>
                <a:cs typeface="Times New Roman"/>
              </a:rPr>
              <a:t>3</a:t>
            </a:r>
          </a:p>
        </p:txBody>
      </p:sp>
      <p:sp>
        <p:nvSpPr>
          <p:cNvPr id="21" name="Recovery frame 3"/>
          <p:cNvSpPr/>
          <p:nvPr/>
        </p:nvSpPr>
        <p:spPr>
          <a:xfrm>
            <a:off x="1938528" y="3127248"/>
            <a:ext cx="8796528" cy="603504"/>
          </a:xfrm>
          <a:prstGeom prst="roundRect">
            <a:avLst/>
          </a:prstGeom>
          <a:noFill/>
          <a:ln w="1524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overy heading 3"/>
          <p:cNvSpPr txBox="1"/>
          <p:nvPr/>
        </p:nvSpPr>
        <p:spPr>
          <a:xfrm>
            <a:off x="2139696" y="3209544"/>
            <a:ext cx="3127248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reopen shell</a:t>
            </a:r>
          </a:p>
        </p:txBody>
      </p:sp>
      <p:sp>
        <p:nvSpPr>
          <p:cNvPr id="23" name="Recovery body 3"/>
          <p:cNvSpPr txBox="1"/>
          <p:nvPr/>
        </p:nvSpPr>
        <p:spPr>
          <a:xfrm>
            <a:off x="5358384" y="3209544"/>
            <a:ext cx="5065776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清掉舊 PATH 狀態</a:t>
            </a:r>
          </a:p>
        </p:txBody>
      </p:sp>
      <p:sp>
        <p:nvSpPr>
          <p:cNvPr id="24" name="Recovery step 4"/>
          <p:cNvSpPr/>
          <p:nvPr/>
        </p:nvSpPr>
        <p:spPr>
          <a:xfrm>
            <a:off x="1078992" y="3913632"/>
            <a:ext cx="512064" cy="512064"/>
          </a:xfrm>
          <a:prstGeom prst="ellipse">
            <a:avLst/>
          </a:prstGeom>
          <a:solidFill>
            <a:srgbClr val="35377F"/>
          </a:solidFill>
          <a:ln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overy number 4"/>
          <p:cNvSpPr txBox="1"/>
          <p:nvPr/>
        </p:nvSpPr>
        <p:spPr>
          <a:xfrm>
            <a:off x="1078992" y="3995928"/>
            <a:ext cx="512064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Times New Roman"/>
                <a:ea typeface="標楷體"/>
                <a:cs typeface="Times New Roman"/>
              </a:rPr>
              <a:t>4</a:t>
            </a:r>
          </a:p>
        </p:txBody>
      </p:sp>
      <p:sp>
        <p:nvSpPr>
          <p:cNvPr id="26" name="Recovery frame 4"/>
          <p:cNvSpPr/>
          <p:nvPr/>
        </p:nvSpPr>
        <p:spPr>
          <a:xfrm>
            <a:off x="1938528" y="3877056"/>
            <a:ext cx="8796528" cy="603504"/>
          </a:xfrm>
          <a:prstGeom prst="roundRect">
            <a:avLst/>
          </a:prstGeom>
          <a:noFill/>
          <a:ln w="1524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overy heading 4"/>
          <p:cNvSpPr txBox="1"/>
          <p:nvPr/>
        </p:nvSpPr>
        <p:spPr>
          <a:xfrm>
            <a:off x="2139696" y="3959352"/>
            <a:ext cx="3127248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version gate</a:t>
            </a:r>
          </a:p>
        </p:txBody>
      </p:sp>
      <p:sp>
        <p:nvSpPr>
          <p:cNvPr id="28" name="Recovery body 4"/>
          <p:cNvSpPr txBox="1"/>
          <p:nvPr/>
        </p:nvSpPr>
        <p:spPr>
          <a:xfrm>
            <a:off x="5358384" y="3959352"/>
            <a:ext cx="5065776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py -3.11 --version</a:t>
            </a:r>
          </a:p>
        </p:txBody>
      </p:sp>
      <p:sp>
        <p:nvSpPr>
          <p:cNvPr id="29" name="Evidence status tag"/>
          <p:cNvSpPr txBox="1"/>
          <p:nvPr/>
        </p:nvSpPr>
        <p:spPr>
          <a:xfrm>
            <a:off x="7315200" y="5230368"/>
            <a:ext cx="4224528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IMPLEMENTED / NOT VERIFIED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27432" tIns="9144" rIns="27432" bIns="9144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WSL 解壓與建立 .venv</a:t>
            </a:r>
          </a:p>
        </p:txBody>
      </p:sp>
      <p:sp>
        <p:nvSpPr>
          <p:cNvPr id="3" name="Exact command context frame"/>
          <p:cNvSpPr/>
          <p:nvPr/>
        </p:nvSpPr>
        <p:spPr>
          <a:xfrm>
            <a:off x="658368" y="960120"/>
            <a:ext cx="10881360" cy="813816"/>
          </a:xfrm>
          <a:prstGeom prst="roundRect">
            <a:avLst/>
          </a:prstGeom>
          <a:noFill/>
          <a:ln w="1524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Exact command line 1"/>
          <p:cNvSpPr txBox="1"/>
          <p:nvPr/>
        </p:nvSpPr>
        <p:spPr>
          <a:xfrm>
            <a:off x="822960" y="987552"/>
            <a:ext cx="5102352" cy="228600"/>
          </a:xfrm>
          <a:prstGeom prst="rect">
            <a:avLst/>
          </a:prstGeom>
          <a:noFill/>
          <a:ln>
            <a:noFill/>
          </a:ln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cp /mnt/c/.../lora-energy-lab-v1.zip ~/</a:t>
            </a:r>
          </a:p>
        </p:txBody>
      </p:sp>
      <p:sp>
        <p:nvSpPr>
          <p:cNvPr id="5" name="Exact command line 2"/>
          <p:cNvSpPr txBox="1"/>
          <p:nvPr/>
        </p:nvSpPr>
        <p:spPr>
          <a:xfrm>
            <a:off x="822960" y="1216152"/>
            <a:ext cx="5102352" cy="228600"/>
          </a:xfrm>
          <a:prstGeom prst="rect">
            <a:avLst/>
          </a:prstGeom>
          <a:noFill/>
          <a:ln>
            <a:noFill/>
          </a:ln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unzip lora-energy-lab-v1.zip</a:t>
            </a:r>
          </a:p>
        </p:txBody>
      </p:sp>
      <p:sp>
        <p:nvSpPr>
          <p:cNvPr id="6" name="Exact command line 3"/>
          <p:cNvSpPr txBox="1"/>
          <p:nvPr/>
        </p:nvSpPr>
        <p:spPr>
          <a:xfrm>
            <a:off x="822960" y="1444752"/>
            <a:ext cx="5102352" cy="228600"/>
          </a:xfrm>
          <a:prstGeom prst="rect">
            <a:avLst/>
          </a:prstGeom>
          <a:noFill/>
          <a:ln>
            <a:noFill/>
          </a:ln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cd lora-energy-lab</a:t>
            </a:r>
          </a:p>
        </p:txBody>
      </p:sp>
      <p:sp>
        <p:nvSpPr>
          <p:cNvPr id="7" name="Exact command line 4"/>
          <p:cNvSpPr txBox="1"/>
          <p:nvPr/>
        </p:nvSpPr>
        <p:spPr>
          <a:xfrm>
            <a:off x="6144768" y="987552"/>
            <a:ext cx="5102352" cy="228600"/>
          </a:xfrm>
          <a:prstGeom prst="rect">
            <a:avLst/>
          </a:prstGeom>
          <a:noFill/>
          <a:ln>
            <a:noFill/>
          </a:ln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PYTHON_BIN=python3.11 bash setup.sh</a:t>
            </a:r>
          </a:p>
        </p:txBody>
      </p:sp>
      <p:sp>
        <p:nvSpPr>
          <p:cNvPr id="8" name="Exact command line 5"/>
          <p:cNvSpPr txBox="1"/>
          <p:nvPr/>
        </p:nvSpPr>
        <p:spPr>
          <a:xfrm>
            <a:off x="6144768" y="1216152"/>
            <a:ext cx="5102352" cy="228600"/>
          </a:xfrm>
          <a:prstGeom prst="rect">
            <a:avLst/>
          </a:prstGeom>
          <a:noFill/>
          <a:ln>
            <a:noFill/>
          </a:ln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bash course.sh verify</a:t>
            </a:r>
          </a:p>
        </p:txBody>
      </p:sp>
      <p:sp>
        <p:nvSpPr>
          <p:cNvPr id="9" name="Path node Windows Downloads"/>
          <p:cNvSpPr/>
          <p:nvPr/>
        </p:nvSpPr>
        <p:spPr>
          <a:xfrm>
            <a:off x="749808" y="1810512"/>
            <a:ext cx="2395728" cy="1499616"/>
          </a:xfrm>
          <a:prstGeom prst="roundRect">
            <a:avLst/>
          </a:prstGeom>
          <a:noFill/>
          <a:ln w="1524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Path heading Windows Downloads"/>
          <p:cNvSpPr txBox="1"/>
          <p:nvPr/>
        </p:nvSpPr>
        <p:spPr>
          <a:xfrm>
            <a:off x="859536" y="2011680"/>
            <a:ext cx="2176272" cy="347472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Windows Downloads</a:t>
            </a:r>
          </a:p>
        </p:txBody>
      </p:sp>
      <p:sp>
        <p:nvSpPr>
          <p:cNvPr id="11" name="Path body Windows Downloads"/>
          <p:cNvSpPr txBox="1"/>
          <p:nvPr/>
        </p:nvSpPr>
        <p:spPr>
          <a:xfrm>
            <a:off x="877824" y="2542032"/>
            <a:ext cx="2139696" cy="566928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/mnt/c/Users/&lt;YourName&gt;/Downloads/</a:t>
            </a:r>
          </a:p>
        </p:txBody>
      </p:sp>
      <p:cxnSp>
        <p:nvCxnSpPr>
          <p:cNvPr id="12" name="Path arrow"/>
          <p:cNvCxnSpPr/>
          <p:nvPr/>
        </p:nvCxnSpPr>
        <p:spPr>
          <a:xfrm>
            <a:off x="3145536" y="2560320"/>
            <a:ext cx="420624" cy="0"/>
          </a:xfrm>
          <a:prstGeom prst="line">
            <a:avLst/>
          </a:prstGeom>
          <a:ln w="19050">
            <a:solidFill>
              <a:srgbClr val="8468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Path node WSL Linux home"/>
          <p:cNvSpPr/>
          <p:nvPr/>
        </p:nvSpPr>
        <p:spPr>
          <a:xfrm>
            <a:off x="3566160" y="1810512"/>
            <a:ext cx="2395728" cy="1499616"/>
          </a:xfrm>
          <a:prstGeom prst="roundRect">
            <a:avLst/>
          </a:prstGeom>
          <a:noFill/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Path heading WSL Linux home"/>
          <p:cNvSpPr txBox="1"/>
          <p:nvPr/>
        </p:nvSpPr>
        <p:spPr>
          <a:xfrm>
            <a:off x="3675887" y="2011680"/>
            <a:ext cx="2176272" cy="347472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WSL Linux home</a:t>
            </a:r>
          </a:p>
        </p:txBody>
      </p:sp>
      <p:sp>
        <p:nvSpPr>
          <p:cNvPr id="15" name="Path body WSL Linux home"/>
          <p:cNvSpPr txBox="1"/>
          <p:nvPr/>
        </p:nvSpPr>
        <p:spPr>
          <a:xfrm>
            <a:off x="3694176" y="2542032"/>
            <a:ext cx="2139696" cy="566928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~/lora-course/</a:t>
            </a:r>
          </a:p>
        </p:txBody>
      </p:sp>
      <p:cxnSp>
        <p:nvCxnSpPr>
          <p:cNvPr id="16" name="Path arrow"/>
          <p:cNvCxnSpPr/>
          <p:nvPr/>
        </p:nvCxnSpPr>
        <p:spPr>
          <a:xfrm>
            <a:off x="5961888" y="2560320"/>
            <a:ext cx="420624" cy="0"/>
          </a:xfrm>
          <a:prstGeom prst="line">
            <a:avLst/>
          </a:prstGeom>
          <a:ln w="19050">
            <a:solidFill>
              <a:srgbClr val="8468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Path node package root"/>
          <p:cNvSpPr/>
          <p:nvPr/>
        </p:nvSpPr>
        <p:spPr>
          <a:xfrm>
            <a:off x="6382512" y="1810512"/>
            <a:ext cx="2395728" cy="1499616"/>
          </a:xfrm>
          <a:prstGeom prst="roundRect">
            <a:avLst/>
          </a:prstGeom>
          <a:noFill/>
          <a:ln w="1524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Path heading package root"/>
          <p:cNvSpPr txBox="1"/>
          <p:nvPr/>
        </p:nvSpPr>
        <p:spPr>
          <a:xfrm>
            <a:off x="6492240" y="2011680"/>
            <a:ext cx="2176272" cy="347472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package root</a:t>
            </a:r>
          </a:p>
        </p:txBody>
      </p:sp>
      <p:sp>
        <p:nvSpPr>
          <p:cNvPr id="19" name="Path body package root"/>
          <p:cNvSpPr txBox="1"/>
          <p:nvPr/>
        </p:nvSpPr>
        <p:spPr>
          <a:xfrm>
            <a:off x="6510528" y="2542032"/>
            <a:ext cx="2139696" cy="566928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lora-energy-lab/</a:t>
            </a:r>
          </a:p>
        </p:txBody>
      </p:sp>
      <p:cxnSp>
        <p:nvCxnSpPr>
          <p:cNvPr id="20" name="Path arrow"/>
          <p:cNvCxnSpPr/>
          <p:nvPr/>
        </p:nvCxnSpPr>
        <p:spPr>
          <a:xfrm>
            <a:off x="8778240" y="2560320"/>
            <a:ext cx="420624" cy="0"/>
          </a:xfrm>
          <a:prstGeom prst="line">
            <a:avLst/>
          </a:prstGeom>
          <a:ln w="19050">
            <a:solidFill>
              <a:srgbClr val="8468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Path node local venv"/>
          <p:cNvSpPr/>
          <p:nvPr/>
        </p:nvSpPr>
        <p:spPr>
          <a:xfrm>
            <a:off x="9198864" y="1810512"/>
            <a:ext cx="2395728" cy="1499616"/>
          </a:xfrm>
          <a:prstGeom prst="roundRect">
            <a:avLst/>
          </a:prstGeom>
          <a:noFill/>
          <a:ln w="1524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Path heading local venv"/>
          <p:cNvSpPr txBox="1"/>
          <p:nvPr/>
        </p:nvSpPr>
        <p:spPr>
          <a:xfrm>
            <a:off x="9308592" y="2011680"/>
            <a:ext cx="2176272" cy="347472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local venv</a:t>
            </a:r>
          </a:p>
        </p:txBody>
      </p:sp>
      <p:sp>
        <p:nvSpPr>
          <p:cNvPr id="23" name="Path body local venv"/>
          <p:cNvSpPr txBox="1"/>
          <p:nvPr/>
        </p:nvSpPr>
        <p:spPr>
          <a:xfrm>
            <a:off x="9326880" y="2542032"/>
            <a:ext cx="2139696" cy="566928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.venv/bin/python</a:t>
            </a:r>
          </a:p>
        </p:txBody>
      </p:sp>
      <p:sp>
        <p:nvSpPr>
          <p:cNvPr id="24" name="Path command"/>
          <p:cNvSpPr txBox="1"/>
          <p:nvPr/>
        </p:nvSpPr>
        <p:spPr>
          <a:xfrm>
            <a:off x="914400" y="3730752"/>
            <a:ext cx="10332720" cy="585216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WSL 專用 .venv/bin/python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不要把 Windows 既有 venv 帶進 WSL</a:t>
            </a:r>
          </a:p>
        </p:txBody>
      </p:sp>
      <p:sp>
        <p:nvSpPr>
          <p:cNvPr id="25" name="Evidence status tag"/>
          <p:cNvSpPr txBox="1"/>
          <p:nvPr/>
        </p:nvSpPr>
        <p:spPr>
          <a:xfrm>
            <a:off x="7315200" y="5230368"/>
            <a:ext cx="4224528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IMPLEMENTED / NOT VERIFIED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27432" tIns="9144" rIns="27432" bIns="9144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POSIX runner 的最小入口</a:t>
            </a:r>
          </a:p>
        </p:txBody>
      </p:sp>
      <p:sp>
        <p:nvSpPr>
          <p:cNvPr id="3" name="Command context frame"/>
          <p:cNvSpPr/>
          <p:nvPr/>
        </p:nvSpPr>
        <p:spPr>
          <a:xfrm>
            <a:off x="749808" y="1298448"/>
            <a:ext cx="6903720" cy="3328416"/>
          </a:xfrm>
          <a:prstGeom prst="roundRect">
            <a:avLst/>
          </a:prstGeom>
          <a:noFill/>
          <a:ln w="1524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ommand context label"/>
          <p:cNvSpPr txBox="1"/>
          <p:nvPr/>
        </p:nvSpPr>
        <p:spPr>
          <a:xfrm>
            <a:off x="859536" y="1344168"/>
            <a:ext cx="6684264" cy="310896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PowerShell / POSIX command ribbon</a:t>
            </a:r>
          </a:p>
        </p:txBody>
      </p:sp>
      <p:sp>
        <p:nvSpPr>
          <p:cNvPr id="5" name="Command line 1"/>
          <p:cNvSpPr txBox="1"/>
          <p:nvPr/>
        </p:nvSpPr>
        <p:spPr>
          <a:xfrm>
            <a:off x="886968" y="1700784"/>
            <a:ext cx="6629400" cy="457200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PYTHON_BIN=python3.11 bash setup.sh</a:t>
            </a:r>
          </a:p>
        </p:txBody>
      </p:sp>
      <p:sp>
        <p:nvSpPr>
          <p:cNvPr id="6" name="Command line 2"/>
          <p:cNvSpPr txBox="1"/>
          <p:nvPr/>
        </p:nvSpPr>
        <p:spPr>
          <a:xfrm>
            <a:off x="886968" y="2176272"/>
            <a:ext cx="6629400" cy="457200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bash course.sh verify</a:t>
            </a:r>
          </a:p>
        </p:txBody>
      </p:sp>
      <p:sp>
        <p:nvSpPr>
          <p:cNvPr id="7" name="Command expected panel"/>
          <p:cNvSpPr/>
          <p:nvPr/>
        </p:nvSpPr>
        <p:spPr>
          <a:xfrm>
            <a:off x="8010144" y="1298448"/>
            <a:ext cx="3291840" cy="3328416"/>
          </a:xfrm>
          <a:prstGeom prst="roundRect">
            <a:avLst/>
          </a:prstGeom>
          <a:noFill/>
          <a:ln w="1524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ommand receipt heading"/>
          <p:cNvSpPr txBox="1"/>
          <p:nvPr/>
        </p:nvSpPr>
        <p:spPr>
          <a:xfrm>
            <a:off x="8229600" y="1591056"/>
            <a:ext cx="2852928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receipt / purpose</a:t>
            </a:r>
          </a:p>
        </p:txBody>
      </p:sp>
      <p:sp>
        <p:nvSpPr>
          <p:cNvPr id="9" name="Command expected body"/>
          <p:cNvSpPr txBox="1"/>
          <p:nvPr/>
        </p:nvSpPr>
        <p:spPr>
          <a:xfrm>
            <a:off x="8339327" y="2249424"/>
            <a:ext cx="2633472" cy="1572768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預期 receipt：PLACEHOLDER｜POSIX clean run 尚未驗證；成功時回 READY。</a:t>
            </a:r>
          </a:p>
        </p:txBody>
      </p:sp>
      <p:sp>
        <p:nvSpPr>
          <p:cNvPr id="10" name="Evidence status tag"/>
          <p:cNvSpPr txBox="1"/>
          <p:nvPr/>
        </p:nvSpPr>
        <p:spPr>
          <a:xfrm>
            <a:off x="7315200" y="5230368"/>
            <a:ext cx="4224528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IMPLEMENTED / NOT VERIFIED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27432" tIns="9144" rIns="27432" bIns="9144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READY receipt 是下一步的入場券</a:t>
            </a:r>
          </a:p>
        </p:txBody>
      </p:sp>
      <p:sp>
        <p:nvSpPr>
          <p:cNvPr id="3" name="Exact command context frame"/>
          <p:cNvSpPr/>
          <p:nvPr/>
        </p:nvSpPr>
        <p:spPr>
          <a:xfrm>
            <a:off x="658368" y="960120"/>
            <a:ext cx="10881360" cy="356616"/>
          </a:xfrm>
          <a:prstGeom prst="roundRect">
            <a:avLst/>
          </a:prstGeom>
          <a:noFill/>
          <a:ln w="1524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Exact command line 1"/>
          <p:cNvSpPr txBox="1"/>
          <p:nvPr/>
        </p:nvSpPr>
        <p:spPr>
          <a:xfrm>
            <a:off x="822960" y="987552"/>
            <a:ext cx="5102352" cy="228600"/>
          </a:xfrm>
          <a:prstGeom prst="rect">
            <a:avLst/>
          </a:prstGeom>
          <a:noFill/>
          <a:ln>
            <a:noFill/>
          </a:ln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bash course.sh verify</a:t>
            </a:r>
          </a:p>
        </p:txBody>
      </p:sp>
      <p:sp>
        <p:nvSpPr>
          <p:cNvPr id="5" name="Exact command line 2"/>
          <p:cNvSpPr txBox="1"/>
          <p:nvPr/>
        </p:nvSpPr>
        <p:spPr>
          <a:xfrm>
            <a:off x="6144768" y="987552"/>
            <a:ext cx="5102352" cy="228600"/>
          </a:xfrm>
          <a:prstGeom prst="rect">
            <a:avLst/>
          </a:prstGeom>
          <a:noFill/>
          <a:ln>
            <a:noFill/>
          </a:ln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Windows：.\course.cmd verify</a:t>
            </a:r>
          </a:p>
        </p:txBody>
      </p:sp>
      <p:sp>
        <p:nvSpPr>
          <p:cNvPr id="6" name="Receipt anatomy"/>
          <p:cNvSpPr/>
          <p:nvPr/>
        </p:nvSpPr>
        <p:spPr>
          <a:xfrm>
            <a:off x="1417320" y="1481328"/>
            <a:ext cx="9381744" cy="3236976"/>
          </a:xfrm>
          <a:prstGeom prst="roundRect">
            <a:avLst/>
          </a:prstGeom>
          <a:noFill/>
          <a:ln w="1524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eipt key status"/>
          <p:cNvSpPr txBox="1"/>
          <p:nvPr/>
        </p:nvSpPr>
        <p:spPr>
          <a:xfrm>
            <a:off x="1828800" y="1755648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status</a:t>
            </a:r>
          </a:p>
        </p:txBody>
      </p:sp>
      <p:sp>
        <p:nvSpPr>
          <p:cNvPr id="8" name="Receipt value status"/>
          <p:cNvSpPr txBox="1"/>
          <p:nvPr/>
        </p:nvSpPr>
        <p:spPr>
          <a:xfrm>
            <a:off x="5120640" y="1755648"/>
            <a:ext cx="4974336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READY / PLACEHOLDER</a:t>
            </a:r>
          </a:p>
        </p:txBody>
      </p:sp>
      <p:sp>
        <p:nvSpPr>
          <p:cNvPr id="9" name="Receipt key Python"/>
          <p:cNvSpPr txBox="1"/>
          <p:nvPr/>
        </p:nvSpPr>
        <p:spPr>
          <a:xfrm>
            <a:off x="1828800" y="2286000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Python</a:t>
            </a:r>
          </a:p>
        </p:txBody>
      </p:sp>
      <p:sp>
        <p:nvSpPr>
          <p:cNvPr id="10" name="Receipt value Python"/>
          <p:cNvSpPr txBox="1"/>
          <p:nvPr/>
        </p:nvSpPr>
        <p:spPr>
          <a:xfrm>
            <a:off x="5120640" y="2286000"/>
            <a:ext cx="4974336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3.11.9</a:t>
            </a:r>
          </a:p>
        </p:txBody>
      </p:sp>
      <p:sp>
        <p:nvSpPr>
          <p:cNvPr id="11" name="Receipt key scenario_id"/>
          <p:cNvSpPr txBox="1"/>
          <p:nvPr/>
        </p:nvSpPr>
        <p:spPr>
          <a:xfrm>
            <a:off x="1828800" y="2816352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1" i="1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scenario_id</a:t>
            </a:r>
          </a:p>
        </p:txBody>
      </p:sp>
      <p:sp>
        <p:nvSpPr>
          <p:cNvPr id="12" name="Receipt value scenario_id"/>
          <p:cNvSpPr txBox="1"/>
          <p:nvPr/>
        </p:nvSpPr>
        <p:spPr>
          <a:xfrm>
            <a:off x="5120640" y="2816352"/>
            <a:ext cx="4974336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ntpu-energy-decision-01</a:t>
            </a:r>
          </a:p>
        </p:txBody>
      </p:sp>
      <p:sp>
        <p:nvSpPr>
          <p:cNvPr id="13" name="Receipt key policy_api_version"/>
          <p:cNvSpPr txBox="1"/>
          <p:nvPr/>
        </p:nvSpPr>
        <p:spPr>
          <a:xfrm>
            <a:off x="1828800" y="3346703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1" i="1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policy_api_version</a:t>
            </a:r>
          </a:p>
        </p:txBody>
      </p:sp>
      <p:sp>
        <p:nvSpPr>
          <p:cNvPr id="14" name="Receipt value policy_api_version"/>
          <p:cNvSpPr txBox="1"/>
          <p:nvPr/>
        </p:nvSpPr>
        <p:spPr>
          <a:xfrm>
            <a:off x="5120640" y="3346703"/>
            <a:ext cx="4974336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lora-energy-policy-v1</a:t>
            </a:r>
          </a:p>
        </p:txBody>
      </p:sp>
      <p:sp>
        <p:nvSpPr>
          <p:cNvPr id="15" name="Receipt key engine_mode"/>
          <p:cNvSpPr txBox="1"/>
          <p:nvPr/>
        </p:nvSpPr>
        <p:spPr>
          <a:xfrm>
            <a:off x="1828800" y="3877056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1" i="1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engine_mode</a:t>
            </a:r>
          </a:p>
        </p:txBody>
      </p:sp>
      <p:sp>
        <p:nvSpPr>
          <p:cNvPr id="16" name="Receipt value engine_mode"/>
          <p:cNvSpPr txBox="1"/>
          <p:nvPr/>
        </p:nvSpPr>
        <p:spPr>
          <a:xfrm>
            <a:off x="5120640" y="3877056"/>
            <a:ext cx="4974336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coherent-course-simulated-adapter</a:t>
            </a:r>
          </a:p>
        </p:txBody>
      </p:sp>
      <p:sp>
        <p:nvSpPr>
          <p:cNvPr id="17" name="Current identity receipt"/>
          <p:cNvSpPr/>
          <p:nvPr/>
        </p:nvSpPr>
        <p:spPr>
          <a:xfrm>
            <a:off x="658368" y="4754880"/>
            <a:ext cx="10881360" cy="1133856"/>
          </a:xfrm>
          <a:prstGeom prst="roundRect">
            <a:avLst/>
          </a:prstGeom>
          <a:noFill/>
          <a:ln w="15240"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Identity receipt row 1"/>
          <p:cNvSpPr txBox="1"/>
          <p:nvPr/>
        </p:nvSpPr>
        <p:spPr>
          <a:xfrm>
            <a:off x="841248" y="4809744"/>
            <a:ext cx="10515600" cy="237744"/>
          </a:xfrm>
          <a:prstGeom prst="rect">
            <a:avLst/>
          </a:prstGeom>
          <a:noFill/>
          <a:ln>
            <a:noFill/>
          </a:ln>
        </p:spPr>
        <p:txBody>
          <a:bodyPr wrap="non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scenario_sha256: c157c76ed283074cdd17c1b689b83e168022abd2ca6ef8d9c337e69ab31a6593</a:t>
            </a:r>
          </a:p>
        </p:txBody>
      </p:sp>
      <p:sp>
        <p:nvSpPr>
          <p:cNvPr id="19" name="Identity receipt row 2"/>
          <p:cNvSpPr txBox="1"/>
          <p:nvPr/>
        </p:nvSpPr>
        <p:spPr>
          <a:xfrm>
            <a:off x="841248" y="5065776"/>
            <a:ext cx="10515600" cy="237744"/>
          </a:xfrm>
          <a:prstGeom prst="rect">
            <a:avLst/>
          </a:prstGeom>
          <a:noFill/>
          <a:ln>
            <a:noFill/>
          </a:ln>
        </p:spPr>
        <p:txBody>
          <a:bodyPr wrap="non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scenario_anchor_sha256: cfe84682a71c0c0ea09c273d4cd033c32818da63cf1695ace4363b9d789c50f9</a:t>
            </a:r>
          </a:p>
        </p:txBody>
      </p:sp>
      <p:sp>
        <p:nvSpPr>
          <p:cNvPr id="20" name="Identity receipt row 3"/>
          <p:cNvSpPr txBox="1"/>
          <p:nvPr/>
        </p:nvSpPr>
        <p:spPr>
          <a:xfrm>
            <a:off x="841248" y="5321808"/>
            <a:ext cx="10515600" cy="237744"/>
          </a:xfrm>
          <a:prstGeom prst="rect">
            <a:avLst/>
          </a:prstGeom>
          <a:noFill/>
          <a:ln>
            <a:noFill/>
          </a:ln>
        </p:spPr>
        <p:txBody>
          <a:bodyPr wrap="non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lock_sha256: f1d1fe3339137d56e4e9ea9d141b764eaa183a8f40933bad597d734bbf310197</a:t>
            </a:r>
          </a:p>
        </p:txBody>
      </p:sp>
      <p:sp>
        <p:nvSpPr>
          <p:cNvPr id="21" name="Identity receipt row 4"/>
          <p:cNvSpPr txBox="1"/>
          <p:nvPr/>
        </p:nvSpPr>
        <p:spPr>
          <a:xfrm>
            <a:off x="841248" y="5577840"/>
            <a:ext cx="10515600" cy="237744"/>
          </a:xfrm>
          <a:prstGeom prst="rect">
            <a:avLst/>
          </a:prstGeom>
          <a:noFill/>
          <a:ln>
            <a:noFill/>
          </a:ln>
        </p:spPr>
        <p:txBody>
          <a:bodyPr wrap="non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baseline_policy_sha256: 9917d2cde2e8c0eae8339b7eea2e358bf8577b4eb6aaf1e928674f6b8964ef68</a:t>
            </a:r>
          </a:p>
        </p:txBody>
      </p:sp>
      <p:sp>
        <p:nvSpPr>
          <p:cNvPr id="22" name="Evidence status tag"/>
          <p:cNvSpPr txBox="1"/>
          <p:nvPr/>
        </p:nvSpPr>
        <p:spPr>
          <a:xfrm>
            <a:off x="8010144" y="4315968"/>
            <a:ext cx="2852928" cy="274320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PLACEHOLDER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 txBox="1"/>
          <p:nvPr/>
        </p:nvSpPr>
        <p:spPr>
          <a:xfrm>
            <a:off x="594360" y="201168"/>
            <a:ext cx="10561320" cy="621792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setup 失敗不等於 energy result</a:t>
            </a:r>
          </a:p>
        </p:txBody>
      </p:sp>
      <p:sp>
        <p:nvSpPr>
          <p:cNvPr id="3" name="Native title anchor"/>
          <p:cNvSpPr txBox="1"/>
          <p:nvPr/>
        </p:nvSpPr>
        <p:spPr>
          <a:xfrm>
            <a:off x="594360" y="201168"/>
            <a:ext cx="10561320" cy="621792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setup 失敗不等於 energy result</a:t>
            </a:r>
          </a:p>
        </p:txBody>
      </p:sp>
      <p:sp>
        <p:nvSpPr>
          <p:cNvPr id="4" name="Exact command context frame"/>
          <p:cNvSpPr/>
          <p:nvPr/>
        </p:nvSpPr>
        <p:spPr>
          <a:xfrm>
            <a:off x="658368" y="960120"/>
            <a:ext cx="10881360" cy="356616"/>
          </a:xfrm>
          <a:prstGeom prst="roundRect">
            <a:avLst/>
          </a:prstGeom>
          <a:noFill/>
          <a:ln w="1524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Exact command line 1"/>
          <p:cNvSpPr txBox="1"/>
          <p:nvPr/>
        </p:nvSpPr>
        <p:spPr>
          <a:xfrm>
            <a:off x="822960" y="987552"/>
            <a:ext cx="5102352" cy="228600"/>
          </a:xfrm>
          <a:prstGeom prst="rect">
            <a:avLst/>
          </a:prstGeom>
          <a:noFill/>
          <a:ln>
            <a:noFill/>
          </a:ln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bash course.sh verify</a:t>
            </a:r>
          </a:p>
        </p:txBody>
      </p:sp>
      <p:sp>
        <p:nvSpPr>
          <p:cNvPr id="6" name="Exact command line 2"/>
          <p:cNvSpPr txBox="1"/>
          <p:nvPr/>
        </p:nvSpPr>
        <p:spPr>
          <a:xfrm>
            <a:off x="6144768" y="987552"/>
            <a:ext cx="5102352" cy="228600"/>
          </a:xfrm>
          <a:prstGeom prst="rect">
            <a:avLst/>
          </a:prstGeom>
          <a:noFill/>
          <a:ln>
            <a:noFill/>
          </a:ln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失敗時：保留原始 stdout / stderr</a:t>
            </a:r>
          </a:p>
        </p:txBody>
      </p:sp>
      <p:sp>
        <p:nvSpPr>
          <p:cNvPr id="7" name="Fork input"/>
          <p:cNvSpPr/>
          <p:nvPr/>
        </p:nvSpPr>
        <p:spPr>
          <a:xfrm>
            <a:off x="5468112" y="1389888"/>
            <a:ext cx="987552" cy="987552"/>
          </a:xfrm>
          <a:prstGeom prst="ellipse">
            <a:avLst/>
          </a:prstGeom>
          <a:solidFill>
            <a:srgbClr val="6F89F7"/>
          </a:solidFill>
          <a:ln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Fork input label"/>
          <p:cNvSpPr txBox="1"/>
          <p:nvPr/>
        </p:nvSpPr>
        <p:spPr>
          <a:xfrm>
            <a:off x="5029200" y="1682496"/>
            <a:ext cx="1865376" cy="347472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Times New Roman"/>
                <a:ea typeface="標楷體"/>
                <a:cs typeface="Times New Roman"/>
              </a:rPr>
              <a:t>verify</a:t>
            </a:r>
          </a:p>
        </p:txBody>
      </p:sp>
      <p:cxnSp>
        <p:nvCxnSpPr>
          <p:cNvPr id="9" name="Fork ready arrow"/>
          <p:cNvCxnSpPr/>
          <p:nvPr/>
        </p:nvCxnSpPr>
        <p:spPr>
          <a:xfrm flipH="1">
            <a:off x="2999232" y="2377440"/>
            <a:ext cx="2962656" cy="594360"/>
          </a:xfrm>
          <a:prstGeom prst="line">
            <a:avLst/>
          </a:prstGeom>
          <a:ln w="2159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Fork error arrow"/>
          <p:cNvCxnSpPr/>
          <p:nvPr/>
        </p:nvCxnSpPr>
        <p:spPr>
          <a:xfrm>
            <a:off x="5961888" y="2377440"/>
            <a:ext cx="2962656" cy="594360"/>
          </a:xfrm>
          <a:prstGeom prst="line">
            <a:avLst/>
          </a:prstGeom>
          <a:ln w="21590">
            <a:solidFill>
              <a:srgbClr val="8468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Fork panel READY"/>
          <p:cNvSpPr/>
          <p:nvPr/>
        </p:nvSpPr>
        <p:spPr>
          <a:xfrm>
            <a:off x="960120" y="2971800"/>
            <a:ext cx="4443984" cy="1463040"/>
          </a:xfrm>
          <a:prstGeom prst="roundRect">
            <a:avLst/>
          </a:prstGeom>
          <a:noFill/>
          <a:ln w="1524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ork heading READY"/>
          <p:cNvSpPr txBox="1"/>
          <p:nvPr/>
        </p:nvSpPr>
        <p:spPr>
          <a:xfrm>
            <a:off x="1124712" y="3218688"/>
            <a:ext cx="4114800" cy="347472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READY</a:t>
            </a:r>
          </a:p>
        </p:txBody>
      </p:sp>
      <p:sp>
        <p:nvSpPr>
          <p:cNvPr id="13" name="Fork body READY"/>
          <p:cNvSpPr txBox="1"/>
          <p:nvPr/>
        </p:nvSpPr>
        <p:spPr>
          <a:xfrm>
            <a:off x="1216152" y="3767328"/>
            <a:ext cx="3931920" cy="457200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進入 runner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保留同一 identity</a:t>
            </a:r>
          </a:p>
        </p:txBody>
      </p:sp>
      <p:sp>
        <p:nvSpPr>
          <p:cNvPr id="14" name="Fork panel RECOVERABLE ERROR"/>
          <p:cNvSpPr/>
          <p:nvPr/>
        </p:nvSpPr>
        <p:spPr>
          <a:xfrm>
            <a:off x="6876288" y="2971800"/>
            <a:ext cx="4443984" cy="1463040"/>
          </a:xfrm>
          <a:prstGeom prst="roundRect">
            <a:avLst/>
          </a:prstGeom>
          <a:noFill/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Fork heading RECOVERABLE ERROR"/>
          <p:cNvSpPr txBox="1"/>
          <p:nvPr/>
        </p:nvSpPr>
        <p:spPr>
          <a:xfrm>
            <a:off x="7040879" y="3218688"/>
            <a:ext cx="4114800" cy="347472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RECOVERABLE ERROR</a:t>
            </a:r>
          </a:p>
        </p:txBody>
      </p:sp>
      <p:sp>
        <p:nvSpPr>
          <p:cNvPr id="16" name="Fork body RECOVERABLE ERROR"/>
          <p:cNvSpPr txBox="1"/>
          <p:nvPr/>
        </p:nvSpPr>
        <p:spPr>
          <a:xfrm>
            <a:off x="7132320" y="3767328"/>
            <a:ext cx="3931920" cy="457200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保留 stdout / stderr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修最小邊界或 fallback</a:t>
            </a:r>
          </a:p>
        </p:txBody>
      </p:sp>
      <p:sp>
        <p:nvSpPr>
          <p:cNvPr id="17" name="Fork boundary"/>
          <p:cNvSpPr txBox="1"/>
          <p:nvPr/>
        </p:nvSpPr>
        <p:spPr>
          <a:xfrm>
            <a:off x="1865376" y="4773168"/>
            <a:ext cx="8449056" cy="347472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fallback 保留相同學習問題，但不冒充本機 policy execution</a:t>
            </a:r>
          </a:p>
        </p:txBody>
      </p:sp>
      <p:sp>
        <p:nvSpPr>
          <p:cNvPr id="18" name="Evidence status tag"/>
          <p:cNvSpPr txBox="1"/>
          <p:nvPr/>
        </p:nvSpPr>
        <p:spPr>
          <a:xfrm>
            <a:off x="7315200" y="5230368"/>
            <a:ext cx="4224528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27432" tIns="9144" rIns="27432" bIns="9144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可編輯檔案只有一個</a:t>
            </a:r>
          </a:p>
        </p:txBody>
      </p:sp>
      <p:sp>
        <p:nvSpPr>
          <p:cNvPr id="3" name="Exact command context frame"/>
          <p:cNvSpPr/>
          <p:nvPr/>
        </p:nvSpPr>
        <p:spPr>
          <a:xfrm>
            <a:off x="658368" y="960120"/>
            <a:ext cx="10881360" cy="585216"/>
          </a:xfrm>
          <a:prstGeom prst="roundRect">
            <a:avLst/>
          </a:prstGeom>
          <a:noFill/>
          <a:ln w="1524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Exact command line 1"/>
          <p:cNvSpPr txBox="1"/>
          <p:nvPr/>
        </p:nvSpPr>
        <p:spPr>
          <a:xfrm>
            <a:off x="822960" y="987552"/>
            <a:ext cx="5102352" cy="228600"/>
          </a:xfrm>
          <a:prstGeom prst="rect">
            <a:avLst/>
          </a:prstGeom>
          <a:noFill/>
          <a:ln>
            <a:noFill/>
          </a:ln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POSIX：sed -n '1,220p' </a:t>
            </a:r>
            <a:r>
              <a:rPr sz="18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student_policy.py</a:t>
            </a:r>
          </a:p>
        </p:txBody>
      </p:sp>
      <p:sp>
        <p:nvSpPr>
          <p:cNvPr id="5" name="Exact command line 2"/>
          <p:cNvSpPr txBox="1"/>
          <p:nvPr/>
        </p:nvSpPr>
        <p:spPr>
          <a:xfrm>
            <a:off x="822960" y="1216152"/>
            <a:ext cx="5102352" cy="228600"/>
          </a:xfrm>
          <a:prstGeom prst="rect">
            <a:avLst/>
          </a:prstGeom>
          <a:noFill/>
          <a:ln>
            <a:noFill/>
          </a:ln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Windows：Get-Content .\</a:t>
            </a:r>
            <a:r>
              <a:rPr sz="18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student_policy.py</a:t>
            </a:r>
          </a:p>
        </p:txBody>
      </p:sp>
      <p:sp>
        <p:nvSpPr>
          <p:cNvPr id="6" name="Exact command line 3"/>
          <p:cNvSpPr txBox="1"/>
          <p:nvPr/>
        </p:nvSpPr>
        <p:spPr>
          <a:xfrm>
            <a:off x="6144768" y="987552"/>
            <a:ext cx="5102352" cy="228600"/>
          </a:xfrm>
          <a:prstGeom prst="rect">
            <a:avLst/>
          </a:prstGeom>
          <a:noFill/>
          <a:ln>
            <a:noFill/>
          </a:ln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git diff -- </a:t>
            </a:r>
            <a:r>
              <a:rPr sz="18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student_policy.py</a:t>
            </a:r>
          </a:p>
        </p:txBody>
      </p:sp>
      <p:sp>
        <p:nvSpPr>
          <p:cNvPr id="7" name="Guarded file"/>
          <p:cNvSpPr/>
          <p:nvPr/>
        </p:nvSpPr>
        <p:spPr>
          <a:xfrm>
            <a:off x="804672" y="1609344"/>
            <a:ext cx="4663440" cy="2999232"/>
          </a:xfrm>
          <a:prstGeom prst="roundRect">
            <a:avLst/>
          </a:prstGeom>
          <a:noFill/>
          <a:ln w="1524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Guarded filename"/>
          <p:cNvSpPr txBox="1"/>
          <p:nvPr/>
        </p:nvSpPr>
        <p:spPr>
          <a:xfrm>
            <a:off x="1024128" y="1874519"/>
            <a:ext cx="4224528" cy="475488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400" b="1" i="1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student_policy.py</a:t>
            </a:r>
          </a:p>
        </p:txBody>
      </p:sp>
      <p:sp>
        <p:nvSpPr>
          <p:cNvPr id="9" name="Guarded block"/>
          <p:cNvSpPr txBox="1"/>
          <p:nvPr/>
        </p:nvSpPr>
        <p:spPr>
          <a:xfrm>
            <a:off x="1170432" y="2578608"/>
            <a:ext cx="3931920" cy="1481328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MARKED BLOCK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只改這裡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policy hash → result → replay</a:t>
            </a:r>
          </a:p>
        </p:txBody>
      </p:sp>
      <p:sp>
        <p:nvSpPr>
          <p:cNvPr id="10" name="Read-only lock scenario"/>
          <p:cNvSpPr/>
          <p:nvPr/>
        </p:nvSpPr>
        <p:spPr>
          <a:xfrm>
            <a:off x="6016752" y="1700784"/>
            <a:ext cx="2267712" cy="877824"/>
          </a:xfrm>
          <a:prstGeom prst="roundRect">
            <a:avLst/>
          </a:prstGeom>
          <a:noFill/>
          <a:ln w="15240"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ad-only label scenario"/>
          <p:cNvSpPr txBox="1"/>
          <p:nvPr/>
        </p:nvSpPr>
        <p:spPr>
          <a:xfrm>
            <a:off x="6089904" y="1883664"/>
            <a:ext cx="2121408" cy="457200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🔒 scenario</a:t>
            </a:r>
          </a:p>
        </p:txBody>
      </p:sp>
      <p:sp>
        <p:nvSpPr>
          <p:cNvPr id="12" name="Read-only lock schemas"/>
          <p:cNvSpPr/>
          <p:nvPr/>
        </p:nvSpPr>
        <p:spPr>
          <a:xfrm>
            <a:off x="8686800" y="1700784"/>
            <a:ext cx="2267712" cy="877824"/>
          </a:xfrm>
          <a:prstGeom prst="roundRect">
            <a:avLst/>
          </a:prstGeom>
          <a:noFill/>
          <a:ln w="15240"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ad-only label schemas"/>
          <p:cNvSpPr txBox="1"/>
          <p:nvPr/>
        </p:nvSpPr>
        <p:spPr>
          <a:xfrm>
            <a:off x="8759952" y="1883664"/>
            <a:ext cx="2121408" cy="457200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🔒 schemas</a:t>
            </a:r>
          </a:p>
        </p:txBody>
      </p:sp>
      <p:sp>
        <p:nvSpPr>
          <p:cNvPr id="14" name="Read-only lock runner"/>
          <p:cNvSpPr/>
          <p:nvPr/>
        </p:nvSpPr>
        <p:spPr>
          <a:xfrm>
            <a:off x="6016752" y="2980944"/>
            <a:ext cx="2267712" cy="877824"/>
          </a:xfrm>
          <a:prstGeom prst="roundRect">
            <a:avLst/>
          </a:prstGeom>
          <a:noFill/>
          <a:ln w="15240"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ad-only label runner"/>
          <p:cNvSpPr txBox="1"/>
          <p:nvPr/>
        </p:nvSpPr>
        <p:spPr>
          <a:xfrm>
            <a:off x="6089904" y="3163824"/>
            <a:ext cx="2121408" cy="457200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🔒 runner</a:t>
            </a:r>
          </a:p>
        </p:txBody>
      </p:sp>
      <p:sp>
        <p:nvSpPr>
          <p:cNvPr id="16" name="Read-only lock generated JSON"/>
          <p:cNvSpPr/>
          <p:nvPr/>
        </p:nvSpPr>
        <p:spPr>
          <a:xfrm>
            <a:off x="8686800" y="2980944"/>
            <a:ext cx="2267712" cy="877824"/>
          </a:xfrm>
          <a:prstGeom prst="roundRect">
            <a:avLst/>
          </a:prstGeom>
          <a:noFill/>
          <a:ln w="15240"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ad-only label generated JSON"/>
          <p:cNvSpPr txBox="1"/>
          <p:nvPr/>
        </p:nvSpPr>
        <p:spPr>
          <a:xfrm>
            <a:off x="8759952" y="3163824"/>
            <a:ext cx="2121408" cy="457200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🔒 generated JSON</a:t>
            </a:r>
          </a:p>
        </p:txBody>
      </p:sp>
      <p:sp>
        <p:nvSpPr>
          <p:cNvPr id="18" name="Guard stop rule"/>
          <p:cNvSpPr txBox="1"/>
          <p:nvPr/>
        </p:nvSpPr>
        <p:spPr>
          <a:xfrm>
            <a:off x="6053328" y="4462272"/>
            <a:ext cx="5175504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沒有 consequential diff → 停在 gate</a:t>
            </a:r>
          </a:p>
        </p:txBody>
      </p:sp>
      <p:sp>
        <p:nvSpPr>
          <p:cNvPr id="19" name="Evidence status tag"/>
          <p:cNvSpPr txBox="1"/>
          <p:nvPr/>
        </p:nvSpPr>
        <p:spPr>
          <a:xfrm>
            <a:off x="7315200" y="5230368"/>
            <a:ext cx="4224528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27432" tIns="9144" rIns="27432" bIns="9144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policy API 的輸入是現在能觀察到的事</a:t>
            </a:r>
          </a:p>
        </p:txBody>
      </p:sp>
      <p:sp>
        <p:nvSpPr>
          <p:cNvPr id="3" name="Exact command context frame"/>
          <p:cNvSpPr/>
          <p:nvPr/>
        </p:nvSpPr>
        <p:spPr>
          <a:xfrm>
            <a:off x="658368" y="960120"/>
            <a:ext cx="10881360" cy="356616"/>
          </a:xfrm>
          <a:prstGeom prst="roundRect">
            <a:avLst/>
          </a:prstGeom>
          <a:noFill/>
          <a:ln w="1524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Exact command line 1"/>
          <p:cNvSpPr txBox="1"/>
          <p:nvPr/>
        </p:nvSpPr>
        <p:spPr>
          <a:xfrm>
            <a:off x="822960" y="987552"/>
            <a:ext cx="5102352" cy="228600"/>
          </a:xfrm>
          <a:prstGeom prst="rect">
            <a:avLst/>
          </a:prstGeom>
          <a:noFill/>
          <a:ln>
            <a:noFill/>
          </a:ln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bash course.sh verify</a:t>
            </a:r>
          </a:p>
        </p:txBody>
      </p:sp>
      <p:sp>
        <p:nvSpPr>
          <p:cNvPr id="5" name="Exact command line 2"/>
          <p:cNvSpPr txBox="1"/>
          <p:nvPr/>
        </p:nvSpPr>
        <p:spPr>
          <a:xfrm>
            <a:off x="6144768" y="987552"/>
            <a:ext cx="5102352" cy="228600"/>
          </a:xfrm>
          <a:prstGeom prst="rect">
            <a:avLst/>
          </a:prstGeom>
          <a:noFill/>
          <a:ln>
            <a:noFill/>
          </a:ln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Windows：.\course.cmd verify</a:t>
            </a:r>
          </a:p>
        </p:txBody>
      </p:sp>
      <p:sp>
        <p:nvSpPr>
          <p:cNvPr id="6" name="Observation input"/>
          <p:cNvSpPr/>
          <p:nvPr/>
        </p:nvSpPr>
        <p:spPr>
          <a:xfrm>
            <a:off x="804672" y="1499616"/>
            <a:ext cx="4279392" cy="2432304"/>
          </a:xfrm>
          <a:prstGeom prst="roundRect">
            <a:avLst/>
          </a:prstGeom>
          <a:noFill/>
          <a:ln w="1524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bservation heading"/>
          <p:cNvSpPr txBox="1"/>
          <p:nvPr/>
        </p:nvSpPr>
        <p:spPr>
          <a:xfrm>
            <a:off x="1024128" y="1755648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3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observation</a:t>
            </a:r>
          </a:p>
        </p:txBody>
      </p:sp>
      <p:sp>
        <p:nvSpPr>
          <p:cNvPr id="8" name="Observation body"/>
          <p:cNvSpPr txBox="1"/>
          <p:nvPr/>
        </p:nvSpPr>
        <p:spPr>
          <a:xfrm>
            <a:off x="1115568" y="2432304"/>
            <a:ext cx="3657600" cy="694944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當下允許讀取的狀態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quality / queue / window</a:t>
            </a:r>
          </a:p>
        </p:txBody>
      </p:sp>
      <p:cxnSp>
        <p:nvCxnSpPr>
          <p:cNvPr id="9" name="Observation to action"/>
          <p:cNvCxnSpPr/>
          <p:nvPr/>
        </p:nvCxnSpPr>
        <p:spPr>
          <a:xfrm>
            <a:off x="5138928" y="2706624"/>
            <a:ext cx="1792224" cy="0"/>
          </a:xfrm>
          <a:prstGeom prst="line">
            <a:avLst/>
          </a:prstGeom>
          <a:ln w="25400">
            <a:solidFill>
              <a:srgbClr val="8468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egal action output"/>
          <p:cNvSpPr/>
          <p:nvPr/>
        </p:nvSpPr>
        <p:spPr>
          <a:xfrm>
            <a:off x="7095744" y="1499616"/>
            <a:ext cx="4279392" cy="2432304"/>
          </a:xfrm>
          <a:prstGeom prst="roundRect">
            <a:avLst/>
          </a:prstGeom>
          <a:noFill/>
          <a:ln w="1524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Action heading"/>
          <p:cNvSpPr txBox="1"/>
          <p:nvPr/>
        </p:nvSpPr>
        <p:spPr>
          <a:xfrm>
            <a:off x="7315200" y="1755648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3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choose_action(...)</a:t>
            </a:r>
          </a:p>
        </p:txBody>
      </p:sp>
      <p:sp>
        <p:nvSpPr>
          <p:cNvPr id="12" name="Action body"/>
          <p:cNvSpPr txBox="1"/>
          <p:nvPr/>
        </p:nvSpPr>
        <p:spPr>
          <a:xfrm>
            <a:off x="7370064" y="2359152"/>
            <a:ext cx="3730752" cy="896112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WAIT / SLEEP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SEND_ONE / SEND_URGENT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FLUSH_BATCH</a:t>
            </a:r>
          </a:p>
        </p:txBody>
      </p:sp>
      <p:sp>
        <p:nvSpPr>
          <p:cNvPr id="13" name="IO guard"/>
          <p:cNvSpPr txBox="1"/>
          <p:nvPr/>
        </p:nvSpPr>
        <p:spPr>
          <a:xfrm>
            <a:off x="1170432" y="4370832"/>
            <a:ext cx="9802368" cy="457200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不能偷看 future quality、future energy 或 result summary；契約外 action 要 fail closed。</a:t>
            </a:r>
          </a:p>
        </p:txBody>
      </p:sp>
      <p:sp>
        <p:nvSpPr>
          <p:cNvPr id="14" name="Evidence status tag"/>
          <p:cNvSpPr txBox="1"/>
          <p:nvPr/>
        </p:nvSpPr>
        <p:spPr>
          <a:xfrm>
            <a:off x="7315200" y="5230368"/>
            <a:ext cx="4224528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PLACEHOLDER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27432" tIns="9144" rIns="27432" bIns="9144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Python survival：常數是受控旋鈕</a:t>
            </a:r>
          </a:p>
        </p:txBody>
      </p:sp>
      <p:sp>
        <p:nvSpPr>
          <p:cNvPr id="3" name="Exact command context frame"/>
          <p:cNvSpPr/>
          <p:nvPr/>
        </p:nvSpPr>
        <p:spPr>
          <a:xfrm>
            <a:off x="658368" y="960120"/>
            <a:ext cx="10881360" cy="356616"/>
          </a:xfrm>
          <a:prstGeom prst="roundRect">
            <a:avLst/>
          </a:prstGeom>
          <a:noFill/>
          <a:ln w="1524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Exact command line 1"/>
          <p:cNvSpPr txBox="1"/>
          <p:nvPr/>
        </p:nvSpPr>
        <p:spPr>
          <a:xfrm>
            <a:off x="822960" y="987552"/>
            <a:ext cx="5102352" cy="228600"/>
          </a:xfrm>
          <a:prstGeom prst="rect">
            <a:avLst/>
          </a:prstGeom>
          <a:noFill/>
          <a:ln>
            <a:noFill/>
          </a:ln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grep -n </a:t>
            </a:r>
            <a:r>
              <a:rPr sz="18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PACE_GAP_STEPS</a:t>
            </a: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8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student_policy.py</a:t>
            </a:r>
          </a:p>
        </p:txBody>
      </p:sp>
      <p:sp>
        <p:nvSpPr>
          <p:cNvPr id="5" name="Exact command line 2"/>
          <p:cNvSpPr txBox="1"/>
          <p:nvPr/>
        </p:nvSpPr>
        <p:spPr>
          <a:xfrm>
            <a:off x="6144768" y="987552"/>
            <a:ext cx="5102352" cy="228600"/>
          </a:xfrm>
          <a:prstGeom prst="rect">
            <a:avLst/>
          </a:prstGeom>
          <a:noFill/>
          <a:ln>
            <a:noFill/>
          </a:ln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bash course.sh verify</a:t>
            </a:r>
          </a:p>
        </p:txBody>
      </p:sp>
      <p:sp>
        <p:nvSpPr>
          <p:cNvPr id="6" name="Python constants code"/>
          <p:cNvSpPr/>
          <p:nvPr/>
        </p:nvSpPr>
        <p:spPr>
          <a:xfrm>
            <a:off x="786384" y="1353312"/>
            <a:ext cx="6858000" cy="3383280"/>
          </a:xfrm>
          <a:prstGeom prst="roundRect">
            <a:avLst/>
          </a:prstGeom>
          <a:noFill/>
          <a:ln w="1524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Python code heading"/>
          <p:cNvSpPr txBox="1"/>
          <p:nvPr/>
        </p:nvSpPr>
        <p:spPr>
          <a:xfrm>
            <a:off x="1024128" y="1627632"/>
            <a:ext cx="6382512" cy="347472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1" i="1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student_policy.py</a:t>
            </a:r>
            <a:r>
              <a:rPr sz="19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｜marked constants</a:t>
            </a:r>
          </a:p>
        </p:txBody>
      </p:sp>
      <p:sp>
        <p:nvSpPr>
          <p:cNvPr id="8" name="Python constants"/>
          <p:cNvSpPr txBox="1"/>
          <p:nvPr/>
        </p:nvSpPr>
        <p:spPr>
          <a:xfrm>
            <a:off x="1097280" y="2212848"/>
            <a:ext cx="6254496" cy="1664208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PACE_GAP_STEPS</a:t>
            </a:r>
            <a:r>
              <a:rPr sz="19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 = bounded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REST_DURING_GAP</a:t>
            </a:r>
            <a:r>
              <a:rPr sz="19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 = WAIT / SLEEP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BATCH_SIZE</a:t>
            </a:r>
            <a:r>
              <a:rPr sz="19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 = bounded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URGENT_MARGIN_S</a:t>
            </a:r>
            <a:r>
              <a:rPr sz="19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 = bounded</a:t>
            </a:r>
          </a:p>
        </p:txBody>
      </p:sp>
      <p:sp>
        <p:nvSpPr>
          <p:cNvPr id="9" name="Bounded range guard"/>
          <p:cNvSpPr/>
          <p:nvPr/>
        </p:nvSpPr>
        <p:spPr>
          <a:xfrm>
            <a:off x="8028431" y="1353312"/>
            <a:ext cx="3255264" cy="3383280"/>
          </a:xfrm>
          <a:prstGeom prst="roundRect">
            <a:avLst/>
          </a:prstGeom>
          <a:noFill/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Bounded heading"/>
          <p:cNvSpPr txBox="1"/>
          <p:nvPr/>
        </p:nvSpPr>
        <p:spPr>
          <a:xfrm>
            <a:off x="8266175" y="1627632"/>
            <a:ext cx="2779776" cy="347472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bounded values only</a:t>
            </a:r>
          </a:p>
        </p:txBody>
      </p:sp>
      <p:sp>
        <p:nvSpPr>
          <p:cNvPr id="11" name="Bounded body"/>
          <p:cNvSpPr txBox="1"/>
          <p:nvPr/>
        </p:nvSpPr>
        <p:spPr>
          <a:xfrm>
            <a:off x="8394192" y="2322576"/>
            <a:ext cx="2523744" cy="1097280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1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先預測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1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只改一個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1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保留小 diff</a:t>
            </a:r>
          </a:p>
        </p:txBody>
      </p:sp>
      <p:sp>
        <p:nvSpPr>
          <p:cNvPr id="12" name="Evidence status tag"/>
          <p:cNvSpPr txBox="1"/>
          <p:nvPr/>
        </p:nvSpPr>
        <p:spPr>
          <a:xfrm>
            <a:off x="7315200" y="5230368"/>
            <a:ext cx="4224528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PLACEHOLDER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27432" tIns="9144" rIns="27432" bIns="9144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Python survival：條件只處理當前 observation</a:t>
            </a:r>
          </a:p>
        </p:txBody>
      </p:sp>
      <p:sp>
        <p:nvSpPr>
          <p:cNvPr id="3" name="Exact command context frame"/>
          <p:cNvSpPr/>
          <p:nvPr/>
        </p:nvSpPr>
        <p:spPr>
          <a:xfrm>
            <a:off x="658368" y="960120"/>
            <a:ext cx="10881360" cy="356616"/>
          </a:xfrm>
          <a:prstGeom prst="roundRect">
            <a:avLst/>
          </a:prstGeom>
          <a:noFill/>
          <a:ln w="1524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Exact command line 1"/>
          <p:cNvSpPr txBox="1"/>
          <p:nvPr/>
        </p:nvSpPr>
        <p:spPr>
          <a:xfrm>
            <a:off x="822960" y="987552"/>
            <a:ext cx="5102352" cy="228600"/>
          </a:xfrm>
          <a:prstGeom prst="rect">
            <a:avLst/>
          </a:prstGeom>
          <a:noFill/>
          <a:ln>
            <a:noFill/>
          </a:ln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POSIX：grep -n 'def choose_action' </a:t>
            </a:r>
            <a:r>
              <a:rPr sz="18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student_policy.py</a:t>
            </a:r>
          </a:p>
        </p:txBody>
      </p:sp>
      <p:sp>
        <p:nvSpPr>
          <p:cNvPr id="5" name="Exact command line 2"/>
          <p:cNvSpPr txBox="1"/>
          <p:nvPr/>
        </p:nvSpPr>
        <p:spPr>
          <a:xfrm>
            <a:off x="6144768" y="987552"/>
            <a:ext cx="5102352" cy="228600"/>
          </a:xfrm>
          <a:prstGeom prst="rect">
            <a:avLst/>
          </a:prstGeom>
          <a:noFill/>
          <a:ln>
            <a:noFill/>
          </a:ln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bash course.sh verify</a:t>
            </a:r>
          </a:p>
        </p:txBody>
      </p:sp>
      <p:sp>
        <p:nvSpPr>
          <p:cNvPr id="6" name="Observation condition"/>
          <p:cNvSpPr/>
          <p:nvPr/>
        </p:nvSpPr>
        <p:spPr>
          <a:xfrm>
            <a:off x="4315968" y="1298448"/>
            <a:ext cx="3547872" cy="841248"/>
          </a:xfrm>
          <a:prstGeom prst="roundRect">
            <a:avLst/>
          </a:prstGeom>
          <a:noFill/>
          <a:ln w="1524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ondition heading"/>
          <p:cNvSpPr txBox="1"/>
          <p:nvPr/>
        </p:nvSpPr>
        <p:spPr>
          <a:xfrm>
            <a:off x="4480560" y="1536192"/>
            <a:ext cx="3218688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現在看到的 condition</a:t>
            </a:r>
          </a:p>
        </p:txBody>
      </p:sp>
      <p:cxnSp>
        <p:nvCxnSpPr>
          <p:cNvPr id="8" name="Branch arrow 0"/>
          <p:cNvCxnSpPr/>
          <p:nvPr/>
        </p:nvCxnSpPr>
        <p:spPr>
          <a:xfrm flipH="1">
            <a:off x="2304288" y="2139696"/>
            <a:ext cx="3785616" cy="621792"/>
          </a:xfrm>
          <a:prstGeom prst="line">
            <a:avLst/>
          </a:prstGeom>
          <a:ln w="17780">
            <a:solidFill>
              <a:srgbClr val="6F89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Branch panel if"/>
          <p:cNvSpPr/>
          <p:nvPr/>
        </p:nvSpPr>
        <p:spPr>
          <a:xfrm>
            <a:off x="932688" y="2761488"/>
            <a:ext cx="2743200" cy="1298448"/>
          </a:xfrm>
          <a:prstGeom prst="roundRect">
            <a:avLst/>
          </a:prstGeom>
          <a:noFill/>
          <a:ln w="1524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Branch heading if"/>
          <p:cNvSpPr txBox="1"/>
          <p:nvPr/>
        </p:nvSpPr>
        <p:spPr>
          <a:xfrm>
            <a:off x="1060704" y="2999232"/>
            <a:ext cx="2487168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if</a:t>
            </a:r>
          </a:p>
        </p:txBody>
      </p:sp>
      <p:sp>
        <p:nvSpPr>
          <p:cNvPr id="11" name="Branch body if"/>
          <p:cNvSpPr txBox="1"/>
          <p:nvPr/>
        </p:nvSpPr>
        <p:spPr>
          <a:xfrm>
            <a:off x="1097280" y="3511296"/>
            <a:ext cx="2414016" cy="329184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WAIT / SLEEP</a:t>
            </a:r>
          </a:p>
        </p:txBody>
      </p:sp>
      <p:cxnSp>
        <p:nvCxnSpPr>
          <p:cNvPr id="12" name="Branch arrow 1"/>
          <p:cNvCxnSpPr/>
          <p:nvPr/>
        </p:nvCxnSpPr>
        <p:spPr>
          <a:xfrm flipH="1">
            <a:off x="5687568" y="2139696"/>
            <a:ext cx="402336" cy="621792"/>
          </a:xfrm>
          <a:prstGeom prst="line">
            <a:avLst/>
          </a:prstGeom>
          <a:ln w="17780">
            <a:solidFill>
              <a:srgbClr val="8468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Branch panel elif"/>
          <p:cNvSpPr/>
          <p:nvPr/>
        </p:nvSpPr>
        <p:spPr>
          <a:xfrm>
            <a:off x="4315968" y="2761488"/>
            <a:ext cx="2743200" cy="1298448"/>
          </a:xfrm>
          <a:prstGeom prst="roundRect">
            <a:avLst/>
          </a:prstGeom>
          <a:noFill/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Branch heading elif"/>
          <p:cNvSpPr txBox="1"/>
          <p:nvPr/>
        </p:nvSpPr>
        <p:spPr>
          <a:xfrm>
            <a:off x="4443983" y="2999232"/>
            <a:ext cx="2487168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elif</a:t>
            </a:r>
          </a:p>
        </p:txBody>
      </p:sp>
      <p:sp>
        <p:nvSpPr>
          <p:cNvPr id="15" name="Branch body elif"/>
          <p:cNvSpPr txBox="1"/>
          <p:nvPr/>
        </p:nvSpPr>
        <p:spPr>
          <a:xfrm>
            <a:off x="4480559" y="3511296"/>
            <a:ext cx="2414016" cy="329184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SEND_ONE</a:t>
            </a:r>
          </a:p>
        </p:txBody>
      </p:sp>
      <p:cxnSp>
        <p:nvCxnSpPr>
          <p:cNvPr id="16" name="Branch arrow 2"/>
          <p:cNvCxnSpPr/>
          <p:nvPr/>
        </p:nvCxnSpPr>
        <p:spPr>
          <a:xfrm>
            <a:off x="6089904" y="2139696"/>
            <a:ext cx="2980944" cy="621792"/>
          </a:xfrm>
          <a:prstGeom prst="line">
            <a:avLst/>
          </a:prstGeom>
          <a:ln w="1778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Branch panel else"/>
          <p:cNvSpPr/>
          <p:nvPr/>
        </p:nvSpPr>
        <p:spPr>
          <a:xfrm>
            <a:off x="7699248" y="2761488"/>
            <a:ext cx="2743200" cy="1298448"/>
          </a:xfrm>
          <a:prstGeom prst="roundRect">
            <a:avLst/>
          </a:prstGeom>
          <a:noFill/>
          <a:ln w="1524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Branch heading else"/>
          <p:cNvSpPr txBox="1"/>
          <p:nvPr/>
        </p:nvSpPr>
        <p:spPr>
          <a:xfrm>
            <a:off x="7827264" y="2999232"/>
            <a:ext cx="2487168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else</a:t>
            </a:r>
          </a:p>
        </p:txBody>
      </p:sp>
      <p:sp>
        <p:nvSpPr>
          <p:cNvPr id="19" name="Branch body else"/>
          <p:cNvSpPr txBox="1"/>
          <p:nvPr/>
        </p:nvSpPr>
        <p:spPr>
          <a:xfrm>
            <a:off x="7863840" y="3511296"/>
            <a:ext cx="2414016" cy="329184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SEND_URGENT</a:t>
            </a:r>
          </a:p>
        </p:txBody>
      </p:sp>
      <p:sp>
        <p:nvSpPr>
          <p:cNvPr id="20" name="Branch guard"/>
          <p:cNvSpPr txBox="1"/>
          <p:nvPr/>
        </p:nvSpPr>
        <p:spPr>
          <a:xfrm>
            <a:off x="1261872" y="4590288"/>
            <a:ext cx="9528048" cy="329184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每條分支只回傳一個 legal action；不要讀 future outcome。</a:t>
            </a:r>
          </a:p>
        </p:txBody>
      </p:sp>
      <p:sp>
        <p:nvSpPr>
          <p:cNvPr id="21" name="Evidence status tag"/>
          <p:cNvSpPr txBox="1"/>
          <p:nvPr/>
        </p:nvSpPr>
        <p:spPr>
          <a:xfrm>
            <a:off x="7315200" y="5230368"/>
            <a:ext cx="4224528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PLACEHOLDER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27432" tIns="9144" rIns="27432" bIns="9144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Python survival：縮排與 return</a:t>
            </a:r>
          </a:p>
        </p:txBody>
      </p:sp>
      <p:sp>
        <p:nvSpPr>
          <p:cNvPr id="3" name="Exact command context frame"/>
          <p:cNvSpPr/>
          <p:nvPr/>
        </p:nvSpPr>
        <p:spPr>
          <a:xfrm>
            <a:off x="658368" y="960120"/>
            <a:ext cx="10881360" cy="585216"/>
          </a:xfrm>
          <a:prstGeom prst="roundRect">
            <a:avLst/>
          </a:prstGeom>
          <a:noFill/>
          <a:ln w="1524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Exact command line 1"/>
          <p:cNvSpPr txBox="1"/>
          <p:nvPr/>
        </p:nvSpPr>
        <p:spPr>
          <a:xfrm>
            <a:off x="822960" y="987552"/>
            <a:ext cx="5102352" cy="228600"/>
          </a:xfrm>
          <a:prstGeom prst="rect">
            <a:avLst/>
          </a:prstGeom>
          <a:noFill/>
          <a:ln>
            <a:noFill/>
          </a:ln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python -m py_compile </a:t>
            </a:r>
            <a:r>
              <a:rPr sz="18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student_policy.py</a:t>
            </a:r>
          </a:p>
        </p:txBody>
      </p:sp>
      <p:sp>
        <p:nvSpPr>
          <p:cNvPr id="5" name="Exact command line 2"/>
          <p:cNvSpPr txBox="1"/>
          <p:nvPr/>
        </p:nvSpPr>
        <p:spPr>
          <a:xfrm>
            <a:off x="822960" y="1216152"/>
            <a:ext cx="5102352" cy="228600"/>
          </a:xfrm>
          <a:prstGeom prst="rect">
            <a:avLst/>
          </a:prstGeom>
          <a:noFill/>
          <a:ln>
            <a:noFill/>
          </a:ln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py -3.11 -m py_compile </a:t>
            </a:r>
            <a:r>
              <a:rPr sz="18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student_policy.py</a:t>
            </a:r>
          </a:p>
        </p:txBody>
      </p:sp>
      <p:sp>
        <p:nvSpPr>
          <p:cNvPr id="6" name="Exact command line 3"/>
          <p:cNvSpPr txBox="1"/>
          <p:nvPr/>
        </p:nvSpPr>
        <p:spPr>
          <a:xfrm>
            <a:off x="6144768" y="987552"/>
            <a:ext cx="5102352" cy="228600"/>
          </a:xfrm>
          <a:prstGeom prst="rect">
            <a:avLst/>
          </a:prstGeom>
          <a:noFill/>
          <a:ln>
            <a:noFill/>
          </a:ln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bash course.sh verify</a:t>
            </a:r>
          </a:p>
        </p:txBody>
      </p:sp>
      <p:sp>
        <p:nvSpPr>
          <p:cNvPr id="7" name="Return code card"/>
          <p:cNvSpPr/>
          <p:nvPr/>
        </p:nvSpPr>
        <p:spPr>
          <a:xfrm>
            <a:off x="768096" y="1664208"/>
            <a:ext cx="6537960" cy="3054096"/>
          </a:xfrm>
          <a:prstGeom prst="roundRect">
            <a:avLst/>
          </a:prstGeom>
          <a:noFill/>
          <a:ln w="1524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turn function"/>
          <p:cNvSpPr txBox="1"/>
          <p:nvPr/>
        </p:nvSpPr>
        <p:spPr>
          <a:xfrm>
            <a:off x="1024128" y="1901952"/>
            <a:ext cx="6016752" cy="347472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choose_action(observation)</a:t>
            </a:r>
          </a:p>
        </p:txBody>
      </p:sp>
      <p:sp>
        <p:nvSpPr>
          <p:cNvPr id="9" name="Return line 1"/>
          <p:cNvSpPr txBox="1"/>
          <p:nvPr/>
        </p:nvSpPr>
        <p:spPr>
          <a:xfrm>
            <a:off x="1170432" y="2432304"/>
            <a:ext cx="5705856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0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if ready:</a:t>
            </a:r>
          </a:p>
        </p:txBody>
      </p:sp>
      <p:sp>
        <p:nvSpPr>
          <p:cNvPr id="10" name="Return line 2"/>
          <p:cNvSpPr txBox="1"/>
          <p:nvPr/>
        </p:nvSpPr>
        <p:spPr>
          <a:xfrm>
            <a:off x="1170432" y="2761488"/>
            <a:ext cx="5705856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0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   return WAIT</a:t>
            </a:r>
          </a:p>
        </p:txBody>
      </p:sp>
      <p:sp>
        <p:nvSpPr>
          <p:cNvPr id="11" name="Return line 3"/>
          <p:cNvSpPr txBox="1"/>
          <p:nvPr/>
        </p:nvSpPr>
        <p:spPr>
          <a:xfrm>
            <a:off x="1170432" y="3090672"/>
            <a:ext cx="5705856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0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elif low_power:</a:t>
            </a:r>
          </a:p>
        </p:txBody>
      </p:sp>
      <p:sp>
        <p:nvSpPr>
          <p:cNvPr id="12" name="Return line 4"/>
          <p:cNvSpPr txBox="1"/>
          <p:nvPr/>
        </p:nvSpPr>
        <p:spPr>
          <a:xfrm>
            <a:off x="1170432" y="3419856"/>
            <a:ext cx="5705856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0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   return SLEEP</a:t>
            </a:r>
          </a:p>
        </p:txBody>
      </p:sp>
      <p:sp>
        <p:nvSpPr>
          <p:cNvPr id="13" name="Return line 5"/>
          <p:cNvSpPr txBox="1"/>
          <p:nvPr/>
        </p:nvSpPr>
        <p:spPr>
          <a:xfrm>
            <a:off x="1170432" y="3749039"/>
            <a:ext cx="5705856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0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else:</a:t>
            </a:r>
          </a:p>
        </p:txBody>
      </p:sp>
      <p:sp>
        <p:nvSpPr>
          <p:cNvPr id="14" name="Return line 6"/>
          <p:cNvSpPr txBox="1"/>
          <p:nvPr/>
        </p:nvSpPr>
        <p:spPr>
          <a:xfrm>
            <a:off x="1170432" y="4078224"/>
            <a:ext cx="5705856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0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   return SEND_ONE</a:t>
            </a:r>
          </a:p>
        </p:txBody>
      </p:sp>
      <p:sp>
        <p:nvSpPr>
          <p:cNvPr id="15" name="Return meaning"/>
          <p:cNvSpPr/>
          <p:nvPr/>
        </p:nvSpPr>
        <p:spPr>
          <a:xfrm>
            <a:off x="7699248" y="1664208"/>
            <a:ext cx="3584448" cy="3054096"/>
          </a:xfrm>
          <a:prstGeom prst="roundRect">
            <a:avLst/>
          </a:prstGeom>
          <a:noFill/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turn meaning heading"/>
          <p:cNvSpPr txBox="1"/>
          <p:nvPr/>
        </p:nvSpPr>
        <p:spPr>
          <a:xfrm>
            <a:off x="7955279" y="1938528"/>
            <a:ext cx="3072384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runner 收到什麼？</a:t>
            </a:r>
          </a:p>
        </p:txBody>
      </p:sp>
      <p:sp>
        <p:nvSpPr>
          <p:cNvPr id="17" name="Return meaning body"/>
          <p:cNvSpPr txBox="1"/>
          <p:nvPr/>
        </p:nvSpPr>
        <p:spPr>
          <a:xfrm>
            <a:off x="8083296" y="2542032"/>
            <a:ext cx="2834640" cy="1298448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1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縮排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1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→ 分支歸屬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1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return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1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→ action token</a:t>
            </a:r>
          </a:p>
        </p:txBody>
      </p:sp>
      <p:sp>
        <p:nvSpPr>
          <p:cNvPr id="18" name="Evidence status tag"/>
          <p:cNvSpPr txBox="1"/>
          <p:nvPr/>
        </p:nvSpPr>
        <p:spPr>
          <a:xfrm>
            <a:off x="7315200" y="5230368"/>
            <a:ext cx="4224528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PLACEHOLDER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2_佈景主題1">
  <a:themeElements>
    <a:clrScheme name="自訂 1">
      <a:dk1>
        <a:srgbClr val="35377F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53A77"/>
      </a:accent4>
      <a:accent5>
        <a:srgbClr val="F4E9C1"/>
      </a:accent5>
      <a:accent6>
        <a:srgbClr val="A1A1A1"/>
      </a:accent6>
      <a:hlink>
        <a:srgbClr val="6F89F7"/>
      </a:hlink>
      <a:folHlink>
        <a:srgbClr val="CFDBFD"/>
      </a:folHlink>
    </a:clrScheme>
    <a:fontScheme name="正式文體">
      <a:majorFont>
        <a:latin typeface="Times New Roman"/>
        <a:ea typeface="標楷體"/>
        <a:cs typeface=""/>
      </a:majorFont>
      <a:minorFont>
        <a:latin typeface="Times New Roman"/>
        <a:ea typeface="標楷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rgbClr val="003065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rgbClr val="003065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lnDef>
  </a:objectDefaults>
  <a:extraClrSchemeLst>
    <a:extraClrScheme>
      <a:clrScheme name="hk1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k1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k1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8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53A77"/>
        </a:accent4>
        <a:accent5>
          <a:srgbClr val="F4E9C1"/>
        </a:accent5>
        <a:accent6>
          <a:srgbClr val="A1A1A1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佈景主題1" id="{929F1AC0-EDE5-4E84-B296-76809860B882}" vid="{D422FDD8-D1F8-4744-A7BD-E0F19A28C553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佈景主題1</Template>
  <TotalTime>42739</TotalTime>
  <Words>64</Words>
  <Application>Microsoft Office PowerPoint</Application>
  <PresentationFormat>寬螢幕</PresentationFormat>
  <Paragraphs>5</Paragraphs>
  <Slides>2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</vt:i4>
      </vt:variant>
    </vt:vector>
  </HeadingPairs>
  <TitlesOfParts>
    <vt:vector size="8" baseType="lpstr">
      <vt:lpstr>Times-Roman</vt:lpstr>
      <vt:lpstr>Arial</vt:lpstr>
      <vt:lpstr>Calibri</vt:lpstr>
      <vt:lpstr>Symbol</vt:lpstr>
      <vt:lpstr>Times New Roman</vt:lpstr>
      <vt:lpstr>2_佈景主題1</vt:lpstr>
      <vt:lpstr>Energy-Efficiency-Based Joint Uplink Resources Allocation for LEO Satellite Beam-Hopping System</vt:lpstr>
      <vt:lpstr>上行 LEO 衛星 BH 系統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Few-Shot Transfer Learning Approach Using Text-Label Embedding with Legal Attributes for Law Article Prediction</dc:title>
  <dc:creator>Windows 使用者</dc:creator>
  <cp:lastModifiedBy>柏宏 吳</cp:lastModifiedBy>
  <cp:revision>1493</cp:revision>
  <dcterms:created xsi:type="dcterms:W3CDTF">2019-10-21T01:22:34Z</dcterms:created>
  <dcterms:modified xsi:type="dcterms:W3CDTF">2025-12-10T11:42:30Z</dcterms:modified>
</cp:coreProperties>
</file>