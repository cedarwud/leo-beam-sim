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Point：Radio state 與停留時間：endpoint energy 的積分基礎。Say：P028。沿著 state 帶說明每個名稱如何對應 result 的 interval 與 energy bucket。Do：在 固定情境與前一頁保持一致 依序執行或讀取：依頁面上的操作順序讀取既有證據。Why：建立 state vocabulary、觸發條件、duration 與 energy bucket 的對照。。Mechanism：SLEEP 是低功耗休息；WAIT 是 awake idle；WAKE、PROCESS、TX、RX 都會留下時間與功率。。Expect：完整 ledger 由 state interval、power、duration 與 endpoint J 組成；action 名稱只標記一次決策。。Interpret：結果符合預期時，將它解讀為 FALLBACK ARTIFACT｜SIMULATED；結果不符時，保留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A：SLEEP 與 WAIT 的 service／energy 比較。Say：P029。判斷 J 下降但 service_pass 變成 false 時，是否稱為節能成功。Do：在 固定情境與前一頁保持一致 依序執行或讀取：依頁面上的操作順序讀取既有證據。Why：固定挑戰、成功 gate 與一個 exact edit。。Mechanism：SLEEP 降低 idle power 並支付 wake；WAIT 維持 awake idle 並增加 awake-idle；service 與整段 J 共同形成結果。。Expect：固定 scenario／seed／traffic／window／endpoint boundary，再讀 delivered、deadline、freshness 與 endpoint J。。Interpret：結果符合預期時，將它解讀為 LAB A MECHANISM｜SIMULATED TEACHING DATA；結果不符時，保留 stdout、result 與 replay。Transition：接著把這個 evidence 帶到下一個 result／replay gate。Recovery：保留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Point：封包生命週期：送出與交付分開判定。Say：P030。一次 SEND 是 policy decision，不等於 service 已交付。Do：在 固定情境與前一頁保持一致 依序執行或讀取：依頁面上的操作順序讀取既有證據。Why：packet ledger 定義交付事件；energy ledger 定義 endpoint 累積。。Mechanism：generated → queue → attempt → collision／retry → delivered 或 expired → service verdict。。Expect：attempted、retransmissions、unique_delivered、expired 與 deadline 必須一起讀。。Interpret：結果符合預期時，將它解讀為 FALLBACK ARTIFACT｜SIMULATED；結果不符時，保留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Point：Service gate 與 endpoint J 的比較順序。Say：P031。service gate 決定 endpoint J 的解讀層級；低 J 維持為單一觀察值。Do：在 固定情境與前一頁保持一致 依序執行或讀取：依頁面上的操作順序讀取既有證據。Why：防止少做工作被誤教成更有效率。。Mechanism：same identity → delivered／deadline／freshness → service_pass → endpoint J。。Expect：兩次結果須有相同 scenario、job、window、traffic 與 endpoint scope。。Interpret：結果符合預期時，將它解讀為 BOUNDARY RULE｜SIMULATED TEACHING DATA；結果不符時，保留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Point：W 是瞬間功率，J 是整段累積。Say：P032。低峰值拖得久仍可能累積較多 J。Do：在 固定情境與前一頁保持一致 依序執行或讀取：依頁面上的操作順序讀取既有證據。Why：把 power rate 與時間累積出的 energy 分開讀。。Mechanism：WAIT／SLEEP 使用固定 clock step；PROCESS、TX、RX、WAKE 另有 transition cost。。Expect：沿著 interval 看 duration，再把 awake_idle、sleep、wake、process、TX、RX 加回 total。。Interpret：結果符合預期時，將它解讀為 MODEL BOUNDARY｜SIMULATED；結果不符時，保留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Point：endpoint energy 公式只涵蓋 endpoint 邊界。Say：P033。公式定義 scope 與累積語義；本次數值來源為 result artifact。Do：在 固定情境與前一頁保持一致 依序執行或讀取：依頁面上的操作順序讀取既有證據。Why：讀懂每個 endpoint state 的功率與停留時間如何累積。。Mechanism：E_endpoint = Σ P_s t_s；endpoint scope 包含 radio／processing，不包含 satellite／gateway／whole-system wall-plug。。Expect：native Office Math 可編輯；數值仍由 result artifact 提供。。Interpret：結果符合預期時，將它解讀為 EDITABLE OFFICE MATH｜SIMULATED；結果不符時，保留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Point：energy efficiency 的分子與分母要同一個邊界。Say：P034。delivery gate 維持獨立；bit 與 J 僅在同一 endpoint boundary 內形成比值。Do：在 固定情境與前一頁保持一致 依序執行或讀取：依頁面上的操作順序讀取既有證據。Why：同時確認 delivered data 分子、endpoint energy 分母與 units。。Mechanism：η_E = D_delivered / E_endpoint；bit ÷ J = bit/J；service_pass 仍是獨立 gate。。Expect：native Office Math 可編輯；efficiency ratio 與 delivery、deadline verdict 分開判定。。Interpret：結果符合預期時，將它解讀為 EDITABLE OFFICE MATH｜SIMULATED；結果不符時，保留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Point：來源、模型、課程假設與結果要分開。Say：P035。資料類型維持 coherent simulated result；provenance 記錄 input、policy 與 output 的關聯。Do：在 固定情境與前一頁保持一致 依序執行或讀取：依頁面上的操作順序讀取既有證據。Why：沿 scenario、seed、policy identity 與 artifact source 回溯一筆結果。。Mechanism：source → model → course assumption → result；上游 provenance 參考不等於上游程式被執行。。Expect：runner_provenance.upstream_execution=false；claim boundary 隨 artifact 保存。。Interpret：結果符合預期時，將它解讀為 PROVENANCE SPINE｜SIMULATED；結果不符時，保留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Point：執行結果如何進入重播與工作簿。Say：P036。配對 identity 比單一漂亮數字更重要。Do：在 固定情境與前一頁保持一致 依序執行或讀取：依頁面上的操作順序讀取既有證據。Why：確保 scenario、anchor、policy、seed 與 units 在整條鏈一致。。Mechanism：scenario package → result.json → endpoint-replay.json → Leo replay → workbook；mismatch 不猜身份。。Expect：同一 ntpu-energy-decision-01、scenario identity、anchor identity、policy identity、seed 與 units。。Interpret：結果符合預期時，將它解讀為 IDENTITY GATE｜FAIL CLOSED；結果不符時，保留 stdout、result 與 replay。Transition：接著把這個 evidence 帶到下一個 result／replay gate。Recovery：identity mismatch：保留輸入與錯誤，回到 matching artifact；不可手改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Point：Baseline：固定條件下的 control execution。Say：P037。Baseline 使用固定情境、隨機種子與原始 policy，作為對照執行。Do：在 固定情境與前一頁保持一致 依序執行或讀取：依頁面上的操作順序讀取既有證據。Why：固定條件，使目前 lab 僅有 marked block 變動。。Mechanism：固定 scenario／seed／traffic／window／endpoint scope；只改一個 marked block；觀察 state／packet／service／J。。Expect：若 scenario identity、traffic 或 scope 偷換，A/B 失去因果資格。。Interpret：結果符合預期時，將它解讀為 CONTROL RULE｜SIMULATED；結果不符時，保留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Point：LEO：changing-service-window trace 的輸入範例。Say：P038。LEO 範例採用預先定義的 changing-service-window trace，作為 endpoint 傳輸時機的輸入。Do：在 固定情境與前一頁保持一致 依序執行或讀取：依頁面上的操作順序讀取既有證據。Why：為 Lab B 的 quality window 問題建立 changing opportunity 背景。。Mechanism：contact_open、quality_band、contact_remaining_s 進入 observation；窗口關閉時只接受 SLEEP。。Expect：changing-service-window trace 依序提供 closed、contact-a、closed、contact-b、closed 的輸入。。Interpret：結果符合預期時，將它解讀為 WINDOW CONTEXT｜NOT LIVE；結果不符時，保留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A：等待空檔的 radio state 比較。Say：P039。Lab A 固定同一工作，沿 state、packet、service、J 解釋差異。Do：在 固定情境與前一頁保持一致 依序執行或讀取：依頁面上的操作順序讀取既有證據。Why：固定 scenario、case workload、service window、seed、endpoint energy model 與 PACE_GAP_STEPS = 2。。Mechanism：SLEEP（低功耗休息）→ WAKE cost；WAIT（清醒閒置）→ awake-idle energy。唯一修改：REST_DURING_GAP = SLEEP → WAIT。。Expect：比較 state duration、wake event／energy、packet outcome、service result 與 endpoint_energy_j；唯一修改 → state 變化 → packet/service → endpoint energy。。Interpret：結果符合預期時，將它解讀為 LAB A MECHANISM｜SIMULATED；結果不符時，保留 stdout、result 與 replay。Transition：接著把這個 evidence 帶到下一個 result／replay gate。Recovery：保留 stdout／stderr；用 A checkpoint 或同 scenario fallback 恢復，不再調參。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Point：左卡的 contact_open=false、steps_since_send 與 REST_DURING_GAP，右卡的 stdout receipt。Say：當前頁先固定 A baseline；窗口關閉時回到 SLEEP，間隔步數不足時由 policy 常數決定 gap action。Operate：在 package root 執行 bash course.sh run --lab A --case baseline，Windows PowerShell 對應 .\course.cmd run --lab A --case baseline。Expect：stdout 讀 status、run_id、result_path、artifact_source、claim_boundary；成功時再沿 result_path 開 result.json 與同目錄 endpoint-replay.json。Interpret：baseline 是原始 policy 的 control，不先把任何 fallback 數值當 fresh run；下一頁把同一 receipt 的 summary 欄位集中讀完。Recover：命令失敗就保留 stdout／stderr，重新取得同一 case 的 path，不猜檔名。Transition：帶著 baseline result_path 進 P040a。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Point：summary 卡的 fallback label 與十個欄位。Say：這組 6.92 J、4,800 bit、693.641618 bit/J、wake 2、attempt 2、retry 1、expired 3，以及 service_pass=FAIL、deadline_pass=FAIL、freshness_status=expired，是 same-scenario-fallback reference，不是 fresh run。Operate：依上一頁 stdout 的 result_path 開 artifacts/&lt;run_id&gt;/result.json，再開同一目錄 endpoint-replay.json；若只有 reference，就保留 reference 標籤。Expect：欄位名稱與單位逐一對上 summary.service_pass、summary.deadline_pass、summary.freshness_status、summary.delivered_bits、summary.endpoint_energy_j、summary.efficiency、wake、attempt、retry、expired。Interpret：baseline 只建立 control；service 與 deadline 都 false，不能用效率數值掩蓋未交付的 service verdict。Recover：result／replay 不是同一 run 時停止比較，回到 stdout path 重新配對。Transition：把完整 summary 帶到 A 的唯一 edit。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Point：頁首的 package-relative path，以及紫色 BEFORE 卡的兩個 marker 行和 PACE_GAP_STEPS = 2。Say：檔案是 lora-energy-lab/student_policy.py；完整 marked block 從 # === LORA EDITABLE: lab-a-pace-rest === 到 # === LORA END EDITABLE: lab-a-pace-rest ===，baseline 的 REST_DURING_GAP 仍是 SLEEP。Operate：在 package root 以 WSL／POSIX 範例先執行 cp student_policy.py student_policy.before-A-edit.py，再以 nano student_policy.py 開檔並修改，最後執行 .venv/bin/python -m py_compile student_policy.py。Expect：backup 產生 before bytes，py_compile 回傳 0；它只代表 syntax 可解析，尚未驗 marker、policy API、predecessor 或 result。Interpret：這頁的 BEFORE 是唯一 edit 的來源基線，不能把 editor 開啟或 compile 當成 candidate run。Recover：syntax 不通就用 student_policy.before-A-edit.py 還原，再只重跑 py_compile。Transition：下一頁讀完整 AFTER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Point：青色 AFTER 卡的完整五行邊界。Say：AFTER 仍從同一個 lab-a-pace-rest marker 開始，PACE_GAP_STEPS = 2 不動；唯一可見差異是 REST_DURING_GAP = WAIT，END marker 和其他 block 都保留。Operate：以 diff 或逐行目視核對 before-A-edit backup 與目前 student_policy.py，接著執行 .venv/bin/python -m py_compile student_policy.py；Windows 對應 .\.venv\Scripts\python.exe -m py_compile student_policy.py。Expect：只看到一行 value change，compile 回傳 0；沒有額外的 A-baseline 檔名或不存在的 checkpoint 檔。Interpret：這是 policy surface 的 candidate 定義，尚未是 run result；因果判讀要等 P042 的 result／replay pair。Recover：多出任何修改就回 backup，重新只保留 REST_DURING_GAP = SLEEP → WAIT。Transition：下一頁讀 Windows／WSL edit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Point：左側 WSL／POSIX 與右側 Windows PowerShell 命令卡。Say：兩邊都在同一個 package-relative student_policy.py 上操作；nano 與 notepad 是 editor 範例，backup 先於 compile。Operate：WSL 逐行執行 cp student_policy.py student_policy.before-A-edit.py；nano student_policy.py；.venv/bin/python -m py_compile student_policy.py。PowerShell 逐行執行 Copy-Item student_policy.py -Destination student_policy.before-A-edit.py；notepad .\student_policy.py；.\.venv\Scripts\python.exe -m py_compile student_policy.py。Expect：兩個環境都得到 syntax guard 結果；compile 不驗 marker、API、前置 policy 或 JSON。Interpret：只要 backup 或 compile 失敗，就沒有 candidate run 的資格；成功只表示可進下一個 exact edit gate。Recover：保留 stderr，從 before-A-edit backup 還原後重試，不跳到 run。Transition：下一頁讀 marker 外 consumer。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Point：marker 外的 function choose_action(observation) branch。Say：精確消費者是 if observation.steps_since_send &lt; PACE_GAP_STEPS: return REST_DURING_GAP；它讀 marked block 的常數，engine 才負責後續 state 與 transition。Operate：先在 code editor 核對這個 branch，再執行 A candidate 的 exact command；compile 不能替代這個 API 與 predecessor 檢查。Expect：run receipt 會提供 result_path；result.json 與 endpoint-replay.json 才能給 state、packet、service、endpoint_energy_j 的實際欄位。Interpret：唯一因果差異是 REST_DURING_GAP = SLEEP 改成 WAIT；預期 awake-idle 可能增加、wake 或 state timing 可能改變，但 service 仍由 gate 判定。Recover：consumer 行或 API 不符時停在這裡，還原 student_policy.before-A-edit.py，不宣稱 candidate 成功。Transition：帶著唯一 edit 進 P042 的三條 run。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Point：六條完整、可獨立複製的 command row，順序是 baseline、candidate、hidden。Say：WSL 先跑 bash course.sh run --lab A --case baseline，再跑 bash course.sh run --lab A --case candidate --freeze，最後跑 bash course.sh run --lab A --case hidden；PowerShell 對應三條 .\course.cmd 命令。Operate：每條 command 單獨執行並保存 stdout；candidate 的 --freeze 必須先成功，hidden 才有入場資格。Expect：每次 stdout 讀 status、run_id、result_path、artifact_source、claim_boundary，不顯示任何識別摘要值；candidate 另應留下 artifacts/checkpoints/lab-a-frozen.{json,py}。Interpret：baseline 與 candidate 只相差 A marked edit，hidden 保持 frozen policy；每次 run 的實際 JSON 取自自己的 result_path，不用 reference 假裝 local run。Recover：任一 command 失敗就保留 stdout／stderr，先修復或還原 policy；freeze 缺失時停止 hidden。Transition：下一頁依 receipt 取 result 與 replay。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Point：stdout fields 卡、artifact pair 卡與 candidate freeze checkpoint。Say：status、run_id、result_path、artifact_source、claim_boundary 是 receipt contract；result_path 是唯一的 artifact join key。Operate：照 stdout 的 result_path 開 artifacts/&lt;run_id&gt;/result.json，再開同一目錄 endpoint-replay.json；candidate freeze 只讀 artifacts/checkpoints/lab-a-frozen.json 與 lab-a-frozen.py。Expect：result 與 replay 共享同一 run 目錄；不在投影片或命令中輸出任何 hash／摘要值。Interpret：只在 result／replay pair 成立時解讀 summary、state、packet；fallback reference 必須標為 reference，不能改寫成 fresh run。Recover：path 遺失或 pair 不一致時保留原 stdout，重跑同一 case；不要手改 JSON，也不要用猜測路徑。Transition：把 pairs 帶到 identity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Point：baseline 與 candidate 兩張比較卡，以及中間的 identity gate。Say：先確認 scenario_id、policy identity、scope、units 與 run_id，再談能量差異；baseline reference 是 6.92 J／4,800 bit，candidate reference 是 8.86 J／4,800 bit，兩次 service_pass 都 FAIL。Operate：各自從 P042 stdout result_path 開 result.json 與同 run endpoint-replay.json，將兩組欄位寫在 before／after 位置。Expect：兩組 pair 的 scenario 與 scope 一致；summary 仍含 freshness_status=expired、deadline_pass=FAIL 與完整 counters。Interpret：同一 identity 下，candidate endpoint J 增加而 delivered bits 沒變，這支持 WAIT 造成 energy trade-off 的機制，但不支持 service success。Recover：identity、units 或 predecessor 不一致就停止比較，分別回到各自 stdout path。Transition：下一頁拆解 candidate energy buckets。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Point：candidate 的 state ledger 與 energy_breakdown_j bucket。Say：awake_idle=6.00 J、sleep=0.04 J、wake=0.02 J、process=0.16 J、tx=2.40 J、rx=0.24 J；每個 J 都要回到 state interval 與 power。Operate：從 candidate result_path 開 events 和 energy_breakdown_j，逐 bucket 核對名稱、數值與 endpoint scope。Expect：六個 bucket 可加總到 endpoint energy；WAIT 的 awake-idle 與 SLEEP 的低功耗段分開出現。Interpret：這些欄位讓 REST_DURING_GAP 的 state 機制可追溯；不能只看 total J，也不能把 tx／rx 當成 gap action。Recover：bucket 缺失或 units 不符時保留 result／replay pair，回到 P042 重新取得同 case artifacts。Transition：接著用 packet ledger 判讀 delivery 與 service。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Point：attempted、retransmissions、delivered_bits、expired 與 service verdict。Say：candidate reference 是 attempted=2、retry=1、delivered_bits=4,800、expired=3、service_pass=FAIL、deadline_pass=FAIL；一次 SEND decision 不等於交付。Operate：在 result.json 讀 counters，在同 run endpoint-replay.json 找 PACKET_ATTEMPT、retry 與 deadline event。Expect：packet outcome、freshness_status=expired 與 endpoint_energy_j=8.86 J 能互相對上；service gate 由 delivery、deadline、freshness 一起判定。Interpret：WAIT 造成的 state energy 變化不能被誤讀成 delivery improvement；先分開 packet 與 service，再談效率。Recover：counter 或 replay event 對不上時停止因果句，回到該次 stdout result_path。Transition：下一頁檢查 candidate freeze lineage。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Point：freeze gate 的 policy identity、predecessor、active_block_id 與 checkpoint path。Say：hidden 的資格不是一個數字，而是 candidate --freeze 產生的 lab-a-frozen receipt 加上 artifacts/checkpoints/lab-a-frozen.{json,py}。Operate：開 candidate stdout 指出的 result_path，核對 checkpoint 內 scenario、seed、policy identity、predecessor 與 active_block_id=lab-a-pace-rest。Expect：receipt 與 checkpoint 的 identity 全部一致，且 result／replay pair 仍在同一 run 目錄。Interpret：freeze 把唯一 edit 固定成 lineage；沒有它就無法把 hidden 結果歸因到同一 policy。Recover：checkpoint 或 predecessor 遺失時回 P042 的 candidate --freeze，不執行 hidden，也不建立替代檔名。Transition：下一頁以 frozen policy 讀 hidden condition。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Point：hidden path、frozen policy 與 summary boundary。Say：hidden reference 是 3.61 J、0 bit、wake 0、attempt 0、retry 0、expired 3、service_pass=FAIL；它是適用條件限制，不是新的調參結果。Operate：用 P042 的 bash course.sh run --lab A --case hidden，或 PowerShell .\course.cmd run --lab A --case hidden；再沿 stdout result_path 開 result.json 與同 run replay。Expect：policy identity 仍指向 lab-a-frozen，summary 欄位保持完整，freshness_status=expired。Interpret：同一 frozen policy 在不同窗口／traffic 條件下可能呈現不同 outcome；因此只縮小 claim，不把 hidden 數字外推成普遍結論。Recover：hidden path 缺失就恢復 lab-a-frozen checkpoint，重新跑該命令；不手填結果。Transition：把 primary 與 hidden 的條件放進 Lab A 結論句。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Point：condition → mechanism → evidence → claim ceiling 的結論骨架。Say：先填 trace 條件，再寫 WAIT 如何改變 state，接著引用 packet／service 與 J，最後寫 hidden 的適用條件限制。Operate：引用 P042 三組 result_path／replay pair、P044 六個 energy bucket 與 P045 service fields；不要引入未出現在 pair 的數值。Expect：結論同時包含 endpoint_energy_j、delivered_bits、service_pass、deadline_pass、freshness_status 與條件邊界。Interpret：可支持的句子是「在固定 identity 與指定 window 下，WAIT 透過 awake-idle state 改變 endpoint J」；service 是否成功仍由 gate 決定。Recover：缺一個 pair 就把結論停在已知欄位，回到 P042 重新建立 artifacts。Transition：帶著 state／service 分離的讀法進 Lab 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B：quality hold 與 service window。Say：P049。Lab B 研究 quality trace 進入 send-ready 的條件；service 由 window、packet 與 deadline 判定。Do：在 固定情境與前一頁保持一致 依序執行或讀取：依頁面上的操作順序讀取既有證據。Why：定義 quality trace、enter、hold、exit 與 service-window transition。。Mechanism：quality_band + stable_steps → REST／SEND_READY transition → packet／deadline／service → endpoint J。。Expect：固定 A frozen predecessor，只改 B stable hold，最後用 Trace B 找 too-slow 的適用條件限制。。Interpret：結果符合預期時，將它解讀為 LAB B QUESTION｜SIMULATED；結果不符時，保留 stdout、result 與 replay。Transition：接著把這個 evidence 帶到下一個 result／replay gate。Recovery：receipt、predecessor 或 policy identity 不符時停止 withheld，恢復 A／B checkpoint。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Point：ENTER_QUALITY：send-ready 的進入閾值。Say：P050。以第一次達到 quality 2 的位置定位 enter；stable hold 與 transition 由同一 trace 連結。Do：在 student_policy.py lab-b-enter-exit-hold block 依序執行或讀取：依頁面上的操作順序讀取既有證據。Why：說明 quality crossing 如何進入 send-ready。。Mechanism：切換條件：quality_band ≥ ENTER_QUALITY 且 stable_steps ≥ STABLE_STEPS；threshold 是 decision gate，非 energy knob。。Expect：ENTER_QUALITY=2、EXIT_QUALITY=1、STABLE_STEPS=2；下一步只改第三行。。Interpret：結果符合預期時，將它解讀為 THRESHOLD MODEL｜SIMULATED；結果不符時，保留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Point：EXIT_QUALITY：enter／exit 的雙閾值。Say：P051。hysteresis 是 enter／exit 條件設計；service 與 energy 仍由 result 驗證。Do：在 same quality trace；send_mode_active branch 依序執行或讀取：依頁面上的操作順序讀取既有證據。Why：用 enter／exit 分離避免品質邊界 ping-pong。。Mechanism：ENTER_QUALITY=2；已進入後 quality≥EXIT_QUALITY=1 時保持 send-ready；quality &lt; 1 時退出。。Expect：兩條 threshold 形成 hysteresis band；transition、retry、service、J 仍須由 result 驗證。。Interpret：結果符合預期時，將它解讀為 HYSTERESIS MODEL｜SIMULATED；結果不符時，保留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Point：STABLE_STEPS：拒絕短暫尖峰。Say：P052。Prediction 包含 hold 縮短、送出時機與 quality 條件。Do：在 student_policy.py B marked block 依序執行或讀取：依頁面上的操作順序讀取既有證據。Why：把短暫 quality spike 與連續穩定分開。。Mechanism：engine 每個固定 clock step 更新 stable_steps；stable_steps=2 時 send_mode_active 切成 ready；改成 1 會縮短 hold。。Expect：Prediction：STABLE_STEPS=1 可能提早一個 step 的 MODE_CHANGE；packet／service／J 由 result 觀察。。Interpret：結果符合預期時，將它解讀為 HOLD MODEL｜SIMULATED；結果不符時，保留 stdout、result 與 replay。Transition：接著把這個 evidence 帶到下一個 result／replay gate。Recovery：result／replay 不成 pair 時保留錯誤，回到該次 stdout result_path，不手改 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Point：Lab B Trace A：transition prediction 與執行。Say：P053。Prediction 定位 MODE_CHANGE 時點並說明因果理由。Do：在 Trace A；A frozen predecessor；B candidate target=1 依序執行或讀取：依頁面上的操作順序讀取既有證據。Why：在 action 前標出 enter、hold、exit；prediction 與 result 以同一 trace 對照。。Mechanism：policy 讀取當下／過去 observation；future trace 與 result summary 不在 policy input。。Expect：填入 enter step、hold 連續步數、exit quality、service／J 方向；再執行 P056。。Interpret：結果符合預期時，將它解讀為 PREDICTION LOCK｜SIMULATED；結果不符時，保留 stdout、result 與 replay。Transition：接著把這個 evidence 帶到下一個 result／replay gate。Recovery：A policy 的 frozen predecessor 是 observation 的固定前提；缺失時還原 lab-a-frozen.py。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Point：A WAIT predecessor、B hold=2 與 Trace A baseline command。Say：B 的 control 依賴 A frozen predecessor；quality ≥ 2 且 stable_steps ≥ 2 時才進 send-ready，engine 會留下 MODE_CHANGE。Operate：執行 bash course.sh run --lab B --case trace-a-baseline，PowerShell 對應 .\course.cmd run --lab B --case trace-a-baseline。Expect：stdout 有 status、run_id、result_path、artifact_source、claim_boundary；reference summary 是 8.86 J、4,800 bit、active_s=8、service_pass=FAIL。Interpret：baseline 是 B hold=2 的 control，MODE_CHANGE REST → SEND_READY 在 t=130 s；transition 較早不等於 service success。Recover：baseline pair 缺失時保留 stdout，重跑同一命令取得新的 result_path。Transition：下一頁讀完整 Trace A baseline summary。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A baseline summary 卡與右側 MODE_CHANGE interpretation。Say：這個 same-scenario-fallback reference 的 summary.service_pass、deadline_pass 都 FAIL，freshness_status=expired，delivered_bits=4,800，endpoint_energy_j=8.86 J，efficiency=541.760722 bit/J，wake=1、attempt=2、retry=1、expired=3。Operate：依 P054 stdout result_path 開 result.json，再開同 run endpoint-replay.json，核對 MODE_CHANGE REST → SEND_READY、t=130 s、active_s=8。Expect：summary 欄位與 event 時點屬於同一 run pair；不顯示任何識別摘要值。Interpret：Trace A baseline 提供 hold=2 的控制行為；下一個 candidate 只把 STABLE_STEPS 改成 1，其他 identity 維持。Recover：summary 與 event 不在同一 run 時停止，從 stdout path 重新配對。Transition：進入 B 的 BEFORE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的 package-relative path 與紫色 BEFORE marked block。Say：完整 block 是 lab-b-enter-exit-hold；ENTER_QUALITY = 2、EXIT_QUALITY = 1、STABLE_STEPS = 2，三行都要保留。Operate：WSL 先 cp student_policy.py student_policy.before-B-edit.py，再以 nano student_policy.py 開檔並修改，最後跑 .venv/bin/python -m py_compile student_policy.py。Expect：backup 留住 hold=2 的 source bytes，compile 回傳 0；compile 只驗 syntax，沒有驗 choose_action、engine、predecessor 或 result。Interpret：這是 B candidate 的唯一修改前基線；A WAIT predecessor 與 runner scope 不在此頁被改動。Recover：syntax 失敗用 student_policy.before-B-edit.py 還原，只重跑 compile。Transition：下一頁核對完整 AFTER block。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的青色 AFTER block。Say：ENTER_QUALITY = 2 與 EXIT_QUALITY = 1 仍不動；只有 STABLE_STEPS = 2 改為 1，兩個 marker 行和其他 block 原樣保留。Operate：以 diff 核對 before-B-edit backup 與目前檔案，接著執行 .venv/bin/python -m py_compile student_policy.py；PowerShell 對應 .\.venv\Scripts\python.exe -m py_compile student_policy.py。Expect：差異只有第三行，compile 回傳 0；MODE_CHANGE 尚未在這個 code page 生成。Interpret：AFTER 只定義 policy input surface，transition timing、packet、service 與 endpoint J 必須等 P056 run pair。Recover：多出任何行差異就回 student_policy.before-B-edit.py，重新保留單一 edit。Transition：進入 Trace A baseline／candidate／Trace B exact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的 WSL／POSIX 與 Windows PowerShell 命令卡。Say：editor 只是開啟相對路徑；backup 先保存 before，最後才做 py_compile。Operate：WSL 執行 cp student_policy.py student_policy.before-B-edit.py；nano student_policy.py；.venv/bin/python -m py_compile student_policy.py。PowerShell 執行 Copy-Item student_policy.py -Destination student_policy.before-B-edit.py；notepad .\student_policy.py；.\.venv\Scripts\python.exe -m py_compile student_policy.py。Expect：兩邊 compile 都只回報 syntax；任何 marker、API、MODE_CHANGE、service 都要等 run。Interpret：這個 gate 的目的，是在進入 Trace A 前保留可恢復的 policy bytes。Recover：命令失敗保留 stderr，從 before-B-edit backup 還原，不執行 Trace A。Transition：回 P055d 讀 candidate AFTER。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Point：marker 外 consumer、choose_action(observation) 與 student_policy.py:116–118。Say：quality_ready 的實際條件是 observation.quality_band &gt;= ENTER_QUALITY 且 observation.stable_steps &gt;= STABLE_STEPS；function choose_action(observation) 只消費這些 global，run_simulation 位於 lora_energy_lab/engine.py:238–249，engine 依 global 建立 MODE_CHANGE。Operate：在 source 檔以 nl -ba student_policy.py 核對 116–118，再執行 candidate --freeze；Windows 使用 .\course.cmd run --lab B --case trace-a-candidate --freeze，WSL 使用 bash course.sh run --lab B --case trace-a-candidate --freeze。Expect：candidate stdout 提供 result_path 與 lab-b-frozen checkpoint；replay 會記錄 MODE_CHANGE、PACKET_ATTEMPT、retry、delivered_bits、expired。Interpret：唯一 edit 是 STABLE_STEPS=2 → 1；較早 MODE_CHANGE 是 engine event，不可寫成 student_policy.py 直接產生 transition，也不能直接宣稱 service 成功。Recover：condition line、API 或 predecessor 不符時停止 run，還原 student_policy.before-B-edit.py。Transition：下一頁核對完整 AFTER block，再讀 Trace A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Point：六條 B command row，依序是 Trace A baseline、Trace A candidate、Trace B。Say：WSL 執行 bash course.sh run --lab B --case trace-a-baseline；bash course.sh run --lab B --case trace-a-candidate --freeze；bash course.sh run --lab B --case trace-b。PowerShell 執行對應的 .\course.cmd 三條命令。Operate：每條 command 保存自己的 stdout；candidate --freeze 成功後才進 Trace B，Trace B withheld 不再調參。Expect：每次 receipt 讀 status、run_id、result_path、artifact_source、claim_boundary；candidate 應有 artifacts/checkpoints/lab-b-frozen.{json,py}。Interpret：Trace A baseline 用 hold=2，candidate 用 hold=1，Trace B 保持 frozen candidate policy；比較依 identity 與 predecessor，不依畫面印象。Recover：任一 run 失敗保留 stdout／stderr，還原 B edit 或 predecessor，再只重跑失敗 case。Transition：下一頁讀 stdout fields 與 artifact pair。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Point：B receipt 的 fields、artifact pair 與 lab-b-frozen checkpoint。Say：result_path 指到 artifacts/&lt;run_id&gt;/result.json；同目錄 endpoint-replay.json 才是可配對的事件來源。Operate：依三次 stdout 各自開 result.json 和 endpoint-replay.json；candidate freeze 只開 artifacts/checkpoints/lab-b-frozen.json 與 lab-b-frozen.py。Expect：status、run_id、result_path、artifact_source、claim_boundary 可追溯，且不顯示任何識別摘要值。Interpret：若沒有同一 run 的 pair，不能讀 MODE_CHANGE、packet、service 或 energy；Trace B 只讀 frozen policy evidence。Recover：path 或 pair 缺失就保存 stdout，回到相同 case 重跑，不手改 JSON。Transition：帶著三組 pair 進 causal transition 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Point：quality → MODE_CHANGE → packet → service／J 的 causal overview。Say：quality band 是 observation context；STABLE_STEPS=1 只改 quality_ready timing，MODE_CHANGE 由 lora_energy_lab/engine.py 建立，packet 與 service 再由 result/replay 判定。Operate：先取 Trace A candidate result_path，再依同目錄 replay 找 transition 與 PACKET_ATTEMPT；不要用 policy code 推填 event。Expect：summary fields 與 MODE_CHANGE 時點能和 delivered_bits、expired、endpoint_energy_j 對上。Interpret：這張 overview 只建立因果鏈，較快 transition 不等於 service success；下一頁列出完整數值。Recover：event 與 summary 不成 pair 時回 P056a 的 stdout path。Transition：讀 P057a 的 transition／service evidence。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Point：MODE_CHANGE 三段時點與右側 packet／service fields。Say：Trace A candidate reference 的 MODE_CHANGE 是 REST → SEND_READY t=20 s、SEND_READY → REST t=80 s、REST → SEND_READY t=110 s；summary 是 10.66 J、9,600 bit、efficiency=900.562852 bit/J、wake=1、attempt=4、retry=1、expired=1、service_pass=FAIL。Operate：在 endpoint-replay.json 逐事件核對三段 transition，再在 result.json 讀 delivered_bits、deadline_pass、freshness_status、endpoint_energy_j。Expect：transition、packet、service、J 屬於同一 candidate run；service 仍 false。Interpret：較早 transition 改變 active timing 與 delivery opportunity，但不保證 deadline／freshness gate；transition speed 不是 service verdict。Recover：任何時點或欄位對不上就保留原 pair，重讀 result_path，不用另一個 case 補數字。Transition：下一頁檢查 Trace B 的 freeze lineage。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Point：A frozen → B frozen → Trace B gate。Say：Trace B 的執行資格由 A predecessor、B policy identity、active_block_id=lab-b-enter-exit-hold、scenario 與 candidate receipt 一起決定。Operate：開 artifacts/checkpoints/lab-b-frozen.{json,py}，把它和 P056 candidate stdout 的 result_path、replay pair 逐欄核對。Expect：A predecessor 指向 WAIT 版本，B checkpoint 指向 STABLE_STEPS=1，identity 沒有漂移。Interpret：freeze gate 把 Trace B 限定為同一 candidate policy；這裡停止調參，只做 withheld verification。Recover：checkpoint、predecessor 或 active block 不一致時回 lab-a-frozen，再重做 P056 candidate --freeze。Transition：以 frozen policy 讀 Trace B summary。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B frozen setup、第三條 stdout path 與 claim ceiling。Say：Trace B 沿用 STABLE_STEPS=1 與 REST_DURING_GAP=WAIT；新 window／traffic 只用來測試適用條件，不重新修改 policy。Operate：執行 bash course.sh run --lab B --case trace-b 或 .\course.cmd run --lab B --case trace-b，依 stdout result_path 開 result.json 與同 run endpoint-replay.json。Expect：policy identity 仍是 lab-b-frozen；reference summary 是 5.43 J、4,800 bit、efficiency=883.977901 bit/J、wake=1、attempt=2、retry=1、expired=2、service_pass=FAIL。Interpret：Trace B 讀的是 frozen policy 在新條件下的 outcome；結果不同時只降低 claim 適用範圍，不再調參。Recover：第三條 path 缺失就回 candidate freeze，恢復 lab-b-frozen 後重跑 Trace B。Transition：下一頁把 summary 欄位與邊界寫完整。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B summary fields 與 claim ceiling。Say：same-scenario-fallback reference 的 service_pass=FAIL、deadline_pass=FAIL、freshness_status=expired、delivered_bits=4,800、endpoint_energy_j=5.43 J、efficiency=883.977901 bit/J、wake=1、attempt=2、retry=1、expired=2。Operate：沿第三條 stdout result_path 開 result.json，再開同 run endpoint-replay.json，確認 frozen policy identity。Expect：summary、transition、packet 與 replay 都屬於 Trace B pair；這是 reference 時清楚標註，不宣稱 fresh local run。Interpret：Trace B service 仍 false，較低 J 或較高 bit/J 不能越過 deadline／freshness gate；結論停在條件式 claim。Recover：欄位缺失或 identity 漂移時回 P056 candidate freeze，不使用另一個 case 的數值。Transition：下一頁分辨 too-slow 與 ping-pong。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Point：too-slow 與 ping-pong 的兩條事件序列。Say：too-slow 是 hold 太久錯過 service window；ping-pong 是 enter／exit 太近造成多次 MODE_CHANGE、retry 與額外 endpoint J。Operate：對每個 sequence 讀 transition、PACKET_ATTEMPT、retry、expired、service_pass 與 energy bucket，不用 quality 曲線單獨下判斷。Expect：兩個 failure mode 都能在 result／replay 找到不同 event signature；平滑 quality 只作 context。Interpret：同一 policy identity 下仍要分開 timing、packet 與 service；一個 mode 的改善不能外推到另一個 mode。Recover：policy identity 不同時停止比較，回到 B freeze 建立同一 lineage。Transition：把支持與限制合併成 Lab B 條件句。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Point：Trace A support 與 Trace B boundary 的結論框。Say：先寫 Trace A 哪個 MODE_CHANGE／packet／J 欄位支持機制，再寫 Trace B 哪個 service／deadline／freshness 欄位限制外推，最後才寫 hysteresis 的條件。Operate：引用 P057a 與 P059a 的同名 fields 和各自 result_path，不混用兩個 run 的數字。Expect：句子同時包含 transition、delivered_bits、service_pass、endpoint_energy_j、window／traffic 條件。Interpret：較快 transition 可是機制 evidence，service false 仍是 claim boundary；因此結論必須是 conditional，而不是普遍保證。Recover：少一個 pair 就保留已知部分，回 P056 或 P059 的原始 stdout path。Transition：最後用 P062 的 supported restore contract 管理中斷。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Point：recovery overview 的 status → restore → compile → exact rerun。Say：先讀 course.* status，再只使用三個支援 checkpoint 名稱 lab-a-frozen、lab-b-frozen、release-default；restore 只回復 policy lineage，不會復原遺失的 result。Operate：WSL 依序可執行 bash course.sh status、bash course.sh restore --checkpoint lab-a-frozen、bash course.sh restore --checkpoint lab-b-frozen、bash course.sh restore --checkpoint release-default；PowerShell 依序使用 .\course.cmd 對應命令。Expect：status 留下 receipt；restore 後重新 compile 並 exact rerun，新的 stdout 會帶新的 result_path 與配對 endpoint-replay.json。Interpret：restore 是可追溯的 lineage recovery，不是把 fallback 當成 fresh run；每次結果都重新以 stdout claim_boundary 判讀。Recover：result／replay 遺失時不手改 JSON，回 identity 正確 checkpoint 再跑一次。Transition：下一頁提供可逐行複製的 recovery commands。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Point：WSL／POSIX 與 Windows PowerShell 的 status 及三個 restore 命令。Say：WSL 逐行執行 bash course.sh status；bash course.sh restore --checkpoint lab-a-frozen；bash course.sh restore --checkpoint lab-b-frozen；bash course.sh restore --checkpoint release-default。PowerShell 逐行執行 .\course.cmd status；.\course.cmd restore --checkpoint lab-a-frozen；.\course.cmd restore --checkpoint lab-b-frozen；.\course.cmd restore --checkpoint release-default。Expect：命令各自可複製；restore 只接受這三個 checkpoint，完成後仍要 compile 與 exact rerun 才會產生新 result_path。Interpret：命令成功代表 policy lineage 已回復，不代表 result、replay 或 service 已成功；那些欄位要從新的 stdout pair 讀。Recover：保留 stdout／stderr，回到最後 identity 正確 checkpoint；不手改 JSON。Transition：帶新的 result_path 進目前 browser UI。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Point：完整入口 http://120.126.151.102:3000/course、頁名 LoRa 實驗結果工作台，以及 證據、進度備份兩個 tabs。Say：目前 browser 只選 result.json；證據 tab 驗 schema、identity、units、provenance，進度備份 tab 是本機 controls；endpoint-replay.json 目前 accepted replay 為 none。Operate：由最新 stdout result_path 選對應 result.json，再觀察 empty evidence state；不要把畫面說成成功 upload 或 live measurement。Expect：UI 名稱、入口與 current-browser-evidence/course-20260811-1412-live/README.md 一致；identity／schema／units 不一致時 fail closed。Interpret：這頁只證明現行 browser boundary，不提升 endpoint energy 到 system 或 canonical claim，也不宣稱 replay 已被接受。Recover：匯入失敗保留瀏覽器錯誤和 stdout path，回 P062 restore／exact rerun 取得新 result.json。Transition：下一段進 Part C 的 web field reading，沿新的 receipt、result、replay pair 讀欄位。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 與停留時間：endpoint energy 的積分基礎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877824" y="1078992"/>
            <a:ext cx="1035100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 state interval 與 energy bucket 對照。</a:t>
            </a:r>
          </a:p>
        </p:txBody>
      </p:sp>
      <p:sp>
        <p:nvSpPr>
          <p:cNvPr id="4" name="State SLEEP"/>
          <p:cNvSpPr/>
          <p:nvPr/>
        </p:nvSpPr>
        <p:spPr>
          <a:xfrm>
            <a:off x="658368" y="1755648"/>
            <a:ext cx="1700784" cy="12984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 SLEEP heading"/>
          <p:cNvSpPr txBox="1"/>
          <p:nvPr/>
        </p:nvSpPr>
        <p:spPr>
          <a:xfrm>
            <a:off x="822959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6" name="State SLEEP body"/>
          <p:cNvSpPr txBox="1"/>
          <p:nvPr/>
        </p:nvSpPr>
        <p:spPr>
          <a:xfrm>
            <a:off x="841247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低功耗休息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空檔功率</a:t>
            </a:r>
          </a:p>
        </p:txBody>
      </p:sp>
      <p:cxnSp>
        <p:nvCxnSpPr>
          <p:cNvPr id="7" name="State transition"/>
          <p:cNvCxnSpPr/>
          <p:nvPr/>
        </p:nvCxnSpPr>
        <p:spPr>
          <a:xfrm>
            <a:off x="2359152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ate WAKE"/>
          <p:cNvSpPr/>
          <p:nvPr/>
        </p:nvSpPr>
        <p:spPr>
          <a:xfrm>
            <a:off x="2551176" y="1755648"/>
            <a:ext cx="1700784" cy="12984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WAKE heading"/>
          <p:cNvSpPr txBox="1"/>
          <p:nvPr/>
        </p:nvSpPr>
        <p:spPr>
          <a:xfrm>
            <a:off x="2715768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sp>
        <p:nvSpPr>
          <p:cNvPr id="10" name="State WAKE body"/>
          <p:cNvSpPr txBox="1"/>
          <p:nvPr/>
        </p:nvSpPr>
        <p:spPr>
          <a:xfrm>
            <a:off x="2734056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喚醒轉換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transition cost</a:t>
            </a:r>
          </a:p>
        </p:txBody>
      </p:sp>
      <p:cxnSp>
        <p:nvCxnSpPr>
          <p:cNvPr id="11" name="State transition"/>
          <p:cNvCxnSpPr/>
          <p:nvPr/>
        </p:nvCxnSpPr>
        <p:spPr>
          <a:xfrm>
            <a:off x="4251960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ate PROCESS"/>
          <p:cNvSpPr/>
          <p:nvPr/>
        </p:nvSpPr>
        <p:spPr>
          <a:xfrm>
            <a:off x="4443983" y="1755648"/>
            <a:ext cx="1700784" cy="12984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e PROCESS heading"/>
          <p:cNvSpPr txBox="1"/>
          <p:nvPr/>
        </p:nvSpPr>
        <p:spPr>
          <a:xfrm>
            <a:off x="4608575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sp>
        <p:nvSpPr>
          <p:cNvPr id="14" name="State PROCESS body"/>
          <p:cNvSpPr txBox="1"/>
          <p:nvPr/>
        </p:nvSpPr>
        <p:spPr>
          <a:xfrm>
            <a:off x="4626864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資料處理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clock interval</a:t>
            </a:r>
          </a:p>
        </p:txBody>
      </p:sp>
      <p:cxnSp>
        <p:nvCxnSpPr>
          <p:cNvPr id="15" name="State transition"/>
          <p:cNvCxnSpPr/>
          <p:nvPr/>
        </p:nvCxnSpPr>
        <p:spPr>
          <a:xfrm>
            <a:off x="6144768" y="2404872"/>
            <a:ext cx="146303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ate TX"/>
          <p:cNvSpPr/>
          <p:nvPr/>
        </p:nvSpPr>
        <p:spPr>
          <a:xfrm>
            <a:off x="6336792" y="1755648"/>
            <a:ext cx="1700784" cy="129844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e TX heading"/>
          <p:cNvSpPr txBox="1"/>
          <p:nvPr/>
        </p:nvSpPr>
        <p:spPr>
          <a:xfrm>
            <a:off x="6501383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18" name="State TX body"/>
          <p:cNvSpPr txBox="1"/>
          <p:nvPr/>
        </p:nvSpPr>
        <p:spPr>
          <a:xfrm>
            <a:off x="6519672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封包送出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cxnSp>
        <p:nvCxnSpPr>
          <p:cNvPr id="19" name="State transition"/>
          <p:cNvCxnSpPr/>
          <p:nvPr/>
        </p:nvCxnSpPr>
        <p:spPr>
          <a:xfrm>
            <a:off x="8037575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ate RX"/>
          <p:cNvSpPr/>
          <p:nvPr/>
        </p:nvSpPr>
        <p:spPr>
          <a:xfrm>
            <a:off x="8229600" y="1755648"/>
            <a:ext cx="1700784" cy="12984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e RX heading"/>
          <p:cNvSpPr txBox="1"/>
          <p:nvPr/>
        </p:nvSpPr>
        <p:spPr>
          <a:xfrm>
            <a:off x="8394192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RX</a:t>
            </a:r>
          </a:p>
        </p:txBody>
      </p:sp>
      <p:sp>
        <p:nvSpPr>
          <p:cNvPr id="22" name="State RX body"/>
          <p:cNvSpPr txBox="1"/>
          <p:nvPr/>
        </p:nvSpPr>
        <p:spPr>
          <a:xfrm>
            <a:off x="8412480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封包接收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 interval</a:t>
            </a:r>
          </a:p>
        </p:txBody>
      </p:sp>
      <p:cxnSp>
        <p:nvCxnSpPr>
          <p:cNvPr id="23" name="State transition"/>
          <p:cNvCxnSpPr/>
          <p:nvPr/>
        </p:nvCxnSpPr>
        <p:spPr>
          <a:xfrm>
            <a:off x="9930384" y="2404872"/>
            <a:ext cx="146304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tate WAIT"/>
          <p:cNvSpPr/>
          <p:nvPr/>
        </p:nvSpPr>
        <p:spPr>
          <a:xfrm>
            <a:off x="10122408" y="1755648"/>
            <a:ext cx="1700784" cy="129844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te WAIT heading"/>
          <p:cNvSpPr txBox="1"/>
          <p:nvPr/>
        </p:nvSpPr>
        <p:spPr>
          <a:xfrm>
            <a:off x="10287000" y="190195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6" name="State WAIT body"/>
          <p:cNvSpPr txBox="1"/>
          <p:nvPr/>
        </p:nvSpPr>
        <p:spPr>
          <a:xfrm>
            <a:off x="10305288" y="2286000"/>
            <a:ext cx="133502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清醒閒置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 idle</a:t>
            </a:r>
          </a:p>
        </p:txBody>
      </p:sp>
      <p:sp>
        <p:nvSpPr>
          <p:cNvPr id="27" name="State mechanism"/>
          <p:cNvSpPr txBox="1"/>
          <p:nvPr/>
        </p:nvSpPr>
        <p:spPr>
          <a:xfrm>
            <a:off x="950976" y="3346704"/>
            <a:ext cx="10204704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runner 將每個固定步長寫成 state interval，再把該區間的功率乘上時間累加到 endpoint energy。</a:t>
            </a:r>
          </a:p>
        </p:txBody>
      </p:sp>
      <p:sp>
        <p:nvSpPr>
          <p:cNvPr id="28" name="Teaching takeaway"/>
          <p:cNvSpPr/>
          <p:nvPr/>
        </p:nvSpPr>
        <p:spPr>
          <a:xfrm>
            <a:off x="786384" y="424281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aching takeaway text"/>
          <p:cNvSpPr txBox="1"/>
          <p:nvPr/>
        </p:nvSpPr>
        <p:spPr>
          <a:xfrm>
            <a:off x="950976" y="430682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interval 提供 duration；power × duration 形成 energy bucket；action 只標記一次決策。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 service／energy 比較</a:t>
            </a:r>
          </a:p>
        </p:txBody>
      </p:sp>
      <p:sp>
        <p:nvSpPr>
          <p:cNvPr id="3" name="Lab A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 CHALLENGE</a:t>
            </a:r>
          </a:p>
        </p:txBody>
      </p:sp>
      <p:sp>
        <p:nvSpPr>
          <p:cNvPr id="5" name="Lab A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同一工作：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↔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state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J</a:t>
            </a:r>
          </a:p>
        </p:txBody>
      </p:sp>
      <p:sp>
        <p:nvSpPr>
          <p:cNvPr id="6" name="Lab A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A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A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降低 idle power 並支付 wake；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維持 awake idle 並增加 awake-idle；service 與整段 J 共同形成結果。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封包生命週期：送出與交付分開判定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822960" y="1078992"/>
            <a:ext cx="1047902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一次 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是一次嘗試；service 看完整 packet outcome。</a:t>
            </a:r>
          </a:p>
        </p:txBody>
      </p:sp>
      <p:sp>
        <p:nvSpPr>
          <p:cNvPr id="4" name="Packet stage generated"/>
          <p:cNvSpPr/>
          <p:nvPr/>
        </p:nvSpPr>
        <p:spPr>
          <a:xfrm>
            <a:off x="566928" y="1664208"/>
            <a:ext cx="1700784" cy="10972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cket stage generated heading"/>
          <p:cNvSpPr txBox="1"/>
          <p:nvPr/>
        </p:nvSpPr>
        <p:spPr>
          <a:xfrm>
            <a:off x="73152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generated</a:t>
            </a:r>
          </a:p>
        </p:txBody>
      </p:sp>
      <p:sp>
        <p:nvSpPr>
          <p:cNvPr id="6" name="Packet stage generated body"/>
          <p:cNvSpPr txBox="1"/>
          <p:nvPr/>
        </p:nvSpPr>
        <p:spPr>
          <a:xfrm>
            <a:off x="749808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產生封包</a:t>
            </a:r>
          </a:p>
        </p:txBody>
      </p:sp>
      <p:cxnSp>
        <p:nvCxnSpPr>
          <p:cNvPr id="7" name="Packet arrow"/>
          <p:cNvCxnSpPr/>
          <p:nvPr/>
        </p:nvCxnSpPr>
        <p:spPr>
          <a:xfrm>
            <a:off x="2267712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cket stage queue"/>
          <p:cNvSpPr/>
          <p:nvPr/>
        </p:nvSpPr>
        <p:spPr>
          <a:xfrm>
            <a:off x="2468880" y="1664208"/>
            <a:ext cx="1700784" cy="10972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stage queue heading"/>
          <p:cNvSpPr txBox="1"/>
          <p:nvPr/>
        </p:nvSpPr>
        <p:spPr>
          <a:xfrm>
            <a:off x="2633472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sp>
        <p:nvSpPr>
          <p:cNvPr id="10" name="Packet stage queue body"/>
          <p:cNvSpPr txBox="1"/>
          <p:nvPr/>
        </p:nvSpPr>
        <p:spPr>
          <a:xfrm>
            <a:off x="2651760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進入佇列</a:t>
            </a:r>
          </a:p>
        </p:txBody>
      </p:sp>
      <p:cxnSp>
        <p:nvCxnSpPr>
          <p:cNvPr id="11" name="Packet arrow"/>
          <p:cNvCxnSpPr/>
          <p:nvPr/>
        </p:nvCxnSpPr>
        <p:spPr>
          <a:xfrm>
            <a:off x="4169664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cket stage attempt"/>
          <p:cNvSpPr/>
          <p:nvPr/>
        </p:nvSpPr>
        <p:spPr>
          <a:xfrm>
            <a:off x="4370832" y="1664208"/>
            <a:ext cx="1700784" cy="109728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stage attempt heading"/>
          <p:cNvSpPr txBox="1"/>
          <p:nvPr/>
        </p:nvSpPr>
        <p:spPr>
          <a:xfrm>
            <a:off x="4535424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sp>
        <p:nvSpPr>
          <p:cNvPr id="14" name="Packet stage attempt body"/>
          <p:cNvSpPr txBox="1"/>
          <p:nvPr/>
        </p:nvSpPr>
        <p:spPr>
          <a:xfrm>
            <a:off x="4553712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一次傳輸嘗試</a:t>
            </a:r>
          </a:p>
        </p:txBody>
      </p:sp>
      <p:cxnSp>
        <p:nvCxnSpPr>
          <p:cNvPr id="15" name="Packet arrow"/>
          <p:cNvCxnSpPr/>
          <p:nvPr/>
        </p:nvCxnSpPr>
        <p:spPr>
          <a:xfrm>
            <a:off x="6071616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acket stage retry"/>
          <p:cNvSpPr/>
          <p:nvPr/>
        </p:nvSpPr>
        <p:spPr>
          <a:xfrm>
            <a:off x="6272784" y="1664208"/>
            <a:ext cx="1700784" cy="10972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cket stage retry heading"/>
          <p:cNvSpPr txBox="1"/>
          <p:nvPr/>
        </p:nvSpPr>
        <p:spPr>
          <a:xfrm>
            <a:off x="6437376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18" name="Packet stage retry body"/>
          <p:cNvSpPr txBox="1"/>
          <p:nvPr/>
        </p:nvSpPr>
        <p:spPr>
          <a:xfrm>
            <a:off x="6455664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碰撞後重試</a:t>
            </a:r>
          </a:p>
        </p:txBody>
      </p:sp>
      <p:cxnSp>
        <p:nvCxnSpPr>
          <p:cNvPr id="19" name="Packet arrow"/>
          <p:cNvCxnSpPr/>
          <p:nvPr/>
        </p:nvCxnSpPr>
        <p:spPr>
          <a:xfrm>
            <a:off x="7973568" y="2212848"/>
            <a:ext cx="128015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acket stage delivered"/>
          <p:cNvSpPr/>
          <p:nvPr/>
        </p:nvSpPr>
        <p:spPr>
          <a:xfrm>
            <a:off x="8174736" y="1664208"/>
            <a:ext cx="1700784" cy="10972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cket stage delivered heading"/>
          <p:cNvSpPr txBox="1"/>
          <p:nvPr/>
        </p:nvSpPr>
        <p:spPr>
          <a:xfrm>
            <a:off x="8339328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sp>
        <p:nvSpPr>
          <p:cNvPr id="22" name="Packet stage delivered body"/>
          <p:cNvSpPr txBox="1"/>
          <p:nvPr/>
        </p:nvSpPr>
        <p:spPr>
          <a:xfrm>
            <a:off x="8357616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成功交付 bit</a:t>
            </a:r>
          </a:p>
        </p:txBody>
      </p:sp>
      <p:cxnSp>
        <p:nvCxnSpPr>
          <p:cNvPr id="23" name="Packet arrow"/>
          <p:cNvCxnSpPr/>
          <p:nvPr/>
        </p:nvCxnSpPr>
        <p:spPr>
          <a:xfrm>
            <a:off x="9875520" y="2212848"/>
            <a:ext cx="128016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acket stage expired"/>
          <p:cNvSpPr/>
          <p:nvPr/>
        </p:nvSpPr>
        <p:spPr>
          <a:xfrm>
            <a:off x="10076688" y="1664208"/>
            <a:ext cx="1700784" cy="10972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cket stage expired heading"/>
          <p:cNvSpPr txBox="1"/>
          <p:nvPr/>
        </p:nvSpPr>
        <p:spPr>
          <a:xfrm>
            <a:off x="10241280" y="181051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expired</a:t>
            </a:r>
          </a:p>
        </p:txBody>
      </p:sp>
      <p:sp>
        <p:nvSpPr>
          <p:cNvPr id="26" name="Packet stage expired body"/>
          <p:cNvSpPr txBox="1"/>
          <p:nvPr/>
        </p:nvSpPr>
        <p:spPr>
          <a:xfrm>
            <a:off x="10259568" y="2194560"/>
            <a:ext cx="1335024" cy="43891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逾時未交付</a:t>
            </a:r>
          </a:p>
        </p:txBody>
      </p:sp>
      <p:sp>
        <p:nvSpPr>
          <p:cNvPr id="27" name="Packet ledger"/>
          <p:cNvSpPr/>
          <p:nvPr/>
        </p:nvSpPr>
        <p:spPr>
          <a:xfrm>
            <a:off x="950976" y="3054096"/>
            <a:ext cx="4736592" cy="14630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cket ledger heading"/>
          <p:cNvSpPr txBox="1"/>
          <p:nvPr/>
        </p:nvSpPr>
        <p:spPr>
          <a:xfrm>
            <a:off x="1115568" y="3200400"/>
            <a:ext cx="440740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 LEDGER</a:t>
            </a:r>
          </a:p>
        </p:txBody>
      </p:sp>
      <p:sp>
        <p:nvSpPr>
          <p:cNvPr id="29" name="Packet ledger body"/>
          <p:cNvSpPr txBox="1"/>
          <p:nvPr/>
        </p:nvSpPr>
        <p:spPr>
          <a:xfrm>
            <a:off x="1133856" y="3584448"/>
            <a:ext cx="4370831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attempted（嘗試次數）≠ delivered（交付 bit）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collision／retry／expired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packet outcome</a:t>
            </a:r>
          </a:p>
        </p:txBody>
      </p:sp>
      <p:sp>
        <p:nvSpPr>
          <p:cNvPr id="30" name="Packet service"/>
          <p:cNvSpPr/>
          <p:nvPr/>
        </p:nvSpPr>
        <p:spPr>
          <a:xfrm>
            <a:off x="6181344" y="3054096"/>
            <a:ext cx="4974336" cy="14630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cket service heading"/>
          <p:cNvSpPr txBox="1"/>
          <p:nvPr/>
        </p:nvSpPr>
        <p:spPr>
          <a:xfrm>
            <a:off x="6345936" y="3200400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32" name="Packet service body"/>
          <p:cNvSpPr txBox="1"/>
          <p:nvPr/>
        </p:nvSpPr>
        <p:spPr>
          <a:xfrm>
            <a:off x="6364224" y="3584448"/>
            <a:ext cx="4608576" cy="80467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deadline（期限）、freshness（新鮮度）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packet 共同定義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（服務布林狀態）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gate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的比較順序</a:t>
            </a:r>
          </a:p>
        </p:txBody>
      </p:sp>
      <p:sp>
        <p:nvSpPr>
          <p:cNvPr id="3" name="Gate same identity"/>
          <p:cNvSpPr/>
          <p:nvPr/>
        </p:nvSpPr>
        <p:spPr>
          <a:xfrm>
            <a:off x="621792" y="1353312"/>
            <a:ext cx="2487168" cy="11521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ate same identity heading"/>
          <p:cNvSpPr txBox="1"/>
          <p:nvPr/>
        </p:nvSpPr>
        <p:spPr>
          <a:xfrm>
            <a:off x="786384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same identity</a:t>
            </a:r>
          </a:p>
        </p:txBody>
      </p:sp>
      <p:sp>
        <p:nvSpPr>
          <p:cNvPr id="5" name="Gate same identity body"/>
          <p:cNvSpPr txBox="1"/>
          <p:nvPr/>
        </p:nvSpPr>
        <p:spPr>
          <a:xfrm>
            <a:off x="804672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情境／policy／scope 一致</a:t>
            </a:r>
          </a:p>
        </p:txBody>
      </p:sp>
      <p:cxnSp>
        <p:nvCxnSpPr>
          <p:cNvPr id="6" name="Gate arrow"/>
          <p:cNvCxnSpPr/>
          <p:nvPr/>
        </p:nvCxnSpPr>
        <p:spPr>
          <a:xfrm>
            <a:off x="3108960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Gate delivered / deadline"/>
          <p:cNvSpPr/>
          <p:nvPr/>
        </p:nvSpPr>
        <p:spPr>
          <a:xfrm>
            <a:off x="3401568" y="1353312"/>
            <a:ext cx="2487168" cy="11521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ate delivered / deadline heading"/>
          <p:cNvSpPr txBox="1"/>
          <p:nvPr/>
        </p:nvSpPr>
        <p:spPr>
          <a:xfrm>
            <a:off x="3566160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delivered / deadline</a:t>
            </a:r>
          </a:p>
        </p:txBody>
      </p:sp>
      <p:sp>
        <p:nvSpPr>
          <p:cNvPr id="9" name="Gate delivered / deadline body"/>
          <p:cNvSpPr txBox="1"/>
          <p:nvPr/>
        </p:nvSpPr>
        <p:spPr>
          <a:xfrm>
            <a:off x="3584448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交付 bit 與期限</a:t>
            </a:r>
          </a:p>
        </p:txBody>
      </p:sp>
      <p:cxnSp>
        <p:nvCxnSpPr>
          <p:cNvPr id="10" name="Gate arrow"/>
          <p:cNvCxnSpPr/>
          <p:nvPr/>
        </p:nvCxnSpPr>
        <p:spPr>
          <a:xfrm>
            <a:off x="5888736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Gate service_pass"/>
          <p:cNvSpPr/>
          <p:nvPr/>
        </p:nvSpPr>
        <p:spPr>
          <a:xfrm>
            <a:off x="6181344" y="1353312"/>
            <a:ext cx="2487168" cy="11521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ate service_pass heading"/>
          <p:cNvSpPr txBox="1"/>
          <p:nvPr/>
        </p:nvSpPr>
        <p:spPr>
          <a:xfrm>
            <a:off x="6345936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13" name="Gate service_pass body"/>
          <p:cNvSpPr txBox="1"/>
          <p:nvPr/>
        </p:nvSpPr>
        <p:spPr>
          <a:xfrm>
            <a:off x="6364224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服務 gate：布林狀態</a:t>
            </a:r>
          </a:p>
        </p:txBody>
      </p:sp>
      <p:cxnSp>
        <p:nvCxnSpPr>
          <p:cNvPr id="14" name="Gate arrow"/>
          <p:cNvCxnSpPr/>
          <p:nvPr/>
        </p:nvCxnSpPr>
        <p:spPr>
          <a:xfrm>
            <a:off x="8668512" y="1929384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Gate endpoint J"/>
          <p:cNvSpPr/>
          <p:nvPr/>
        </p:nvSpPr>
        <p:spPr>
          <a:xfrm>
            <a:off x="8961120" y="1353312"/>
            <a:ext cx="2487168" cy="11521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ate endpoint J heading"/>
          <p:cNvSpPr txBox="1"/>
          <p:nvPr/>
        </p:nvSpPr>
        <p:spPr>
          <a:xfrm>
            <a:off x="9125712" y="1499616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17" name="Gate endpoint J body"/>
          <p:cNvSpPr txBox="1"/>
          <p:nvPr/>
        </p:nvSpPr>
        <p:spPr>
          <a:xfrm>
            <a:off x="9144000" y="1883664"/>
            <a:ext cx="2121408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端點累積能量（J）</a:t>
            </a:r>
          </a:p>
        </p:txBody>
      </p:sp>
      <p:sp>
        <p:nvSpPr>
          <p:cNvPr id="18" name="Gate explanation"/>
          <p:cNvSpPr txBox="1"/>
          <p:nvPr/>
        </p:nvSpPr>
        <p:spPr>
          <a:xfrm>
            <a:off x="914400" y="2816352"/>
            <a:ext cx="1031443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的 delivered／required packet／deadline 共同定義 service；較低的 J 仍須放回相同 endpoint scope。</a:t>
            </a:r>
          </a:p>
        </p:txBody>
      </p:sp>
      <p:sp>
        <p:nvSpPr>
          <p:cNvPr id="19" name="Teaching takeaway"/>
          <p:cNvSpPr/>
          <p:nvPr/>
        </p:nvSpPr>
        <p:spPr>
          <a:xfrm>
            <a:off x="786384" y="38770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aching takeaway text"/>
          <p:cNvSpPr txBox="1"/>
          <p:nvPr/>
        </p:nvSpPr>
        <p:spPr>
          <a:xfrm>
            <a:off x="950976" y="39410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相同 scenario、traffic、window 與 scope 下，candidate 的 service verdict 決定 J 差異的解讀。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是瞬間功率，J 是整段累積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932688" y="1078992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低峰值不保證低總 J；時間是因果的一部分。</a:t>
            </a:r>
          </a:p>
        </p:txBody>
      </p:sp>
      <p:cxnSp>
        <p:nvCxnSpPr>
          <p:cNvPr id="4" name="Time axis"/>
          <p:cNvCxnSpPr/>
          <p:nvPr/>
        </p:nvCxnSpPr>
        <p:spPr>
          <a:xfrm>
            <a:off x="1335024" y="3803904"/>
            <a:ext cx="9217152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Power axis"/>
          <p:cNvCxnSpPr/>
          <p:nvPr/>
        </p:nvCxnSpPr>
        <p:spPr>
          <a:xfrm flipV="1">
            <a:off x="1335024" y="1737360"/>
            <a:ext cx="0" cy="2066544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Power curve"/>
          <p:cNvCxnSpPr/>
          <p:nvPr/>
        </p:nvCxnSpPr>
        <p:spPr>
          <a:xfrm flipV="1">
            <a:off x="1554480" y="2944368"/>
            <a:ext cx="1188720" cy="457200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ower curve"/>
          <p:cNvCxnSpPr/>
          <p:nvPr/>
        </p:nvCxnSpPr>
        <p:spPr>
          <a:xfrm flipV="1">
            <a:off x="2743200" y="2377440"/>
            <a:ext cx="1207008" cy="56692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ower curve"/>
          <p:cNvCxnSpPr/>
          <p:nvPr/>
        </p:nvCxnSpPr>
        <p:spPr>
          <a:xfrm>
            <a:off x="3950208" y="2377440"/>
            <a:ext cx="1188720" cy="768096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ower curve"/>
          <p:cNvCxnSpPr/>
          <p:nvPr/>
        </p:nvCxnSpPr>
        <p:spPr>
          <a:xfrm flipV="1">
            <a:off x="5138928" y="2121408"/>
            <a:ext cx="1225296" cy="102412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ower curve"/>
          <p:cNvCxnSpPr/>
          <p:nvPr/>
        </p:nvCxnSpPr>
        <p:spPr>
          <a:xfrm>
            <a:off x="6364224" y="2121408"/>
            <a:ext cx="1207007" cy="658368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ower curve"/>
          <p:cNvCxnSpPr/>
          <p:nvPr/>
        </p:nvCxnSpPr>
        <p:spPr>
          <a:xfrm flipV="1">
            <a:off x="7571231" y="1993392"/>
            <a:ext cx="1280161" cy="786384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ower curve"/>
          <p:cNvCxnSpPr/>
          <p:nvPr/>
        </p:nvCxnSpPr>
        <p:spPr>
          <a:xfrm>
            <a:off x="8851392" y="1993392"/>
            <a:ext cx="1389888" cy="640080"/>
          </a:xfrm>
          <a:prstGeom prst="line">
            <a:avLst/>
          </a:prstGeom>
          <a:ln w="2794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wer sample"/>
          <p:cNvSpPr/>
          <p:nvPr/>
        </p:nvSpPr>
        <p:spPr>
          <a:xfrm>
            <a:off x="1481328" y="3328416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ower sample"/>
          <p:cNvSpPr/>
          <p:nvPr/>
        </p:nvSpPr>
        <p:spPr>
          <a:xfrm>
            <a:off x="2670048" y="2871216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ower sample"/>
          <p:cNvSpPr/>
          <p:nvPr/>
        </p:nvSpPr>
        <p:spPr>
          <a:xfrm>
            <a:off x="3877056" y="2304288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wer sample"/>
          <p:cNvSpPr/>
          <p:nvPr/>
        </p:nvSpPr>
        <p:spPr>
          <a:xfrm>
            <a:off x="5065776" y="3072384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wer sample"/>
          <p:cNvSpPr/>
          <p:nvPr/>
        </p:nvSpPr>
        <p:spPr>
          <a:xfrm>
            <a:off x="6291072" y="2048255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wer sample"/>
          <p:cNvSpPr/>
          <p:nvPr/>
        </p:nvSpPr>
        <p:spPr>
          <a:xfrm>
            <a:off x="7498079" y="2706624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wer sample"/>
          <p:cNvSpPr/>
          <p:nvPr/>
        </p:nvSpPr>
        <p:spPr>
          <a:xfrm>
            <a:off x="8778240" y="1920240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wer sample"/>
          <p:cNvSpPr/>
          <p:nvPr/>
        </p:nvSpPr>
        <p:spPr>
          <a:xfrm>
            <a:off x="10168128" y="2560320"/>
            <a:ext cx="146304" cy="146304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wer label"/>
          <p:cNvSpPr txBox="1"/>
          <p:nvPr/>
        </p:nvSpPr>
        <p:spPr>
          <a:xfrm>
            <a:off x="1426464" y="153619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功率 power / W</a:t>
            </a:r>
          </a:p>
        </p:txBody>
      </p:sp>
      <p:sp>
        <p:nvSpPr>
          <p:cNvPr id="22" name="Time label"/>
          <p:cNvSpPr txBox="1"/>
          <p:nvPr/>
        </p:nvSpPr>
        <p:spPr>
          <a:xfrm>
            <a:off x="9070848" y="3968496"/>
            <a:ext cx="140817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時間 time / s</a:t>
            </a:r>
          </a:p>
        </p:txBody>
      </p:sp>
      <p:sp>
        <p:nvSpPr>
          <p:cNvPr id="23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功率高度 × 時間跨度 → endpoint energy；state bucket 定義總和的組成。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energy 公式只涵蓋 endpoint 邊界</a:t>
            </a:r>
          </a:p>
        </p:txBody>
      </p:sp>
      <p:sp>
        <p:nvSpPr>
          <p:cNvPr id="3" name="NATIVE_EQUATION_HOOK_E_endpoint"/>
          <p:cNvSpPr/>
          <p:nvPr/>
        </p:nvSpPr>
        <p:spPr>
          <a:xfrm>
            <a:off x="658368" y="1078992"/>
            <a:ext cx="10881360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quation hook label E_endpoint"/>
          <p:cNvSpPr txBox="1"/>
          <p:nvPr/>
        </p:nvSpPr>
        <p:spPr>
          <a:xfrm>
            <a:off x="932688" y="1298448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EDITABLE OFFICE MATH｜公式邊界</a:t>
            </a:r>
          </a:p>
        </p:txBody>
      </p:sp>
      <p:sp>
        <p:nvSpPr>
          <p:cNvPr id="5" name="Formula preview fallback E_endpoint"/>
          <p:cNvSpPr txBox="1"/>
          <p:nvPr/>
        </p:nvSpPr>
        <p:spPr>
          <a:xfrm>
            <a:off x="914400" y="1920240"/>
            <a:ext cx="10369296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E_endpoint = Σ P_s t_s</a:t>
            </a:r>
          </a:p>
        </p:txBody>
      </p:sp>
      <p:sp>
        <p:nvSpPr>
          <p:cNvPr id="6" name="Formula scope"/>
          <p:cNvSpPr txBox="1"/>
          <p:nvPr/>
        </p:nvSpPr>
        <p:spPr>
          <a:xfrm>
            <a:off x="987552" y="3090672"/>
            <a:ext cx="10168128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P_s（state power，W）× t_s（停留時間，s）；scope：radio／processing；satellite、gateway、whole-system wall-plug 不在此式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Office Math 定義累積／比值語義；本次數值來源為 result artifact。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energy efficiency 的分子與分母要同一個邊界</a:t>
            </a:r>
          </a:p>
        </p:txBody>
      </p:sp>
      <p:sp>
        <p:nvSpPr>
          <p:cNvPr id="3" name="NATIVE_EQUATION_HOOK_eta_E"/>
          <p:cNvSpPr/>
          <p:nvPr/>
        </p:nvSpPr>
        <p:spPr>
          <a:xfrm>
            <a:off x="658368" y="1078992"/>
            <a:ext cx="10881360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quation hook label eta_E"/>
          <p:cNvSpPr txBox="1"/>
          <p:nvPr/>
        </p:nvSpPr>
        <p:spPr>
          <a:xfrm>
            <a:off x="932688" y="1298448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EDITABLE OFFICE MATH｜公式邊界</a:t>
            </a:r>
          </a:p>
        </p:txBody>
      </p:sp>
      <p:sp>
        <p:nvSpPr>
          <p:cNvPr id="5" name="Formula preview fallback eta_E"/>
          <p:cNvSpPr txBox="1"/>
          <p:nvPr/>
        </p:nvSpPr>
        <p:spPr>
          <a:xfrm>
            <a:off x="914400" y="1920240"/>
            <a:ext cx="10369296" cy="7680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η_E = D_delivered / E_endpoint</a:t>
            </a:r>
          </a:p>
        </p:txBody>
      </p:sp>
      <p:sp>
        <p:nvSpPr>
          <p:cNvPr id="6" name="Formula scope"/>
          <p:cNvSpPr txBox="1"/>
          <p:nvPr/>
        </p:nvSpPr>
        <p:spPr>
          <a:xfrm>
            <a:off x="987552" y="3090672"/>
            <a:ext cx="10168128" cy="7863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D_delivered（交付資料，bit）÷ E_endpoint（端點能量，J）= bit/J；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另行判定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Office Math 定義累積／比值語義；本次數值來源為 result artifact。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來源、模型、課程假設與結果要分開</a:t>
            </a:r>
          </a:p>
        </p:txBody>
      </p:sp>
      <p:sp>
        <p:nvSpPr>
          <p:cNvPr id="3" name="Provenance SOURCE"/>
          <p:cNvSpPr/>
          <p:nvPr/>
        </p:nvSpPr>
        <p:spPr>
          <a:xfrm>
            <a:off x="969264" y="1078992"/>
            <a:ext cx="10021824" cy="60350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venance SOURCE label"/>
          <p:cNvSpPr txBox="1"/>
          <p:nvPr/>
        </p:nvSpPr>
        <p:spPr>
          <a:xfrm>
            <a:off x="1170432" y="117043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5" name="Provenance SOURCE body"/>
          <p:cNvSpPr txBox="1"/>
          <p:nvPr/>
        </p:nvSpPr>
        <p:spPr>
          <a:xfrm>
            <a:off x="2487168" y="1170432"/>
            <a:ext cx="8065008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 provenance：輸入與參考</a:t>
            </a:r>
          </a:p>
        </p:txBody>
      </p:sp>
      <p:sp>
        <p:nvSpPr>
          <p:cNvPr id="6" name="Provenance MODEL"/>
          <p:cNvSpPr/>
          <p:nvPr/>
        </p:nvSpPr>
        <p:spPr>
          <a:xfrm>
            <a:off x="1261872" y="1956815"/>
            <a:ext cx="9436608" cy="60350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venance MODEL label"/>
          <p:cNvSpPr txBox="1"/>
          <p:nvPr/>
        </p:nvSpPr>
        <p:spPr>
          <a:xfrm>
            <a:off x="1463040" y="2048255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8" name="Provenance MODEL body"/>
          <p:cNvSpPr txBox="1"/>
          <p:nvPr/>
        </p:nvSpPr>
        <p:spPr>
          <a:xfrm>
            <a:off x="2779776" y="2048255"/>
            <a:ext cx="7479792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模型：coherent simulated adapter</a:t>
            </a:r>
          </a:p>
        </p:txBody>
      </p:sp>
      <p:sp>
        <p:nvSpPr>
          <p:cNvPr id="9" name="Provenance COURSE"/>
          <p:cNvSpPr/>
          <p:nvPr/>
        </p:nvSpPr>
        <p:spPr>
          <a:xfrm>
            <a:off x="1554480" y="2834639"/>
            <a:ext cx="8851392" cy="60350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COURSE label"/>
          <p:cNvSpPr txBox="1"/>
          <p:nvPr/>
        </p:nvSpPr>
        <p:spPr>
          <a:xfrm>
            <a:off x="1755648" y="2926079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COURSE</a:t>
            </a:r>
          </a:p>
        </p:txBody>
      </p:sp>
      <p:sp>
        <p:nvSpPr>
          <p:cNvPr id="11" name="Provenance COURSE body"/>
          <p:cNvSpPr txBox="1"/>
          <p:nvPr/>
        </p:nvSpPr>
        <p:spPr>
          <a:xfrm>
            <a:off x="3072384" y="2926079"/>
            <a:ext cx="689457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課程固定條件：scenario／endpoint</a:t>
            </a:r>
          </a:p>
        </p:txBody>
      </p:sp>
      <p:sp>
        <p:nvSpPr>
          <p:cNvPr id="12" name="Provenance RESULT"/>
          <p:cNvSpPr/>
          <p:nvPr/>
        </p:nvSpPr>
        <p:spPr>
          <a:xfrm>
            <a:off x="1847088" y="3712463"/>
            <a:ext cx="8266176" cy="60350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RESULT label"/>
          <p:cNvSpPr txBox="1"/>
          <p:nvPr/>
        </p:nvSpPr>
        <p:spPr>
          <a:xfrm>
            <a:off x="2048256" y="3803903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4" name="Provenance RESULT body"/>
          <p:cNvSpPr txBox="1"/>
          <p:nvPr/>
        </p:nvSpPr>
        <p:spPr>
          <a:xfrm>
            <a:off x="3364992" y="3803903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輸出：JSON + endpoint replay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459028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465429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資料類型：coherent simulated result；provenance 連結 input、policy、scenario、seed 與 output。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執行結果如何進入重播與工作簿</a:t>
            </a:r>
          </a:p>
        </p:txBody>
      </p:sp>
      <p:sp>
        <p:nvSpPr>
          <p:cNvPr id="3" name="Identity source"/>
          <p:cNvSpPr/>
          <p:nvPr/>
        </p:nvSpPr>
        <p:spPr>
          <a:xfrm>
            <a:off x="749808" y="1078992"/>
            <a:ext cx="3328416" cy="31455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dentity source heading"/>
          <p:cNvSpPr txBox="1"/>
          <p:nvPr/>
        </p:nvSpPr>
        <p:spPr>
          <a:xfrm>
            <a:off x="914400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情境識別碼 </a:t>
            </a: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scenario_id</a:t>
            </a:r>
          </a:p>
        </p:txBody>
      </p:sp>
      <p:sp>
        <p:nvSpPr>
          <p:cNvPr id="5" name="Identity source body"/>
          <p:cNvSpPr txBox="1"/>
          <p:nvPr/>
        </p:nvSpPr>
        <p:spPr>
          <a:xfrm>
            <a:off x="932688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 定義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字串識別碼；非能量值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來源：scenario package</a:t>
            </a:r>
          </a:p>
        </p:txBody>
      </p:sp>
      <p:sp>
        <p:nvSpPr>
          <p:cNvPr id="6" name="Identity result"/>
          <p:cNvSpPr/>
          <p:nvPr/>
        </p:nvSpPr>
        <p:spPr>
          <a:xfrm>
            <a:off x="4425696" y="1078992"/>
            <a:ext cx="3328416" cy="31455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dentity result heading"/>
          <p:cNvSpPr txBox="1"/>
          <p:nvPr/>
        </p:nvSpPr>
        <p:spPr>
          <a:xfrm>
            <a:off x="4590288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執行 RUN → result</a:t>
            </a:r>
          </a:p>
        </p:txBody>
      </p:sp>
      <p:sp>
        <p:nvSpPr>
          <p:cNvPr id="8" name="Identity result body"/>
          <p:cNvSpPr txBox="1"/>
          <p:nvPr/>
        </p:nvSpPr>
        <p:spPr>
          <a:xfrm>
            <a:off x="4608576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runner 讀 scenario／case／policy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輸出 result.json（數值與 units）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Identity replay"/>
          <p:cNvSpPr/>
          <p:nvPr/>
        </p:nvSpPr>
        <p:spPr>
          <a:xfrm>
            <a:off x="8101583" y="1078992"/>
            <a:ext cx="3328416" cy="31455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dentity replay heading"/>
          <p:cNvSpPr txBox="1"/>
          <p:nvPr/>
        </p:nvSpPr>
        <p:spPr>
          <a:xfrm>
            <a:off x="8266175" y="1225295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事件重播 REPLAY／工作簿</a:t>
            </a:r>
          </a:p>
        </p:txBody>
      </p:sp>
      <p:sp>
        <p:nvSpPr>
          <p:cNvPr id="11" name="Identity replay body"/>
          <p:cNvSpPr txBox="1"/>
          <p:nvPr/>
        </p:nvSpPr>
        <p:spPr>
          <a:xfrm>
            <a:off x="8284463" y="1609343"/>
            <a:ext cx="2962656" cy="248716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REPLAY：同 run events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state／queue／packet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WORKBOOK：baseline／candidate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freeze／withheld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一致性：run_id、policy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units、provenance</a:t>
            </a:r>
          </a:p>
        </p:txBody>
      </p:sp>
      <p:cxnSp>
        <p:nvCxnSpPr>
          <p:cNvPr id="12" name="Identity arrow"/>
          <p:cNvCxnSpPr/>
          <p:nvPr/>
        </p:nvCxnSpPr>
        <p:spPr>
          <a:xfrm>
            <a:off x="4096512" y="2834640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Identity arrow"/>
          <p:cNvCxnSpPr/>
          <p:nvPr/>
        </p:nvCxnSpPr>
        <p:spPr>
          <a:xfrm>
            <a:off x="7772400" y="2834640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aching takeaway"/>
          <p:cNvSpPr/>
          <p:nvPr/>
        </p:nvSpPr>
        <p:spPr>
          <a:xfrm>
            <a:off x="786384" y="455371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aching takeaway text"/>
          <p:cNvSpPr txBox="1"/>
          <p:nvPr/>
        </p:nvSpPr>
        <p:spPr>
          <a:xfrm>
            <a:off x="950976" y="461772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一致性核對：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、run_id、policy identity、units 與 provenance 共同決定配對資格。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Baseline：固定條件下的 control execution</a:t>
            </a:r>
          </a:p>
        </p:txBody>
      </p:sp>
      <p:sp>
        <p:nvSpPr>
          <p:cNvPr id="3" name="Control FIXED 固定條件"/>
          <p:cNvSpPr/>
          <p:nvPr/>
        </p:nvSpPr>
        <p:spPr>
          <a:xfrm>
            <a:off x="822960" y="1207008"/>
            <a:ext cx="3310128" cy="182880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trol FIXED 固定條件 heading"/>
          <p:cNvSpPr txBox="1"/>
          <p:nvPr/>
        </p:nvSpPr>
        <p:spPr>
          <a:xfrm>
            <a:off x="98755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FIXED 固定條件</a:t>
            </a:r>
          </a:p>
        </p:txBody>
      </p:sp>
      <p:sp>
        <p:nvSpPr>
          <p:cNvPr id="5" name="Control FIXED 固定條件 body"/>
          <p:cNvSpPr txBox="1"/>
          <p:nvPr/>
        </p:nvSpPr>
        <p:spPr>
          <a:xfrm>
            <a:off x="1005840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scenario（情境）／seed（種子）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traffic、window、endpoint scope</a:t>
            </a:r>
          </a:p>
        </p:txBody>
      </p:sp>
      <p:cxnSp>
        <p:nvCxnSpPr>
          <p:cNvPr id="6" name="Control arrow"/>
          <p:cNvCxnSpPr/>
          <p:nvPr/>
        </p:nvCxnSpPr>
        <p:spPr>
          <a:xfrm>
            <a:off x="4133087" y="2121408"/>
            <a:ext cx="29260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rol ONE EDIT 唯一修改"/>
          <p:cNvSpPr/>
          <p:nvPr/>
        </p:nvSpPr>
        <p:spPr>
          <a:xfrm>
            <a:off x="4572000" y="1207008"/>
            <a:ext cx="3310128" cy="182880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rol ONE EDIT 唯一修改 heading"/>
          <p:cNvSpPr txBox="1"/>
          <p:nvPr/>
        </p:nvSpPr>
        <p:spPr>
          <a:xfrm>
            <a:off x="473659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ONE EDIT 唯一修改</a:t>
            </a:r>
          </a:p>
        </p:txBody>
      </p:sp>
      <p:sp>
        <p:nvSpPr>
          <p:cNvPr id="9" name="Control ONE EDIT 唯一修改 body"/>
          <p:cNvSpPr txBox="1"/>
          <p:nvPr/>
        </p:nvSpPr>
        <p:spPr>
          <a:xfrm>
            <a:off x="4754880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lab 的 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identity 產生差異</a:t>
            </a:r>
          </a:p>
        </p:txBody>
      </p:sp>
      <p:cxnSp>
        <p:nvCxnSpPr>
          <p:cNvPr id="10" name="Control arrow"/>
          <p:cNvCxnSpPr/>
          <p:nvPr/>
        </p:nvCxnSpPr>
        <p:spPr>
          <a:xfrm>
            <a:off x="7882127" y="2121408"/>
            <a:ext cx="292609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rol OBSERVE 觀察輸出"/>
          <p:cNvSpPr/>
          <p:nvPr/>
        </p:nvSpPr>
        <p:spPr>
          <a:xfrm>
            <a:off x="8321040" y="1207008"/>
            <a:ext cx="3310128" cy="182880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ntrol OBSERVE 觀察輸出 heading"/>
          <p:cNvSpPr txBox="1"/>
          <p:nvPr/>
        </p:nvSpPr>
        <p:spPr>
          <a:xfrm>
            <a:off x="8485632" y="1353312"/>
            <a:ext cx="2980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OBSERVE 觀察輸出</a:t>
            </a:r>
          </a:p>
        </p:txBody>
      </p:sp>
      <p:sp>
        <p:nvSpPr>
          <p:cNvPr id="13" name="Control OBSERVE 觀察輸出 body"/>
          <p:cNvSpPr txBox="1"/>
          <p:nvPr/>
        </p:nvSpPr>
        <p:spPr>
          <a:xfrm>
            <a:off x="8503919" y="1737360"/>
            <a:ext cx="2944368" cy="11704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state／packet／service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（端點能量）</a:t>
            </a:r>
          </a:p>
        </p:txBody>
      </p:sp>
      <p:sp>
        <p:nvSpPr>
          <p:cNvPr id="14" name="Control question"/>
          <p:cNvSpPr txBox="1"/>
          <p:nvPr/>
        </p:nvSpPr>
        <p:spPr>
          <a:xfrm>
            <a:off x="969264" y="3438144"/>
            <a:ext cx="10222992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兩次 result 的 scenario identity、traffic 或 scope 不同時，policy 差異不具因果資格。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= 固定條件下的原始 policy execution；candidate = 一個 marked edit 的比較 execution。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LEO：changing-service-window trace 的輸入範例</a:t>
            </a:r>
          </a:p>
        </p:txBody>
      </p:sp>
      <p:sp>
        <p:nvSpPr>
          <p:cNvPr id="3" name="Window lead"/>
          <p:cNvSpPr txBox="1"/>
          <p:nvPr/>
        </p:nvSpPr>
        <p:spPr>
          <a:xfrm>
            <a:off x="841248" y="1078992"/>
            <a:ext cx="1040587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trace：closed／contact-a／closed／contact-b／closed，作為傳輸時機輸入。</a:t>
            </a:r>
          </a:p>
        </p:txBody>
      </p:sp>
      <p:cxnSp>
        <p:nvCxnSpPr>
          <p:cNvPr id="4" name="Window axis"/>
          <p:cNvCxnSpPr/>
          <p:nvPr/>
        </p:nvCxnSpPr>
        <p:spPr>
          <a:xfrm>
            <a:off x="1005840" y="2578608"/>
            <a:ext cx="9893808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Window closed"/>
          <p:cNvSpPr/>
          <p:nvPr/>
        </p:nvSpPr>
        <p:spPr>
          <a:xfrm>
            <a:off x="109728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indow closed label"/>
          <p:cNvSpPr txBox="1"/>
          <p:nvPr/>
        </p:nvSpPr>
        <p:spPr>
          <a:xfrm>
            <a:off x="117043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7" name="Window contact-a&#10;quality trace"/>
          <p:cNvSpPr/>
          <p:nvPr/>
        </p:nvSpPr>
        <p:spPr>
          <a:xfrm>
            <a:off x="2395728" y="1938528"/>
            <a:ext cx="2816352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contact-a&#10;quality trace label"/>
          <p:cNvSpPr txBox="1"/>
          <p:nvPr/>
        </p:nvSpPr>
        <p:spPr>
          <a:xfrm>
            <a:off x="2468880" y="226771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contact-a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9" name="Window closed"/>
          <p:cNvSpPr/>
          <p:nvPr/>
        </p:nvSpPr>
        <p:spPr>
          <a:xfrm>
            <a:off x="557784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indow closed label"/>
          <p:cNvSpPr txBox="1"/>
          <p:nvPr/>
        </p:nvSpPr>
        <p:spPr>
          <a:xfrm>
            <a:off x="565099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11" name="Window contact-b&#10;quality trace"/>
          <p:cNvSpPr/>
          <p:nvPr/>
        </p:nvSpPr>
        <p:spPr>
          <a:xfrm>
            <a:off x="6876288" y="1938528"/>
            <a:ext cx="2816352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indow contact-b&#10;quality trace label"/>
          <p:cNvSpPr txBox="1"/>
          <p:nvPr/>
        </p:nvSpPr>
        <p:spPr>
          <a:xfrm>
            <a:off x="6949440" y="2267712"/>
            <a:ext cx="2670048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contact-b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</p:txBody>
      </p:sp>
      <p:sp>
        <p:nvSpPr>
          <p:cNvPr id="13" name="Window closed"/>
          <p:cNvSpPr/>
          <p:nvPr/>
        </p:nvSpPr>
        <p:spPr>
          <a:xfrm>
            <a:off x="10058400" y="1938528"/>
            <a:ext cx="1060704" cy="124358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closed label"/>
          <p:cNvSpPr txBox="1"/>
          <p:nvPr/>
        </p:nvSpPr>
        <p:spPr>
          <a:xfrm>
            <a:off x="10131552" y="2267712"/>
            <a:ext cx="914399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closed</a:t>
            </a:r>
          </a:p>
        </p:txBody>
      </p:sp>
      <p:sp>
        <p:nvSpPr>
          <p:cNvPr id="15" name="Teaching takeaway"/>
          <p:cNvSpPr/>
          <p:nvPr/>
        </p:nvSpPr>
        <p:spPr>
          <a:xfrm>
            <a:off x="786384" y="393192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aching takeaway text"/>
          <p:cNvSpPr txBox="1"/>
          <p:nvPr/>
        </p:nvSpPr>
        <p:spPr>
          <a:xfrm>
            <a:off x="950976" y="399592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contact_open（窗口布林狀態）、quality_band（品質等級）、contact_remaining_s（剩餘秒數）→ policy observation；closed 時 action=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A：等待空檔的 radio state 比較</a:t>
            </a:r>
          </a:p>
        </p:txBody>
      </p:sp>
      <p:sp>
        <p:nvSpPr>
          <p:cNvPr id="3" name="Lab A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 CHALLENGE</a:t>
            </a:r>
          </a:p>
        </p:txBody>
      </p:sp>
      <p:sp>
        <p:nvSpPr>
          <p:cNvPr id="5" name="Lab A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機制假說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baseline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edit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compare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hidden</a:t>
            </a:r>
          </a:p>
        </p:txBody>
      </p:sp>
      <p:sp>
        <p:nvSpPr>
          <p:cNvPr id="6" name="Lab A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A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A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（低功耗休息）→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cost；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（清醒閒置）→ awake-idle energy。唯一修改：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A-00a：Baseline decision 與 Trace evidence</a:t>
            </a:r>
          </a:p>
        </p:txBody>
      </p:sp>
      <p:sp>
        <p:nvSpPr>
          <p:cNvPr id="3" name="Baseline A decision"/>
          <p:cNvSpPr/>
          <p:nvPr/>
        </p:nvSpPr>
        <p:spPr>
          <a:xfrm>
            <a:off x="749808" y="1078992"/>
            <a:ext cx="5138928" cy="3127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A decision heading"/>
          <p:cNvSpPr txBox="1"/>
          <p:nvPr/>
        </p:nvSpPr>
        <p:spPr>
          <a:xfrm>
            <a:off x="914400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 DECISION</a:t>
            </a:r>
          </a:p>
        </p:txBody>
      </p:sp>
      <p:sp>
        <p:nvSpPr>
          <p:cNvPr id="5" name="Baseline A decision body"/>
          <p:cNvSpPr txBox="1"/>
          <p:nvPr/>
        </p:nvSpPr>
        <p:spPr>
          <a:xfrm>
            <a:off x="932688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contact_open=false（窗口布林）→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（步數）→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gap 結束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／SEND decision</a:t>
            </a:r>
          </a:p>
        </p:txBody>
      </p:sp>
      <p:sp>
        <p:nvSpPr>
          <p:cNvPr id="6" name="Baseline A evidence"/>
          <p:cNvSpPr/>
          <p:nvPr/>
        </p:nvSpPr>
        <p:spPr>
          <a:xfrm>
            <a:off x="6254496" y="1078992"/>
            <a:ext cx="5138928" cy="3127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seline A evidenc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READ CONTROL EVIDENCE</a:t>
            </a:r>
          </a:p>
        </p:txBody>
      </p:sp>
      <p:sp>
        <p:nvSpPr>
          <p:cNvPr id="8" name="Baseline A evidence body"/>
          <p:cNvSpPr txBox="1"/>
          <p:nvPr/>
        </p:nvSpPr>
        <p:spPr>
          <a:xfrm>
            <a:off x="6437376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receipt：status／run_id／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同目錄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 欄位見下一頁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來源：P042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Baseline command A"/>
          <p:cNvSpPr/>
          <p:nvPr/>
        </p:nvSpPr>
        <p:spPr>
          <a:xfrm>
            <a:off x="749808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WSL A"/>
          <p:cNvSpPr txBox="1"/>
          <p:nvPr/>
        </p:nvSpPr>
        <p:spPr>
          <a:xfrm>
            <a:off x="932688" y="4462272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POSIX：bash course.sh run --lab A --case baseline</a:t>
            </a:r>
          </a:p>
        </p:txBody>
      </p:sp>
      <p:sp>
        <p:nvSpPr>
          <p:cNvPr id="11" name="Baseline PowerShell A"/>
          <p:cNvSpPr txBox="1"/>
          <p:nvPr/>
        </p:nvSpPr>
        <p:spPr>
          <a:xfrm>
            <a:off x="932688" y="4718304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PowerShell：.\course.cmd run --lab A --case baseline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A-00b：Baseline summary fields</a:t>
            </a:r>
          </a:p>
        </p:txBody>
      </p:sp>
      <p:sp>
        <p:nvSpPr>
          <p:cNvPr id="3" name="Baseline A result summary"/>
          <p:cNvSpPr/>
          <p:nvPr/>
        </p:nvSpPr>
        <p:spPr>
          <a:xfrm>
            <a:off x="749808" y="1170432"/>
            <a:ext cx="10588752" cy="3621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A result summary heading"/>
          <p:cNvSpPr txBox="1"/>
          <p:nvPr/>
        </p:nvSpPr>
        <p:spPr>
          <a:xfrm>
            <a:off x="914400" y="1316736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BASELINE｜summary fields</a:t>
            </a:r>
          </a:p>
        </p:txBody>
      </p:sp>
      <p:sp>
        <p:nvSpPr>
          <p:cNvPr id="5" name="Baseline A result summary body"/>
          <p:cNvSpPr txBox="1"/>
          <p:nvPr/>
        </p:nvSpPr>
        <p:spPr>
          <a:xfrm>
            <a:off x="932688" y="1700784"/>
            <a:ext cx="10222992" cy="2962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6.92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693.641618 bit/J · wake = 2 · attempt = 2 · retry = 1 · expired =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scenario／seed／traffic／window；唯一 control：原始 policy；下一步：對照 candidate --freeze</a:t>
            </a:r>
          </a:p>
        </p:txBody>
      </p:sp>
      <p:sp>
        <p:nvSpPr>
          <p:cNvPr id="6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artifacts/&lt;run_id&gt;/result.json；同 run endpoint-replay.json；欄位一起判讀。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A-01a：path 與 BEFORE 完整 marked block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before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before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BEFORE｜完整 marked block</a:t>
            </a:r>
          </a:p>
        </p:txBody>
      </p:sp>
      <p:sp>
        <p:nvSpPr>
          <p:cNvPr id="6" name="Edit A staged before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lab-a-pace-rest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bytes：保留完整 marker；下一頁只看唯一 edit 的 AFTER block。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A-01d：AFTER 完整 marked block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after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aft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AFTER｜完整 marked block</a:t>
            </a:r>
          </a:p>
        </p:txBody>
      </p:sp>
      <p:sp>
        <p:nvSpPr>
          <p:cNvPr id="6" name="Edit A staged after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lab-a-pace-rest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；marker、choose_action、其他 block 不動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A-01b：WSL 與 PowerShell edit commands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WSL commands"/>
          <p:cNvSpPr/>
          <p:nvPr/>
        </p:nvSpPr>
        <p:spPr>
          <a:xfrm>
            <a:off x="658368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WSL commands heading"/>
          <p:cNvSpPr txBox="1"/>
          <p:nvPr/>
        </p:nvSpPr>
        <p:spPr>
          <a:xfrm>
            <a:off x="822959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 exact</a:t>
            </a:r>
          </a:p>
        </p:txBody>
      </p:sp>
      <p:sp>
        <p:nvSpPr>
          <p:cNvPr id="6" name="Edit A staged WSL commands code"/>
          <p:cNvSpPr txBox="1"/>
          <p:nvPr/>
        </p:nvSpPr>
        <p:spPr>
          <a:xfrm>
            <a:off x="859536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student_policy.before-A-edit.py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編輯器範例：nano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Edit A staged PowerShell commands"/>
          <p:cNvSpPr/>
          <p:nvPr/>
        </p:nvSpPr>
        <p:spPr>
          <a:xfrm>
            <a:off x="6217920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A staged PowerShell commands heading"/>
          <p:cNvSpPr txBox="1"/>
          <p:nvPr/>
        </p:nvSpPr>
        <p:spPr>
          <a:xfrm>
            <a:off x="6382512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exact</a:t>
            </a:r>
          </a:p>
        </p:txBody>
      </p:sp>
      <p:sp>
        <p:nvSpPr>
          <p:cNvPr id="9" name="Edit A staged PowerShell commands code"/>
          <p:cNvSpPr txBox="1"/>
          <p:nvPr/>
        </p:nvSpPr>
        <p:spPr>
          <a:xfrm>
            <a:off x="6419088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Copy-Item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-Destination student_policy.before-A-edit.py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編輯器範例：notepad .\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0" name="Teaching takeaway"/>
          <p:cNvSpPr/>
          <p:nvPr/>
        </p:nvSpPr>
        <p:spPr>
          <a:xfrm>
            <a:off x="786384" y="47914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8554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順序：backup → 開檔並修改 → py_compile；compile 只驗 syntax，尚未驗 marker、API、predecessor 或 result。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A-01c：consumer、唯一修改與判讀</a:t>
            </a:r>
          </a:p>
        </p:txBody>
      </p:sp>
      <p:sp>
        <p:nvSpPr>
          <p:cNvPr id="3" name="Edit A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A staged consumer"/>
          <p:cNvSpPr/>
          <p:nvPr/>
        </p:nvSpPr>
        <p:spPr>
          <a:xfrm>
            <a:off x="658368" y="1444752"/>
            <a:ext cx="10881360" cy="162763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A staged consum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MARKER 外 consumer／function boundary</a:t>
            </a:r>
          </a:p>
        </p:txBody>
      </p:sp>
      <p:sp>
        <p:nvSpPr>
          <p:cNvPr id="6" name="Edit A staged consumer code"/>
          <p:cNvSpPr txBox="1"/>
          <p:nvPr/>
        </p:nvSpPr>
        <p:spPr>
          <a:xfrm>
            <a:off x="859536" y="1792224"/>
            <a:ext cx="10479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marker 外 consumer：function choose_action(observation)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7" name="Edit A staged unique change"/>
          <p:cNvSpPr/>
          <p:nvPr/>
        </p:nvSpPr>
        <p:spPr>
          <a:xfrm>
            <a:off x="786384" y="331012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A staged unique change text"/>
          <p:cNvSpPr txBox="1"/>
          <p:nvPr/>
        </p:nvSpPr>
        <p:spPr>
          <a:xfrm>
            <a:off x="950976" y="337413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；marker、choose_action、其他 block 不動</a:t>
            </a:r>
          </a:p>
        </p:txBody>
      </p:sp>
      <p:sp>
        <p:nvSpPr>
          <p:cNvPr id="9" name="Edit A staged interpretation"/>
          <p:cNvSpPr/>
          <p:nvPr/>
        </p:nvSpPr>
        <p:spPr>
          <a:xfrm>
            <a:off x="658368" y="4005072"/>
            <a:ext cx="10881360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 A staged interpretation heading"/>
          <p:cNvSpPr txBox="1"/>
          <p:nvPr/>
        </p:nvSpPr>
        <p:spPr>
          <a:xfrm>
            <a:off x="822959" y="4096511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WHY／EXPECT／INTERPRET</a:t>
            </a:r>
          </a:p>
        </p:txBody>
      </p:sp>
      <p:sp>
        <p:nvSpPr>
          <p:cNvPr id="11" name="Edit A staged interpretation code"/>
          <p:cNvSpPr txBox="1"/>
          <p:nvPr/>
        </p:nvSpPr>
        <p:spPr>
          <a:xfrm>
            <a:off x="859536" y="4352544"/>
            <a:ext cx="10479024" cy="8961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2；gap action：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Expect：run 驗 marker／API／predecessor／packet／service／J。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Interpret：result 判定 transition 與 endpoint energy。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A-02a：baseline、candidate 與 hidden commands</a:t>
            </a:r>
          </a:p>
        </p:txBody>
      </p:sp>
      <p:sp>
        <p:nvSpPr>
          <p:cNvPr id="3" name="Exact run commands A"/>
          <p:cNvSpPr/>
          <p:nvPr/>
        </p:nvSpPr>
        <p:spPr>
          <a:xfrm>
            <a:off x="658368" y="1133856"/>
            <a:ext cx="10881360" cy="30906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command OS heading A"/>
          <p:cNvSpPr txBox="1"/>
          <p:nvPr/>
        </p:nvSpPr>
        <p:spPr>
          <a:xfrm>
            <a:off x="859536" y="1207008"/>
            <a:ext cx="1047902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逐行 copy boundary｜WSL / POSIX + Windows PowerShell</a:t>
            </a:r>
          </a:p>
        </p:txBody>
      </p:sp>
      <p:sp>
        <p:nvSpPr>
          <p:cNvPr id="5" name="Run row label A 0"/>
          <p:cNvSpPr txBox="1"/>
          <p:nvPr/>
        </p:nvSpPr>
        <p:spPr>
          <a:xfrm>
            <a:off x="841248" y="149961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  BASELINE · WSL</a:t>
            </a:r>
          </a:p>
        </p:txBody>
      </p:sp>
      <p:sp>
        <p:nvSpPr>
          <p:cNvPr id="6" name="Run exact command A 0"/>
          <p:cNvSpPr txBox="1"/>
          <p:nvPr/>
        </p:nvSpPr>
        <p:spPr>
          <a:xfrm>
            <a:off x="3419856" y="14996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7" name="Run row label A 1"/>
          <p:cNvSpPr txBox="1"/>
          <p:nvPr/>
        </p:nvSpPr>
        <p:spPr>
          <a:xfrm>
            <a:off x="841248" y="1901952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1  BASELINE · PowerShell</a:t>
            </a:r>
          </a:p>
        </p:txBody>
      </p:sp>
      <p:sp>
        <p:nvSpPr>
          <p:cNvPr id="8" name="Run exact command A 1"/>
          <p:cNvSpPr txBox="1"/>
          <p:nvPr/>
        </p:nvSpPr>
        <p:spPr>
          <a:xfrm>
            <a:off x="3419856" y="1901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baseline</a:t>
            </a:r>
          </a:p>
        </p:txBody>
      </p:sp>
      <p:sp>
        <p:nvSpPr>
          <p:cNvPr id="9" name="Run row label A 2"/>
          <p:cNvSpPr txBox="1"/>
          <p:nvPr/>
        </p:nvSpPr>
        <p:spPr>
          <a:xfrm>
            <a:off x="841248" y="23042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  CANDIDATE · WSL</a:t>
            </a:r>
          </a:p>
        </p:txBody>
      </p:sp>
      <p:sp>
        <p:nvSpPr>
          <p:cNvPr id="10" name="Run exact command A 2"/>
          <p:cNvSpPr txBox="1"/>
          <p:nvPr/>
        </p:nvSpPr>
        <p:spPr>
          <a:xfrm>
            <a:off x="3419856" y="23042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</p:txBody>
      </p:sp>
      <p:sp>
        <p:nvSpPr>
          <p:cNvPr id="11" name="Run row label A 3"/>
          <p:cNvSpPr txBox="1"/>
          <p:nvPr/>
        </p:nvSpPr>
        <p:spPr>
          <a:xfrm>
            <a:off x="841248" y="2706624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  CANDIDATE · PowerShell</a:t>
            </a:r>
          </a:p>
        </p:txBody>
      </p:sp>
      <p:sp>
        <p:nvSpPr>
          <p:cNvPr id="12" name="Run exact command A 3"/>
          <p:cNvSpPr txBox="1"/>
          <p:nvPr/>
        </p:nvSpPr>
        <p:spPr>
          <a:xfrm>
            <a:off x="3419856" y="27066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candidate --freeze</a:t>
            </a:r>
          </a:p>
        </p:txBody>
      </p:sp>
      <p:sp>
        <p:nvSpPr>
          <p:cNvPr id="13" name="Run row label A 4"/>
          <p:cNvSpPr txBox="1"/>
          <p:nvPr/>
        </p:nvSpPr>
        <p:spPr>
          <a:xfrm>
            <a:off x="841248" y="310896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3  HIDDEN · WSL</a:t>
            </a:r>
          </a:p>
        </p:txBody>
      </p:sp>
      <p:sp>
        <p:nvSpPr>
          <p:cNvPr id="14" name="Run exact command A 4"/>
          <p:cNvSpPr txBox="1"/>
          <p:nvPr/>
        </p:nvSpPr>
        <p:spPr>
          <a:xfrm>
            <a:off x="3419856" y="3108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hidden</a:t>
            </a:r>
          </a:p>
        </p:txBody>
      </p:sp>
      <p:sp>
        <p:nvSpPr>
          <p:cNvPr id="15" name="Run row label A 5"/>
          <p:cNvSpPr txBox="1"/>
          <p:nvPr/>
        </p:nvSpPr>
        <p:spPr>
          <a:xfrm>
            <a:off x="841248" y="351129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3  HIDDEN · PowerShell</a:t>
            </a:r>
          </a:p>
        </p:txBody>
      </p:sp>
      <p:sp>
        <p:nvSpPr>
          <p:cNvPr id="16" name="Run exact command A 5"/>
          <p:cNvSpPr txBox="1"/>
          <p:nvPr/>
        </p:nvSpPr>
        <p:spPr>
          <a:xfrm>
            <a:off x="3419856" y="3511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hidden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44398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50799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每一行都是獨立 copy boundary；結果欄位與 checkpoint 另頁讀取，避免 command 與 receipt 疊在一起。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A-02b：stdout fields、result 與 replay pair</a:t>
            </a:r>
          </a:p>
        </p:txBody>
      </p:sp>
      <p:sp>
        <p:nvSpPr>
          <p:cNvPr id="3" name="Receipt A lead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 run 先讀 stdout，再依 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配對 result.json 與 endpoint-replay.json。</a:t>
            </a:r>
          </a:p>
        </p:txBody>
      </p:sp>
      <p:sp>
        <p:nvSpPr>
          <p:cNvPr id="4" name="Receipt A stdout fields"/>
          <p:cNvSpPr/>
          <p:nvPr/>
        </p:nvSpPr>
        <p:spPr>
          <a:xfrm>
            <a:off x="658368" y="1481328"/>
            <a:ext cx="10881360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eipt A stdout fields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 fields｜不顯示任何識別摘要值</a:t>
            </a:r>
          </a:p>
        </p:txBody>
      </p:sp>
      <p:sp>
        <p:nvSpPr>
          <p:cNvPr id="6" name="Receipt A stdout fields code"/>
          <p:cNvSpPr txBox="1"/>
          <p:nvPr/>
        </p:nvSpPr>
        <p:spPr>
          <a:xfrm>
            <a:off x="859536" y="1828800"/>
            <a:ext cx="1047902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status（成功時 OK） · run_id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· artifact_source · claim_boundary</a:t>
            </a:r>
          </a:p>
        </p:txBody>
      </p:sp>
      <p:sp>
        <p:nvSpPr>
          <p:cNvPr id="7" name="Receipt A artifact pair"/>
          <p:cNvSpPr/>
          <p:nvPr/>
        </p:nvSpPr>
        <p:spPr>
          <a:xfrm>
            <a:off x="658368" y="2761488"/>
            <a:ext cx="10881360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eipt A artifact pair heading"/>
          <p:cNvSpPr txBox="1"/>
          <p:nvPr/>
        </p:nvSpPr>
        <p:spPr>
          <a:xfrm>
            <a:off x="822959" y="285292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artifact pair｜同一 run</a:t>
            </a:r>
          </a:p>
        </p:txBody>
      </p:sp>
      <p:sp>
        <p:nvSpPr>
          <p:cNvPr id="9" name="Receipt A artifact pair code"/>
          <p:cNvSpPr txBox="1"/>
          <p:nvPr/>
        </p:nvSpPr>
        <p:spPr>
          <a:xfrm>
            <a:off x="859536" y="3108960"/>
            <a:ext cx="10479024" cy="80467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artifacts/&lt;run_id&gt;/result.json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再開同目錄 endpoint-replay.json；不猜檔名，不手改 JSON</a:t>
            </a:r>
          </a:p>
        </p:txBody>
      </p:sp>
      <p:sp>
        <p:nvSpPr>
          <p:cNvPr id="10" name="Receipt A checkpoint"/>
          <p:cNvSpPr/>
          <p:nvPr/>
        </p:nvSpPr>
        <p:spPr>
          <a:xfrm>
            <a:off x="658368" y="4206240"/>
            <a:ext cx="10881360" cy="71323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A checkpoint heading"/>
          <p:cNvSpPr txBox="1"/>
          <p:nvPr/>
        </p:nvSpPr>
        <p:spPr>
          <a:xfrm>
            <a:off x="822959" y="4297679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candidate freeze checkpoint</a:t>
            </a:r>
          </a:p>
        </p:txBody>
      </p:sp>
      <p:sp>
        <p:nvSpPr>
          <p:cNvPr id="12" name="Receipt A checkpoint code"/>
          <p:cNvSpPr txBox="1"/>
          <p:nvPr/>
        </p:nvSpPr>
        <p:spPr>
          <a:xfrm>
            <a:off x="859536" y="4553712"/>
            <a:ext cx="104790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artifacts/checkpoints/lab-a-frozen.{json,py}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A-03：Identity boundary 與 before／after 比較</a:t>
            </a:r>
          </a:p>
        </p:txBody>
      </p:sp>
      <p:sp>
        <p:nvSpPr>
          <p:cNvPr id="3" name="Compare BASELINE"/>
          <p:cNvSpPr/>
          <p:nvPr/>
        </p:nvSpPr>
        <p:spPr>
          <a:xfrm>
            <a:off x="731520" y="1078992"/>
            <a:ext cx="5102352" cy="3822191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mpare BASELINE heading"/>
          <p:cNvSpPr txBox="1"/>
          <p:nvPr/>
        </p:nvSpPr>
        <p:spPr>
          <a:xfrm>
            <a:off x="896112" y="1225295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5" name="Compare BASELINE body"/>
          <p:cNvSpPr txBox="1"/>
          <p:nvPr/>
        </p:nvSpPr>
        <p:spPr>
          <a:xfrm>
            <a:off x="914400" y="1609343"/>
            <a:ext cx="4736592" cy="3163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6.92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693.641618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2 · attempt = 2 · retry = 1 · expired = 3</a:t>
            </a:r>
          </a:p>
        </p:txBody>
      </p:sp>
      <p:sp>
        <p:nvSpPr>
          <p:cNvPr id="6" name="Compare CANDIDATE"/>
          <p:cNvSpPr/>
          <p:nvPr/>
        </p:nvSpPr>
        <p:spPr>
          <a:xfrm>
            <a:off x="6254496" y="1078992"/>
            <a:ext cx="5102352" cy="3822191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pare CANDIDATE heading"/>
          <p:cNvSpPr txBox="1"/>
          <p:nvPr/>
        </p:nvSpPr>
        <p:spPr>
          <a:xfrm>
            <a:off x="6419088" y="1225295"/>
            <a:ext cx="47731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8" name="Compare CANDIDATE body"/>
          <p:cNvSpPr txBox="1"/>
          <p:nvPr/>
        </p:nvSpPr>
        <p:spPr>
          <a:xfrm>
            <a:off x="6437376" y="1609343"/>
            <a:ext cx="4736592" cy="31638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541.760722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1 · attempt = 2 · retry = 1 · expired = 3</a:t>
            </a:r>
          </a:p>
        </p:txBody>
      </p:sp>
      <p:cxnSp>
        <p:nvCxnSpPr>
          <p:cNvPr id="9" name="Compare gate"/>
          <p:cNvCxnSpPr/>
          <p:nvPr/>
        </p:nvCxnSpPr>
        <p:spPr>
          <a:xfrm>
            <a:off x="5907024" y="2505456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502920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509320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先比對 scenario／policy／scope，再解讀 service verdict、delivery、transition 與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A-04：state ledger 與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的來源</a:t>
            </a:r>
          </a:p>
        </p:txBody>
      </p:sp>
      <p:sp>
        <p:nvSpPr>
          <p:cNvPr id="3" name="Ledger lead"/>
          <p:cNvSpPr txBox="1"/>
          <p:nvPr/>
        </p:nvSpPr>
        <p:spPr>
          <a:xfrm>
            <a:off x="841248" y="1078992"/>
            <a:ext cx="10442448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candidate events 與 energy_breakdown_j：沿 state interval 找機制。</a:t>
            </a:r>
          </a:p>
        </p:txBody>
      </p:sp>
      <p:sp>
        <p:nvSpPr>
          <p:cNvPr id="4" name="Ledger label awake_idle（清醒閒置）"/>
          <p:cNvSpPr txBox="1"/>
          <p:nvPr/>
        </p:nvSpPr>
        <p:spPr>
          <a:xfrm>
            <a:off x="877824" y="16824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awake_idle（清醒閒置）</a:t>
            </a:r>
          </a:p>
        </p:txBody>
      </p:sp>
      <p:sp>
        <p:nvSpPr>
          <p:cNvPr id="5" name="Ledger bar awake_idle（清醒閒置）"/>
          <p:cNvSpPr/>
          <p:nvPr/>
        </p:nvSpPr>
        <p:spPr>
          <a:xfrm>
            <a:off x="2651760" y="1664208"/>
            <a:ext cx="5065776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dger value awake_idle（清醒閒置）"/>
          <p:cNvSpPr txBox="1"/>
          <p:nvPr/>
        </p:nvSpPr>
        <p:spPr>
          <a:xfrm>
            <a:off x="9473184" y="17373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6.00 J</a:t>
            </a:r>
          </a:p>
        </p:txBody>
      </p:sp>
      <p:sp>
        <p:nvSpPr>
          <p:cNvPr id="7" name="Ledger label sleep（低功耗）"/>
          <p:cNvSpPr txBox="1"/>
          <p:nvPr/>
        </p:nvSpPr>
        <p:spPr>
          <a:xfrm>
            <a:off x="877824" y="21396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sleep（低功耗）</a:t>
            </a:r>
          </a:p>
        </p:txBody>
      </p:sp>
      <p:sp>
        <p:nvSpPr>
          <p:cNvPr id="8" name="Ledger bar sleep（低功耗）"/>
          <p:cNvSpPr/>
          <p:nvPr/>
        </p:nvSpPr>
        <p:spPr>
          <a:xfrm>
            <a:off x="2651760" y="2121408"/>
            <a:ext cx="596920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dger value sleep（低功耗）"/>
          <p:cNvSpPr txBox="1"/>
          <p:nvPr/>
        </p:nvSpPr>
        <p:spPr>
          <a:xfrm>
            <a:off x="9473184" y="21945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0.04 J</a:t>
            </a:r>
          </a:p>
        </p:txBody>
      </p:sp>
      <p:sp>
        <p:nvSpPr>
          <p:cNvPr id="10" name="Ledger label wake（喚醒）"/>
          <p:cNvSpPr txBox="1"/>
          <p:nvPr/>
        </p:nvSpPr>
        <p:spPr>
          <a:xfrm>
            <a:off x="877824" y="25968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wake（喚醒）</a:t>
            </a:r>
          </a:p>
        </p:txBody>
      </p:sp>
      <p:sp>
        <p:nvSpPr>
          <p:cNvPr id="11" name="Ledger bar wake（喚醒）"/>
          <p:cNvSpPr/>
          <p:nvPr/>
        </p:nvSpPr>
        <p:spPr>
          <a:xfrm>
            <a:off x="2651760" y="2578608"/>
            <a:ext cx="581924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dger value wake（喚醒）"/>
          <p:cNvSpPr txBox="1"/>
          <p:nvPr/>
        </p:nvSpPr>
        <p:spPr>
          <a:xfrm>
            <a:off x="9473184" y="26517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0.02 J</a:t>
            </a:r>
          </a:p>
        </p:txBody>
      </p:sp>
      <p:sp>
        <p:nvSpPr>
          <p:cNvPr id="13" name="Ledger label process（處理）"/>
          <p:cNvSpPr txBox="1"/>
          <p:nvPr/>
        </p:nvSpPr>
        <p:spPr>
          <a:xfrm>
            <a:off x="877824" y="30540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process（處理）</a:t>
            </a:r>
          </a:p>
        </p:txBody>
      </p:sp>
      <p:sp>
        <p:nvSpPr>
          <p:cNvPr id="14" name="Ledger bar process（處理）"/>
          <p:cNvSpPr/>
          <p:nvPr/>
        </p:nvSpPr>
        <p:spPr>
          <a:xfrm>
            <a:off x="2651760" y="3035808"/>
            <a:ext cx="686897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dger value process（處理）"/>
          <p:cNvSpPr txBox="1"/>
          <p:nvPr/>
        </p:nvSpPr>
        <p:spPr>
          <a:xfrm>
            <a:off x="9473184" y="31089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0.16 J</a:t>
            </a:r>
          </a:p>
        </p:txBody>
      </p:sp>
      <p:sp>
        <p:nvSpPr>
          <p:cNvPr id="16" name="Ledger label tx（送出）"/>
          <p:cNvSpPr txBox="1"/>
          <p:nvPr/>
        </p:nvSpPr>
        <p:spPr>
          <a:xfrm>
            <a:off x="877824" y="35112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tx（送出）</a:t>
            </a:r>
          </a:p>
        </p:txBody>
      </p:sp>
      <p:sp>
        <p:nvSpPr>
          <p:cNvPr id="17" name="Ledger bar tx（送出）"/>
          <p:cNvSpPr/>
          <p:nvPr/>
        </p:nvSpPr>
        <p:spPr>
          <a:xfrm>
            <a:off x="2651760" y="3493008"/>
            <a:ext cx="2366467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dger value tx（送出）"/>
          <p:cNvSpPr txBox="1"/>
          <p:nvPr/>
        </p:nvSpPr>
        <p:spPr>
          <a:xfrm>
            <a:off x="9473184" y="35661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2.40 J</a:t>
            </a:r>
          </a:p>
        </p:txBody>
      </p:sp>
      <p:sp>
        <p:nvSpPr>
          <p:cNvPr id="19" name="Ledger label rx（接收）"/>
          <p:cNvSpPr txBox="1"/>
          <p:nvPr/>
        </p:nvSpPr>
        <p:spPr>
          <a:xfrm>
            <a:off x="877824" y="3968496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rx（接收）</a:t>
            </a:r>
          </a:p>
        </p:txBody>
      </p:sp>
      <p:sp>
        <p:nvSpPr>
          <p:cNvPr id="20" name="Ledger bar rx（接收）"/>
          <p:cNvSpPr/>
          <p:nvPr/>
        </p:nvSpPr>
        <p:spPr>
          <a:xfrm>
            <a:off x="2651760" y="3950208"/>
            <a:ext cx="746881" cy="347472"/>
          </a:xfrm>
          <a:prstGeom prst="rect">
            <a:avLst/>
          </a:prstGeom>
          <a:solidFill>
            <a:srgbClr val="ECF1FE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dger value rx（接收）"/>
          <p:cNvSpPr txBox="1"/>
          <p:nvPr/>
        </p:nvSpPr>
        <p:spPr>
          <a:xfrm>
            <a:off x="9473184" y="4023360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0.24 J</a:t>
            </a:r>
          </a:p>
        </p:txBody>
      </p:sp>
      <p:sp>
        <p:nvSpPr>
          <p:cNvPr id="22" name="Teaching takeaway"/>
          <p:cNvSpPr/>
          <p:nvPr/>
        </p:nvSpPr>
        <p:spPr>
          <a:xfrm>
            <a:off x="786384" y="457200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takeaway text"/>
          <p:cNvSpPr txBox="1"/>
          <p:nvPr/>
        </p:nvSpPr>
        <p:spPr>
          <a:xfrm>
            <a:off x="950976" y="463600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same-scenario-fallback reference｜awake_idle=6.00、sleep=0.04、wake=0.02、process=0.16、tx=2.40、rx=0.24 J。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A-05：attempted 不等於 delivered</a:t>
            </a:r>
          </a:p>
        </p:txBody>
      </p:sp>
      <p:sp>
        <p:nvSpPr>
          <p:cNvPr id="3" name="Packet service A ledger"/>
          <p:cNvSpPr/>
          <p:nvPr/>
        </p:nvSpPr>
        <p:spPr>
          <a:xfrm>
            <a:off x="749808" y="1078992"/>
            <a:ext cx="4956048" cy="341985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cket service A ledger heading"/>
          <p:cNvSpPr txBox="1"/>
          <p:nvPr/>
        </p:nvSpPr>
        <p:spPr>
          <a:xfrm>
            <a:off x="914400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PACKET LEDGER</a:t>
            </a:r>
          </a:p>
        </p:txBody>
      </p:sp>
      <p:sp>
        <p:nvSpPr>
          <p:cNvPr id="5" name="Packet service A ledger body"/>
          <p:cNvSpPr txBox="1"/>
          <p:nvPr/>
        </p:nvSpPr>
        <p:spPr>
          <a:xfrm>
            <a:off x="932688" y="1609343"/>
            <a:ext cx="4590288" cy="2761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attempted（嘗試次數）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retransmissions（重傳次數）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（交付資料）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expired_packets（逾時封包）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541.760722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1</a:t>
            </a:r>
          </a:p>
        </p:txBody>
      </p:sp>
      <p:sp>
        <p:nvSpPr>
          <p:cNvPr id="6" name="Packet service A verdict"/>
          <p:cNvSpPr/>
          <p:nvPr/>
        </p:nvSpPr>
        <p:spPr>
          <a:xfrm>
            <a:off x="6126480" y="1078992"/>
            <a:ext cx="4956048" cy="3419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service A verdict heading"/>
          <p:cNvSpPr txBox="1"/>
          <p:nvPr/>
        </p:nvSpPr>
        <p:spPr>
          <a:xfrm>
            <a:off x="6291072" y="1225295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8" name="Packet service A verdict body"/>
          <p:cNvSpPr txBox="1"/>
          <p:nvPr/>
        </p:nvSpPr>
        <p:spPr>
          <a:xfrm>
            <a:off x="6309360" y="1609343"/>
            <a:ext cx="4590288" cy="2761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required packet 與 deadline 共同定義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 次數不具交付欄位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來源：same-scenario-fallback reference｜not a fresh run</a:t>
            </a:r>
          </a:p>
        </p:txBody>
      </p:sp>
      <p:cxnSp>
        <p:nvCxnSpPr>
          <p:cNvPr id="9" name="Packet to service"/>
          <p:cNvCxnSpPr/>
          <p:nvPr/>
        </p:nvCxnSpPr>
        <p:spPr>
          <a:xfrm>
            <a:off x="5797296" y="2761488"/>
            <a:ext cx="27432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73659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80060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一次 SEND 是 decision；collision／retry／deadline 共同決定 packet outcome；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定義 service gate。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A-06：freeze 是 hidden 的入場條件</a:t>
            </a:r>
          </a:p>
        </p:txBody>
      </p:sp>
      <p:sp>
        <p:nvSpPr>
          <p:cNvPr id="3" name="Freeze A 0"/>
          <p:cNvSpPr/>
          <p:nvPr/>
        </p:nvSpPr>
        <p:spPr>
          <a:xfrm>
            <a:off x="658368" y="1353312"/>
            <a:ext cx="3511296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ze A 0 heading"/>
          <p:cNvSpPr txBox="1"/>
          <p:nvPr/>
        </p:nvSpPr>
        <p:spPr>
          <a:xfrm>
            <a:off x="822959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5" name="Freeze A 0 body"/>
          <p:cNvSpPr txBox="1"/>
          <p:nvPr/>
        </p:nvSpPr>
        <p:spPr>
          <a:xfrm>
            <a:off x="841247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6" name="Freeze lineage arrow"/>
          <p:cNvCxnSpPr/>
          <p:nvPr/>
        </p:nvCxnSpPr>
        <p:spPr>
          <a:xfrm>
            <a:off x="4169663" y="1892807"/>
            <a:ext cx="182881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ze A 1"/>
          <p:cNvSpPr/>
          <p:nvPr/>
        </p:nvSpPr>
        <p:spPr>
          <a:xfrm>
            <a:off x="4425696" y="1353312"/>
            <a:ext cx="3511296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ze A 1 heading"/>
          <p:cNvSpPr txBox="1"/>
          <p:nvPr/>
        </p:nvSpPr>
        <p:spPr>
          <a:xfrm>
            <a:off x="4590288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+ freeze</a:t>
            </a:r>
          </a:p>
        </p:txBody>
      </p:sp>
      <p:sp>
        <p:nvSpPr>
          <p:cNvPr id="9" name="Freeze A 1 body"/>
          <p:cNvSpPr txBox="1"/>
          <p:nvPr/>
        </p:nvSpPr>
        <p:spPr>
          <a:xfrm>
            <a:off x="4608576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7936992" y="1892807"/>
            <a:ext cx="182879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A 2"/>
          <p:cNvSpPr/>
          <p:nvPr/>
        </p:nvSpPr>
        <p:spPr>
          <a:xfrm>
            <a:off x="8193024" y="1353312"/>
            <a:ext cx="3511296" cy="10789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A 2 heading"/>
          <p:cNvSpPr txBox="1"/>
          <p:nvPr/>
        </p:nvSpPr>
        <p:spPr>
          <a:xfrm>
            <a:off x="8357616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hidden entry</a:t>
            </a:r>
          </a:p>
        </p:txBody>
      </p:sp>
      <p:sp>
        <p:nvSpPr>
          <p:cNvPr id="13" name="Freeze A 2 body"/>
          <p:cNvSpPr txBox="1"/>
          <p:nvPr/>
        </p:nvSpPr>
        <p:spPr>
          <a:xfrm>
            <a:off x="8375904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Freeze fields"/>
          <p:cNvSpPr/>
          <p:nvPr/>
        </p:nvSpPr>
        <p:spPr>
          <a:xfrm>
            <a:off x="987552" y="2907792"/>
            <a:ext cx="10040112" cy="12618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fields text"/>
          <p:cNvSpPr txBox="1"/>
          <p:nvPr/>
        </p:nvSpPr>
        <p:spPr>
          <a:xfrm>
            <a:off x="1207008" y="3182112"/>
            <a:ext cx="9601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identity（策略識別） · predecessor identity（前序） · active_block_id（修改區塊）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（情境識別） · seed role（種子角色） · receipt identity（收據識別）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receipt／checkpoint／identity 缺失 → withheld 執行資格暫停；新 </a:t>
            </a:r>
            <a:r>
              <a:rPr sz="19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待取得 current evidence。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A-07：hidden 只檢驗，不再調參</a:t>
            </a:r>
          </a:p>
        </p:txBody>
      </p:sp>
      <p:sp>
        <p:nvSpPr>
          <p:cNvPr id="3" name="Withheld A staged frozen"/>
          <p:cNvSpPr/>
          <p:nvPr/>
        </p:nvSpPr>
        <p:spPr>
          <a:xfrm>
            <a:off x="749808" y="1207008"/>
            <a:ext cx="4956048" cy="34015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A staged frozen heading"/>
          <p:cNvSpPr txBox="1"/>
          <p:nvPr/>
        </p:nvSpPr>
        <p:spPr>
          <a:xfrm>
            <a:off x="914400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5" name="Withheld A staged frozen body"/>
          <p:cNvSpPr txBox="1"/>
          <p:nvPr/>
        </p:nvSpPr>
        <p:spPr>
          <a:xfrm>
            <a:off x="932688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checkpoint（候選快照）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 freeze：0；policy edit：0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replay（事件重播）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withheld：不再調參</a:t>
            </a:r>
          </a:p>
        </p:txBody>
      </p:sp>
      <p:sp>
        <p:nvSpPr>
          <p:cNvPr id="6" name="Withheld A staged trace"/>
          <p:cNvSpPr/>
          <p:nvPr/>
        </p:nvSpPr>
        <p:spPr>
          <a:xfrm>
            <a:off x="6126480" y="1207008"/>
            <a:ext cx="4956048" cy="340156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A staged trace heading"/>
          <p:cNvSpPr txBox="1"/>
          <p:nvPr/>
        </p:nvSpPr>
        <p:spPr>
          <a:xfrm>
            <a:off x="6291072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 HIDDEN｜frozen policy setup</a:t>
            </a:r>
          </a:p>
        </p:txBody>
      </p:sp>
      <p:sp>
        <p:nvSpPr>
          <p:cNvPr id="8" name="Withheld A staged trace body"/>
          <p:cNvSpPr txBox="1"/>
          <p:nvPr/>
        </p:nvSpPr>
        <p:spPr>
          <a:xfrm>
            <a:off x="6309360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hidden contact／traffic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frozen policy identity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不再修改 policy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86460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9286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先保持 policy identity 不變，再讀下一頁 same-scenario-fallback reference summary；Trace B 不再 retune。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結論：state、service 與 J 的因果句</a:t>
            </a:r>
          </a:p>
        </p:txBody>
      </p:sp>
      <p:sp>
        <p:nvSpPr>
          <p:cNvPr id="3" name="Debrief A CONDITION 條件"/>
          <p:cNvSpPr/>
          <p:nvPr/>
        </p:nvSpPr>
        <p:spPr>
          <a:xfrm>
            <a:off x="585216" y="1353312"/>
            <a:ext cx="2523744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brief CONDITION 條件"/>
          <p:cNvSpPr txBox="1"/>
          <p:nvPr/>
        </p:nvSpPr>
        <p:spPr>
          <a:xfrm>
            <a:off x="676656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CONDITION 條件</a:t>
            </a:r>
          </a:p>
        </p:txBody>
      </p:sp>
      <p:cxnSp>
        <p:nvCxnSpPr>
          <p:cNvPr id="5" name="Debrief arrow"/>
          <p:cNvCxnSpPr/>
          <p:nvPr/>
        </p:nvCxnSpPr>
        <p:spPr>
          <a:xfrm>
            <a:off x="3108960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ebrief A MECHANISM 機制"/>
          <p:cNvSpPr/>
          <p:nvPr/>
        </p:nvSpPr>
        <p:spPr>
          <a:xfrm>
            <a:off x="3401568" y="1353312"/>
            <a:ext cx="2523744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MECHANISM 機制"/>
          <p:cNvSpPr txBox="1"/>
          <p:nvPr/>
        </p:nvSpPr>
        <p:spPr>
          <a:xfrm>
            <a:off x="3493008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 機制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5925312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A EVIDENCE 證據"/>
          <p:cNvSpPr/>
          <p:nvPr/>
        </p:nvSpPr>
        <p:spPr>
          <a:xfrm>
            <a:off x="6217920" y="1353312"/>
            <a:ext cx="2523744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EVIDENCE 證據"/>
          <p:cNvSpPr txBox="1"/>
          <p:nvPr/>
        </p:nvSpPr>
        <p:spPr>
          <a:xfrm>
            <a:off x="6309360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EVIDENCE 證據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8741664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A CLAIM CEILING 邊界"/>
          <p:cNvSpPr/>
          <p:nvPr/>
        </p:nvSpPr>
        <p:spPr>
          <a:xfrm>
            <a:off x="9034272" y="1353312"/>
            <a:ext cx="2523744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CLAIM CEILING 邊界"/>
          <p:cNvSpPr txBox="1"/>
          <p:nvPr/>
        </p:nvSpPr>
        <p:spPr>
          <a:xfrm>
            <a:off x="9125712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 CEILING 邊界</a:t>
            </a:r>
          </a:p>
        </p:txBody>
      </p:sp>
      <p:sp>
        <p:nvSpPr>
          <p:cNvPr id="14" name="Debrief A sentence"/>
          <p:cNvSpPr/>
          <p:nvPr/>
        </p:nvSpPr>
        <p:spPr>
          <a:xfrm>
            <a:off x="932688" y="2706624"/>
            <a:ext cx="10186416" cy="135331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A sentence heading"/>
          <p:cNvSpPr txBox="1"/>
          <p:nvPr/>
        </p:nvSpPr>
        <p:spPr>
          <a:xfrm>
            <a:off x="1097280" y="2852928"/>
            <a:ext cx="9857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CAUSAL SENTENCE 因果句</a:t>
            </a:r>
          </a:p>
        </p:txBody>
      </p:sp>
      <p:sp>
        <p:nvSpPr>
          <p:cNvPr id="16" name="Debrief A sentence body"/>
          <p:cNvSpPr txBox="1"/>
          <p:nvPr/>
        </p:nvSpPr>
        <p:spPr>
          <a:xfrm>
            <a:off x="1115568" y="3236976"/>
            <a:ext cx="9820656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在 primary trace，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改變 state ledger；packet／service 與 J 一起判讀；hidden 決定適用範圍。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結論包含 state／transition、packet／service evidence 與適用條件；J 維持為單一欄位。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B：quality hold 與 service window</a:t>
            </a:r>
          </a:p>
        </p:txBody>
      </p:sp>
      <p:sp>
        <p:nvSpPr>
          <p:cNvPr id="3" name="Lab B challenge"/>
          <p:cNvSpPr/>
          <p:nvPr/>
        </p:nvSpPr>
        <p:spPr>
          <a:xfrm>
            <a:off x="786384" y="1078992"/>
            <a:ext cx="5138928" cy="294436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B challenge heading"/>
          <p:cNvSpPr txBox="1"/>
          <p:nvPr/>
        </p:nvSpPr>
        <p:spPr>
          <a:xfrm>
            <a:off x="950976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LAB B CHALLENGE</a:t>
            </a:r>
          </a:p>
        </p:txBody>
      </p:sp>
      <p:sp>
        <p:nvSpPr>
          <p:cNvPr id="5" name="Lab B challenge body"/>
          <p:cNvSpPr txBox="1"/>
          <p:nvPr/>
        </p:nvSpPr>
        <p:spPr>
          <a:xfrm>
            <a:off x="969264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trace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enter / hold / exit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service window</a:t>
            </a:r>
          </a:p>
        </p:txBody>
      </p:sp>
      <p:sp>
        <p:nvSpPr>
          <p:cNvPr id="6" name="Lab B gate"/>
          <p:cNvSpPr/>
          <p:nvPr/>
        </p:nvSpPr>
        <p:spPr>
          <a:xfrm>
            <a:off x="6254496" y="1078992"/>
            <a:ext cx="5138928" cy="29443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b B gat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SUCCESS GATE</a:t>
            </a:r>
          </a:p>
        </p:txBody>
      </p:sp>
      <p:sp>
        <p:nvSpPr>
          <p:cNvPr id="8" name="Lab B gate body"/>
          <p:cNvSpPr txBox="1"/>
          <p:nvPr/>
        </p:nvSpPr>
        <p:spPr>
          <a:xfrm>
            <a:off x="6437376" y="1609343"/>
            <a:ext cx="4773168" cy="22860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固定 scenario／seed／traffic／window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delivered／deadline／freshness 定義 service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作為 energy 欄位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界定適用範圍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4348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quality_band + stable_steps → REST／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→ packet／deadline／service → </a:t>
            </a:r>
            <a:r>
              <a:rPr sz="19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：send-ready 的進入閾值</a:t>
            </a:r>
          </a:p>
        </p:txBody>
      </p:sp>
      <p:sp>
        <p:nvSpPr>
          <p:cNvPr id="3" name="Enter lead"/>
          <p:cNvSpPr txBox="1"/>
          <p:nvPr/>
        </p:nvSpPr>
        <p:spPr>
          <a:xfrm>
            <a:off x="914400" y="1078992"/>
            <a:ext cx="103144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切換條件：quality band ≥ 2 且 stable_steps ≥ 2 → send-ready。</a:t>
            </a:r>
          </a:p>
        </p:txBody>
      </p:sp>
      <p:sp>
        <p:nvSpPr>
          <p:cNvPr id="4" name="Quality level 0"/>
          <p:cNvSpPr/>
          <p:nvPr/>
        </p:nvSpPr>
        <p:spPr>
          <a:xfrm>
            <a:off x="1847088" y="3639312"/>
            <a:ext cx="2779776" cy="420624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Quality level 0 label"/>
          <p:cNvSpPr txBox="1"/>
          <p:nvPr/>
        </p:nvSpPr>
        <p:spPr>
          <a:xfrm>
            <a:off x="1975104" y="373075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0</a:t>
            </a:r>
          </a:p>
        </p:txBody>
      </p:sp>
      <p:sp>
        <p:nvSpPr>
          <p:cNvPr id="6" name="Quality level 1"/>
          <p:cNvSpPr/>
          <p:nvPr/>
        </p:nvSpPr>
        <p:spPr>
          <a:xfrm>
            <a:off x="1847088" y="3090672"/>
            <a:ext cx="2779776" cy="420624"/>
          </a:xfrm>
          <a:prstGeom prst="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Quality level 1 label"/>
          <p:cNvSpPr txBox="1"/>
          <p:nvPr/>
        </p:nvSpPr>
        <p:spPr>
          <a:xfrm>
            <a:off x="1975104" y="318211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1</a:t>
            </a:r>
          </a:p>
        </p:txBody>
      </p:sp>
      <p:sp>
        <p:nvSpPr>
          <p:cNvPr id="8" name="Quality level 2"/>
          <p:cNvSpPr/>
          <p:nvPr/>
        </p:nvSpPr>
        <p:spPr>
          <a:xfrm>
            <a:off x="1847088" y="2542032"/>
            <a:ext cx="2779776" cy="420624"/>
          </a:xfrm>
          <a:prstGeom prst="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ality level 2 label"/>
          <p:cNvSpPr txBox="1"/>
          <p:nvPr/>
        </p:nvSpPr>
        <p:spPr>
          <a:xfrm>
            <a:off x="1975104" y="263347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2</a:t>
            </a:r>
          </a:p>
        </p:txBody>
      </p:sp>
      <p:sp>
        <p:nvSpPr>
          <p:cNvPr id="10" name="Quality level 3"/>
          <p:cNvSpPr/>
          <p:nvPr/>
        </p:nvSpPr>
        <p:spPr>
          <a:xfrm>
            <a:off x="1847088" y="1993392"/>
            <a:ext cx="2779776" cy="420624"/>
          </a:xfrm>
          <a:prstGeom prst="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ality level 3 label"/>
          <p:cNvSpPr txBox="1"/>
          <p:nvPr/>
        </p:nvSpPr>
        <p:spPr>
          <a:xfrm>
            <a:off x="1975104" y="208483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quality 3</a:t>
            </a:r>
          </a:p>
        </p:txBody>
      </p:sp>
      <p:cxnSp>
        <p:nvCxnSpPr>
          <p:cNvPr id="12" name="Enter threshold"/>
          <p:cNvCxnSpPr/>
          <p:nvPr/>
        </p:nvCxnSpPr>
        <p:spPr>
          <a:xfrm>
            <a:off x="4663440" y="2176272"/>
            <a:ext cx="2670048" cy="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nter gate"/>
          <p:cNvSpPr/>
          <p:nvPr/>
        </p:nvSpPr>
        <p:spPr>
          <a:xfrm>
            <a:off x="7534656" y="1517904"/>
            <a:ext cx="3383280" cy="19933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nter gate heading"/>
          <p:cNvSpPr txBox="1"/>
          <p:nvPr/>
        </p:nvSpPr>
        <p:spPr>
          <a:xfrm>
            <a:off x="7699248" y="1664207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ENTER GATE 進入條件</a:t>
            </a:r>
          </a:p>
        </p:txBody>
      </p:sp>
      <p:sp>
        <p:nvSpPr>
          <p:cNvPr id="15" name="Enter gate body"/>
          <p:cNvSpPr txBox="1"/>
          <p:nvPr/>
        </p:nvSpPr>
        <p:spPr>
          <a:xfrm>
            <a:off x="7717536" y="2048255"/>
            <a:ext cx="3017520" cy="133502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（進入）=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（穩定）=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</a:t>
            </a:r>
            <a:r>
              <a:rPr sz="19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（可送）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threshold 是 decision gate；transition 時機會改變 queue／attempt／deadline。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：enter／exit 的雙閾值</a:t>
            </a:r>
          </a:p>
        </p:txBody>
      </p:sp>
      <p:sp>
        <p:nvSpPr>
          <p:cNvPr id="3" name="Exit lead"/>
          <p:cNvSpPr txBox="1"/>
          <p:nvPr/>
        </p:nvSpPr>
        <p:spPr>
          <a:xfrm>
            <a:off x="914400" y="1078992"/>
            <a:ext cx="1031443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 與 exit 分離；已進入 mode 遇到單一低點時維持狀態。</a:t>
            </a:r>
          </a:p>
        </p:txBody>
      </p:sp>
      <p:cxnSp>
        <p:nvCxnSpPr>
          <p:cNvPr id="4" name="Enter line"/>
          <p:cNvCxnSpPr/>
          <p:nvPr/>
        </p:nvCxnSpPr>
        <p:spPr>
          <a:xfrm>
            <a:off x="1188720" y="2176272"/>
            <a:ext cx="9436608" cy="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xit line"/>
          <p:cNvCxnSpPr/>
          <p:nvPr/>
        </p:nvCxnSpPr>
        <p:spPr>
          <a:xfrm>
            <a:off x="1188720" y="3675887"/>
            <a:ext cx="9436608" cy="0"/>
          </a:xfrm>
          <a:prstGeom prst="line">
            <a:avLst/>
          </a:prstGeom>
          <a:ln w="2540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nter threshold label"/>
          <p:cNvSpPr txBox="1"/>
          <p:nvPr/>
        </p:nvSpPr>
        <p:spPr>
          <a:xfrm>
            <a:off x="1225296" y="1792224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ENTER ≥ 2</a:t>
            </a:r>
          </a:p>
        </p:txBody>
      </p:sp>
      <p:sp>
        <p:nvSpPr>
          <p:cNvPr id="7" name="Exit threshold label"/>
          <p:cNvSpPr txBox="1"/>
          <p:nvPr/>
        </p:nvSpPr>
        <p:spPr>
          <a:xfrm>
            <a:off x="1225296" y="3291840"/>
            <a:ext cx="226771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 &lt; 1</a:t>
            </a:r>
          </a:p>
        </p:txBody>
      </p:sp>
      <p:sp>
        <p:nvSpPr>
          <p:cNvPr id="8" name="Hysteresis band"/>
          <p:cNvSpPr/>
          <p:nvPr/>
        </p:nvSpPr>
        <p:spPr>
          <a:xfrm>
            <a:off x="3877056" y="2468880"/>
            <a:ext cx="4315968" cy="113385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ysteresis band heading"/>
          <p:cNvSpPr txBox="1"/>
          <p:nvPr/>
        </p:nvSpPr>
        <p:spPr>
          <a:xfrm>
            <a:off x="4041648" y="2615184"/>
            <a:ext cx="3986783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HYSTERESIS BAND</a:t>
            </a:r>
          </a:p>
        </p:txBody>
      </p:sp>
      <p:sp>
        <p:nvSpPr>
          <p:cNvPr id="10" name="Hysteresis band body"/>
          <p:cNvSpPr txBox="1"/>
          <p:nvPr/>
        </p:nvSpPr>
        <p:spPr>
          <a:xfrm>
            <a:off x="4059936" y="2999232"/>
            <a:ext cx="3950207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1：保持 send-ready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&lt; 1：退出</a:t>
            </a:r>
          </a:p>
        </p:txBody>
      </p:sp>
      <p:sp>
        <p:nvSpPr>
          <p:cNvPr id="11" name="Teaching takeaway"/>
          <p:cNvSpPr/>
          <p:nvPr/>
        </p:nvSpPr>
        <p:spPr>
          <a:xfrm>
            <a:off x="786384" y="453542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ching takeaway text"/>
          <p:cNvSpPr txBox="1"/>
          <p:nvPr/>
        </p:nvSpPr>
        <p:spPr>
          <a:xfrm>
            <a:off x="950976" y="459943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hysteresis 可能減少 ping-pong；仍要用 transition、retry、service、J 驗證。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：拒絕短暫尖峰</a:t>
            </a:r>
          </a:p>
        </p:txBody>
      </p:sp>
      <p:sp>
        <p:nvSpPr>
          <p:cNvPr id="3" name="Stable lead"/>
          <p:cNvSpPr txBox="1"/>
          <p:nvPr/>
        </p:nvSpPr>
        <p:spPr>
          <a:xfrm>
            <a:off x="877824" y="1078992"/>
            <a:ext cx="1038758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短 hold 改變 transition timing；長 hold 增加穩定條件；service window 定義 outcome。</a:t>
            </a:r>
          </a:p>
        </p:txBody>
      </p:sp>
      <p:sp>
        <p:nvSpPr>
          <p:cNvPr id="4" name="Stable spike"/>
          <p:cNvSpPr/>
          <p:nvPr/>
        </p:nvSpPr>
        <p:spPr>
          <a:xfrm>
            <a:off x="822960" y="1627632"/>
            <a:ext cx="4974336" cy="230428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ble spike heading"/>
          <p:cNvSpPr txBox="1"/>
          <p:nvPr/>
        </p:nvSpPr>
        <p:spPr>
          <a:xfrm>
            <a:off x="987552" y="1773936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短暫 SPIKE</a:t>
            </a:r>
          </a:p>
        </p:txBody>
      </p:sp>
      <p:sp>
        <p:nvSpPr>
          <p:cNvPr id="6" name="Stable spike body"/>
          <p:cNvSpPr txBox="1"/>
          <p:nvPr/>
        </p:nvSpPr>
        <p:spPr>
          <a:xfrm>
            <a:off x="1005840" y="2157984"/>
            <a:ext cx="4608576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branch 讀 quality_band／stable_steps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 1：單步觀察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=2（穩定步數）→ hold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不直接產生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7" name="Stable hold"/>
          <p:cNvSpPr/>
          <p:nvPr/>
        </p:nvSpPr>
        <p:spPr>
          <a:xfrm>
            <a:off x="6217920" y="1627632"/>
            <a:ext cx="4974336" cy="230428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ble hold heading"/>
          <p:cNvSpPr txBox="1"/>
          <p:nvPr/>
        </p:nvSpPr>
        <p:spPr>
          <a:xfrm>
            <a:off x="6382512" y="1773936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連續穩定</a:t>
            </a:r>
          </a:p>
        </p:txBody>
      </p:sp>
      <p:sp>
        <p:nvSpPr>
          <p:cNvPr id="9" name="Stable hold body"/>
          <p:cNvSpPr txBox="1"/>
          <p:nvPr/>
        </p:nvSpPr>
        <p:spPr>
          <a:xfrm>
            <a:off x="6400800" y="2157984"/>
            <a:ext cx="4608576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lora_energy_lab/engine.py 每個 clock step 讀 global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step 1 → step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=2 → </a:t>
            </a: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send_mode_active → true</a:t>
            </a:r>
          </a:p>
        </p:txBody>
      </p:sp>
      <p:cxnSp>
        <p:nvCxnSpPr>
          <p:cNvPr id="10" name="Stable comparison"/>
          <p:cNvCxnSpPr/>
          <p:nvPr/>
        </p:nvCxnSpPr>
        <p:spPr>
          <a:xfrm>
            <a:off x="5833872" y="2779776"/>
            <a:ext cx="31089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aching takeaway"/>
          <p:cNvSpPr/>
          <p:nvPr/>
        </p:nvSpPr>
        <p:spPr>
          <a:xfrm>
            <a:off x="786384" y="431596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aching takeaway text"/>
          <p:cNvSpPr txBox="1"/>
          <p:nvPr/>
        </p:nvSpPr>
        <p:spPr>
          <a:xfrm>
            <a:off x="950976" y="437997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 唯一修改：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1；Prediction 定位 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，再讀 packet／service／J。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Trace A：transition prediction 與執行</a:t>
            </a:r>
          </a:p>
        </p:txBody>
      </p:sp>
      <p:sp>
        <p:nvSpPr>
          <p:cNvPr id="3" name="Prediction lead"/>
          <p:cNvSpPr txBox="1"/>
          <p:nvPr/>
        </p:nvSpPr>
        <p:spPr>
          <a:xfrm>
            <a:off x="896112" y="1078992"/>
            <a:ext cx="10369296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A 標示 enter、hold、exit；</a:t>
            </a:r>
            <a:r>
              <a:rPr sz="2000" b="0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service evidence 對 prediction 形成支持或反駁。</a:t>
            </a:r>
          </a:p>
        </p:txBody>
      </p:sp>
      <p:cxnSp>
        <p:nvCxnSpPr>
          <p:cNvPr id="4" name="Trace axis"/>
          <p:cNvCxnSpPr/>
          <p:nvPr/>
        </p:nvCxnSpPr>
        <p:spPr>
          <a:xfrm>
            <a:off x="987552" y="2322576"/>
            <a:ext cx="9729216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Trace A quality"/>
          <p:cNvCxnSpPr/>
          <p:nvPr/>
        </p:nvCxnSpPr>
        <p:spPr>
          <a:xfrm flipV="1">
            <a:off x="1115568" y="3054096"/>
            <a:ext cx="1097280" cy="146304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Trace A quality"/>
          <p:cNvCxnSpPr/>
          <p:nvPr/>
        </p:nvCxnSpPr>
        <p:spPr>
          <a:xfrm flipV="1">
            <a:off x="2212848" y="2615184"/>
            <a:ext cx="1024128" cy="438912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ce A quality"/>
          <p:cNvCxnSpPr/>
          <p:nvPr/>
        </p:nvCxnSpPr>
        <p:spPr>
          <a:xfrm flipV="1">
            <a:off x="3236976" y="2103120"/>
            <a:ext cx="1024128" cy="512064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race A quality"/>
          <p:cNvCxnSpPr/>
          <p:nvPr/>
        </p:nvCxnSpPr>
        <p:spPr>
          <a:xfrm>
            <a:off x="4261104" y="2103120"/>
            <a:ext cx="1024128" cy="219456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race A quality"/>
          <p:cNvCxnSpPr/>
          <p:nvPr/>
        </p:nvCxnSpPr>
        <p:spPr>
          <a:xfrm flipV="1">
            <a:off x="5285232" y="2011680"/>
            <a:ext cx="1024128" cy="310896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race A quality"/>
          <p:cNvCxnSpPr/>
          <p:nvPr/>
        </p:nvCxnSpPr>
        <p:spPr>
          <a:xfrm>
            <a:off x="6309360" y="2011680"/>
            <a:ext cx="1024128" cy="109728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race A quality"/>
          <p:cNvCxnSpPr/>
          <p:nvPr/>
        </p:nvCxnSpPr>
        <p:spPr>
          <a:xfrm>
            <a:off x="7333488" y="2121408"/>
            <a:ext cx="1024128" cy="73152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Trace A quality"/>
          <p:cNvCxnSpPr/>
          <p:nvPr/>
        </p:nvCxnSpPr>
        <p:spPr>
          <a:xfrm>
            <a:off x="8357616" y="2852928"/>
            <a:ext cx="1042416" cy="201168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race A quality"/>
          <p:cNvCxnSpPr/>
          <p:nvPr/>
        </p:nvCxnSpPr>
        <p:spPr>
          <a:xfrm>
            <a:off x="9400032" y="3054096"/>
            <a:ext cx="1024128" cy="182880"/>
          </a:xfrm>
          <a:prstGeom prst="line">
            <a:avLst/>
          </a:prstGeom>
          <a:ln w="25400">
            <a:solidFill>
              <a:srgbClr val="007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ace point"/>
          <p:cNvSpPr/>
          <p:nvPr/>
        </p:nvSpPr>
        <p:spPr>
          <a:xfrm>
            <a:off x="1051560" y="313639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ce point"/>
          <p:cNvSpPr/>
          <p:nvPr/>
        </p:nvSpPr>
        <p:spPr>
          <a:xfrm>
            <a:off x="2148840" y="299008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race point"/>
          <p:cNvSpPr/>
          <p:nvPr/>
        </p:nvSpPr>
        <p:spPr>
          <a:xfrm>
            <a:off x="3172968" y="2551176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ce point"/>
          <p:cNvSpPr/>
          <p:nvPr/>
        </p:nvSpPr>
        <p:spPr>
          <a:xfrm>
            <a:off x="4197096" y="203911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ce point"/>
          <p:cNvSpPr/>
          <p:nvPr/>
        </p:nvSpPr>
        <p:spPr>
          <a:xfrm>
            <a:off x="5221224" y="225856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race point"/>
          <p:cNvSpPr/>
          <p:nvPr/>
        </p:nvSpPr>
        <p:spPr>
          <a:xfrm>
            <a:off x="6245352" y="1947672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ce point"/>
          <p:cNvSpPr/>
          <p:nvPr/>
        </p:nvSpPr>
        <p:spPr>
          <a:xfrm>
            <a:off x="7269479" y="2057400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ce point"/>
          <p:cNvSpPr/>
          <p:nvPr/>
        </p:nvSpPr>
        <p:spPr>
          <a:xfrm>
            <a:off x="8293608" y="2788920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ce point"/>
          <p:cNvSpPr/>
          <p:nvPr/>
        </p:nvSpPr>
        <p:spPr>
          <a:xfrm>
            <a:off x="9336024" y="299008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ce point"/>
          <p:cNvSpPr/>
          <p:nvPr/>
        </p:nvSpPr>
        <p:spPr>
          <a:xfrm>
            <a:off x="10360152" y="3172968"/>
            <a:ext cx="128016" cy="128016"/>
          </a:xfrm>
          <a:prstGeom prst="ellipse">
            <a:avLst/>
          </a:prstGeom>
          <a:solidFill>
            <a:srgbClr val="007374"/>
          </a:solidFill>
          <a:ln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iction marker enter?"/>
          <p:cNvSpPr/>
          <p:nvPr/>
        </p:nvSpPr>
        <p:spPr>
          <a:xfrm>
            <a:off x="3840480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ediction marker enter? text"/>
          <p:cNvSpPr txBox="1"/>
          <p:nvPr/>
        </p:nvSpPr>
        <p:spPr>
          <a:xfrm>
            <a:off x="3895344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enter?</a:t>
            </a:r>
          </a:p>
        </p:txBody>
      </p:sp>
      <p:sp>
        <p:nvSpPr>
          <p:cNvPr id="26" name="Prediction marker hold?"/>
          <p:cNvSpPr/>
          <p:nvPr/>
        </p:nvSpPr>
        <p:spPr>
          <a:xfrm>
            <a:off x="5888736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ediction marker hold? text"/>
          <p:cNvSpPr txBox="1"/>
          <p:nvPr/>
        </p:nvSpPr>
        <p:spPr>
          <a:xfrm>
            <a:off x="5943600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hold?</a:t>
            </a:r>
          </a:p>
        </p:txBody>
      </p:sp>
      <p:sp>
        <p:nvSpPr>
          <p:cNvPr id="28" name="Prediction marker exit?"/>
          <p:cNvSpPr/>
          <p:nvPr/>
        </p:nvSpPr>
        <p:spPr>
          <a:xfrm>
            <a:off x="7936992" y="3547872"/>
            <a:ext cx="841248" cy="384048"/>
          </a:xfrm>
          <a:prstGeom prst="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ediction marker exit? text"/>
          <p:cNvSpPr txBox="1"/>
          <p:nvPr/>
        </p:nvSpPr>
        <p:spPr>
          <a:xfrm>
            <a:off x="7991856" y="362102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exit?</a:t>
            </a:r>
          </a:p>
        </p:txBody>
      </p:sp>
      <p:sp>
        <p:nvSpPr>
          <p:cNvPr id="30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enter（進入 step）：____；hold（穩定步數）：____；exit（quality 閾值）：____；service／J：____ 因為 ____。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B-01a：Baseline decision 與 Trace A evidence</a:t>
            </a:r>
          </a:p>
        </p:txBody>
      </p:sp>
      <p:sp>
        <p:nvSpPr>
          <p:cNvPr id="3" name="Baseline B decision"/>
          <p:cNvSpPr/>
          <p:nvPr/>
        </p:nvSpPr>
        <p:spPr>
          <a:xfrm>
            <a:off x="749808" y="1078992"/>
            <a:ext cx="5138928" cy="3127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B decision heading"/>
          <p:cNvSpPr txBox="1"/>
          <p:nvPr/>
        </p:nvSpPr>
        <p:spPr>
          <a:xfrm>
            <a:off x="914400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 PREDECESSOR + B BASELINE</a:t>
            </a:r>
          </a:p>
        </p:txBody>
      </p:sp>
      <p:sp>
        <p:nvSpPr>
          <p:cNvPr id="5" name="Baseline B decision body"/>
          <p:cNvSpPr txBox="1"/>
          <p:nvPr/>
        </p:nvSpPr>
        <p:spPr>
          <a:xfrm>
            <a:off x="932688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保持 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≥ 2 且 stable_steps ≥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切換 send-ready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engine 建立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6" name="Baseline B evidence"/>
          <p:cNvSpPr/>
          <p:nvPr/>
        </p:nvSpPr>
        <p:spPr>
          <a:xfrm>
            <a:off x="6254496" y="1078992"/>
            <a:ext cx="5138928" cy="3127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seline B evidence heading"/>
          <p:cNvSpPr txBox="1"/>
          <p:nvPr/>
        </p:nvSpPr>
        <p:spPr>
          <a:xfrm>
            <a:off x="6419088" y="1225295"/>
            <a:ext cx="48097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READ CONTROL EVIDENCE</a:t>
            </a:r>
          </a:p>
        </p:txBody>
      </p:sp>
      <p:sp>
        <p:nvSpPr>
          <p:cNvPr id="8" name="Baseline B evidence body"/>
          <p:cNvSpPr txBox="1"/>
          <p:nvPr/>
        </p:nvSpPr>
        <p:spPr>
          <a:xfrm>
            <a:off x="6437376" y="1609343"/>
            <a:ext cx="4773168" cy="24688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receipt：status／run_id／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同目錄 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：REST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130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 欄位見下一頁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來源：P056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</a:p>
        </p:txBody>
      </p:sp>
      <p:sp>
        <p:nvSpPr>
          <p:cNvPr id="9" name="Baseline command B"/>
          <p:cNvSpPr/>
          <p:nvPr/>
        </p:nvSpPr>
        <p:spPr>
          <a:xfrm>
            <a:off x="749808" y="4370832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seline WSL B"/>
          <p:cNvSpPr txBox="1"/>
          <p:nvPr/>
        </p:nvSpPr>
        <p:spPr>
          <a:xfrm>
            <a:off x="932688" y="4462272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POSIX：bash course.sh run --lab B --case trace-a-baseline</a:t>
            </a:r>
          </a:p>
        </p:txBody>
      </p:sp>
      <p:sp>
        <p:nvSpPr>
          <p:cNvPr id="11" name="Baseline PowerShell B"/>
          <p:cNvSpPr txBox="1"/>
          <p:nvPr/>
        </p:nvSpPr>
        <p:spPr>
          <a:xfrm>
            <a:off x="932688" y="4718304"/>
            <a:ext cx="10222992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PowerShell：.\course.cmd run --lab B --case trace-a-baseline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B-01b：Trace A baseline summary fields</a:t>
            </a:r>
          </a:p>
        </p:txBody>
      </p:sp>
      <p:sp>
        <p:nvSpPr>
          <p:cNvPr id="3" name="Baseline B result summary"/>
          <p:cNvSpPr/>
          <p:nvPr/>
        </p:nvSpPr>
        <p:spPr>
          <a:xfrm>
            <a:off x="749808" y="1170432"/>
            <a:ext cx="10588752" cy="3621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seline B result summary heading"/>
          <p:cNvSpPr txBox="1"/>
          <p:nvPr/>
        </p:nvSpPr>
        <p:spPr>
          <a:xfrm>
            <a:off x="914400" y="1316736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TRACE A BASELINE｜summary fields</a:t>
            </a:r>
          </a:p>
        </p:txBody>
      </p:sp>
      <p:sp>
        <p:nvSpPr>
          <p:cNvPr id="5" name="Baseline B result summary body"/>
          <p:cNvSpPr txBox="1"/>
          <p:nvPr/>
        </p:nvSpPr>
        <p:spPr>
          <a:xfrm>
            <a:off x="932688" y="1700784"/>
            <a:ext cx="10222992" cy="2962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 · 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8.86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541.760722 bit/J · wake = 1 · attempt = 2 · retry = 1 · expired =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predecessor 保持 frozen；B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2；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：REST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130 s；active_s = 8；較快 transition 不等於 service success</a:t>
            </a:r>
          </a:p>
        </p:txBody>
      </p:sp>
      <p:sp>
        <p:nvSpPr>
          <p:cNvPr id="6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來源：stdout 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→ artifacts/&lt;run_id&gt;/result.json；同 run endpoint-replay.json；欄位一起判讀。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B-02a：path 與 BEFORE 完整 marked block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before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before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BEFORE｜完整 marked block</a:t>
            </a:r>
          </a:p>
        </p:txBody>
      </p:sp>
      <p:sp>
        <p:nvSpPr>
          <p:cNvPr id="6" name="Edit B staged before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baseline bytes：保留完整 marker；下一頁只看唯一 edit 的 AFTER block。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B-02d：AFTER 完整 marked block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after"/>
          <p:cNvSpPr/>
          <p:nvPr/>
        </p:nvSpPr>
        <p:spPr>
          <a:xfrm>
            <a:off x="658368" y="1444752"/>
            <a:ext cx="10881360" cy="332841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aft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AFTER｜完整 marked block</a:t>
            </a:r>
          </a:p>
        </p:txBody>
      </p:sp>
      <p:sp>
        <p:nvSpPr>
          <p:cNvPr id="6" name="Edit B staged after code"/>
          <p:cNvSpPr txBox="1"/>
          <p:nvPr/>
        </p:nvSpPr>
        <p:spPr>
          <a:xfrm>
            <a:off x="859536" y="1792224"/>
            <a:ext cx="10479024" cy="288950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# === LORA END EDITABLE: lab-b-enter-exit-hold ===</a:t>
            </a:r>
          </a:p>
        </p:txBody>
      </p:sp>
      <p:sp>
        <p:nvSpPr>
          <p:cNvPr id="7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、其他 block 不動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B-02b：WSL 與 PowerShell edit commands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WSL commands"/>
          <p:cNvSpPr/>
          <p:nvPr/>
        </p:nvSpPr>
        <p:spPr>
          <a:xfrm>
            <a:off x="658368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WSL commands heading"/>
          <p:cNvSpPr txBox="1"/>
          <p:nvPr/>
        </p:nvSpPr>
        <p:spPr>
          <a:xfrm>
            <a:off x="822959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 / POSIX exact</a:t>
            </a:r>
          </a:p>
        </p:txBody>
      </p:sp>
      <p:sp>
        <p:nvSpPr>
          <p:cNvPr id="6" name="Edit B staged WSL commands code"/>
          <p:cNvSpPr txBox="1"/>
          <p:nvPr/>
        </p:nvSpPr>
        <p:spPr>
          <a:xfrm>
            <a:off x="859536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student_policy.before-B-edit.py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編輯器範例：nano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7" name="Edit B staged PowerShell commands"/>
          <p:cNvSpPr/>
          <p:nvPr/>
        </p:nvSpPr>
        <p:spPr>
          <a:xfrm>
            <a:off x="6217920" y="1444752"/>
            <a:ext cx="5321808" cy="340156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B staged PowerShell commands heading"/>
          <p:cNvSpPr txBox="1"/>
          <p:nvPr/>
        </p:nvSpPr>
        <p:spPr>
          <a:xfrm>
            <a:off x="6382512" y="1536192"/>
            <a:ext cx="4992624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 exact</a:t>
            </a:r>
          </a:p>
        </p:txBody>
      </p:sp>
      <p:sp>
        <p:nvSpPr>
          <p:cNvPr id="9" name="Edit B staged PowerShell commands code"/>
          <p:cNvSpPr txBox="1"/>
          <p:nvPr/>
        </p:nvSpPr>
        <p:spPr>
          <a:xfrm>
            <a:off x="6419088" y="1792224"/>
            <a:ext cx="4919472" cy="29626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Copy-Item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-Destination student_policy.before-B-edit.py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編輯器範例：notepad .\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0" name="Teaching takeaway"/>
          <p:cNvSpPr/>
          <p:nvPr/>
        </p:nvSpPr>
        <p:spPr>
          <a:xfrm>
            <a:off x="786384" y="479145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85546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順序：backup → 開檔並修改 → py_compile；compile 只驗 syntax，尚未驗 marker、API、predecessor 或 result。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B-02c：consumer、function location 與唯一修改</a:t>
            </a:r>
          </a:p>
        </p:txBody>
      </p:sp>
      <p:sp>
        <p:nvSpPr>
          <p:cNvPr id="3" name="Edit B package path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package-relative file：lora-energy-lab/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4" name="Edit B staged consumer"/>
          <p:cNvSpPr/>
          <p:nvPr/>
        </p:nvSpPr>
        <p:spPr>
          <a:xfrm>
            <a:off x="658368" y="1444752"/>
            <a:ext cx="10881360" cy="162763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 B staged consumer heading"/>
          <p:cNvSpPr txBox="1"/>
          <p:nvPr/>
        </p:nvSpPr>
        <p:spPr>
          <a:xfrm>
            <a:off x="822959" y="153619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MARKER 外 consumer／function boundary</a:t>
            </a:r>
          </a:p>
        </p:txBody>
      </p:sp>
      <p:sp>
        <p:nvSpPr>
          <p:cNvPr id="6" name="Edit B staged consumer code"/>
          <p:cNvSpPr txBox="1"/>
          <p:nvPr/>
        </p:nvSpPr>
        <p:spPr>
          <a:xfrm>
            <a:off x="859536" y="1792224"/>
            <a:ext cx="10479024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marker 外 consumer：function choose_action(observation)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:116–118；observation.quality_band &gt;=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ENTER_QUALITY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observation.stable_steps &gt;=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run_simulation：lora_energy_lab/engine.py:238–249 → engine 建立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7" name="Edit B staged unique change"/>
          <p:cNvSpPr/>
          <p:nvPr/>
        </p:nvSpPr>
        <p:spPr>
          <a:xfrm>
            <a:off x="786384" y="331012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 B staged unique change text"/>
          <p:cNvSpPr txBox="1"/>
          <p:nvPr/>
        </p:nvSpPr>
        <p:spPr>
          <a:xfrm>
            <a:off x="950976" y="337413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唯一改動：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= 2 → 1；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、其他 block 不動</a:t>
            </a:r>
          </a:p>
        </p:txBody>
      </p:sp>
      <p:sp>
        <p:nvSpPr>
          <p:cNvPr id="9" name="Edit B staged interpretation"/>
          <p:cNvSpPr/>
          <p:nvPr/>
        </p:nvSpPr>
        <p:spPr>
          <a:xfrm>
            <a:off x="658368" y="4005072"/>
            <a:ext cx="10881360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 B staged interpretation heading"/>
          <p:cNvSpPr txBox="1"/>
          <p:nvPr/>
        </p:nvSpPr>
        <p:spPr>
          <a:xfrm>
            <a:off x="822959" y="4096511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WHY／EXPECT／INTERPRET</a:t>
            </a:r>
          </a:p>
        </p:txBody>
      </p:sp>
      <p:sp>
        <p:nvSpPr>
          <p:cNvPr id="11" name="Edit B staged interpretation code"/>
          <p:cNvSpPr txBox="1"/>
          <p:nvPr/>
        </p:nvSpPr>
        <p:spPr>
          <a:xfrm>
            <a:off x="859536" y="4352544"/>
            <a:ext cx="10479024" cy="8961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Why：ENTER = 2、EXIT = 1；stable hold：2 → 1。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Expect：engine 建立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；較早 transition 不等於 service success。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Interpret：result／replay 判定 service、deadline、freshness、J。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B-03a：Trace A baseline、candidate 與 Trace B commands</a:t>
            </a:r>
          </a:p>
        </p:txBody>
      </p:sp>
      <p:sp>
        <p:nvSpPr>
          <p:cNvPr id="3" name="Exact run commands B"/>
          <p:cNvSpPr/>
          <p:nvPr/>
        </p:nvSpPr>
        <p:spPr>
          <a:xfrm>
            <a:off x="658368" y="1133856"/>
            <a:ext cx="10881360" cy="30906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command OS heading B"/>
          <p:cNvSpPr txBox="1"/>
          <p:nvPr/>
        </p:nvSpPr>
        <p:spPr>
          <a:xfrm>
            <a:off x="859536" y="1207008"/>
            <a:ext cx="10479024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逐行 copy boundary｜WSL / POSIX + Windows PowerShell</a:t>
            </a:r>
          </a:p>
        </p:txBody>
      </p:sp>
      <p:sp>
        <p:nvSpPr>
          <p:cNvPr id="5" name="Run row label B 0"/>
          <p:cNvSpPr txBox="1"/>
          <p:nvPr/>
        </p:nvSpPr>
        <p:spPr>
          <a:xfrm>
            <a:off x="841248" y="149961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1  TRACE A · WSL</a:t>
            </a:r>
          </a:p>
        </p:txBody>
      </p:sp>
      <p:sp>
        <p:nvSpPr>
          <p:cNvPr id="6" name="Run exact command B 0"/>
          <p:cNvSpPr txBox="1"/>
          <p:nvPr/>
        </p:nvSpPr>
        <p:spPr>
          <a:xfrm>
            <a:off x="3419856" y="14996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</p:txBody>
      </p:sp>
      <p:sp>
        <p:nvSpPr>
          <p:cNvPr id="7" name="Run row label B 1"/>
          <p:cNvSpPr txBox="1"/>
          <p:nvPr/>
        </p:nvSpPr>
        <p:spPr>
          <a:xfrm>
            <a:off x="841248" y="1901952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1  TRACE A · PowerShell</a:t>
            </a:r>
          </a:p>
        </p:txBody>
      </p:sp>
      <p:sp>
        <p:nvSpPr>
          <p:cNvPr id="8" name="Run exact command B 1"/>
          <p:cNvSpPr txBox="1"/>
          <p:nvPr/>
        </p:nvSpPr>
        <p:spPr>
          <a:xfrm>
            <a:off x="3419856" y="19019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B --case trace-a-baseline</a:t>
            </a:r>
          </a:p>
        </p:txBody>
      </p:sp>
      <p:sp>
        <p:nvSpPr>
          <p:cNvPr id="9" name="Run row label B 2"/>
          <p:cNvSpPr txBox="1"/>
          <p:nvPr/>
        </p:nvSpPr>
        <p:spPr>
          <a:xfrm>
            <a:off x="841248" y="2304288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2  CANDIDATE · WSL</a:t>
            </a:r>
          </a:p>
        </p:txBody>
      </p:sp>
      <p:sp>
        <p:nvSpPr>
          <p:cNvPr id="10" name="Run exact command B 2"/>
          <p:cNvSpPr txBox="1"/>
          <p:nvPr/>
        </p:nvSpPr>
        <p:spPr>
          <a:xfrm>
            <a:off x="3419856" y="23042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</p:txBody>
      </p:sp>
      <p:sp>
        <p:nvSpPr>
          <p:cNvPr id="11" name="Run row label B 3"/>
          <p:cNvSpPr txBox="1"/>
          <p:nvPr/>
        </p:nvSpPr>
        <p:spPr>
          <a:xfrm>
            <a:off x="841248" y="2706624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2  CANDIDATE · PowerShell</a:t>
            </a:r>
          </a:p>
        </p:txBody>
      </p:sp>
      <p:sp>
        <p:nvSpPr>
          <p:cNvPr id="12" name="Run exact command B 3"/>
          <p:cNvSpPr txBox="1"/>
          <p:nvPr/>
        </p:nvSpPr>
        <p:spPr>
          <a:xfrm>
            <a:off x="3419856" y="270662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B --case trace-a-candidate --freeze</a:t>
            </a:r>
          </a:p>
        </p:txBody>
      </p:sp>
      <p:sp>
        <p:nvSpPr>
          <p:cNvPr id="13" name="Run row label B 4"/>
          <p:cNvSpPr txBox="1"/>
          <p:nvPr/>
        </p:nvSpPr>
        <p:spPr>
          <a:xfrm>
            <a:off x="841248" y="310896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3  TRACE B · WSL</a:t>
            </a:r>
          </a:p>
        </p:txBody>
      </p:sp>
      <p:sp>
        <p:nvSpPr>
          <p:cNvPr id="14" name="Run exact command B 4"/>
          <p:cNvSpPr txBox="1"/>
          <p:nvPr/>
        </p:nvSpPr>
        <p:spPr>
          <a:xfrm>
            <a:off x="3419856" y="3108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B --case trace-b</a:t>
            </a:r>
          </a:p>
        </p:txBody>
      </p:sp>
      <p:sp>
        <p:nvSpPr>
          <p:cNvPr id="15" name="Run row label B 5"/>
          <p:cNvSpPr txBox="1"/>
          <p:nvPr/>
        </p:nvSpPr>
        <p:spPr>
          <a:xfrm>
            <a:off x="841248" y="3511296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3  TRACE B · PowerShell</a:t>
            </a:r>
          </a:p>
        </p:txBody>
      </p:sp>
      <p:sp>
        <p:nvSpPr>
          <p:cNvPr id="16" name="Run exact command B 5"/>
          <p:cNvSpPr txBox="1"/>
          <p:nvPr/>
        </p:nvSpPr>
        <p:spPr>
          <a:xfrm>
            <a:off x="3419856" y="351129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B --case trace-b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44398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50799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每一行都是獨立 copy boundary；結果欄位與 checkpoint 另頁讀取，避免 command 與 receipt 疊在一起。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B-03b：stdout fields、result 與 replay pair</a:t>
            </a:r>
          </a:p>
        </p:txBody>
      </p:sp>
      <p:sp>
        <p:nvSpPr>
          <p:cNvPr id="3" name="Receipt B lead"/>
          <p:cNvSpPr txBox="1"/>
          <p:nvPr/>
        </p:nvSpPr>
        <p:spPr>
          <a:xfrm>
            <a:off x="749808" y="1060704"/>
            <a:ext cx="10588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 run 先讀 stdout，再依 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配對 result.json 與 endpoint-replay.json。</a:t>
            </a:r>
          </a:p>
        </p:txBody>
      </p:sp>
      <p:sp>
        <p:nvSpPr>
          <p:cNvPr id="4" name="Receipt B stdout fields"/>
          <p:cNvSpPr/>
          <p:nvPr/>
        </p:nvSpPr>
        <p:spPr>
          <a:xfrm>
            <a:off x="658368" y="1481328"/>
            <a:ext cx="10881360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eipt B stdout fields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stdout fields｜不顯示任何識別摘要值</a:t>
            </a:r>
          </a:p>
        </p:txBody>
      </p:sp>
      <p:sp>
        <p:nvSpPr>
          <p:cNvPr id="6" name="Receipt B stdout fields code"/>
          <p:cNvSpPr txBox="1"/>
          <p:nvPr/>
        </p:nvSpPr>
        <p:spPr>
          <a:xfrm>
            <a:off x="859536" y="1828800"/>
            <a:ext cx="10479024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status（成功時 OK） · run_id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· artifact_source · claim_boundary</a:t>
            </a:r>
          </a:p>
        </p:txBody>
      </p:sp>
      <p:sp>
        <p:nvSpPr>
          <p:cNvPr id="7" name="Receipt B artifact pair"/>
          <p:cNvSpPr/>
          <p:nvPr/>
        </p:nvSpPr>
        <p:spPr>
          <a:xfrm>
            <a:off x="658368" y="2761488"/>
            <a:ext cx="10881360" cy="12435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eipt B artifact pair heading"/>
          <p:cNvSpPr txBox="1"/>
          <p:nvPr/>
        </p:nvSpPr>
        <p:spPr>
          <a:xfrm>
            <a:off x="822959" y="285292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artifact pair｜同一 run</a:t>
            </a:r>
          </a:p>
        </p:txBody>
      </p:sp>
      <p:sp>
        <p:nvSpPr>
          <p:cNvPr id="9" name="Receipt B artifact pair code"/>
          <p:cNvSpPr txBox="1"/>
          <p:nvPr/>
        </p:nvSpPr>
        <p:spPr>
          <a:xfrm>
            <a:off x="859536" y="3108960"/>
            <a:ext cx="10479024" cy="80467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依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開 artifacts/&lt;run_id&gt;/result.json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再開同目錄 endpoint-replay.json；不猜檔名，不手改 JSON</a:t>
            </a:r>
          </a:p>
        </p:txBody>
      </p:sp>
      <p:sp>
        <p:nvSpPr>
          <p:cNvPr id="10" name="Receipt B checkpoint"/>
          <p:cNvSpPr/>
          <p:nvPr/>
        </p:nvSpPr>
        <p:spPr>
          <a:xfrm>
            <a:off x="658368" y="4206240"/>
            <a:ext cx="10881360" cy="71323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B checkpoint heading"/>
          <p:cNvSpPr txBox="1"/>
          <p:nvPr/>
        </p:nvSpPr>
        <p:spPr>
          <a:xfrm>
            <a:off x="822959" y="4297679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candidate freeze checkpoint</a:t>
            </a:r>
          </a:p>
        </p:txBody>
      </p:sp>
      <p:sp>
        <p:nvSpPr>
          <p:cNvPr id="12" name="Receipt B checkpoint code"/>
          <p:cNvSpPr txBox="1"/>
          <p:nvPr/>
        </p:nvSpPr>
        <p:spPr>
          <a:xfrm>
            <a:off x="859536" y="4553712"/>
            <a:ext cx="104790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artifacts/checkpoints/lab-b-frozen.{json,py}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B-04a：品質與 service 分開判定的 causal overview</a:t>
            </a:r>
          </a:p>
        </p:txBody>
      </p:sp>
      <p:sp>
        <p:nvSpPr>
          <p:cNvPr id="3" name="Transition overview lead"/>
          <p:cNvSpPr txBox="1"/>
          <p:nvPr/>
        </p:nvSpPr>
        <p:spPr>
          <a:xfrm>
            <a:off x="877824" y="1078992"/>
            <a:ext cx="1038758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品質是 observation context；engine 的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才把 action 接到 packet outcome。</a:t>
            </a:r>
          </a:p>
        </p:txBody>
      </p:sp>
      <p:sp>
        <p:nvSpPr>
          <p:cNvPr id="4" name="Transition overview quality band 品質帶"/>
          <p:cNvSpPr/>
          <p:nvPr/>
        </p:nvSpPr>
        <p:spPr>
          <a:xfrm>
            <a:off x="658368" y="1664208"/>
            <a:ext cx="2542032" cy="11521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nsition overview quality band 品質帶 heading"/>
          <p:cNvSpPr txBox="1"/>
          <p:nvPr/>
        </p:nvSpPr>
        <p:spPr>
          <a:xfrm>
            <a:off x="822959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quality band 品質帶</a:t>
            </a:r>
          </a:p>
        </p:txBody>
      </p:sp>
      <p:sp>
        <p:nvSpPr>
          <p:cNvPr id="6" name="Transition overview quality band 品質帶 body"/>
          <p:cNvSpPr txBox="1"/>
          <p:nvPr/>
        </p:nvSpPr>
        <p:spPr>
          <a:xfrm>
            <a:off x="841247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 context</a:t>
            </a:r>
          </a:p>
        </p:txBody>
      </p:sp>
      <p:cxnSp>
        <p:nvCxnSpPr>
          <p:cNvPr id="7" name="Transition overview arrow"/>
          <p:cNvCxnSpPr/>
          <p:nvPr/>
        </p:nvCxnSpPr>
        <p:spPr>
          <a:xfrm>
            <a:off x="3200400" y="2240280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ransition overview MODE_CHANGE 模式"/>
          <p:cNvSpPr/>
          <p:nvPr/>
        </p:nvSpPr>
        <p:spPr>
          <a:xfrm>
            <a:off x="3438144" y="1664208"/>
            <a:ext cx="2542032" cy="115214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nsition overview MODE_CHANGE 模式 heading"/>
          <p:cNvSpPr txBox="1"/>
          <p:nvPr/>
        </p:nvSpPr>
        <p:spPr>
          <a:xfrm>
            <a:off x="3602736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模式</a:t>
            </a:r>
          </a:p>
        </p:txBody>
      </p:sp>
      <p:sp>
        <p:nvSpPr>
          <p:cNvPr id="10" name="Transition overview MODE_CHANGE 模式 body"/>
          <p:cNvSpPr txBox="1"/>
          <p:nvPr/>
        </p:nvSpPr>
        <p:spPr>
          <a:xfrm>
            <a:off x="3621024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engine event</a:t>
            </a:r>
          </a:p>
        </p:txBody>
      </p:sp>
      <p:cxnSp>
        <p:nvCxnSpPr>
          <p:cNvPr id="11" name="Transition overview arrow"/>
          <p:cNvCxnSpPr/>
          <p:nvPr/>
        </p:nvCxnSpPr>
        <p:spPr>
          <a:xfrm>
            <a:off x="5980175" y="2240280"/>
            <a:ext cx="182881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ransition overview PACKET_ATTEMPT"/>
          <p:cNvSpPr/>
          <p:nvPr/>
        </p:nvSpPr>
        <p:spPr>
          <a:xfrm>
            <a:off x="6217920" y="1664208"/>
            <a:ext cx="2542032" cy="11521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nsition overview PACKET_ATTEMPT heading"/>
          <p:cNvSpPr txBox="1"/>
          <p:nvPr/>
        </p:nvSpPr>
        <p:spPr>
          <a:xfrm>
            <a:off x="6382512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PACKET_ATTEMPT</a:t>
            </a:r>
          </a:p>
        </p:txBody>
      </p:sp>
      <p:sp>
        <p:nvSpPr>
          <p:cNvPr id="14" name="Transition overview PACKET_ATTEMPT body"/>
          <p:cNvSpPr txBox="1"/>
          <p:nvPr/>
        </p:nvSpPr>
        <p:spPr>
          <a:xfrm>
            <a:off x="6400800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封包嘗試 input</a:t>
            </a:r>
          </a:p>
        </p:txBody>
      </p:sp>
      <p:cxnSp>
        <p:nvCxnSpPr>
          <p:cNvPr id="15" name="Transition overview arrow"/>
          <p:cNvCxnSpPr/>
          <p:nvPr/>
        </p:nvCxnSpPr>
        <p:spPr>
          <a:xfrm>
            <a:off x="8759952" y="2240280"/>
            <a:ext cx="182880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ransition overview service / J"/>
          <p:cNvSpPr/>
          <p:nvPr/>
        </p:nvSpPr>
        <p:spPr>
          <a:xfrm>
            <a:off x="8997696" y="1664208"/>
            <a:ext cx="2542032" cy="11521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ransition overview service / J heading"/>
          <p:cNvSpPr txBox="1"/>
          <p:nvPr/>
        </p:nvSpPr>
        <p:spPr>
          <a:xfrm>
            <a:off x="9162288" y="1810512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service / J</a:t>
            </a:r>
          </a:p>
        </p:txBody>
      </p:sp>
      <p:sp>
        <p:nvSpPr>
          <p:cNvPr id="18" name="Transition overview service / J body"/>
          <p:cNvSpPr txBox="1"/>
          <p:nvPr/>
        </p:nvSpPr>
        <p:spPr>
          <a:xfrm>
            <a:off x="9180576" y="2194560"/>
            <a:ext cx="2176272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verdict + endpoint energy</a:t>
            </a:r>
          </a:p>
        </p:txBody>
      </p:sp>
      <p:sp>
        <p:nvSpPr>
          <p:cNvPr id="19" name="Transition overview causal order"/>
          <p:cNvSpPr/>
          <p:nvPr/>
        </p:nvSpPr>
        <p:spPr>
          <a:xfrm>
            <a:off x="658368" y="3182112"/>
            <a:ext cx="10881360" cy="148132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ransition overview causal order heading"/>
          <p:cNvSpPr txBox="1"/>
          <p:nvPr/>
        </p:nvSpPr>
        <p:spPr>
          <a:xfrm>
            <a:off x="822959" y="327355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CAUSAL ORDER｜從 observation 到 claim</a:t>
            </a:r>
          </a:p>
        </p:txBody>
      </p:sp>
      <p:sp>
        <p:nvSpPr>
          <p:cNvPr id="21" name="Transition overview causal order code"/>
          <p:cNvSpPr txBox="1"/>
          <p:nvPr/>
        </p:nvSpPr>
        <p:spPr>
          <a:xfrm>
            <a:off x="859536" y="3529584"/>
            <a:ext cx="10479024" cy="104241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branch consumes quality／stable_steps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engine.py reads the global each clock step and creates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packet attempt → delivered／expired → service +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2" name="Teaching takeaway"/>
          <p:cNvSpPr/>
          <p:nvPr/>
        </p:nvSpPr>
        <p:spPr>
          <a:xfrm>
            <a:off x="786384" y="4846320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aching takeaway text"/>
          <p:cNvSpPr txBox="1"/>
          <p:nvPr/>
        </p:nvSpPr>
        <p:spPr>
          <a:xfrm>
            <a:off x="950976" y="491032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較快 transition 只是一個 mechanism observation；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、freshness_status 與 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仍要從 result 讀。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B-04b：Trace A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與 service evidence</a:t>
            </a:r>
          </a:p>
        </p:txBody>
      </p:sp>
      <p:sp>
        <p:nvSpPr>
          <p:cNvPr id="3" name="Transition evidence lead"/>
          <p:cNvSpPr txBox="1"/>
          <p:nvPr/>
        </p:nvSpPr>
        <p:spPr>
          <a:xfrm>
            <a:off x="822960" y="1060704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A candidate：完整 </a:t>
            </a:r>
            <a:r>
              <a:rPr sz="22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、packet 與 service evidence。</a:t>
            </a:r>
          </a:p>
        </p:txBody>
      </p:sp>
      <p:sp>
        <p:nvSpPr>
          <p:cNvPr id="4" name="Transition evidence mode changes"/>
          <p:cNvSpPr/>
          <p:nvPr/>
        </p:nvSpPr>
        <p:spPr>
          <a:xfrm>
            <a:off x="658368" y="1481328"/>
            <a:ext cx="10881360" cy="19202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nsition evidence mode changes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POLICY_DECISION + </a:t>
            </a: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  <p:sp>
        <p:nvSpPr>
          <p:cNvPr id="6" name="Transition evidence mode changes code"/>
          <p:cNvSpPr txBox="1"/>
          <p:nvPr/>
        </p:nvSpPr>
        <p:spPr>
          <a:xfrm>
            <a:off x="859536" y="1828800"/>
            <a:ext cx="10479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quality_band = 2 · stable_steps =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20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→ REST，t = 80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110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active_s = 16 · wake = 1 · attempt = 4 · retry = 1 · expired = 1</a:t>
            </a:r>
          </a:p>
        </p:txBody>
      </p:sp>
      <p:sp>
        <p:nvSpPr>
          <p:cNvPr id="7" name="Transition evidence result fields"/>
          <p:cNvSpPr/>
          <p:nvPr/>
        </p:nvSpPr>
        <p:spPr>
          <a:xfrm>
            <a:off x="658368" y="3639312"/>
            <a:ext cx="10881360" cy="1225296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ransition evidence result fields heading"/>
          <p:cNvSpPr txBox="1"/>
          <p:nvPr/>
        </p:nvSpPr>
        <p:spPr>
          <a:xfrm>
            <a:off x="822959" y="373075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PACKET / SERVICE / ENERGY</a:t>
            </a:r>
          </a:p>
        </p:txBody>
      </p:sp>
      <p:sp>
        <p:nvSpPr>
          <p:cNvPr id="9" name="Transition evidence result fields code"/>
          <p:cNvSpPr txBox="1"/>
          <p:nvPr/>
        </p:nvSpPr>
        <p:spPr>
          <a:xfrm>
            <a:off x="859536" y="3986784"/>
            <a:ext cx="10479024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9,600 bit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10.66 J · efficiency = 900.562852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 · freshness_status = expired</a:t>
            </a:r>
          </a:p>
        </p:txBody>
      </p:sp>
      <p:sp>
        <p:nvSpPr>
          <p:cNvPr id="10" name="Teaching takeaway"/>
          <p:cNvSpPr/>
          <p:nvPr/>
        </p:nvSpPr>
        <p:spPr>
          <a:xfrm>
            <a:off x="786384" y="4974336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503834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engine.py emits 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branch consumes quality／stable_steps；較快 transition ≠ service success。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B-05：freeze evidence 決定 Trace B 閱讀資格</a:t>
            </a:r>
          </a:p>
        </p:txBody>
      </p:sp>
      <p:sp>
        <p:nvSpPr>
          <p:cNvPr id="3" name="Freeze B 0"/>
          <p:cNvSpPr/>
          <p:nvPr/>
        </p:nvSpPr>
        <p:spPr>
          <a:xfrm>
            <a:off x="658368" y="1353312"/>
            <a:ext cx="3511296" cy="107899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ze B 0 heading"/>
          <p:cNvSpPr txBox="1"/>
          <p:nvPr/>
        </p:nvSpPr>
        <p:spPr>
          <a:xfrm>
            <a:off x="822959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frozen predecessor</a:t>
            </a:r>
          </a:p>
        </p:txBody>
      </p:sp>
      <p:sp>
        <p:nvSpPr>
          <p:cNvPr id="5" name="Freeze B 0 body"/>
          <p:cNvSpPr txBox="1"/>
          <p:nvPr/>
        </p:nvSpPr>
        <p:spPr>
          <a:xfrm>
            <a:off x="841247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6" name="Freeze lineage arrow"/>
          <p:cNvCxnSpPr/>
          <p:nvPr/>
        </p:nvCxnSpPr>
        <p:spPr>
          <a:xfrm>
            <a:off x="4169663" y="1892807"/>
            <a:ext cx="182881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ze B 1"/>
          <p:cNvSpPr/>
          <p:nvPr/>
        </p:nvSpPr>
        <p:spPr>
          <a:xfrm>
            <a:off x="4425696" y="1353312"/>
            <a:ext cx="3511296" cy="107899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ze B 1 heading"/>
          <p:cNvSpPr txBox="1"/>
          <p:nvPr/>
        </p:nvSpPr>
        <p:spPr>
          <a:xfrm>
            <a:off x="4590288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candidate + freeze</a:t>
            </a:r>
          </a:p>
        </p:txBody>
      </p:sp>
      <p:sp>
        <p:nvSpPr>
          <p:cNvPr id="9" name="Freeze B 1 body"/>
          <p:cNvSpPr txBox="1"/>
          <p:nvPr/>
        </p:nvSpPr>
        <p:spPr>
          <a:xfrm>
            <a:off x="4608576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cxnSp>
        <p:nvCxnSpPr>
          <p:cNvPr id="10" name="Freeze lineage arrow"/>
          <p:cNvCxnSpPr/>
          <p:nvPr/>
        </p:nvCxnSpPr>
        <p:spPr>
          <a:xfrm>
            <a:off x="7936992" y="1892807"/>
            <a:ext cx="182879" cy="0"/>
          </a:xfrm>
          <a:prstGeom prst="line">
            <a:avLst/>
          </a:prstGeom>
          <a:ln w="2159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ze B 2"/>
          <p:cNvSpPr/>
          <p:nvPr/>
        </p:nvSpPr>
        <p:spPr>
          <a:xfrm>
            <a:off x="8193024" y="1353312"/>
            <a:ext cx="3511296" cy="10789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ze B 2 heading"/>
          <p:cNvSpPr txBox="1"/>
          <p:nvPr/>
        </p:nvSpPr>
        <p:spPr>
          <a:xfrm>
            <a:off x="8357616" y="1499616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Trace B entry</a:t>
            </a:r>
          </a:p>
        </p:txBody>
      </p:sp>
      <p:sp>
        <p:nvSpPr>
          <p:cNvPr id="13" name="Freeze B 2 body"/>
          <p:cNvSpPr txBox="1"/>
          <p:nvPr/>
        </p:nvSpPr>
        <p:spPr>
          <a:xfrm>
            <a:off x="8375904" y="1883664"/>
            <a:ext cx="3145536" cy="420623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14" name="Freeze fields"/>
          <p:cNvSpPr/>
          <p:nvPr/>
        </p:nvSpPr>
        <p:spPr>
          <a:xfrm>
            <a:off x="987552" y="2907792"/>
            <a:ext cx="10040112" cy="126187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fields text"/>
          <p:cNvSpPr txBox="1"/>
          <p:nvPr/>
        </p:nvSpPr>
        <p:spPr>
          <a:xfrm>
            <a:off x="1207008" y="3182112"/>
            <a:ext cx="9601200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identity（策略識別） · predecessor identity（前序） · active_block_id（修改區塊）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（情境識別） · seed role（種子角色） · receipt identity（收據識別）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480560"/>
            <a:ext cx="10588752" cy="64008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544568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receipt／checkpoint／identity 缺失 → withheld 執行資格暫停；新 </a:t>
            </a:r>
            <a:r>
              <a:rPr sz="1900" b="1" i="1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9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 待取得 current evidence。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B-06a：Trace B：frozen policy 的 withheld setup</a:t>
            </a:r>
          </a:p>
        </p:txBody>
      </p:sp>
      <p:sp>
        <p:nvSpPr>
          <p:cNvPr id="3" name="Withheld B staged frozen"/>
          <p:cNvSpPr/>
          <p:nvPr/>
        </p:nvSpPr>
        <p:spPr>
          <a:xfrm>
            <a:off x="749808" y="1207008"/>
            <a:ext cx="4956048" cy="34015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B staged frozen heading"/>
          <p:cNvSpPr txBox="1"/>
          <p:nvPr/>
        </p:nvSpPr>
        <p:spPr>
          <a:xfrm>
            <a:off x="914400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5" name="Withheld B staged frozen body"/>
          <p:cNvSpPr txBox="1"/>
          <p:nvPr/>
        </p:nvSpPr>
        <p:spPr>
          <a:xfrm>
            <a:off x="932688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candidate checkpoint（候選快照）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 freeze：0；policy edit：0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（來源）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同 run replay（事件重播）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withheld：不再調參</a:t>
            </a:r>
          </a:p>
        </p:txBody>
      </p:sp>
      <p:sp>
        <p:nvSpPr>
          <p:cNvPr id="6" name="Withheld B staged trace"/>
          <p:cNvSpPr/>
          <p:nvPr/>
        </p:nvSpPr>
        <p:spPr>
          <a:xfrm>
            <a:off x="6126480" y="1207008"/>
            <a:ext cx="4956048" cy="340156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B staged trace heading"/>
          <p:cNvSpPr txBox="1"/>
          <p:nvPr/>
        </p:nvSpPr>
        <p:spPr>
          <a:xfrm>
            <a:off x="6291072" y="1353312"/>
            <a:ext cx="462686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B TRACE B｜frozen policy setup</a:t>
            </a:r>
          </a:p>
        </p:txBody>
      </p:sp>
      <p:sp>
        <p:nvSpPr>
          <p:cNvPr id="8" name="Withheld B staged trace body"/>
          <p:cNvSpPr txBox="1"/>
          <p:nvPr/>
        </p:nvSpPr>
        <p:spPr>
          <a:xfrm>
            <a:off x="6309360" y="1737360"/>
            <a:ext cx="4590288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Trace B quality／window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：REST →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SEND_READY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，t = 110 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active_s = 8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不再調參；維持 B frozen policy</a:t>
            </a:r>
          </a:p>
        </p:txBody>
      </p:sp>
      <p:sp>
        <p:nvSpPr>
          <p:cNvPr id="9" name="Teaching takeaway"/>
          <p:cNvSpPr/>
          <p:nvPr/>
        </p:nvSpPr>
        <p:spPr>
          <a:xfrm>
            <a:off x="786384" y="4864608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ching takeaway text"/>
          <p:cNvSpPr txBox="1"/>
          <p:nvPr/>
        </p:nvSpPr>
        <p:spPr>
          <a:xfrm>
            <a:off x="950976" y="49286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先保持 policy identity 不變，再讀下一頁 same-scenario-fallback reference summary；Trace B 不再 retune。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B-06b：Trace B summary 與 claim ceiling</a:t>
            </a:r>
          </a:p>
        </p:txBody>
      </p:sp>
      <p:sp>
        <p:nvSpPr>
          <p:cNvPr id="3" name="Withheld B staged result"/>
          <p:cNvSpPr/>
          <p:nvPr/>
        </p:nvSpPr>
        <p:spPr>
          <a:xfrm>
            <a:off x="749808" y="1225296"/>
            <a:ext cx="10588752" cy="340156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ithheld B staged result heading"/>
          <p:cNvSpPr txBox="1"/>
          <p:nvPr/>
        </p:nvSpPr>
        <p:spPr>
          <a:xfrm>
            <a:off x="914400" y="1371600"/>
            <a:ext cx="1025956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TRACE B RESULT｜applicability limit</a:t>
            </a:r>
          </a:p>
        </p:txBody>
      </p:sp>
      <p:sp>
        <p:nvSpPr>
          <p:cNvPr id="5" name="Withheld B staged result body"/>
          <p:cNvSpPr txBox="1"/>
          <p:nvPr/>
        </p:nvSpPr>
        <p:spPr>
          <a:xfrm>
            <a:off x="932688" y="1755648"/>
            <a:ext cx="10222992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 reference｜not a fresh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deadline_pass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FAIL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summary.freshness_status = expired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4,800 bit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= 5.43 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summary.efficiency = 883.977901 bit/J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= 1 · attempt = 2 · retry = 1 · expired = 2</a:t>
            </a:r>
          </a:p>
        </p:txBody>
      </p:sp>
      <p:sp>
        <p:nvSpPr>
          <p:cNvPr id="6" name="Teaching takeaway"/>
          <p:cNvSpPr/>
          <p:nvPr/>
        </p:nvSpPr>
        <p:spPr>
          <a:xfrm>
            <a:off x="786384" y="4864608"/>
            <a:ext cx="10588752" cy="640080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aching takeaway text"/>
          <p:cNvSpPr txBox="1"/>
          <p:nvPr/>
        </p:nvSpPr>
        <p:spPr>
          <a:xfrm>
            <a:off x="950976" y="4928616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Trace B：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較快不等於 service success；energy 5.43 J、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4,800、expired 2、</a:t>
            </a:r>
            <a:r>
              <a:rPr sz="1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FAIL。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B-07：too-slow 與 ping-pong 是兩種不同問題</a:t>
            </a:r>
          </a:p>
        </p:txBody>
      </p:sp>
      <p:sp>
        <p:nvSpPr>
          <p:cNvPr id="3" name="Too slow"/>
          <p:cNvSpPr/>
          <p:nvPr/>
        </p:nvSpPr>
        <p:spPr>
          <a:xfrm>
            <a:off x="841248" y="1170432"/>
            <a:ext cx="4882896" cy="30175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oo slow heading"/>
          <p:cNvSpPr txBox="1"/>
          <p:nvPr/>
        </p:nvSpPr>
        <p:spPr>
          <a:xfrm>
            <a:off x="1005840" y="1316736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5" name="Too slow body"/>
          <p:cNvSpPr txBox="1"/>
          <p:nvPr/>
        </p:nvSpPr>
        <p:spPr>
          <a:xfrm>
            <a:off x="1024128" y="1700784"/>
            <a:ext cx="4517136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hold 太久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send-ready 太晚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contact window 用完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deadline／service loss</a:t>
            </a:r>
          </a:p>
        </p:txBody>
      </p:sp>
      <p:sp>
        <p:nvSpPr>
          <p:cNvPr id="6" name="Ping pong"/>
          <p:cNvSpPr/>
          <p:nvPr/>
        </p:nvSpPr>
        <p:spPr>
          <a:xfrm>
            <a:off x="6199632" y="1170432"/>
            <a:ext cx="4882896" cy="30175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ng pong heading"/>
          <p:cNvSpPr txBox="1"/>
          <p:nvPr/>
        </p:nvSpPr>
        <p:spPr>
          <a:xfrm>
            <a:off x="6364224" y="1316736"/>
            <a:ext cx="455371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8" name="Ping pong body"/>
          <p:cNvSpPr txBox="1"/>
          <p:nvPr/>
        </p:nvSpPr>
        <p:spPr>
          <a:xfrm>
            <a:off x="6382512" y="1700784"/>
            <a:ext cx="4517136" cy="2359152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enter／exit 太近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多次 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retry／額外 transition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energy trade-off</a:t>
            </a:r>
          </a:p>
        </p:txBody>
      </p:sp>
      <p:cxnSp>
        <p:nvCxnSpPr>
          <p:cNvPr id="9" name="Failure comparison"/>
          <p:cNvCxnSpPr/>
          <p:nvPr/>
        </p:nvCxnSpPr>
        <p:spPr>
          <a:xfrm>
            <a:off x="5815584" y="2724912"/>
            <a:ext cx="27432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aching takeaway"/>
          <p:cNvSpPr/>
          <p:nvPr/>
        </p:nvSpPr>
        <p:spPr>
          <a:xfrm>
            <a:off x="786384" y="4462272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aching takeaway text"/>
          <p:cNvSpPr txBox="1"/>
          <p:nvPr/>
        </p:nvSpPr>
        <p:spPr>
          <a:xfrm>
            <a:off x="950976" y="452628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機制判定依據：</a:t>
            </a:r>
            <a:r>
              <a:rPr sz="1800" b="1" i="1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、packet outcome、service verdict 與 endpoint ledger；平滑 quality 線維持為 context。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結論：hysteresis 的條件與邊界</a:t>
            </a:r>
          </a:p>
        </p:txBody>
      </p:sp>
      <p:sp>
        <p:nvSpPr>
          <p:cNvPr id="3" name="Debrief B CONDITION 條件"/>
          <p:cNvSpPr/>
          <p:nvPr/>
        </p:nvSpPr>
        <p:spPr>
          <a:xfrm>
            <a:off x="585216" y="1353312"/>
            <a:ext cx="2523744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brief CONDITION 條件"/>
          <p:cNvSpPr txBox="1"/>
          <p:nvPr/>
        </p:nvSpPr>
        <p:spPr>
          <a:xfrm>
            <a:off x="676656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CONDITION 條件</a:t>
            </a:r>
          </a:p>
        </p:txBody>
      </p:sp>
      <p:cxnSp>
        <p:nvCxnSpPr>
          <p:cNvPr id="5" name="Debrief arrow"/>
          <p:cNvCxnSpPr/>
          <p:nvPr/>
        </p:nvCxnSpPr>
        <p:spPr>
          <a:xfrm>
            <a:off x="3108960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ebrief B MECHANISM 機制"/>
          <p:cNvSpPr/>
          <p:nvPr/>
        </p:nvSpPr>
        <p:spPr>
          <a:xfrm>
            <a:off x="3401568" y="1353312"/>
            <a:ext cx="2523744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MECHANISM 機制"/>
          <p:cNvSpPr txBox="1"/>
          <p:nvPr/>
        </p:nvSpPr>
        <p:spPr>
          <a:xfrm>
            <a:off x="3493008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 機制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5925312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B EVIDENCE 證據"/>
          <p:cNvSpPr/>
          <p:nvPr/>
        </p:nvSpPr>
        <p:spPr>
          <a:xfrm>
            <a:off x="6217920" y="1353312"/>
            <a:ext cx="2523744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EVIDENCE 證據"/>
          <p:cNvSpPr txBox="1"/>
          <p:nvPr/>
        </p:nvSpPr>
        <p:spPr>
          <a:xfrm>
            <a:off x="6309360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EVIDENCE 證據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8741664" y="1773936"/>
            <a:ext cx="201168" cy="0"/>
          </a:xfrm>
          <a:prstGeom prst="line">
            <a:avLst/>
          </a:prstGeom>
          <a:ln w="1778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B CLAIM CEILING 邊界"/>
          <p:cNvSpPr/>
          <p:nvPr/>
        </p:nvSpPr>
        <p:spPr>
          <a:xfrm>
            <a:off x="9034272" y="1353312"/>
            <a:ext cx="2523744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CLAIM CEILING 邊界"/>
          <p:cNvSpPr txBox="1"/>
          <p:nvPr/>
        </p:nvSpPr>
        <p:spPr>
          <a:xfrm>
            <a:off x="9125712" y="1499616"/>
            <a:ext cx="2340864" cy="51206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CLAIM CEILING 邊界</a:t>
            </a:r>
          </a:p>
        </p:txBody>
      </p:sp>
      <p:sp>
        <p:nvSpPr>
          <p:cNvPr id="14" name="Debrief B sentence"/>
          <p:cNvSpPr/>
          <p:nvPr/>
        </p:nvSpPr>
        <p:spPr>
          <a:xfrm>
            <a:off x="932688" y="2706624"/>
            <a:ext cx="10186416" cy="1353312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brief B sentence heading"/>
          <p:cNvSpPr txBox="1"/>
          <p:nvPr/>
        </p:nvSpPr>
        <p:spPr>
          <a:xfrm>
            <a:off x="1097280" y="2852928"/>
            <a:ext cx="985723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CAUSAL SENTENCE 因果句</a:t>
            </a:r>
          </a:p>
        </p:txBody>
      </p:sp>
      <p:sp>
        <p:nvSpPr>
          <p:cNvPr id="16" name="Debrief B sentence body"/>
          <p:cNvSpPr txBox="1"/>
          <p:nvPr/>
        </p:nvSpPr>
        <p:spPr>
          <a:xfrm>
            <a:off x="1115568" y="3236976"/>
            <a:ext cx="9820656" cy="69494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在 Trace A，hold=1 可能增加 delivered；在 Trace B，window／traffic 暴露邊界；hysteresis 是條件。</a:t>
            </a:r>
          </a:p>
        </p:txBody>
      </p:sp>
      <p:sp>
        <p:nvSpPr>
          <p:cNvPr id="17" name="Teaching takeaway"/>
          <p:cNvSpPr/>
          <p:nvPr/>
        </p:nvSpPr>
        <p:spPr>
          <a:xfrm>
            <a:off x="786384" y="4352544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aching takeaway text"/>
          <p:cNvSpPr txBox="1"/>
          <p:nvPr/>
        </p:nvSpPr>
        <p:spPr>
          <a:xfrm>
            <a:off x="950976" y="4416552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結論包含 state／transition、packet／service evidence 與適用條件；J 維持為單一欄位。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P062a：中斷復原 overview</a:t>
            </a:r>
          </a:p>
        </p:txBody>
      </p:sp>
      <p:sp>
        <p:nvSpPr>
          <p:cNvPr id="3" name="Recovery overview lead"/>
          <p:cNvSpPr txBox="1"/>
          <p:nvPr/>
        </p:nvSpPr>
        <p:spPr>
          <a:xfrm>
            <a:off x="804672" y="1078992"/>
            <a:ext cx="1057046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先讀 status，再選支援的 checkpoint；restore 只恢復 policy lineage，不恢復遺失的 result。</a:t>
            </a:r>
          </a:p>
        </p:txBody>
      </p:sp>
      <p:sp>
        <p:nvSpPr>
          <p:cNvPr id="4" name="Recovery overview A frozen"/>
          <p:cNvSpPr/>
          <p:nvPr/>
        </p:nvSpPr>
        <p:spPr>
          <a:xfrm>
            <a:off x="768096" y="1627632"/>
            <a:ext cx="3364992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overview A frozen heading"/>
          <p:cNvSpPr txBox="1"/>
          <p:nvPr/>
        </p:nvSpPr>
        <p:spPr>
          <a:xfrm>
            <a:off x="932688" y="1773936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</p:txBody>
      </p:sp>
      <p:sp>
        <p:nvSpPr>
          <p:cNvPr id="6" name="Recovery overview A frozen body"/>
          <p:cNvSpPr txBox="1"/>
          <p:nvPr/>
        </p:nvSpPr>
        <p:spPr>
          <a:xfrm>
            <a:off x="950976" y="2157984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restore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--checkpoint lab-a-frozen</a:t>
            </a:r>
          </a:p>
        </p:txBody>
      </p:sp>
      <p:sp>
        <p:nvSpPr>
          <p:cNvPr id="7" name="Recovery overview B frozen"/>
          <p:cNvSpPr/>
          <p:nvPr/>
        </p:nvSpPr>
        <p:spPr>
          <a:xfrm>
            <a:off x="4572000" y="1627632"/>
            <a:ext cx="3364992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overview B frozen heading"/>
          <p:cNvSpPr txBox="1"/>
          <p:nvPr/>
        </p:nvSpPr>
        <p:spPr>
          <a:xfrm>
            <a:off x="4736592" y="1773936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frozen</a:t>
            </a:r>
          </a:p>
        </p:txBody>
      </p:sp>
      <p:sp>
        <p:nvSpPr>
          <p:cNvPr id="9" name="Recovery overview B frozen body"/>
          <p:cNvSpPr txBox="1"/>
          <p:nvPr/>
        </p:nvSpPr>
        <p:spPr>
          <a:xfrm>
            <a:off x="4754880" y="2157984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restore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--checkpoint lab-b-frozen</a:t>
            </a:r>
          </a:p>
        </p:txBody>
      </p:sp>
      <p:sp>
        <p:nvSpPr>
          <p:cNvPr id="10" name="Recovery overview release default"/>
          <p:cNvSpPr/>
          <p:nvPr/>
        </p:nvSpPr>
        <p:spPr>
          <a:xfrm>
            <a:off x="8375904" y="1627632"/>
            <a:ext cx="3364992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very overview release default heading"/>
          <p:cNvSpPr txBox="1"/>
          <p:nvPr/>
        </p:nvSpPr>
        <p:spPr>
          <a:xfrm>
            <a:off x="8540496" y="1773936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release default</a:t>
            </a:r>
          </a:p>
        </p:txBody>
      </p:sp>
      <p:sp>
        <p:nvSpPr>
          <p:cNvPr id="12" name="Recovery overview release default body"/>
          <p:cNvSpPr txBox="1"/>
          <p:nvPr/>
        </p:nvSpPr>
        <p:spPr>
          <a:xfrm>
            <a:off x="8558784" y="2157984"/>
            <a:ext cx="2999232" cy="676656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restore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--checkpoint release-default</a:t>
            </a:r>
          </a:p>
        </p:txBody>
      </p:sp>
      <p:sp>
        <p:nvSpPr>
          <p:cNvPr id="13" name="Recovery overview order"/>
          <p:cNvSpPr/>
          <p:nvPr/>
        </p:nvSpPr>
        <p:spPr>
          <a:xfrm>
            <a:off x="768096" y="3310128"/>
            <a:ext cx="10405872" cy="1298448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overview order heading"/>
          <p:cNvSpPr txBox="1"/>
          <p:nvPr/>
        </p:nvSpPr>
        <p:spPr>
          <a:xfrm>
            <a:off x="932688" y="3401568"/>
            <a:ext cx="10076688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RECOVERY ORDER</a:t>
            </a:r>
          </a:p>
        </p:txBody>
      </p:sp>
      <p:sp>
        <p:nvSpPr>
          <p:cNvPr id="15" name="Recovery overview order code"/>
          <p:cNvSpPr txBox="1"/>
          <p:nvPr/>
        </p:nvSpPr>
        <p:spPr>
          <a:xfrm>
            <a:off x="969264" y="3657600"/>
            <a:ext cx="10003536" cy="85953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course.* status → course.* restore --checkpoint &lt;supported-name&gt; → compile → exact rerun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新的 stdout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與同 run endpoint-replay.json 才能形成新 evidence</a:t>
            </a:r>
          </a:p>
        </p:txBody>
      </p:sp>
      <p:sp>
        <p:nvSpPr>
          <p:cNvPr id="16" name="Teaching takeaway"/>
          <p:cNvSpPr/>
          <p:nvPr/>
        </p:nvSpPr>
        <p:spPr>
          <a:xfrm>
            <a:off x="786384" y="4882896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aching takeaway text"/>
          <p:cNvSpPr txBox="1"/>
          <p:nvPr/>
        </p:nvSpPr>
        <p:spPr>
          <a:xfrm>
            <a:off x="950976" y="4946904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支援名稱只有 lab-a-frozen、lab-b-frozen、release-default；不使用不存在的 policy／checkpoint 檔名。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P062b：Windows PowerShell 與 WSL exact recovery commands</a:t>
            </a:r>
          </a:p>
        </p:txBody>
      </p:sp>
      <p:sp>
        <p:nvSpPr>
          <p:cNvPr id="3" name="Recovery command lead"/>
          <p:cNvSpPr txBox="1"/>
          <p:nvPr/>
        </p:nvSpPr>
        <p:spPr>
          <a:xfrm>
            <a:off x="804672" y="1060704"/>
            <a:ext cx="10570464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P062 exact commands：Windows PowerShell 與 WSL / POSIX 分開保留。</a:t>
            </a:r>
          </a:p>
        </p:txBody>
      </p:sp>
      <p:sp>
        <p:nvSpPr>
          <p:cNvPr id="4" name="Recovery exact WSL"/>
          <p:cNvSpPr/>
          <p:nvPr/>
        </p:nvSpPr>
        <p:spPr>
          <a:xfrm>
            <a:off x="658368" y="1481328"/>
            <a:ext cx="10881360" cy="19202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very exact WSL heading"/>
          <p:cNvSpPr txBox="1"/>
          <p:nvPr/>
        </p:nvSpPr>
        <p:spPr>
          <a:xfrm>
            <a:off x="822959" y="1572768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WSL / POSIX</a:t>
            </a:r>
          </a:p>
        </p:txBody>
      </p:sp>
      <p:sp>
        <p:nvSpPr>
          <p:cNvPr id="6" name="Recovery exact WSL code"/>
          <p:cNvSpPr txBox="1"/>
          <p:nvPr/>
        </p:nvSpPr>
        <p:spPr>
          <a:xfrm>
            <a:off x="859536" y="1828800"/>
            <a:ext cx="10479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status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restore --checkpoint lab-a-frozen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restore --checkpoint lab-b-frozen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restore --checkpoint release-default</a:t>
            </a:r>
          </a:p>
        </p:txBody>
      </p:sp>
      <p:sp>
        <p:nvSpPr>
          <p:cNvPr id="7" name="Recovery exact PowerShell"/>
          <p:cNvSpPr/>
          <p:nvPr/>
        </p:nvSpPr>
        <p:spPr>
          <a:xfrm>
            <a:off x="658368" y="3639312"/>
            <a:ext cx="10881360" cy="19202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very exact PowerShell heading"/>
          <p:cNvSpPr txBox="1"/>
          <p:nvPr/>
        </p:nvSpPr>
        <p:spPr>
          <a:xfrm>
            <a:off x="822959" y="3730752"/>
            <a:ext cx="10552176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9" name="Recovery exact PowerShell code"/>
          <p:cNvSpPr txBox="1"/>
          <p:nvPr/>
        </p:nvSpPr>
        <p:spPr>
          <a:xfrm>
            <a:off x="859536" y="3986784"/>
            <a:ext cx="10479024" cy="148132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status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restore --checkpoint lab-a-frozen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restore --checkpoint lab-b-frozen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restore --checkpoint release-default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10927080" cy="566928"/>
          </a:xfrm>
        </p:spPr>
        <p:txBody>
          <a:bodyPr wrap="square" lIns="18288" tIns="0" rIns="18288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result.json 匯入：LoRa 實驗結果工作台</a:t>
            </a:r>
          </a:p>
        </p:txBody>
      </p:sp>
      <p:sp>
        <p:nvSpPr>
          <p:cNvPr id="3" name="Bridge lead"/>
          <p:cNvSpPr txBox="1"/>
          <p:nvPr/>
        </p:nvSpPr>
        <p:spPr>
          <a:xfrm>
            <a:off x="841248" y="1078992"/>
            <a:ext cx="105156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 實驗結果工作台：`證據` tab 只驗證 result.json；`進度備份` tab 保留本機 controls。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留在 runner；目前 accepted replay 為 none。</a:t>
            </a:r>
          </a:p>
        </p:txBody>
      </p:sp>
      <p:sp>
        <p:nvSpPr>
          <p:cNvPr id="4" name="Bridge RUNNER 執行器"/>
          <p:cNvSpPr/>
          <p:nvPr/>
        </p:nvSpPr>
        <p:spPr>
          <a:xfrm>
            <a:off x="566928" y="1773936"/>
            <a:ext cx="2578608" cy="12984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ridge RUNNER 執行器 heading"/>
          <p:cNvSpPr txBox="1"/>
          <p:nvPr/>
        </p:nvSpPr>
        <p:spPr>
          <a:xfrm>
            <a:off x="731520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RUNNER 執行器</a:t>
            </a:r>
          </a:p>
        </p:txBody>
      </p:sp>
      <p:sp>
        <p:nvSpPr>
          <p:cNvPr id="6" name="Bridge RUNNER 執行器 body"/>
          <p:cNvSpPr txBox="1"/>
          <p:nvPr/>
        </p:nvSpPr>
        <p:spPr>
          <a:xfrm>
            <a:off x="749808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stdout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（結果路徑）</a:t>
            </a:r>
          </a:p>
        </p:txBody>
      </p:sp>
      <p:cxnSp>
        <p:nvCxnSpPr>
          <p:cNvPr id="7" name="Bridge arrow"/>
          <p:cNvCxnSpPr/>
          <p:nvPr/>
        </p:nvCxnSpPr>
        <p:spPr>
          <a:xfrm>
            <a:off x="3145536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idge 證據 Evidence tab"/>
          <p:cNvSpPr/>
          <p:nvPr/>
        </p:nvSpPr>
        <p:spPr>
          <a:xfrm>
            <a:off x="3364992" y="1773936"/>
            <a:ext cx="2578608" cy="12984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ridge 證據 Evidence tab heading"/>
          <p:cNvSpPr txBox="1"/>
          <p:nvPr/>
        </p:nvSpPr>
        <p:spPr>
          <a:xfrm>
            <a:off x="3529584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證據 Evidence tab</a:t>
            </a:r>
          </a:p>
        </p:txBody>
      </p:sp>
      <p:sp>
        <p:nvSpPr>
          <p:cNvPr id="10" name="Bridge 證據 Evidence tab body"/>
          <p:cNvSpPr txBox="1"/>
          <p:nvPr/>
        </p:nvSpPr>
        <p:spPr>
          <a:xfrm>
            <a:off x="3547872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only result.json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schema／identity／units</a:t>
            </a:r>
          </a:p>
        </p:txBody>
      </p:sp>
      <p:cxnSp>
        <p:nvCxnSpPr>
          <p:cNvPr id="11" name="Bridge arrow"/>
          <p:cNvCxnSpPr/>
          <p:nvPr/>
        </p:nvCxnSpPr>
        <p:spPr>
          <a:xfrm>
            <a:off x="5943600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ridge REPLAY 狀態"/>
          <p:cNvSpPr/>
          <p:nvPr/>
        </p:nvSpPr>
        <p:spPr>
          <a:xfrm>
            <a:off x="6163056" y="1773936"/>
            <a:ext cx="2578608" cy="12984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ridge REPLAY 狀態 heading"/>
          <p:cNvSpPr txBox="1"/>
          <p:nvPr/>
        </p:nvSpPr>
        <p:spPr>
          <a:xfrm>
            <a:off x="6327648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REPLAY 狀態</a:t>
            </a:r>
          </a:p>
        </p:txBody>
      </p:sp>
      <p:sp>
        <p:nvSpPr>
          <p:cNvPr id="14" name="Bridge REPLAY 狀態 body"/>
          <p:cNvSpPr txBox="1"/>
          <p:nvPr/>
        </p:nvSpPr>
        <p:spPr>
          <a:xfrm>
            <a:off x="6345936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 accepted replay：none</a:t>
            </a:r>
          </a:p>
        </p:txBody>
      </p:sp>
      <p:cxnSp>
        <p:nvCxnSpPr>
          <p:cNvPr id="15" name="Bridge arrow"/>
          <p:cNvCxnSpPr/>
          <p:nvPr/>
        </p:nvCxnSpPr>
        <p:spPr>
          <a:xfrm>
            <a:off x="8741664" y="2423160"/>
            <a:ext cx="16459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ridge 進度備份 Progress backup"/>
          <p:cNvSpPr/>
          <p:nvPr/>
        </p:nvSpPr>
        <p:spPr>
          <a:xfrm>
            <a:off x="8961120" y="1773936"/>
            <a:ext cx="2578608" cy="12984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ridge 進度備份 Progress backup heading"/>
          <p:cNvSpPr txBox="1"/>
          <p:nvPr/>
        </p:nvSpPr>
        <p:spPr>
          <a:xfrm>
            <a:off x="9125712" y="1920240"/>
            <a:ext cx="224942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進度備份 Progress backup</a:t>
            </a:r>
          </a:p>
        </p:txBody>
      </p:sp>
      <p:sp>
        <p:nvSpPr>
          <p:cNvPr id="18" name="Bridge 進度備份 Progress backup body"/>
          <p:cNvSpPr txBox="1"/>
          <p:nvPr/>
        </p:nvSpPr>
        <p:spPr>
          <a:xfrm>
            <a:off x="9144000" y="2304288"/>
            <a:ext cx="2212848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local controls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目前未接受匯入</a:t>
            </a:r>
          </a:p>
        </p:txBody>
      </p:sp>
      <p:sp>
        <p:nvSpPr>
          <p:cNvPr id="19" name="Course entry URL"/>
          <p:cNvSpPr/>
          <p:nvPr/>
        </p:nvSpPr>
        <p:spPr>
          <a:xfrm>
            <a:off x="969264" y="3218688"/>
            <a:ext cx="10040112" cy="45720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urse entry URL text"/>
          <p:cNvSpPr txBox="1"/>
          <p:nvPr/>
        </p:nvSpPr>
        <p:spPr>
          <a:xfrm>
            <a:off x="1133856" y="3300984"/>
            <a:ext cx="9710928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完整入口：http://120.126.151.102:3000/course</a:t>
            </a:r>
          </a:p>
        </p:txBody>
      </p:sp>
      <p:sp>
        <p:nvSpPr>
          <p:cNvPr id="21" name="Bridge rule"/>
          <p:cNvSpPr/>
          <p:nvPr/>
        </p:nvSpPr>
        <p:spPr>
          <a:xfrm>
            <a:off x="969264" y="3803904"/>
            <a:ext cx="10040112" cy="87782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ridge rule text"/>
          <p:cNvSpPr txBox="1"/>
          <p:nvPr/>
        </p:nvSpPr>
        <p:spPr>
          <a:xfrm>
            <a:off x="1133856" y="3941063"/>
            <a:ext cx="9710928" cy="53035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只選 stdout 指出的 result.json；目前不把 endpoint-replay.json 說成 browser accepted。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identity／schema／units 不一致 → fail closed。</a:t>
            </a:r>
          </a:p>
        </p:txBody>
      </p:sp>
      <p:sp>
        <p:nvSpPr>
          <p:cNvPr id="23" name="Teaching takeaway"/>
          <p:cNvSpPr/>
          <p:nvPr/>
        </p:nvSpPr>
        <p:spPr>
          <a:xfrm>
            <a:off x="786384" y="4828032"/>
            <a:ext cx="10588752" cy="6400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aching takeaway text"/>
          <p:cNvSpPr txBox="1"/>
          <p:nvPr/>
        </p:nvSpPr>
        <p:spPr>
          <a:xfrm>
            <a:off x="950976" y="4892040"/>
            <a:ext cx="10259568" cy="51206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目前畫面僅確認空白狀態；未提供成功匯入、現場量測或 canonical parity 證據。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