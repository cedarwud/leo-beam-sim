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P028。沿著 state 帶說明每個名稱如何對應 result 的 interval 與 energy bucket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P029。判斷 J 下降但 service_pass 變成 false 時，是否稱為節能成功 操作受阻時，保留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P030。一次 SEND 是 policy decision，不等於 service 已交付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P031。service gate 決定 endpoint J 的解讀層級；低 J 維持為單一觀察值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P032。低峰值拖得久仍可能累積較多 J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P033。公式定義 scope 與累積語義；本次數值來源為 result artifact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P034。delivery gate 維持獨立；bit 與 J 僅在同一 endpoint boundary 內形成比值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P035。資料類型維持 coherent simulated result；provenance 記錄 input、policy 與 output 的關聯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P036。配對 identity 比單一漂亮數字更重要 操作受阻時，identity mismatch 時 fail 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P037。Baseline 使用固定情境、隨機種子與原始 policy，作為對照執行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P038。LEO 範例採用預先定義的 changing-service-window trace，作為 endpoint 傳輸時機的輸入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P039。Lab A 固定同一工作，沿 state、packet、service、J 解釋差異 操作受阻時，保留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P040。Baseline 固定原始 policy；下一個 case 的唯一修改是 REST_DURING_GAP 操作受阻時，重新取得同一次 baseline 的 result／replay 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P041。Prediction 包含 wake event 與 awake-idle 的方向；完成一行 edit 後取得 result 操作受阻時，只還原 A marked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P042。三條 exact command 依序建立 baseline、candidate、hidden receipt；run identity 取自 stdout path 操作受阻時，保留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P043。若 identity 不同，停止比較並重新從各自 stdout 取 pair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P044。state interval 是 WAIT 耗能因果的必要 evidence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P045。delivery、deadline 與 service verdict 決定 energy interpretation；SEND 次數不足以代表交付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P046。freeze 是 lineage gate；receipt 與 checkpoint 定義 hidden 的執行資格 操作受阻時，回到 candidate --freeze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P047。hidden 若方向相反，表示適用範圍縮小；frozen policy 維持不變 操作受阻時，保留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P048。結論同時包含 J、適用條件與反例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P049。Lab B 研究 quality trace 進入 send-ready 的條件；service 由 window、packet 與 deadline 判定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P050。以第一次達到 quality 2 的位置定位 enter；stable hold 與 transition 由同一 trace 連結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P051。hysteresis 是 enter／exit 條件設計；service 與 energy 仍由 result 驗證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P052。Prediction 包含 hold 縮短、送出時機與 quality 條件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P053。Prediction 定位 MODE_CHANGE 時點並說明因果理由 操作受阻時，恢復 A frozen predecessor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P054。Baseline 定義 hold=2 的原始 behavior；hold=1 由 candidate evidence 判定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P055。第三行是唯一 edit；prediction 涵蓋送出時機、quality、retry 與 deadline 操作受阻時，還原 B marked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P056。三條 exact command 依序建立 Trace A baseline、candidate、Trace B receipt；Trace B 不再 retune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P057。quality band 是 context；MODE_CHANGE transition 把 action 接到 packet outcome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P058。Trace B 是 frozen policy 的 withheld verification；調參停止於 candidate freeze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P059。counterexample 界定適用範圍；Trace A 的改善不外推至所有窗口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P060。evidence 區分 hold、threshold 與 traffic／window 差異 操作受阻時，receipt、predecessor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P061。條件差異比一次改善更重要，保留支持、反例與待查部分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P062。復原 policy 不會復原遺失的 result；每次重跑都保存新的 stdout path 操作受阻時，保留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P063。網站只驗證、回放與保存 runner 已產生的 evidence；simulated data 維持 simulated／not live／not measured 分類 操作受阻時，result／replay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與停留時間：endpoint energy 的積分基礎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77824" y="1078992"/>
            <a:ext cx="103510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state interval 與 energy bucket 對照。</a:t>
            </a:r>
          </a:p>
        </p:txBody>
      </p:sp>
      <p:sp>
        <p:nvSpPr>
          <p:cNvPr id="4" name="State SLEEP"/>
          <p:cNvSpPr/>
          <p:nvPr/>
        </p:nvSpPr>
        <p:spPr>
          <a:xfrm>
            <a:off x="658368" y="1755648"/>
            <a:ext cx="1700784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SLEEP heading"/>
          <p:cNvSpPr txBox="1"/>
          <p:nvPr/>
        </p:nvSpPr>
        <p:spPr>
          <a:xfrm>
            <a:off x="822959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6" name="State SLEEP body"/>
          <p:cNvSpPr txBox="1"/>
          <p:nvPr/>
        </p:nvSpPr>
        <p:spPr>
          <a:xfrm>
            <a:off x="841247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低功耗休息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空檔功率</a:t>
            </a:r>
          </a:p>
        </p:txBody>
      </p:sp>
      <p:cxnSp>
        <p:nvCxnSpPr>
          <p:cNvPr id="7" name="State transition"/>
          <p:cNvCxnSpPr/>
          <p:nvPr/>
        </p:nvCxnSpPr>
        <p:spPr>
          <a:xfrm>
            <a:off x="2359152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2551176" y="1755648"/>
            <a:ext cx="1700784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heading"/>
          <p:cNvSpPr txBox="1"/>
          <p:nvPr/>
        </p:nvSpPr>
        <p:spPr>
          <a:xfrm>
            <a:off x="2715768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0" name="State WAKE body"/>
          <p:cNvSpPr txBox="1"/>
          <p:nvPr/>
        </p:nvSpPr>
        <p:spPr>
          <a:xfrm>
            <a:off x="2734056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喚醒轉換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transition cost</a:t>
            </a:r>
          </a:p>
        </p:txBody>
      </p:sp>
      <p:cxnSp>
        <p:nvCxnSpPr>
          <p:cNvPr id="11" name="State transition"/>
          <p:cNvCxnSpPr/>
          <p:nvPr/>
        </p:nvCxnSpPr>
        <p:spPr>
          <a:xfrm>
            <a:off x="4251960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PROCESS"/>
          <p:cNvSpPr/>
          <p:nvPr/>
        </p:nvSpPr>
        <p:spPr>
          <a:xfrm>
            <a:off x="4443983" y="1755648"/>
            <a:ext cx="1700784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PROCESS heading"/>
          <p:cNvSpPr txBox="1"/>
          <p:nvPr/>
        </p:nvSpPr>
        <p:spPr>
          <a:xfrm>
            <a:off x="4608575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4" name="State PROCESS body"/>
          <p:cNvSpPr txBox="1"/>
          <p:nvPr/>
        </p:nvSpPr>
        <p:spPr>
          <a:xfrm>
            <a:off x="4626864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資料處理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clock interval</a:t>
            </a:r>
          </a:p>
        </p:txBody>
      </p:sp>
      <p:cxnSp>
        <p:nvCxnSpPr>
          <p:cNvPr id="15" name="State transition"/>
          <p:cNvCxnSpPr/>
          <p:nvPr/>
        </p:nvCxnSpPr>
        <p:spPr>
          <a:xfrm>
            <a:off x="6144768" y="2404872"/>
            <a:ext cx="146303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"/>
          <p:cNvSpPr/>
          <p:nvPr/>
        </p:nvSpPr>
        <p:spPr>
          <a:xfrm>
            <a:off x="6336792" y="1755648"/>
            <a:ext cx="1700784" cy="129844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heading"/>
          <p:cNvSpPr txBox="1"/>
          <p:nvPr/>
        </p:nvSpPr>
        <p:spPr>
          <a:xfrm>
            <a:off x="6501383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8" name="State TX body"/>
          <p:cNvSpPr txBox="1"/>
          <p:nvPr/>
        </p:nvSpPr>
        <p:spPr>
          <a:xfrm>
            <a:off x="6519672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封包送出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8037575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RX"/>
          <p:cNvSpPr/>
          <p:nvPr/>
        </p:nvSpPr>
        <p:spPr>
          <a:xfrm>
            <a:off x="8229600" y="1755648"/>
            <a:ext cx="1700784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RX heading"/>
          <p:cNvSpPr txBox="1"/>
          <p:nvPr/>
        </p:nvSpPr>
        <p:spPr>
          <a:xfrm>
            <a:off x="8394192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2" name="State RX body"/>
          <p:cNvSpPr txBox="1"/>
          <p:nvPr/>
        </p:nvSpPr>
        <p:spPr>
          <a:xfrm>
            <a:off x="8412480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封包接收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interval</a:t>
            </a:r>
          </a:p>
        </p:txBody>
      </p:sp>
      <p:cxnSp>
        <p:nvCxnSpPr>
          <p:cNvPr id="23" name="State transition"/>
          <p:cNvCxnSpPr/>
          <p:nvPr/>
        </p:nvCxnSpPr>
        <p:spPr>
          <a:xfrm>
            <a:off x="9930384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ate WAIT"/>
          <p:cNvSpPr/>
          <p:nvPr/>
        </p:nvSpPr>
        <p:spPr>
          <a:xfrm>
            <a:off x="10122408" y="1755648"/>
            <a:ext cx="1700784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WAIT heading"/>
          <p:cNvSpPr txBox="1"/>
          <p:nvPr/>
        </p:nvSpPr>
        <p:spPr>
          <a:xfrm>
            <a:off x="10287000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6" name="State WAIT body"/>
          <p:cNvSpPr txBox="1"/>
          <p:nvPr/>
        </p:nvSpPr>
        <p:spPr>
          <a:xfrm>
            <a:off x="10305288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清醒閒置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27" name="State mechanism"/>
          <p:cNvSpPr txBox="1"/>
          <p:nvPr/>
        </p:nvSpPr>
        <p:spPr>
          <a:xfrm>
            <a:off x="950976" y="3346704"/>
            <a:ext cx="1020470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將每個固定步長寫成 state interval，再把該區間的功率乘上時間累加到 endpoint energy。</a:t>
            </a:r>
          </a:p>
        </p:txBody>
      </p:sp>
      <p:sp>
        <p:nvSpPr>
          <p:cNvPr id="28" name="Teaching takeaway"/>
          <p:cNvSpPr/>
          <p:nvPr/>
        </p:nvSpPr>
        <p:spPr>
          <a:xfrm>
            <a:off x="786384" y="424281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ching takeaway text"/>
          <p:cNvSpPr txBox="1"/>
          <p:nvPr/>
        </p:nvSpPr>
        <p:spPr>
          <a:xfrm>
            <a:off x="950976" y="430682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interval 提供 duration；power × duration 形成 energy bucket；action 只標記一次決策。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service／energy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同一工作：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↔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J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降低 idle power 並支付 wake；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維持 awake idle 並增加 awake-idle；service 與整段 J 共同形成結果。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封包生命週期：送出與交付分開判定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22960" y="1078992"/>
            <a:ext cx="104790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是一次嘗試；service 看完整 packet outcome。</a:t>
            </a:r>
          </a:p>
        </p:txBody>
      </p:sp>
      <p:sp>
        <p:nvSpPr>
          <p:cNvPr id="4" name="Packet stage generated"/>
          <p:cNvSpPr/>
          <p:nvPr/>
        </p:nvSpPr>
        <p:spPr>
          <a:xfrm>
            <a:off x="566928" y="1664208"/>
            <a:ext cx="1700784" cy="10972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stage generated heading"/>
          <p:cNvSpPr txBox="1"/>
          <p:nvPr/>
        </p:nvSpPr>
        <p:spPr>
          <a:xfrm>
            <a:off x="73152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generated</a:t>
            </a:r>
          </a:p>
        </p:txBody>
      </p:sp>
      <p:sp>
        <p:nvSpPr>
          <p:cNvPr id="6" name="Packet stage generated body"/>
          <p:cNvSpPr txBox="1"/>
          <p:nvPr/>
        </p:nvSpPr>
        <p:spPr>
          <a:xfrm>
            <a:off x="74980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產生封包</a:t>
            </a:r>
          </a:p>
        </p:txBody>
      </p:sp>
      <p:cxnSp>
        <p:nvCxnSpPr>
          <p:cNvPr id="7" name="Packet arrow"/>
          <p:cNvCxnSpPr/>
          <p:nvPr/>
        </p:nvCxnSpPr>
        <p:spPr>
          <a:xfrm>
            <a:off x="2267712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cket stage queue"/>
          <p:cNvSpPr/>
          <p:nvPr/>
        </p:nvSpPr>
        <p:spPr>
          <a:xfrm>
            <a:off x="2468880" y="1664208"/>
            <a:ext cx="1700784" cy="10972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stage queue heading"/>
          <p:cNvSpPr txBox="1"/>
          <p:nvPr/>
        </p:nvSpPr>
        <p:spPr>
          <a:xfrm>
            <a:off x="2633472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10" name="Packet stage queue body"/>
          <p:cNvSpPr txBox="1"/>
          <p:nvPr/>
        </p:nvSpPr>
        <p:spPr>
          <a:xfrm>
            <a:off x="2651760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進入佇列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169664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attempt"/>
          <p:cNvSpPr/>
          <p:nvPr/>
        </p:nvSpPr>
        <p:spPr>
          <a:xfrm>
            <a:off x="4370832" y="1664208"/>
            <a:ext cx="1700784" cy="10972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attempt heading"/>
          <p:cNvSpPr txBox="1"/>
          <p:nvPr/>
        </p:nvSpPr>
        <p:spPr>
          <a:xfrm>
            <a:off x="4535424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4" name="Packet stage attempt body"/>
          <p:cNvSpPr txBox="1"/>
          <p:nvPr/>
        </p:nvSpPr>
        <p:spPr>
          <a:xfrm>
            <a:off x="4553712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一次傳輸嘗試</a:t>
            </a:r>
          </a:p>
        </p:txBody>
      </p:sp>
      <p:cxnSp>
        <p:nvCxnSpPr>
          <p:cNvPr id="15" name="Packet arrow"/>
          <p:cNvCxnSpPr/>
          <p:nvPr/>
        </p:nvCxnSpPr>
        <p:spPr>
          <a:xfrm>
            <a:off x="6071616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acket stage retry"/>
          <p:cNvSpPr/>
          <p:nvPr/>
        </p:nvSpPr>
        <p:spPr>
          <a:xfrm>
            <a:off x="6272784" y="1664208"/>
            <a:ext cx="1700784" cy="10972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cket stage retry heading"/>
          <p:cNvSpPr txBox="1"/>
          <p:nvPr/>
        </p:nvSpPr>
        <p:spPr>
          <a:xfrm>
            <a:off x="6437376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Packet stage retry body"/>
          <p:cNvSpPr txBox="1"/>
          <p:nvPr/>
        </p:nvSpPr>
        <p:spPr>
          <a:xfrm>
            <a:off x="6455664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碰撞後重試</a:t>
            </a:r>
          </a:p>
        </p:txBody>
      </p:sp>
      <p:cxnSp>
        <p:nvCxnSpPr>
          <p:cNvPr id="19" name="Packet arrow"/>
          <p:cNvCxnSpPr/>
          <p:nvPr/>
        </p:nvCxnSpPr>
        <p:spPr>
          <a:xfrm>
            <a:off x="7973568" y="2212848"/>
            <a:ext cx="128015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cket stage delivered"/>
          <p:cNvSpPr/>
          <p:nvPr/>
        </p:nvSpPr>
        <p:spPr>
          <a:xfrm>
            <a:off x="8174736" y="1664208"/>
            <a:ext cx="1700784" cy="10972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stage delivered heading"/>
          <p:cNvSpPr txBox="1"/>
          <p:nvPr/>
        </p:nvSpPr>
        <p:spPr>
          <a:xfrm>
            <a:off x="8339328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22" name="Packet stage delivered body"/>
          <p:cNvSpPr txBox="1"/>
          <p:nvPr/>
        </p:nvSpPr>
        <p:spPr>
          <a:xfrm>
            <a:off x="8357616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成功交付 bit</a:t>
            </a:r>
          </a:p>
        </p:txBody>
      </p:sp>
      <p:cxnSp>
        <p:nvCxnSpPr>
          <p:cNvPr id="23" name="Packet arrow"/>
          <p:cNvCxnSpPr/>
          <p:nvPr/>
        </p:nvCxnSpPr>
        <p:spPr>
          <a:xfrm>
            <a:off x="9875520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cket stage expired"/>
          <p:cNvSpPr/>
          <p:nvPr/>
        </p:nvSpPr>
        <p:spPr>
          <a:xfrm>
            <a:off x="10076688" y="1664208"/>
            <a:ext cx="1700784" cy="10972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cket stage expired heading"/>
          <p:cNvSpPr txBox="1"/>
          <p:nvPr/>
        </p:nvSpPr>
        <p:spPr>
          <a:xfrm>
            <a:off x="1024128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6" name="Packet stage expired body"/>
          <p:cNvSpPr txBox="1"/>
          <p:nvPr/>
        </p:nvSpPr>
        <p:spPr>
          <a:xfrm>
            <a:off x="1025956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逾時未交付</a:t>
            </a:r>
          </a:p>
        </p:txBody>
      </p:sp>
      <p:sp>
        <p:nvSpPr>
          <p:cNvPr id="27" name="Packet ledger"/>
          <p:cNvSpPr/>
          <p:nvPr/>
        </p:nvSpPr>
        <p:spPr>
          <a:xfrm>
            <a:off x="950976" y="3054096"/>
            <a:ext cx="4736592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cket ledger heading"/>
          <p:cNvSpPr txBox="1"/>
          <p:nvPr/>
        </p:nvSpPr>
        <p:spPr>
          <a:xfrm>
            <a:off x="1115568" y="3200400"/>
            <a:ext cx="44074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29" name="Packet ledger body"/>
          <p:cNvSpPr txBox="1"/>
          <p:nvPr/>
        </p:nvSpPr>
        <p:spPr>
          <a:xfrm>
            <a:off x="1133856" y="3584448"/>
            <a:ext cx="4370831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attempted（嘗試次數）≠ delivered（交付 bit）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collision／retry／expired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 outcome</a:t>
            </a:r>
          </a:p>
        </p:txBody>
      </p:sp>
      <p:sp>
        <p:nvSpPr>
          <p:cNvPr id="30" name="Packet service"/>
          <p:cNvSpPr/>
          <p:nvPr/>
        </p:nvSpPr>
        <p:spPr>
          <a:xfrm>
            <a:off x="6181344" y="3054096"/>
            <a:ext cx="4974336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cket service heading"/>
          <p:cNvSpPr txBox="1"/>
          <p:nvPr/>
        </p:nvSpPr>
        <p:spPr>
          <a:xfrm>
            <a:off x="6345936" y="320040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32" name="Packet service body"/>
          <p:cNvSpPr txBox="1"/>
          <p:nvPr/>
        </p:nvSpPr>
        <p:spPr>
          <a:xfrm>
            <a:off x="6364224" y="3584448"/>
            <a:ext cx="460857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deadline（期限）、freshness（新鮮度）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共同定義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（服務布林狀態）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的比較順序</a:t>
            </a:r>
          </a:p>
        </p:txBody>
      </p:sp>
      <p:sp>
        <p:nvSpPr>
          <p:cNvPr id="3" name="Gate same identity"/>
          <p:cNvSpPr/>
          <p:nvPr/>
        </p:nvSpPr>
        <p:spPr>
          <a:xfrm>
            <a:off x="621792" y="1353312"/>
            <a:ext cx="2487168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ate same identity heading"/>
          <p:cNvSpPr txBox="1"/>
          <p:nvPr/>
        </p:nvSpPr>
        <p:spPr>
          <a:xfrm>
            <a:off x="786384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same identity</a:t>
            </a:r>
          </a:p>
        </p:txBody>
      </p:sp>
      <p:sp>
        <p:nvSpPr>
          <p:cNvPr id="5" name="Gate same identity body"/>
          <p:cNvSpPr txBox="1"/>
          <p:nvPr/>
        </p:nvSpPr>
        <p:spPr>
          <a:xfrm>
            <a:off x="804672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情境／policy／scope 一致</a:t>
            </a:r>
          </a:p>
        </p:txBody>
      </p:sp>
      <p:cxnSp>
        <p:nvCxnSpPr>
          <p:cNvPr id="6" name="Gate arrow"/>
          <p:cNvCxnSpPr/>
          <p:nvPr/>
        </p:nvCxnSpPr>
        <p:spPr>
          <a:xfrm>
            <a:off x="3108960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ate delivered / deadline"/>
          <p:cNvSpPr/>
          <p:nvPr/>
        </p:nvSpPr>
        <p:spPr>
          <a:xfrm>
            <a:off x="3401568" y="1353312"/>
            <a:ext cx="2487168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te delivered / deadline heading"/>
          <p:cNvSpPr txBox="1"/>
          <p:nvPr/>
        </p:nvSpPr>
        <p:spPr>
          <a:xfrm>
            <a:off x="3566160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sp>
        <p:nvSpPr>
          <p:cNvPr id="9" name="Gate delivered / deadline body"/>
          <p:cNvSpPr txBox="1"/>
          <p:nvPr/>
        </p:nvSpPr>
        <p:spPr>
          <a:xfrm>
            <a:off x="3584448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交付 bit 與期限</a:t>
            </a:r>
          </a:p>
        </p:txBody>
      </p:sp>
      <p:cxnSp>
        <p:nvCxnSpPr>
          <p:cNvPr id="10" name="Gate arrow"/>
          <p:cNvCxnSpPr/>
          <p:nvPr/>
        </p:nvCxnSpPr>
        <p:spPr>
          <a:xfrm>
            <a:off x="5888736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ate service_pass"/>
          <p:cNvSpPr/>
          <p:nvPr/>
        </p:nvSpPr>
        <p:spPr>
          <a:xfrm>
            <a:off x="6181344" y="1353312"/>
            <a:ext cx="2487168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 service_pass heading"/>
          <p:cNvSpPr txBox="1"/>
          <p:nvPr/>
        </p:nvSpPr>
        <p:spPr>
          <a:xfrm>
            <a:off x="6345936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3" name="Gate service_pass body"/>
          <p:cNvSpPr txBox="1"/>
          <p:nvPr/>
        </p:nvSpPr>
        <p:spPr>
          <a:xfrm>
            <a:off x="6364224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gate：布林狀態</a:t>
            </a:r>
          </a:p>
        </p:txBody>
      </p:sp>
      <p:cxnSp>
        <p:nvCxnSpPr>
          <p:cNvPr id="14" name="Gate arrow"/>
          <p:cNvCxnSpPr/>
          <p:nvPr/>
        </p:nvCxnSpPr>
        <p:spPr>
          <a:xfrm>
            <a:off x="8668512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ate endpoint J"/>
          <p:cNvSpPr/>
          <p:nvPr/>
        </p:nvSpPr>
        <p:spPr>
          <a:xfrm>
            <a:off x="8961120" y="1353312"/>
            <a:ext cx="2487168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te endpoint J heading"/>
          <p:cNvSpPr txBox="1"/>
          <p:nvPr/>
        </p:nvSpPr>
        <p:spPr>
          <a:xfrm>
            <a:off x="9125712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7" name="Gate endpoint J body"/>
          <p:cNvSpPr txBox="1"/>
          <p:nvPr/>
        </p:nvSpPr>
        <p:spPr>
          <a:xfrm>
            <a:off x="9144000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端點累積能量（J）</a:t>
            </a:r>
          </a:p>
        </p:txBody>
      </p:sp>
      <p:sp>
        <p:nvSpPr>
          <p:cNvPr id="18" name="Gate explanation"/>
          <p:cNvSpPr txBox="1"/>
          <p:nvPr/>
        </p:nvSpPr>
        <p:spPr>
          <a:xfrm>
            <a:off x="914400" y="2816352"/>
            <a:ext cx="1031443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的 delivered／required packet／deadline 共同定義 service；較低的 J 仍須放回相同 endpoint scope。</a:t>
            </a:r>
          </a:p>
        </p:txBody>
      </p:sp>
      <p:sp>
        <p:nvSpPr>
          <p:cNvPr id="19" name="Teaching takeaway"/>
          <p:cNvSpPr/>
          <p:nvPr/>
        </p:nvSpPr>
        <p:spPr>
          <a:xfrm>
            <a:off x="786384" y="38770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ching takeaway text"/>
          <p:cNvSpPr txBox="1"/>
          <p:nvPr/>
        </p:nvSpPr>
        <p:spPr>
          <a:xfrm>
            <a:off x="950976" y="39410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相同 scenario、traffic、window 與 scope 下，candidate 的 service verdict 決定 J 差異的解讀。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是瞬間功率，J 是整段累積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932688" y="107899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低峰值不保證低總 J；時間是因果的一部分。</a:t>
            </a:r>
          </a:p>
        </p:txBody>
      </p:sp>
      <p:cxnSp>
        <p:nvCxnSpPr>
          <p:cNvPr id="4" name="Time axis"/>
          <p:cNvCxnSpPr/>
          <p:nvPr/>
        </p:nvCxnSpPr>
        <p:spPr>
          <a:xfrm>
            <a:off x="1335024" y="3803904"/>
            <a:ext cx="921715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ower axis"/>
          <p:cNvCxnSpPr/>
          <p:nvPr/>
        </p:nvCxnSpPr>
        <p:spPr>
          <a:xfrm flipV="1">
            <a:off x="1335024" y="1737360"/>
            <a:ext cx="0" cy="2066544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ower curve"/>
          <p:cNvCxnSpPr/>
          <p:nvPr/>
        </p:nvCxnSpPr>
        <p:spPr>
          <a:xfrm flipV="1">
            <a:off x="1554480" y="2944368"/>
            <a:ext cx="1188720" cy="45720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curve"/>
          <p:cNvCxnSpPr/>
          <p:nvPr/>
        </p:nvCxnSpPr>
        <p:spPr>
          <a:xfrm flipV="1">
            <a:off x="2743200" y="2377440"/>
            <a:ext cx="1207008" cy="5669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>
            <a:off x="3950208" y="2377440"/>
            <a:ext cx="1188720" cy="768096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5138928" y="2121408"/>
            <a:ext cx="1225296" cy="10241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6364224" y="2121408"/>
            <a:ext cx="1207007" cy="65836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7571231" y="1993392"/>
            <a:ext cx="1280161" cy="786384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8851392" y="1993392"/>
            <a:ext cx="1389888" cy="64008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wer sample"/>
          <p:cNvSpPr/>
          <p:nvPr/>
        </p:nvSpPr>
        <p:spPr>
          <a:xfrm>
            <a:off x="1481328" y="33284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wer sample"/>
          <p:cNvSpPr/>
          <p:nvPr/>
        </p:nvSpPr>
        <p:spPr>
          <a:xfrm>
            <a:off x="2670048" y="28712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wer sample"/>
          <p:cNvSpPr/>
          <p:nvPr/>
        </p:nvSpPr>
        <p:spPr>
          <a:xfrm>
            <a:off x="3877056" y="2304288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5065776" y="307238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6291072" y="2048255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7498079" y="270662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8778240" y="192024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10168128" y="256032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label"/>
          <p:cNvSpPr txBox="1"/>
          <p:nvPr/>
        </p:nvSpPr>
        <p:spPr>
          <a:xfrm>
            <a:off x="1426464" y="15361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功率 power / W</a:t>
            </a:r>
          </a:p>
        </p:txBody>
      </p:sp>
      <p:sp>
        <p:nvSpPr>
          <p:cNvPr id="22" name="Time label"/>
          <p:cNvSpPr txBox="1"/>
          <p:nvPr/>
        </p:nvSpPr>
        <p:spPr>
          <a:xfrm>
            <a:off x="9070848" y="3968496"/>
            <a:ext cx="140817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時間 time / s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功率高度 × 時間跨度 → endpoint energy；state bucket 定義總和的組成。</a:t>
            </a:r>
          </a:p>
        </p:txBody>
      </p:sp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math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621792" y="164592"/>
            <ns1:ext cx="10927080" cy="566928"/>
          </ns1:xfrm>
        </ns0:spPr>
        <ns0:txBody>
          <ns1:bodyPr wrap="square" lIns="18288" tIns="0" rIns="18288" bIns="0" anchor="ctr"/>
          <ns1:lstStyle/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endpoint energy 公式只涵蓋 endpoint 邊界</ns1:t>
            </ns1:r>
          </ns1:p>
        </ns0:txBody>
      </ns0:sp>
      <ns0:sp>
        <ns0:nvSpPr>
          <ns0:cNvPr id="3" name="NATIVE_EQUATION_HOOK_E_endpoint"/>
          <ns0:cNvSpPr/>
          <ns0:nvPr/>
        </ns0:nvSpPr>
        <ns0:spPr>
          <ns1:xfrm>
            <ns1:off x="658368" y="1078992"/>
            <ns1:ext cx="10881360" cy="3401568"/>
          </ns1:xfrm>
          <ns1:prstGeom prst="roundRect">
            <ns1:avLst/>
          </ns1:prstGeom>
          <ns1:solidFill>
            <ns1:srgbClr val="FAF7E8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hook label E_endpoint"/>
          <ns0:cNvSpPr txBox="1"/>
          <ns0:nvPr/>
        </ns0:nvSpPr>
        <ns0:spPr>
          <ns1:xfrm>
            <ns1:off x="932688" y="1298448"/>
            <ns1:ext cx="1033272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MATH｜公式邊界</ns1:t>
            </ns1:r>
          </ns1:p>
        </ns0:txBody>
      </ns0:sp>
      <ns0:sp>
        <ns0:nvSpPr>
          <ns0:cNvPr id="6" name="Formula scope"/>
          <ns0:cNvSpPr txBox="1"/>
          <ns0:nvPr/>
        </ns0:nvSpPr>
        <ns0:spPr>
          <ns1:xfrm>
            <ns1:off x="987552" y="3090672"/>
            <ns1:ext cx="10168128" cy="78638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P_s（state power，W）× t_s（停留時間，s）；scope：radio／processing；satellite、gateway、whole-system wall-plug 不在此式</ns1:t>
            </ns1:r>
          </ns1:p>
        </ns0:txBody>
      </ns0:sp>
      <ns0:sp>
        <ns0:nvSpPr>
          <ns0:cNvPr id="7" name="Teaching takeaway"/>
          <ns0:cNvSpPr/>
          <ns0:nvPr/>
        </ns0:nvSpPr>
        <ns0:spPr>
          <ns1:xfrm>
            <ns1:off x="786384" y="4480560"/>
            <ns1:ext cx="10588752" cy="640080"/>
          </ns1:xfrm>
          <ns1:prstGeom prst="roundRect">
            <ns1:avLst/>
          </ns1:prstGeom>
          <ns1:solidFill>
            <ns1:srgbClr val="ECF1FE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aching takeaway text"/>
          <ns0:cNvSpPr txBox="1"/>
          <ns0:nvPr/>
        </ns0:nvSpPr>
        <ns0:spPr>
          <ns1:xfrm>
            <ns1:off x="950976" y="4544568"/>
            <ns1:ext cx="10259568" cy="51206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0" rIns="18288" bIns="0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19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定義累積／比值語義；本次數值來源為 result artifact。</ns1:t>
            </ns1:r>
          </ns1:p>
        </ns0:txBody>
      </ns0:sp>
      <ns0:sp>
        <ns0:nvSpPr>
          <ns0:cNvPr id="9" name="Native Office Math E_endpoint" title="E_endpoint" descr="E_{\mathrm{endpoint}} = \sum_{s \in S} P_s t_s"/>
          <ns0:cNvSpPr>
            <ns1:spLocks noGrp="1"/>
          </ns0:cNvSpPr>
          <ns0:nvPr/>
        </ns0:nvSpPr>
        <ns0:spPr>
          <ns1:xfrm>
            <ns1:off x="609600" y="1714500"/>
            <ns1:ext cx="10972800" cy="979714"/>
          </ns1:xfrm>
          <ns1:noFill/>
          <ns1:ln>
            <ns1:noFill/>
          </ns1:ln>
        </ns0:spPr>
        <ns0:txBody>
          <ns1:bodyPr anchor="ctr" wrap="none"/>
          <ns1:lstStyle/>
          <ns1:p>
            <ns1:pPr algn="ctr"/>
            <ns2:m>
              <ns3:oMathPara>
                <ns3:oMath>
                  <ns3:sSub>
                    <ns3:sSubPr/>
                    <ns3:e>
                      <ns3:r>
                        <ns1:rPr lang="en-US" altLang="en-US" sz="3000" dirty="0">
                          <ns1:latin typeface="Cambria Math"/>
                        </ns1:rPr>
                        <ns3:t>E</ns3:t>
                      </ns3:r>
                    </ns3:e>
                    <ns3:e>
                      <ns3:r>
                        <ns1:rPr lang="en-US" altLang="en-US" sz="3000" dirty="0" i="0">
                          <ns1:latin typeface="Cambria Math"/>
                        </ns1:rPr>
                        <ns3:t>endpoint</ns3:t>
                      </ns3:r>
                    </ns3:e>
                  </ns3:sSub>
                  <ns3:r>
                    <ns1:rPr lang="en-US" altLang="en-US" sz="3000" dirty="0">
                      <ns1:latin typeface="Cambria Math"/>
                    </ns1:rPr>
                    <ns3:t xml:space="preserve"> = </ns3:t>
                  </ns3:r>
                  <ns3:nary>
                    <ns3:naryPr>
                      <ns3:chr ns3:val="∑"/>
                      <ns3:limLoc ns3:val="undOvr"/>
                      <ns3:grow ns3:val="1"/>
                    </ns3:naryPr>
                    <ns3:sub>
                      <ns3:r>
                        <ns1:rPr lang="en-US" altLang="en-US" sz="3000" dirty="0">
                          <ns1:latin typeface="Cambria Math"/>
                        </ns1:rPr>
                        <ns3:t>s</ns3:t>
                      </ns3:r>
                      <ns3:r>
                        <ns1:rPr lang="en-US" altLang="en-US" sz="3000" dirty="0">
                          <ns1:latin typeface="Cambria Math"/>
                        </ns1:rPr>
                        <ns3:t xml:space="preserve"> ∈ </ns3:t>
                      </ns3:r>
                      <ns3:r>
                        <ns1:rPr lang="en-US" altLang="en-US" sz="3000" dirty="0">
                          <ns1:latin typeface="Cambria Math"/>
                        </ns1:rPr>
                        <ns3:t>S</ns3:t>
                      </ns3:r>
                    </ns3:sub>
                    <ns3:sup/>
                    <ns3:e>
                      <ns3:sSub>
                        <ns3:sSubPr/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P</ns3:t>
                          </ns3:r>
                        </ns3:e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s</ns3:t>
                          </ns3:r>
                        </ns3:e>
                      </ns3:sSub>
                      <ns3:r>
                        <ns1:rPr lang="en-US" altLang="en-US" sz="3000" dirty="0">
                          <ns1:latin typeface="Cambria Math"/>
                        </ns1:rPr>
                        <ns3:t xml:space="preserve"> </ns3:t>
                      </ns3:r>
                      <ns3:sSub>
                        <ns3:sSubPr/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t</ns3:t>
                          </ns3:r>
                        </ns3:e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s</ns3:t>
                          </ns3:r>
                        </ns3:e>
                      </ns3:sSub>
                    </ns3:e>
                  </ns3:nary>
                </ns3:oMath>
              </ns3:oMathPara>
            </ns2:m>
            <ns1:endParaRPr lang="en-US" altLang="en-US" sz="300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math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621792" y="164592"/>
            <ns1:ext cx="10927080" cy="566928"/>
          </ns1:xfrm>
        </ns0:spPr>
        <ns0:txBody>
          <ns1:bodyPr wrap="square" lIns="18288" tIns="0" rIns="18288" bIns="0" anchor="ctr"/>
          <ns1:lstStyle/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energy efficiency 的分子與分母要同一個邊界</ns1:t>
            </ns1:r>
          </ns1:p>
        </ns0:txBody>
      </ns0:sp>
      <ns0:sp>
        <ns0:nvSpPr>
          <ns0:cNvPr id="3" name="NATIVE_EQUATION_HOOK_eta_E"/>
          <ns0:cNvSpPr/>
          <ns0:nvPr/>
        </ns0:nvSpPr>
        <ns0:spPr>
          <ns1:xfrm>
            <ns1:off x="658368" y="1078992"/>
            <ns1:ext cx="10881360" cy="3401568"/>
          </ns1:xfrm>
          <ns1:prstGeom prst="roundRect">
            <ns1:avLst/>
          </ns1:prstGeom>
          <ns1:solidFill>
            <ns1:srgbClr val="FAF7E8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hook label eta_E"/>
          <ns0:cNvSpPr txBox="1"/>
          <ns0:nvPr/>
        </ns0:nvSpPr>
        <ns0:spPr>
          <ns1:xfrm>
            <ns1:off x="932688" y="1298448"/>
            <ns1:ext cx="1033272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MATH｜公式邊界</ns1:t>
            </ns1:r>
          </ns1:p>
        </ns0:txBody>
      </ns0:sp>
      <ns0:sp>
        <ns0:nvSpPr>
          <ns0:cNvPr id="6" name="Formula scope"/>
          <ns0:cNvSpPr txBox="1"/>
          <ns0:nvPr/>
        </ns0:nvSpPr>
        <ns0:spPr>
          <ns1:xfrm>
            <ns1:off x="987552" y="3090672"/>
            <ns1:ext cx="10168128" cy="78638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D_delivered（交付資料，bit）÷ E_endpoint（端點能量，J）= bit/J；</ns1:t>
            </ns1:r>
            <ns1:r>
              <ns1:rPr sz="2200" b="0" i="1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service_pass</ns1:t>
            </ns1: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 與 </ns1:t>
            </ns1:r>
            <ns1:r>
              <ns1:rPr sz="2200" b="0" i="1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deadline_pass</ns1:t>
            </ns1: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 另行判定</ns1:t>
            </ns1:r>
          </ns1:p>
        </ns0:txBody>
      </ns0:sp>
      <ns0:sp>
        <ns0:nvSpPr>
          <ns0:cNvPr id="7" name="Teaching takeaway"/>
          <ns0:cNvSpPr/>
          <ns0:nvPr/>
        </ns0:nvSpPr>
        <ns0:spPr>
          <ns1:xfrm>
            <ns1:off x="786384" y="4480560"/>
            <ns1:ext cx="10588752" cy="640080"/>
          </ns1:xfrm>
          <ns1:prstGeom prst="roundRect">
            <ns1:avLst/>
          </ns1:prstGeom>
          <ns1:solidFill>
            <ns1:srgbClr val="ECF1FE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aching takeaway text"/>
          <ns0:cNvSpPr txBox="1"/>
          <ns0:nvPr/>
        </ns0:nvSpPr>
        <ns0:spPr>
          <ns1:xfrm>
            <ns1:off x="950976" y="4544568"/>
            <ns1:ext cx="10259568" cy="51206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0" rIns="18288" bIns="0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19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定義累積／比值語義；本次數值來源為 result artifact。</ns1:t>
            </ns1:r>
          </ns1:p>
        </ns0:txBody>
      </ns0:sp>
      <ns0:sp>
        <ns0:nvSpPr>
          <ns0:cNvPr id="9" name="Native Office Math eta_E" title="eta_E" descr="\eta_E = \frac{D_{\mathrm{delivered}}}{E_{\mathrm{endpoint}}}"/>
          <ns0:cNvSpPr>
            <ns1:spLocks noGrp="1"/>
          </ns0:cNvSpPr>
          <ns0:nvPr/>
        </ns0:nvSpPr>
        <ns0:spPr>
          <ns1:xfrm>
            <ns1:off x="609600" y="1714500"/>
            <ns1:ext cx="10972800" cy="979714"/>
          </ns1:xfrm>
          <ns1:noFill/>
          <ns1:ln>
            <ns1:noFill/>
          </ns1:ln>
        </ns0:spPr>
        <ns0:txBody>
          <ns1:bodyPr anchor="ctr" wrap="none"/>
          <ns1:lstStyle/>
          <ns1:p>
            <ns1:pPr algn="ctr"/>
            <ns2:m>
              <ns3:oMathPara>
                <ns3:oMath>
                  <ns3:sSub>
                    <ns3:sSubPr/>
                    <ns3:e>
                      <ns3:r>
                        <ns1:rPr lang="en-US" altLang="en-US" sz="3000" dirty="0">
                          <ns1:latin typeface="Cambria Math"/>
                        </ns1:rPr>
                        <ns3:t>η</ns3:t>
                      </ns3:r>
                    </ns3:e>
                    <ns3:e>
                      <ns3:r>
                        <ns1:rPr lang="en-US" altLang="en-US" sz="3000" dirty="0">
                          <ns1:latin typeface="Cambria Math"/>
                        </ns1:rPr>
                        <ns3:t>E</ns3:t>
                      </ns3:r>
                    </ns3:e>
                  </ns3:sSub>
                  <ns3:r>
                    <ns1:rPr lang="en-US" altLang="en-US" sz="3000" dirty="0">
                      <ns1:latin typeface="Cambria Math"/>
                    </ns1:rPr>
                    <ns3:t xml:space="preserve"> = </ns3:t>
                  </ns3:r>
                  <ns3:f>
                    <ns3:fPr>
                      <ns3:type ns3:val="bar"/>
                    </ns3:fPr>
                    <ns3:num>
                      <ns3:sSub>
                        <ns3:sSubPr/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D</ns3:t>
                          </ns3:r>
                        </ns3:e>
                        <ns3:e>
                          <ns3:r>
                            <ns1:rPr lang="en-US" altLang="en-US" sz="3000" dirty="0" i="0">
                              <ns1:latin typeface="Cambria Math"/>
                            </ns1:rPr>
                            <ns3:t>delivered</ns3:t>
                          </ns3:r>
                        </ns3:e>
                      </ns3:sSub>
                    </ns3:num>
                    <ns3:den>
                      <ns3:sSub>
                        <ns3:sSubPr/>
                        <ns3:e>
                          <ns3:r>
                            <ns1:rPr lang="en-US" altLang="en-US" sz="3000" dirty="0">
                              <ns1:latin typeface="Cambria Math"/>
                            </ns1:rPr>
                            <ns3:t>E</ns3:t>
                          </ns3:r>
                        </ns3:e>
                        <ns3:e>
                          <ns3:r>
                            <ns1:rPr lang="en-US" altLang="en-US" sz="3000" dirty="0" i="0">
                              <ns1:latin typeface="Cambria Math"/>
                            </ns1:rPr>
                            <ns3:t>endpoint</ns3:t>
                          </ns3:r>
                        </ns3:e>
                      </ns3:sSub>
                    </ns3:den>
                  </ns3:f>
                </ns3:oMath>
              </ns3:oMathPara>
            </ns2:m>
            <ns1:endParaRPr lang="en-US" altLang="en-US" sz="3000" dirty="0"/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來源、模型、課程假設與結果要分開</a:t>
            </a:r>
          </a:p>
        </p:txBody>
      </p:sp>
      <p:sp>
        <p:nvSpPr>
          <p:cNvPr id="3" name="Provenance SOURCE"/>
          <p:cNvSpPr/>
          <p:nvPr/>
        </p:nvSpPr>
        <p:spPr>
          <a:xfrm>
            <a:off x="969264" y="1078992"/>
            <a:ext cx="10021824" cy="6035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venance SOURCE label"/>
          <p:cNvSpPr txBox="1"/>
          <p:nvPr/>
        </p:nvSpPr>
        <p:spPr>
          <a:xfrm>
            <a:off x="1170432" y="1170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Provenance SOURCE body"/>
          <p:cNvSpPr txBox="1"/>
          <p:nvPr/>
        </p:nvSpPr>
        <p:spPr>
          <a:xfrm>
            <a:off x="2487168" y="1170432"/>
            <a:ext cx="8065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provenance：輸入與參考</a:t>
            </a:r>
          </a:p>
        </p:txBody>
      </p:sp>
      <p:sp>
        <p:nvSpPr>
          <p:cNvPr id="6" name="Provenance MODEL"/>
          <p:cNvSpPr/>
          <p:nvPr/>
        </p:nvSpPr>
        <p:spPr>
          <a:xfrm>
            <a:off x="1261872" y="1956815"/>
            <a:ext cx="9436608" cy="6035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MODEL label"/>
          <p:cNvSpPr txBox="1"/>
          <p:nvPr/>
        </p:nvSpPr>
        <p:spPr>
          <a:xfrm>
            <a:off x="1463040" y="2048255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8" name="Provenance MODEL body"/>
          <p:cNvSpPr txBox="1"/>
          <p:nvPr/>
        </p:nvSpPr>
        <p:spPr>
          <a:xfrm>
            <a:off x="2779776" y="2048255"/>
            <a:ext cx="7479792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模型：coherent simulated adapter</a:t>
            </a:r>
          </a:p>
        </p:txBody>
      </p:sp>
      <p:sp>
        <p:nvSpPr>
          <p:cNvPr id="9" name="Provenance COURSE"/>
          <p:cNvSpPr/>
          <p:nvPr/>
        </p:nvSpPr>
        <p:spPr>
          <a:xfrm>
            <a:off x="1554480" y="2834639"/>
            <a:ext cx="8851392" cy="60350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COURSE label"/>
          <p:cNvSpPr txBox="1"/>
          <p:nvPr/>
        </p:nvSpPr>
        <p:spPr>
          <a:xfrm>
            <a:off x="1755648" y="2926079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sp>
        <p:nvSpPr>
          <p:cNvPr id="11" name="Provenance COURSE body"/>
          <p:cNvSpPr txBox="1"/>
          <p:nvPr/>
        </p:nvSpPr>
        <p:spPr>
          <a:xfrm>
            <a:off x="3072384" y="2926079"/>
            <a:ext cx="689457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課程固定條件：scenario／endpoint</a:t>
            </a:r>
          </a:p>
        </p:txBody>
      </p:sp>
      <p:sp>
        <p:nvSpPr>
          <p:cNvPr id="12" name="Provenance RESULT"/>
          <p:cNvSpPr/>
          <p:nvPr/>
        </p:nvSpPr>
        <p:spPr>
          <a:xfrm>
            <a:off x="1847088" y="3712463"/>
            <a:ext cx="8266176" cy="6035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RESULT label"/>
          <p:cNvSpPr txBox="1"/>
          <p:nvPr/>
        </p:nvSpPr>
        <p:spPr>
          <a:xfrm>
            <a:off x="2048256" y="3803903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4" name="Provenance RESULT body"/>
          <p:cNvSpPr txBox="1"/>
          <p:nvPr/>
        </p:nvSpPr>
        <p:spPr>
          <a:xfrm>
            <a:off x="3364992" y="3803903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輸出：JSON + endpoint replay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59028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65429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資料類型：coherent simulated result；provenance 連結 input、policy、scenario、seed 與 output。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執行結果如何進入重播與工作簿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749808" y="1078992"/>
            <a:ext cx="3328416" cy="31455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914400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5" name="Identity source body"/>
          <p:cNvSpPr txBox="1"/>
          <p:nvPr/>
        </p:nvSpPr>
        <p:spPr>
          <a:xfrm>
            <a:off x="932688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 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字串識別碼；非能量值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來源：scenario package</a:t>
            </a:r>
          </a:p>
        </p:txBody>
      </p:sp>
      <p:sp>
        <p:nvSpPr>
          <p:cNvPr id="6" name="Identity result"/>
          <p:cNvSpPr/>
          <p:nvPr/>
        </p:nvSpPr>
        <p:spPr>
          <a:xfrm>
            <a:off x="4425696" y="1078992"/>
            <a:ext cx="3328416" cy="31455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result heading"/>
          <p:cNvSpPr txBox="1"/>
          <p:nvPr/>
        </p:nvSpPr>
        <p:spPr>
          <a:xfrm>
            <a:off x="4590288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執行 RUN → result</a:t>
            </a:r>
          </a:p>
        </p:txBody>
      </p:sp>
      <p:sp>
        <p:nvSpPr>
          <p:cNvPr id="8" name="Identity result body"/>
          <p:cNvSpPr txBox="1"/>
          <p:nvPr/>
        </p:nvSpPr>
        <p:spPr>
          <a:xfrm>
            <a:off x="4608576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讀 scenario／case／policy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 result.json（數值與 units）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Identity replay"/>
          <p:cNvSpPr/>
          <p:nvPr/>
        </p:nvSpPr>
        <p:spPr>
          <a:xfrm>
            <a:off x="8101583" y="1078992"/>
            <a:ext cx="3328416" cy="31455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replay heading"/>
          <p:cNvSpPr txBox="1"/>
          <p:nvPr/>
        </p:nvSpPr>
        <p:spPr>
          <a:xfrm>
            <a:off x="8266175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REPLAY／工作簿</a:t>
            </a:r>
          </a:p>
        </p:txBody>
      </p:sp>
      <p:sp>
        <p:nvSpPr>
          <p:cNvPr id="11" name="Identity replay body"/>
          <p:cNvSpPr txBox="1"/>
          <p:nvPr/>
        </p:nvSpPr>
        <p:spPr>
          <a:xfrm>
            <a:off x="8284463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REPLAY：同 run events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WORKBOOK：baseline／candidate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freeze／withheld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一致性：run_id、policy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units、provenance</a:t>
            </a:r>
          </a:p>
        </p:txBody>
      </p:sp>
      <p:cxnSp>
        <p:nvCxnSpPr>
          <p:cNvPr id="12" name="Identity arrow"/>
          <p:cNvCxnSpPr/>
          <p:nvPr/>
        </p:nvCxnSpPr>
        <p:spPr>
          <a:xfrm>
            <a:off x="4096512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Identity arrow"/>
          <p:cNvCxnSpPr/>
          <p:nvPr/>
        </p:nvCxnSpPr>
        <p:spPr>
          <a:xfrm>
            <a:off x="7772400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aching takeaway"/>
          <p:cNvSpPr/>
          <p:nvPr/>
        </p:nvSpPr>
        <p:spPr>
          <a:xfrm>
            <a:off x="786384" y="455371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ching takeaway text"/>
          <p:cNvSpPr txBox="1"/>
          <p:nvPr/>
        </p:nvSpPr>
        <p:spPr>
          <a:xfrm>
            <a:off x="950976" y="461772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一致性核對：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、run_id、policy identity、units 與 provenance 共同決定配對資格。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Baseline：固定條件下的 control execution</a:t>
            </a:r>
          </a:p>
        </p:txBody>
      </p:sp>
      <p:sp>
        <p:nvSpPr>
          <p:cNvPr id="3" name="Control FIXED 固定條件"/>
          <p:cNvSpPr/>
          <p:nvPr/>
        </p:nvSpPr>
        <p:spPr>
          <a:xfrm>
            <a:off x="822960" y="1207008"/>
            <a:ext cx="3310128" cy="182880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rol FIXED 固定條件 heading"/>
          <p:cNvSpPr txBox="1"/>
          <p:nvPr/>
        </p:nvSpPr>
        <p:spPr>
          <a:xfrm>
            <a:off x="98755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FIXED 固定條件</a:t>
            </a:r>
          </a:p>
        </p:txBody>
      </p:sp>
      <p:sp>
        <p:nvSpPr>
          <p:cNvPr id="5" name="Control FIXED 固定條件 body"/>
          <p:cNvSpPr txBox="1"/>
          <p:nvPr/>
        </p:nvSpPr>
        <p:spPr>
          <a:xfrm>
            <a:off x="100584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scenario（情境）／seed（種子）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traffic、window、endpoint scope</a:t>
            </a:r>
          </a:p>
        </p:txBody>
      </p:sp>
      <p:cxnSp>
        <p:nvCxnSpPr>
          <p:cNvPr id="6" name="Control arrow"/>
          <p:cNvCxnSpPr/>
          <p:nvPr/>
        </p:nvCxnSpPr>
        <p:spPr>
          <a:xfrm>
            <a:off x="413308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rol ONE EDIT 唯一修改"/>
          <p:cNvSpPr/>
          <p:nvPr/>
        </p:nvSpPr>
        <p:spPr>
          <a:xfrm>
            <a:off x="4572000" y="1207008"/>
            <a:ext cx="3310128" cy="182880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rol ONE EDIT 唯一修改 heading"/>
          <p:cNvSpPr txBox="1"/>
          <p:nvPr/>
        </p:nvSpPr>
        <p:spPr>
          <a:xfrm>
            <a:off x="473659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 唯一修改</a:t>
            </a:r>
          </a:p>
        </p:txBody>
      </p:sp>
      <p:sp>
        <p:nvSpPr>
          <p:cNvPr id="9" name="Control ONE EDIT 唯一修改 body"/>
          <p:cNvSpPr txBox="1"/>
          <p:nvPr/>
        </p:nvSpPr>
        <p:spPr>
          <a:xfrm>
            <a:off x="475488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lab 的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identity 產生差異</a:t>
            </a:r>
          </a:p>
        </p:txBody>
      </p:sp>
      <p:cxnSp>
        <p:nvCxnSpPr>
          <p:cNvPr id="10" name="Control arrow"/>
          <p:cNvCxnSpPr/>
          <p:nvPr/>
        </p:nvCxnSpPr>
        <p:spPr>
          <a:xfrm>
            <a:off x="788212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rol OBSERVE 觀察輸出"/>
          <p:cNvSpPr/>
          <p:nvPr/>
        </p:nvSpPr>
        <p:spPr>
          <a:xfrm>
            <a:off x="8321040" y="1207008"/>
            <a:ext cx="3310128" cy="18288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trol OBSERVE 觀察輸出 heading"/>
          <p:cNvSpPr txBox="1"/>
          <p:nvPr/>
        </p:nvSpPr>
        <p:spPr>
          <a:xfrm>
            <a:off x="848563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OBSERVE 觀察輸出</a:t>
            </a:r>
          </a:p>
        </p:txBody>
      </p:sp>
      <p:sp>
        <p:nvSpPr>
          <p:cNvPr id="13" name="Control OBSERVE 觀察輸出 body"/>
          <p:cNvSpPr txBox="1"/>
          <p:nvPr/>
        </p:nvSpPr>
        <p:spPr>
          <a:xfrm>
            <a:off x="8503919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4" name="Control question"/>
          <p:cNvSpPr txBox="1"/>
          <p:nvPr/>
        </p:nvSpPr>
        <p:spPr>
          <a:xfrm>
            <a:off x="969264" y="3438144"/>
            <a:ext cx="1022299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兩次 result 的 scenario identity、traffic 或 scope 不同時，policy 差異不具因果資格。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= 固定條件下的原始 policy execution；candidate = 一個 marked edit 的比較 execution。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LEO：changing-service-window trace 的輸入範例</a:t>
            </a:r>
          </a:p>
        </p:txBody>
      </p:sp>
      <p:sp>
        <p:nvSpPr>
          <p:cNvPr id="3" name="Window lead"/>
          <p:cNvSpPr txBox="1"/>
          <p:nvPr/>
        </p:nvSpPr>
        <p:spPr>
          <a:xfrm>
            <a:off x="841248" y="1078992"/>
            <a:ext cx="1040587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trace：closed／contact-a／closed／contact-b／closed，作為傳輸時機輸入。</a:t>
            </a:r>
          </a:p>
        </p:txBody>
      </p:sp>
      <p:cxnSp>
        <p:nvCxnSpPr>
          <p:cNvPr id="4" name="Window axis"/>
          <p:cNvCxnSpPr/>
          <p:nvPr/>
        </p:nvCxnSpPr>
        <p:spPr>
          <a:xfrm>
            <a:off x="1005840" y="2578608"/>
            <a:ext cx="989380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closed"/>
          <p:cNvSpPr/>
          <p:nvPr/>
        </p:nvSpPr>
        <p:spPr>
          <a:xfrm>
            <a:off x="109728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closed label"/>
          <p:cNvSpPr txBox="1"/>
          <p:nvPr/>
        </p:nvSpPr>
        <p:spPr>
          <a:xfrm>
            <a:off x="117043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7" name="Window contact-a&#10;quality trace"/>
          <p:cNvSpPr/>
          <p:nvPr/>
        </p:nvSpPr>
        <p:spPr>
          <a:xfrm>
            <a:off x="239572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contact-a&#10;quality trace label"/>
          <p:cNvSpPr txBox="1"/>
          <p:nvPr/>
        </p:nvSpPr>
        <p:spPr>
          <a:xfrm>
            <a:off x="246888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9" name="Window closed"/>
          <p:cNvSpPr/>
          <p:nvPr/>
        </p:nvSpPr>
        <p:spPr>
          <a:xfrm>
            <a:off x="557784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closed label"/>
          <p:cNvSpPr txBox="1"/>
          <p:nvPr/>
        </p:nvSpPr>
        <p:spPr>
          <a:xfrm>
            <a:off x="565099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1" name="Window contact-b&#10;quality trace"/>
          <p:cNvSpPr/>
          <p:nvPr/>
        </p:nvSpPr>
        <p:spPr>
          <a:xfrm>
            <a:off x="687628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contact-b&#10;quality trace label"/>
          <p:cNvSpPr txBox="1"/>
          <p:nvPr/>
        </p:nvSpPr>
        <p:spPr>
          <a:xfrm>
            <a:off x="694944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3" name="Window closed"/>
          <p:cNvSpPr/>
          <p:nvPr/>
        </p:nvSpPr>
        <p:spPr>
          <a:xfrm>
            <a:off x="1005840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closed label"/>
          <p:cNvSpPr txBox="1"/>
          <p:nvPr/>
        </p:nvSpPr>
        <p:spPr>
          <a:xfrm>
            <a:off x="1013155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39319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39959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contact_open（窗口布林狀態）、quality_band（品質等級）、contact_remaining_s（剩餘秒數）→ policy observation；closed 時 action=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A：等待空檔的 radio state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機制假說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edit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compare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hidden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（低功耗休息）→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cost；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（清醒閒置）→ awake-idle energy。唯一修改：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A-00：Baseline decision 與 Trace evidence</a:t>
            </a:r>
          </a:p>
        </p:txBody>
      </p:sp>
      <p:sp>
        <p:nvSpPr>
          <p:cNvPr id="3" name="Baseline A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DECISION</a:t>
            </a:r>
          </a:p>
        </p:txBody>
      </p:sp>
      <p:sp>
        <p:nvSpPr>
          <p:cNvPr id="5" name="Baseline A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contact_open=false（窗口布林）→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（步數）→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gap 結束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／SEND decision</a:t>
            </a:r>
          </a:p>
        </p:txBody>
      </p:sp>
      <p:sp>
        <p:nvSpPr>
          <p:cNvPr id="6" name="Baseline A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A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A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P042 第一條 stdout 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4,800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實際數字以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為準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參考 baseline：6.92 J、4,800 bit、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=FAIL；實際以 stdout path 為準。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A-01：把空檔的 REST 改成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3" name="Edit POSIX command"/>
          <p:cNvSpPr/>
          <p:nvPr/>
        </p:nvSpPr>
        <p:spPr>
          <a:xfrm>
            <a:off x="749808" y="1078992"/>
            <a:ext cx="5230368" cy="144475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 Windows command"/>
          <p:cNvSpPr/>
          <p:nvPr/>
        </p:nvSpPr>
        <p:spPr>
          <a:xfrm>
            <a:off x="6181344" y="1078992"/>
            <a:ext cx="5230368" cy="144475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POSIX label"/>
          <p:cNvSpPr txBox="1"/>
          <p:nvPr/>
        </p:nvSpPr>
        <p:spPr>
          <a:xfrm>
            <a:off x="914400" y="117043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/ WSL exact</a:t>
            </a:r>
          </a:p>
        </p:txBody>
      </p:sp>
      <p:sp>
        <p:nvSpPr>
          <p:cNvPr id="6" name="Edit Windows label"/>
          <p:cNvSpPr txBox="1"/>
          <p:nvPr/>
        </p:nvSpPr>
        <p:spPr>
          <a:xfrm>
            <a:off x="6345936" y="117043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CMD exact</a:t>
            </a:r>
          </a:p>
        </p:txBody>
      </p:sp>
      <p:sp>
        <p:nvSpPr>
          <p:cNvPr id="7" name="Edit POSIX line 1"/>
          <p:cNvSpPr txBox="1"/>
          <p:nvPr/>
        </p:nvSpPr>
        <p:spPr>
          <a:xfrm>
            <a:off x="896112" y="14264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Edit POSIX line 2"/>
          <p:cNvSpPr txBox="1"/>
          <p:nvPr/>
        </p:nvSpPr>
        <p:spPr>
          <a:xfrm>
            <a:off x="896112" y="16550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student_policy.before-A-edit.py</a:t>
            </a:r>
          </a:p>
        </p:txBody>
      </p:sp>
      <p:sp>
        <p:nvSpPr>
          <p:cNvPr id="9" name="Edit POSIX line 3"/>
          <p:cNvSpPr txBox="1"/>
          <p:nvPr/>
        </p:nvSpPr>
        <p:spPr>
          <a:xfrm>
            <a:off x="896112" y="18836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</a:t>
            </a:r>
          </a:p>
        </p:txBody>
      </p:sp>
      <p:sp>
        <p:nvSpPr>
          <p:cNvPr id="10" name="Edit POSIX line 4"/>
          <p:cNvSpPr txBox="1"/>
          <p:nvPr/>
        </p:nvSpPr>
        <p:spPr>
          <a:xfrm>
            <a:off x="896112" y="21122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1" name="Edit Windows line 1"/>
          <p:cNvSpPr txBox="1"/>
          <p:nvPr/>
        </p:nvSpPr>
        <p:spPr>
          <a:xfrm>
            <a:off x="6327648" y="14264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 /Y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Edit Windows line 2"/>
          <p:cNvSpPr txBox="1"/>
          <p:nvPr/>
        </p:nvSpPr>
        <p:spPr>
          <a:xfrm>
            <a:off x="6327648" y="16550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student_policy.before-A-edit.py</a:t>
            </a:r>
          </a:p>
        </p:txBody>
      </p:sp>
      <p:sp>
        <p:nvSpPr>
          <p:cNvPr id="13" name="Edit Windows line 3"/>
          <p:cNvSpPr txBox="1"/>
          <p:nvPr/>
        </p:nvSpPr>
        <p:spPr>
          <a:xfrm>
            <a:off x="6327648" y="18836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 -m py_compile</a:t>
            </a:r>
          </a:p>
        </p:txBody>
      </p:sp>
      <p:sp>
        <p:nvSpPr>
          <p:cNvPr id="14" name="Edit Windows line 4"/>
          <p:cNvSpPr txBox="1"/>
          <p:nvPr/>
        </p:nvSpPr>
        <p:spPr>
          <a:xfrm>
            <a:off x="6327648" y="21122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5" name="Edit A code"/>
          <p:cNvSpPr/>
          <p:nvPr/>
        </p:nvSpPr>
        <p:spPr>
          <a:xfrm>
            <a:off x="749808" y="2798064"/>
            <a:ext cx="6565392" cy="16093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 A code heading"/>
          <p:cNvSpPr txBox="1"/>
          <p:nvPr/>
        </p:nvSpPr>
        <p:spPr>
          <a:xfrm>
            <a:off x="914400" y="2944368"/>
            <a:ext cx="62362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｜MARKED BLOCK</a:t>
            </a:r>
          </a:p>
        </p:txBody>
      </p:sp>
      <p:sp>
        <p:nvSpPr>
          <p:cNvPr id="17" name="Edit A code body"/>
          <p:cNvSpPr txBox="1"/>
          <p:nvPr/>
        </p:nvSpPr>
        <p:spPr>
          <a:xfrm>
            <a:off x="932688" y="3328416"/>
            <a:ext cx="6199631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lab-a-pace-rest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（空檔步數）=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（空檔 action）=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唯一修改：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Edit A mechanism"/>
          <p:cNvSpPr/>
          <p:nvPr/>
        </p:nvSpPr>
        <p:spPr>
          <a:xfrm>
            <a:off x="7626096" y="2798064"/>
            <a:ext cx="3529584" cy="16093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 A mechanism heading"/>
          <p:cNvSpPr txBox="1"/>
          <p:nvPr/>
        </p:nvSpPr>
        <p:spPr>
          <a:xfrm>
            <a:off x="7790688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20" name="Edit A mechanism body"/>
          <p:cNvSpPr txBox="1"/>
          <p:nvPr/>
        </p:nvSpPr>
        <p:spPr>
          <a:xfrm>
            <a:off x="7808975" y="3328416"/>
            <a:ext cx="3163824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action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看 state／service／J</a:t>
            </a:r>
          </a:p>
        </p:txBody>
      </p:sp>
      <p:sp>
        <p:nvSpPr>
          <p:cNvPr id="21" name="Teaching takeaway"/>
          <p:cNvSpPr/>
          <p:nvPr/>
        </p:nvSpPr>
        <p:spPr>
          <a:xfrm>
            <a:off x="786384" y="46817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aching takeaway text"/>
          <p:cNvSpPr txBox="1"/>
          <p:nvPr/>
        </p:nvSpPr>
        <p:spPr>
          <a:xfrm>
            <a:off x="950976" y="47457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Edit 前 prediction：state／transition、packet／service、J；compile 只確認 syntax。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A-02：baseline、candidate 與 hidden 的執行 receipt</a:t>
            </a:r>
          </a:p>
        </p:txBody>
      </p:sp>
      <p:sp>
        <p:nvSpPr>
          <p:cNvPr id="3" name="Compact ribbon A 1"/>
          <p:cNvSpPr/>
          <p:nvPr/>
        </p:nvSpPr>
        <p:spPr>
          <a:xfrm>
            <a:off x="621792" y="1298448"/>
            <a:ext cx="3529584" cy="305409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bbon heading 1"/>
          <p:cNvSpPr txBox="1"/>
          <p:nvPr/>
        </p:nvSpPr>
        <p:spPr>
          <a:xfrm>
            <a:off x="731520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BASELINE｜基線</a:t>
            </a:r>
          </a:p>
        </p:txBody>
      </p:sp>
      <p:sp>
        <p:nvSpPr>
          <p:cNvPr id="5" name="Ribbon POSIX label 1"/>
          <p:cNvSpPr txBox="1"/>
          <p:nvPr/>
        </p:nvSpPr>
        <p:spPr>
          <a:xfrm>
            <a:off x="768096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6" name="Ribbon POSIX line 1-1"/>
          <p:cNvSpPr txBox="1"/>
          <p:nvPr/>
        </p:nvSpPr>
        <p:spPr>
          <a:xfrm>
            <a:off x="768096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7" name="Ribbon POSIX line 1-2"/>
          <p:cNvSpPr txBox="1"/>
          <p:nvPr/>
        </p:nvSpPr>
        <p:spPr>
          <a:xfrm>
            <a:off x="768096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8" name="Ribbon POSIX line 1-3"/>
          <p:cNvSpPr txBox="1"/>
          <p:nvPr/>
        </p:nvSpPr>
        <p:spPr>
          <a:xfrm>
            <a:off x="768096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9" name="Ribbon Windows label 1"/>
          <p:cNvSpPr txBox="1"/>
          <p:nvPr/>
        </p:nvSpPr>
        <p:spPr>
          <a:xfrm>
            <a:off x="768096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10" name="Ribbon Windows line 1-1"/>
          <p:cNvSpPr txBox="1"/>
          <p:nvPr/>
        </p:nvSpPr>
        <p:spPr>
          <a:xfrm>
            <a:off x="768096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11" name="Ribbon Windows line 1-2"/>
          <p:cNvSpPr txBox="1"/>
          <p:nvPr/>
        </p:nvSpPr>
        <p:spPr>
          <a:xfrm>
            <a:off x="768096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12" name="Ribbon Windows line 1-3"/>
          <p:cNvSpPr txBox="1"/>
          <p:nvPr/>
        </p:nvSpPr>
        <p:spPr>
          <a:xfrm>
            <a:off x="768096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13" name="Ribbon receipt 1"/>
          <p:cNvSpPr txBox="1"/>
          <p:nvPr/>
        </p:nvSpPr>
        <p:spPr>
          <a:xfrm>
            <a:off x="786384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14" name="Compact ribbon A 2"/>
          <p:cNvSpPr/>
          <p:nvPr/>
        </p:nvSpPr>
        <p:spPr>
          <a:xfrm>
            <a:off x="4315968" y="1298448"/>
            <a:ext cx="3529584" cy="305409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bbon heading 2"/>
          <p:cNvSpPr txBox="1"/>
          <p:nvPr/>
        </p:nvSpPr>
        <p:spPr>
          <a:xfrm>
            <a:off x="4425696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CANDIDATE｜候選</a:t>
            </a:r>
          </a:p>
        </p:txBody>
      </p:sp>
      <p:sp>
        <p:nvSpPr>
          <p:cNvPr id="16" name="Ribbon POSIX label 2"/>
          <p:cNvSpPr txBox="1"/>
          <p:nvPr/>
        </p:nvSpPr>
        <p:spPr>
          <a:xfrm>
            <a:off x="4462272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17" name="Ribbon POSIX line 2-1"/>
          <p:cNvSpPr txBox="1"/>
          <p:nvPr/>
        </p:nvSpPr>
        <p:spPr>
          <a:xfrm>
            <a:off x="4462272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18" name="Ribbon POSIX line 2-2"/>
          <p:cNvSpPr txBox="1"/>
          <p:nvPr/>
        </p:nvSpPr>
        <p:spPr>
          <a:xfrm>
            <a:off x="4462272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19" name="Ribbon POSIX line 2-3"/>
          <p:cNvSpPr txBox="1"/>
          <p:nvPr/>
        </p:nvSpPr>
        <p:spPr>
          <a:xfrm>
            <a:off x="4462272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--freeze</a:t>
            </a:r>
          </a:p>
        </p:txBody>
      </p:sp>
      <p:sp>
        <p:nvSpPr>
          <p:cNvPr id="20" name="Ribbon Windows label 2"/>
          <p:cNvSpPr txBox="1"/>
          <p:nvPr/>
        </p:nvSpPr>
        <p:spPr>
          <a:xfrm>
            <a:off x="4462272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21" name="Ribbon Windows line 2-1"/>
          <p:cNvSpPr txBox="1"/>
          <p:nvPr/>
        </p:nvSpPr>
        <p:spPr>
          <a:xfrm>
            <a:off x="4462272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22" name="Ribbon Windows line 2-2"/>
          <p:cNvSpPr txBox="1"/>
          <p:nvPr/>
        </p:nvSpPr>
        <p:spPr>
          <a:xfrm>
            <a:off x="4462272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23" name="Ribbon Windows line 2-3"/>
          <p:cNvSpPr txBox="1"/>
          <p:nvPr/>
        </p:nvSpPr>
        <p:spPr>
          <a:xfrm>
            <a:off x="4462272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--freeze</a:t>
            </a:r>
          </a:p>
        </p:txBody>
      </p:sp>
      <p:sp>
        <p:nvSpPr>
          <p:cNvPr id="24" name="Ribbon receipt 2"/>
          <p:cNvSpPr txBox="1"/>
          <p:nvPr/>
        </p:nvSpPr>
        <p:spPr>
          <a:xfrm>
            <a:off x="4480559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25" name="Compact ribbon A 3"/>
          <p:cNvSpPr/>
          <p:nvPr/>
        </p:nvSpPr>
        <p:spPr>
          <a:xfrm>
            <a:off x="8010144" y="1298448"/>
            <a:ext cx="3529584" cy="305409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bbon heading 3"/>
          <p:cNvSpPr txBox="1"/>
          <p:nvPr/>
        </p:nvSpPr>
        <p:spPr>
          <a:xfrm>
            <a:off x="8119871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  HIDDEN｜邊界</a:t>
            </a:r>
          </a:p>
        </p:txBody>
      </p:sp>
      <p:sp>
        <p:nvSpPr>
          <p:cNvPr id="27" name="Ribbon POSIX label 3"/>
          <p:cNvSpPr txBox="1"/>
          <p:nvPr/>
        </p:nvSpPr>
        <p:spPr>
          <a:xfrm>
            <a:off x="8156448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28" name="Ribbon POSIX line 3-1"/>
          <p:cNvSpPr txBox="1"/>
          <p:nvPr/>
        </p:nvSpPr>
        <p:spPr>
          <a:xfrm>
            <a:off x="8156448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29" name="Ribbon POSIX line 3-2"/>
          <p:cNvSpPr txBox="1"/>
          <p:nvPr/>
        </p:nvSpPr>
        <p:spPr>
          <a:xfrm>
            <a:off x="8156448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30" name="Ribbon POSIX line 3-3"/>
          <p:cNvSpPr txBox="1"/>
          <p:nvPr/>
        </p:nvSpPr>
        <p:spPr>
          <a:xfrm>
            <a:off x="8156448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</a:t>
            </a:r>
          </a:p>
        </p:txBody>
      </p:sp>
      <p:sp>
        <p:nvSpPr>
          <p:cNvPr id="31" name="Ribbon Windows label 3"/>
          <p:cNvSpPr txBox="1"/>
          <p:nvPr/>
        </p:nvSpPr>
        <p:spPr>
          <a:xfrm>
            <a:off x="8156448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32" name="Ribbon Windows line 3-1"/>
          <p:cNvSpPr txBox="1"/>
          <p:nvPr/>
        </p:nvSpPr>
        <p:spPr>
          <a:xfrm>
            <a:off x="8156448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33" name="Ribbon Windows line 3-2"/>
          <p:cNvSpPr txBox="1"/>
          <p:nvPr/>
        </p:nvSpPr>
        <p:spPr>
          <a:xfrm>
            <a:off x="8156448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A --case</a:t>
            </a:r>
          </a:p>
        </p:txBody>
      </p:sp>
      <p:sp>
        <p:nvSpPr>
          <p:cNvPr id="34" name="Ribbon Windows line 3-3"/>
          <p:cNvSpPr txBox="1"/>
          <p:nvPr/>
        </p:nvSpPr>
        <p:spPr>
          <a:xfrm>
            <a:off x="8156448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</a:t>
            </a:r>
          </a:p>
        </p:txBody>
      </p:sp>
      <p:sp>
        <p:nvSpPr>
          <p:cNvPr id="35" name="Ribbon receipt 3"/>
          <p:cNvSpPr txBox="1"/>
          <p:nvPr/>
        </p:nvSpPr>
        <p:spPr>
          <a:xfrm>
            <a:off x="8174736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3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freeze 成功後維持 frozen；hidden／Trace B 讀取同一 policy，不建立新 freeze。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A-03：Identity boundary 與 before／after 比較</a:t>
            </a:r>
          </a:p>
        </p:txBody>
      </p:sp>
      <p:sp>
        <p:nvSpPr>
          <p:cNvPr id="3" name="Compare BASELINE"/>
          <p:cNvSpPr/>
          <p:nvPr/>
        </p:nvSpPr>
        <p:spPr>
          <a:xfrm>
            <a:off x="731520" y="1078992"/>
            <a:ext cx="5102352" cy="29077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e BASELINE heading"/>
          <p:cNvSpPr txBox="1"/>
          <p:nvPr/>
        </p:nvSpPr>
        <p:spPr>
          <a:xfrm>
            <a:off x="896112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Compare BASELINE body"/>
          <p:cNvSpPr txBox="1"/>
          <p:nvPr/>
        </p:nvSpPr>
        <p:spPr>
          <a:xfrm>
            <a:off x="914400" y="1609343"/>
            <a:ext cx="4736592" cy="22494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（服務布林） FAIL</a:t>
            </a:r>
          </a:p>
        </p:txBody>
      </p:sp>
      <p:sp>
        <p:nvSpPr>
          <p:cNvPr id="6" name="Compare CANDIDATE"/>
          <p:cNvSpPr/>
          <p:nvPr/>
        </p:nvSpPr>
        <p:spPr>
          <a:xfrm>
            <a:off x="6254496" y="1078992"/>
            <a:ext cx="5102352" cy="29077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CANDIDATE heading"/>
          <p:cNvSpPr txBox="1"/>
          <p:nvPr/>
        </p:nvSpPr>
        <p:spPr>
          <a:xfrm>
            <a:off x="6419088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8" name="Compare CANDIDATE body"/>
          <p:cNvSpPr txBox="1"/>
          <p:nvPr/>
        </p:nvSpPr>
        <p:spPr>
          <a:xfrm>
            <a:off x="6437376" y="1609343"/>
            <a:ext cx="4736592" cy="22494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（服務布林） FAIL</a:t>
            </a:r>
          </a:p>
        </p:txBody>
      </p:sp>
      <p:cxnSp>
        <p:nvCxnSpPr>
          <p:cNvPr id="9" name="Compare gate"/>
          <p:cNvCxnSpPr/>
          <p:nvPr/>
        </p:nvCxnSpPr>
        <p:spPr>
          <a:xfrm>
            <a:off x="5907024" y="2505456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2245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2885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比較欄位：scenario／policy／scope；before／after 句連結 service verdict 與 </a:t>
            </a:r>
            <a:r>
              <a:rPr sz="19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A-04：state ledger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的來源</a:t>
            </a:r>
          </a:p>
        </p:txBody>
      </p:sp>
      <p:sp>
        <p:nvSpPr>
          <p:cNvPr id="3" name="Ledger lead"/>
          <p:cNvSpPr txBox="1"/>
          <p:nvPr/>
        </p:nvSpPr>
        <p:spPr>
          <a:xfrm>
            <a:off x="841248" y="1078992"/>
            <a:ext cx="104424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candidate events 與 energy_breakdown_j：沿 state interval 找機制。</a:t>
            </a:r>
          </a:p>
        </p:txBody>
      </p:sp>
      <p:sp>
        <p:nvSpPr>
          <p:cNvPr id="4" name="Ledger label awake_idle（清醒閒置）"/>
          <p:cNvSpPr txBox="1"/>
          <p:nvPr/>
        </p:nvSpPr>
        <p:spPr>
          <a:xfrm>
            <a:off x="877824" y="1682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awake_idle（清醒閒置）</a:t>
            </a:r>
          </a:p>
        </p:txBody>
      </p:sp>
      <p:sp>
        <p:nvSpPr>
          <p:cNvPr id="5" name="Ledger bar awake_idle（清醒閒置）"/>
          <p:cNvSpPr/>
          <p:nvPr/>
        </p:nvSpPr>
        <p:spPr>
          <a:xfrm>
            <a:off x="2651760" y="1664208"/>
            <a:ext cx="5065776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ger value awake_idle（清醒閒置）"/>
          <p:cNvSpPr txBox="1"/>
          <p:nvPr/>
        </p:nvSpPr>
        <p:spPr>
          <a:xfrm>
            <a:off x="9473184" y="1737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6.00 J</a:t>
            </a:r>
          </a:p>
        </p:txBody>
      </p:sp>
      <p:sp>
        <p:nvSpPr>
          <p:cNvPr id="7" name="Ledger label sleep（低功耗）"/>
          <p:cNvSpPr txBox="1"/>
          <p:nvPr/>
        </p:nvSpPr>
        <p:spPr>
          <a:xfrm>
            <a:off x="877824" y="21396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sleep（低功耗）</a:t>
            </a:r>
          </a:p>
        </p:txBody>
      </p:sp>
      <p:sp>
        <p:nvSpPr>
          <p:cNvPr id="8" name="Ledger bar sleep（低功耗）"/>
          <p:cNvSpPr/>
          <p:nvPr/>
        </p:nvSpPr>
        <p:spPr>
          <a:xfrm>
            <a:off x="2651760" y="2121408"/>
            <a:ext cx="596920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dger value sleep（低功耗）"/>
          <p:cNvSpPr txBox="1"/>
          <p:nvPr/>
        </p:nvSpPr>
        <p:spPr>
          <a:xfrm>
            <a:off x="9473184" y="21945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0" name="Ledger label wake（喚醒）"/>
          <p:cNvSpPr txBox="1"/>
          <p:nvPr/>
        </p:nvSpPr>
        <p:spPr>
          <a:xfrm>
            <a:off x="877824" y="25968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wake（喚醒）</a:t>
            </a:r>
          </a:p>
        </p:txBody>
      </p:sp>
      <p:sp>
        <p:nvSpPr>
          <p:cNvPr id="11" name="Ledger bar wake（喚醒）"/>
          <p:cNvSpPr/>
          <p:nvPr/>
        </p:nvSpPr>
        <p:spPr>
          <a:xfrm>
            <a:off x="2651760" y="2578608"/>
            <a:ext cx="581924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dger value wake（喚醒）"/>
          <p:cNvSpPr txBox="1"/>
          <p:nvPr/>
        </p:nvSpPr>
        <p:spPr>
          <a:xfrm>
            <a:off x="9473184" y="26517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3" name="Ledger label process（處理）"/>
          <p:cNvSpPr txBox="1"/>
          <p:nvPr/>
        </p:nvSpPr>
        <p:spPr>
          <a:xfrm>
            <a:off x="877824" y="30540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process（處理）</a:t>
            </a:r>
          </a:p>
        </p:txBody>
      </p:sp>
      <p:sp>
        <p:nvSpPr>
          <p:cNvPr id="14" name="Ledger bar process（處理）"/>
          <p:cNvSpPr/>
          <p:nvPr/>
        </p:nvSpPr>
        <p:spPr>
          <a:xfrm>
            <a:off x="2651760" y="3035808"/>
            <a:ext cx="68689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dger value process（處理）"/>
          <p:cNvSpPr txBox="1"/>
          <p:nvPr/>
        </p:nvSpPr>
        <p:spPr>
          <a:xfrm>
            <a:off x="9473184" y="31089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16" name="Ledger label tx（送出）"/>
          <p:cNvSpPr txBox="1"/>
          <p:nvPr/>
        </p:nvSpPr>
        <p:spPr>
          <a:xfrm>
            <a:off x="877824" y="35112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tx（送出）</a:t>
            </a:r>
          </a:p>
        </p:txBody>
      </p:sp>
      <p:sp>
        <p:nvSpPr>
          <p:cNvPr id="17" name="Ledger bar tx（送出）"/>
          <p:cNvSpPr/>
          <p:nvPr/>
        </p:nvSpPr>
        <p:spPr>
          <a:xfrm>
            <a:off x="2651760" y="3493008"/>
            <a:ext cx="236646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dger value tx（送出）"/>
          <p:cNvSpPr txBox="1"/>
          <p:nvPr/>
        </p:nvSpPr>
        <p:spPr>
          <a:xfrm>
            <a:off x="9473184" y="35661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2.40 J</a:t>
            </a:r>
          </a:p>
        </p:txBody>
      </p:sp>
      <p:sp>
        <p:nvSpPr>
          <p:cNvPr id="19" name="Ledger label rx（接收）"/>
          <p:cNvSpPr txBox="1"/>
          <p:nvPr/>
        </p:nvSpPr>
        <p:spPr>
          <a:xfrm>
            <a:off x="877824" y="3968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rx（接收）</a:t>
            </a:r>
          </a:p>
        </p:txBody>
      </p:sp>
      <p:sp>
        <p:nvSpPr>
          <p:cNvPr id="20" name="Ledger bar rx（接收）"/>
          <p:cNvSpPr/>
          <p:nvPr/>
        </p:nvSpPr>
        <p:spPr>
          <a:xfrm>
            <a:off x="2651760" y="3950208"/>
            <a:ext cx="746881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 value rx（接收）"/>
          <p:cNvSpPr txBox="1"/>
          <p:nvPr/>
        </p:nvSpPr>
        <p:spPr>
          <a:xfrm>
            <a:off x="9473184" y="4023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5720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6360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；state interval 的增減構成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的機制證據。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A-05：attempted 不等於 delivered</a:t>
            </a:r>
          </a:p>
        </p:txBody>
      </p:sp>
      <p:sp>
        <p:nvSpPr>
          <p:cNvPr id="3" name="Packet service A ledger"/>
          <p:cNvSpPr/>
          <p:nvPr/>
        </p:nvSpPr>
        <p:spPr>
          <a:xfrm>
            <a:off x="749808" y="1078992"/>
            <a:ext cx="4956048" cy="30175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cket service A ledger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5" name="Packet service A ledger body"/>
          <p:cNvSpPr txBox="1"/>
          <p:nvPr/>
        </p:nvSpPr>
        <p:spPr>
          <a:xfrm>
            <a:off x="932688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retransmissions（重傳次數）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expired_packets（逾時封包）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 8.86 J</a:t>
            </a:r>
          </a:p>
        </p:txBody>
      </p:sp>
      <p:sp>
        <p:nvSpPr>
          <p:cNvPr id="6" name="Packet service A verdict"/>
          <p:cNvSpPr/>
          <p:nvPr/>
        </p:nvSpPr>
        <p:spPr>
          <a:xfrm>
            <a:off x="6126480" y="1078992"/>
            <a:ext cx="4956048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ervice A verdic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8" name="Packet service A verdict body"/>
          <p:cNvSpPr txBox="1"/>
          <p:nvPr/>
        </p:nvSpPr>
        <p:spPr>
          <a:xfrm>
            <a:off x="6309360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（服務布林）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（期限布林）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trade-off 由 service verdict 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 次數不具交付欄位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797296" y="2706624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25696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4897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SEND 是 decision；collision／retry／deadline 共同決定 packet outcome；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定義 service gate。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A-06：freeze 是 hidden 的入場條件</a:t>
            </a:r>
          </a:p>
        </p:txBody>
      </p:sp>
      <p:sp>
        <p:nvSpPr>
          <p:cNvPr id="3" name="Freeze A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A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Freeze A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A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A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9" name="Freeze A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A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A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hidden entry</a:t>
            </a:r>
          </a:p>
        </p:txBody>
      </p:sp>
      <p:sp>
        <p:nvSpPr>
          <p:cNvPr id="13" name="Freeze A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A-07：hidden 只檢驗，不再調參</a:t>
            </a:r>
          </a:p>
        </p:txBody>
      </p:sp>
      <p:sp>
        <p:nvSpPr>
          <p:cNvPr id="3" name="Withheld A frozen"/>
          <p:cNvSpPr/>
          <p:nvPr/>
        </p:nvSpPr>
        <p:spPr>
          <a:xfrm>
            <a:off x="749808" y="1078992"/>
            <a:ext cx="4956048" cy="30175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A frozen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A frozen body"/>
          <p:cNvSpPr txBox="1"/>
          <p:nvPr/>
        </p:nvSpPr>
        <p:spPr>
          <a:xfrm>
            <a:off x="932688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</p:txBody>
      </p:sp>
      <p:sp>
        <p:nvSpPr>
          <p:cNvPr id="6" name="Withheld A result"/>
          <p:cNvSpPr/>
          <p:nvPr/>
        </p:nvSpPr>
        <p:spPr>
          <a:xfrm>
            <a:off x="6126480" y="1078992"/>
            <a:ext cx="4956048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A resul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EVIDENCE</a:t>
            </a:r>
          </a:p>
        </p:txBody>
      </p:sp>
      <p:sp>
        <p:nvSpPr>
          <p:cNvPr id="8" name="Withheld A result body"/>
          <p:cNvSpPr txBox="1"/>
          <p:nvPr/>
        </p:nvSpPr>
        <p:spPr>
          <a:xfrm>
            <a:off x="6309360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 contact／traffic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frozen 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3.61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claim ceiling shrinks</a:t>
            </a:r>
          </a:p>
        </p:txBody>
      </p:sp>
      <p:cxnSp>
        <p:nvCxnSpPr>
          <p:cNvPr id="9" name="Withheld arrow"/>
          <p:cNvCxnSpPr/>
          <p:nvPr/>
        </p:nvCxnSpPr>
        <p:spPr>
          <a:xfrm>
            <a:off x="5797296" y="2724912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07408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4714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 方向不同時，保留 counterexample；把結論改成 primary condition 下的觀察。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結論：state、service 與 J 的因果句</a:t>
            </a:r>
          </a:p>
        </p:txBody>
      </p:sp>
      <p:sp>
        <p:nvSpPr>
          <p:cNvPr id="3" name="Debrief A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A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A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A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A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primary trace，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改變 state ledger；packet／service 與 J 一起判讀；hidden 決定適用範圍。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B：quality hold 與 service window</a:t>
            </a:r>
          </a:p>
        </p:txBody>
      </p:sp>
      <p:sp>
        <p:nvSpPr>
          <p:cNvPr id="3" name="Lab B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CHALLENGE</a:t>
            </a:r>
          </a:p>
        </p:txBody>
      </p:sp>
      <p:sp>
        <p:nvSpPr>
          <p:cNvPr id="5" name="Lab B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enter / hold / exit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 window</a:t>
            </a:r>
          </a:p>
        </p:txBody>
      </p:sp>
      <p:sp>
        <p:nvSpPr>
          <p:cNvPr id="6" name="Lab B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B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B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quality_band + stable_steps → REST／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→ packet／deadline／service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：send-ready 的進入閾值</a:t>
            </a:r>
          </a:p>
        </p:txBody>
      </p:sp>
      <p:sp>
        <p:nvSpPr>
          <p:cNvPr id="3" name="Enter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切換條件：quality band ≥ 2 且 stable_steps ≥ 2 → send-ready。</a:t>
            </a:r>
          </a:p>
        </p:txBody>
      </p:sp>
      <p:sp>
        <p:nvSpPr>
          <p:cNvPr id="4" name="Quality level 0"/>
          <p:cNvSpPr/>
          <p:nvPr/>
        </p:nvSpPr>
        <p:spPr>
          <a:xfrm>
            <a:off x="1847088" y="363931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ality level 0 label"/>
          <p:cNvSpPr txBox="1"/>
          <p:nvPr/>
        </p:nvSpPr>
        <p:spPr>
          <a:xfrm>
            <a:off x="1975104" y="373075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0</a:t>
            </a:r>
          </a:p>
        </p:txBody>
      </p:sp>
      <p:sp>
        <p:nvSpPr>
          <p:cNvPr id="6" name="Quality level 1"/>
          <p:cNvSpPr/>
          <p:nvPr/>
        </p:nvSpPr>
        <p:spPr>
          <a:xfrm>
            <a:off x="1847088" y="309067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uality level 1 label"/>
          <p:cNvSpPr txBox="1"/>
          <p:nvPr/>
        </p:nvSpPr>
        <p:spPr>
          <a:xfrm>
            <a:off x="1975104" y="318211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1</a:t>
            </a:r>
          </a:p>
        </p:txBody>
      </p:sp>
      <p:sp>
        <p:nvSpPr>
          <p:cNvPr id="8" name="Quality level 2"/>
          <p:cNvSpPr/>
          <p:nvPr/>
        </p:nvSpPr>
        <p:spPr>
          <a:xfrm>
            <a:off x="1847088" y="254203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ality level 2 label"/>
          <p:cNvSpPr txBox="1"/>
          <p:nvPr/>
        </p:nvSpPr>
        <p:spPr>
          <a:xfrm>
            <a:off x="1975104" y="26334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2</a:t>
            </a:r>
          </a:p>
        </p:txBody>
      </p:sp>
      <p:sp>
        <p:nvSpPr>
          <p:cNvPr id="10" name="Quality level 3"/>
          <p:cNvSpPr/>
          <p:nvPr/>
        </p:nvSpPr>
        <p:spPr>
          <a:xfrm>
            <a:off x="1847088" y="199339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ality level 3 label"/>
          <p:cNvSpPr txBox="1"/>
          <p:nvPr/>
        </p:nvSpPr>
        <p:spPr>
          <a:xfrm>
            <a:off x="1975104" y="208483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3</a:t>
            </a:r>
          </a:p>
        </p:txBody>
      </p:sp>
      <p:cxnSp>
        <p:nvCxnSpPr>
          <p:cNvPr id="12" name="Enter threshold"/>
          <p:cNvCxnSpPr/>
          <p:nvPr/>
        </p:nvCxnSpPr>
        <p:spPr>
          <a:xfrm>
            <a:off x="4663440" y="2176272"/>
            <a:ext cx="267004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ter gate"/>
          <p:cNvSpPr/>
          <p:nvPr/>
        </p:nvSpPr>
        <p:spPr>
          <a:xfrm>
            <a:off x="7534656" y="1517904"/>
            <a:ext cx="3383280" cy="19933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ter gate heading"/>
          <p:cNvSpPr txBox="1"/>
          <p:nvPr/>
        </p:nvSpPr>
        <p:spPr>
          <a:xfrm>
            <a:off x="7699248" y="1664207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GATE 進入條件</a:t>
            </a:r>
          </a:p>
        </p:txBody>
      </p:sp>
      <p:sp>
        <p:nvSpPr>
          <p:cNvPr id="15" name="Enter gate body"/>
          <p:cNvSpPr txBox="1"/>
          <p:nvPr/>
        </p:nvSpPr>
        <p:spPr>
          <a:xfrm>
            <a:off x="7717536" y="2048255"/>
            <a:ext cx="301752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（進入）=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（穩定）=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（可送）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threshold 是 decision gate；transition 時機會改變 queue／attempt／deadline。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：enter／exit 的雙閾值</a:t>
            </a:r>
          </a:p>
        </p:txBody>
      </p:sp>
      <p:sp>
        <p:nvSpPr>
          <p:cNvPr id="3" name="Exit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 與 exit 分離；已進入 mode 遇到單一低點時維持狀態。</a:t>
            </a:r>
          </a:p>
        </p:txBody>
      </p:sp>
      <p:cxnSp>
        <p:nvCxnSpPr>
          <p:cNvPr id="4" name="Enter line"/>
          <p:cNvCxnSpPr/>
          <p:nvPr/>
        </p:nvCxnSpPr>
        <p:spPr>
          <a:xfrm>
            <a:off x="1188720" y="2176272"/>
            <a:ext cx="943660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xit line"/>
          <p:cNvCxnSpPr/>
          <p:nvPr/>
        </p:nvCxnSpPr>
        <p:spPr>
          <a:xfrm>
            <a:off x="1188720" y="3675887"/>
            <a:ext cx="9436608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nter threshold label"/>
          <p:cNvSpPr txBox="1"/>
          <p:nvPr/>
        </p:nvSpPr>
        <p:spPr>
          <a:xfrm>
            <a:off x="1225296" y="1792224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≥ 2</a:t>
            </a:r>
          </a:p>
        </p:txBody>
      </p:sp>
      <p:sp>
        <p:nvSpPr>
          <p:cNvPr id="7" name="Exit threshold label"/>
          <p:cNvSpPr txBox="1"/>
          <p:nvPr/>
        </p:nvSpPr>
        <p:spPr>
          <a:xfrm>
            <a:off x="1225296" y="329184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 &lt; 1</a:t>
            </a:r>
          </a:p>
        </p:txBody>
      </p:sp>
      <p:sp>
        <p:nvSpPr>
          <p:cNvPr id="8" name="Hysteresis band"/>
          <p:cNvSpPr/>
          <p:nvPr/>
        </p:nvSpPr>
        <p:spPr>
          <a:xfrm>
            <a:off x="3877056" y="2468880"/>
            <a:ext cx="4315968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ysteresis band heading"/>
          <p:cNvSpPr txBox="1"/>
          <p:nvPr/>
        </p:nvSpPr>
        <p:spPr>
          <a:xfrm>
            <a:off x="4041648" y="2615184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HYSTERESIS BAND</a:t>
            </a:r>
          </a:p>
        </p:txBody>
      </p:sp>
      <p:sp>
        <p:nvSpPr>
          <p:cNvPr id="10" name="Hysteresis band body"/>
          <p:cNvSpPr txBox="1"/>
          <p:nvPr/>
        </p:nvSpPr>
        <p:spPr>
          <a:xfrm>
            <a:off x="4059936" y="2999232"/>
            <a:ext cx="395020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1：保持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&lt; 1：退出</a:t>
            </a:r>
          </a:p>
        </p:txBody>
      </p:sp>
      <p:sp>
        <p:nvSpPr>
          <p:cNvPr id="11" name="Teaching takeaway"/>
          <p:cNvSpPr/>
          <p:nvPr/>
        </p:nvSpPr>
        <p:spPr>
          <a:xfrm>
            <a:off x="786384" y="453542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59943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hysteresis 可能減少 ping-pong；仍要用 transition、retry、service、J 驗證。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：拒絕短暫尖峰</a:t>
            </a:r>
          </a:p>
        </p:txBody>
      </p:sp>
      <p:sp>
        <p:nvSpPr>
          <p:cNvPr id="3" name="Stable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短 hold 改變 transition timing；長 hold 增加穩定條件；service window 定義 outcome。</a:t>
            </a:r>
          </a:p>
        </p:txBody>
      </p:sp>
      <p:sp>
        <p:nvSpPr>
          <p:cNvPr id="4" name="Stable spike"/>
          <p:cNvSpPr/>
          <p:nvPr/>
        </p:nvSpPr>
        <p:spPr>
          <a:xfrm>
            <a:off x="822960" y="1627632"/>
            <a:ext cx="4974336" cy="23042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ble spike heading"/>
          <p:cNvSpPr txBox="1"/>
          <p:nvPr/>
        </p:nvSpPr>
        <p:spPr>
          <a:xfrm>
            <a:off x="98755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短暫 SPIKE</a:t>
            </a:r>
          </a:p>
        </p:txBody>
      </p:sp>
      <p:sp>
        <p:nvSpPr>
          <p:cNvPr id="6" name="Stable spike body"/>
          <p:cNvSpPr txBox="1"/>
          <p:nvPr/>
        </p:nvSpPr>
        <p:spPr>
          <a:xfrm>
            <a:off x="100584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band=2（品質等級）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1：單步觀察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=2（穩定步數）→ 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send_mode_active 維持 false</a:t>
            </a:r>
          </a:p>
        </p:txBody>
      </p:sp>
      <p:sp>
        <p:nvSpPr>
          <p:cNvPr id="7" name="Stable hold"/>
          <p:cNvSpPr/>
          <p:nvPr/>
        </p:nvSpPr>
        <p:spPr>
          <a:xfrm>
            <a:off x="6217920" y="1627632"/>
            <a:ext cx="4974336" cy="23042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ble hold heading"/>
          <p:cNvSpPr txBox="1"/>
          <p:nvPr/>
        </p:nvSpPr>
        <p:spPr>
          <a:xfrm>
            <a:off x="638251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連續穩定</a:t>
            </a:r>
          </a:p>
        </p:txBody>
      </p:sp>
      <p:sp>
        <p:nvSpPr>
          <p:cNvPr id="9" name="Stable hold body"/>
          <p:cNvSpPr txBox="1"/>
          <p:nvPr/>
        </p:nvSpPr>
        <p:spPr>
          <a:xfrm>
            <a:off x="640080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band=2（品質等級）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 → step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 → switch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send_mode_active → true</a:t>
            </a:r>
          </a:p>
        </p:txBody>
      </p:sp>
      <p:cxnSp>
        <p:nvCxnSpPr>
          <p:cNvPr id="10" name="Stable comparison"/>
          <p:cNvCxnSpPr/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aching takeaway"/>
          <p:cNvSpPr/>
          <p:nvPr/>
        </p:nvSpPr>
        <p:spPr>
          <a:xfrm>
            <a:off x="786384" y="431596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37997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唯一修改：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1；Prediction 定位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，再讀 packet／service／J。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Trace A：transition prediction 與執行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896112" y="1078992"/>
            <a:ext cx="1036929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標示 enter、hold、exit；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 對 prediction 形成支持或反駁。</a:t>
            </a:r>
          </a:p>
        </p:txBody>
      </p:sp>
      <p:cxnSp>
        <p:nvCxnSpPr>
          <p:cNvPr id="4" name="Trace axis"/>
          <p:cNvCxnSpPr/>
          <p:nvPr/>
        </p:nvCxnSpPr>
        <p:spPr>
          <a:xfrm>
            <a:off x="987552" y="2322576"/>
            <a:ext cx="9729216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ce A quality"/>
          <p:cNvCxnSpPr/>
          <p:nvPr/>
        </p:nvCxnSpPr>
        <p:spPr>
          <a:xfrm flipV="1">
            <a:off x="1115568" y="3054096"/>
            <a:ext cx="1097280" cy="14630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ce A quality"/>
          <p:cNvCxnSpPr/>
          <p:nvPr/>
        </p:nvCxnSpPr>
        <p:spPr>
          <a:xfrm flipV="1">
            <a:off x="2212848" y="2615184"/>
            <a:ext cx="1024128" cy="438912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A quality"/>
          <p:cNvCxnSpPr/>
          <p:nvPr/>
        </p:nvCxnSpPr>
        <p:spPr>
          <a:xfrm flipV="1">
            <a:off x="3236976" y="2103120"/>
            <a:ext cx="1024128" cy="51206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ce A quality"/>
          <p:cNvCxnSpPr/>
          <p:nvPr/>
        </p:nvCxnSpPr>
        <p:spPr>
          <a:xfrm>
            <a:off x="4261104" y="2103120"/>
            <a:ext cx="1024128" cy="21945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A quality"/>
          <p:cNvCxnSpPr/>
          <p:nvPr/>
        </p:nvCxnSpPr>
        <p:spPr>
          <a:xfrm flipV="1">
            <a:off x="5285232" y="2011680"/>
            <a:ext cx="1024128" cy="31089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ce A quality"/>
          <p:cNvCxnSpPr/>
          <p:nvPr/>
        </p:nvCxnSpPr>
        <p:spPr>
          <a:xfrm>
            <a:off x="6309360" y="2011680"/>
            <a:ext cx="1024128" cy="10972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ce A quality"/>
          <p:cNvCxnSpPr/>
          <p:nvPr/>
        </p:nvCxnSpPr>
        <p:spPr>
          <a:xfrm>
            <a:off x="7333488" y="2121408"/>
            <a:ext cx="1024128" cy="73152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ce A quality"/>
          <p:cNvCxnSpPr/>
          <p:nvPr/>
        </p:nvCxnSpPr>
        <p:spPr>
          <a:xfrm>
            <a:off x="8357616" y="2852928"/>
            <a:ext cx="1042416" cy="20116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ce A quality"/>
          <p:cNvCxnSpPr/>
          <p:nvPr/>
        </p:nvCxnSpPr>
        <p:spPr>
          <a:xfrm>
            <a:off x="9400032" y="3054096"/>
            <a:ext cx="1024128" cy="18288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"/>
          <p:cNvSpPr/>
          <p:nvPr/>
        </p:nvSpPr>
        <p:spPr>
          <a:xfrm>
            <a:off x="1051560" y="313639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e point"/>
          <p:cNvSpPr/>
          <p:nvPr/>
        </p:nvSpPr>
        <p:spPr>
          <a:xfrm>
            <a:off x="2148840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oint"/>
          <p:cNvSpPr/>
          <p:nvPr/>
        </p:nvSpPr>
        <p:spPr>
          <a:xfrm>
            <a:off x="3172968" y="2551176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e point"/>
          <p:cNvSpPr/>
          <p:nvPr/>
        </p:nvSpPr>
        <p:spPr>
          <a:xfrm>
            <a:off x="4197096" y="203911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e point"/>
          <p:cNvSpPr/>
          <p:nvPr/>
        </p:nvSpPr>
        <p:spPr>
          <a:xfrm>
            <a:off x="5221224" y="22585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oint"/>
          <p:cNvSpPr/>
          <p:nvPr/>
        </p:nvSpPr>
        <p:spPr>
          <a:xfrm>
            <a:off x="6245352" y="194767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e point"/>
          <p:cNvSpPr/>
          <p:nvPr/>
        </p:nvSpPr>
        <p:spPr>
          <a:xfrm>
            <a:off x="7269479" y="205740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e point"/>
          <p:cNvSpPr/>
          <p:nvPr/>
        </p:nvSpPr>
        <p:spPr>
          <a:xfrm>
            <a:off x="8293608" y="278892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oint"/>
          <p:cNvSpPr/>
          <p:nvPr/>
        </p:nvSpPr>
        <p:spPr>
          <a:xfrm>
            <a:off x="9336024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e point"/>
          <p:cNvSpPr/>
          <p:nvPr/>
        </p:nvSpPr>
        <p:spPr>
          <a:xfrm>
            <a:off x="10360152" y="31729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marker enter?"/>
          <p:cNvSpPr/>
          <p:nvPr/>
        </p:nvSpPr>
        <p:spPr>
          <a:xfrm>
            <a:off x="3840480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marker enter? text"/>
          <p:cNvSpPr txBox="1"/>
          <p:nvPr/>
        </p:nvSpPr>
        <p:spPr>
          <a:xfrm>
            <a:off x="3895344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enter?</a:t>
            </a:r>
          </a:p>
        </p:txBody>
      </p:sp>
      <p:sp>
        <p:nvSpPr>
          <p:cNvPr id="26" name="Prediction marker hold?"/>
          <p:cNvSpPr/>
          <p:nvPr/>
        </p:nvSpPr>
        <p:spPr>
          <a:xfrm>
            <a:off x="5888736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marker hold? text"/>
          <p:cNvSpPr txBox="1"/>
          <p:nvPr/>
        </p:nvSpPr>
        <p:spPr>
          <a:xfrm>
            <a:off x="5943600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hold?</a:t>
            </a:r>
          </a:p>
        </p:txBody>
      </p:sp>
      <p:sp>
        <p:nvSpPr>
          <p:cNvPr id="28" name="Prediction marker exit?"/>
          <p:cNvSpPr/>
          <p:nvPr/>
        </p:nvSpPr>
        <p:spPr>
          <a:xfrm>
            <a:off x="7936992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ediction marker exit? text"/>
          <p:cNvSpPr txBox="1"/>
          <p:nvPr/>
        </p:nvSpPr>
        <p:spPr>
          <a:xfrm>
            <a:off x="7991856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exit?</a:t>
            </a:r>
          </a:p>
        </p:txBody>
      </p:sp>
      <p:sp>
        <p:nvSpPr>
          <p:cNvPr id="30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enter（進入 step）：____；hold（穩定步數）：____；exit（quality 閾值）：____；service／J：____ 因為 ____。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B-01：Baseline decision 與 Trace A evidence</a:t>
            </a:r>
          </a:p>
        </p:txBody>
      </p:sp>
      <p:sp>
        <p:nvSpPr>
          <p:cNvPr id="3" name="Baseline B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 PREDECESSOR + B BASELINE</a:t>
            </a:r>
          </a:p>
        </p:txBody>
      </p:sp>
      <p:sp>
        <p:nvSpPr>
          <p:cNvPr id="5" name="Baseline B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 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≥ 2 且 stable_steps ≥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切換 send-ready</a:t>
            </a:r>
          </a:p>
        </p:txBody>
      </p:sp>
      <p:sp>
        <p:nvSpPr>
          <p:cNvPr id="6" name="Baseline B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B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B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P056 第一條 stdout 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4,800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 A control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參考 Trace A baseline：8.86 J、4,800 bit、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=FAIL。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B-02：把穩定等待從 2 改成 1</a:t>
            </a:r>
          </a:p>
        </p:txBody>
      </p:sp>
      <p:sp>
        <p:nvSpPr>
          <p:cNvPr id="3" name="Edit POSIX command"/>
          <p:cNvSpPr/>
          <p:nvPr/>
        </p:nvSpPr>
        <p:spPr>
          <a:xfrm>
            <a:off x="749808" y="1078992"/>
            <a:ext cx="5230368" cy="144475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 Windows command"/>
          <p:cNvSpPr/>
          <p:nvPr/>
        </p:nvSpPr>
        <p:spPr>
          <a:xfrm>
            <a:off x="6181344" y="1078992"/>
            <a:ext cx="5230368" cy="144475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POSIX label"/>
          <p:cNvSpPr txBox="1"/>
          <p:nvPr/>
        </p:nvSpPr>
        <p:spPr>
          <a:xfrm>
            <a:off x="914400" y="117043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/ WSL exact</a:t>
            </a:r>
          </a:p>
        </p:txBody>
      </p:sp>
      <p:sp>
        <p:nvSpPr>
          <p:cNvPr id="6" name="Edit Windows label"/>
          <p:cNvSpPr txBox="1"/>
          <p:nvPr/>
        </p:nvSpPr>
        <p:spPr>
          <a:xfrm>
            <a:off x="6345936" y="1170432"/>
            <a:ext cx="490118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CMD exact</a:t>
            </a:r>
          </a:p>
        </p:txBody>
      </p:sp>
      <p:sp>
        <p:nvSpPr>
          <p:cNvPr id="7" name="Edit POSIX line 1"/>
          <p:cNvSpPr txBox="1"/>
          <p:nvPr/>
        </p:nvSpPr>
        <p:spPr>
          <a:xfrm>
            <a:off x="896112" y="14264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Edit POSIX line 2"/>
          <p:cNvSpPr txBox="1"/>
          <p:nvPr/>
        </p:nvSpPr>
        <p:spPr>
          <a:xfrm>
            <a:off x="896112" y="16550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student_policy.before-B-edit.py</a:t>
            </a:r>
          </a:p>
        </p:txBody>
      </p:sp>
      <p:sp>
        <p:nvSpPr>
          <p:cNvPr id="9" name="Edit POSIX line 3"/>
          <p:cNvSpPr txBox="1"/>
          <p:nvPr/>
        </p:nvSpPr>
        <p:spPr>
          <a:xfrm>
            <a:off x="896112" y="18836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</a:t>
            </a:r>
          </a:p>
        </p:txBody>
      </p:sp>
      <p:sp>
        <p:nvSpPr>
          <p:cNvPr id="10" name="Edit POSIX line 4"/>
          <p:cNvSpPr txBox="1"/>
          <p:nvPr/>
        </p:nvSpPr>
        <p:spPr>
          <a:xfrm>
            <a:off x="896112" y="21122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1" name="Edit Windows line 1"/>
          <p:cNvSpPr txBox="1"/>
          <p:nvPr/>
        </p:nvSpPr>
        <p:spPr>
          <a:xfrm>
            <a:off x="6327648" y="14264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 /Y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Edit Windows line 2"/>
          <p:cNvSpPr txBox="1"/>
          <p:nvPr/>
        </p:nvSpPr>
        <p:spPr>
          <a:xfrm>
            <a:off x="6327648" y="16550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student_policy.before-B-edit.py</a:t>
            </a:r>
          </a:p>
        </p:txBody>
      </p:sp>
      <p:sp>
        <p:nvSpPr>
          <p:cNvPr id="13" name="Edit Windows line 3"/>
          <p:cNvSpPr txBox="1"/>
          <p:nvPr/>
        </p:nvSpPr>
        <p:spPr>
          <a:xfrm>
            <a:off x="6327648" y="18836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 -m py_compile</a:t>
            </a:r>
          </a:p>
        </p:txBody>
      </p:sp>
      <p:sp>
        <p:nvSpPr>
          <p:cNvPr id="14" name="Edit Windows line 4"/>
          <p:cNvSpPr txBox="1"/>
          <p:nvPr/>
        </p:nvSpPr>
        <p:spPr>
          <a:xfrm>
            <a:off x="6327648" y="211226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5" name="Edit B code"/>
          <p:cNvSpPr/>
          <p:nvPr/>
        </p:nvSpPr>
        <p:spPr>
          <a:xfrm>
            <a:off x="749808" y="2798064"/>
            <a:ext cx="6565392" cy="16093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 B code heading"/>
          <p:cNvSpPr txBox="1"/>
          <p:nvPr/>
        </p:nvSpPr>
        <p:spPr>
          <a:xfrm>
            <a:off x="914400" y="2944368"/>
            <a:ext cx="62362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｜MARKED BLOCK</a:t>
            </a:r>
          </a:p>
        </p:txBody>
      </p:sp>
      <p:sp>
        <p:nvSpPr>
          <p:cNvPr id="17" name="Edit B code body"/>
          <p:cNvSpPr txBox="1"/>
          <p:nvPr/>
        </p:nvSpPr>
        <p:spPr>
          <a:xfrm>
            <a:off x="932688" y="3328416"/>
            <a:ext cx="6199631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lab-b-enter-exit-hold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（進入閾值）=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（退出閾值）=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（穩定步數）= 2 → 1</a:t>
            </a:r>
          </a:p>
        </p:txBody>
      </p:sp>
      <p:sp>
        <p:nvSpPr>
          <p:cNvPr id="18" name="Edit B mechanism"/>
          <p:cNvSpPr/>
          <p:nvPr/>
        </p:nvSpPr>
        <p:spPr>
          <a:xfrm>
            <a:off x="7626096" y="2798064"/>
            <a:ext cx="3529584" cy="16093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 B mechanism heading"/>
          <p:cNvSpPr txBox="1"/>
          <p:nvPr/>
        </p:nvSpPr>
        <p:spPr>
          <a:xfrm>
            <a:off x="7790688" y="2944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20" name="Edit B mechanism body"/>
          <p:cNvSpPr txBox="1"/>
          <p:nvPr/>
        </p:nvSpPr>
        <p:spPr>
          <a:xfrm>
            <a:off x="7808975" y="3328416"/>
            <a:ext cx="3163824" cy="9509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ENTER／EXIT 不變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J</a:t>
            </a:r>
          </a:p>
        </p:txBody>
      </p:sp>
      <p:sp>
        <p:nvSpPr>
          <p:cNvPr id="21" name="Teaching takeaway"/>
          <p:cNvSpPr/>
          <p:nvPr/>
        </p:nvSpPr>
        <p:spPr>
          <a:xfrm>
            <a:off x="786384" y="46817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aching takeaway text"/>
          <p:cNvSpPr txBox="1"/>
          <p:nvPr/>
        </p:nvSpPr>
        <p:spPr>
          <a:xfrm>
            <a:off x="950976" y="47457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Edit 前 prediction：state／transition、packet／service、J；compile 只確認 syntax。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B-03：Trace A baseline、candidate 與 Trace B 的執行 receipt</a:t>
            </a:r>
          </a:p>
        </p:txBody>
      </p:sp>
      <p:sp>
        <p:nvSpPr>
          <p:cNvPr id="3" name="Compact ribbon B 1"/>
          <p:cNvSpPr/>
          <p:nvPr/>
        </p:nvSpPr>
        <p:spPr>
          <a:xfrm>
            <a:off x="621792" y="1298448"/>
            <a:ext cx="3529584" cy="305409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bbon heading 1"/>
          <p:cNvSpPr txBox="1"/>
          <p:nvPr/>
        </p:nvSpPr>
        <p:spPr>
          <a:xfrm>
            <a:off x="731520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TRACE A｜基線</a:t>
            </a:r>
          </a:p>
        </p:txBody>
      </p:sp>
      <p:sp>
        <p:nvSpPr>
          <p:cNvPr id="5" name="Ribbon POSIX label 1"/>
          <p:cNvSpPr txBox="1"/>
          <p:nvPr/>
        </p:nvSpPr>
        <p:spPr>
          <a:xfrm>
            <a:off x="768096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6" name="Ribbon POSIX line 1-1"/>
          <p:cNvSpPr txBox="1"/>
          <p:nvPr/>
        </p:nvSpPr>
        <p:spPr>
          <a:xfrm>
            <a:off x="768096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7" name="Ribbon POSIX line 1-2"/>
          <p:cNvSpPr txBox="1"/>
          <p:nvPr/>
        </p:nvSpPr>
        <p:spPr>
          <a:xfrm>
            <a:off x="768096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8" name="Ribbon POSIX line 1-3"/>
          <p:cNvSpPr txBox="1"/>
          <p:nvPr/>
        </p:nvSpPr>
        <p:spPr>
          <a:xfrm>
            <a:off x="768096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trace-a-baseline</a:t>
            </a:r>
          </a:p>
        </p:txBody>
      </p:sp>
      <p:sp>
        <p:nvSpPr>
          <p:cNvPr id="9" name="Ribbon Windows label 1"/>
          <p:cNvSpPr txBox="1"/>
          <p:nvPr/>
        </p:nvSpPr>
        <p:spPr>
          <a:xfrm>
            <a:off x="768096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10" name="Ribbon Windows line 1-1"/>
          <p:cNvSpPr txBox="1"/>
          <p:nvPr/>
        </p:nvSpPr>
        <p:spPr>
          <a:xfrm>
            <a:off x="768096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11" name="Ribbon Windows line 1-2"/>
          <p:cNvSpPr txBox="1"/>
          <p:nvPr/>
        </p:nvSpPr>
        <p:spPr>
          <a:xfrm>
            <a:off x="768096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12" name="Ribbon Windows line 1-3"/>
          <p:cNvSpPr txBox="1"/>
          <p:nvPr/>
        </p:nvSpPr>
        <p:spPr>
          <a:xfrm>
            <a:off x="768096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trace-a-baseline</a:t>
            </a:r>
          </a:p>
        </p:txBody>
      </p:sp>
      <p:sp>
        <p:nvSpPr>
          <p:cNvPr id="13" name="Ribbon receipt 1"/>
          <p:cNvSpPr txBox="1"/>
          <p:nvPr/>
        </p:nvSpPr>
        <p:spPr>
          <a:xfrm>
            <a:off x="786384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14" name="Compact ribbon B 2"/>
          <p:cNvSpPr/>
          <p:nvPr/>
        </p:nvSpPr>
        <p:spPr>
          <a:xfrm>
            <a:off x="4315968" y="1298448"/>
            <a:ext cx="3529584" cy="305409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bbon heading 2"/>
          <p:cNvSpPr txBox="1"/>
          <p:nvPr/>
        </p:nvSpPr>
        <p:spPr>
          <a:xfrm>
            <a:off x="4425696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CANDIDATE｜候選</a:t>
            </a:r>
          </a:p>
        </p:txBody>
      </p:sp>
      <p:sp>
        <p:nvSpPr>
          <p:cNvPr id="16" name="Ribbon POSIX label 2"/>
          <p:cNvSpPr txBox="1"/>
          <p:nvPr/>
        </p:nvSpPr>
        <p:spPr>
          <a:xfrm>
            <a:off x="4462272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17" name="Ribbon POSIX line 2-1"/>
          <p:cNvSpPr txBox="1"/>
          <p:nvPr/>
        </p:nvSpPr>
        <p:spPr>
          <a:xfrm>
            <a:off x="4462272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18" name="Ribbon POSIX line 2-2"/>
          <p:cNvSpPr txBox="1"/>
          <p:nvPr/>
        </p:nvSpPr>
        <p:spPr>
          <a:xfrm>
            <a:off x="4462272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19" name="Ribbon POSIX line 2-3"/>
          <p:cNvSpPr txBox="1"/>
          <p:nvPr/>
        </p:nvSpPr>
        <p:spPr>
          <a:xfrm>
            <a:off x="4462272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trace-a-candidate --freeze</a:t>
            </a:r>
          </a:p>
        </p:txBody>
      </p:sp>
      <p:sp>
        <p:nvSpPr>
          <p:cNvPr id="20" name="Ribbon Windows label 2"/>
          <p:cNvSpPr txBox="1"/>
          <p:nvPr/>
        </p:nvSpPr>
        <p:spPr>
          <a:xfrm>
            <a:off x="4462272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21" name="Ribbon Windows line 2-1"/>
          <p:cNvSpPr txBox="1"/>
          <p:nvPr/>
        </p:nvSpPr>
        <p:spPr>
          <a:xfrm>
            <a:off x="4462272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22" name="Ribbon Windows line 2-2"/>
          <p:cNvSpPr txBox="1"/>
          <p:nvPr/>
        </p:nvSpPr>
        <p:spPr>
          <a:xfrm>
            <a:off x="4462272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23" name="Ribbon Windows line 2-3"/>
          <p:cNvSpPr txBox="1"/>
          <p:nvPr/>
        </p:nvSpPr>
        <p:spPr>
          <a:xfrm>
            <a:off x="4462272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trace-a-candidate --freeze</a:t>
            </a:r>
          </a:p>
        </p:txBody>
      </p:sp>
      <p:sp>
        <p:nvSpPr>
          <p:cNvPr id="24" name="Ribbon receipt 2"/>
          <p:cNvSpPr txBox="1"/>
          <p:nvPr/>
        </p:nvSpPr>
        <p:spPr>
          <a:xfrm>
            <a:off x="4480559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25" name="Compact ribbon B 3"/>
          <p:cNvSpPr/>
          <p:nvPr/>
        </p:nvSpPr>
        <p:spPr>
          <a:xfrm>
            <a:off x="8010144" y="1298448"/>
            <a:ext cx="3529584" cy="305409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bbon heading 3"/>
          <p:cNvSpPr txBox="1"/>
          <p:nvPr/>
        </p:nvSpPr>
        <p:spPr>
          <a:xfrm>
            <a:off x="8119871" y="1463040"/>
            <a:ext cx="33101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  TRACE B｜邊界</a:t>
            </a:r>
          </a:p>
        </p:txBody>
      </p:sp>
      <p:sp>
        <p:nvSpPr>
          <p:cNvPr id="27" name="Ribbon POSIX label 3"/>
          <p:cNvSpPr txBox="1"/>
          <p:nvPr/>
        </p:nvSpPr>
        <p:spPr>
          <a:xfrm>
            <a:off x="8156448" y="177393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POSIX / WSL</a:t>
            </a:r>
          </a:p>
        </p:txBody>
      </p:sp>
      <p:sp>
        <p:nvSpPr>
          <p:cNvPr id="28" name="Ribbon POSIX line 3-1"/>
          <p:cNvSpPr txBox="1"/>
          <p:nvPr/>
        </p:nvSpPr>
        <p:spPr>
          <a:xfrm>
            <a:off x="8156448" y="199339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</a:t>
            </a:r>
          </a:p>
        </p:txBody>
      </p:sp>
      <p:sp>
        <p:nvSpPr>
          <p:cNvPr id="29" name="Ribbon POSIX line 3-2"/>
          <p:cNvSpPr txBox="1"/>
          <p:nvPr/>
        </p:nvSpPr>
        <p:spPr>
          <a:xfrm>
            <a:off x="8156448" y="22677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30" name="Ribbon POSIX line 3-3"/>
          <p:cNvSpPr txBox="1"/>
          <p:nvPr/>
        </p:nvSpPr>
        <p:spPr>
          <a:xfrm>
            <a:off x="8156448" y="254203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trace-b</a:t>
            </a:r>
          </a:p>
        </p:txBody>
      </p:sp>
      <p:sp>
        <p:nvSpPr>
          <p:cNvPr id="31" name="Ribbon Windows label 3"/>
          <p:cNvSpPr txBox="1"/>
          <p:nvPr/>
        </p:nvSpPr>
        <p:spPr>
          <a:xfrm>
            <a:off x="8156448" y="2871216"/>
            <a:ext cx="323697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32" name="Ribbon Windows line 3-1"/>
          <p:cNvSpPr txBox="1"/>
          <p:nvPr/>
        </p:nvSpPr>
        <p:spPr>
          <a:xfrm>
            <a:off x="8156448" y="309067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run</a:t>
            </a:r>
          </a:p>
        </p:txBody>
      </p:sp>
      <p:sp>
        <p:nvSpPr>
          <p:cNvPr id="33" name="Ribbon Windows line 3-2"/>
          <p:cNvSpPr txBox="1"/>
          <p:nvPr/>
        </p:nvSpPr>
        <p:spPr>
          <a:xfrm>
            <a:off x="8156448" y="3364991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--lab B --case</a:t>
            </a:r>
          </a:p>
        </p:txBody>
      </p:sp>
      <p:sp>
        <p:nvSpPr>
          <p:cNvPr id="34" name="Ribbon Windows line 3-3"/>
          <p:cNvSpPr txBox="1"/>
          <p:nvPr/>
        </p:nvSpPr>
        <p:spPr>
          <a:xfrm>
            <a:off x="8156448" y="3639312"/>
            <a:ext cx="3236976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trace-b</a:t>
            </a:r>
          </a:p>
        </p:txBody>
      </p:sp>
      <p:sp>
        <p:nvSpPr>
          <p:cNvPr id="35" name="Ribbon receipt 3"/>
          <p:cNvSpPr txBox="1"/>
          <p:nvPr/>
        </p:nvSpPr>
        <p:spPr>
          <a:xfrm>
            <a:off x="8174736" y="39502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stdout → </a:t>
            </a: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3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freeze 成功後維持 frozen；hidden／Trace B 讀取同一 policy，不建立新 freeze。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B-04：品質與 service 分開判定，transition 串接機制</a:t>
            </a:r>
          </a:p>
        </p:txBody>
      </p:sp>
      <p:sp>
        <p:nvSpPr>
          <p:cNvPr id="3" name="Transition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品質是 observation context；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把 action 接到 packet outcome。</a:t>
            </a:r>
          </a:p>
        </p:txBody>
      </p:sp>
      <p:sp>
        <p:nvSpPr>
          <p:cNvPr id="4" name="Transition quality band 品質帶"/>
          <p:cNvSpPr/>
          <p:nvPr/>
        </p:nvSpPr>
        <p:spPr>
          <a:xfrm>
            <a:off x="658368" y="1645920"/>
            <a:ext cx="2542032" cy="10972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quality band 品質帶 heading"/>
          <p:cNvSpPr txBox="1"/>
          <p:nvPr/>
        </p:nvSpPr>
        <p:spPr>
          <a:xfrm>
            <a:off x="822959" y="179222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band 品質帶</a:t>
            </a:r>
          </a:p>
        </p:txBody>
      </p:sp>
      <p:sp>
        <p:nvSpPr>
          <p:cNvPr id="6" name="Transition quality band 品質帶 body"/>
          <p:cNvSpPr txBox="1"/>
          <p:nvPr/>
        </p:nvSpPr>
        <p:spPr>
          <a:xfrm>
            <a:off x="841247" y="2176272"/>
            <a:ext cx="217627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 context</a:t>
            </a:r>
          </a:p>
        </p:txBody>
      </p:sp>
      <p:cxnSp>
        <p:nvCxnSpPr>
          <p:cNvPr id="7" name="Transition arrow"/>
          <p:cNvCxnSpPr/>
          <p:nvPr/>
        </p:nvCxnSpPr>
        <p:spPr>
          <a:xfrm>
            <a:off x="3200400" y="219456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nsition MODE_CHANGE 模式"/>
          <p:cNvSpPr/>
          <p:nvPr/>
        </p:nvSpPr>
        <p:spPr>
          <a:xfrm>
            <a:off x="3438144" y="1645920"/>
            <a:ext cx="2542032" cy="10972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ition MODE_CHANGE 模式 heading"/>
          <p:cNvSpPr txBox="1"/>
          <p:nvPr/>
        </p:nvSpPr>
        <p:spPr>
          <a:xfrm>
            <a:off x="3602736" y="179222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模式</a:t>
            </a:r>
          </a:p>
        </p:txBody>
      </p:sp>
      <p:sp>
        <p:nvSpPr>
          <p:cNvPr id="10" name="Transition MODE_CHANGE 模式 body"/>
          <p:cNvSpPr txBox="1"/>
          <p:nvPr/>
        </p:nvSpPr>
        <p:spPr>
          <a:xfrm>
            <a:off x="3621024" y="2176272"/>
            <a:ext cx="217627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 state event</a:t>
            </a:r>
          </a:p>
        </p:txBody>
      </p:sp>
      <p:cxnSp>
        <p:nvCxnSpPr>
          <p:cNvPr id="11" name="Transition arrow"/>
          <p:cNvCxnSpPr/>
          <p:nvPr/>
        </p:nvCxnSpPr>
        <p:spPr>
          <a:xfrm>
            <a:off x="5980175" y="2194560"/>
            <a:ext cx="182881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nsition PACKET_ATTEMPT"/>
          <p:cNvSpPr/>
          <p:nvPr/>
        </p:nvSpPr>
        <p:spPr>
          <a:xfrm>
            <a:off x="6217920" y="1645920"/>
            <a:ext cx="2542032" cy="10972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PACKET_ATTEMPT heading"/>
          <p:cNvSpPr txBox="1"/>
          <p:nvPr/>
        </p:nvSpPr>
        <p:spPr>
          <a:xfrm>
            <a:off x="6382512" y="179222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PACKET_ATTEMPT</a:t>
            </a:r>
          </a:p>
        </p:txBody>
      </p:sp>
      <p:sp>
        <p:nvSpPr>
          <p:cNvPr id="14" name="Transition PACKET_ATTEMPT body"/>
          <p:cNvSpPr txBox="1"/>
          <p:nvPr/>
        </p:nvSpPr>
        <p:spPr>
          <a:xfrm>
            <a:off x="6400800" y="2176272"/>
            <a:ext cx="217627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封包嘗試 input</a:t>
            </a:r>
          </a:p>
        </p:txBody>
      </p:sp>
      <p:cxnSp>
        <p:nvCxnSpPr>
          <p:cNvPr id="15" name="Transition arrow"/>
          <p:cNvCxnSpPr/>
          <p:nvPr/>
        </p:nvCxnSpPr>
        <p:spPr>
          <a:xfrm>
            <a:off x="8759952" y="219456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nsition service / J"/>
          <p:cNvSpPr/>
          <p:nvPr/>
        </p:nvSpPr>
        <p:spPr>
          <a:xfrm>
            <a:off x="8997696" y="1645920"/>
            <a:ext cx="2542032" cy="10972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nsition service / J heading"/>
          <p:cNvSpPr txBox="1"/>
          <p:nvPr/>
        </p:nvSpPr>
        <p:spPr>
          <a:xfrm>
            <a:off x="9162288" y="1792224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Transition service / J body"/>
          <p:cNvSpPr txBox="1"/>
          <p:nvPr/>
        </p:nvSpPr>
        <p:spPr>
          <a:xfrm>
            <a:off x="9180576" y="2176272"/>
            <a:ext cx="2176272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verdict + endpoint energy</a:t>
            </a:r>
          </a:p>
        </p:txBody>
      </p:sp>
      <p:sp>
        <p:nvSpPr>
          <p:cNvPr id="19" name="Transition metrics"/>
          <p:cNvSpPr/>
          <p:nvPr/>
        </p:nvSpPr>
        <p:spPr>
          <a:xfrm>
            <a:off x="841248" y="3017520"/>
            <a:ext cx="4937760" cy="22494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nsition metrics heading"/>
          <p:cNvSpPr txBox="1"/>
          <p:nvPr/>
        </p:nvSpPr>
        <p:spPr>
          <a:xfrm>
            <a:off x="1005840" y="3163824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CANDIDATE</a:t>
            </a:r>
          </a:p>
        </p:txBody>
      </p:sp>
      <p:sp>
        <p:nvSpPr>
          <p:cNvPr id="21" name="Transition metrics body"/>
          <p:cNvSpPr txBox="1"/>
          <p:nvPr/>
        </p:nvSpPr>
        <p:spPr>
          <a:xfrm>
            <a:off x="1024128" y="3547872"/>
            <a:ext cx="457200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嘗試 attempted = 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交付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9,600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逾時 expired = 1；端點能量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10.66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</p:txBody>
      </p:sp>
      <p:sp>
        <p:nvSpPr>
          <p:cNvPr id="22" name="Transition interpret"/>
          <p:cNvSpPr/>
          <p:nvPr/>
        </p:nvSpPr>
        <p:spPr>
          <a:xfrm>
            <a:off x="6144768" y="3017520"/>
            <a:ext cx="4937760" cy="22494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nsition interpret heading"/>
          <p:cNvSpPr txBox="1"/>
          <p:nvPr/>
        </p:nvSpPr>
        <p:spPr>
          <a:xfrm>
            <a:off x="6309359" y="3163824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INTERPRET</a:t>
            </a:r>
          </a:p>
        </p:txBody>
      </p:sp>
      <p:sp>
        <p:nvSpPr>
          <p:cNvPr id="24" name="Transition interpret body"/>
          <p:cNvSpPr txBox="1"/>
          <p:nvPr/>
        </p:nvSpPr>
        <p:spPr>
          <a:xfrm>
            <a:off x="6327648" y="3547872"/>
            <a:ext cx="4572000" cy="15910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較快 transition ≠ service success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deadline／expired 定義 service outcome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 反映 energy trade-off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B-05：freeze evidence 決定 Trace B 閱讀資格</a:t>
            </a:r>
          </a:p>
        </p:txBody>
      </p:sp>
      <p:sp>
        <p:nvSpPr>
          <p:cNvPr id="3" name="Freeze B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B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 predecessor</a:t>
            </a:r>
          </a:p>
        </p:txBody>
      </p:sp>
      <p:sp>
        <p:nvSpPr>
          <p:cNvPr id="5" name="Freeze B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B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B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candidate + freeze</a:t>
            </a:r>
          </a:p>
        </p:txBody>
      </p:sp>
      <p:sp>
        <p:nvSpPr>
          <p:cNvPr id="9" name="Freeze B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B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B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 entry</a:t>
            </a:r>
          </a:p>
        </p:txBody>
      </p:sp>
      <p:sp>
        <p:nvSpPr>
          <p:cNvPr id="13" name="Freeze B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B-06：Trace B：frozen policy 的 withheld verification</a:t>
            </a:r>
          </a:p>
        </p:txBody>
      </p:sp>
      <p:sp>
        <p:nvSpPr>
          <p:cNvPr id="3" name="Withheld B frozen"/>
          <p:cNvSpPr/>
          <p:nvPr/>
        </p:nvSpPr>
        <p:spPr>
          <a:xfrm>
            <a:off x="749808" y="1078992"/>
            <a:ext cx="4956048" cy="30175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frozen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B frozen body"/>
          <p:cNvSpPr txBox="1"/>
          <p:nvPr/>
        </p:nvSpPr>
        <p:spPr>
          <a:xfrm>
            <a:off x="932688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</p:txBody>
      </p:sp>
      <p:sp>
        <p:nvSpPr>
          <p:cNvPr id="6" name="Withheld B result"/>
          <p:cNvSpPr/>
          <p:nvPr/>
        </p:nvSpPr>
        <p:spPr>
          <a:xfrm>
            <a:off x="6126480" y="1078992"/>
            <a:ext cx="4956048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B resul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EVIDENCE</a:t>
            </a:r>
          </a:p>
        </p:txBody>
      </p:sp>
      <p:sp>
        <p:nvSpPr>
          <p:cNvPr id="8" name="Withheld B result body"/>
          <p:cNvSpPr txBox="1"/>
          <p:nvPr/>
        </p:nvSpPr>
        <p:spPr>
          <a:xfrm>
            <a:off x="6309360" y="1609343"/>
            <a:ext cx="4590288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 B quality／window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expired_packets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5.43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4,800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claim ceiling shrinks</a:t>
            </a:r>
          </a:p>
        </p:txBody>
      </p:sp>
      <p:cxnSp>
        <p:nvCxnSpPr>
          <p:cNvPr id="9" name="Withheld arrow"/>
          <p:cNvCxnSpPr/>
          <p:nvPr/>
        </p:nvCxnSpPr>
        <p:spPr>
          <a:xfrm>
            <a:off x="5797296" y="2724912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07408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4714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 方向不同時，保留 counterexample；把結論改成 primary condition 下的觀察。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B-07：too-slow 與 ping-pong 是兩種不同問題</a:t>
            </a:r>
          </a:p>
        </p:txBody>
      </p:sp>
      <p:sp>
        <p:nvSpPr>
          <p:cNvPr id="3" name="Too slow"/>
          <p:cNvSpPr/>
          <p:nvPr/>
        </p:nvSpPr>
        <p:spPr>
          <a:xfrm>
            <a:off x="841248" y="1170432"/>
            <a:ext cx="4882896" cy="30175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o slow heading"/>
          <p:cNvSpPr txBox="1"/>
          <p:nvPr/>
        </p:nvSpPr>
        <p:spPr>
          <a:xfrm>
            <a:off x="1005840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5" name="Too slow body"/>
          <p:cNvSpPr txBox="1"/>
          <p:nvPr/>
        </p:nvSpPr>
        <p:spPr>
          <a:xfrm>
            <a:off x="1024128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hold 太久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send-ready 太晚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contact window 用完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deadline／service loss</a:t>
            </a:r>
          </a:p>
        </p:txBody>
      </p:sp>
      <p:sp>
        <p:nvSpPr>
          <p:cNvPr id="6" name="Ping pong"/>
          <p:cNvSpPr/>
          <p:nvPr/>
        </p:nvSpPr>
        <p:spPr>
          <a:xfrm>
            <a:off x="6199632" y="1170432"/>
            <a:ext cx="4882896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ng pong heading"/>
          <p:cNvSpPr txBox="1"/>
          <p:nvPr/>
        </p:nvSpPr>
        <p:spPr>
          <a:xfrm>
            <a:off x="6364224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8" name="Ping pong body"/>
          <p:cNvSpPr txBox="1"/>
          <p:nvPr/>
        </p:nvSpPr>
        <p:spPr>
          <a:xfrm>
            <a:off x="6382512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enter／exit 太近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多次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retry／額外 transition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energy trade-off</a:t>
            </a:r>
          </a:p>
        </p:txBody>
      </p:sp>
      <p:cxnSp>
        <p:nvCxnSpPr>
          <p:cNvPr id="9" name="Failure comparison"/>
          <p:cNvCxnSpPr/>
          <p:nvPr/>
        </p:nvCxnSpPr>
        <p:spPr>
          <a:xfrm>
            <a:off x="5815584" y="2724912"/>
            <a:ext cx="27432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6227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52628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機制判定依據：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、packet outcome、service verdict 與 endpoint ledger；平滑 quality 線維持為 context。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結論：hysteresis 的條件與邊界</a:t>
            </a:r>
          </a:p>
        </p:txBody>
      </p:sp>
      <p:sp>
        <p:nvSpPr>
          <p:cNvPr id="3" name="Debrief B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B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B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B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B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Trace A，hold=1 可能增加 delivered；在 Trace B，window／traffic 暴露邊界；hysteresis 是條件。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中斷復原：policy lineage 與新結果分開保存</a:t>
            </a:r>
          </a:p>
        </p:txBody>
      </p:sp>
      <p:sp>
        <p:nvSpPr>
          <p:cNvPr id="3" name="Recovery lead"/>
          <p:cNvSpPr txBox="1"/>
          <p:nvPr/>
        </p:nvSpPr>
        <p:spPr>
          <a:xfrm>
            <a:off x="804672" y="1078992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copy 復原 policy lineage；compile 後重跑，新的 stdout path 形成新的 evidence。</a:t>
            </a:r>
          </a:p>
        </p:txBody>
      </p:sp>
      <p:sp>
        <p:nvSpPr>
          <p:cNvPr id="4" name="Recovery node A frozen"/>
          <p:cNvSpPr/>
          <p:nvPr/>
        </p:nvSpPr>
        <p:spPr>
          <a:xfrm>
            <a:off x="768096" y="1609344"/>
            <a:ext cx="3364992" cy="1042415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node A frozen heading"/>
          <p:cNvSpPr txBox="1"/>
          <p:nvPr/>
        </p:nvSpPr>
        <p:spPr>
          <a:xfrm>
            <a:off x="932688" y="175564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6" name="Recovery node A frozen body"/>
          <p:cNvSpPr txBox="1"/>
          <p:nvPr/>
        </p:nvSpPr>
        <p:spPr>
          <a:xfrm>
            <a:off x="950976" y="2139696"/>
            <a:ext cx="2999232" cy="38404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lab-a-frozen.py</a:t>
            </a:r>
          </a:p>
        </p:txBody>
      </p:sp>
      <p:sp>
        <p:nvSpPr>
          <p:cNvPr id="7" name="Recovery node B frozen"/>
          <p:cNvSpPr/>
          <p:nvPr/>
        </p:nvSpPr>
        <p:spPr>
          <a:xfrm>
            <a:off x="4572000" y="1609344"/>
            <a:ext cx="3364992" cy="1042415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node B frozen heading"/>
          <p:cNvSpPr txBox="1"/>
          <p:nvPr/>
        </p:nvSpPr>
        <p:spPr>
          <a:xfrm>
            <a:off x="4736592" y="175564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9" name="Recovery node B frozen body"/>
          <p:cNvSpPr txBox="1"/>
          <p:nvPr/>
        </p:nvSpPr>
        <p:spPr>
          <a:xfrm>
            <a:off x="4754880" y="2139696"/>
            <a:ext cx="2999232" cy="38404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lab-b-frozen.py</a:t>
            </a:r>
          </a:p>
        </p:txBody>
      </p:sp>
      <p:sp>
        <p:nvSpPr>
          <p:cNvPr id="10" name="Recovery node release baseline"/>
          <p:cNvSpPr/>
          <p:nvPr/>
        </p:nvSpPr>
        <p:spPr>
          <a:xfrm>
            <a:off x="8375904" y="1609344"/>
            <a:ext cx="3364992" cy="1042415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node release baseline heading"/>
          <p:cNvSpPr txBox="1"/>
          <p:nvPr/>
        </p:nvSpPr>
        <p:spPr>
          <a:xfrm>
            <a:off x="8540496" y="175564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release baseline</a:t>
            </a:r>
          </a:p>
        </p:txBody>
      </p:sp>
      <p:sp>
        <p:nvSpPr>
          <p:cNvPr id="12" name="Recovery node release baseline body"/>
          <p:cNvSpPr txBox="1"/>
          <p:nvPr/>
        </p:nvSpPr>
        <p:spPr>
          <a:xfrm>
            <a:off x="8558784" y="2139696"/>
            <a:ext cx="2999232" cy="38404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student_policy.A-baseline.py</a:t>
            </a:r>
          </a:p>
        </p:txBody>
      </p:sp>
      <p:sp>
        <p:nvSpPr>
          <p:cNvPr id="13" name="Recovery POSIX"/>
          <p:cNvSpPr/>
          <p:nvPr/>
        </p:nvSpPr>
        <p:spPr>
          <a:xfrm>
            <a:off x="768096" y="2962656"/>
            <a:ext cx="5065776" cy="13350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POSIX heading"/>
          <p:cNvSpPr txBox="1"/>
          <p:nvPr/>
        </p:nvSpPr>
        <p:spPr>
          <a:xfrm>
            <a:off x="932688" y="310896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</a:t>
            </a:r>
          </a:p>
        </p:txBody>
      </p:sp>
      <p:sp>
        <p:nvSpPr>
          <p:cNvPr id="15" name="Recovery POSIX body"/>
          <p:cNvSpPr txBox="1"/>
          <p:nvPr/>
        </p:nvSpPr>
        <p:spPr>
          <a:xfrm>
            <a:off x="950976" y="3493008"/>
            <a:ext cx="470001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&lt;checkpoint&gt;.py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6" name="Recovery Windows"/>
          <p:cNvSpPr/>
          <p:nvPr/>
        </p:nvSpPr>
        <p:spPr>
          <a:xfrm>
            <a:off x="6364224" y="2962656"/>
            <a:ext cx="5065776" cy="13350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Windows heading"/>
          <p:cNvSpPr txBox="1"/>
          <p:nvPr/>
        </p:nvSpPr>
        <p:spPr>
          <a:xfrm>
            <a:off x="6528816" y="310896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CMD</a:t>
            </a:r>
          </a:p>
        </p:txBody>
      </p:sp>
      <p:sp>
        <p:nvSpPr>
          <p:cNvPr id="18" name="Recovery Windows body"/>
          <p:cNvSpPr txBox="1"/>
          <p:nvPr/>
        </p:nvSpPr>
        <p:spPr>
          <a:xfrm>
            <a:off x="6547104" y="3493008"/>
            <a:ext cx="4700016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 /Y &lt;checkpoint&gt;.py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9" name="Teaching takeaway"/>
          <p:cNvSpPr/>
          <p:nvPr/>
        </p:nvSpPr>
        <p:spPr>
          <a:xfrm>
            <a:off x="786384" y="45720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ching takeaway text"/>
          <p:cNvSpPr txBox="1"/>
          <p:nvPr/>
        </p:nvSpPr>
        <p:spPr>
          <a:xfrm>
            <a:off x="950976" y="46360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result／replay 遺失：回最後一個 identity 正確的 checkpoint，重跑 exact case；JSON 維持原始內容。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 匯入：網站驗證、回放與工作簿</a:t>
            </a:r>
          </a:p>
        </p:txBody>
      </p:sp>
      <p:sp>
        <p:nvSpPr>
          <p:cNvPr id="3" name="Bridge lead"/>
          <p:cNvSpPr txBox="1"/>
          <p:nvPr/>
        </p:nvSpPr>
        <p:spPr>
          <a:xfrm>
            <a:off x="841248" y="1078992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網站 runtime 接收 runner evidence；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留在 runner，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網站執行驗證、回放與保存。</a:t>
            </a:r>
          </a:p>
        </p:txBody>
      </p:sp>
      <p:sp>
        <p:nvSpPr>
          <p:cNvPr id="4" name="Bridge RUNNER 執行器"/>
          <p:cNvSpPr/>
          <p:nvPr/>
        </p:nvSpPr>
        <p:spPr>
          <a:xfrm>
            <a:off x="566928" y="1773936"/>
            <a:ext cx="2578608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idge RUNNER 執行器 heading"/>
          <p:cNvSpPr txBox="1"/>
          <p:nvPr/>
        </p:nvSpPr>
        <p:spPr>
          <a:xfrm>
            <a:off x="731520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RUNNER 執行器</a:t>
            </a:r>
          </a:p>
        </p:txBody>
      </p:sp>
      <p:sp>
        <p:nvSpPr>
          <p:cNvPr id="6" name="Bridge RUNNER 執行器 body"/>
          <p:cNvSpPr txBox="1"/>
          <p:nvPr/>
        </p:nvSpPr>
        <p:spPr>
          <a:xfrm>
            <a:off x="749808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（結果路徑）</a:t>
            </a:r>
          </a:p>
        </p:txBody>
      </p:sp>
      <p:cxnSp>
        <p:nvCxnSpPr>
          <p:cNvPr id="7" name="Bridge arrow"/>
          <p:cNvCxnSpPr/>
          <p:nvPr/>
        </p:nvCxnSpPr>
        <p:spPr>
          <a:xfrm>
            <a:off x="3145536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idge VALIDATOR 驗證器"/>
          <p:cNvSpPr/>
          <p:nvPr/>
        </p:nvSpPr>
        <p:spPr>
          <a:xfrm>
            <a:off x="3364992" y="1773936"/>
            <a:ext cx="2578608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ridge VALIDATOR 驗證器 heading"/>
          <p:cNvSpPr txBox="1"/>
          <p:nvPr/>
        </p:nvSpPr>
        <p:spPr>
          <a:xfrm>
            <a:off x="3529584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VALIDATOR 驗證器</a:t>
            </a:r>
          </a:p>
        </p:txBody>
      </p:sp>
      <p:sp>
        <p:nvSpPr>
          <p:cNvPr id="10" name="Bridge VALIDATOR 驗證器 body"/>
          <p:cNvSpPr txBox="1"/>
          <p:nvPr/>
        </p:nvSpPr>
        <p:spPr>
          <a:xfrm>
            <a:off x="3547872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schema（結構）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identity／units（識別／單位）</a:t>
            </a:r>
          </a:p>
        </p:txBody>
      </p:sp>
      <p:cxnSp>
        <p:nvCxnSpPr>
          <p:cNvPr id="11" name="Bridge arrow"/>
          <p:cNvCxnSpPr/>
          <p:nvPr/>
        </p:nvCxnSpPr>
        <p:spPr>
          <a:xfrm>
            <a:off x="5943600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ridge REPLAY 事件重播"/>
          <p:cNvSpPr/>
          <p:nvPr/>
        </p:nvSpPr>
        <p:spPr>
          <a:xfrm>
            <a:off x="6163056" y="1773936"/>
            <a:ext cx="2578608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ridge REPLAY 事件重播 heading"/>
          <p:cNvSpPr txBox="1"/>
          <p:nvPr/>
        </p:nvSpPr>
        <p:spPr>
          <a:xfrm>
            <a:off x="6327648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REPLAY 事件重播</a:t>
            </a:r>
          </a:p>
        </p:txBody>
      </p:sp>
      <p:sp>
        <p:nvSpPr>
          <p:cNvPr id="14" name="Bridge REPLAY 事件重播 body"/>
          <p:cNvSpPr txBox="1"/>
          <p:nvPr/>
        </p:nvSpPr>
        <p:spPr>
          <a:xfrm>
            <a:off x="6345936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cxnSp>
        <p:nvCxnSpPr>
          <p:cNvPr id="15" name="Bridge arrow"/>
          <p:cNvCxnSpPr/>
          <p:nvPr/>
        </p:nvCxnSpPr>
        <p:spPr>
          <a:xfrm>
            <a:off x="8741664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ridge WORKBOOK 比較紀錄"/>
          <p:cNvSpPr/>
          <p:nvPr/>
        </p:nvSpPr>
        <p:spPr>
          <a:xfrm>
            <a:off x="8961120" y="1773936"/>
            <a:ext cx="2578608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ridge WORKBOOK 比較紀錄 heading"/>
          <p:cNvSpPr txBox="1"/>
          <p:nvPr/>
        </p:nvSpPr>
        <p:spPr>
          <a:xfrm>
            <a:off x="9125712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WORKBOOK 比較紀錄</a:t>
            </a:r>
          </a:p>
        </p:txBody>
      </p:sp>
      <p:sp>
        <p:nvSpPr>
          <p:cNvPr id="18" name="Bridge WORKBOOK 比較紀錄 body"/>
          <p:cNvSpPr txBox="1"/>
          <p:nvPr/>
        </p:nvSpPr>
        <p:spPr>
          <a:xfrm>
            <a:off x="9144000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baseline／candidate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compare</a:t>
            </a:r>
          </a:p>
        </p:txBody>
      </p:sp>
      <p:sp>
        <p:nvSpPr>
          <p:cNvPr id="19" name="Bridge rule"/>
          <p:cNvSpPr/>
          <p:nvPr/>
        </p:nvSpPr>
        <p:spPr>
          <a:xfrm>
            <a:off x="969264" y="3346704"/>
            <a:ext cx="10040112" cy="100584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ridge rule heading"/>
          <p:cNvSpPr txBox="1"/>
          <p:nvPr/>
        </p:nvSpPr>
        <p:spPr>
          <a:xfrm>
            <a:off x="1133856" y="3493008"/>
            <a:ext cx="9710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IMPORT RULE</a:t>
            </a:r>
          </a:p>
        </p:txBody>
      </p:sp>
      <p:sp>
        <p:nvSpPr>
          <p:cNvPr id="21" name="Bridge rule body"/>
          <p:cNvSpPr txBox="1"/>
          <p:nvPr/>
        </p:nvSpPr>
        <p:spPr>
          <a:xfrm>
            <a:off x="1152144" y="3877056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只選 stdout 指出的 result.json；若要求 replay，選同一 generated run 目錄。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identity／schema／units 不一致 → fail closed。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62686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69087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 result.json 後，網站只驗證 schema／identity／units／provenance，回放同 run evidence 並寫入 workbook。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