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77" r:id="rId2"/>
    <p:sldId id="295" r:id="rId3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55" r:id="rId68"/>
    <p:sldId id="356" r:id="rId69"/>
    <p:sldId id="357" r:id="rId70"/>
    <p:sldId id="358" r:id="rId71"/>
    <p:sldId id="359" r:id="rId72"/>
    <p:sldId id="360" r:id="rId73"/>
    <p:sldId id="361" r:id="rId74"/>
    <p:sldId id="362" r:id="rId75"/>
    <p:sldId id="363" r:id="rId76"/>
    <p:sldId id="364" r:id="rId77"/>
    <p:sldId id="365" r:id="rId78"/>
    <p:sldId id="366" r:id="rId79"/>
    <p:sldId id="367" r:id="rId80"/>
    <p:sldId id="368" r:id="rId81"/>
    <p:sldId id="369" r:id="rId82"/>
    <p:sldId id="370" r:id="rId83"/>
    <p:sldId id="371" r:id="rId84"/>
    <p:sldId id="372" r:id="rId85"/>
    <p:sldId id="373" r:id="rId86"/>
    <p:sldId id="374" r:id="rId87"/>
    <p:sldId id="375" r:id="rId88"/>
    <p:sldId id="376" r:id="rId89"/>
    <p:sldId id="377" r:id="rId90"/>
    <p:sldId id="378" r:id="rId91"/>
    <p:sldId id="379" r:id="rId92"/>
    <p:sldId id="380" r:id="rId93"/>
    <p:sldId id="381" r:id="rId94"/>
    <p:sldId id="382" r:id="rId95"/>
    <p:sldId id="383" r:id="rId96"/>
    <p:sldId id="384" r:id="rId97"/>
    <p:sldId id="385" r:id="rId98"/>
    <p:sldId id="386" r:id="rId99"/>
    <p:sldId id="387" r:id="rId100"/>
    <p:sldId id="388" r:id="rId101"/>
    <p:sldId id="389" r:id="rId102"/>
    <p:sldId id="390" r:id="rId103"/>
    <p:sldId id="391" r:id="rId104"/>
    <p:sldId id="392" r:id="rId105"/>
    <p:sldId id="393" r:id="rId106"/>
    <p:sldId id="394" r:id="rId107"/>
    <p:sldId id="395" r:id="rId108"/>
    <p:sldId id="396" r:id="rId109"/>
    <p:sldId id="397" r:id="rId110"/>
    <p:sldId id="398" r:id="rId111"/>
    <p:sldId id="399" r:id="rId112"/>
    <p:sldId id="400" r:id="rId113"/>
    <p:sldId id="401" r:id="rId1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若操作受阻，若 claim 被擴大，停在分層圖，回到 endpoint/system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拿到 release 後，不要從不同 branch 拼檔案。Server 上目前的 ZIP inventory 已驗證為單一 c120-lora-energy-lab/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請只從畫面上的兩個 URL 取得同名 ZIP 與 checksum。Linux 用 sha256sum -c c120-lora-energy-lab-v1.zip.sha256，macOS 用 shasum -a 256 後逐字比較，Windows PowerShell 用 Get-FileHash .\\c120-lora-energy-lab-v1.zip -Algorithm SHA256，再與畫面上的 64 位 hash 比對。這一步保護的是 artifact identity，不是 energy evidence。2026-08-11 controller 已從公開 URL 完整下載 115,697-byte ZIP 與 checksum，sha256sum -c、unzip -t 與單一根目錄 65-item inventory 均通過；仍不把 controller 網路通過擴張成所有教室網路均已驗證。hash 不符就停止，不改用相似 archive。 若操作受阻，URL 無法下載時先保留錯誤並確認教室網路能連到 120.126.151.102:4192；checksum 不符或必要檔案缺失時停止，重新取得同一個 owner 指定 archive，不從其他 branch 拼檔。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如果畫面開頭是 C:\...&gt;，我們在 CMD；如果是 PS C:\...&gt;，我們在 PowerShell。兩者都能使用 Python Launcher，但環境變數寫法不同。先執行 py --list，再執行 py -3.11 --version。看到 Python 3.11.x 才進入 setup；不要因為 python 指向另一個版本就繼續。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py --list 沒有 3.11，請開啟畫面上的 Python 官方 Windows 下載頁，選擇 Python 3.11.x 的 64-bit installer；安裝時保留 Python Launcher。完成後關閉再開 CMD 或 PowerShell，重跑 py --list 與 py -3.11 --version。這不是把最新版本硬塞進課程，而是建立 runner 預期的 minor-version 邊界。若 installer、PATH 或 launcher 仍失敗，改用下一頁的 uv recovery；不修改 lock。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當 launcher 找不到 3.11，我們可以用 uv 取得 exact interpreter。先裝 uv，再跑 uv --version，接著 uv python install 3.11 與 uv python find 3.11。最後一行要回傳實際 interpreter path；它只用來建立這份 package 的 .venv。如果 uv 仍找不到，保留錯誤，走 fallback；不要把 uv recovery 說成已完成的 fresh setup。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隔離環境讓這份 runner 的 dependency graph 不受其他專案污染，也讓錯誤能從 package root 回復。Windows 的 interpreter 應落在 .venv\Scripts\python.exe，不能拿 WSL 的 .venv/bin/python 來用。正常上課不必 activate；launcher 會優先找 package-local venv。需要診斷時才執行 .\.venv\Scripts\python.exe --version。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package root 的 PowerShell，先設定 $env:PYTHON_BIN = "py -3.11"，再執行 .\setup.cmd，完成後執行 .\course.cmd verify。setup 的作用是建立 venv 並依 lock 安裝；verify 的作用是檢查 Python、wrapper、lock、policy API 和 scenario identity。預期是 machine-readable READY receipt；目前 Windows native command 與 receipt 尚未 clean-run，所以只把 READY / PLACEHOLDER 留在畫面。版本或 identity 失敗就停在這一 gate。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 是另一個 shell 與檔案環境。尚未安裝時，在系統管理員 PowerShell 執行 wsl --install -d Ubuntu，依 Windows 提示重新啟動並完成 Ubuntu 使用者設定；已安裝時先用 wsl -l -v 確認 Ubuntu。進入 Ubuntu 後再執行 pwd 與 uname -a。如果看到 Linux home 路徑，才使用 setup.sh；Windows 端的 setup.cmd 不要在這裡執行。先辨識環境，才能讓後面的 path、venv 和 recovery 可信。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Ubuntu shell 先更新套件索引並安裝 curl、unzip，再依 uv 官方 installer 安裝 uv。重新開 shell 後跑 uv --version、uv python install 3.11、uv python find 3.11。這些步驟只是讓 WSL 有可選的 exact interpreter；它們不會產生 course result。若 installer 被 policy 或網路擋住，留下錯誤並回到同 scenario fallback。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ZIP 在 Windows Downloads，可從 /mnt/c/Users/&lt;YourName&gt;/Downloads/ 複製到 WSL 的 Linux home，再在 WSL 內解壓。進入 package root 後執行 PYTHON_BIN="$(uv python find 3.11)" bash setup.sh。這會建立 WSL 專用的 .venv/bin/python；不要把 Windows 既有 venv 帶過來。接著同一個 shell 執行 bash course.sh verify。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Linux 或 macOS 的 POSIX shell，先以 PYTHON_BIN=python3.11 bash setup.sh 指定 interpreter，再以 bash course.sh verify 做同一份 gate。這與 Windows、WSL 的 launcher 不同，但驗證目的相同：package-local venv、lock、policy API、scenario 與 claim boundary 都要一致。現在這條 POSIX path 也保持實機排演 placeholder。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receipt 中找 status、Python version、scenario identity、policy API、lock、engine mode、upstream execution 和 claim boundary。READY 表示環境和契約可以進入 runner；它不表示已完成任何節能實驗。缺欄位、版本不符或出現不同 scenario，先讀失敗 gate；不要手改 receipt 讓它看起來通過。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若操作受阻，若 shell、版本、lock 或 receipt 不符，保留錯誤並回到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在整個實驗中，我們只改 student_policy.py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縮排決定條件屬於哪個分支，return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若操作受阻，若 policy guard 或 syntax 失敗，只修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公式只把 endpoint radio 與 processing course assumptions 的累積關係說清楚：每個 state 的功率乘上停留時間，再加總。E_endpoint 的下標提醒我們它不是 whole-system energy。這裡不填入未產生的數字；結果要從 runner artifact 讀取。若 PowerPoint 不能顯示 Office Math，使用同一公式的向量 fallback，不顯示原始 LaTeX 當成公式畫面。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若操作受阻，若欄位、單位、scope 或 identity 不完整，停止比較，回到相同 scenario 的 artifact；不要補填數字。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先不改 policy，執行 baseline。POSIX/WSL 使用 bash course.sh run --lab A --case baseline，Windows 使用 course.cmd run --lab A --case baseline。這一步建立 control，固定 scenario 和 seed，並輸出 stdout JSON；請複製 JSON 指出的 result_path，不要靠檔名猜 run。現在命令與 clean artifact 尚未完成 controller fresh rehearsal，畫面保留 placeholder。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現在才編輯 lab-a-pace-rest，只改 PACE_GAP_STEPS 或 REST_DURING_GAP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policy，不再編輯，執行 hidden case；Windows 使用對應的 course.cmd。hidden 會用另一個成本或 service-window 條件測試原先的 pace/rest 假說。預期 policy SHA 不變，結果有自己的 queue、service、state 和 J。若方向相反，這是 counterexample；不要回頭改 policy 讓它變漂亮。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若操作受阻，若 A result 缺失或沒有 consequential diff，保留 stdout 與錯誤，restore A checkpoint 或選 matching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B frozen policy，執行 Trace B；Windows 使用對應的 course.cmd。此時不再改 threshold 或 stable steps。預期 result 沿用 B policy SHA，並提供 transition、queue、service、state 和 endpoint J。若 Trace B 露出 counterexample，這是泛化邊界，不是失敗到要隨機重調。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若操作受阻，若 B receipt、predecessor 或 policy SHA 不符，停止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B frozen predecessor，先跑 C baseline；不要加 --freeze。這個 control 固定 traffic、deadline 和 contact window，讓後面的 batching/urgent 改動有比較基準。請保存 result path 和配對 replay；如果 predecessor 不符，先 restore B checkpoint，不要把 C 直接跑下去。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沿著 state 帶讀：batch 是否減少 activation？urgent 是否增加 awake/TX？有沒有 wake latency？把這些時間帶放進 E_endpoint 的累積關係，再回頭檢查 delivered bits 與 deadline。若 service 不同，先報 trade-off，不以 J 單項排名。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若操作受阻，若 C lineage、packet ledger 或 service evidence 不完整，保留目前 artifact，回到 matching result 或 same-scenario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 runner 成功，stdout 會告訴我們真正的 result_path。請把 result 和同目錄的 endpoint replay 一起保存，並記下 case、policy SHA、scenario identity 和 prediction。不要靠 timestamp 或檔名猜 run，也不要手改 JSON。這兩個檔案是後面 Leo import 能否建立完整 evidence chain 的起點。 若操作受阻，若 result 或 replay 缺一個，保留 stdout 和錯誤，回到 exact case 的 matching fallback；不要拼接不同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打開 Leo /course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若操作受阻，若 setup mode 與 artifact source 不一致，停止 import，先改回相符的 READY 或 fallback provenance。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import control 選擇 exact case 的 result.json；fresh run 用 stdout 指出的 artifact，fallback 用 manifest 指定的 matching path。Leo 只接收 JSON，不執行 student_policy.py。匯入前核對配對 endpoint replay，讓 workbook 能保存 run ID、policy SHA、predecessor 與 replay identity。LoRa endpoint import pixel 尚未凍結，不能放假的成功畫面。 若操作受阻，若匯入被拒絕，保留 importer error，核對 result/replay pair 與 case，再選相同 scenario 的 fallback；不要改上傳檔案內容。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若操作受阻，任一 gate 失敗就回到命名的 artifact 或 same-scenario fallback；不以空陣列、零值或手改 hash 假裝通過。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若操作受阻，若 replay marker 與 result identity 不相符，回到 importer gate，保留 session 不變；不要手動畫事件。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若操作受阻，若瀏覽器 evidence 來源或 scenario 不明，移除畫面，改走 matching fallback 的 artifact packet；保留未驗證標籤。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若操作受阻，若 export 失敗，先保留已匯入 artifact 與 stdout，使用 backup；缺少欄位就標記 INCOMPLETE，不手改 status。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關閉 /course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若操作受阻，若 identity 不符或 evidence 缺失，保留 INCOMPLETE，回到同一 scenario 重新匯入；不要把舊 workbook 改名成新場景。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若操作受阻，保存錯誤訊息，核對 manifest、scenario、case 與配對 replay；仍不符就選 same-scenario fallback，絕不修改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 不是一張相似預設畫面。先保留 fallback_artifacts/manifest.json，再依 exact label 選 A baseline、A candidate、A hidden、B Trace A/B、C baseline/candidate/revision/surprise 的 matching result 與 replay。Leo 要顯示 source mode 是 fallback；這表示課程可繼續，但不證明本機 policy 曾執行。 若操作受阻，若 manifest、case label 或 scenario identity 不配對，停止使用，回到 owner 指定 release 或重新解壓同一 archive。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若 policy guard 報 UTF-8/LF、marker、AST、名稱或 action 錯誤，先執行 course.sh status 找可用 checkpoint；再用對應的 restore --checkpoint lab-a-frozen、lab-b-frozen、lab-c-candidate 或 lab-c-frozen。Windows 使用 course.cmd 等價命令。restore 只回復 active policy bytes，應保留 artifacts。修好後重新驗證，不要重做整個結果集。 若操作受阻，checkpoint 不存在或 identity 不符，就回到 release-default 或 matching fallback；不可從不同 Lab 拼 policy。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若操作受阻，若 recovery provenance 無法說清楚，將本次 session 標成 INCOMPLETE，停止向下宣稱完成。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若操作受阻，若某欄位的取得時點不明，暫停使用，標成 PLACEHOLDER，回到 API contract；不要猜它是合法 observation。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若操作受阻，發現 leakage 時，恢復 release policy 或 checkpoint，重新做 prediction；保留原結果但標成 invalid experiment。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若操作受阻，若 record 缺 identity、scope 或 source mode，維持 INCOMPLETE；不以畫面或預期值補上缺欄位。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若操作受阻，分類不清時保留 placeholder，回查 artifact provenance；不要因為欄位精細或畫面漂亮就升格 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若操作受阻，若欄位來源或 boundary 不明，停止做 bit/J 或 system 比較，回到 schema 與 authority 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若操作受阻，若 transfer 只換了場景名、沒有重定義 service 或 energy scope，回到 endpoint model，標成未完成假說。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若操作受阻，若 domain claim 需要 LEO 數字或未提供的 measured power，刪除該 claim，保留 mechanism placeholder。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若操作受阻，若假說只有「更省」而沒有 mechanism 或 falsifier，回到第 68 頁的 trade-off card 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若操作受阻，若 source、epoch 或 scenario anchor 未凍結，停止引用 contact 畫面，標成 PLACEHOLDER；不要自行抓最新 TLE。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若操作受阻，若有人把 contact 圖說成 live pass，回到 claim shield，改用 simulated / source-verified 的準確語句。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若操作受阻，unit、field mapping 或 boundary 不清時，停在 observation 層，不做跨欄位的數值比較。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若操作受阻，若 unit 混用，停止比較，回查 schema、公式與 endpoint/system boundary；不自行換算補值。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若操作受阻，provenance 斷裂時，回到最近一個有 identity 的 artifact，保留斷點，不重建看似完整的鏈。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若操作受阻，API 與檔案版本不符時，恢復 release policy 或 checkpoint，不能自行發明 action 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若操作受阻，schema validation 失敗時，保留 error 與 input，不手改欄位，改選 matching release artifact。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若操作受阻，回讀錯誤所指出的 gate，重選 exact artifact 或 fallback；不要關掉 validation 或刪除欄位。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若操作受阻，任何人若要把 upstream、Leo source 或 generated artifact 改成課堂操作，停止並交回 owner review；課堂只保留 bounded policy edit。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若操作受阻，若有人以 live、measured、whole-system 或 canonical parity 描述課程 result，回到 claim shield，改用 evidence status 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若操作受阻，若沒有 frozen receipt 或新的 condition 未標 identity，就回到主路徑，使用已保存的 result/replay，不另造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若操作受阻，若無法完成 export/reopen，保留已產生的 artifact 與錯誤，使用 backup 或 same-scenario fallback；不得宣稱 classroom-ready、live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anchor"/>
          <p:cNvSpPr txBox="1"/>
          <p:nvPr/>
        </p:nvSpPr>
        <p:spPr>
          <a:xfrm>
            <a:off x="786384" y="1005840"/>
            <a:ext cx="6766560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3" name="Cover subtitle"/>
          <p:cNvSpPr txBox="1"/>
          <p:nvPr/>
        </p:nvSpPr>
        <p:spPr>
          <a:xfrm>
            <a:off x="868680" y="2377440"/>
            <a:ext cx="612648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C-120｜LoRaEnergySim ×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智慧節能與物聯網應用</a:t>
            </a:r>
          </a:p>
        </p:txBody>
      </p:sp>
      <p:sp>
        <p:nvSpPr>
          <p:cNvPr id="4" name="Cover causal chain"/>
          <p:cNvSpPr txBox="1"/>
          <p:nvPr/>
        </p:nvSpPr>
        <p:spPr>
          <a:xfrm>
            <a:off x="896112" y="3072384"/>
            <a:ext cx="580644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→ state time → packet / service → endpoint energy</a:t>
            </a:r>
          </a:p>
        </p:txBody>
      </p:sp>
      <p:sp>
        <p:nvSpPr>
          <p:cNvPr id="5" name="Cover stage 1"/>
          <p:cNvSpPr/>
          <p:nvPr/>
        </p:nvSpPr>
        <p:spPr>
          <a:xfrm>
            <a:off x="896112" y="4224528"/>
            <a:ext cx="1207008" cy="6217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ver stage label 1"/>
          <p:cNvSpPr txBox="1"/>
          <p:nvPr/>
        </p:nvSpPr>
        <p:spPr>
          <a:xfrm>
            <a:off x="950976" y="4379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觀察</a:t>
            </a:r>
          </a:p>
        </p:txBody>
      </p:sp>
      <p:cxnSp>
        <p:nvCxnSpPr>
          <p:cNvPr id="7" name="Cover causal arrow"/>
          <p:cNvCxnSpPr/>
          <p:nvPr/>
        </p:nvCxnSpPr>
        <p:spPr>
          <a:xfrm>
            <a:off x="2103120" y="4535424"/>
            <a:ext cx="27432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ver stage 2"/>
          <p:cNvSpPr/>
          <p:nvPr/>
        </p:nvSpPr>
        <p:spPr>
          <a:xfrm>
            <a:off x="2395728" y="4224528"/>
            <a:ext cx="1207008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 stage label 2"/>
          <p:cNvSpPr txBox="1"/>
          <p:nvPr/>
        </p:nvSpPr>
        <p:spPr>
          <a:xfrm>
            <a:off x="2450592" y="4379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決策</a:t>
            </a:r>
          </a:p>
        </p:txBody>
      </p:sp>
      <p:cxnSp>
        <p:nvCxnSpPr>
          <p:cNvPr id="10" name="Cover causal arrow"/>
          <p:cNvCxnSpPr/>
          <p:nvPr/>
        </p:nvCxnSpPr>
        <p:spPr>
          <a:xfrm>
            <a:off x="3602736" y="4535424"/>
            <a:ext cx="27432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ver stage 3"/>
          <p:cNvSpPr/>
          <p:nvPr/>
        </p:nvSpPr>
        <p:spPr>
          <a:xfrm>
            <a:off x="3895344" y="4224528"/>
            <a:ext cx="1207008" cy="6217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ver stage label 3"/>
          <p:cNvSpPr txBox="1"/>
          <p:nvPr/>
        </p:nvSpPr>
        <p:spPr>
          <a:xfrm>
            <a:off x="3950207" y="4379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cxnSp>
        <p:nvCxnSpPr>
          <p:cNvPr id="13" name="Cover causal arrow"/>
          <p:cNvCxnSpPr/>
          <p:nvPr/>
        </p:nvCxnSpPr>
        <p:spPr>
          <a:xfrm>
            <a:off x="5102352" y="4535424"/>
            <a:ext cx="27432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ver stage 4"/>
          <p:cNvSpPr/>
          <p:nvPr/>
        </p:nvSpPr>
        <p:spPr>
          <a:xfrm>
            <a:off x="5394960" y="4224528"/>
            <a:ext cx="1207008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ver stage label 4"/>
          <p:cNvSpPr txBox="1"/>
          <p:nvPr/>
        </p:nvSpPr>
        <p:spPr>
          <a:xfrm>
            <a:off x="5449824" y="4379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16" name="Claim boundary"/>
          <p:cNvSpPr txBox="1"/>
          <p:nvPr/>
        </p:nvSpPr>
        <p:spPr>
          <a:xfrm>
            <a:off x="896112" y="5138928"/>
            <a:ext cx="65836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anchor">
            <a:extLst>
              <a:ext uri="{FF2B5EF4-FFF2-40B4-BE49-F238E27FC236}">
                <a16:creationId xmlns:a16="http://schemas.microsoft.com/office/drawing/2014/main"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Songsong</a:t>
            </a:r>
            <a:r>
              <a:rPr lang="en-US" altLang="zh-TW" b="1" i="0" u="none" strike="noStrike" baseline="0" dirty="0">
                <a:latin typeface="Times-Roman"/>
              </a:rPr>
              <a:t> Cai</a:t>
            </a:r>
            <a:r>
              <a:rPr lang="zh-TW" altLang="en-US" b="1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et al. “Energy-Efficiency-Based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System,” 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9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</a:t>
            </a:r>
          </a:p>
        </p:txBody>
      </p:sp>
      <p:cxnSp>
        <p:nvCxnSpPr>
          <p:cNvPr id="10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2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4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5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7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  <p:extLst>
      <p:ext uri="{BB962C8B-B14F-4D97-AF65-F5344CB8AC3E}">
        <p14:creationId xmlns:p14="http://schemas.microsoft.com/office/powerpoint/2010/main" val="166981622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IoT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ausal stage 1"/>
          <p:cNvSpPr/>
          <p:nvPr/>
        </p:nvSpPr>
        <p:spPr>
          <a:xfrm>
            <a:off x="749808" y="1600200"/>
            <a:ext cx="2395728" cy="10789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stage text 1"/>
          <p:cNvSpPr txBox="1"/>
          <p:nvPr/>
        </p:nvSpPr>
        <p:spPr>
          <a:xfrm>
            <a:off x="859536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Causal explanation band"/>
          <p:cNvSpPr/>
          <p:nvPr/>
        </p:nvSpPr>
        <p:spPr>
          <a:xfrm>
            <a:off x="822960" y="3127248"/>
            <a:ext cx="10469880" cy="135331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usal explanation"/>
          <p:cNvSpPr txBox="1"/>
          <p:nvPr/>
        </p:nvSpPr>
        <p:spPr>
          <a:xfrm>
            <a:off x="1042415" y="3346704"/>
            <a:ext cx="100126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看圖判讀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：IoT endpoint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state／packet／energy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三層卡片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：VERIFIED</a:t>
            </a:r>
          </a:p>
        </p:txBody>
      </p:sp>
      <p:sp>
        <p:nvSpPr>
          <p:cNvPr id="11" name="Causal takeaway"/>
          <p:cNvSpPr txBox="1"/>
          <p:nvPr/>
        </p:nvSpPr>
        <p:spPr>
          <a:xfrm>
            <a:off x="932688" y="4791456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講師判讀句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是否真的改變中間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再把差異連到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= example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只改目前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區域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bytes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是唯一受控變因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bytes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timing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choice，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差異必須沿著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queue、packet、service、state time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追到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：candidate result、policy SHA、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若只變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label，gate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不成立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Evidence：VERIFIED; DONOR-REWRITE：BeamShift donor slides 2, 4–6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layer：queue / packet / state / endpoint J；system layer：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再執行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；withheld case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：hidden／Trace B／surprise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使用相同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的另一條條件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且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必須保持不變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另一條條件的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replay；policy SHA unchanged，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並同時列出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service、state、endpoint J。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在不再調參的條件下測試假說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讓結果可以推翻先前的預測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bytes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timing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choice，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差異必須沿著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queue、packet、service、state time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追到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：candidate result、policy SHA、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若只變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label，gate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不成立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先停在明確的失敗邊界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保留錯誤與身份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checkpoint。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endpoint/system boundary；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不可把模擬資料說成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live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9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setup.sh / setup.cmd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course.sh / course.cmd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cxnSp>
        <p:nvCxnSpPr>
          <p:cNvPr id="10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2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4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Evidence：VERIFIED（server ZIP inventory：single root、65 files）</a:t>
            </a:r>
          </a:p>
        </p:txBody>
      </p:sp>
      <p:sp>
        <p:nvSpPr>
          <p:cNvPr id="15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7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identity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ZIP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SHA-256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檔案的相鄰卡片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Evidence：VERIFIED（server bytes、checksum、listener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controller public GET）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：URL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無法下載時先保留錯誤並確認教室網路能連到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120.126.151.102:4192；checksum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不符或必要檔案缺失時停止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重新取得同一個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owner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指定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不從其他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branch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拼檔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launcher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 -3.11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安裝路徑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 → py --list</a:t>
            </a:r>
          </a:p>
        </p:txBody>
      </p:sp>
      <p:sp>
        <p:nvSpPr>
          <p:cNvPr id="10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2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先停在明確的失敗邊界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保留錯誤與身份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checkpoint。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5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VERIFIED（official Windows download path；clean install pending）</a:t>
            </a:r>
          </a:p>
        </p:txBody>
      </p:sp>
      <p:sp>
        <p:nvSpPr>
          <p:cNvPr id="16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8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工具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：fail-closed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先停在明確的失敗邊界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保留錯誤與身份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checkpoint。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WSL .venv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verify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Ubuntu shell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)：wsl --install -d Ubuntu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.venv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uv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sudo apt update；sudo apt install -y curl unzip；curl -LsSf https://astral.sh/uv/install.sh | sh。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的最小入口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9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0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2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3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5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8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result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以唯讀方式開啟固定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JSON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命令只建立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lock、policy API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它不會產生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receipt、Python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、scenario_id、lock／policy identity；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目前未排演欄位保留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release、shell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與隔離環境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讓後面的結果都能回到同一份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gate；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仍受阻就使用同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9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</a:t>
            </a:r>
          </a:p>
        </p:txBody>
      </p:sp>
      <p:sp>
        <p:nvSpPr>
          <p:cNvPr id="10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11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3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4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6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與四個鎖頭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9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7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observation；choose_action(...)；WAIT / SLEEP / SEND_ONE / SEND_URGENT / FLUSH_BATCH。</a:t>
            </a:r>
          </a:p>
        </p:txBody>
      </p:sp>
      <p:sp>
        <p:nvSpPr>
          <p:cNvPr id="8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9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1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2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4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5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7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7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PACE_GAP_STEPS、REST_DURING_GAP、BATCH_SIZE、URGENT_MARGIN_S；bounded values only。</a:t>
            </a:r>
          </a:p>
        </p:txBody>
      </p:sp>
      <p:sp>
        <p:nvSpPr>
          <p:cNvPr id="8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9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1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2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4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一行斜體常數與範圍護欄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7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observation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7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legal action；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8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9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1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2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4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if / elif / else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的三叉決策樹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7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return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Policy source frame"/>
          <p:cNvSpPr/>
          <p:nvPr/>
        </p:nvSpPr>
        <p:spPr>
          <a:xfrm>
            <a:off x="777240" y="1353312"/>
            <a:ext cx="553212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frame heading"/>
          <p:cNvSpPr txBox="1"/>
          <p:nvPr/>
        </p:nvSpPr>
        <p:spPr>
          <a:xfrm>
            <a:off x="1005840" y="1591056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目前可編輯的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bounded surface</a:t>
            </a:r>
          </a:p>
        </p:txBody>
      </p:sp>
      <p:sp>
        <p:nvSpPr>
          <p:cNvPr id="7" name="Policy code"/>
          <p:cNvSpPr txBox="1"/>
          <p:nvPr/>
        </p:nvSpPr>
        <p:spPr>
          <a:xfrm>
            <a:off x="1024128" y="1993392"/>
            <a:ext cx="5010912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choose_action(observation)；return WAIT；return SLEEP；return SEND_ONE。</a:t>
            </a:r>
          </a:p>
        </p:txBody>
      </p:sp>
      <p:sp>
        <p:nvSpPr>
          <p:cNvPr id="8" name="Policy rule"/>
          <p:cNvSpPr txBox="1"/>
          <p:nvPr/>
        </p:nvSpPr>
        <p:spPr>
          <a:xfrm>
            <a:off x="1024128" y="3611880"/>
            <a:ext cx="5010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→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選合法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delivered、future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result。</a:t>
            </a:r>
          </a:p>
        </p:txBody>
      </p:sp>
      <p:sp>
        <p:nvSpPr>
          <p:cNvPr id="9" name="Policy input"/>
          <p:cNvSpPr/>
          <p:nvPr/>
        </p:nvSpPr>
        <p:spPr>
          <a:xfrm>
            <a:off x="6601968" y="1353312"/>
            <a:ext cx="4754880" cy="11887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icy input heading"/>
          <p:cNvSpPr txBox="1"/>
          <p:nvPr/>
        </p:nvSpPr>
        <p:spPr>
          <a:xfrm>
            <a:off x="6858000" y="1581912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輸入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決策當下可見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1" name="Policy input body"/>
          <p:cNvSpPr txBox="1"/>
          <p:nvPr/>
        </p:nvSpPr>
        <p:spPr>
          <a:xfrm>
            <a:off x="6876288" y="19933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/ queue / remaining window / age</a:t>
            </a:r>
          </a:p>
        </p:txBody>
      </p:sp>
      <p:sp>
        <p:nvSpPr>
          <p:cNvPr id="12" name="Policy mechanism"/>
          <p:cNvSpPr/>
          <p:nvPr/>
        </p:nvSpPr>
        <p:spPr>
          <a:xfrm>
            <a:off x="6601968" y="2834640"/>
            <a:ext cx="4754880" cy="11887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mechanism heading"/>
          <p:cNvSpPr txBox="1"/>
          <p:nvPr/>
        </p:nvSpPr>
        <p:spPr>
          <a:xfrm>
            <a:off x="6858000" y="3063240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（action 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會改變什麼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4" name="Policy mechanism body"/>
          <p:cNvSpPr txBox="1"/>
          <p:nvPr/>
        </p:nvSpPr>
        <p:spPr>
          <a:xfrm>
            <a:off x="6876288" y="347472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Policy test"/>
          <p:cNvSpPr/>
          <p:nvPr/>
        </p:nvSpPr>
        <p:spPr>
          <a:xfrm>
            <a:off x="6601968" y="4315968"/>
            <a:ext cx="4754880" cy="124358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icy test heading"/>
          <p:cNvSpPr txBox="1"/>
          <p:nvPr/>
        </p:nvSpPr>
        <p:spPr>
          <a:xfrm>
            <a:off x="6858000" y="4544568"/>
            <a:ext cx="424281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結果要能反駁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）</a:t>
            </a:r>
          </a:p>
        </p:txBody>
      </p:sp>
      <p:sp>
        <p:nvSpPr>
          <p:cNvPr id="17" name="Policy test body"/>
          <p:cNvSpPr txBox="1"/>
          <p:nvPr/>
        </p:nvSpPr>
        <p:spPr>
          <a:xfrm>
            <a:off x="6876288" y="493776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→ packet → service → state time → J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192024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192024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32257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192024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192024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192024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→ WAKE → PROCESS → TX/RX → WAIT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狀態帶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成本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242316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242316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82549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242316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242316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242316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State SLEEP"/>
          <p:cNvSpPr/>
          <p:nvPr/>
        </p:nvSpPr>
        <p:spPr>
          <a:xfrm>
            <a:off x="841248" y="192024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SLEEP label"/>
          <p:cNvSpPr txBox="1"/>
          <p:nvPr/>
        </p:nvSpPr>
        <p:spPr>
          <a:xfrm>
            <a:off x="914400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2596896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te WAKE"/>
          <p:cNvSpPr/>
          <p:nvPr/>
        </p:nvSpPr>
        <p:spPr>
          <a:xfrm>
            <a:off x="3090672" y="192024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WAKE label"/>
          <p:cNvSpPr txBox="1"/>
          <p:nvPr/>
        </p:nvSpPr>
        <p:spPr>
          <a:xfrm>
            <a:off x="3163824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4846320" y="232257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PROCESS"/>
          <p:cNvSpPr/>
          <p:nvPr/>
        </p:nvSpPr>
        <p:spPr>
          <a:xfrm>
            <a:off x="5340096" y="192024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PROCESS label"/>
          <p:cNvSpPr txBox="1"/>
          <p:nvPr/>
        </p:nvSpPr>
        <p:spPr>
          <a:xfrm>
            <a:off x="5413248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5" name="Editable connector"/>
          <p:cNvCxnSpPr/>
          <p:nvPr/>
        </p:nvCxnSpPr>
        <p:spPr>
          <a:xfrm>
            <a:off x="7095744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TX / RX"/>
          <p:cNvSpPr/>
          <p:nvPr/>
        </p:nvSpPr>
        <p:spPr>
          <a:xfrm>
            <a:off x="7589520" y="192024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TX / RX label"/>
          <p:cNvSpPr txBox="1"/>
          <p:nvPr/>
        </p:nvSpPr>
        <p:spPr>
          <a:xfrm>
            <a:off x="7662672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8" name="Editable connector"/>
          <p:cNvCxnSpPr/>
          <p:nvPr/>
        </p:nvCxnSpPr>
        <p:spPr>
          <a:xfrm>
            <a:off x="9345168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WAIT"/>
          <p:cNvSpPr/>
          <p:nvPr/>
        </p:nvSpPr>
        <p:spPr>
          <a:xfrm>
            <a:off x="9838944" y="192024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WAIT label"/>
          <p:cNvSpPr txBox="1"/>
          <p:nvPr/>
        </p:nvSpPr>
        <p:spPr>
          <a:xfrm>
            <a:off x="9912096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1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3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4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6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generated → attempt → retry → delivered / expired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卡片流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比較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242316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242316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82549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242316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242316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82549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242316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66090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 energy ledger。；VERIFIED; DONOR-REWRITE：BeamShift donor slides 19–21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192024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192024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32257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192024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192024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192024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。；VERIFIED; DONOR-REWRITE：BeamShift donor slides 14, 16/17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：endpoint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的範圍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Formula instruction"/>
          <p:cNvSpPr txBox="1"/>
          <p:nvPr/>
        </p:nvSpPr>
        <p:spPr>
          <a:xfrm>
            <a:off x="896112" y="1170432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公式先教範圍與單位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數值必須從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讀取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NATIVE_EQUATION_HOOK_E_endpoint"/>
          <p:cNvSpPr/>
          <p:nvPr/>
        </p:nvSpPr>
        <p:spPr>
          <a:xfrm>
            <a:off x="960120" y="1783080"/>
            <a:ext cx="10149840" cy="23408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ATIVE_EQUATION_HOOK_LABEL_E_endpoint"/>
          <p:cNvSpPr txBox="1"/>
          <p:nvPr/>
        </p:nvSpPr>
        <p:spPr>
          <a:xfrm>
            <a:off x="1225296" y="2029968"/>
            <a:ext cx="9646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NATIVE EQUATION INSERTION HOOK｜E_endpoint</a:t>
            </a:r>
          </a:p>
        </p:txBody>
      </p:sp>
      <p:cxnSp>
        <p:nvCxnSpPr>
          <p:cNvPr id="10" name="Equation insertion baseline"/>
          <p:cNvCxnSpPr/>
          <p:nvPr/>
        </p:nvCxnSpPr>
        <p:spPr>
          <a:xfrm>
            <a:off x="1463040" y="3154680"/>
            <a:ext cx="914400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quation hook instruction"/>
          <p:cNvSpPr txBox="1"/>
          <p:nvPr/>
        </p:nvSpPr>
        <p:spPr>
          <a:xfrm>
            <a:off x="1298448" y="3383280"/>
            <a:ext cx="94640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由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controller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以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PowerPoint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原生方程式插入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此處不放圖片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不顯示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LaTeX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原始碼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quation numerator scope"/>
          <p:cNvSpPr/>
          <p:nvPr/>
        </p:nvSpPr>
        <p:spPr>
          <a:xfrm>
            <a:off x="960120" y="4462272"/>
            <a:ext cx="4800600" cy="102412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quation scope text"/>
          <p:cNvSpPr txBox="1"/>
          <p:nvPr/>
        </p:nvSpPr>
        <p:spPr>
          <a:xfrm>
            <a:off x="1170432" y="4718304"/>
            <a:ext cx="4370832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scope：endpoint radio + processing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units：W × time → J</a:t>
            </a:r>
          </a:p>
        </p:txBody>
      </p:sp>
      <p:sp>
        <p:nvSpPr>
          <p:cNvPr id="14" name="Equation denominator scope"/>
          <p:cNvSpPr/>
          <p:nvPr/>
        </p:nvSpPr>
        <p:spPr>
          <a:xfrm>
            <a:off x="6309360" y="4462272"/>
            <a:ext cx="4800600" cy="102412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quation boundary text"/>
          <p:cNvSpPr txBox="1"/>
          <p:nvPr/>
        </p:nvSpPr>
        <p:spPr>
          <a:xfrm>
            <a:off x="6510528" y="4718304"/>
            <a:ext cx="440740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每個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的功率乘停留時間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不可擴大成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服務效率的分子與分母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Formula instruction"/>
          <p:cNvSpPr txBox="1"/>
          <p:nvPr/>
        </p:nvSpPr>
        <p:spPr>
          <a:xfrm>
            <a:off x="896112" y="1170432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公式先教範圍與單位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數值必須從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讀取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NATIVE_EQUATION_HOOK_eta_E"/>
          <p:cNvSpPr/>
          <p:nvPr/>
        </p:nvSpPr>
        <p:spPr>
          <a:xfrm>
            <a:off x="960120" y="1783080"/>
            <a:ext cx="10149840" cy="23408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ATIVE_EQUATION_HOOK_LABEL_eta_E"/>
          <p:cNvSpPr txBox="1"/>
          <p:nvPr/>
        </p:nvSpPr>
        <p:spPr>
          <a:xfrm>
            <a:off x="1225296" y="2029968"/>
            <a:ext cx="96469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NATIVE EQUATION INSERTION HOOK｜eta_E</a:t>
            </a:r>
          </a:p>
        </p:txBody>
      </p:sp>
      <p:cxnSp>
        <p:nvCxnSpPr>
          <p:cNvPr id="8" name="Equation insertion baseline"/>
          <p:cNvCxnSpPr/>
          <p:nvPr/>
        </p:nvCxnSpPr>
        <p:spPr>
          <a:xfrm>
            <a:off x="1463040" y="3154680"/>
            <a:ext cx="914400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quation hook instruction"/>
          <p:cNvSpPr txBox="1"/>
          <p:nvPr/>
        </p:nvSpPr>
        <p:spPr>
          <a:xfrm>
            <a:off x="1298448" y="3383280"/>
            <a:ext cx="94640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由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controller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以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PowerPoint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原生方程式插入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此處不放圖片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不顯示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LaTeX 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原始碼</a:t>
            </a:r>
            <a:r>
              <a:rPr sz="2000" b="0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0" name="Equation data scope"/>
          <p:cNvSpPr/>
          <p:nvPr/>
        </p:nvSpPr>
        <p:spPr>
          <a:xfrm>
            <a:off x="960120" y="4462272"/>
            <a:ext cx="4800600" cy="102412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quation numerator text"/>
          <p:cNvSpPr txBox="1"/>
          <p:nvPr/>
        </p:nvSpPr>
        <p:spPr>
          <a:xfrm>
            <a:off x="1170432" y="4718304"/>
            <a:ext cx="4370832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分子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：delivered data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單位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：bits</a:t>
            </a:r>
          </a:p>
        </p:txBody>
      </p:sp>
      <p:sp>
        <p:nvSpPr>
          <p:cNvPr id="12" name="Equation energy scope"/>
          <p:cNvSpPr/>
          <p:nvPr/>
        </p:nvSpPr>
        <p:spPr>
          <a:xfrm>
            <a:off x="6309360" y="4462272"/>
            <a:ext cx="4800600" cy="102412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quation denominator text"/>
          <p:cNvSpPr txBox="1"/>
          <p:nvPr/>
        </p:nvSpPr>
        <p:spPr>
          <a:xfrm>
            <a:off x="6510528" y="4718304"/>
            <a:ext cx="440740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分母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 J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：bit/J，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不替代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gate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Provenance layer SOURCE"/>
          <p:cNvSpPr/>
          <p:nvPr/>
        </p:nvSpPr>
        <p:spPr>
          <a:xfrm>
            <a:off x="1005840" y="1389888"/>
            <a:ext cx="3730752" cy="676656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venance label SOURCE"/>
          <p:cNvSpPr txBox="1"/>
          <p:nvPr/>
        </p:nvSpPr>
        <p:spPr>
          <a:xfrm>
            <a:off x="1133856" y="155448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7" name="Provenance body SOURCE"/>
          <p:cNvSpPr txBox="1"/>
          <p:nvPr/>
        </p:nvSpPr>
        <p:spPr>
          <a:xfrm>
            <a:off x="2340864" y="15361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release / scenario / source hash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4736592" y="1728216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layer MODEL"/>
          <p:cNvSpPr/>
          <p:nvPr/>
        </p:nvSpPr>
        <p:spPr>
          <a:xfrm>
            <a:off x="1005840" y="2359152"/>
            <a:ext cx="3730752" cy="676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label MODEL"/>
          <p:cNvSpPr txBox="1"/>
          <p:nvPr/>
        </p:nvSpPr>
        <p:spPr>
          <a:xfrm>
            <a:off x="1133856" y="252374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11" name="Provenance body MODEL"/>
          <p:cNvSpPr txBox="1"/>
          <p:nvPr/>
        </p:nvSpPr>
        <p:spPr>
          <a:xfrm>
            <a:off x="2340864" y="250545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window / trace / state</a:t>
            </a:r>
          </a:p>
        </p:txBody>
      </p:sp>
      <p:cxnSp>
        <p:nvCxnSpPr>
          <p:cNvPr id="12" name="Provenance arrow"/>
          <p:cNvCxnSpPr/>
          <p:nvPr/>
        </p:nvCxnSpPr>
        <p:spPr>
          <a:xfrm>
            <a:off x="4736592" y="2697480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venance layer POLICY"/>
          <p:cNvSpPr/>
          <p:nvPr/>
        </p:nvSpPr>
        <p:spPr>
          <a:xfrm>
            <a:off x="1005840" y="3328416"/>
            <a:ext cx="3730752" cy="676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venance label POLICY"/>
          <p:cNvSpPr txBox="1"/>
          <p:nvPr/>
        </p:nvSpPr>
        <p:spPr>
          <a:xfrm>
            <a:off x="1133856" y="34930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sp>
        <p:nvSpPr>
          <p:cNvPr id="15" name="Provenance body POLICY"/>
          <p:cNvSpPr txBox="1"/>
          <p:nvPr/>
        </p:nvSpPr>
        <p:spPr>
          <a:xfrm>
            <a:off x="2340864" y="34747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marked block / action / SHA</a:t>
            </a:r>
          </a:p>
        </p:txBody>
      </p:sp>
      <p:cxnSp>
        <p:nvCxnSpPr>
          <p:cNvPr id="16" name="Provenance arrow"/>
          <p:cNvCxnSpPr/>
          <p:nvPr/>
        </p:nvCxnSpPr>
        <p:spPr>
          <a:xfrm>
            <a:off x="4736592" y="3666744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venance layer RESULT"/>
          <p:cNvSpPr/>
          <p:nvPr/>
        </p:nvSpPr>
        <p:spPr>
          <a:xfrm>
            <a:off x="1005840" y="4297680"/>
            <a:ext cx="3730752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label RESULT"/>
          <p:cNvSpPr txBox="1"/>
          <p:nvPr/>
        </p:nvSpPr>
        <p:spPr>
          <a:xfrm>
            <a:off x="1133856" y="446227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9" name="Provenance body RESULT"/>
          <p:cNvSpPr txBox="1"/>
          <p:nvPr/>
        </p:nvSpPr>
        <p:spPr>
          <a:xfrm>
            <a:off x="2340864" y="444398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packet / service / endpoint J</a:t>
            </a:r>
          </a:p>
        </p:txBody>
      </p:sp>
      <p:sp>
        <p:nvSpPr>
          <p:cNvPr id="20" name="Identity ledger"/>
          <p:cNvSpPr/>
          <p:nvPr/>
        </p:nvSpPr>
        <p:spPr>
          <a:xfrm>
            <a:off x="5989320" y="1389888"/>
            <a:ext cx="5166360" cy="38587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dentity heading"/>
          <p:cNvSpPr txBox="1"/>
          <p:nvPr/>
        </p:nvSpPr>
        <p:spPr>
          <a:xfrm>
            <a:off x="6272784" y="1645920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要一路相同</a:t>
            </a:r>
          </a:p>
        </p:txBody>
      </p:sp>
      <p:sp>
        <p:nvSpPr>
          <p:cNvPr id="22" name="Identity values"/>
          <p:cNvSpPr txBox="1"/>
          <p:nvPr/>
        </p:nvSpPr>
        <p:spPr>
          <a:xfrm>
            <a:off x="6400800" y="2139696"/>
            <a:ext cx="4334256" cy="21396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seed / anchor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units / source_mode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 → replay → workbook</a:t>
            </a:r>
          </a:p>
        </p:txBody>
      </p:sp>
      <p:sp>
        <p:nvSpPr>
          <p:cNvPr id="23" name="Identity recovery"/>
          <p:cNvSpPr txBox="1"/>
          <p:nvPr/>
        </p:nvSpPr>
        <p:spPr>
          <a:xfrm>
            <a:off x="6364224" y="4590288"/>
            <a:ext cx="4425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：fail closed；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不可拼接相似畫面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綁住整條鏈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Provenance layer SOURCE"/>
          <p:cNvSpPr/>
          <p:nvPr/>
        </p:nvSpPr>
        <p:spPr>
          <a:xfrm>
            <a:off x="1005840" y="1389888"/>
            <a:ext cx="3730752" cy="676656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venance label SOURCE"/>
          <p:cNvSpPr txBox="1"/>
          <p:nvPr/>
        </p:nvSpPr>
        <p:spPr>
          <a:xfrm>
            <a:off x="1133856" y="155448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7" name="Provenance body SOURCE"/>
          <p:cNvSpPr txBox="1"/>
          <p:nvPr/>
        </p:nvSpPr>
        <p:spPr>
          <a:xfrm>
            <a:off x="2340864" y="15361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release / scenario / source hash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4736592" y="1728216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layer MODEL"/>
          <p:cNvSpPr/>
          <p:nvPr/>
        </p:nvSpPr>
        <p:spPr>
          <a:xfrm>
            <a:off x="1005840" y="2359152"/>
            <a:ext cx="3730752" cy="676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label MODEL"/>
          <p:cNvSpPr txBox="1"/>
          <p:nvPr/>
        </p:nvSpPr>
        <p:spPr>
          <a:xfrm>
            <a:off x="1133856" y="252374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11" name="Provenance body MODEL"/>
          <p:cNvSpPr txBox="1"/>
          <p:nvPr/>
        </p:nvSpPr>
        <p:spPr>
          <a:xfrm>
            <a:off x="2340864" y="250545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window / trace / state</a:t>
            </a:r>
          </a:p>
        </p:txBody>
      </p:sp>
      <p:cxnSp>
        <p:nvCxnSpPr>
          <p:cNvPr id="12" name="Provenance arrow"/>
          <p:cNvCxnSpPr/>
          <p:nvPr/>
        </p:nvCxnSpPr>
        <p:spPr>
          <a:xfrm>
            <a:off x="4736592" y="2697480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venance layer POLICY"/>
          <p:cNvSpPr/>
          <p:nvPr/>
        </p:nvSpPr>
        <p:spPr>
          <a:xfrm>
            <a:off x="1005840" y="3328416"/>
            <a:ext cx="3730752" cy="676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venance label POLICY"/>
          <p:cNvSpPr txBox="1"/>
          <p:nvPr/>
        </p:nvSpPr>
        <p:spPr>
          <a:xfrm>
            <a:off x="1133856" y="34930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sp>
        <p:nvSpPr>
          <p:cNvPr id="15" name="Provenance body POLICY"/>
          <p:cNvSpPr txBox="1"/>
          <p:nvPr/>
        </p:nvSpPr>
        <p:spPr>
          <a:xfrm>
            <a:off x="2340864" y="34747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marked block / action / SHA</a:t>
            </a:r>
          </a:p>
        </p:txBody>
      </p:sp>
      <p:cxnSp>
        <p:nvCxnSpPr>
          <p:cNvPr id="16" name="Provenance arrow"/>
          <p:cNvCxnSpPr/>
          <p:nvPr/>
        </p:nvCxnSpPr>
        <p:spPr>
          <a:xfrm>
            <a:off x="4736592" y="3666744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venance layer RESULT"/>
          <p:cNvSpPr/>
          <p:nvPr/>
        </p:nvSpPr>
        <p:spPr>
          <a:xfrm>
            <a:off x="1005840" y="4297680"/>
            <a:ext cx="3730752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label RESULT"/>
          <p:cNvSpPr txBox="1"/>
          <p:nvPr/>
        </p:nvSpPr>
        <p:spPr>
          <a:xfrm>
            <a:off x="1133856" y="446227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9" name="Provenance body RESULT"/>
          <p:cNvSpPr txBox="1"/>
          <p:nvPr/>
        </p:nvSpPr>
        <p:spPr>
          <a:xfrm>
            <a:off x="2340864" y="444398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packet / service / endpoint J</a:t>
            </a:r>
          </a:p>
        </p:txBody>
      </p:sp>
      <p:sp>
        <p:nvSpPr>
          <p:cNvPr id="20" name="Identity ledger"/>
          <p:cNvSpPr/>
          <p:nvPr/>
        </p:nvSpPr>
        <p:spPr>
          <a:xfrm>
            <a:off x="5989320" y="1389888"/>
            <a:ext cx="5166360" cy="38587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dentity heading"/>
          <p:cNvSpPr txBox="1"/>
          <p:nvPr/>
        </p:nvSpPr>
        <p:spPr>
          <a:xfrm>
            <a:off x="6272784" y="1645920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要一路相同</a:t>
            </a:r>
          </a:p>
        </p:txBody>
      </p:sp>
      <p:sp>
        <p:nvSpPr>
          <p:cNvPr id="22" name="Identity values"/>
          <p:cNvSpPr txBox="1"/>
          <p:nvPr/>
        </p:nvSpPr>
        <p:spPr>
          <a:xfrm>
            <a:off x="6400800" y="2139696"/>
            <a:ext cx="4334256" cy="21396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seed / anchor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units / source_mode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 → replay → workbook</a:t>
            </a:r>
          </a:p>
        </p:txBody>
      </p:sp>
      <p:sp>
        <p:nvSpPr>
          <p:cNvPr id="23" name="Identity recovery"/>
          <p:cNvSpPr txBox="1"/>
          <p:nvPr/>
        </p:nvSpPr>
        <p:spPr>
          <a:xfrm>
            <a:off x="6364224" y="4590288"/>
            <a:ext cx="4425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：fail closed；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不可拼接相似畫面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Provenance layer SOURCE"/>
          <p:cNvSpPr/>
          <p:nvPr/>
        </p:nvSpPr>
        <p:spPr>
          <a:xfrm>
            <a:off x="1005840" y="1389888"/>
            <a:ext cx="3730752" cy="676656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venance label SOURCE"/>
          <p:cNvSpPr txBox="1"/>
          <p:nvPr/>
        </p:nvSpPr>
        <p:spPr>
          <a:xfrm>
            <a:off x="1133856" y="155448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7" name="Provenance body SOURCE"/>
          <p:cNvSpPr txBox="1"/>
          <p:nvPr/>
        </p:nvSpPr>
        <p:spPr>
          <a:xfrm>
            <a:off x="2340864" y="15361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release / scenario / source hash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4736592" y="1728216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layer MODEL"/>
          <p:cNvSpPr/>
          <p:nvPr/>
        </p:nvSpPr>
        <p:spPr>
          <a:xfrm>
            <a:off x="1005840" y="2359152"/>
            <a:ext cx="3730752" cy="676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label MODEL"/>
          <p:cNvSpPr txBox="1"/>
          <p:nvPr/>
        </p:nvSpPr>
        <p:spPr>
          <a:xfrm>
            <a:off x="1133856" y="252374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11" name="Provenance body MODEL"/>
          <p:cNvSpPr txBox="1"/>
          <p:nvPr/>
        </p:nvSpPr>
        <p:spPr>
          <a:xfrm>
            <a:off x="2340864" y="250545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window / trace / state</a:t>
            </a:r>
          </a:p>
        </p:txBody>
      </p:sp>
      <p:cxnSp>
        <p:nvCxnSpPr>
          <p:cNvPr id="12" name="Provenance arrow"/>
          <p:cNvCxnSpPr/>
          <p:nvPr/>
        </p:nvCxnSpPr>
        <p:spPr>
          <a:xfrm>
            <a:off x="4736592" y="2697480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venance layer POLICY"/>
          <p:cNvSpPr/>
          <p:nvPr/>
        </p:nvSpPr>
        <p:spPr>
          <a:xfrm>
            <a:off x="1005840" y="3328416"/>
            <a:ext cx="3730752" cy="676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venance label POLICY"/>
          <p:cNvSpPr txBox="1"/>
          <p:nvPr/>
        </p:nvSpPr>
        <p:spPr>
          <a:xfrm>
            <a:off x="1133856" y="34930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sp>
        <p:nvSpPr>
          <p:cNvPr id="15" name="Provenance body POLICY"/>
          <p:cNvSpPr txBox="1"/>
          <p:nvPr/>
        </p:nvSpPr>
        <p:spPr>
          <a:xfrm>
            <a:off x="2340864" y="34747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marked block / action / SHA</a:t>
            </a:r>
          </a:p>
        </p:txBody>
      </p:sp>
      <p:cxnSp>
        <p:nvCxnSpPr>
          <p:cNvPr id="16" name="Provenance arrow"/>
          <p:cNvCxnSpPr/>
          <p:nvPr/>
        </p:nvCxnSpPr>
        <p:spPr>
          <a:xfrm>
            <a:off x="4736592" y="3666744"/>
            <a:ext cx="704088" cy="969264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venance layer RESULT"/>
          <p:cNvSpPr/>
          <p:nvPr/>
        </p:nvSpPr>
        <p:spPr>
          <a:xfrm>
            <a:off x="1005840" y="4297680"/>
            <a:ext cx="3730752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label RESULT"/>
          <p:cNvSpPr txBox="1"/>
          <p:nvPr/>
        </p:nvSpPr>
        <p:spPr>
          <a:xfrm>
            <a:off x="1133856" y="446227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9" name="Provenance body RESULT"/>
          <p:cNvSpPr txBox="1"/>
          <p:nvPr/>
        </p:nvSpPr>
        <p:spPr>
          <a:xfrm>
            <a:off x="2340864" y="444398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packet / service / endpoint J</a:t>
            </a:r>
          </a:p>
        </p:txBody>
      </p:sp>
      <p:sp>
        <p:nvSpPr>
          <p:cNvPr id="20" name="Identity ledger"/>
          <p:cNvSpPr/>
          <p:nvPr/>
        </p:nvSpPr>
        <p:spPr>
          <a:xfrm>
            <a:off x="5989320" y="1389888"/>
            <a:ext cx="5166360" cy="38587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dentity heading"/>
          <p:cNvSpPr txBox="1"/>
          <p:nvPr/>
        </p:nvSpPr>
        <p:spPr>
          <a:xfrm>
            <a:off x="6272784" y="1645920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要一路相同</a:t>
            </a:r>
          </a:p>
        </p:txBody>
      </p:sp>
      <p:sp>
        <p:nvSpPr>
          <p:cNvPr id="22" name="Identity values"/>
          <p:cNvSpPr txBox="1"/>
          <p:nvPr/>
        </p:nvSpPr>
        <p:spPr>
          <a:xfrm>
            <a:off x="6400800" y="2139696"/>
            <a:ext cx="4334256" cy="21396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seed / anchor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units / source_mode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 → replay → workbook</a:t>
            </a:r>
          </a:p>
        </p:txBody>
      </p:sp>
      <p:sp>
        <p:nvSpPr>
          <p:cNvPr id="23" name="Identity recovery"/>
          <p:cNvSpPr txBox="1"/>
          <p:nvPr/>
        </p:nvSpPr>
        <p:spPr>
          <a:xfrm>
            <a:off x="6364224" y="4590288"/>
            <a:ext cx="4425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：fail closed；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不可拼接相似畫面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tate SLEEP"/>
          <p:cNvSpPr/>
          <p:nvPr/>
        </p:nvSpPr>
        <p:spPr>
          <a:xfrm>
            <a:off x="841248" y="1920240"/>
            <a:ext cx="17556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e SLEEP label"/>
          <p:cNvSpPr txBox="1"/>
          <p:nvPr/>
        </p:nvSpPr>
        <p:spPr>
          <a:xfrm>
            <a:off x="914400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2596896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3090672" y="1920240"/>
            <a:ext cx="17556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label"/>
          <p:cNvSpPr txBox="1"/>
          <p:nvPr/>
        </p:nvSpPr>
        <p:spPr>
          <a:xfrm>
            <a:off x="3163824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846320" y="2322576"/>
            <a:ext cx="36575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PROCESS"/>
          <p:cNvSpPr/>
          <p:nvPr/>
        </p:nvSpPr>
        <p:spPr>
          <a:xfrm>
            <a:off x="5340096" y="1920240"/>
            <a:ext cx="17556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PROCESS label"/>
          <p:cNvSpPr txBox="1"/>
          <p:nvPr/>
        </p:nvSpPr>
        <p:spPr>
          <a:xfrm>
            <a:off x="5413248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095744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TX / RX"/>
          <p:cNvSpPr/>
          <p:nvPr/>
        </p:nvSpPr>
        <p:spPr>
          <a:xfrm>
            <a:off x="7589520" y="1920240"/>
            <a:ext cx="17556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TX / RX label"/>
          <p:cNvSpPr txBox="1"/>
          <p:nvPr/>
        </p:nvSpPr>
        <p:spPr>
          <a:xfrm>
            <a:off x="7662672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9345168" y="2322576"/>
            <a:ext cx="36576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WAIT"/>
          <p:cNvSpPr/>
          <p:nvPr/>
        </p:nvSpPr>
        <p:spPr>
          <a:xfrm>
            <a:off x="9838944" y="1920240"/>
            <a:ext cx="1755648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WAIT label"/>
          <p:cNvSpPr txBox="1"/>
          <p:nvPr/>
        </p:nvSpPr>
        <p:spPr>
          <a:xfrm>
            <a:off x="9912096" y="2157984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9" name="State interpretation"/>
          <p:cNvSpPr/>
          <p:nvPr/>
        </p:nvSpPr>
        <p:spPr>
          <a:xfrm>
            <a:off x="896112" y="3246120"/>
            <a:ext cx="5074920" cy="2011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interpretation heading"/>
          <p:cNvSpPr txBox="1"/>
          <p:nvPr/>
        </p:nvSpPr>
        <p:spPr>
          <a:xfrm>
            <a:off x="1133856" y="3474720"/>
            <a:ext cx="46085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不要只讀總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</a:t>
            </a:r>
          </a:p>
        </p:txBody>
      </p:sp>
      <p:sp>
        <p:nvSpPr>
          <p:cNvPr id="21" name="State interpretation body"/>
          <p:cNvSpPr txBox="1"/>
          <p:nvPr/>
        </p:nvSpPr>
        <p:spPr>
          <a:xfrm>
            <a:off x="1143000" y="3913632"/>
            <a:ext cx="45902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沿著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duration、wake latency、TX/RX attempts，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的時間機制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2" name="State boundary"/>
          <p:cNvSpPr/>
          <p:nvPr/>
        </p:nvSpPr>
        <p:spPr>
          <a:xfrm>
            <a:off x="6263640" y="3246120"/>
            <a:ext cx="502920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boundary heading"/>
          <p:cNvSpPr txBox="1"/>
          <p:nvPr/>
        </p:nvSpPr>
        <p:spPr>
          <a:xfrm>
            <a:off x="6510528" y="3474720"/>
            <a:ext cx="4535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energy</a:t>
            </a:r>
          </a:p>
        </p:txBody>
      </p:sp>
      <p:sp>
        <p:nvSpPr>
          <p:cNvPr id="24" name="State boundary body"/>
          <p:cNvSpPr txBox="1"/>
          <p:nvPr/>
        </p:nvSpPr>
        <p:spPr>
          <a:xfrm>
            <a:off x="6519672" y="3913632"/>
            <a:ext cx="449884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legal / illegal action marks。；VERIFIED; DONOR-REWRITE：BeamShift donor slides 2, 4–6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job；pace / rest；service first。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PACE_GAP_STEPS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9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；line number：PLACEHOLDER。</a:t>
            </a:r>
          </a:p>
        </p:txBody>
      </p:sp>
      <p:sp>
        <p:nvSpPr>
          <p:cNvPr id="10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2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3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5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8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prediction lock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before run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baseline command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stdout JSON。</a:t>
            </a:r>
          </a:p>
        </p:txBody>
      </p:sp>
      <p:sp>
        <p:nvSpPr>
          <p:cNvPr id="8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0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course.cmd run --lab A --case baseline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result_path：PLACEHOLDER</a:t>
            </a:r>
          </a:p>
        </p:txBody>
      </p:sp>
      <p:cxnSp>
        <p:nvCxnSpPr>
          <p:cNvPr id="11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scenario／seed，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寫出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identity、policy hash、packet、service、state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endpoint-energy artifact。</a:t>
            </a:r>
          </a:p>
        </p:txBody>
      </p:sp>
      <p:cxnSp>
        <p:nvCxnSpPr>
          <p:cNvPr id="15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8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：baseline run_id、policy SHA、result_path，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queue／packet／service／state／J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欄位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cxnSp>
        <p:nvCxnSpPr>
          <p:cNvPr id="19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2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course.cmd run --lab A --case 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SHA：PLACEHOLDER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凍結候選版本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scenario、seed、policy SHA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predecessor，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withheld case。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receipt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candidate、predecessor、anchor、policy SHA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source mode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綁在同一份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lineage。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：freeze receipt、predecessor、active_block_id、policy SHA；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缺任一欄就不能進下一個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case。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boundary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ledger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state duration；wake latency；TX/RX attempts；energy scope。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9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cxnSp>
        <p:nvCxnSpPr>
          <p:cNvPr id="10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：hidden／Trace B／surprise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使用相同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的另一條條件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且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必須保持不變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4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另一條條件的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replay；policy SHA unchanged，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並同時列出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service、state、endpoint J。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5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7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在不再調參的條件下測試假說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讓結果可以推翻先前的預測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，restore A 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或選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send-ready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quality curve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穿越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enter threshold。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enter/exit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中間的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band。</a:t>
            </a:r>
          </a:p>
        </p:txBody>
      </p:sp>
      <p:cxnSp>
        <p:nvCxnSpPr>
          <p:cNvPr id="8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5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7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8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30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Trace A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上的三個預測標記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Trace A baseline command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result path。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不只讀品質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frozen policy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跨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Trace A / B。</a:t>
            </a:r>
          </a:p>
        </p:txBody>
      </p:sp>
      <p:sp>
        <p:nvSpPr>
          <p:cNvPr id="8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11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2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4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6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8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20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2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4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ping-pong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ce caption"/>
          <p:cNvSpPr txBox="1"/>
          <p:nvPr/>
        </p:nvSpPr>
        <p:spPr>
          <a:xfrm>
            <a:off x="868680" y="1170432"/>
            <a:ext cx="104698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cxnSp>
        <p:nvCxnSpPr>
          <p:cNvPr id="6" name="Trace axis"/>
          <p:cNvCxnSpPr/>
          <p:nvPr/>
        </p:nvCxnSpPr>
        <p:spPr>
          <a:xfrm>
            <a:off x="1005840" y="2907792"/>
            <a:ext cx="1001268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sample 1"/>
          <p:cNvCxnSpPr/>
          <p:nvPr/>
        </p:nvCxnSpPr>
        <p:spPr>
          <a:xfrm flipV="1">
            <a:off x="1207008" y="2496312"/>
            <a:ext cx="0" cy="411480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ce point 1"/>
          <p:cNvSpPr/>
          <p:nvPr/>
        </p:nvSpPr>
        <p:spPr>
          <a:xfrm>
            <a:off x="1124712" y="241401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ce sample 2"/>
          <p:cNvCxnSpPr/>
          <p:nvPr/>
        </p:nvCxnSpPr>
        <p:spPr>
          <a:xfrm flipV="1">
            <a:off x="2852928" y="1901952"/>
            <a:ext cx="0" cy="1005840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ce point 2"/>
          <p:cNvSpPr/>
          <p:nvPr/>
        </p:nvSpPr>
        <p:spPr>
          <a:xfrm>
            <a:off x="2770632" y="1819655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race sample 3"/>
          <p:cNvCxnSpPr/>
          <p:nvPr/>
        </p:nvCxnSpPr>
        <p:spPr>
          <a:xfrm flipV="1">
            <a:off x="4498848" y="2249424"/>
            <a:ext cx="0" cy="65836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ce point 3"/>
          <p:cNvSpPr/>
          <p:nvPr/>
        </p:nvSpPr>
        <p:spPr>
          <a:xfrm>
            <a:off x="4416552" y="216712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race sample 4"/>
          <p:cNvCxnSpPr/>
          <p:nvPr/>
        </p:nvCxnSpPr>
        <p:spPr>
          <a:xfrm flipV="1">
            <a:off x="6144768" y="1645920"/>
            <a:ext cx="0" cy="1261872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 4"/>
          <p:cNvSpPr/>
          <p:nvPr/>
        </p:nvSpPr>
        <p:spPr>
          <a:xfrm>
            <a:off x="6062472" y="1563624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race sample 5"/>
          <p:cNvCxnSpPr/>
          <p:nvPr/>
        </p:nvCxnSpPr>
        <p:spPr>
          <a:xfrm flipV="1">
            <a:off x="7790688" y="2377440"/>
            <a:ext cx="0" cy="530352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ce point 5"/>
          <p:cNvSpPr/>
          <p:nvPr/>
        </p:nvSpPr>
        <p:spPr>
          <a:xfrm>
            <a:off x="7708392" y="229514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race sample 6"/>
          <p:cNvCxnSpPr/>
          <p:nvPr/>
        </p:nvCxnSpPr>
        <p:spPr>
          <a:xfrm flipV="1">
            <a:off x="9436608" y="1956816"/>
            <a:ext cx="0" cy="950976"/>
          </a:xfrm>
          <a:prstGeom prst="line">
            <a:avLst/>
          </a:prstGeom>
          <a:ln w="635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ce point 6"/>
          <p:cNvSpPr/>
          <p:nvPr/>
        </p:nvSpPr>
        <p:spPr>
          <a:xfrm>
            <a:off x="9354312" y="1874519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Trace sample 7"/>
          <p:cNvCxnSpPr/>
          <p:nvPr/>
        </p:nvCxnSpPr>
        <p:spPr>
          <a:xfrm flipV="1">
            <a:off x="10808208" y="2157984"/>
            <a:ext cx="0" cy="749808"/>
          </a:xfrm>
          <a:prstGeom prst="line">
            <a:avLst/>
          </a:prstGeom>
          <a:ln w="635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ce point 7"/>
          <p:cNvSpPr/>
          <p:nvPr/>
        </p:nvSpPr>
        <p:spPr>
          <a:xfrm>
            <a:off x="10725912" y="2075688"/>
            <a:ext cx="164592" cy="16459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Trace threshold"/>
          <p:cNvCxnSpPr/>
          <p:nvPr/>
        </p:nvCxnSpPr>
        <p:spPr>
          <a:xfrm>
            <a:off x="1005840" y="1874519"/>
            <a:ext cx="9966960" cy="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ce threshold label"/>
          <p:cNvSpPr txBox="1"/>
          <p:nvPr/>
        </p:nvSpPr>
        <p:spPr>
          <a:xfrm>
            <a:off x="9326880" y="155448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 / EXIT</a:t>
            </a:r>
          </a:p>
        </p:txBody>
      </p:sp>
      <p:sp>
        <p:nvSpPr>
          <p:cNvPr id="23" name="Trace decision"/>
          <p:cNvSpPr/>
          <p:nvPr/>
        </p:nvSpPr>
        <p:spPr>
          <a:xfrm>
            <a:off x="896112" y="3822191"/>
            <a:ext cx="5029200" cy="149961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e decision heading"/>
          <p:cNvSpPr txBox="1"/>
          <p:nvPr/>
        </p:nvSpPr>
        <p:spPr>
          <a:xfrm>
            <a:off x="1115568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decision</a:t>
            </a:r>
          </a:p>
        </p:txBody>
      </p:sp>
      <p:sp>
        <p:nvSpPr>
          <p:cNvPr id="25" name="Trace decision body"/>
          <p:cNvSpPr txBox="1"/>
          <p:nvPr/>
        </p:nvSpPr>
        <p:spPr>
          <a:xfrm>
            <a:off x="1143000" y="4462272"/>
            <a:ext cx="4553712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/ hold / exit；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quality、age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與剩餘窗口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Trace verdict"/>
          <p:cNvSpPr/>
          <p:nvPr/>
        </p:nvSpPr>
        <p:spPr>
          <a:xfrm>
            <a:off x="6254496" y="3822191"/>
            <a:ext cx="5029200" cy="149961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e verdict heading"/>
          <p:cNvSpPr txBox="1"/>
          <p:nvPr/>
        </p:nvSpPr>
        <p:spPr>
          <a:xfrm>
            <a:off x="6473952" y="4078224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</a:p>
        </p:txBody>
      </p:sp>
      <p:sp>
        <p:nvSpPr>
          <p:cNvPr id="28" name="Trace verdict body"/>
          <p:cNvSpPr txBox="1"/>
          <p:nvPr/>
        </p:nvSpPr>
        <p:spPr>
          <a:xfrm>
            <a:off x="6492240" y="4462272"/>
            <a:ext cx="453542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切換次數不是唯一答案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retry、delivery、service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一起解讀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不是保證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A/B lineage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0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workbook prediction + result</a:t>
            </a:r>
          </a:p>
        </p:txBody>
      </p:sp>
      <p:cxnSp>
        <p:nvCxnSpPr>
          <p:cNvPr id="11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15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8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cxnSp>
        <p:nvCxnSpPr>
          <p:cNvPr id="19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2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withheld，restore A/B checkpoint；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urgent send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batch；urgent；deadline；freshness；service。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不是同一欄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age；deadline；freshness；delivered / expired。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還是多等待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BATCH_SIZE；flush；activation count；queue age。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deadline gauge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urgent margin。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 − now ≤ URGENT_MARGIN_S；SEND_URGENT；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trade-off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batching；urgency；delivered bits；endpoint J。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避免把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outcome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偷渡進決策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baseline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course.cmd run --lab C --case baseline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先建立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untouched control，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才能把後續差異歸因於這一個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變更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使用固定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scenario／seed，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寫出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identity、policy hash、packet、service、state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endpoint-energy artifact。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：baseline run_id、policy SHA、result_path，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queue／packet／service／state／J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欄位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candidate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7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 marked block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的一個小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8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11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2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4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6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8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20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2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4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 ledger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PROCESS/TX/RX/SLEEP/WAKE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的能量帶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revision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reason；one marked-block change；no second revision。</a:t>
            </a:r>
          </a:p>
        </p:txBody>
      </p:sp>
      <p:sp>
        <p:nvSpPr>
          <p:cNvPr id="10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2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只改目前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區域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bytes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是唯一受控變因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bytes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timing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choice，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差異必須沿著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queue、packet、service、state time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追到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3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5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：candidate result、policy SHA、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consequential diff；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若只變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label，gate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不成立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6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8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frozen policy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Compare caption"/>
          <p:cNvSpPr txBox="1"/>
          <p:nvPr/>
        </p:nvSpPr>
        <p:spPr>
          <a:xfrm>
            <a:off x="822960" y="1170432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短窗口中的突發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traffic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frozen policy。</a:t>
            </a:r>
          </a:p>
        </p:txBody>
      </p:sp>
      <p:sp>
        <p:nvSpPr>
          <p:cNvPr id="6" name="Baseline panel"/>
          <p:cNvSpPr/>
          <p:nvPr/>
        </p:nvSpPr>
        <p:spPr>
          <a:xfrm>
            <a:off x="822960" y="1755648"/>
            <a:ext cx="5010912" cy="345643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 panel"/>
          <p:cNvSpPr/>
          <p:nvPr/>
        </p:nvSpPr>
        <p:spPr>
          <a:xfrm>
            <a:off x="6327648" y="1755648"/>
            <a:ext cx="5010912" cy="3456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heading"/>
          <p:cNvSpPr txBox="1"/>
          <p:nvPr/>
        </p:nvSpPr>
        <p:spPr>
          <a:xfrm>
            <a:off x="1078992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 / CONTROL</a:t>
            </a:r>
          </a:p>
        </p:txBody>
      </p:sp>
      <p:sp>
        <p:nvSpPr>
          <p:cNvPr id="9" name="Candidate heading"/>
          <p:cNvSpPr txBox="1"/>
          <p:nvPr/>
        </p:nvSpPr>
        <p:spPr>
          <a:xfrm>
            <a:off x="6583680" y="201168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/ WITHHELD</a:t>
            </a:r>
          </a:p>
        </p:txBody>
      </p:sp>
      <p:sp>
        <p:nvSpPr>
          <p:cNvPr id="10" name="Baseline bullet 1"/>
          <p:cNvSpPr/>
          <p:nvPr/>
        </p:nvSpPr>
        <p:spPr>
          <a:xfrm>
            <a:off x="1280160" y="2660904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seline bullet text 1"/>
          <p:cNvSpPr txBox="1"/>
          <p:nvPr/>
        </p:nvSpPr>
        <p:spPr>
          <a:xfrm>
            <a:off x="1572768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fixed scenario / seed</a:t>
            </a:r>
          </a:p>
        </p:txBody>
      </p:sp>
      <p:sp>
        <p:nvSpPr>
          <p:cNvPr id="12" name="Candidate bullet 1"/>
          <p:cNvSpPr/>
          <p:nvPr/>
        </p:nvSpPr>
        <p:spPr>
          <a:xfrm>
            <a:off x="6784848" y="2660904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didate bullet text 1"/>
          <p:cNvSpPr txBox="1"/>
          <p:nvPr/>
        </p:nvSpPr>
        <p:spPr>
          <a:xfrm>
            <a:off x="7077456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one marked block changed</a:t>
            </a:r>
          </a:p>
        </p:txBody>
      </p:sp>
      <p:sp>
        <p:nvSpPr>
          <p:cNvPr id="14" name="Baseline bullet 2"/>
          <p:cNvSpPr/>
          <p:nvPr/>
        </p:nvSpPr>
        <p:spPr>
          <a:xfrm>
            <a:off x="1280160" y="3355848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line bullet text 2"/>
          <p:cNvSpPr txBox="1"/>
          <p:nvPr/>
        </p:nvSpPr>
        <p:spPr>
          <a:xfrm>
            <a:off x="1572768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= control</a:t>
            </a:r>
          </a:p>
        </p:txBody>
      </p:sp>
      <p:sp>
        <p:nvSpPr>
          <p:cNvPr id="16" name="Candidate bullet 2"/>
          <p:cNvSpPr/>
          <p:nvPr/>
        </p:nvSpPr>
        <p:spPr>
          <a:xfrm>
            <a:off x="6784848" y="3355848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 bullet text 2"/>
          <p:cNvSpPr txBox="1"/>
          <p:nvPr/>
        </p:nvSpPr>
        <p:spPr>
          <a:xfrm>
            <a:off x="7077456" y="3300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+ receipt</a:t>
            </a:r>
          </a:p>
        </p:txBody>
      </p:sp>
      <p:sp>
        <p:nvSpPr>
          <p:cNvPr id="18" name="Baseline bullet 3"/>
          <p:cNvSpPr/>
          <p:nvPr/>
        </p:nvSpPr>
        <p:spPr>
          <a:xfrm>
            <a:off x="1280160" y="4050791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seline bullet text 3"/>
          <p:cNvSpPr txBox="1"/>
          <p:nvPr/>
        </p:nvSpPr>
        <p:spPr>
          <a:xfrm>
            <a:off x="1572768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</p:txBody>
      </p:sp>
      <p:sp>
        <p:nvSpPr>
          <p:cNvPr id="20" name="Candidate bullet 3"/>
          <p:cNvSpPr/>
          <p:nvPr/>
        </p:nvSpPr>
        <p:spPr>
          <a:xfrm>
            <a:off x="6784848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bullet text 3"/>
          <p:cNvSpPr txBox="1"/>
          <p:nvPr/>
        </p:nvSpPr>
        <p:spPr>
          <a:xfrm>
            <a:off x="7077456" y="39959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consequential diff or reject</a:t>
            </a:r>
          </a:p>
        </p:txBody>
      </p:sp>
      <p:cxnSp>
        <p:nvCxnSpPr>
          <p:cNvPr id="22" name="Compare boundary"/>
          <p:cNvCxnSpPr/>
          <p:nvPr/>
        </p:nvCxnSpPr>
        <p:spPr>
          <a:xfrm>
            <a:off x="5961888" y="2066543"/>
            <a:ext cx="237744" cy="2889505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airness verdict"/>
          <p:cNvSpPr txBox="1"/>
          <p:nvPr/>
        </p:nvSpPr>
        <p:spPr>
          <a:xfrm>
            <a:off x="932688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workload、window、boundary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units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結果標為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INCOMPARABLE。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一起判讀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packet outcome；service；endpoint J；counterexample。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al instruction"/>
          <p:cNvSpPr txBox="1"/>
          <p:nvPr/>
        </p:nvSpPr>
        <p:spPr>
          <a:xfrm>
            <a:off x="841248" y="1188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先把命令放在完整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 context，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再讀它造成的下一個可觀察欄位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Command ribbon"/>
          <p:cNvSpPr/>
          <p:nvPr/>
        </p:nvSpPr>
        <p:spPr>
          <a:xfrm>
            <a:off x="822960" y="1755648"/>
            <a:ext cx="10469880" cy="1572768"/>
          </a:xfrm>
          <a:prstGeom prst="roundRect">
            <a:avLst/>
          </a:prstGeom>
          <a:solidFill>
            <a:srgbClr val="FAF7E8"/>
          </a:solidFill>
          <a:ln w="1905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mand text"/>
          <p:cNvSpPr txBox="1"/>
          <p:nvPr/>
        </p:nvSpPr>
        <p:spPr>
          <a:xfrm>
            <a:off x="1097280" y="1975104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stdout result_path</a:t>
            </a:r>
          </a:p>
        </p:txBody>
      </p:sp>
      <p:sp>
        <p:nvSpPr>
          <p:cNvPr id="8" name="目的／機制"/>
          <p:cNvSpPr/>
          <p:nvPr/>
        </p:nvSpPr>
        <p:spPr>
          <a:xfrm>
            <a:off x="822960" y="3657600"/>
            <a:ext cx="324612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的／機制 heading"/>
          <p:cNvSpPr txBox="1"/>
          <p:nvPr/>
        </p:nvSpPr>
        <p:spPr>
          <a:xfrm>
            <a:off x="96926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目的／機制 body"/>
          <p:cNvSpPr txBox="1"/>
          <p:nvPr/>
        </p:nvSpPr>
        <p:spPr>
          <a:xfrm>
            <a:off x="98755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1" name="預期輸出"/>
          <p:cNvSpPr/>
          <p:nvPr/>
        </p:nvSpPr>
        <p:spPr>
          <a:xfrm>
            <a:off x="4434840" y="3657600"/>
            <a:ext cx="32461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預期輸出 heading"/>
          <p:cNvSpPr txBox="1"/>
          <p:nvPr/>
        </p:nvSpPr>
        <p:spPr>
          <a:xfrm>
            <a:off x="458114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預期輸出</a:t>
            </a:r>
          </a:p>
        </p:txBody>
      </p:sp>
      <p:sp>
        <p:nvSpPr>
          <p:cNvPr id="13" name="預期輸出 body"/>
          <p:cNvSpPr txBox="1"/>
          <p:nvPr/>
        </p:nvSpPr>
        <p:spPr>
          <a:xfrm>
            <a:off x="4599431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sp>
        <p:nvSpPr>
          <p:cNvPr id="14" name="判讀／回復"/>
          <p:cNvSpPr/>
          <p:nvPr/>
        </p:nvSpPr>
        <p:spPr>
          <a:xfrm>
            <a:off x="8046720" y="3657600"/>
            <a:ext cx="3246120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判讀／回復 heading"/>
          <p:cNvSpPr txBox="1"/>
          <p:nvPr/>
        </p:nvSpPr>
        <p:spPr>
          <a:xfrm>
            <a:off x="8193024" y="3858768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回復</a:t>
            </a:r>
          </a:p>
        </p:txBody>
      </p:sp>
      <p:sp>
        <p:nvSpPr>
          <p:cNvPr id="16" name="判讀／回復 body"/>
          <p:cNvSpPr txBox="1"/>
          <p:nvPr/>
        </p:nvSpPr>
        <p:spPr>
          <a:xfrm>
            <a:off x="8211312" y="4261104"/>
            <a:ext cx="290779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replay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缺一個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和錯誤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exact case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不要拼接不同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setup mode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1-pre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policy source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2-lab-a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provenance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9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</a:t>
            </a:r>
          </a:p>
        </p:txBody>
      </p:sp>
      <p:sp>
        <p:nvSpPr>
          <p:cNvPr id="10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2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把機器可讀的結果搬進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Leo，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不讓畫面或手抄數字取代驗證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逐項檢查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schema、scenario、seed、units、policy SHA、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事件順序與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provenance；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錯誤時不改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session。</a:t>
            </a:r>
          </a:p>
        </p:txBody>
      </p:sp>
      <p:sp>
        <p:nvSpPr>
          <p:cNvPr id="13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5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：all-or-nothing import receipt、scenario／units／seed／policy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 replay identity。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Evidence：VERIFIED; DONOR-REWRITE：BeamShift donor slides 70–75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current schema、identity、unit、poli…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8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same-scenario fallback；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不以空陣列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零值或手改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hash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假裝通過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3-lab-b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4-lab-c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9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0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Current browser-server-preview evidence" descr="05-evidence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3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4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仍在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6-workbook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fail closed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Evidence reading panel"/>
          <p:cNvSpPr/>
          <p:nvPr/>
        </p:nvSpPr>
        <p:spPr>
          <a:xfrm>
            <a:off x="804672" y="1298448"/>
            <a:ext cx="4983480" cy="42793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idence question"/>
          <p:cNvSpPr txBox="1"/>
          <p:nvPr/>
        </p:nvSpPr>
        <p:spPr>
          <a:xfrm>
            <a:off x="1042415" y="1572768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畫面要回答哪個問題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Evidence questions"/>
          <p:cNvSpPr txBox="1"/>
          <p:nvPr/>
        </p:nvSpPr>
        <p:spPr>
          <a:xfrm>
            <a:off x="1078992" y="2011680"/>
            <a:ext cx="4425696" cy="20299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1.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這是不是同一個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哪個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改變了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3. packet / service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有沒有後果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4. endpoint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是什麼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8" name="Evidence warning"/>
          <p:cNvSpPr txBox="1"/>
          <p:nvPr/>
        </p:nvSpPr>
        <p:spPr>
          <a:xfrm>
            <a:off x="1060704" y="4498848"/>
            <a:ext cx="4462272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單一漂亮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不足以支持節能判決</a:t>
            </a: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visual panel"/>
          <p:cNvSpPr/>
          <p:nvPr/>
        </p:nvSpPr>
        <p:spPr>
          <a:xfrm>
            <a:off x="6126480" y="1298448"/>
            <a:ext cx="513892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urrent browser-server-preview evidence" descr="07-lab-a-fallback-http-sha-unavail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4617720" cy="2907792"/>
          </a:xfrm>
          <a:prstGeom prst="rect">
            <a:avLst/>
          </a:prstGeom>
        </p:spPr>
      </p:pic>
      <p:sp>
        <p:nvSpPr>
          <p:cNvPr id="11" name="Evidence scope"/>
          <p:cNvSpPr txBox="1"/>
          <p:nvPr/>
        </p:nvSpPr>
        <p:spPr>
          <a:xfrm>
            <a:off x="6419088" y="1536192"/>
            <a:ext cx="45354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sp>
        <p:nvSpPr>
          <p:cNvPr id="12" name="Evidence identity note"/>
          <p:cNvSpPr txBox="1"/>
          <p:nvPr/>
        </p:nvSpPr>
        <p:spPr>
          <a:xfrm>
            <a:off x="6419088" y="4956048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import / replay / workbook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必須一致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Code focus"/>
          <p:cNvSpPr/>
          <p:nvPr/>
        </p:nvSpPr>
        <p:spPr>
          <a:xfrm>
            <a:off x="786384" y="1298448"/>
            <a:ext cx="5669280" cy="420624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heading"/>
          <p:cNvSpPr txBox="1"/>
          <p:nvPr/>
        </p:nvSpPr>
        <p:spPr>
          <a:xfrm>
            <a:off x="1024128" y="1517904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可複製的動作</a:t>
            </a:r>
          </a:p>
        </p:txBody>
      </p:sp>
      <p:sp>
        <p:nvSpPr>
          <p:cNvPr id="7" name="Code lines"/>
          <p:cNvSpPr txBox="1"/>
          <p:nvPr/>
        </p:nvSpPr>
        <p:spPr>
          <a:xfrm>
            <a:off x="1042415" y="1920240"/>
            <a:ext cx="5138928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matching result + replay</a:t>
            </a:r>
          </a:p>
        </p:txBody>
      </p:sp>
      <p:cxnSp>
        <p:nvCxnSpPr>
          <p:cNvPr id="8" name="Code to mechanism"/>
          <p:cNvCxnSpPr/>
          <p:nvPr/>
        </p:nvCxnSpPr>
        <p:spPr>
          <a:xfrm>
            <a:off x="1060704" y="3566160"/>
            <a:ext cx="5065776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de mechanism"/>
          <p:cNvSpPr txBox="1"/>
          <p:nvPr/>
        </p:nvSpPr>
        <p:spPr>
          <a:xfrm>
            <a:off x="1078992" y="3822191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機制讀法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sp>
        <p:nvSpPr>
          <p:cNvPr id="10" name="Expected evidence"/>
          <p:cNvSpPr/>
          <p:nvPr/>
        </p:nvSpPr>
        <p:spPr>
          <a:xfrm>
            <a:off x="6748272" y="1298448"/>
            <a:ext cx="466344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vidence heading"/>
          <p:cNvSpPr txBox="1"/>
          <p:nvPr/>
        </p:nvSpPr>
        <p:spPr>
          <a:xfrm>
            <a:off x="6995160" y="1517904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輸出不只是一行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READY</a:t>
            </a:r>
          </a:p>
        </p:txBody>
      </p:sp>
      <p:sp>
        <p:nvSpPr>
          <p:cNvPr id="12" name="Evidence body"/>
          <p:cNvSpPr txBox="1"/>
          <p:nvPr/>
        </p:nvSpPr>
        <p:spPr>
          <a:xfrm>
            <a:off x="7004304" y="1920240"/>
            <a:ext cx="4133087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Evidence：PLACEHOLDER</a:t>
            </a:r>
          </a:p>
        </p:txBody>
      </p:sp>
      <p:sp>
        <p:nvSpPr>
          <p:cNvPr id="13" name="Interpretation block"/>
          <p:cNvSpPr/>
          <p:nvPr/>
        </p:nvSpPr>
        <p:spPr>
          <a:xfrm>
            <a:off x="6748272" y="3493008"/>
            <a:ext cx="4663440" cy="20116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terpret heading"/>
          <p:cNvSpPr txBox="1"/>
          <p:nvPr/>
        </p:nvSpPr>
        <p:spPr>
          <a:xfrm>
            <a:off x="6995160" y="3721608"/>
            <a:ext cx="4169663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判讀與恢復</a:t>
            </a:r>
          </a:p>
        </p:txBody>
      </p:sp>
      <p:sp>
        <p:nvSpPr>
          <p:cNvPr id="15" name="Interpret body"/>
          <p:cNvSpPr txBox="1"/>
          <p:nvPr/>
        </p:nvSpPr>
        <p:spPr>
          <a:xfrm>
            <a:off x="7004304" y="4133087"/>
            <a:ext cx="4133087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把操作綁回一個可觀察機制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而不是只追求畫面上的狀態變化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manifest、case label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不配對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停止使用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owner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指定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或重新解壓同一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archive。；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checkpoint restore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的三步回復箭頭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guard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Evidence：IMPLEMENTED NOT 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：checkpoint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不可從不同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Lab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拼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action panel"/>
          <p:cNvSpPr/>
          <p:nvPr/>
        </p:nvSpPr>
        <p:spPr>
          <a:xfrm>
            <a:off x="731520" y="1298448"/>
            <a:ext cx="5440680" cy="1874519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heading"/>
          <p:cNvSpPr txBox="1"/>
          <p:nvPr/>
        </p:nvSpPr>
        <p:spPr>
          <a:xfrm>
            <a:off x="960120" y="14996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先做什麼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｜exact action</a:t>
            </a:r>
          </a:p>
        </p:txBody>
      </p:sp>
      <p:sp>
        <p:nvSpPr>
          <p:cNvPr id="7" name="Exact action"/>
          <p:cNvSpPr txBox="1"/>
          <p:nvPr/>
        </p:nvSpPr>
        <p:spPr>
          <a:xfrm>
            <a:off x="969264" y="1892807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</a:t>
            </a:r>
          </a:p>
        </p:txBody>
      </p:sp>
      <p:sp>
        <p:nvSpPr>
          <p:cNvPr id="8" name="Operation why panel"/>
          <p:cNvSpPr/>
          <p:nvPr/>
        </p:nvSpPr>
        <p:spPr>
          <a:xfrm>
            <a:off x="6446520" y="1298448"/>
            <a:ext cx="4983480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y heading"/>
          <p:cNvSpPr txBox="1"/>
          <p:nvPr/>
        </p:nvSpPr>
        <p:spPr>
          <a:xfrm>
            <a:off x="6693408" y="1499616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怎麼改變機制</a:t>
            </a:r>
          </a:p>
        </p:txBody>
      </p:sp>
      <p:sp>
        <p:nvSpPr>
          <p:cNvPr id="10" name="Why mechanism"/>
          <p:cNvSpPr txBox="1"/>
          <p:nvPr/>
        </p:nvSpPr>
        <p:spPr>
          <a:xfrm>
            <a:off x="6702552" y="1892807"/>
            <a:ext cx="4462272" cy="103327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先停在明確的失敗邊界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保留錯誤與身份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checkpoint。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fail-closed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要求修正被點名的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或切到同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不自行補值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expected panel"/>
          <p:cNvSpPr/>
          <p:nvPr/>
        </p:nvSpPr>
        <p:spPr>
          <a:xfrm>
            <a:off x="731520" y="3474720"/>
            <a:ext cx="5440680" cy="19202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pected heading"/>
          <p:cNvSpPr txBox="1"/>
          <p:nvPr/>
        </p:nvSpPr>
        <p:spPr>
          <a:xfrm>
            <a:off x="960120" y="368503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會看到什麼</a:t>
            </a: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｜receipt / output</a:t>
            </a:r>
          </a:p>
        </p:txBody>
      </p:sp>
      <p:sp>
        <p:nvSpPr>
          <p:cNvPr id="13" name="Expected output"/>
          <p:cNvSpPr txBox="1"/>
          <p:nvPr/>
        </p:nvSpPr>
        <p:spPr>
          <a:xfrm>
            <a:off x="969264" y="4059936"/>
            <a:ext cx="4892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拒絕原因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保留原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session、matching fallback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或修正後的新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不產生部分結果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446520" y="3474720"/>
            <a:ext cx="4983480" cy="19202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heading"/>
          <p:cNvSpPr txBox="1"/>
          <p:nvPr/>
        </p:nvSpPr>
        <p:spPr>
          <a:xfrm>
            <a:off x="6693408" y="3685032"/>
            <a:ext cx="44988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怎麼判讀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失敗怎麼回復</a:t>
            </a:r>
          </a:p>
        </p:txBody>
      </p:sp>
      <p:sp>
        <p:nvSpPr>
          <p:cNvPr id="16" name="Recovery text"/>
          <p:cNvSpPr txBox="1"/>
          <p:nvPr/>
        </p:nvSpPr>
        <p:spPr>
          <a:xfrm>
            <a:off x="6702552" y="4059936"/>
            <a:ext cx="4462272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失敗處置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停止向下宣稱完成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Route caption"/>
          <p:cNvSpPr txBox="1"/>
          <p:nvPr/>
        </p:nvSpPr>
        <p:spPr>
          <a:xfrm>
            <a:off x="841248" y="12618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這一頁把名詞排成一條可追溯的路徑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Editable connector"/>
          <p:cNvCxnSpPr/>
          <p:nvPr/>
        </p:nvCxnSpPr>
        <p:spPr>
          <a:xfrm>
            <a:off x="1143000" y="2880360"/>
            <a:ext cx="9829800" cy="0"/>
          </a:xfrm>
          <a:prstGeom prst="line">
            <a:avLst/>
          </a:prstGeom>
          <a:ln w="279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te dot 1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te label 1"/>
          <p:cNvSpPr txBox="1"/>
          <p:nvPr/>
        </p:nvSpPr>
        <p:spPr>
          <a:xfrm>
            <a:off x="658368" y="1874519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9" name="Route dot 2"/>
          <p:cNvSpPr/>
          <p:nvPr/>
        </p:nvSpPr>
        <p:spPr>
          <a:xfrm>
            <a:off x="3337560" y="2651760"/>
            <a:ext cx="457200" cy="457200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te label 2"/>
          <p:cNvSpPr txBox="1"/>
          <p:nvPr/>
        </p:nvSpPr>
        <p:spPr>
          <a:xfrm>
            <a:off x="2990088" y="3264408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11" name="Route dot 3"/>
          <p:cNvSpPr/>
          <p:nvPr/>
        </p:nvSpPr>
        <p:spPr>
          <a:xfrm>
            <a:off x="5669279" y="2651760"/>
            <a:ext cx="457200" cy="457200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te label 3"/>
          <p:cNvSpPr txBox="1"/>
          <p:nvPr/>
        </p:nvSpPr>
        <p:spPr>
          <a:xfrm>
            <a:off x="5321807" y="1874519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Route reading note"/>
          <p:cNvSpPr/>
          <p:nvPr/>
        </p:nvSpPr>
        <p:spPr>
          <a:xfrm>
            <a:off x="1005840" y="4681728"/>
            <a:ext cx="10149840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te visual note"/>
          <p:cNvSpPr txBox="1"/>
          <p:nvPr/>
        </p:nvSpPr>
        <p:spPr>
          <a:xfrm>
            <a:off x="1234440" y="4846320"/>
            <a:ext cx="96926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前取得與只能在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後讀到的兩欄分類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ausal stage 1"/>
          <p:cNvSpPr/>
          <p:nvPr/>
        </p:nvSpPr>
        <p:spPr>
          <a:xfrm>
            <a:off x="749808" y="1600200"/>
            <a:ext cx="2395728" cy="10789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stage text 1"/>
          <p:cNvSpPr txBox="1"/>
          <p:nvPr/>
        </p:nvSpPr>
        <p:spPr>
          <a:xfrm>
            <a:off x="859536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145536" y="2139696"/>
            <a:ext cx="34747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usal stage 2"/>
          <p:cNvSpPr/>
          <p:nvPr/>
        </p:nvSpPr>
        <p:spPr>
          <a:xfrm>
            <a:off x="3566160" y="1600200"/>
            <a:ext cx="2395728" cy="10789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usal stage text 2"/>
          <p:cNvSpPr txBox="1"/>
          <p:nvPr/>
        </p:nvSpPr>
        <p:spPr>
          <a:xfrm>
            <a:off x="3675887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12" name="Causal explanation band"/>
          <p:cNvSpPr/>
          <p:nvPr/>
        </p:nvSpPr>
        <p:spPr>
          <a:xfrm>
            <a:off x="822960" y="3127248"/>
            <a:ext cx="10469880" cy="135331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usal explanation"/>
          <p:cNvSpPr txBox="1"/>
          <p:nvPr/>
        </p:nvSpPr>
        <p:spPr>
          <a:xfrm>
            <a:off x="1042415" y="3346704"/>
            <a:ext cx="100126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看圖判讀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：legal feature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leaky feature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的紅綠分流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：VERIFIED</a:t>
            </a:r>
          </a:p>
        </p:txBody>
      </p:sp>
      <p:sp>
        <p:nvSpPr>
          <p:cNvPr id="14" name="Causal takeaway"/>
          <p:cNvSpPr txBox="1"/>
          <p:nvPr/>
        </p:nvSpPr>
        <p:spPr>
          <a:xfrm>
            <a:off x="932688" y="4791456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講師判讀句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是否真的改變中間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再把差異連到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source；identity；mechanism；evidence；claim class。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先說明輸入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再看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最後才解讀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W、J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bit/J。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一個可追溯的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→ mechanism → evidence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Evidence：VERIFIED; DONOR-REWRITE：BeamShift donor slides 70–75、96–97、113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current artifa…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identity、scope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source mode，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維持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INCOMPLETE；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不以畫面或預期值補上缺欄位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Route caption"/>
          <p:cNvSpPr txBox="1"/>
          <p:nvPr/>
        </p:nvSpPr>
        <p:spPr>
          <a:xfrm>
            <a:off x="841248" y="12618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這一頁把名詞排成一條可追溯的路徑</a:t>
            </a:r>
            <a:r>
              <a:rPr sz="2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Editable connector"/>
          <p:cNvCxnSpPr/>
          <p:nvPr/>
        </p:nvCxnSpPr>
        <p:spPr>
          <a:xfrm>
            <a:off x="1143000" y="2880360"/>
            <a:ext cx="9829800" cy="0"/>
          </a:xfrm>
          <a:prstGeom prst="line">
            <a:avLst/>
          </a:prstGeom>
          <a:ln w="279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te dot 1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te label 1"/>
          <p:cNvSpPr txBox="1"/>
          <p:nvPr/>
        </p:nvSpPr>
        <p:spPr>
          <a:xfrm>
            <a:off x="658368" y="1874519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9" name="Route dot 2"/>
          <p:cNvSpPr/>
          <p:nvPr/>
        </p:nvSpPr>
        <p:spPr>
          <a:xfrm>
            <a:off x="3337560" y="2651760"/>
            <a:ext cx="457200" cy="457200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te label 2"/>
          <p:cNvSpPr txBox="1"/>
          <p:nvPr/>
        </p:nvSpPr>
        <p:spPr>
          <a:xfrm>
            <a:off x="2990088" y="3264408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11" name="Route dot 3"/>
          <p:cNvSpPr/>
          <p:nvPr/>
        </p:nvSpPr>
        <p:spPr>
          <a:xfrm>
            <a:off x="5669279" y="2651760"/>
            <a:ext cx="457200" cy="457200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te label 3"/>
          <p:cNvSpPr txBox="1"/>
          <p:nvPr/>
        </p:nvSpPr>
        <p:spPr>
          <a:xfrm>
            <a:off x="5321807" y="1874519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13" name="Route dot 4"/>
          <p:cNvSpPr/>
          <p:nvPr/>
        </p:nvSpPr>
        <p:spPr>
          <a:xfrm>
            <a:off x="8001000" y="2651760"/>
            <a:ext cx="457200" cy="457200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te label 4"/>
          <p:cNvSpPr txBox="1"/>
          <p:nvPr/>
        </p:nvSpPr>
        <p:spPr>
          <a:xfrm>
            <a:off x="7653527" y="3264408"/>
            <a:ext cx="1188720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simulated。</a:t>
            </a:r>
          </a:p>
        </p:txBody>
      </p:sp>
      <p:sp>
        <p:nvSpPr>
          <p:cNvPr id="15" name="Route reading note"/>
          <p:cNvSpPr/>
          <p:nvPr/>
        </p:nvSpPr>
        <p:spPr>
          <a:xfrm>
            <a:off x="1005840" y="4681728"/>
            <a:ext cx="10149840" cy="80467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te visual note"/>
          <p:cNvSpPr txBox="1"/>
          <p:nvPr/>
        </p:nvSpPr>
        <p:spPr>
          <a:xfrm>
            <a:off x="1234440" y="4846320"/>
            <a:ext cx="969264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四欄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classifier，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底部標示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course ceiling = simulated teaching data。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ausal stage 1"/>
          <p:cNvSpPr/>
          <p:nvPr/>
        </p:nvSpPr>
        <p:spPr>
          <a:xfrm>
            <a:off x="749808" y="1600200"/>
            <a:ext cx="2395728" cy="10789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stage text 1"/>
          <p:cNvSpPr txBox="1"/>
          <p:nvPr/>
        </p:nvSpPr>
        <p:spPr>
          <a:xfrm>
            <a:off x="859536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145536" y="2139696"/>
            <a:ext cx="34747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usal stage 2"/>
          <p:cNvSpPr/>
          <p:nvPr/>
        </p:nvSpPr>
        <p:spPr>
          <a:xfrm>
            <a:off x="3566160" y="1600200"/>
            <a:ext cx="2395728" cy="10789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usal stage text 2"/>
          <p:cNvSpPr txBox="1"/>
          <p:nvPr/>
        </p:nvSpPr>
        <p:spPr>
          <a:xfrm>
            <a:off x="3675887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usal explanation band"/>
          <p:cNvSpPr/>
          <p:nvPr/>
        </p:nvSpPr>
        <p:spPr>
          <a:xfrm>
            <a:off x="822960" y="3127248"/>
            <a:ext cx="10469880" cy="135331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usal explanation"/>
          <p:cNvSpPr txBox="1"/>
          <p:nvPr/>
        </p:nvSpPr>
        <p:spPr>
          <a:xfrm>
            <a:off x="1042415" y="3346704"/>
            <a:ext cx="100126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看圖判讀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：VERIFIED; DONOR-REWRITE：BeamShift donor evidence-boundary concepts，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Causal takeaway"/>
          <p:cNvSpPr txBox="1"/>
          <p:nvPr/>
        </p:nvSpPr>
        <p:spPr>
          <a:xfrm>
            <a:off x="932688" y="4791456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講師判讀句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是否真的改變中間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再把差異連到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oncept left rail"/>
          <p:cNvSpPr/>
          <p:nvPr/>
        </p:nvSpPr>
        <p:spPr>
          <a:xfrm>
            <a:off x="749808" y="1417320"/>
            <a:ext cx="3767328" cy="42976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cept prompt"/>
          <p:cNvSpPr txBox="1"/>
          <p:nvPr/>
        </p:nvSpPr>
        <p:spPr>
          <a:xfrm>
            <a:off x="987552" y="1673352"/>
            <a:ext cx="327355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先問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這張圖的輸入是什麼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7" name="Concept inputs"/>
          <p:cNvSpPr txBox="1"/>
          <p:nvPr/>
        </p:nvSpPr>
        <p:spPr>
          <a:xfrm>
            <a:off x="1024128" y="2212848"/>
            <a:ext cx="3200400" cy="2423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+ endpoint J。</a:t>
            </a:r>
          </a:p>
        </p:txBody>
      </p:sp>
      <p:sp>
        <p:nvSpPr>
          <p:cNvPr id="8" name="Mechanism right rail"/>
          <p:cNvSpPr/>
          <p:nvPr/>
        </p:nvSpPr>
        <p:spPr>
          <a:xfrm>
            <a:off x="4846320" y="1417320"/>
            <a:ext cx="6446520" cy="1874519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chanism heading"/>
          <p:cNvSpPr txBox="1"/>
          <p:nvPr/>
        </p:nvSpPr>
        <p:spPr>
          <a:xfrm>
            <a:off x="5120640" y="1673352"/>
            <a:ext cx="58978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中間機制</a:t>
            </a:r>
            <a:r>
              <a:rPr sz="2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：</a:t>
            </a:r>
          </a:p>
        </p:txBody>
      </p:sp>
      <p:sp>
        <p:nvSpPr>
          <p:cNvPr id="10" name="Mechanism description"/>
          <p:cNvSpPr txBox="1"/>
          <p:nvPr/>
        </p:nvSpPr>
        <p:spPr>
          <a:xfrm>
            <a:off x="5148072" y="2103120"/>
            <a:ext cx="5806440" cy="9509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IoT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農場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sensor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gateway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的機會窗口圖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Interpretation rail"/>
          <p:cNvSpPr/>
          <p:nvPr/>
        </p:nvSpPr>
        <p:spPr>
          <a:xfrm>
            <a:off x="4846320" y="3639312"/>
            <a:ext cx="6446520" cy="207568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nterpretation heading"/>
          <p:cNvSpPr txBox="1"/>
          <p:nvPr/>
        </p:nvSpPr>
        <p:spPr>
          <a:xfrm>
            <a:off x="5120640" y="3886200"/>
            <a:ext cx="58978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最後讀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</a:p>
        </p:txBody>
      </p:sp>
      <p:sp>
        <p:nvSpPr>
          <p:cNvPr id="13" name="Interpretation text"/>
          <p:cNvSpPr txBox="1"/>
          <p:nvPr/>
        </p:nvSpPr>
        <p:spPr>
          <a:xfrm>
            <a:off x="5148072" y="4315968"/>
            <a:ext cx="5806440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不要把畫面效果當成結果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scenario、units、service boundary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evidence。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visual caption"/>
          <p:cNvSpPr txBox="1"/>
          <p:nvPr/>
        </p:nvSpPr>
        <p:spPr>
          <a:xfrm>
            <a:off x="841248" y="1188720"/>
            <a:ext cx="105156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6" name="Receipt stage 1"/>
          <p:cNvSpPr/>
          <p:nvPr/>
        </p:nvSpPr>
        <p:spPr>
          <a:xfrm>
            <a:off x="868680" y="1938528"/>
            <a:ext cx="2331720" cy="32461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label 1"/>
          <p:cNvSpPr txBox="1"/>
          <p:nvPr/>
        </p:nvSpPr>
        <p:spPr>
          <a:xfrm>
            <a:off x="978407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8" name="Receipt body 1"/>
          <p:cNvSpPr txBox="1"/>
          <p:nvPr/>
        </p:nvSpPr>
        <p:spPr>
          <a:xfrm>
            <a:off x="1014983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opportunity → policy → service / energy</a:t>
            </a:r>
          </a:p>
        </p:txBody>
      </p:sp>
      <p:cxnSp>
        <p:nvCxnSpPr>
          <p:cNvPr id="9" name="Receipt arrow"/>
          <p:cNvCxnSpPr/>
          <p:nvPr/>
        </p:nvCxnSpPr>
        <p:spPr>
          <a:xfrm>
            <a:off x="3200400" y="3566160"/>
            <a:ext cx="33832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eipt stage 2"/>
          <p:cNvSpPr/>
          <p:nvPr/>
        </p:nvSpPr>
        <p:spPr>
          <a:xfrm>
            <a:off x="3639312" y="1938528"/>
            <a:ext cx="2331720" cy="32461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label 2"/>
          <p:cNvSpPr txBox="1"/>
          <p:nvPr/>
        </p:nvSpPr>
        <p:spPr>
          <a:xfrm>
            <a:off x="3749039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2" name="Receipt body 2"/>
          <p:cNvSpPr txBox="1"/>
          <p:nvPr/>
        </p:nvSpPr>
        <p:spPr>
          <a:xfrm>
            <a:off x="3785615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只使用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當下可見的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observation；policy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選擇會改變時間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封包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服務與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ledger。</a:t>
            </a:r>
          </a:p>
        </p:txBody>
      </p:sp>
      <p:cxnSp>
        <p:nvCxnSpPr>
          <p:cNvPr id="13" name="Receipt arrow"/>
          <p:cNvCxnSpPr/>
          <p:nvPr/>
        </p:nvCxnSpPr>
        <p:spPr>
          <a:xfrm>
            <a:off x="5971031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eipt stage 3"/>
          <p:cNvSpPr/>
          <p:nvPr/>
        </p:nvSpPr>
        <p:spPr>
          <a:xfrm>
            <a:off x="6409944" y="1938528"/>
            <a:ext cx="2331720" cy="32461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label 3"/>
          <p:cNvSpPr txBox="1"/>
          <p:nvPr/>
        </p:nvSpPr>
        <p:spPr>
          <a:xfrm>
            <a:off x="6519672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OUTPUT</a:t>
            </a:r>
          </a:p>
        </p:txBody>
      </p:sp>
      <p:sp>
        <p:nvSpPr>
          <p:cNvPr id="16" name="Receipt body 3"/>
          <p:cNvSpPr txBox="1"/>
          <p:nvPr/>
        </p:nvSpPr>
        <p:spPr>
          <a:xfrm>
            <a:off x="6556248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可見輸出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：marked block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的小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以及後續可觀察的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state／packet／service／J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差異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Evidence：VERIFIED</a:t>
            </a:r>
          </a:p>
        </p:txBody>
      </p:sp>
      <p:cxnSp>
        <p:nvCxnSpPr>
          <p:cNvPr id="17" name="Receipt arrow"/>
          <p:cNvCxnSpPr/>
          <p:nvPr/>
        </p:nvCxnSpPr>
        <p:spPr>
          <a:xfrm>
            <a:off x="8741663" y="3566160"/>
            <a:ext cx="33832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eipt stage 4"/>
          <p:cNvSpPr/>
          <p:nvPr/>
        </p:nvSpPr>
        <p:spPr>
          <a:xfrm>
            <a:off x="9180576" y="1938528"/>
            <a:ext cx="2331720" cy="324612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eipt label 4"/>
          <p:cNvSpPr txBox="1"/>
          <p:nvPr/>
        </p:nvSpPr>
        <p:spPr>
          <a:xfrm>
            <a:off x="9290303" y="2167128"/>
            <a:ext cx="21122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RECOVER</a:t>
            </a:r>
          </a:p>
        </p:txBody>
      </p:sp>
      <p:sp>
        <p:nvSpPr>
          <p:cNvPr id="20" name="Receipt body 4"/>
          <p:cNvSpPr txBox="1"/>
          <p:nvPr/>
        </p:nvSpPr>
        <p:spPr>
          <a:xfrm>
            <a:off x="9326880" y="2633472"/>
            <a:ext cx="2039112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若失敗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domain claim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需要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數字或未提供的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measured power，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刪除該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mechanism placeholder。；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不要補填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或改寫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ausal stage 1"/>
          <p:cNvSpPr/>
          <p:nvPr/>
        </p:nvSpPr>
        <p:spPr>
          <a:xfrm>
            <a:off x="749808" y="1600200"/>
            <a:ext cx="2395728" cy="10789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stage text 1"/>
          <p:cNvSpPr txBox="1"/>
          <p:nvPr/>
        </p:nvSpPr>
        <p:spPr>
          <a:xfrm>
            <a:off x="859536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3145536" y="2139696"/>
            <a:ext cx="34747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usal stage 2"/>
          <p:cNvSpPr/>
          <p:nvPr/>
        </p:nvSpPr>
        <p:spPr>
          <a:xfrm>
            <a:off x="3566160" y="1600200"/>
            <a:ext cx="2395728" cy="10789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usal stage text 2"/>
          <p:cNvSpPr txBox="1"/>
          <p:nvPr/>
        </p:nvSpPr>
        <p:spPr>
          <a:xfrm>
            <a:off x="3675887" y="1810512"/>
            <a:ext cx="2176272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0" name="Causal explanation band"/>
          <p:cNvSpPr/>
          <p:nvPr/>
        </p:nvSpPr>
        <p:spPr>
          <a:xfrm>
            <a:off x="822960" y="3127248"/>
            <a:ext cx="10469880" cy="135331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usal explanation"/>
          <p:cNvSpPr txBox="1"/>
          <p:nvPr/>
        </p:nvSpPr>
        <p:spPr>
          <a:xfrm>
            <a:off x="1042415" y="3346704"/>
            <a:ext cx="100126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看圖判讀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一張可填寫但不是空白表格的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hypothesis card。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機制邊界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：VERIFIED</a:t>
            </a:r>
          </a:p>
        </p:txBody>
      </p:sp>
      <p:sp>
        <p:nvSpPr>
          <p:cNvPr id="12" name="Causal takeaway"/>
          <p:cNvSpPr txBox="1"/>
          <p:nvPr/>
        </p:nvSpPr>
        <p:spPr>
          <a:xfrm>
            <a:off x="932688" y="4791456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講師判讀句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是否真的改變中間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state，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再把差異連到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endpoint J。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11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3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TLE source、model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contact context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的三層箭頭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16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的最小讀法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 context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sp>
        <p:nvSpPr>
          <p:cNvPr id="11" name="Appendix bullet 3"/>
          <p:cNvSpPr/>
          <p:nvPr/>
        </p:nvSpPr>
        <p:spPr>
          <a:xfrm>
            <a:off x="1143000" y="3456432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bullet text 3"/>
          <p:cNvSpPr txBox="1"/>
          <p:nvPr/>
        </p:nvSpPr>
        <p:spPr>
          <a:xfrm>
            <a:off x="1444752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5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18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10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11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3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4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6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7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9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20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2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3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11" name="Appendix bullet 3"/>
          <p:cNvSpPr/>
          <p:nvPr/>
        </p:nvSpPr>
        <p:spPr>
          <a:xfrm>
            <a:off x="1143000" y="3456432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bullet text 3"/>
          <p:cNvSpPr txBox="1"/>
          <p:nvPr/>
        </p:nvSpPr>
        <p:spPr>
          <a:xfrm>
            <a:off x="1444752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sp>
        <p:nvSpPr>
          <p:cNvPr id="13" name="Appendix bullet 4"/>
          <p:cNvSpPr/>
          <p:nvPr/>
        </p:nvSpPr>
        <p:spPr>
          <a:xfrm>
            <a:off x="1143000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endix bullet text 4"/>
          <p:cNvSpPr txBox="1"/>
          <p:nvPr/>
        </p:nvSpPr>
        <p:spPr>
          <a:xfrm>
            <a:off x="1444752" y="3977639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5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7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20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allowed API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的契約流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9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11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3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14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16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11" name="Appendix bullet 3"/>
          <p:cNvSpPr/>
          <p:nvPr/>
        </p:nvSpPr>
        <p:spPr>
          <a:xfrm>
            <a:off x="1143000" y="3456432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bullet text 3"/>
          <p:cNvSpPr txBox="1"/>
          <p:nvPr/>
        </p:nvSpPr>
        <p:spPr>
          <a:xfrm>
            <a:off x="1444752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13" name="Appendix bullet 4"/>
          <p:cNvSpPr/>
          <p:nvPr/>
        </p:nvSpPr>
        <p:spPr>
          <a:xfrm>
            <a:off x="1143000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endix bullet text 4"/>
          <p:cNvSpPr txBox="1"/>
          <p:nvPr/>
        </p:nvSpPr>
        <p:spPr>
          <a:xfrm>
            <a:off x="1444752" y="3977639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GPL-3.0 review。</a:t>
            </a:r>
          </a:p>
        </p:txBody>
      </p:sp>
      <p:sp>
        <p:nvSpPr>
          <p:cNvPr id="15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7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upstream、course package、Leo JSON seam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的三方邊界圖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20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claim ceiling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201168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條件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Appendix index"/>
          <p:cNvSpPr/>
          <p:nvPr/>
        </p:nvSpPr>
        <p:spPr>
          <a:xfrm>
            <a:off x="822960" y="1325880"/>
            <a:ext cx="2999232" cy="42976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ppendix heading"/>
          <p:cNvSpPr txBox="1"/>
          <p:nvPr/>
        </p:nvSpPr>
        <p:spPr>
          <a:xfrm>
            <a:off x="1060704" y="1609344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可選深挖</a:t>
            </a:r>
          </a:p>
        </p:txBody>
      </p:sp>
      <p:sp>
        <p:nvSpPr>
          <p:cNvPr id="7" name="Appendix bullet 1"/>
          <p:cNvSpPr/>
          <p:nvPr/>
        </p:nvSpPr>
        <p:spPr>
          <a:xfrm>
            <a:off x="1143000" y="2267712"/>
            <a:ext cx="164592" cy="16459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pendix bullet text 1"/>
          <p:cNvSpPr txBox="1"/>
          <p:nvPr/>
        </p:nvSpPr>
        <p:spPr>
          <a:xfrm>
            <a:off x="1444752" y="2194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9" name="Appendix bullet 2"/>
          <p:cNvSpPr/>
          <p:nvPr/>
        </p:nvSpPr>
        <p:spPr>
          <a:xfrm>
            <a:off x="1143000" y="2862072"/>
            <a:ext cx="164592" cy="1645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pendix bullet text 2"/>
          <p:cNvSpPr txBox="1"/>
          <p:nvPr/>
        </p:nvSpPr>
        <p:spPr>
          <a:xfrm>
            <a:off x="1444752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11" name="Appendix bullet 3"/>
          <p:cNvSpPr/>
          <p:nvPr/>
        </p:nvSpPr>
        <p:spPr>
          <a:xfrm>
            <a:off x="1143000" y="3456432"/>
            <a:ext cx="164592" cy="16459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endix bullet text 3"/>
          <p:cNvSpPr txBox="1"/>
          <p:nvPr/>
        </p:nvSpPr>
        <p:spPr>
          <a:xfrm>
            <a:off x="1444752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predict → run → compare</a:t>
            </a:r>
          </a:p>
        </p:txBody>
      </p:sp>
      <p:sp>
        <p:nvSpPr>
          <p:cNvPr id="13" name="Appendix bullet 4"/>
          <p:cNvSpPr/>
          <p:nvPr/>
        </p:nvSpPr>
        <p:spPr>
          <a:xfrm>
            <a:off x="1143000" y="4050791"/>
            <a:ext cx="164592" cy="16459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ppendix bullet text 4"/>
          <p:cNvSpPr txBox="1"/>
          <p:nvPr/>
        </p:nvSpPr>
        <p:spPr>
          <a:xfrm>
            <a:off x="1444752" y="3977639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retune。</a:t>
            </a:r>
          </a:p>
        </p:txBody>
      </p:sp>
      <p:sp>
        <p:nvSpPr>
          <p:cNvPr id="15" name="Appendix mechanism"/>
          <p:cNvSpPr/>
          <p:nvPr/>
        </p:nvSpPr>
        <p:spPr>
          <a:xfrm>
            <a:off x="4251960" y="1325880"/>
            <a:ext cx="7040880" cy="190195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ppendix mechanism heading"/>
          <p:cNvSpPr txBox="1"/>
          <p:nvPr/>
        </p:nvSpPr>
        <p:spPr>
          <a:xfrm>
            <a:off x="4526280" y="160934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為什麼這個細節存在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17" name="Appendix mechanism body"/>
          <p:cNvSpPr txBox="1"/>
          <p:nvPr/>
        </p:nvSpPr>
        <p:spPr>
          <a:xfrm>
            <a:off x="4553712" y="2029968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18" name="Appendix boundary"/>
          <p:cNvSpPr/>
          <p:nvPr/>
        </p:nvSpPr>
        <p:spPr>
          <a:xfrm>
            <a:off x="4251960" y="3529584"/>
            <a:ext cx="7040880" cy="2093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pendix boundary heading"/>
          <p:cNvSpPr txBox="1"/>
          <p:nvPr/>
        </p:nvSpPr>
        <p:spPr>
          <a:xfrm>
            <a:off x="4526280" y="3803904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退回主線時要保留的邊界</a:t>
            </a:r>
          </a:p>
        </p:txBody>
      </p:sp>
      <p:sp>
        <p:nvSpPr>
          <p:cNvPr id="20" name="Appendix boundary body"/>
          <p:cNvSpPr txBox="1"/>
          <p:nvPr/>
        </p:nvSpPr>
        <p:spPr>
          <a:xfrm>
            <a:off x="4553712" y="4224528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service window；endpoint J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whole-system energy；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任何未凍結來源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畫面或數字保留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placeholder。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bIns="36576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chain</a:t>
            </a:r>
          </a:p>
        </p:txBody>
      </p:sp>
      <p:sp>
        <p:nvSpPr>
          <p:cNvPr id="3" name="Status tag"/>
          <p:cNvSpPr/>
          <p:nvPr/>
        </p:nvSpPr>
        <p:spPr>
          <a:xfrm>
            <a:off x="8156448" y="813816"/>
            <a:ext cx="3072384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202168" y="832104"/>
            <a:ext cx="2980944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5" name="Transfer caption"/>
          <p:cNvSpPr txBox="1"/>
          <p:nvPr/>
        </p:nvSpPr>
        <p:spPr>
          <a:xfrm>
            <a:off x="868680" y="118872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把同一個決策句型移到另一個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IoT domain，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不搬運衛星專有名詞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ransfer field 1"/>
          <p:cNvSpPr/>
          <p:nvPr/>
        </p:nvSpPr>
        <p:spPr>
          <a:xfrm>
            <a:off x="804672" y="1874519"/>
            <a:ext cx="3246120" cy="120700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nsfer label 1"/>
          <p:cNvSpPr txBox="1"/>
          <p:nvPr/>
        </p:nvSpPr>
        <p:spPr>
          <a:xfrm>
            <a:off x="932688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固定任務</a:t>
            </a:r>
          </a:p>
        </p:txBody>
      </p:sp>
      <p:sp>
        <p:nvSpPr>
          <p:cNvPr id="8" name="Transfer body 1"/>
          <p:cNvSpPr txBox="1"/>
          <p:nvPr/>
        </p:nvSpPr>
        <p:spPr>
          <a:xfrm>
            <a:off x="960120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payload / deadline / window</a:t>
            </a:r>
          </a:p>
        </p:txBody>
      </p:sp>
      <p:sp>
        <p:nvSpPr>
          <p:cNvPr id="9" name="Transfer field 2"/>
          <p:cNvSpPr/>
          <p:nvPr/>
        </p:nvSpPr>
        <p:spPr>
          <a:xfrm>
            <a:off x="4572000" y="1874519"/>
            <a:ext cx="3246120" cy="120700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nsfer label 2"/>
          <p:cNvSpPr txBox="1"/>
          <p:nvPr/>
        </p:nvSpPr>
        <p:spPr>
          <a:xfrm>
            <a:off x="4700016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控制</a:t>
            </a:r>
          </a:p>
        </p:txBody>
      </p:sp>
      <p:sp>
        <p:nvSpPr>
          <p:cNvPr id="11" name="Transfer body 2"/>
          <p:cNvSpPr txBox="1"/>
          <p:nvPr/>
        </p:nvSpPr>
        <p:spPr>
          <a:xfrm>
            <a:off x="4727448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一個可修改的</a:t>
            </a: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</a:t>
            </a:r>
          </a:p>
        </p:txBody>
      </p:sp>
      <p:sp>
        <p:nvSpPr>
          <p:cNvPr id="12" name="Transfer field 3"/>
          <p:cNvSpPr/>
          <p:nvPr/>
        </p:nvSpPr>
        <p:spPr>
          <a:xfrm>
            <a:off x="8339328" y="1874519"/>
            <a:ext cx="3246120" cy="12070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fer label 3"/>
          <p:cNvSpPr txBox="1"/>
          <p:nvPr/>
        </p:nvSpPr>
        <p:spPr>
          <a:xfrm>
            <a:off x="8467344" y="2075688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服務</a:t>
            </a:r>
          </a:p>
        </p:txBody>
      </p:sp>
      <p:sp>
        <p:nvSpPr>
          <p:cNvPr id="14" name="Transfer body 3"/>
          <p:cNvSpPr txBox="1"/>
          <p:nvPr/>
        </p:nvSpPr>
        <p:spPr>
          <a:xfrm>
            <a:off x="8494776" y="2487168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freshness / deadline</a:t>
            </a:r>
          </a:p>
        </p:txBody>
      </p:sp>
      <p:sp>
        <p:nvSpPr>
          <p:cNvPr id="15" name="Transfer field 4"/>
          <p:cNvSpPr/>
          <p:nvPr/>
        </p:nvSpPr>
        <p:spPr>
          <a:xfrm>
            <a:off x="804672" y="3502152"/>
            <a:ext cx="3246120" cy="120700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nsfer label 4"/>
          <p:cNvSpPr txBox="1"/>
          <p:nvPr/>
        </p:nvSpPr>
        <p:spPr>
          <a:xfrm>
            <a:off x="932688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能量</a:t>
            </a:r>
          </a:p>
        </p:txBody>
      </p:sp>
      <p:sp>
        <p:nvSpPr>
          <p:cNvPr id="17" name="Transfer body 4"/>
          <p:cNvSpPr txBox="1"/>
          <p:nvPr/>
        </p:nvSpPr>
        <p:spPr>
          <a:xfrm>
            <a:off x="960120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Σ P·Δt → J</a:t>
            </a:r>
          </a:p>
        </p:txBody>
      </p:sp>
      <p:sp>
        <p:nvSpPr>
          <p:cNvPr id="18" name="Transfer field 5"/>
          <p:cNvSpPr/>
          <p:nvPr/>
        </p:nvSpPr>
        <p:spPr>
          <a:xfrm>
            <a:off x="4572000" y="3502152"/>
            <a:ext cx="3246120" cy="120700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nsfer label 5"/>
          <p:cNvSpPr txBox="1"/>
          <p:nvPr/>
        </p:nvSpPr>
        <p:spPr>
          <a:xfrm>
            <a:off x="4700016" y="3703320"/>
            <a:ext cx="299008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反例</a:t>
            </a:r>
          </a:p>
        </p:txBody>
      </p:sp>
      <p:sp>
        <p:nvSpPr>
          <p:cNvPr id="20" name="Transfer body 5"/>
          <p:cNvSpPr txBox="1"/>
          <p:nvPr/>
        </p:nvSpPr>
        <p:spPr>
          <a:xfrm>
            <a:off x="4727448" y="4114800"/>
            <a:ext cx="29352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held-out falsifier</a:t>
            </a:r>
          </a:p>
        </p:txBody>
      </p:sp>
      <p:sp>
        <p:nvSpPr>
          <p:cNvPr id="21" name="Transfer warning"/>
          <p:cNvSpPr/>
          <p:nvPr/>
        </p:nvSpPr>
        <p:spPr>
          <a:xfrm>
            <a:off x="841248" y="5212080"/>
            <a:ext cx="10469880" cy="384048"/>
          </a:xfrm>
          <a:prstGeom prst="roundRect">
            <a:avLst/>
          </a:prstGeom>
          <a:solidFill>
            <a:srgbClr val="FDEFEF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nsfer warning text"/>
          <p:cNvSpPr txBox="1"/>
          <p:nvPr/>
        </p:nvSpPr>
        <p:spPr>
          <a:xfrm>
            <a:off x="987552" y="5285232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若只有圖表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動畫變化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卻沒有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action → state → service → J → decision，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不能算可移轉證據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