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77" r:id="rId2"/>
    <p:sldId id="295" r:id="rId3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39" r:id="rId52"/>
    <p:sldId id="340" r:id="rId53"/>
    <p:sldId id="341" r:id="rId54"/>
    <p:sldId id="342" r:id="rId55"/>
    <p:sldId id="343" r:id="rId56"/>
    <p:sldId id="344" r:id="rId57"/>
    <p:sldId id="345" r:id="rId58"/>
    <p:sldId id="346" r:id="rId59"/>
    <p:sldId id="347" r:id="rId60"/>
    <p:sldId id="348" r:id="rId61"/>
    <p:sldId id="349" r:id="rId62"/>
    <p:sldId id="350" r:id="rId63"/>
    <p:sldId id="351" r:id="rId64"/>
    <p:sldId id="352" r:id="rId65"/>
    <p:sldId id="353" r:id="rId66"/>
    <p:sldId id="354" r:id="rId67"/>
    <p:sldId id="355" r:id="rId68"/>
    <p:sldId id="356" r:id="rId69"/>
    <p:sldId id="357" r:id="rId70"/>
    <p:sldId id="358" r:id="rId71"/>
    <p:sldId id="359" r:id="rId72"/>
    <p:sldId id="360" r:id="rId73"/>
    <p:sldId id="361" r:id="rId74"/>
    <p:sldId id="362" r:id="rId75"/>
    <p:sldId id="363" r:id="rId76"/>
    <p:sldId id="364" r:id="rId77"/>
    <p:sldId id="365" r:id="rId78"/>
    <p:sldId id="366" r:id="rId79"/>
    <p:sldId id="367" r:id="rId80"/>
    <p:sldId id="368" r:id="rId81"/>
    <p:sldId id="369" r:id="rId82"/>
    <p:sldId id="370" r:id="rId83"/>
    <p:sldId id="371" r:id="rId84"/>
    <p:sldId id="372" r:id="rId85"/>
    <p:sldId id="373" r:id="rId86"/>
    <p:sldId id="374" r:id="rId87"/>
    <p:sldId id="375" r:id="rId88"/>
    <p:sldId id="376" r:id="rId89"/>
    <p:sldId id="377" r:id="rId90"/>
    <p:sldId id="378" r:id="rId91"/>
    <p:sldId id="379" r:id="rId92"/>
    <p:sldId id="380" r:id="rId93"/>
    <p:sldId id="381" r:id="rId94"/>
    <p:sldId id="382" r:id="rId95"/>
    <p:sldId id="383" r:id="rId96"/>
    <p:sldId id="384" r:id="rId97"/>
    <p:sldId id="385" r:id="rId98"/>
    <p:sldId id="386" r:id="rId99"/>
    <p:sldId id="387" r:id="rId100"/>
    <p:sldId id="388" r:id="rId101"/>
    <p:sldId id="389" r:id="rId102"/>
    <p:sldId id="390" r:id="rId103"/>
    <p:sldId id="391" r:id="rId104"/>
    <p:sldId id="392" r:id="rId105"/>
    <p:sldId id="393" r:id="rId106"/>
    <p:sldId id="394" r:id="rId107"/>
    <p:sldId id="395" r:id="rId108"/>
    <p:sldId id="396" r:id="rId109"/>
    <p:sldId id="397" r:id="rId110"/>
    <p:sldId id="398" r:id="rId111"/>
    <p:sldId id="399" r:id="rId112"/>
    <p:sldId id="400" r:id="rId113"/>
    <p:sldId id="401" r:id="rId1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J。這堂課要做的是把一個小小的 policy edit 走完一條證據鏈，而不是背一個漂亮的數字。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請看箭頭，不要跳到最右邊。先有已經發生的 observation，policy 才選 action；action 會改變等待、喚醒、處理、收發與封包結果；服務條件確認後，才談功率乘上時間累積出的 endpoint energy。每一步都能回到 result 或 replay。若只看到動畫變化，卻沒有 state、packet、service 或 energy 的差異，我們就不能稱為節能證據。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智慧節能不是只把功率欄位改小，而是讓裝置在工作與等待之間做出可解釋的取捨。LoRaEnergySim 的相關模型正好把 endpoint 的 sleep、processing、transmit、receive、packet、collision、retry 與 energy 結果連起來；因此它能支援 IoT 的決策教學。課程 wrapper 會把這個機制縮成可重現的課程場景，不要求大家安裝研究型全套工具。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 在這裡不是衛星工程課的終點。它提供一個很直觀的 changing service window：可服務的機會會出現、消失、變短或變長。這種變動能讓「現在送還是等一下」變得可觀察；同一個機制也能轉到智慧農場的上行窗口、HVAC 的低負載時段或邊緣設備的可用連線。請把 LEO 當成例子，不要把課程 claim 擴張成 live satellite measurement。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左邊的 endpoint replay 可以回答封包、佇列、radio state、endpoint energy 與 endpoint service；右邊的 system replay 才承擔既有 C-120 的 canonical fields。兩層可以共享 scenario、clock 和 workbook，但欄位不能因為名稱相似就互相改寫。今天看到的 endpoint J 必須留在 endpoint layer；它不是整個部署、衛星或 wall-plug energy。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 lab 都遵循這條學習路徑，但每一頁會換一種畫面，不會把它變成固定問答。先記下你預期哪個 state time、packet outcome、service 或 endpoint J 會變；再只改標記區塊；接著跑 baseline 與 candidate，匯入 result 看 replay，最後用沒有調參的 withheld case 檢驗假說。預測被推翻時，保留它，因為那就是最有用的教學結果。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這張卡片只問一件事：你改的那一行，透過哪個機制影響哪一筆 evidence？例如把 pace gap 拉長，可能改變等待、喚醒與封包時機；提高 hold 穩定門檻，可能拒絕短暫品質尖峰；調整 batch 或 urgent margin，可能改變佇列年齡與 deadline 結果。若改動無法連到這些事件，就先不要跑；若結果沒有 consequential diff，就記錄 gate 未通過，不用畫面效果替代。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這張是路線圖，不是倒數計時器。先把工具與場景的關係講清楚，再完成能回復的 setup；接著建立 endpoint state 與服務邊界的共同語言，逐一跑三個 labs，保存 workbook，最後把機制轉到其他 IoT 場景。若某個節點受阻，沿著同一場景的 recovery 分支回來，不切換成另一個學習問題。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在進入命令前，我們先把能說什麼與不能說什麼放在同一張圖。這是 course-owned、deterministic、simulated 的 endpoint energy lab；不是 live telemetry，不是量測結果，也不是 canonical parity 通過。這個邊界不是警語而已，它會出現在 result、replay、Leo import 與 workbook provenance。之後若看見未凍結的 URL、畫面或 KPI，我們用 placeholder 保留缺口。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拿到 release 後，不要從不同 branch 拼檔案。Server 上目前的 ZIP inventory 已驗證為單一 c120-lora-energy-lab/ 根目錄與 65 個檔案，包含說明、setup、launcher、policy、fallback 與 schemas。解壓後請確認仍是這個單一根目錄；這樣 runner、policy、scenario 與驗證契約才來自同一份 reviewed bytes。根目錄不對、必要檔案缺失，先停在 provenance gate。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請只從畫面上的兩個 URL 取得同名 ZIP 與 checksum。Linux 用 sha256sum -c c120-lora-energy-lab-v1.zip.sha256，macOS 用 shasum -a 256 後逐字比較，Windows PowerShell 用 Get-FileHash .\\c120-lora-energy-lab-v1.zip -Algorithm SHA256，再與畫面上的 64 位 hash 比對。這一步保護的是 artifact identity，不是 energy evidence。2026-08-11 controller 已從公開 URL 完整下載 115,697-byte ZIP 與 checksum，sha256sum -c、unzip -t 與單一根目錄 65-item inventory 均通過；仍不把 controller 網路通過擴張成所有教室網路均已驗證。hash 不符就停止，不改用相似 archive。 若操作受阻，URL 無法下載時先保留錯誤並確認教室網路能連到 120.126.151.102:4192；checksum 不符或必要檔案缺失時停止，重新取得同一個 owner 指定 archive，不從其他 branch 拼檔。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如果畫面開頭是 C:\...&gt;，我們在 CMD；如果是 PS C:\...&gt;，我們在 PowerShell。兩者都能使用 Python Launcher，但環境變數寫法不同。先執行 py --list，再執行 py -3.11 --version。看到 Python 3.11.x 才進入 setup；不要因為 python 指向另一個版本就繼續。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py --list 沒有 3.11，請開啟畫面上的 Python 官方 Windows 下載頁，選擇 Python 3.11.x 的 64-bit installer；安裝時保留 Python Launcher。完成後關閉再開 CMD 或 PowerShell，重跑 py --list 與 py -3.11 --version。這不是把最新版本硬塞進課程，而是建立 runner 預期的 minor-version 邊界。若 installer、PATH 或 launcher 仍失敗，改用下一頁的 uv recovery；不修改 lock。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當 launcher 找不到 3.11，我們可以用 uv 取得 exact interpreter。先裝 uv，再跑 uv --version，接著 uv python install 3.11 與 uv python find 3.11。最後一行要回傳實際 interpreter path；它只用來建立這份 package 的 .venv。如果 uv 仍找不到，保留錯誤，走 fallback；不要把 uv recovery 說成已完成的 fresh setup。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隔離環境讓這份 runner 的 dependency graph 不受其他專案污染，也讓錯誤能從 package root 回復。Windows 的 interpreter 應落在 .venv\Scripts\python.exe，不能拿 WSL 的 .venv/bin/python 來用。正常上課不必 activate；launcher 會優先找 package-local venv。需要診斷時才執行 .\.venv\Scripts\python.exe --version。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package root 的 PowerShell，先設定 $env:PYTHON_BIN = "py -3.11"，再執行 .\setup.cmd，完成後執行 .\course.cmd verify。setup 的作用是建立 venv 並依 lock 安裝；verify 的作用是檢查 Python、wrapper、lock、policy API 和 scenario identity。預期是 machine-readable READY receipt；目前 Windows native command 與 receipt 尚未 clean-run，所以只把 READY / PLACEHOLDER 留在畫面。版本或 identity 失敗就停在這一 gate。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WSL 是另一個 shell 與檔案環境。尚未安裝時，在系統管理員 PowerShell 執行 wsl --install -d Ubuntu，依 Windows 提示重新啟動並完成 Ubuntu 使用者設定；已安裝時先用 wsl -l -v 確認 Ubuntu。進入 Ubuntu 後再執行 pwd 與 uname -a。如果看到 Linux home 路徑，才使用 setup.sh；Windows 端的 setup.cmd 不要在這裡執行。先辨識環境，才能讓後面的 path、venv 和 recovery 可信。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Ubuntu shell 先更新套件索引並安裝 curl、unzip，再依 uv 官方 installer 安裝 uv。重新開 shell 後跑 uv --version、uv python install 3.11、uv python find 3.11。這些步驟只是讓 WSL 有可選的 exact interpreter；它們不會產生 course result。若 installer 被 policy 或網路擋住，留下錯誤並回到同 scenario fallback。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ZIP 在 Windows Downloads，可從 /mnt/c/Users/&lt;YourName&gt;/Downloads/ 複製到 WSL 的 Linux home，再在 WSL 內解壓。進入 package root 後執行 PYTHON_BIN="$(uv python find 3.11)" bash setup.sh。這會建立 WSL 專用的 .venv/bin/python；不要把 Windows 既有 venv 帶過來。接著同一個 shell 執行 bash course.sh verify。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Linux 或 macOS 的 POSIX shell，先以 PYTHON_BIN=python3.11 bash setup.sh 指定 interpreter，再以 bash course.sh verify 做同一份 gate。這與 Windows、WSL 的 launcher 不同，但驗證目的相同：package-local venv、lock、policy API、scenario 與 claim boundary 都要一致。現在這條 POSIX path 也保持實機排演 placeholder。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請在 receipt 中找 status、Python version、scenario identity、policy API、lock、engine mode、upstream execution 和 claim boundary。READY 表示環境和契約可以進入 runner；它不表示已完成任何節能實驗。缺欄位、版本不符或出現不同 scenario，先讀失敗 gate；不要手改 receipt 讓它看起來通過。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setup 或 verify 出現錯誤，先確認 Python minor、package root、lock 與 scenario；只修目前 gate 指出的最小問題。若仍無法建立 READY，就選同 scenario fallback，並把 source mode 記成 fallback。這保留相同的學習問題與 provenance，但不冒充本機 policy execution。不要把安裝等待拿來填 energy evidence。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在整個實驗中，我們只改 student_policy.py 的 marked blocks。不要改 upstream framework、scenario、schema、runner、Leo code 或 generated JSON。這個邊界讓 policy hash、predecessor 和 freeze receipt 能解釋結果。若檔案本身與 release 不同，停止編輯，回到 package identity 或 checkpoint restore。 若操作受阻，若 policy guard 或 syntax 失敗，只修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 只能依當下允許的 observation 做選擇。它不能偷看未來品質、future energy 或 result summary；也不能回傳不在契約內的 action。請先說出 observation 代表什麼，再說 action 會觸發哪個 state 或 packet 行為。這是控制面，不是讓大家重寫 simulator。 若操作受阻，若 policy guard 或 syntax 失敗，只修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這裡只需要讀懂變數名稱、等號和允許值。斜體顯示的變數是 policy 的控制點；runner 會檢查它們是否在 bounded range。改一個常數前，先寫出它可能改變的 state、queue 或 service；改完保留一個小 diff。實際 release line number 沒有凍結，畫面不填行號。 若操作受阻，若 policy guard 或 syntax 失敗，只修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看一個 Boolean 條件時，先圈出它讀的是哪個 observation，再指出每一個分支會回傳什麼 action。這會把程式閱讀連到機制：條件成立，裝置可能等待、睡眠或送出；條件不成立，則走另一個合法路徑。若 syntax 或名稱錯誤，修 marked block 的最小行，不碰 runner。 若操作受阻，若 policy guard 或 syntax 失敗，只修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縮排決定條件屬於哪個分支，return 決定 runner 收到哪個 action。請不要在課堂中追 framework traceback；若錯誤指向 marked line，就修該行並重新做 policy guard；若指向非 marked 區域，保留錯誤，走 recovery。這一頁的目的只是讓大家能安全讀與改小段 Python。 若操作受阻，若 policy guard 或 syntax 失敗，只修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先把狀態名稱和可觀察機制分開。SLEEP 是低功耗休息；WAIT 是 awake idle；WAKE 有回復成本；PROCESS、TX、RX 都各有時間與功率。不要把所有空檔都叫 sleep，也不要把狀態標籤直接當成 energy saving。後面的 result ledger 會把 state duration 逐項列出。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Lab A 的核心。WAIT 可能不增加睡眠喚醒，但裝置仍清醒；SLEEP 可能降低 idle power，卻要付 wake latency 和 wake energy。哪一個較好，不能只看功率，還要看 service、deadline、packet outcome 與整段 state time。這是一個待驗證的方向，不是預先保證的 KPI。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每一個 packet 先進 queue，再可能產生 attempt；attempt 可能成功、重試或逾期。SEND action 只代表一次決策，不等於 delivered service。講師要把 queue age、attempt、retry、delivered、expired 分開念給大家聽，讓後面比較 candidate 時不會只看一次 TX。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比較兩個 policy 前，先確認是不是同一個 job、同一個 service window、同一個 endpoint boundary，以及 delivered bits 或 deadline 條件是否可比。若 candidate 少送很多封包，J 下降不能直接叫節能；先說服務是否保住。這個 gate 會在三個 labs 都重現，但畫面只保留必要的判讀卡。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描述某一時刻的功率，J 描述功率隨時間累積的能量。低峰值但拖很久，可能累積更多 J；短暫高峰也要放回 service 和 deadline 看。不要把畫面上的 power 欄位直接當節省，也不要拿 endpoint J 去代表整個 system。公式頁會把這個關係寫成 LaTeX。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公式只把 endpoint radio 與 processing course assumptions 的累積關係說清楚：每個 state 的功率乘上停留時間，再加總。E_endpoint 的下標提醒我們它不是 whole-system energy。這裡不填入未產生的數字；結果要從 runner artifact 讀取。若 PowerPoint 不能顯示 Office Math，使用同一公式的向量 fallback，不顯示原始 LaTeX 當成公式畫面。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這個比值的分子是 delivered data，分母是 endpoint energy；兩邊的 boundary 與 units 都要對上。若資料沒有交付或能量 scope 不明，就不能直接報 bit/J。公式幫助我們檢查語義，不會在 browser 端重新計算科學結果。這一頁只教如何讀分子、分母與 scope。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不要把來源、模型與課程假設壓成一個神秘數字。pinned source 或 TLE 是 source；模型轉成 contact、quality、state 和 packet trace；course wrapper 加入 traffic、wake 或 mission rule；policy action 才產生 result。沿著 scenario_id、seed、policy hash 和 artifact path 往回查，才能判讀一筆數據的來處。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同一個 scenario identity 要出現在 scenario package、runner result、endpoint replay 與 workbook。它讓我們知道比較的是同一個問題，而不是把兩張相似畫面拼在一起。當 identity、anchor、seed、schema 或 unit 不一致，Leo importer 要 fail closed；講師不以改 JSON 的方式繞過它。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不是一張舊截圖，而是後面比較的 control。固定 scenario、seed、job、window、traffic 與 energy boundary，只讓目前 lab 的 marked block 改變。結果觀察 queue、packet、service、state time 和 endpoint J。任何比較若偷偷換了 trace、scope 或 policy，就先判定不公平。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窗口開啟時，send、wait 或 batch 的後果可能不同；窗口關閉時，延後可能變成 service loss。請先看固定 anchor 與 traffic，再判斷某個 action 是否落在合法 service window。這頁不是教 TLE 推導，而是把 changing opportunity 接回 endpoint policy 的選擇。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A 只問一個可測問題：固定工作與窗口時，送出的 pace 和 rest 選擇，會如何改變 queue、state time、service 與 endpoint J？先不要開檔案。請每個人先說一個方向性的預測，然後我們用 baseline 和 candidate 來驗證；沒有 evidence 就不提前宣布答案。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請只讀變數名稱與它進入 decision 的位置。這個控制點描述送出之間的步距；它不是直接指定 energy。先預測 gap 改變後 queue age、attempt timing、awake idle、service 和 J 的方向，再改一個合法值。正式 release 的行號與畫面尚未凍結，因此這裡明示 placeholder。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這個控制點把空檔送進 WAIT 或 SLEEP。選 WAIT 時，裝置保持清醒；選 SLEEP 時，可能降低 idle power，但要付 wake latency 和 wake energy。先把這個機制寫成 prediction；candidate 結果要同時看 state ledger、service 和 J，不接受只看一個功率欄位。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在執行前，請寫下四個觀察：queue age 會怎麼走、service 是否保持、哪個 state time 會改變、endpoint J 可能往哪裡走。這不是猜 KPI；它是一個可以被 result 推翻的判讀句。若之後只有 label 或動畫變化，沒有這四類 evidence 的 consequential diff，Lab A gate 就不算完成。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先不改 policy，執行 baseline。POSIX/WSL 使用 bash course.sh run --lab A --case baseline，Windows 使用 course.cmd run --lab A --case baseline。這一步建立 control，固定 scenario 和 seed，並輸出 stdout JSON；請複製 JSON 指出的 result_path，不要靠檔名猜 run。現在命令與 clean artifact 尚未完成 controller fresh rehearsal，畫面保留 placeholder。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現在才編輯 lab-a-pace-rest，只改 PACE_GAP_STEPS 或 REST_DURING_GAP 的合法內容。先說出你的 prediction，保存原始檔案，再執行 candidate freeze。freeze 會綁定 scenario、anchor、policy SHA、predecessor 與 seed；預期會有 candidate result、receipt 和 A checkpoint。若沒有 queue、packet、service、state 或 J 的 consequential diff，先記錄 gate 失敗，不再亂調參。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candidate result 和配對 replay 帶進 Leo，與 baseline 並排看。同一個 scenario、job、window 和 endpoint boundary 先打勾，再比較 queue、packet、state 和 J。若 service 不同，先說 service trade-off；不要用較低 J 直接宣布節能。現行 LoRa endpoint browser pixel 和 KPI 尚未凍結，這裡只放 evidence placeholder。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請沿著 ledger 從左到右讀，不要只抓總 J。先看 WAIT 是否變長，再看 SLEEP 是否帶來 WAKE；接著確認 PROCESS、TX、RX 的時間與 attempt。最後把差異連回 policy action。若 artifact 沒有 state 或 scope 欄位，判定 evidence 不完整，回到相符 result 或 fallback。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 是否真的支持工作，要看 delivered、expired、retry 與 deadline，而不是只看 SEND 次數。若 packet retry 增加，TX time 和 J 可能增加；若等待跨過 window，service 可能下降。請用一個完整句子判讀：哪個 action 改變哪個 packet outcome，這個 outcome 是否仍滿足 service。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freeze 不只是按鈕，它是 withheld case 的入場條件。請確認 candidate 的 policy SHA 與 baseline 不同，receipt 指向同一 scenario 和 anchor，checkpoint 名稱為 A frozen。若 receipt、checkpoint 或 predecessor 缺失，停止進入 hidden，回到 candidate 的最小修復。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A frozen policy，不再編輯，執行 hidden case；Windows 使用對應的 course.cmd。hidden 會用另一個成本或 service-window 條件測試原先的 pace/rest 假說。預期 policy SHA 不變，結果有自己的 queue、service、state 和 J。若方向相反，這是 counterexample；不要回頭改 policy 讓它變漂亮。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請每個人完成一句可反駁敘述：「我改了 A 的哪一個控制點，因此改變了哪個 state 或 packet 機制；result 顯示哪一項 evidence；在 hidden 條件下這個結論仍成立或被推翻。」這句話比背一個 J 更有價值，也把 predictor、runner 與 replay 綁回同一條 lineage。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B 把 changing opportunity 換成品質 trace。問題不是品質越高越好，而是裝置在噪聲或短暫尖峰中，何時進入 send-ready、何時退出、要穩定多久。這會影響切換、retry、service 和 endpoint J。先讀 trace，再讀 policy；不要先調 threshold。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 threshold 決定何時從等待轉進可送狀態。先指出 trace 中第一次真正越過 threshold 的位置，再預測 mode transition、attempt 和 service。這個欄位不是直接的 energy knob；它透過切換與後續 packet 行為產生結果。正式 line number 與 field mapping 尚未凍結，保留 placeholder。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enter 和 exit 共用一條線，品質在邊界抖動時，mode 可能來回切換；這就是 ping-pong。把 exit threshold 放在不同位置，是為了讓已進入的狀態有穩定帶。講師要讓大家先預測切換次數、WAIT、TX/RX 和 service，再看 trace evidence。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STABLE_STEPS 把「看起來變好」和「連續穩定」分開。未達計數時保持 hold，達到計數才切換。這可能減少 ping-pong，但也可能錯過短窗口；所以要把 transition、queue、service 與 energy 一起看。不要只用切換次數判定成功。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請在 Trace A 上標出你認為會 enter、會 hold、會 exit 的位置，並寫下可能的 service 與 endpoint J 方向。這不是把未來輸入偷塞進 policy，而是課前的可反駁假說。下一步 baseline 和 candidate 會在同一條 Trace A 上比較。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A frozen predecessor，先跑 B Trace A baseline。這一步固定 quality/contact trace，建立 enter/exit/hold 候選的 control。stdout 會回傳 run identity 與 result path；請保留配對 replay。命令名稱、實際 path 與 clean result 尚未完成排演，因此畫面不填現成數字。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只修改 B marked block 中的合法 threshold 或 stable steps，保留 A frozen predecessor。執行 Trace A candidate freeze，讓 receipt 綁定 B policy SHA、Trace A、scenario 與 predecessor。若改到其他 block、trace 或 engine，runner 應在執行前拒絕；若 evidence 只變了畫面標籤，記錄 consequential-fixture gate 未通過。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 candidate 時，先定位 enter、hold、exit，再看這些 transition 造成的 attempt、retry、queue 和 service。品質數值只是 observation context，不是 delivered service，也不是 energy。若 policy 反應更慢，要問它保住了什麼；若切換更多，要問它付出了什麼。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B 是 withheld，不是再調參的 playground。先檢查 B frozen receipt、checkpoint、policy SHA 和 predecessor；任何一項缺失就不要執行 withheld。freeze 的目的，是讓 Trace B 真正回答「同一 policy 在新 trace 是否仍有用」。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B frozen policy，執行 Trace B；Windows 使用對應的 course.cmd。此時不再改 threshold 或 stable steps。預期 result 沿用 B policy SHA，並提供 transition、queue、service、state 和 endpoint J。若 Trace B 露出 counterexample，這是泛化邊界，不是失敗到要隨機重調。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hold 太長，可能 too-slow，錯過 service window；如果 enter/exit 太近，可能 ping-pong，付出額外切換與 retry。請把 trace 上的事件和 endpoint ledger 對起來，最後說明是哪個 trade-off 被觀察到。不要把畫面上較平滑的線直接當成較省能量。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請用「在 Trace A…；在 Trace B…」兩句話回答。hysteresis 可能減少 ping-pong，但也可能讓切換太慢；它是一個在特定 trace、job 和 service boundary 下的條件式結論。把 B receipt、policy SHA、Trace B result 和 counterexample 一起保留，讓別人能重查。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在進入 C 前，保存目前的 policy、receipt、checkpoint、result/replay pair 和 prediction。若中斷，先用 status 找可用 checkpoint，再 restore 所需 role；不要覆寫既有 artifact。這一步的價值是保持 lineage，不是補出一個看似完整的數字。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把問題拉到 IoT traffic：多個資料等待時，要不要累積成 batch？快到 deadline 時，要不要 urgent send？批次可能減少 activation，卻增加 queue age；urgent 可能保住 delivery，卻付出較高 state cost。先看 queue 與 window，再改 policy。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queue age 告訴我們等了多久；deadline 告訴我們何時失效；freshness 告訴我們資料還有沒有用。batch 讓 queue 變長，不代表一定過期；urgent 讓 action 提前，也不代表一定 delivered。請把這三個欄位分開讀，最後才把它們與 endpoint J 對照。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BATCH_SIZE 影響何時把累積的資料送出。較大的 batch 可能減少醒來與 TX 次數，但 queue age、freshness 和 deadline 風險上升；較小的 batch 可能更即時，卻增加 activation。預測時要同時寫 activation、delivered、expired、state time 和 J。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urgent margin 是 action decision 的門檻：當距離 deadline 的剩餘空間太小，policy 可以選擇 SEND_URGENT。這個判斷使用現在可見的時間與資料，不應讀 future delivered 或 future energy。預期是 urgent action 改變 packet timing 與 service；endpoint J 的方向仍要由 result 驗證。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請先寫一個 trade-off，而不是預測單向節省。例如「較大的 batch 可能降低 activation，但若 queue age 穿過 deadline，delivered bits 會下降」。這種句子能被 candidate、revision 和 surprise 逐步驗證。若預測不成立，保留完整 packet ledger。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B frozen predecessor，先跑 C baseline；不要加 --freeze。這個 control 固定 traffic、deadline 和 contact window，讓後面的 batching/urgent 改動有比較基準。請保存 result path 和配對 replay；如果 predecessor 不符，先 restore B checkpoint，不要把 C 直接跑下去。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現在只改 C marked block，選擇 BATCH_SIZE 或 URGENT_MARGIN_S 的一個方向，保存 prediction 後執行 candidate；不要加 freeze。candidate 的 purpose 是讓我們先看到第一個結果，決定是否需要一次有理由的 revision。若沒有 queue、state、service 或 J 的 consequential change，先記錄 gate failure。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先從 packet ledger 讀發生了什麼，再回到 policy。candidate 是讓 queue 多等了一輪，還是把 urgent 資料提前送出？是否增加 retry 或 expired？請把每個差異連回 action 時機，避免用總數字遮掉 service loss。現在的 endpoint artifact path 和 KPI 仍是 placeholder。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沿著 state 帶讀：batch 是否減少 activation？urgent 是否增加 awake/TX？有沒有 wake latency？把這些時間帶放進 E_endpoint 的累積關係，再回頭檢查 delivered bits 與 deadline。若 service 不同，先報 trade-off，不以 J 單項排名。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revision 不是試到好看為止。從 candidate ledger 指出一個具體問題，例如 queue age 太長或 urgent margin 太晚；只在 C marked block 做一次有理由的修改，更新 prediction。若需要第二次 revision，Lab C gate 仍未完成，保留這個結論，不能把後續 surprise 當成有效比較。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執行 revision freeze，讓 receipt 綁定 C candidate predecessor、scenario、policy SHA 和目前的 C block。預期會有 revision result、freeze receipt、C frozen JSON 與 policy checkpoint。完成後 policy 不再編輯；任何 identity、schema 或 policy mismatch 都回到上一頁的最小修復。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C revision frozen policy，執行 surprise；不要再改 BATCH_SIZE 或 URGENT_MARGIN_S。surprise 會把同一 policy 放進突發 traffic 或較短 opportunity，觀察 queue、service、state 與 endpoint J。結果可以支持或推翻 revision 的假說；無論方向如何，都保留 receipt 與 replay。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最後請用三個 ledger 完成判讀：packet 是否交付、service 是否保住、endpoint J 如何累積。candidate 的問題、revision 的理由、surprise 的反例要分開記錄。不要把較低 J、較高 delivered bits 或較少 activation 任一項單獨升格成普遍節能結論。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 runner 成功，stdout 會告訴我們真正的 result_path。請把 result 和同目錄的 endpoint replay 一起保存，並記下 case、policy SHA、scenario identity 和 prediction。不要靠 timestamp 或檔名猜 run，也不要手改 JSON。這兩個檔案是後面 Leo import 能否建立完整 evidence chain 的起點。 若操作受阻，若 result 或 replay 缺一個，保留 stdout 和錯誤，回到 exact case 的 matching fallback；不要拼接不同 run。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打開 Leo /course 的 runner panel。若外部 runner 已看到 READY，選記錄 READY；若 setup 無法完成，選有標籤的 same-scenario fallback。這個按鈕只記錄 setup mode，不會自動匯入 result，也不會在 Leo 執行 Python。當前 panel 操作與 pixel 尚未由 Windows/WSL clean rehearsal 完成，畫面只放 placeholder。 若操作受阻，若 setup mode 與 artifact source 不一致，停止 import，先改回相符的 READY 或 fallback provenance。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import control 選擇 exact case 的 result.json；fresh run 用 stdout 指出的 artifact，fallback 用 manifest 指定的 matching path。Leo 只接收 JSON，不執行 student_policy.py。匯入前核對配對 endpoint replay，讓 workbook 能保存 run ID、policy SHA、predecessor 與 replay identity。LoRa endpoint import pixel 尚未凍結，不能放假的成功畫面。 若操作受阻，若匯入被拒絕，保留 importer error，核對 result/replay pair 與 case，再選相同 scenario 的 fallback；不要改上傳檔案內容。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importer 先檢查 JSON shape，再檢查 scenario、anchor、case、seed、policy、units、runner provenance 和 energy scope；全部通過後才 materialize endpoint replay。這裡採用 donor 的 evidence qualification 概念，但已改寫成當前 result/replay contract。任何一層失敗都要保持 session 不變，不能留下半筆 ledger。 若操作受阻，任一 gate 失敗就回到命名的 artifact 或 same-scenario fallback；不以空陣列、零值或手改 hash 假裝通過。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成功後，Leo 只 materialize 已驗證的 endpoint replay。請沿時間線先看 queue，再看 packet attempt/delivery，再看 radio state，最後看 contact context 與 endpoint energy。這是把 machine-readable result 變成可以講解的 evidence；它不是 browser-side 科學 producer，也不是重新計算另一套公式。 若操作受阻，若 replay marker 與 result identity 不相符，回到 importer gate，保留 session 不變；不要手動畫事件。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這張畫面只能說明 server preview 的 import/replay path 曾被驗證；不能推導 Windows native、WSL fresh run 或 endpoint KPI 已完成。講解時指出 screenshot 的來源、artifact source 和 claim ceiling。畫面若沒有 current evidence，就只放明示 placeholder，不重畫一張看似真的 browser。 若操作受阻，若瀏覽器 evidence 來源或 scenario 不明，移除畫面，改走 matching fallback 的 artifact packet；保留未驗證標籤。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成功後匯出 workbook。保存的不只是最後一個 J，而是 scenario identity、prediction、run/import/freeze records、replay IDs、artifact source、claim 與 recovery provenance。講師示範按 export，讓檔案落在可辨識的位置；不把 export 當成重新計算，也不把檔案存在視為 COMPLETE。 若操作受阻，若 export 失敗，先保留已匯入 artifact 與 stdout，使用 backup；缺少欄位就標記 INCOMPLETE，不手改 status。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關閉 /course 後，用「匯入並重新開啟學習單」選擇保存檔。請核對 scenario_id、已匯入 run/replay、endpoint replay identity、completed evidence 和 source mode 都回來。reopen 只恢復已驗證資料，不會重跑 policy，也不會補造結果。這是交接與中斷復原的 proof。 若操作受阻，若 identity 不符或 evidence 缺失，保留 INCOMPLETE，回到同一 scenario 重新匯入；不要把舊 workbook 改名成新場景。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示範一個 scenario、unit、schema 或 policy provenance 不一致的 artifact。正確行為是拒絕，且 session/workbook 不留下半筆資料。這個失敗是安全邊界，也是教學邊界：不能為了讓畫面出現而降低驗證。講師要讓大家說出 rejected 的原因，再回到 matching artifact。 若操作受阻，保存錯誤訊息，核對 manifest、scenario、case 與配對 replay；仍不符就選 same-scenario fallback，絕不修改 gate。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fallback 不是一張相似預設畫面。先保留 fallback_artifacts/manifest.json，再依 exact label 選 A baseline、A candidate、A hidden、B Trace A/B、C baseline/candidate/revision/surprise 的 matching result 與 replay。Leo 要顯示 source mode 是 fallback；這表示課程可繼續，但不證明本機 policy 曾執行。 若操作受阻，若 manifest、case label 或 scenario identity 不配對，停止使用，回到 owner 指定 release 或重新解壓同一 archive。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若 policy guard 報 UTF-8/LF、marker、AST、名稱或 action 錯誤，先執行 course.sh status 找可用 checkpoint；再用對應的 restore --checkpoint lab-a-frozen、lab-b-frozen、lab-c-candidate 或 lab-c-frozen。Windows 使用 course.cmd 等價命令。restore 只回復 active policy bytes，應保留 artifacts。修好後重新驗證，不要重做整個結果集。 若操作受阻，checkpoint 不存在或 identity 不符，就回到 release-default 或 matching fallback；不可從不同 Lab 拼 policy。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現在把整條 recovery 念一次：保留命令輸出與錯誤；核對 scenario、policy、case、unit 和 replay identity；能 restore 就恢復正確 checkpoint，不能就選 matching same-scenario fallback；重新 import，最後 reopen workbook。任何一步都不補造 KPI。這條路讓課程在環境或瀏覽器受阻時，仍保留同一條因果鏈。 若操作受阻，若 recovery provenance 無法說清楚，將本次 session 標成 INCOMPLETE，停止向下宣稱完成。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policy 能看到的 observation 放在左邊，把 run 後才出現的 delivered、retry、endpoint J 和 outcome 放在右邊。policy 只能用左邊資訊做 action；右邊只能作為事後 evidence。這個分層能避免 future leakage，也讓 result 的因果解釋可信。 若操作受阻，若某欄位的取得時點不明，暫停使用，標成 PLACEHOLDER，回到 API contract；不要猜它是合法 observation。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policy 偷看 future delivery 或 future energy，結果看似更好，卻沒有真實決策意義。請把每個 observation 對回 runner API：它在 action 當下是否已存在？若不是，就從 policy 移除，並在 prediction 中說明限制。evidence clinic 的目的不是追求最高分，而是守住可反駁的控制面。 若操作受阻，發現 leakage 時，恢復 release policy 或 checkpoint，重新做 prediction；保留原結果但標成 invalid experiment。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這頁採用 donor 的 evidence record 概念，但把內容重寫成目前課程的 artifact lineage。每筆結論至少要能回到 source mode、scenario、policy SHA、run/replay、energy scope、service boundary 和 claim class。只寫一句「比較省」不足以交接；要說哪個機制造成哪個 evidence，以及範圍到哪裡。 若操作受阻，若 record 缺 identity、scope 或 source mode，維持 INCOMPLETE；不以畫面或預期值補上缺欄位。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需要實體或儀器證據；derived 需要 frozen inputs、model 和 lineage；assumed 是課程設定；simulated 是 fixture、runner 或 endpoint replay output。分類不是品質排行榜，而是宣稱範圍。現在這份課程的 endpoint result 屬於 simulated teaching data，不能升格成 measured KPI。 若操作受阻，分類不清時保留 placeholder，回查 artifact provenance；不要因為欄位精細或畫面漂亮就升格 claim。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再次把最容易混淆的兩層放在一起。endpoint layer 能回答 endpoint state、packet、queue、service 和 endpoint J；system layer 保留既有 C-120 authoritative replay。它們共享 anchor、clock 和 workbook，但沒有自動 mapping。講師在讀每個欄位前，先說「這是哪一層」。 若操作受阻，若欄位來源或 boundary 不明，停止做 bit/J 或 system 比較，回到 schema 與 authority map。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請把 LEO 名稱拿掉，只留下 mechanism：sensor 有資料，連線機會會變，policy 要在 freshness、service 與 energy 間選擇。農場可以使用 batch、sleep 或 urgent，但要重新定義 traffic、deadline、power model 與 service boundary。不能把 LEO 的 contact window 或數字直接搬過去。 若操作受阻，若 transfer 只換了場景名、沒有重定義 service 或 energy scope，回到 endpoint model，標成未完成假說。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HVAC 的 opportunity 可能是低負載時段，edge inference 可能是可用算力窗口，物流可能是車輛或網路連線窗口。三者都能使用「何時工作、何時等待、何時批次」的機制；但每個 domain 的 deadline、delivered work 和 power boundary 都要重新定義。LEO 只示範 changing opportunity，不是 transfer 的必要條件。 若操作受阻，若 domain claim 需要 LEO 數字或未提供的 measured power，刪除該 claim，保留 mechanism placeholder。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請把假說寫成 policy、mechanism、evidence 和 held-out condition 的句子。例如在固定 job、window 和 endpoint boundary 下，若調整 batch 或 urgency，則 queue/service/state J 會以某個方向改變，因為 action timing 改了；在 surprise case 出現相反結果時，假說就被推翻。不要填入尚未產生的數字。 若操作受阻，若假說只有「更省」而沒有 mechanism 或 falsifier，回到第 68 頁的 trade-off card 重寫。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這一頁是可選 vocabulary，不是要求大家推導軌道。TLE 是 source；模型把它轉成 position/contact context；課程再把 context 接到 scenario。真正重要的是 provenance 與固定 identity，不是背一個衛星名。這是從 BeamShift appendix 改寫的來源概念，沒有搬入 legacy satellite-first opening。 若操作受阻，若 source、epoch 或 scenario anchor 未凍結，停止引用 contact 畫面，標成 PLACEHOLDER；不要自行抓最新 TLE。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只需要知道模型把時間輸入轉成位置與可服務窗口的 context；不必在課堂推導 SGP4。當 window open 時，policy 有一組 action opportunity；window closed 時，等待可能造成 service trade-off。這些是 course scenario 的 simulated inputs，不是當下衛星遙測。 若操作受阻，若有人把 contact 圖說成 live pass，回到 claim shield，改用 simulated / source-verified 的準確語句。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trace 只是 policy 的 observation context；它不等於 delivered service、endpoint energy 或 bit/J。若需要讀 dB，只要理解對數尺度與線性量的差異，不要把 donor 的 link-budget 或 RF producer 搬進課堂。當 quality field 或 unit 未凍結，就只講概念並保留 placeholder。 若操作受阻，unit、field mapping 或 boundary 不清時，停在 observation 層，不做跨欄位的數值比較。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依序念五個 token：W 是功率速率，J 是累積能量，bit/s 是資料率，delivered bits 是真正交付量，bit/J 是在清楚 boundary 下的服務效率。donor 的 throughput/power/energy 概念已在此去重；任何數字都要回到 result scope。沒有 delivered 或 energy scope，就不要宣稱 bit/J。 若操作受阻，若 unit 混用，停止比較，回查 schema、公式與 endpoint/system boundary；不自行換算補值。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可能是 pinned upstream reference；model 產生 trace；course assumption 決定 traffic、state 或 energy scope；policy action 產生 result。請讓每一個 claim 都能沿著 policy hash、scenario、seed 與 replay ID 往回查。若某個數字沒有 lineage，就把它留在 placeholder。 若操作受阻，provenance 斷裂時，回到最近一個有 identity 的 artifact，保留斷點，不重建看似完整的鏈。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這張卡是 policy 操作邊界，不是完整 Python 教科書。請讀 allowed observation、合法 action 和 marked block；不要改 engine、schema、scientific formula 或 generated output。實際 API version、line number 和 released field mapping 尚未 freeze，因此畫面只保留 placeholder。每個 action 都要能在 event/replay 中留下 evidence，否則不算 consequential。 若操作受阻，API 與檔案版本不符時，恢復 release policy 或 checkpoint，不能自行發明 action 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 定義固定問題；result 記錄 runner outcome；freeze receipt 綁定 policy lineage；endpoint replay 定義 Leo 能重現的事件；workbook 保存整條學習證據。這些 schema 是互相連接的 contract，不是讓課堂自行改欄位的練習。實際 schema instance、hash 與 current artifact 未完全 freeze，維持 placeholder。 若操作受阻，schema validation 失敗時，保留 error 與 input，不手改欄位，改選 matching release artifact。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 closed 的重點是「不通過就不寫入」。先檢查 shape，再核對 identity、units、policy/seed 和 provenance；任何一關失敗，Leo session/workbook 都保持原狀。這種行為同時保護 evidence 邊界與使用者對結果的信任。 若操作受阻，回讀錯誤所指出的 gate，重選 exact artifact 或 fallback；不要關掉 validation 或刪除欄位。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課程 wrapper 以 documented JSON 與 pinned reference 溝通；Leo 不 import 或 link upstream Python modules，也不在 server 執行上傳的 policy。這個邊界既是技術設計，也是 license 與安全設計。今天只使用課程提供的 package 與 contract，不要求大家讀完整 upstream repository。 若操作受阻，任何人若要把 upstream、Leo source 或 generated artifact 改成課堂操作，停止並交回 owner review；課堂只保留 bounded policy edit。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最後把容易混淆的詞再讀一次：queue 是等待中的工作，packet 是傳輸單位，service 是符合課程 boundary 的交付，state time 是狀態停留，endpoint J 是 endpoint scope 的累積能量。所有 runner/replay output 目前都在 simulated teaching claim ceiling 內。詞彙清楚，才不會把同名欄位互相冒充。 若操作受阻，若有人以 live、measured、whole-system 或 canonical parity 描述課程 result，回到 claim shield，改用 evidence status 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如果班級進度較快，不增加任意 slider；使用同一個 frozen policy 和新的 fair condition。先預測 window、quality、queue 或 urgency 改變時的 service/state/J，再執行對應 withheld case。這個分支的價值是檢查結論是否依賴某一條 trace，不是追求更低的數字。 若操作受阻，若沒有 frozen receipt 或新的 condition 未標 identity，就回到主路徑，使用已保存的 result/replay，不另造 case。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下課前請確認 workbook 能保存並 reopen，prediction、result、replay、freeze、fallback 與 claim provenance 都在；再用一句話說出 hypothesis 和會推翻它的 condition。缺少 runner、browser 或 endpoint evidence 就保留 INCOMPLETE，這是正確的 evidence 狀態，不是要用數字補滿。最後再說一次：LoRaEnergySim 支援智慧節能與 IoT 的 endpoint 因果教學；LEO 只是 changing service window 的例子。 若操作受阻，若無法完成 export/reopen，保留已產生的 artifact 與錯誤，使用 backup 或 same-scenario fallback；不得宣稱 classroom-ready、live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anchor"/>
          <p:cNvSpPr txBox="1"/>
          <p:nvPr/>
        </p:nvSpPr>
        <p:spPr>
          <a:xfrm>
            <a:off x="786384" y="1005840"/>
            <a:ext cx="6766560" cy="1234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每一次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SEND、WAIT、SLEEP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都是能源決策</a:t>
            </a:r>
          </a:p>
        </p:txBody>
      </p:sp>
      <p:sp>
        <p:nvSpPr>
          <p:cNvPr id="3" name="Cover subtitle"/>
          <p:cNvSpPr txBox="1"/>
          <p:nvPr/>
        </p:nvSpPr>
        <p:spPr>
          <a:xfrm>
            <a:off x="868680" y="2377440"/>
            <a:ext cx="612648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C-120｜LoRaEnergySim ×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智慧節能與物聯網應用</a:t>
            </a:r>
          </a:p>
        </p:txBody>
      </p:sp>
      <p:sp>
        <p:nvSpPr>
          <p:cNvPr id="4" name="Cover causal chain"/>
          <p:cNvSpPr txBox="1"/>
          <p:nvPr/>
        </p:nvSpPr>
        <p:spPr>
          <a:xfrm>
            <a:off x="896112" y="3072384"/>
            <a:ext cx="5806440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→ state time → packet / service → endpoint energy</a:t>
            </a:r>
          </a:p>
        </p:txBody>
      </p:sp>
      <p:sp>
        <p:nvSpPr>
          <p:cNvPr id="5" name="Cover stage 1"/>
          <p:cNvSpPr/>
          <p:nvPr/>
        </p:nvSpPr>
        <p:spPr>
          <a:xfrm>
            <a:off x="896112" y="4224528"/>
            <a:ext cx="1207008" cy="6217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ver stage label 1"/>
          <p:cNvSpPr txBox="1"/>
          <p:nvPr/>
        </p:nvSpPr>
        <p:spPr>
          <a:xfrm>
            <a:off x="950976" y="437997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觀察</a:t>
            </a:r>
          </a:p>
        </p:txBody>
      </p:sp>
      <p:cxnSp>
        <p:nvCxnSpPr>
          <p:cNvPr id="7" name="Cover causal arrow"/>
          <p:cNvCxnSpPr/>
          <p:nvPr/>
        </p:nvCxnSpPr>
        <p:spPr>
          <a:xfrm>
            <a:off x="2103120" y="4535424"/>
            <a:ext cx="27432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ver stage 2"/>
          <p:cNvSpPr/>
          <p:nvPr/>
        </p:nvSpPr>
        <p:spPr>
          <a:xfrm>
            <a:off x="2395728" y="4224528"/>
            <a:ext cx="1207008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 stage label 2"/>
          <p:cNvSpPr txBox="1"/>
          <p:nvPr/>
        </p:nvSpPr>
        <p:spPr>
          <a:xfrm>
            <a:off x="2450592" y="437997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決策</a:t>
            </a:r>
          </a:p>
        </p:txBody>
      </p:sp>
      <p:cxnSp>
        <p:nvCxnSpPr>
          <p:cNvPr id="10" name="Cover causal arrow"/>
          <p:cNvCxnSpPr/>
          <p:nvPr/>
        </p:nvCxnSpPr>
        <p:spPr>
          <a:xfrm>
            <a:off x="3602736" y="4535424"/>
            <a:ext cx="27432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ver stage 3"/>
          <p:cNvSpPr/>
          <p:nvPr/>
        </p:nvSpPr>
        <p:spPr>
          <a:xfrm>
            <a:off x="3895344" y="4224528"/>
            <a:ext cx="1207008" cy="6217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ver stage label 3"/>
          <p:cNvSpPr txBox="1"/>
          <p:nvPr/>
        </p:nvSpPr>
        <p:spPr>
          <a:xfrm>
            <a:off x="3950207" y="437997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cxnSp>
        <p:nvCxnSpPr>
          <p:cNvPr id="13" name="Cover causal arrow"/>
          <p:cNvCxnSpPr/>
          <p:nvPr/>
        </p:nvCxnSpPr>
        <p:spPr>
          <a:xfrm>
            <a:off x="5102352" y="4535424"/>
            <a:ext cx="27432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ver stage 4"/>
          <p:cNvSpPr/>
          <p:nvPr/>
        </p:nvSpPr>
        <p:spPr>
          <a:xfrm>
            <a:off x="5394960" y="4224528"/>
            <a:ext cx="1207008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ver stage label 4"/>
          <p:cNvSpPr txBox="1"/>
          <p:nvPr/>
        </p:nvSpPr>
        <p:spPr>
          <a:xfrm>
            <a:off x="5449824" y="437997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J</a:t>
            </a:r>
          </a:p>
        </p:txBody>
      </p:sp>
      <p:sp>
        <p:nvSpPr>
          <p:cNvPr id="16" name="Claim boundary"/>
          <p:cNvSpPr txBox="1"/>
          <p:nvPr/>
        </p:nvSpPr>
        <p:spPr>
          <a:xfrm>
            <a:off x="896112" y="5138928"/>
            <a:ext cx="65836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SIMULATED TEACHING DATA｜NOT LIVE｜NOT MEASURED｜NOT CANONICAL-PARITY-VERIFIED</a:t>
            </a:r>
          </a:p>
        </p:txBody>
      </p:sp>
    </p:spTree>
    <p:extLst>
      <p:ext uri="{BB962C8B-B14F-4D97-AF65-F5344CB8AC3E}">
        <p14:creationId xmlns:p14="http://schemas.microsoft.com/office/powerpoint/2010/main"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anchor">
            <a:extLst>
              <a:ext uri="{FF2B5EF4-FFF2-40B4-BE49-F238E27FC236}">
                <a16:creationId xmlns:a16="http://schemas.microsoft.com/office/drawing/2014/main"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Songsong</a:t>
            </a:r>
            <a:r>
              <a:rPr lang="en-US" altLang="zh-TW" b="1" i="0" u="none" strike="noStrike" baseline="0" dirty="0">
                <a:latin typeface="Times-Roman"/>
              </a:rPr>
              <a:t> Cai</a:t>
            </a:r>
            <a:r>
              <a:rPr lang="zh-TW" altLang="en-US" b="1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et al. “Energy-Efficiency-Based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System,” 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9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observation → policy → action → state / packet → service → J</a:t>
            </a:r>
          </a:p>
        </p:txBody>
      </p:sp>
      <p:cxnSp>
        <p:nvCxnSpPr>
          <p:cNvPr id="10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sp>
        <p:nvSpPr>
          <p:cNvPr id="12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4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5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7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的邊界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避免把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outcome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偷渡進決策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  <p:extLst>
      <p:ext uri="{BB962C8B-B14F-4D97-AF65-F5344CB8AC3E}">
        <p14:creationId xmlns:p14="http://schemas.microsoft.com/office/powerpoint/2010/main" val="166981622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為什麼直接服務智慧節能與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IoT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Causal stage 1"/>
          <p:cNvSpPr/>
          <p:nvPr/>
        </p:nvSpPr>
        <p:spPr>
          <a:xfrm>
            <a:off x="749808" y="1600200"/>
            <a:ext cx="2395728" cy="10789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usal stage text 1"/>
          <p:cNvSpPr txBox="1"/>
          <p:nvPr/>
        </p:nvSpPr>
        <p:spPr>
          <a:xfrm>
            <a:off x="859536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低功耗節點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封包與重試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睡眠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處理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／TX／RX、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可觀察結果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Causal explanation band"/>
          <p:cNvSpPr/>
          <p:nvPr/>
        </p:nvSpPr>
        <p:spPr>
          <a:xfrm>
            <a:off x="822960" y="3127248"/>
            <a:ext cx="10469880" cy="135331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usal explanation"/>
          <p:cNvSpPr txBox="1"/>
          <p:nvPr/>
        </p:nvSpPr>
        <p:spPr>
          <a:xfrm>
            <a:off x="1042415" y="3346704"/>
            <a:ext cx="100126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看圖判讀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：IoT endpoint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state／packet／energy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三層卡片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：VERIFIED</a:t>
            </a:r>
          </a:p>
        </p:txBody>
      </p:sp>
      <p:sp>
        <p:nvSpPr>
          <p:cNvPr id="11" name="Causal takeaway"/>
          <p:cNvSpPr txBox="1"/>
          <p:nvPr/>
        </p:nvSpPr>
        <p:spPr>
          <a:xfrm>
            <a:off x="932688" y="4791456"/>
            <a:ext cx="1014984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講師判讀句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是否真的改變中間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再把差異連到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endpoint J。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只提供會改變的服務窗口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機會出現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→ policy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→ service / energy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取捨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= example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只改目前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lab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marked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區域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bytes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是唯一受控變因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bytes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timing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choice，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差異必須沿著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queue、packet、service、state time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追到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：candidate result、policy SHA、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若只變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label，gate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不成立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Evidence：VERIFIED; DONOR-REWRITE：BeamShift donor slides 2, 4–6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兩層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不能互相冒充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endpoint layer：queue / packet / state / endpoint J；system layer：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既有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C-120 authority。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先寫預測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再執行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；withheld case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不准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：hidden／Trace B／surprise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使用相同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的另一條條件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且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必須保持不變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另一條條件的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replay；policy SHA unchanged，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並同時列出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service、state、endpoint J。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在不再調參的條件下測試假說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讓結果可以推翻先前的預測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一個小改動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必須能追到一個機制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student_policy.py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marked block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卡片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hash → result → replay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bytes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timing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choice，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差異必須沿著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queue、packet、service、state time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追到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：candidate result、policy SHA、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若只變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label，gate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不成立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why → setup → endpoint model → anchor → A → B → recovery → C → evidence → transfer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先停在明確的失敗邊界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保留錯誤與身份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再回到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checkpoint。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fail-closed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要求修正被點名的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或切到同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不自行補值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拒絕原因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session、matching fallback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或修正後的新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不產生部分結果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開場檢查點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邊界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套件根目錄是一條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9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setup.sh / setup.cmd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course.sh / course.cmd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cxnSp>
        <p:nvCxnSpPr>
          <p:cNvPr id="10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2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4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Evidence：VERIFIED（server ZIP inventory：single root、65 files）</a:t>
            </a:r>
          </a:p>
        </p:txBody>
      </p:sp>
      <p:sp>
        <p:nvSpPr>
          <p:cNvPr id="15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7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下載指定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archive，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先核對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identity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ZIP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SHA-256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檔案的相鄰卡片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http://120.126.151.102:4192/c120-lora-energy-lab-v1.zip.sha256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Evidence：VERIFIED（server bytes、checksum、listener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controller public GET）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：URL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無法下載時先保留錯誤並確認教室網路能連到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120.126.151.102:4192；checksum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不符或必要檔案缺失時停止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重新取得同一個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owner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指定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archive，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不從其他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branch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拼檔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原生先確認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shell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launcher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 -3.11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沒有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時的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安裝路徑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7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3.11.x / Windows installer (64-bit)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Python Launcher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重新開啟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 → py --list</a:t>
            </a:r>
          </a:p>
        </p:txBody>
      </p:sp>
      <p:sp>
        <p:nvSpPr>
          <p:cNvPr id="10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2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先停在明確的失敗邊界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保留錯誤與身份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checkpoint。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fail-closed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要求修正被點名的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或切到同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不自行補值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5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拒絕原因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session、matching fallback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或修正後的新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不產生部分結果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VERIFIED（official Windows download path；clean install pending）</a:t>
            </a:r>
          </a:p>
        </p:txBody>
      </p:sp>
      <p:sp>
        <p:nvSpPr>
          <p:cNvPr id="16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8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recovery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工具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：fail-closed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要求修正被點名的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或切到同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不自行補值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拒絕原因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session、matching fallback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或修正後的新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不產生部分結果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先停在明確的失敗邊界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保留錯誤與身份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checkpoint。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system Python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.venv\Scripts\python.exe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的隔離圖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system Python ≠ course .venv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不要共享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WSL .venv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執行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setup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verify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先確認它真的是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Ubuntu shell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PowerShell (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系統管理員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)：wsl --install -d Ubuntu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不要混用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.venv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安裝工具與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uv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sudo apt update；sudo apt install -y curl unzip；curl -LsSf https://astral.sh/uv/install.sh | sh。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解壓與建立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/mnt/c/... → ~/c120-course/ → package root。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setup.sh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.venv/bin/python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 runner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的最小入口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7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9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0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2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3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5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6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8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是下一步的入場券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setup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失敗不等於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energy result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以唯讀方式開啟固定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JSON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Policy source frame"/>
          <p:cNvSpPr/>
          <p:nvPr/>
        </p:nvSpPr>
        <p:spPr>
          <a:xfrm>
            <a:off x="777240" y="1353312"/>
            <a:ext cx="553212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licy frame heading"/>
          <p:cNvSpPr txBox="1"/>
          <p:nvPr/>
        </p:nvSpPr>
        <p:spPr>
          <a:xfrm>
            <a:off x="1005840" y="1591056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目前可編輯的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bounded surface</a:t>
            </a:r>
          </a:p>
        </p:txBody>
      </p:sp>
      <p:sp>
        <p:nvSpPr>
          <p:cNvPr id="9" name="Policy code"/>
          <p:cNvSpPr txBox="1"/>
          <p:nvPr/>
        </p:nvSpPr>
        <p:spPr>
          <a:xfrm>
            <a:off x="1024128" y="1993392"/>
            <a:ext cx="5010912" cy="1325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/ schemas / runner / generated JSON = read-only</a:t>
            </a:r>
          </a:p>
        </p:txBody>
      </p:sp>
      <p:sp>
        <p:nvSpPr>
          <p:cNvPr id="10" name="Policy rule"/>
          <p:cNvSpPr txBox="1"/>
          <p:nvPr/>
        </p:nvSpPr>
        <p:spPr>
          <a:xfrm>
            <a:off x="1024128" y="3611880"/>
            <a:ext cx="501091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→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選合法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delivered、future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generated result。</a:t>
            </a:r>
          </a:p>
        </p:txBody>
      </p:sp>
      <p:sp>
        <p:nvSpPr>
          <p:cNvPr id="11" name="Policy input"/>
          <p:cNvSpPr/>
          <p:nvPr/>
        </p:nvSpPr>
        <p:spPr>
          <a:xfrm>
            <a:off x="6601968" y="1353312"/>
            <a:ext cx="4754880" cy="11887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licy input heading"/>
          <p:cNvSpPr txBox="1"/>
          <p:nvPr/>
        </p:nvSpPr>
        <p:spPr>
          <a:xfrm>
            <a:off x="6858000" y="1581912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輸入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決策當下可見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3" name="Policy input body"/>
          <p:cNvSpPr txBox="1"/>
          <p:nvPr/>
        </p:nvSpPr>
        <p:spPr>
          <a:xfrm>
            <a:off x="6876288" y="199339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/ queue / remaining window / age</a:t>
            </a:r>
          </a:p>
        </p:txBody>
      </p:sp>
      <p:sp>
        <p:nvSpPr>
          <p:cNvPr id="14" name="Policy mechanism"/>
          <p:cNvSpPr/>
          <p:nvPr/>
        </p:nvSpPr>
        <p:spPr>
          <a:xfrm>
            <a:off x="6601968" y="2834640"/>
            <a:ext cx="4754880" cy="11887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licy mechanism heading"/>
          <p:cNvSpPr txBox="1"/>
          <p:nvPr/>
        </p:nvSpPr>
        <p:spPr>
          <a:xfrm>
            <a:off x="6858000" y="3063240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（action 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會改變什麼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6" name="Policy mechanism body"/>
          <p:cNvSpPr txBox="1"/>
          <p:nvPr/>
        </p:nvSpPr>
        <p:spPr>
          <a:xfrm>
            <a:off x="6876288" y="347472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student_policy.py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與四個鎖頭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7" name="Policy test"/>
          <p:cNvSpPr/>
          <p:nvPr/>
        </p:nvSpPr>
        <p:spPr>
          <a:xfrm>
            <a:off x="6601968" y="4315968"/>
            <a:ext cx="4754880" cy="124358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licy test heading"/>
          <p:cNvSpPr txBox="1"/>
          <p:nvPr/>
        </p:nvSpPr>
        <p:spPr>
          <a:xfrm>
            <a:off x="6858000" y="4544568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結果要能反駁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9" name="Policy test body"/>
          <p:cNvSpPr txBox="1"/>
          <p:nvPr/>
        </p:nvSpPr>
        <p:spPr>
          <a:xfrm>
            <a:off x="6876288" y="4937760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→ packet → service → state time → J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API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的輸入是現在能觀察到的事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Policy source frame"/>
          <p:cNvSpPr/>
          <p:nvPr/>
        </p:nvSpPr>
        <p:spPr>
          <a:xfrm>
            <a:off x="777240" y="1353312"/>
            <a:ext cx="553212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 frame heading"/>
          <p:cNvSpPr txBox="1"/>
          <p:nvPr/>
        </p:nvSpPr>
        <p:spPr>
          <a:xfrm>
            <a:off x="1005840" y="1591056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目前可編輯的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bounded surface</a:t>
            </a:r>
          </a:p>
        </p:txBody>
      </p:sp>
      <p:sp>
        <p:nvSpPr>
          <p:cNvPr id="7" name="Policy code"/>
          <p:cNvSpPr txBox="1"/>
          <p:nvPr/>
        </p:nvSpPr>
        <p:spPr>
          <a:xfrm>
            <a:off x="1024128" y="1993392"/>
            <a:ext cx="5010912" cy="1325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observation；choose_action(...)；WAIT / SLEEP / SEND_ONE / SEND_URGENT / FLUSH_BATCH。</a:t>
            </a:r>
          </a:p>
        </p:txBody>
      </p:sp>
      <p:sp>
        <p:nvSpPr>
          <p:cNvPr id="8" name="Policy rule"/>
          <p:cNvSpPr txBox="1"/>
          <p:nvPr/>
        </p:nvSpPr>
        <p:spPr>
          <a:xfrm>
            <a:off x="1024128" y="3611880"/>
            <a:ext cx="501091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→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選合法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delivered、future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generated result。</a:t>
            </a:r>
          </a:p>
        </p:txBody>
      </p:sp>
      <p:sp>
        <p:nvSpPr>
          <p:cNvPr id="9" name="Policy input"/>
          <p:cNvSpPr/>
          <p:nvPr/>
        </p:nvSpPr>
        <p:spPr>
          <a:xfrm>
            <a:off x="6601968" y="1353312"/>
            <a:ext cx="4754880" cy="11887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licy input heading"/>
          <p:cNvSpPr txBox="1"/>
          <p:nvPr/>
        </p:nvSpPr>
        <p:spPr>
          <a:xfrm>
            <a:off x="6858000" y="1581912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輸入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決策當下可見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1" name="Policy input body"/>
          <p:cNvSpPr txBox="1"/>
          <p:nvPr/>
        </p:nvSpPr>
        <p:spPr>
          <a:xfrm>
            <a:off x="6876288" y="199339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/ queue / remaining window / age</a:t>
            </a:r>
          </a:p>
        </p:txBody>
      </p:sp>
      <p:sp>
        <p:nvSpPr>
          <p:cNvPr id="12" name="Policy mechanism"/>
          <p:cNvSpPr/>
          <p:nvPr/>
        </p:nvSpPr>
        <p:spPr>
          <a:xfrm>
            <a:off x="6601968" y="2834640"/>
            <a:ext cx="4754880" cy="11887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 mechanism heading"/>
          <p:cNvSpPr txBox="1"/>
          <p:nvPr/>
        </p:nvSpPr>
        <p:spPr>
          <a:xfrm>
            <a:off x="6858000" y="3063240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（action 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會改變什麼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4" name="Policy mechanism body"/>
          <p:cNvSpPr txBox="1"/>
          <p:nvPr/>
        </p:nvSpPr>
        <p:spPr>
          <a:xfrm>
            <a:off x="6876288" y="347472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observation card → legal action card。</a:t>
            </a:r>
          </a:p>
        </p:txBody>
      </p:sp>
      <p:sp>
        <p:nvSpPr>
          <p:cNvPr id="15" name="Policy test"/>
          <p:cNvSpPr/>
          <p:nvPr/>
        </p:nvSpPr>
        <p:spPr>
          <a:xfrm>
            <a:off x="6601968" y="4315968"/>
            <a:ext cx="4754880" cy="124358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licy test heading"/>
          <p:cNvSpPr txBox="1"/>
          <p:nvPr/>
        </p:nvSpPr>
        <p:spPr>
          <a:xfrm>
            <a:off x="6858000" y="4544568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結果要能反駁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7" name="Policy test body"/>
          <p:cNvSpPr txBox="1"/>
          <p:nvPr/>
        </p:nvSpPr>
        <p:spPr>
          <a:xfrm>
            <a:off x="6876288" y="4937760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→ packet → service → state time → J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常數是受控旋鈕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Policy source frame"/>
          <p:cNvSpPr/>
          <p:nvPr/>
        </p:nvSpPr>
        <p:spPr>
          <a:xfrm>
            <a:off x="777240" y="1353312"/>
            <a:ext cx="553212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 frame heading"/>
          <p:cNvSpPr txBox="1"/>
          <p:nvPr/>
        </p:nvSpPr>
        <p:spPr>
          <a:xfrm>
            <a:off x="1005840" y="1591056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目前可編輯的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bounded surface</a:t>
            </a:r>
          </a:p>
        </p:txBody>
      </p:sp>
      <p:sp>
        <p:nvSpPr>
          <p:cNvPr id="7" name="Policy code"/>
          <p:cNvSpPr txBox="1"/>
          <p:nvPr/>
        </p:nvSpPr>
        <p:spPr>
          <a:xfrm>
            <a:off x="1024128" y="1993392"/>
            <a:ext cx="5010912" cy="1325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PACE_GAP_STEPS、REST_DURING_GAP、BATCH_SIZE、URGENT_MARGIN_S；bounded values only。</a:t>
            </a:r>
          </a:p>
        </p:txBody>
      </p:sp>
      <p:sp>
        <p:nvSpPr>
          <p:cNvPr id="8" name="Policy rule"/>
          <p:cNvSpPr txBox="1"/>
          <p:nvPr/>
        </p:nvSpPr>
        <p:spPr>
          <a:xfrm>
            <a:off x="1024128" y="3611880"/>
            <a:ext cx="501091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→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選合法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delivered、future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generated result。</a:t>
            </a:r>
          </a:p>
        </p:txBody>
      </p:sp>
      <p:sp>
        <p:nvSpPr>
          <p:cNvPr id="9" name="Policy input"/>
          <p:cNvSpPr/>
          <p:nvPr/>
        </p:nvSpPr>
        <p:spPr>
          <a:xfrm>
            <a:off x="6601968" y="1353312"/>
            <a:ext cx="4754880" cy="11887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licy input heading"/>
          <p:cNvSpPr txBox="1"/>
          <p:nvPr/>
        </p:nvSpPr>
        <p:spPr>
          <a:xfrm>
            <a:off x="6858000" y="1581912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輸入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決策當下可見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1" name="Policy input body"/>
          <p:cNvSpPr txBox="1"/>
          <p:nvPr/>
        </p:nvSpPr>
        <p:spPr>
          <a:xfrm>
            <a:off x="6876288" y="199339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/ queue / remaining window / age</a:t>
            </a:r>
          </a:p>
        </p:txBody>
      </p:sp>
      <p:sp>
        <p:nvSpPr>
          <p:cNvPr id="12" name="Policy mechanism"/>
          <p:cNvSpPr/>
          <p:nvPr/>
        </p:nvSpPr>
        <p:spPr>
          <a:xfrm>
            <a:off x="6601968" y="2834640"/>
            <a:ext cx="4754880" cy="11887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 mechanism heading"/>
          <p:cNvSpPr txBox="1"/>
          <p:nvPr/>
        </p:nvSpPr>
        <p:spPr>
          <a:xfrm>
            <a:off x="6858000" y="3063240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（action 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會改變什麼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4" name="Policy mechanism body"/>
          <p:cNvSpPr txBox="1"/>
          <p:nvPr/>
        </p:nvSpPr>
        <p:spPr>
          <a:xfrm>
            <a:off x="6876288" y="347472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一行斜體常數與範圍護欄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Policy test"/>
          <p:cNvSpPr/>
          <p:nvPr/>
        </p:nvSpPr>
        <p:spPr>
          <a:xfrm>
            <a:off x="6601968" y="4315968"/>
            <a:ext cx="4754880" cy="124358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licy test heading"/>
          <p:cNvSpPr txBox="1"/>
          <p:nvPr/>
        </p:nvSpPr>
        <p:spPr>
          <a:xfrm>
            <a:off x="6858000" y="4544568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結果要能反駁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7" name="Policy test body"/>
          <p:cNvSpPr txBox="1"/>
          <p:nvPr/>
        </p:nvSpPr>
        <p:spPr>
          <a:xfrm>
            <a:off x="6876288" y="4937760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→ packet → service → state time → J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條件只處理當前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observation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Policy source frame"/>
          <p:cNvSpPr/>
          <p:nvPr/>
        </p:nvSpPr>
        <p:spPr>
          <a:xfrm>
            <a:off x="777240" y="1353312"/>
            <a:ext cx="553212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 frame heading"/>
          <p:cNvSpPr txBox="1"/>
          <p:nvPr/>
        </p:nvSpPr>
        <p:spPr>
          <a:xfrm>
            <a:off x="1005840" y="1591056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目前可編輯的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bounded surface</a:t>
            </a:r>
          </a:p>
        </p:txBody>
      </p:sp>
      <p:sp>
        <p:nvSpPr>
          <p:cNvPr id="7" name="Policy code"/>
          <p:cNvSpPr txBox="1"/>
          <p:nvPr/>
        </p:nvSpPr>
        <p:spPr>
          <a:xfrm>
            <a:off x="1024128" y="1993392"/>
            <a:ext cx="5010912" cy="1325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現在看到的條件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legal action；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outcome。</a:t>
            </a:r>
          </a:p>
        </p:txBody>
      </p:sp>
      <p:sp>
        <p:nvSpPr>
          <p:cNvPr id="8" name="Policy rule"/>
          <p:cNvSpPr txBox="1"/>
          <p:nvPr/>
        </p:nvSpPr>
        <p:spPr>
          <a:xfrm>
            <a:off x="1024128" y="3611880"/>
            <a:ext cx="501091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→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選合法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delivered、future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generated result。</a:t>
            </a:r>
          </a:p>
        </p:txBody>
      </p:sp>
      <p:sp>
        <p:nvSpPr>
          <p:cNvPr id="9" name="Policy input"/>
          <p:cNvSpPr/>
          <p:nvPr/>
        </p:nvSpPr>
        <p:spPr>
          <a:xfrm>
            <a:off x="6601968" y="1353312"/>
            <a:ext cx="4754880" cy="11887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licy input heading"/>
          <p:cNvSpPr txBox="1"/>
          <p:nvPr/>
        </p:nvSpPr>
        <p:spPr>
          <a:xfrm>
            <a:off x="6858000" y="1581912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輸入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決策當下可見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1" name="Policy input body"/>
          <p:cNvSpPr txBox="1"/>
          <p:nvPr/>
        </p:nvSpPr>
        <p:spPr>
          <a:xfrm>
            <a:off x="6876288" y="199339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/ queue / remaining window / age</a:t>
            </a:r>
          </a:p>
        </p:txBody>
      </p:sp>
      <p:sp>
        <p:nvSpPr>
          <p:cNvPr id="12" name="Policy mechanism"/>
          <p:cNvSpPr/>
          <p:nvPr/>
        </p:nvSpPr>
        <p:spPr>
          <a:xfrm>
            <a:off x="6601968" y="2834640"/>
            <a:ext cx="4754880" cy="11887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 mechanism heading"/>
          <p:cNvSpPr txBox="1"/>
          <p:nvPr/>
        </p:nvSpPr>
        <p:spPr>
          <a:xfrm>
            <a:off x="6858000" y="3063240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（action 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會改變什麼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4" name="Policy mechanism body"/>
          <p:cNvSpPr txBox="1"/>
          <p:nvPr/>
        </p:nvSpPr>
        <p:spPr>
          <a:xfrm>
            <a:off x="6876288" y="347472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if / elif / else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的三叉決策樹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Policy test"/>
          <p:cNvSpPr/>
          <p:nvPr/>
        </p:nvSpPr>
        <p:spPr>
          <a:xfrm>
            <a:off x="6601968" y="4315968"/>
            <a:ext cx="4754880" cy="124358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licy test heading"/>
          <p:cNvSpPr txBox="1"/>
          <p:nvPr/>
        </p:nvSpPr>
        <p:spPr>
          <a:xfrm>
            <a:off x="6858000" y="4544568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結果要能反駁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7" name="Policy test body"/>
          <p:cNvSpPr txBox="1"/>
          <p:nvPr/>
        </p:nvSpPr>
        <p:spPr>
          <a:xfrm>
            <a:off x="6876288" y="4937760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→ packet → service → state time → J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縮排與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return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Policy source frame"/>
          <p:cNvSpPr/>
          <p:nvPr/>
        </p:nvSpPr>
        <p:spPr>
          <a:xfrm>
            <a:off x="777240" y="1353312"/>
            <a:ext cx="553212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 frame heading"/>
          <p:cNvSpPr txBox="1"/>
          <p:nvPr/>
        </p:nvSpPr>
        <p:spPr>
          <a:xfrm>
            <a:off x="1005840" y="1591056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目前可編輯的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bounded surface</a:t>
            </a:r>
          </a:p>
        </p:txBody>
      </p:sp>
      <p:sp>
        <p:nvSpPr>
          <p:cNvPr id="7" name="Policy code"/>
          <p:cNvSpPr txBox="1"/>
          <p:nvPr/>
        </p:nvSpPr>
        <p:spPr>
          <a:xfrm>
            <a:off x="1024128" y="1993392"/>
            <a:ext cx="5010912" cy="1325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choose_action(observation)；return WAIT；return SLEEP；return SEND_ONE。</a:t>
            </a:r>
          </a:p>
        </p:txBody>
      </p:sp>
      <p:sp>
        <p:nvSpPr>
          <p:cNvPr id="8" name="Policy rule"/>
          <p:cNvSpPr txBox="1"/>
          <p:nvPr/>
        </p:nvSpPr>
        <p:spPr>
          <a:xfrm>
            <a:off x="1024128" y="3611880"/>
            <a:ext cx="501091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→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選合法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delivered、future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generated result。</a:t>
            </a:r>
          </a:p>
        </p:txBody>
      </p:sp>
      <p:sp>
        <p:nvSpPr>
          <p:cNvPr id="9" name="Policy input"/>
          <p:cNvSpPr/>
          <p:nvPr/>
        </p:nvSpPr>
        <p:spPr>
          <a:xfrm>
            <a:off x="6601968" y="1353312"/>
            <a:ext cx="4754880" cy="11887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licy input heading"/>
          <p:cNvSpPr txBox="1"/>
          <p:nvPr/>
        </p:nvSpPr>
        <p:spPr>
          <a:xfrm>
            <a:off x="6858000" y="1581912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輸入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決策當下可見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1" name="Policy input body"/>
          <p:cNvSpPr txBox="1"/>
          <p:nvPr/>
        </p:nvSpPr>
        <p:spPr>
          <a:xfrm>
            <a:off x="6876288" y="199339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/ queue / remaining window / age</a:t>
            </a:r>
          </a:p>
        </p:txBody>
      </p:sp>
      <p:sp>
        <p:nvSpPr>
          <p:cNvPr id="12" name="Policy mechanism"/>
          <p:cNvSpPr/>
          <p:nvPr/>
        </p:nvSpPr>
        <p:spPr>
          <a:xfrm>
            <a:off x="6601968" y="2834640"/>
            <a:ext cx="4754880" cy="11887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 mechanism heading"/>
          <p:cNvSpPr txBox="1"/>
          <p:nvPr/>
        </p:nvSpPr>
        <p:spPr>
          <a:xfrm>
            <a:off x="6858000" y="3063240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（action 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會改變什麼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4" name="Policy mechanism body"/>
          <p:cNvSpPr txBox="1"/>
          <p:nvPr/>
        </p:nvSpPr>
        <p:spPr>
          <a:xfrm>
            <a:off x="6876288" y="347472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三行縮排示意與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token。</a:t>
            </a:r>
          </a:p>
        </p:txBody>
      </p:sp>
      <p:sp>
        <p:nvSpPr>
          <p:cNvPr id="15" name="Policy test"/>
          <p:cNvSpPr/>
          <p:nvPr/>
        </p:nvSpPr>
        <p:spPr>
          <a:xfrm>
            <a:off x="6601968" y="4315968"/>
            <a:ext cx="4754880" cy="124358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licy test heading"/>
          <p:cNvSpPr txBox="1"/>
          <p:nvPr/>
        </p:nvSpPr>
        <p:spPr>
          <a:xfrm>
            <a:off x="6858000" y="4544568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結果要能反駁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7" name="Policy test body"/>
          <p:cNvSpPr txBox="1"/>
          <p:nvPr/>
        </p:nvSpPr>
        <p:spPr>
          <a:xfrm>
            <a:off x="6876288" y="4937760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→ packet → service → state time → J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State SLEEP"/>
          <p:cNvSpPr/>
          <p:nvPr/>
        </p:nvSpPr>
        <p:spPr>
          <a:xfrm>
            <a:off x="841248" y="1920240"/>
            <a:ext cx="17556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e SLEEP label"/>
          <p:cNvSpPr txBox="1"/>
          <p:nvPr/>
        </p:nvSpPr>
        <p:spPr>
          <a:xfrm>
            <a:off x="914400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2596896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3090672" y="1920240"/>
            <a:ext cx="17556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label"/>
          <p:cNvSpPr txBox="1"/>
          <p:nvPr/>
        </p:nvSpPr>
        <p:spPr>
          <a:xfrm>
            <a:off x="3163824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4846320" y="2322576"/>
            <a:ext cx="36575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PROCESS"/>
          <p:cNvSpPr/>
          <p:nvPr/>
        </p:nvSpPr>
        <p:spPr>
          <a:xfrm>
            <a:off x="5340096" y="1920240"/>
            <a:ext cx="17556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PROCESS label"/>
          <p:cNvSpPr txBox="1"/>
          <p:nvPr/>
        </p:nvSpPr>
        <p:spPr>
          <a:xfrm>
            <a:off x="5413248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095744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TX / RX"/>
          <p:cNvSpPr/>
          <p:nvPr/>
        </p:nvSpPr>
        <p:spPr>
          <a:xfrm>
            <a:off x="7589520" y="1920240"/>
            <a:ext cx="17556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TX / RX label"/>
          <p:cNvSpPr txBox="1"/>
          <p:nvPr/>
        </p:nvSpPr>
        <p:spPr>
          <a:xfrm>
            <a:off x="7662672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9345168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WAIT"/>
          <p:cNvSpPr/>
          <p:nvPr/>
        </p:nvSpPr>
        <p:spPr>
          <a:xfrm>
            <a:off x="9838944" y="1920240"/>
            <a:ext cx="1755648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WAIT label"/>
          <p:cNvSpPr txBox="1"/>
          <p:nvPr/>
        </p:nvSpPr>
        <p:spPr>
          <a:xfrm>
            <a:off x="9912096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9" name="State interpretation"/>
          <p:cNvSpPr/>
          <p:nvPr/>
        </p:nvSpPr>
        <p:spPr>
          <a:xfrm>
            <a:off x="896112" y="3246120"/>
            <a:ext cx="5074920" cy="2011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interpretation heading"/>
          <p:cNvSpPr txBox="1"/>
          <p:nvPr/>
        </p:nvSpPr>
        <p:spPr>
          <a:xfrm>
            <a:off x="1133856" y="3474720"/>
            <a:ext cx="46085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不要只讀總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</a:t>
            </a:r>
          </a:p>
        </p:txBody>
      </p:sp>
      <p:sp>
        <p:nvSpPr>
          <p:cNvPr id="21" name="State interpretation body"/>
          <p:cNvSpPr txBox="1"/>
          <p:nvPr/>
        </p:nvSpPr>
        <p:spPr>
          <a:xfrm>
            <a:off x="1143000" y="3913632"/>
            <a:ext cx="45902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沿著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duration、wake latency、TX/RX attempts，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的時間機制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2" name="State boundary"/>
          <p:cNvSpPr/>
          <p:nvPr/>
        </p:nvSpPr>
        <p:spPr>
          <a:xfrm>
            <a:off x="6263640" y="3246120"/>
            <a:ext cx="502920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boundary heading"/>
          <p:cNvSpPr txBox="1"/>
          <p:nvPr/>
        </p:nvSpPr>
        <p:spPr>
          <a:xfrm>
            <a:off x="6510528" y="3474720"/>
            <a:ext cx="4535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energy</a:t>
            </a:r>
          </a:p>
        </p:txBody>
      </p:sp>
      <p:sp>
        <p:nvSpPr>
          <p:cNvPr id="24" name="State boundary body"/>
          <p:cNvSpPr txBox="1"/>
          <p:nvPr/>
        </p:nvSpPr>
        <p:spPr>
          <a:xfrm>
            <a:off x="6519672" y="3913632"/>
            <a:ext cx="449884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 → WAKE → PROCESS → TX/RX → WAIT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狀態帶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。；VERIFIED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成本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State SLEEP"/>
          <p:cNvSpPr/>
          <p:nvPr/>
        </p:nvSpPr>
        <p:spPr>
          <a:xfrm>
            <a:off x="841248" y="2423160"/>
            <a:ext cx="17556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e SLEEP label"/>
          <p:cNvSpPr txBox="1"/>
          <p:nvPr/>
        </p:nvSpPr>
        <p:spPr>
          <a:xfrm>
            <a:off x="914400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2596896" y="282549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3090672" y="2423160"/>
            <a:ext cx="17556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label"/>
          <p:cNvSpPr txBox="1"/>
          <p:nvPr/>
        </p:nvSpPr>
        <p:spPr>
          <a:xfrm>
            <a:off x="3163824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4846320" y="2825496"/>
            <a:ext cx="36575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PROCESS"/>
          <p:cNvSpPr/>
          <p:nvPr/>
        </p:nvSpPr>
        <p:spPr>
          <a:xfrm>
            <a:off x="5340096" y="2423160"/>
            <a:ext cx="17556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PROCESS label"/>
          <p:cNvSpPr txBox="1"/>
          <p:nvPr/>
        </p:nvSpPr>
        <p:spPr>
          <a:xfrm>
            <a:off x="5413248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095744" y="282549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TX / RX"/>
          <p:cNvSpPr/>
          <p:nvPr/>
        </p:nvSpPr>
        <p:spPr>
          <a:xfrm>
            <a:off x="7589520" y="2423160"/>
            <a:ext cx="17556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TX / RX label"/>
          <p:cNvSpPr txBox="1"/>
          <p:nvPr/>
        </p:nvSpPr>
        <p:spPr>
          <a:xfrm>
            <a:off x="7662672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9345168" y="282549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WAIT"/>
          <p:cNvSpPr/>
          <p:nvPr/>
        </p:nvSpPr>
        <p:spPr>
          <a:xfrm>
            <a:off x="9838944" y="2423160"/>
            <a:ext cx="1755648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WAIT label"/>
          <p:cNvSpPr txBox="1"/>
          <p:nvPr/>
        </p:nvSpPr>
        <p:spPr>
          <a:xfrm>
            <a:off x="9912096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9" name="State interpretation"/>
          <p:cNvSpPr/>
          <p:nvPr/>
        </p:nvSpPr>
        <p:spPr>
          <a:xfrm>
            <a:off x="896112" y="3246120"/>
            <a:ext cx="5074920" cy="2011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interpretation heading"/>
          <p:cNvSpPr txBox="1"/>
          <p:nvPr/>
        </p:nvSpPr>
        <p:spPr>
          <a:xfrm>
            <a:off x="1133856" y="3474720"/>
            <a:ext cx="46085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不要只讀總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</a:t>
            </a:r>
          </a:p>
        </p:txBody>
      </p:sp>
      <p:sp>
        <p:nvSpPr>
          <p:cNvPr id="21" name="State interpretation body"/>
          <p:cNvSpPr txBox="1"/>
          <p:nvPr/>
        </p:nvSpPr>
        <p:spPr>
          <a:xfrm>
            <a:off x="1143000" y="3913632"/>
            <a:ext cx="45902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沿著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duration、wake latency、TX/RX attempts，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的時間機制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2" name="State boundary"/>
          <p:cNvSpPr/>
          <p:nvPr/>
        </p:nvSpPr>
        <p:spPr>
          <a:xfrm>
            <a:off x="6263640" y="3246120"/>
            <a:ext cx="502920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boundary heading"/>
          <p:cNvSpPr txBox="1"/>
          <p:nvPr/>
        </p:nvSpPr>
        <p:spPr>
          <a:xfrm>
            <a:off x="6510528" y="3474720"/>
            <a:ext cx="4535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energy</a:t>
            </a:r>
          </a:p>
        </p:txBody>
      </p:sp>
      <p:sp>
        <p:nvSpPr>
          <p:cNvPr id="24" name="State boundary body"/>
          <p:cNvSpPr txBox="1"/>
          <p:nvPr/>
        </p:nvSpPr>
        <p:spPr>
          <a:xfrm>
            <a:off x="6519672" y="3913632"/>
            <a:ext cx="449884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的雙泳道時間線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。；VERIFIED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State SLEEP"/>
          <p:cNvSpPr/>
          <p:nvPr/>
        </p:nvSpPr>
        <p:spPr>
          <a:xfrm>
            <a:off x="841248" y="1920240"/>
            <a:ext cx="17556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SLEEP label"/>
          <p:cNvSpPr txBox="1"/>
          <p:nvPr/>
        </p:nvSpPr>
        <p:spPr>
          <a:xfrm>
            <a:off x="914400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2596896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ate WAKE"/>
          <p:cNvSpPr/>
          <p:nvPr/>
        </p:nvSpPr>
        <p:spPr>
          <a:xfrm>
            <a:off x="3090672" y="1920240"/>
            <a:ext cx="17556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WAKE label"/>
          <p:cNvSpPr txBox="1"/>
          <p:nvPr/>
        </p:nvSpPr>
        <p:spPr>
          <a:xfrm>
            <a:off x="3163824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2" name="Editable connector"/>
          <p:cNvCxnSpPr/>
          <p:nvPr/>
        </p:nvCxnSpPr>
        <p:spPr>
          <a:xfrm>
            <a:off x="4846320" y="2322576"/>
            <a:ext cx="36575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PROCESS"/>
          <p:cNvSpPr/>
          <p:nvPr/>
        </p:nvSpPr>
        <p:spPr>
          <a:xfrm>
            <a:off x="5340096" y="1920240"/>
            <a:ext cx="17556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PROCESS label"/>
          <p:cNvSpPr txBox="1"/>
          <p:nvPr/>
        </p:nvSpPr>
        <p:spPr>
          <a:xfrm>
            <a:off x="5413248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5" name="Editable connector"/>
          <p:cNvCxnSpPr/>
          <p:nvPr/>
        </p:nvCxnSpPr>
        <p:spPr>
          <a:xfrm>
            <a:off x="7095744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TX / RX"/>
          <p:cNvSpPr/>
          <p:nvPr/>
        </p:nvSpPr>
        <p:spPr>
          <a:xfrm>
            <a:off x="7589520" y="1920240"/>
            <a:ext cx="17556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TX / RX label"/>
          <p:cNvSpPr txBox="1"/>
          <p:nvPr/>
        </p:nvSpPr>
        <p:spPr>
          <a:xfrm>
            <a:off x="7662672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8" name="Editable connector"/>
          <p:cNvCxnSpPr/>
          <p:nvPr/>
        </p:nvCxnSpPr>
        <p:spPr>
          <a:xfrm>
            <a:off x="9345168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WAIT"/>
          <p:cNvSpPr/>
          <p:nvPr/>
        </p:nvSpPr>
        <p:spPr>
          <a:xfrm>
            <a:off x="9838944" y="1920240"/>
            <a:ext cx="1755648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WAIT label"/>
          <p:cNvSpPr txBox="1"/>
          <p:nvPr/>
        </p:nvSpPr>
        <p:spPr>
          <a:xfrm>
            <a:off x="9912096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21" name="State interpretation"/>
          <p:cNvSpPr/>
          <p:nvPr/>
        </p:nvSpPr>
        <p:spPr>
          <a:xfrm>
            <a:off x="896112" y="3246120"/>
            <a:ext cx="5074920" cy="2011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te interpretation heading"/>
          <p:cNvSpPr txBox="1"/>
          <p:nvPr/>
        </p:nvSpPr>
        <p:spPr>
          <a:xfrm>
            <a:off x="1133856" y="3474720"/>
            <a:ext cx="46085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不要只讀總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</a:t>
            </a:r>
          </a:p>
        </p:txBody>
      </p:sp>
      <p:sp>
        <p:nvSpPr>
          <p:cNvPr id="23" name="State interpretation body"/>
          <p:cNvSpPr txBox="1"/>
          <p:nvPr/>
        </p:nvSpPr>
        <p:spPr>
          <a:xfrm>
            <a:off x="1143000" y="3913632"/>
            <a:ext cx="45902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沿著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duration、wake latency、TX/RX attempts，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的時間機制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4" name="State boundary"/>
          <p:cNvSpPr/>
          <p:nvPr/>
        </p:nvSpPr>
        <p:spPr>
          <a:xfrm>
            <a:off x="6263640" y="3246120"/>
            <a:ext cx="502920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te boundary heading"/>
          <p:cNvSpPr txBox="1"/>
          <p:nvPr/>
        </p:nvSpPr>
        <p:spPr>
          <a:xfrm>
            <a:off x="6510528" y="3474720"/>
            <a:ext cx="4535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energy</a:t>
            </a:r>
          </a:p>
        </p:txBody>
      </p:sp>
      <p:sp>
        <p:nvSpPr>
          <p:cNvPr id="26" name="State boundary body"/>
          <p:cNvSpPr txBox="1"/>
          <p:nvPr/>
        </p:nvSpPr>
        <p:spPr>
          <a:xfrm>
            <a:off x="6519672" y="3913632"/>
            <a:ext cx="449884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generated → attempt → retry → delivered / expired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卡片流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。；VERIFIED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比較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State SLEEP"/>
          <p:cNvSpPr/>
          <p:nvPr/>
        </p:nvSpPr>
        <p:spPr>
          <a:xfrm>
            <a:off x="841248" y="2423160"/>
            <a:ext cx="17556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e SLEEP label"/>
          <p:cNvSpPr txBox="1"/>
          <p:nvPr/>
        </p:nvSpPr>
        <p:spPr>
          <a:xfrm>
            <a:off x="914400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2596896" y="282549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3090672" y="2423160"/>
            <a:ext cx="17556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label"/>
          <p:cNvSpPr txBox="1"/>
          <p:nvPr/>
        </p:nvSpPr>
        <p:spPr>
          <a:xfrm>
            <a:off x="3163824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4846320" y="2825496"/>
            <a:ext cx="36575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PROCESS"/>
          <p:cNvSpPr/>
          <p:nvPr/>
        </p:nvSpPr>
        <p:spPr>
          <a:xfrm>
            <a:off x="5340096" y="2423160"/>
            <a:ext cx="17556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PROCESS label"/>
          <p:cNvSpPr txBox="1"/>
          <p:nvPr/>
        </p:nvSpPr>
        <p:spPr>
          <a:xfrm>
            <a:off x="5413248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095744" y="282549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TX / RX"/>
          <p:cNvSpPr/>
          <p:nvPr/>
        </p:nvSpPr>
        <p:spPr>
          <a:xfrm>
            <a:off x="7589520" y="2423160"/>
            <a:ext cx="17556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TX / RX label"/>
          <p:cNvSpPr txBox="1"/>
          <p:nvPr/>
        </p:nvSpPr>
        <p:spPr>
          <a:xfrm>
            <a:off x="7662672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9345168" y="282549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WAIT"/>
          <p:cNvSpPr/>
          <p:nvPr/>
        </p:nvSpPr>
        <p:spPr>
          <a:xfrm>
            <a:off x="9838944" y="2423160"/>
            <a:ext cx="1755648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WAIT label"/>
          <p:cNvSpPr txBox="1"/>
          <p:nvPr/>
        </p:nvSpPr>
        <p:spPr>
          <a:xfrm>
            <a:off x="9912096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9" name="State interpretation"/>
          <p:cNvSpPr/>
          <p:nvPr/>
        </p:nvSpPr>
        <p:spPr>
          <a:xfrm>
            <a:off x="896112" y="3246120"/>
            <a:ext cx="5074920" cy="2011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interpretation heading"/>
          <p:cNvSpPr txBox="1"/>
          <p:nvPr/>
        </p:nvSpPr>
        <p:spPr>
          <a:xfrm>
            <a:off x="1133856" y="3474720"/>
            <a:ext cx="46085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不要只讀總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</a:t>
            </a:r>
          </a:p>
        </p:txBody>
      </p:sp>
      <p:sp>
        <p:nvSpPr>
          <p:cNvPr id="21" name="State interpretation body"/>
          <p:cNvSpPr txBox="1"/>
          <p:nvPr/>
        </p:nvSpPr>
        <p:spPr>
          <a:xfrm>
            <a:off x="1143000" y="3913632"/>
            <a:ext cx="45902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沿著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duration、wake latency、TX/RX attempts，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的時間機制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2" name="State boundary"/>
          <p:cNvSpPr/>
          <p:nvPr/>
        </p:nvSpPr>
        <p:spPr>
          <a:xfrm>
            <a:off x="6263640" y="3246120"/>
            <a:ext cx="502920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boundary heading"/>
          <p:cNvSpPr txBox="1"/>
          <p:nvPr/>
        </p:nvSpPr>
        <p:spPr>
          <a:xfrm>
            <a:off x="6510528" y="3474720"/>
            <a:ext cx="4535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energy</a:t>
            </a:r>
          </a:p>
        </p:txBody>
      </p:sp>
      <p:sp>
        <p:nvSpPr>
          <p:cNvPr id="24" name="State boundary body"/>
          <p:cNvSpPr txBox="1"/>
          <p:nvPr/>
        </p:nvSpPr>
        <p:spPr>
          <a:xfrm>
            <a:off x="6519672" y="3913632"/>
            <a:ext cx="449884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gate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包住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 energy ledger。；VERIFIED; DONOR-REWRITE：BeamShift donor slides 19–21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reaction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W→J boundary，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current endpoint ledger。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是累積結果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State SLEEP"/>
          <p:cNvSpPr/>
          <p:nvPr/>
        </p:nvSpPr>
        <p:spPr>
          <a:xfrm>
            <a:off x="841248" y="1920240"/>
            <a:ext cx="17556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e SLEEP label"/>
          <p:cNvSpPr txBox="1"/>
          <p:nvPr/>
        </p:nvSpPr>
        <p:spPr>
          <a:xfrm>
            <a:off x="914400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2596896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3090672" y="1920240"/>
            <a:ext cx="17556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label"/>
          <p:cNvSpPr txBox="1"/>
          <p:nvPr/>
        </p:nvSpPr>
        <p:spPr>
          <a:xfrm>
            <a:off x="3163824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4846320" y="2322576"/>
            <a:ext cx="36575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PROCESS"/>
          <p:cNvSpPr/>
          <p:nvPr/>
        </p:nvSpPr>
        <p:spPr>
          <a:xfrm>
            <a:off x="5340096" y="1920240"/>
            <a:ext cx="17556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PROCESS label"/>
          <p:cNvSpPr txBox="1"/>
          <p:nvPr/>
        </p:nvSpPr>
        <p:spPr>
          <a:xfrm>
            <a:off x="5413248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095744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TX / RX"/>
          <p:cNvSpPr/>
          <p:nvPr/>
        </p:nvSpPr>
        <p:spPr>
          <a:xfrm>
            <a:off x="7589520" y="1920240"/>
            <a:ext cx="17556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TX / RX label"/>
          <p:cNvSpPr txBox="1"/>
          <p:nvPr/>
        </p:nvSpPr>
        <p:spPr>
          <a:xfrm>
            <a:off x="7662672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9345168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WAIT"/>
          <p:cNvSpPr/>
          <p:nvPr/>
        </p:nvSpPr>
        <p:spPr>
          <a:xfrm>
            <a:off x="9838944" y="1920240"/>
            <a:ext cx="1755648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WAIT label"/>
          <p:cNvSpPr txBox="1"/>
          <p:nvPr/>
        </p:nvSpPr>
        <p:spPr>
          <a:xfrm>
            <a:off x="9912096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9" name="State interpretation"/>
          <p:cNvSpPr/>
          <p:nvPr/>
        </p:nvSpPr>
        <p:spPr>
          <a:xfrm>
            <a:off x="896112" y="3246120"/>
            <a:ext cx="5074920" cy="2011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interpretation heading"/>
          <p:cNvSpPr txBox="1"/>
          <p:nvPr/>
        </p:nvSpPr>
        <p:spPr>
          <a:xfrm>
            <a:off x="1133856" y="3474720"/>
            <a:ext cx="46085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不要只讀總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</a:t>
            </a:r>
          </a:p>
        </p:txBody>
      </p:sp>
      <p:sp>
        <p:nvSpPr>
          <p:cNvPr id="21" name="State interpretation body"/>
          <p:cNvSpPr txBox="1"/>
          <p:nvPr/>
        </p:nvSpPr>
        <p:spPr>
          <a:xfrm>
            <a:off x="1143000" y="3913632"/>
            <a:ext cx="45902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沿著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duration、wake latency、TX/RX attempts，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的時間機制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2" name="State boundary"/>
          <p:cNvSpPr/>
          <p:nvPr/>
        </p:nvSpPr>
        <p:spPr>
          <a:xfrm>
            <a:off x="6263640" y="3246120"/>
            <a:ext cx="502920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boundary heading"/>
          <p:cNvSpPr txBox="1"/>
          <p:nvPr/>
        </p:nvSpPr>
        <p:spPr>
          <a:xfrm>
            <a:off x="6510528" y="3474720"/>
            <a:ext cx="4535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energy</a:t>
            </a:r>
          </a:p>
        </p:txBody>
      </p:sp>
      <p:sp>
        <p:nvSpPr>
          <p:cNvPr id="24" name="State boundary body"/>
          <p:cNvSpPr txBox="1"/>
          <p:nvPr/>
        </p:nvSpPr>
        <p:spPr>
          <a:xfrm>
            <a:off x="6519672" y="3913632"/>
            <a:ext cx="449884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P(t)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曲線下的面積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。；VERIFIED; DONOR-REWRITE：BeamShift donor slides 14, 16/17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throughput、power、energy，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去重後拆成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：endpoint energy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的範圍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Formula instruction"/>
          <p:cNvSpPr txBox="1"/>
          <p:nvPr/>
        </p:nvSpPr>
        <p:spPr>
          <a:xfrm>
            <a:off x="896112" y="1170432"/>
            <a:ext cx="102412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公式先教範圍與單位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數值必須從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讀取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NATIVE_EQUATION_HOOK_E_endpoint"/>
          <p:cNvSpPr/>
          <p:nvPr/>
        </p:nvSpPr>
        <p:spPr>
          <a:xfrm>
            <a:off x="960120" y="1783080"/>
            <a:ext cx="10149840" cy="23408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ATIVE_EQUATION_HOOK_LABEL_E_endpoint"/>
          <p:cNvSpPr txBox="1"/>
          <p:nvPr/>
        </p:nvSpPr>
        <p:spPr>
          <a:xfrm>
            <a:off x="1225296" y="2029968"/>
            <a:ext cx="96469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NATIVE EQUATION INSERTION HOOK｜E_endpoint</a:t>
            </a:r>
          </a:p>
        </p:txBody>
      </p:sp>
      <p:cxnSp>
        <p:nvCxnSpPr>
          <p:cNvPr id="10" name="Equation insertion baseline"/>
          <p:cNvCxnSpPr/>
          <p:nvPr/>
        </p:nvCxnSpPr>
        <p:spPr>
          <a:xfrm>
            <a:off x="1463040" y="3154680"/>
            <a:ext cx="914400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quation hook instruction"/>
          <p:cNvSpPr txBox="1"/>
          <p:nvPr/>
        </p:nvSpPr>
        <p:spPr>
          <a:xfrm>
            <a:off x="1298448" y="3383280"/>
            <a:ext cx="946404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由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controller 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以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PowerPoint 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原生方程式插入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此處不放圖片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不顯示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LaTeX 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原始碼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quation numerator scope"/>
          <p:cNvSpPr/>
          <p:nvPr/>
        </p:nvSpPr>
        <p:spPr>
          <a:xfrm>
            <a:off x="960120" y="4462272"/>
            <a:ext cx="4800600" cy="102412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quation scope text"/>
          <p:cNvSpPr txBox="1"/>
          <p:nvPr/>
        </p:nvSpPr>
        <p:spPr>
          <a:xfrm>
            <a:off x="1170432" y="4718304"/>
            <a:ext cx="4370832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scope：endpoint radio + processing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units：W × time → J</a:t>
            </a:r>
          </a:p>
        </p:txBody>
      </p:sp>
      <p:sp>
        <p:nvSpPr>
          <p:cNvPr id="14" name="Equation denominator scope"/>
          <p:cNvSpPr/>
          <p:nvPr/>
        </p:nvSpPr>
        <p:spPr>
          <a:xfrm>
            <a:off x="6309360" y="4462272"/>
            <a:ext cx="4800600" cy="102412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quation boundary text"/>
          <p:cNvSpPr txBox="1"/>
          <p:nvPr/>
        </p:nvSpPr>
        <p:spPr>
          <a:xfrm>
            <a:off x="6510528" y="4718304"/>
            <a:ext cx="440740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每個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的功率乘停留時間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不可擴大成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服務效率的分子與分母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Formula instruction"/>
          <p:cNvSpPr txBox="1"/>
          <p:nvPr/>
        </p:nvSpPr>
        <p:spPr>
          <a:xfrm>
            <a:off x="896112" y="1170432"/>
            <a:ext cx="102412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公式先教範圍與單位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數值必須從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讀取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NATIVE_EQUATION_HOOK_eta_E"/>
          <p:cNvSpPr/>
          <p:nvPr/>
        </p:nvSpPr>
        <p:spPr>
          <a:xfrm>
            <a:off x="960120" y="1783080"/>
            <a:ext cx="10149840" cy="23408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ATIVE_EQUATION_HOOK_LABEL_eta_E"/>
          <p:cNvSpPr txBox="1"/>
          <p:nvPr/>
        </p:nvSpPr>
        <p:spPr>
          <a:xfrm>
            <a:off x="1225296" y="2029968"/>
            <a:ext cx="96469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NATIVE EQUATION INSERTION HOOK｜eta_E</a:t>
            </a:r>
          </a:p>
        </p:txBody>
      </p:sp>
      <p:cxnSp>
        <p:nvCxnSpPr>
          <p:cNvPr id="8" name="Equation insertion baseline"/>
          <p:cNvCxnSpPr/>
          <p:nvPr/>
        </p:nvCxnSpPr>
        <p:spPr>
          <a:xfrm>
            <a:off x="1463040" y="3154680"/>
            <a:ext cx="914400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quation hook instruction"/>
          <p:cNvSpPr txBox="1"/>
          <p:nvPr/>
        </p:nvSpPr>
        <p:spPr>
          <a:xfrm>
            <a:off x="1298448" y="3383280"/>
            <a:ext cx="946404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由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controller 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以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PowerPoint 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原生方程式插入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此處不放圖片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不顯示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LaTeX 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原始碼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0" name="Equation data scope"/>
          <p:cNvSpPr/>
          <p:nvPr/>
        </p:nvSpPr>
        <p:spPr>
          <a:xfrm>
            <a:off x="960120" y="4462272"/>
            <a:ext cx="4800600" cy="102412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quation numerator text"/>
          <p:cNvSpPr txBox="1"/>
          <p:nvPr/>
        </p:nvSpPr>
        <p:spPr>
          <a:xfrm>
            <a:off x="1170432" y="4718304"/>
            <a:ext cx="4370832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分子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：delivered data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單位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：bits</a:t>
            </a:r>
          </a:p>
        </p:txBody>
      </p:sp>
      <p:sp>
        <p:nvSpPr>
          <p:cNvPr id="12" name="Equation energy scope"/>
          <p:cNvSpPr/>
          <p:nvPr/>
        </p:nvSpPr>
        <p:spPr>
          <a:xfrm>
            <a:off x="6309360" y="4462272"/>
            <a:ext cx="4800600" cy="102412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quation denominator text"/>
          <p:cNvSpPr txBox="1"/>
          <p:nvPr/>
        </p:nvSpPr>
        <p:spPr>
          <a:xfrm>
            <a:off x="6510528" y="4718304"/>
            <a:ext cx="440740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分母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 J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：bit/J，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不替代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gate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結果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Provenance layer SOURCE"/>
          <p:cNvSpPr/>
          <p:nvPr/>
        </p:nvSpPr>
        <p:spPr>
          <a:xfrm>
            <a:off x="1005840" y="1389888"/>
            <a:ext cx="3730752" cy="676656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venance label SOURCE"/>
          <p:cNvSpPr txBox="1"/>
          <p:nvPr/>
        </p:nvSpPr>
        <p:spPr>
          <a:xfrm>
            <a:off x="1133856" y="1554480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7" name="Provenance body SOURCE"/>
          <p:cNvSpPr txBox="1"/>
          <p:nvPr/>
        </p:nvSpPr>
        <p:spPr>
          <a:xfrm>
            <a:off x="2340864" y="153619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release / scenario / source hash</a:t>
            </a:r>
          </a:p>
        </p:txBody>
      </p:sp>
      <p:cxnSp>
        <p:nvCxnSpPr>
          <p:cNvPr id="8" name="Provenance arrow"/>
          <p:cNvCxnSpPr/>
          <p:nvPr/>
        </p:nvCxnSpPr>
        <p:spPr>
          <a:xfrm>
            <a:off x="4736592" y="1728216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venance layer MODEL"/>
          <p:cNvSpPr/>
          <p:nvPr/>
        </p:nvSpPr>
        <p:spPr>
          <a:xfrm>
            <a:off x="1005840" y="2359152"/>
            <a:ext cx="3730752" cy="676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label MODEL"/>
          <p:cNvSpPr txBox="1"/>
          <p:nvPr/>
        </p:nvSpPr>
        <p:spPr>
          <a:xfrm>
            <a:off x="1133856" y="2523744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11" name="Provenance body MODEL"/>
          <p:cNvSpPr txBox="1"/>
          <p:nvPr/>
        </p:nvSpPr>
        <p:spPr>
          <a:xfrm>
            <a:off x="2340864" y="2505456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window / trace / state</a:t>
            </a:r>
          </a:p>
        </p:txBody>
      </p:sp>
      <p:cxnSp>
        <p:nvCxnSpPr>
          <p:cNvPr id="12" name="Provenance arrow"/>
          <p:cNvCxnSpPr/>
          <p:nvPr/>
        </p:nvCxnSpPr>
        <p:spPr>
          <a:xfrm>
            <a:off x="4736592" y="2697480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venance layer POLICY"/>
          <p:cNvSpPr/>
          <p:nvPr/>
        </p:nvSpPr>
        <p:spPr>
          <a:xfrm>
            <a:off x="1005840" y="3328416"/>
            <a:ext cx="3730752" cy="676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venance label POLICY"/>
          <p:cNvSpPr txBox="1"/>
          <p:nvPr/>
        </p:nvSpPr>
        <p:spPr>
          <a:xfrm>
            <a:off x="1133856" y="34930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sp>
        <p:nvSpPr>
          <p:cNvPr id="15" name="Provenance body POLICY"/>
          <p:cNvSpPr txBox="1"/>
          <p:nvPr/>
        </p:nvSpPr>
        <p:spPr>
          <a:xfrm>
            <a:off x="2340864" y="34747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marked block / action / SHA</a:t>
            </a:r>
          </a:p>
        </p:txBody>
      </p:sp>
      <p:cxnSp>
        <p:nvCxnSpPr>
          <p:cNvPr id="16" name="Provenance arrow"/>
          <p:cNvCxnSpPr/>
          <p:nvPr/>
        </p:nvCxnSpPr>
        <p:spPr>
          <a:xfrm>
            <a:off x="4736592" y="3666744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venance layer RESULT"/>
          <p:cNvSpPr/>
          <p:nvPr/>
        </p:nvSpPr>
        <p:spPr>
          <a:xfrm>
            <a:off x="1005840" y="4297680"/>
            <a:ext cx="3730752" cy="6766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venance label RESULT"/>
          <p:cNvSpPr txBox="1"/>
          <p:nvPr/>
        </p:nvSpPr>
        <p:spPr>
          <a:xfrm>
            <a:off x="1133856" y="4462272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9" name="Provenance body RESULT"/>
          <p:cNvSpPr txBox="1"/>
          <p:nvPr/>
        </p:nvSpPr>
        <p:spPr>
          <a:xfrm>
            <a:off x="2340864" y="444398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packet / service / endpoint J</a:t>
            </a:r>
          </a:p>
        </p:txBody>
      </p:sp>
      <p:sp>
        <p:nvSpPr>
          <p:cNvPr id="20" name="Identity ledger"/>
          <p:cNvSpPr/>
          <p:nvPr/>
        </p:nvSpPr>
        <p:spPr>
          <a:xfrm>
            <a:off x="5989320" y="1389888"/>
            <a:ext cx="5166360" cy="385876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dentity heading"/>
          <p:cNvSpPr txBox="1"/>
          <p:nvPr/>
        </p:nvSpPr>
        <p:spPr>
          <a:xfrm>
            <a:off x="6272784" y="1645920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同一個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scenario_id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要一路相同</a:t>
            </a:r>
          </a:p>
        </p:txBody>
      </p:sp>
      <p:sp>
        <p:nvSpPr>
          <p:cNvPr id="22" name="Identity values"/>
          <p:cNvSpPr txBox="1"/>
          <p:nvPr/>
        </p:nvSpPr>
        <p:spPr>
          <a:xfrm>
            <a:off x="6400800" y="2139696"/>
            <a:ext cx="4334256" cy="21396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seed / anchor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units / source_mode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result → replay → workbook</a:t>
            </a:r>
          </a:p>
        </p:txBody>
      </p:sp>
      <p:sp>
        <p:nvSpPr>
          <p:cNvPr id="23" name="Identity recovery"/>
          <p:cNvSpPr txBox="1"/>
          <p:nvPr/>
        </p:nvSpPr>
        <p:spPr>
          <a:xfrm>
            <a:off x="6364224" y="4590288"/>
            <a:ext cx="4425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：fail closed；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不可拼接相似畫面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綁住整條鏈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Provenance layer SOURCE"/>
          <p:cNvSpPr/>
          <p:nvPr/>
        </p:nvSpPr>
        <p:spPr>
          <a:xfrm>
            <a:off x="1005840" y="1389888"/>
            <a:ext cx="3730752" cy="676656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venance label SOURCE"/>
          <p:cNvSpPr txBox="1"/>
          <p:nvPr/>
        </p:nvSpPr>
        <p:spPr>
          <a:xfrm>
            <a:off x="1133856" y="1554480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7" name="Provenance body SOURCE"/>
          <p:cNvSpPr txBox="1"/>
          <p:nvPr/>
        </p:nvSpPr>
        <p:spPr>
          <a:xfrm>
            <a:off x="2340864" y="153619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release / scenario / source hash</a:t>
            </a:r>
          </a:p>
        </p:txBody>
      </p:sp>
      <p:cxnSp>
        <p:nvCxnSpPr>
          <p:cNvPr id="8" name="Provenance arrow"/>
          <p:cNvCxnSpPr/>
          <p:nvPr/>
        </p:nvCxnSpPr>
        <p:spPr>
          <a:xfrm>
            <a:off x="4736592" y="1728216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venance layer MODEL"/>
          <p:cNvSpPr/>
          <p:nvPr/>
        </p:nvSpPr>
        <p:spPr>
          <a:xfrm>
            <a:off x="1005840" y="2359152"/>
            <a:ext cx="3730752" cy="676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label MODEL"/>
          <p:cNvSpPr txBox="1"/>
          <p:nvPr/>
        </p:nvSpPr>
        <p:spPr>
          <a:xfrm>
            <a:off x="1133856" y="2523744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11" name="Provenance body MODEL"/>
          <p:cNvSpPr txBox="1"/>
          <p:nvPr/>
        </p:nvSpPr>
        <p:spPr>
          <a:xfrm>
            <a:off x="2340864" y="2505456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window / trace / state</a:t>
            </a:r>
          </a:p>
        </p:txBody>
      </p:sp>
      <p:cxnSp>
        <p:nvCxnSpPr>
          <p:cNvPr id="12" name="Provenance arrow"/>
          <p:cNvCxnSpPr/>
          <p:nvPr/>
        </p:nvCxnSpPr>
        <p:spPr>
          <a:xfrm>
            <a:off x="4736592" y="2697480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venance layer POLICY"/>
          <p:cNvSpPr/>
          <p:nvPr/>
        </p:nvSpPr>
        <p:spPr>
          <a:xfrm>
            <a:off x="1005840" y="3328416"/>
            <a:ext cx="3730752" cy="676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venance label POLICY"/>
          <p:cNvSpPr txBox="1"/>
          <p:nvPr/>
        </p:nvSpPr>
        <p:spPr>
          <a:xfrm>
            <a:off x="1133856" y="34930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sp>
        <p:nvSpPr>
          <p:cNvPr id="15" name="Provenance body POLICY"/>
          <p:cNvSpPr txBox="1"/>
          <p:nvPr/>
        </p:nvSpPr>
        <p:spPr>
          <a:xfrm>
            <a:off x="2340864" y="34747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marked block / action / SHA</a:t>
            </a:r>
          </a:p>
        </p:txBody>
      </p:sp>
      <p:cxnSp>
        <p:nvCxnSpPr>
          <p:cNvPr id="16" name="Provenance arrow"/>
          <p:cNvCxnSpPr/>
          <p:nvPr/>
        </p:nvCxnSpPr>
        <p:spPr>
          <a:xfrm>
            <a:off x="4736592" y="3666744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venance layer RESULT"/>
          <p:cNvSpPr/>
          <p:nvPr/>
        </p:nvSpPr>
        <p:spPr>
          <a:xfrm>
            <a:off x="1005840" y="4297680"/>
            <a:ext cx="3730752" cy="6766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venance label RESULT"/>
          <p:cNvSpPr txBox="1"/>
          <p:nvPr/>
        </p:nvSpPr>
        <p:spPr>
          <a:xfrm>
            <a:off x="1133856" y="4462272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9" name="Provenance body RESULT"/>
          <p:cNvSpPr txBox="1"/>
          <p:nvPr/>
        </p:nvSpPr>
        <p:spPr>
          <a:xfrm>
            <a:off x="2340864" y="444398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packet / service / endpoint J</a:t>
            </a:r>
          </a:p>
        </p:txBody>
      </p:sp>
      <p:sp>
        <p:nvSpPr>
          <p:cNvPr id="20" name="Identity ledger"/>
          <p:cNvSpPr/>
          <p:nvPr/>
        </p:nvSpPr>
        <p:spPr>
          <a:xfrm>
            <a:off x="5989320" y="1389888"/>
            <a:ext cx="5166360" cy="385876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dentity heading"/>
          <p:cNvSpPr txBox="1"/>
          <p:nvPr/>
        </p:nvSpPr>
        <p:spPr>
          <a:xfrm>
            <a:off x="6272784" y="1645920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同一個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scenario_id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要一路相同</a:t>
            </a:r>
          </a:p>
        </p:txBody>
      </p:sp>
      <p:sp>
        <p:nvSpPr>
          <p:cNvPr id="22" name="Identity values"/>
          <p:cNvSpPr txBox="1"/>
          <p:nvPr/>
        </p:nvSpPr>
        <p:spPr>
          <a:xfrm>
            <a:off x="6400800" y="2139696"/>
            <a:ext cx="4334256" cy="21396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seed / anchor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units / source_mode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result → replay → workbook</a:t>
            </a:r>
          </a:p>
        </p:txBody>
      </p:sp>
      <p:sp>
        <p:nvSpPr>
          <p:cNvPr id="23" name="Identity recovery"/>
          <p:cNvSpPr txBox="1"/>
          <p:nvPr/>
        </p:nvSpPr>
        <p:spPr>
          <a:xfrm>
            <a:off x="6364224" y="4590288"/>
            <a:ext cx="4425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：fail closed；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不可拼接相似畫面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Provenance layer SOURCE"/>
          <p:cNvSpPr/>
          <p:nvPr/>
        </p:nvSpPr>
        <p:spPr>
          <a:xfrm>
            <a:off x="1005840" y="1389888"/>
            <a:ext cx="3730752" cy="676656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venance label SOURCE"/>
          <p:cNvSpPr txBox="1"/>
          <p:nvPr/>
        </p:nvSpPr>
        <p:spPr>
          <a:xfrm>
            <a:off x="1133856" y="1554480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7" name="Provenance body SOURCE"/>
          <p:cNvSpPr txBox="1"/>
          <p:nvPr/>
        </p:nvSpPr>
        <p:spPr>
          <a:xfrm>
            <a:off x="2340864" y="153619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release / scenario / source hash</a:t>
            </a:r>
          </a:p>
        </p:txBody>
      </p:sp>
      <p:cxnSp>
        <p:nvCxnSpPr>
          <p:cNvPr id="8" name="Provenance arrow"/>
          <p:cNvCxnSpPr/>
          <p:nvPr/>
        </p:nvCxnSpPr>
        <p:spPr>
          <a:xfrm>
            <a:off x="4736592" y="1728216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venance layer MODEL"/>
          <p:cNvSpPr/>
          <p:nvPr/>
        </p:nvSpPr>
        <p:spPr>
          <a:xfrm>
            <a:off x="1005840" y="2359152"/>
            <a:ext cx="3730752" cy="676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label MODEL"/>
          <p:cNvSpPr txBox="1"/>
          <p:nvPr/>
        </p:nvSpPr>
        <p:spPr>
          <a:xfrm>
            <a:off x="1133856" y="2523744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11" name="Provenance body MODEL"/>
          <p:cNvSpPr txBox="1"/>
          <p:nvPr/>
        </p:nvSpPr>
        <p:spPr>
          <a:xfrm>
            <a:off x="2340864" y="2505456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window / trace / state</a:t>
            </a:r>
          </a:p>
        </p:txBody>
      </p:sp>
      <p:cxnSp>
        <p:nvCxnSpPr>
          <p:cNvPr id="12" name="Provenance arrow"/>
          <p:cNvCxnSpPr/>
          <p:nvPr/>
        </p:nvCxnSpPr>
        <p:spPr>
          <a:xfrm>
            <a:off x="4736592" y="2697480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venance layer POLICY"/>
          <p:cNvSpPr/>
          <p:nvPr/>
        </p:nvSpPr>
        <p:spPr>
          <a:xfrm>
            <a:off x="1005840" y="3328416"/>
            <a:ext cx="3730752" cy="676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venance label POLICY"/>
          <p:cNvSpPr txBox="1"/>
          <p:nvPr/>
        </p:nvSpPr>
        <p:spPr>
          <a:xfrm>
            <a:off x="1133856" y="34930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sp>
        <p:nvSpPr>
          <p:cNvPr id="15" name="Provenance body POLICY"/>
          <p:cNvSpPr txBox="1"/>
          <p:nvPr/>
        </p:nvSpPr>
        <p:spPr>
          <a:xfrm>
            <a:off x="2340864" y="34747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marked block / action / SHA</a:t>
            </a:r>
          </a:p>
        </p:txBody>
      </p:sp>
      <p:cxnSp>
        <p:nvCxnSpPr>
          <p:cNvPr id="16" name="Provenance arrow"/>
          <p:cNvCxnSpPr/>
          <p:nvPr/>
        </p:nvCxnSpPr>
        <p:spPr>
          <a:xfrm>
            <a:off x="4736592" y="3666744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venance layer RESULT"/>
          <p:cNvSpPr/>
          <p:nvPr/>
        </p:nvSpPr>
        <p:spPr>
          <a:xfrm>
            <a:off x="1005840" y="4297680"/>
            <a:ext cx="3730752" cy="6766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venance label RESULT"/>
          <p:cNvSpPr txBox="1"/>
          <p:nvPr/>
        </p:nvSpPr>
        <p:spPr>
          <a:xfrm>
            <a:off x="1133856" y="4462272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9" name="Provenance body RESULT"/>
          <p:cNvSpPr txBox="1"/>
          <p:nvPr/>
        </p:nvSpPr>
        <p:spPr>
          <a:xfrm>
            <a:off x="2340864" y="444398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packet / service / endpoint J</a:t>
            </a:r>
          </a:p>
        </p:txBody>
      </p:sp>
      <p:sp>
        <p:nvSpPr>
          <p:cNvPr id="20" name="Identity ledger"/>
          <p:cNvSpPr/>
          <p:nvPr/>
        </p:nvSpPr>
        <p:spPr>
          <a:xfrm>
            <a:off x="5989320" y="1389888"/>
            <a:ext cx="5166360" cy="385876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dentity heading"/>
          <p:cNvSpPr txBox="1"/>
          <p:nvPr/>
        </p:nvSpPr>
        <p:spPr>
          <a:xfrm>
            <a:off x="6272784" y="1645920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同一個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scenario_id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要一路相同</a:t>
            </a:r>
          </a:p>
        </p:txBody>
      </p:sp>
      <p:sp>
        <p:nvSpPr>
          <p:cNvPr id="22" name="Identity values"/>
          <p:cNvSpPr txBox="1"/>
          <p:nvPr/>
        </p:nvSpPr>
        <p:spPr>
          <a:xfrm>
            <a:off x="6400800" y="2139696"/>
            <a:ext cx="4334256" cy="21396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seed / anchor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units / source_mode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result → replay → workbook</a:t>
            </a:r>
          </a:p>
        </p:txBody>
      </p:sp>
      <p:sp>
        <p:nvSpPr>
          <p:cNvPr id="23" name="Identity recovery"/>
          <p:cNvSpPr txBox="1"/>
          <p:nvPr/>
        </p:nvSpPr>
        <p:spPr>
          <a:xfrm>
            <a:off x="6364224" y="4590288"/>
            <a:ext cx="4425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：fail closed；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不可拼接相似畫面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State SLEEP"/>
          <p:cNvSpPr/>
          <p:nvPr/>
        </p:nvSpPr>
        <p:spPr>
          <a:xfrm>
            <a:off x="841248" y="1920240"/>
            <a:ext cx="17556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e SLEEP label"/>
          <p:cNvSpPr txBox="1"/>
          <p:nvPr/>
        </p:nvSpPr>
        <p:spPr>
          <a:xfrm>
            <a:off x="914400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2596896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3090672" y="1920240"/>
            <a:ext cx="17556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label"/>
          <p:cNvSpPr txBox="1"/>
          <p:nvPr/>
        </p:nvSpPr>
        <p:spPr>
          <a:xfrm>
            <a:off x="3163824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4846320" y="2322576"/>
            <a:ext cx="36575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PROCESS"/>
          <p:cNvSpPr/>
          <p:nvPr/>
        </p:nvSpPr>
        <p:spPr>
          <a:xfrm>
            <a:off x="5340096" y="1920240"/>
            <a:ext cx="17556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PROCESS label"/>
          <p:cNvSpPr txBox="1"/>
          <p:nvPr/>
        </p:nvSpPr>
        <p:spPr>
          <a:xfrm>
            <a:off x="5413248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095744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TX / RX"/>
          <p:cNvSpPr/>
          <p:nvPr/>
        </p:nvSpPr>
        <p:spPr>
          <a:xfrm>
            <a:off x="7589520" y="1920240"/>
            <a:ext cx="17556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TX / RX label"/>
          <p:cNvSpPr txBox="1"/>
          <p:nvPr/>
        </p:nvSpPr>
        <p:spPr>
          <a:xfrm>
            <a:off x="7662672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9345168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WAIT"/>
          <p:cNvSpPr/>
          <p:nvPr/>
        </p:nvSpPr>
        <p:spPr>
          <a:xfrm>
            <a:off x="9838944" y="1920240"/>
            <a:ext cx="1755648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WAIT label"/>
          <p:cNvSpPr txBox="1"/>
          <p:nvPr/>
        </p:nvSpPr>
        <p:spPr>
          <a:xfrm>
            <a:off x="9912096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9" name="State interpretation"/>
          <p:cNvSpPr/>
          <p:nvPr/>
        </p:nvSpPr>
        <p:spPr>
          <a:xfrm>
            <a:off x="896112" y="3246120"/>
            <a:ext cx="5074920" cy="2011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interpretation heading"/>
          <p:cNvSpPr txBox="1"/>
          <p:nvPr/>
        </p:nvSpPr>
        <p:spPr>
          <a:xfrm>
            <a:off x="1133856" y="3474720"/>
            <a:ext cx="46085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不要只讀總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</a:t>
            </a:r>
          </a:p>
        </p:txBody>
      </p:sp>
      <p:sp>
        <p:nvSpPr>
          <p:cNvPr id="21" name="State interpretation body"/>
          <p:cNvSpPr txBox="1"/>
          <p:nvPr/>
        </p:nvSpPr>
        <p:spPr>
          <a:xfrm>
            <a:off x="1143000" y="3913632"/>
            <a:ext cx="45902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沿著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duration、wake latency、TX/RX attempts，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的時間機制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2" name="State boundary"/>
          <p:cNvSpPr/>
          <p:nvPr/>
        </p:nvSpPr>
        <p:spPr>
          <a:xfrm>
            <a:off x="6263640" y="3246120"/>
            <a:ext cx="502920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boundary heading"/>
          <p:cNvSpPr txBox="1"/>
          <p:nvPr/>
        </p:nvSpPr>
        <p:spPr>
          <a:xfrm>
            <a:off x="6510528" y="3474720"/>
            <a:ext cx="4535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energy</a:t>
            </a:r>
          </a:p>
        </p:txBody>
      </p:sp>
      <p:sp>
        <p:nvSpPr>
          <p:cNvPr id="24" name="State boundary body"/>
          <p:cNvSpPr txBox="1"/>
          <p:nvPr/>
        </p:nvSpPr>
        <p:spPr>
          <a:xfrm>
            <a:off x="6519672" y="3913632"/>
            <a:ext cx="449884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contact window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上的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legal / illegal action marks。；VERIFIED; DONOR-REWRITE：BeamShift donor slides 2, 4–6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window opportunity，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LEO-only changing service example。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同一批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在兩種送出節奏上的雙泳道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job；pace / rest；service first。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PACE_GAP_STEPS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9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gap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變大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→ send opportunity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；line number：PLACEHOLDER。</a:t>
            </a:r>
          </a:p>
        </p:txBody>
      </p:sp>
      <p:sp>
        <p:nvSpPr>
          <p:cNvPr id="10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2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避免把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outcome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偷渡進決策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sp>
        <p:nvSpPr>
          <p:cNvPr id="13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5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6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8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REST_DURING_GAP = WAIT or SLEEP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prediction lock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before run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7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baseline command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stdout JSON。</a:t>
            </a:r>
          </a:p>
        </p:txBody>
      </p:sp>
      <p:sp>
        <p:nvSpPr>
          <p:cNvPr id="8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0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course.cmd run --lab A --case baseline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result_path：PLACEHOLDER</a:t>
            </a:r>
          </a:p>
        </p:txBody>
      </p:sp>
      <p:cxnSp>
        <p:nvCxnSpPr>
          <p:cNvPr id="11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runner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使用固定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scenario／seed，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寫出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 identity、policy hash、packet、service、state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endpoint-energy artifact。</a:t>
            </a:r>
          </a:p>
        </p:txBody>
      </p:sp>
      <p:cxnSp>
        <p:nvCxnSpPr>
          <p:cNvPr id="15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8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：baseline run_id、policy SHA、result_path，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queue／packet／service／state／J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欄位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cxnSp>
        <p:nvCxnSpPr>
          <p:cNvPr id="19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2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course.cmd run --lab A --case candidate --freeze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SHA：PLACEHOLDER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凍結候選版本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scenario、seed、policy SHA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predecessor，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withheld case。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freeze receipt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candidate、predecessor、anchor、policy SHA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source mode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綁在同一份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lineage。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：freeze receipt、predecessor、active_block_id、policy SHA；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缺任一欄就不能進下一個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case。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boundary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baseline/candidate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雙欄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evidence ledger。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 ledger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state duration；wake latency；TX/RX attempts；energy scope。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packet ledger → service gate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的箭頭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baseline → candidate → lab-a-frozen receipt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鏈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retune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跨兩個不同窗口的對照圖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9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result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顯示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cxnSp>
        <p:nvCxnSpPr>
          <p:cNvPr id="10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：hidden／Trace B／surprise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使用相同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的另一條條件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且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必須保持不變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4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另一條條件的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replay；policy SHA unchanged，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並同時列出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service、state、endpoint J。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5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7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在不再調參的條件下測試假說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讓結果可以推翻先前的預測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Trace caption"/>
          <p:cNvSpPr txBox="1"/>
          <p:nvPr/>
        </p:nvSpPr>
        <p:spPr>
          <a:xfrm>
            <a:off x="868680" y="1170432"/>
            <a:ext cx="104698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quality/contact trace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send-ready band。</a:t>
            </a:r>
          </a:p>
        </p:txBody>
      </p:sp>
      <p:cxnSp>
        <p:nvCxnSpPr>
          <p:cNvPr id="6" name="Trace axis"/>
          <p:cNvCxnSpPr/>
          <p:nvPr/>
        </p:nvCxnSpPr>
        <p:spPr>
          <a:xfrm>
            <a:off x="1005840" y="2907792"/>
            <a:ext cx="1001268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sample 1"/>
          <p:cNvCxnSpPr/>
          <p:nvPr/>
        </p:nvCxnSpPr>
        <p:spPr>
          <a:xfrm flipV="1">
            <a:off x="1207008" y="2496312"/>
            <a:ext cx="0" cy="411480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ce point 1"/>
          <p:cNvSpPr/>
          <p:nvPr/>
        </p:nvSpPr>
        <p:spPr>
          <a:xfrm>
            <a:off x="1124712" y="241401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race sample 2"/>
          <p:cNvCxnSpPr/>
          <p:nvPr/>
        </p:nvCxnSpPr>
        <p:spPr>
          <a:xfrm flipV="1">
            <a:off x="2852928" y="1901952"/>
            <a:ext cx="0" cy="1005840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ce point 2"/>
          <p:cNvSpPr/>
          <p:nvPr/>
        </p:nvSpPr>
        <p:spPr>
          <a:xfrm>
            <a:off x="2770632" y="181965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race sample 3"/>
          <p:cNvCxnSpPr/>
          <p:nvPr/>
        </p:nvCxnSpPr>
        <p:spPr>
          <a:xfrm flipV="1">
            <a:off x="4498848" y="2249424"/>
            <a:ext cx="0" cy="65836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ce point 3"/>
          <p:cNvSpPr/>
          <p:nvPr/>
        </p:nvSpPr>
        <p:spPr>
          <a:xfrm>
            <a:off x="4416552" y="216712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race sample 4"/>
          <p:cNvCxnSpPr/>
          <p:nvPr/>
        </p:nvCxnSpPr>
        <p:spPr>
          <a:xfrm flipV="1">
            <a:off x="6144768" y="1645920"/>
            <a:ext cx="0" cy="1261872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 4"/>
          <p:cNvSpPr/>
          <p:nvPr/>
        </p:nvSpPr>
        <p:spPr>
          <a:xfrm>
            <a:off x="6062472" y="1563624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race sample 5"/>
          <p:cNvCxnSpPr/>
          <p:nvPr/>
        </p:nvCxnSpPr>
        <p:spPr>
          <a:xfrm flipV="1">
            <a:off x="7790688" y="2377440"/>
            <a:ext cx="0" cy="530352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ce point 5"/>
          <p:cNvSpPr/>
          <p:nvPr/>
        </p:nvSpPr>
        <p:spPr>
          <a:xfrm>
            <a:off x="7708392" y="229514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race sample 6"/>
          <p:cNvCxnSpPr/>
          <p:nvPr/>
        </p:nvCxnSpPr>
        <p:spPr>
          <a:xfrm flipV="1">
            <a:off x="9436608" y="1956816"/>
            <a:ext cx="0" cy="950976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ce point 6"/>
          <p:cNvSpPr/>
          <p:nvPr/>
        </p:nvSpPr>
        <p:spPr>
          <a:xfrm>
            <a:off x="9354312" y="1874519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Trace sample 7"/>
          <p:cNvCxnSpPr/>
          <p:nvPr/>
        </p:nvCxnSpPr>
        <p:spPr>
          <a:xfrm flipV="1">
            <a:off x="10808208" y="2157984"/>
            <a:ext cx="0" cy="74980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ce point 7"/>
          <p:cNvSpPr/>
          <p:nvPr/>
        </p:nvSpPr>
        <p:spPr>
          <a:xfrm>
            <a:off x="10725912" y="2075688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Trace threshold"/>
          <p:cNvCxnSpPr/>
          <p:nvPr/>
        </p:nvCxnSpPr>
        <p:spPr>
          <a:xfrm>
            <a:off x="1005840" y="1874519"/>
            <a:ext cx="9966960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ce threshold label"/>
          <p:cNvSpPr txBox="1"/>
          <p:nvPr/>
        </p:nvSpPr>
        <p:spPr>
          <a:xfrm>
            <a:off x="9326880" y="155448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 / EXIT</a:t>
            </a:r>
          </a:p>
        </p:txBody>
      </p:sp>
      <p:sp>
        <p:nvSpPr>
          <p:cNvPr id="23" name="Trace decision"/>
          <p:cNvSpPr/>
          <p:nvPr/>
        </p:nvSpPr>
        <p:spPr>
          <a:xfrm>
            <a:off x="896112" y="3822191"/>
            <a:ext cx="5029200" cy="149961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e decision heading"/>
          <p:cNvSpPr txBox="1"/>
          <p:nvPr/>
        </p:nvSpPr>
        <p:spPr>
          <a:xfrm>
            <a:off x="1115568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decision</a:t>
            </a:r>
          </a:p>
        </p:txBody>
      </p:sp>
      <p:sp>
        <p:nvSpPr>
          <p:cNvPr id="25" name="Trace decision body"/>
          <p:cNvSpPr txBox="1"/>
          <p:nvPr/>
        </p:nvSpPr>
        <p:spPr>
          <a:xfrm>
            <a:off x="1143000" y="4462272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/ hold / exit；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quality、age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與剩餘窗口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6" name="Trace verdict"/>
          <p:cNvSpPr/>
          <p:nvPr/>
        </p:nvSpPr>
        <p:spPr>
          <a:xfrm>
            <a:off x="6254496" y="3822191"/>
            <a:ext cx="5029200" cy="149961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e verdict heading"/>
          <p:cNvSpPr txBox="1"/>
          <p:nvPr/>
        </p:nvSpPr>
        <p:spPr>
          <a:xfrm>
            <a:off x="6473952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</a:p>
        </p:txBody>
      </p:sp>
      <p:sp>
        <p:nvSpPr>
          <p:cNvPr id="28" name="Trace verdict body"/>
          <p:cNvSpPr txBox="1"/>
          <p:nvPr/>
        </p:nvSpPr>
        <p:spPr>
          <a:xfrm>
            <a:off x="6492240" y="4462272"/>
            <a:ext cx="453542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切換次數不是唯一答案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retry、delivery、service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一起解讀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send-ready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Trace caption"/>
          <p:cNvSpPr txBox="1"/>
          <p:nvPr/>
        </p:nvSpPr>
        <p:spPr>
          <a:xfrm>
            <a:off x="868680" y="1170432"/>
            <a:ext cx="104698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quality curve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穿越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enter threshold。</a:t>
            </a:r>
          </a:p>
        </p:txBody>
      </p:sp>
      <p:cxnSp>
        <p:nvCxnSpPr>
          <p:cNvPr id="6" name="Trace axis"/>
          <p:cNvCxnSpPr/>
          <p:nvPr/>
        </p:nvCxnSpPr>
        <p:spPr>
          <a:xfrm>
            <a:off x="1005840" y="2907792"/>
            <a:ext cx="1001268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sample 1"/>
          <p:cNvCxnSpPr/>
          <p:nvPr/>
        </p:nvCxnSpPr>
        <p:spPr>
          <a:xfrm flipV="1">
            <a:off x="1207008" y="2496312"/>
            <a:ext cx="0" cy="411480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ce point 1"/>
          <p:cNvSpPr/>
          <p:nvPr/>
        </p:nvSpPr>
        <p:spPr>
          <a:xfrm>
            <a:off x="1124712" y="241401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race sample 2"/>
          <p:cNvCxnSpPr/>
          <p:nvPr/>
        </p:nvCxnSpPr>
        <p:spPr>
          <a:xfrm flipV="1">
            <a:off x="2852928" y="1901952"/>
            <a:ext cx="0" cy="1005840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ce point 2"/>
          <p:cNvSpPr/>
          <p:nvPr/>
        </p:nvSpPr>
        <p:spPr>
          <a:xfrm>
            <a:off x="2770632" y="181965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race sample 3"/>
          <p:cNvCxnSpPr/>
          <p:nvPr/>
        </p:nvCxnSpPr>
        <p:spPr>
          <a:xfrm flipV="1">
            <a:off x="4498848" y="2249424"/>
            <a:ext cx="0" cy="65836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ce point 3"/>
          <p:cNvSpPr/>
          <p:nvPr/>
        </p:nvSpPr>
        <p:spPr>
          <a:xfrm>
            <a:off x="4416552" y="216712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race sample 4"/>
          <p:cNvCxnSpPr/>
          <p:nvPr/>
        </p:nvCxnSpPr>
        <p:spPr>
          <a:xfrm flipV="1">
            <a:off x="6144768" y="1645920"/>
            <a:ext cx="0" cy="1261872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 4"/>
          <p:cNvSpPr/>
          <p:nvPr/>
        </p:nvSpPr>
        <p:spPr>
          <a:xfrm>
            <a:off x="6062472" y="1563624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race sample 5"/>
          <p:cNvCxnSpPr/>
          <p:nvPr/>
        </p:nvCxnSpPr>
        <p:spPr>
          <a:xfrm flipV="1">
            <a:off x="7790688" y="2377440"/>
            <a:ext cx="0" cy="530352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ce point 5"/>
          <p:cNvSpPr/>
          <p:nvPr/>
        </p:nvSpPr>
        <p:spPr>
          <a:xfrm>
            <a:off x="7708392" y="229514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race sample 6"/>
          <p:cNvCxnSpPr/>
          <p:nvPr/>
        </p:nvCxnSpPr>
        <p:spPr>
          <a:xfrm flipV="1">
            <a:off x="9436608" y="1956816"/>
            <a:ext cx="0" cy="950976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ce point 6"/>
          <p:cNvSpPr/>
          <p:nvPr/>
        </p:nvSpPr>
        <p:spPr>
          <a:xfrm>
            <a:off x="9354312" y="1874519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Trace sample 7"/>
          <p:cNvCxnSpPr/>
          <p:nvPr/>
        </p:nvCxnSpPr>
        <p:spPr>
          <a:xfrm flipV="1">
            <a:off x="10808208" y="2157984"/>
            <a:ext cx="0" cy="74980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ce point 7"/>
          <p:cNvSpPr/>
          <p:nvPr/>
        </p:nvSpPr>
        <p:spPr>
          <a:xfrm>
            <a:off x="10725912" y="2075688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Trace threshold"/>
          <p:cNvCxnSpPr/>
          <p:nvPr/>
        </p:nvCxnSpPr>
        <p:spPr>
          <a:xfrm>
            <a:off x="1005840" y="1874519"/>
            <a:ext cx="9966960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ce threshold label"/>
          <p:cNvSpPr txBox="1"/>
          <p:nvPr/>
        </p:nvSpPr>
        <p:spPr>
          <a:xfrm>
            <a:off x="9326880" y="155448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 / EXIT</a:t>
            </a:r>
          </a:p>
        </p:txBody>
      </p:sp>
      <p:sp>
        <p:nvSpPr>
          <p:cNvPr id="23" name="Trace decision"/>
          <p:cNvSpPr/>
          <p:nvPr/>
        </p:nvSpPr>
        <p:spPr>
          <a:xfrm>
            <a:off x="896112" y="3822191"/>
            <a:ext cx="5029200" cy="149961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e decision heading"/>
          <p:cNvSpPr txBox="1"/>
          <p:nvPr/>
        </p:nvSpPr>
        <p:spPr>
          <a:xfrm>
            <a:off x="1115568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decision</a:t>
            </a:r>
          </a:p>
        </p:txBody>
      </p:sp>
      <p:sp>
        <p:nvSpPr>
          <p:cNvPr id="25" name="Trace decision body"/>
          <p:cNvSpPr txBox="1"/>
          <p:nvPr/>
        </p:nvSpPr>
        <p:spPr>
          <a:xfrm>
            <a:off x="1143000" y="4462272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/ hold / exit；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quality、age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與剩餘窗口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6" name="Trace verdict"/>
          <p:cNvSpPr/>
          <p:nvPr/>
        </p:nvSpPr>
        <p:spPr>
          <a:xfrm>
            <a:off x="6254496" y="3822191"/>
            <a:ext cx="5029200" cy="149961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e verdict heading"/>
          <p:cNvSpPr txBox="1"/>
          <p:nvPr/>
        </p:nvSpPr>
        <p:spPr>
          <a:xfrm>
            <a:off x="6473952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</a:p>
        </p:txBody>
      </p:sp>
      <p:sp>
        <p:nvSpPr>
          <p:cNvPr id="28" name="Trace verdict body"/>
          <p:cNvSpPr txBox="1"/>
          <p:nvPr/>
        </p:nvSpPr>
        <p:spPr>
          <a:xfrm>
            <a:off x="6492240" y="4462272"/>
            <a:ext cx="453542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切換次數不是唯一答案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retry、delivery、service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一起解讀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Trace caption"/>
          <p:cNvSpPr txBox="1"/>
          <p:nvPr/>
        </p:nvSpPr>
        <p:spPr>
          <a:xfrm>
            <a:off x="868680" y="1170432"/>
            <a:ext cx="104698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enter/exit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兩條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threshold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中間的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band。</a:t>
            </a:r>
          </a:p>
        </p:txBody>
      </p:sp>
      <p:cxnSp>
        <p:nvCxnSpPr>
          <p:cNvPr id="8" name="Trace axis"/>
          <p:cNvCxnSpPr/>
          <p:nvPr/>
        </p:nvCxnSpPr>
        <p:spPr>
          <a:xfrm>
            <a:off x="1005840" y="2907792"/>
            <a:ext cx="1001268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Trace sample 1"/>
          <p:cNvCxnSpPr/>
          <p:nvPr/>
        </p:nvCxnSpPr>
        <p:spPr>
          <a:xfrm flipV="1">
            <a:off x="1207008" y="2496312"/>
            <a:ext cx="0" cy="411480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ce point 1"/>
          <p:cNvSpPr/>
          <p:nvPr/>
        </p:nvSpPr>
        <p:spPr>
          <a:xfrm>
            <a:off x="1124712" y="241401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race sample 2"/>
          <p:cNvCxnSpPr/>
          <p:nvPr/>
        </p:nvCxnSpPr>
        <p:spPr>
          <a:xfrm flipV="1">
            <a:off x="2852928" y="1901952"/>
            <a:ext cx="0" cy="1005840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ce point 2"/>
          <p:cNvSpPr/>
          <p:nvPr/>
        </p:nvSpPr>
        <p:spPr>
          <a:xfrm>
            <a:off x="2770632" y="181965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race sample 3"/>
          <p:cNvCxnSpPr/>
          <p:nvPr/>
        </p:nvCxnSpPr>
        <p:spPr>
          <a:xfrm flipV="1">
            <a:off x="4498848" y="2249424"/>
            <a:ext cx="0" cy="65836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 3"/>
          <p:cNvSpPr/>
          <p:nvPr/>
        </p:nvSpPr>
        <p:spPr>
          <a:xfrm>
            <a:off x="4416552" y="216712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race sample 4"/>
          <p:cNvCxnSpPr/>
          <p:nvPr/>
        </p:nvCxnSpPr>
        <p:spPr>
          <a:xfrm flipV="1">
            <a:off x="6144768" y="1645920"/>
            <a:ext cx="0" cy="1261872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ce point 4"/>
          <p:cNvSpPr/>
          <p:nvPr/>
        </p:nvSpPr>
        <p:spPr>
          <a:xfrm>
            <a:off x="6062472" y="1563624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race sample 5"/>
          <p:cNvCxnSpPr/>
          <p:nvPr/>
        </p:nvCxnSpPr>
        <p:spPr>
          <a:xfrm flipV="1">
            <a:off x="7790688" y="2377440"/>
            <a:ext cx="0" cy="530352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ce point 5"/>
          <p:cNvSpPr/>
          <p:nvPr/>
        </p:nvSpPr>
        <p:spPr>
          <a:xfrm>
            <a:off x="7708392" y="229514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Trace sample 6"/>
          <p:cNvCxnSpPr/>
          <p:nvPr/>
        </p:nvCxnSpPr>
        <p:spPr>
          <a:xfrm flipV="1">
            <a:off x="9436608" y="1956816"/>
            <a:ext cx="0" cy="950976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ce point 6"/>
          <p:cNvSpPr/>
          <p:nvPr/>
        </p:nvSpPr>
        <p:spPr>
          <a:xfrm>
            <a:off x="9354312" y="1874519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Trace sample 7"/>
          <p:cNvCxnSpPr/>
          <p:nvPr/>
        </p:nvCxnSpPr>
        <p:spPr>
          <a:xfrm flipV="1">
            <a:off x="10808208" y="2157984"/>
            <a:ext cx="0" cy="74980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ce point 7"/>
          <p:cNvSpPr/>
          <p:nvPr/>
        </p:nvSpPr>
        <p:spPr>
          <a:xfrm>
            <a:off x="10725912" y="2075688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Trace threshold"/>
          <p:cNvCxnSpPr/>
          <p:nvPr/>
        </p:nvCxnSpPr>
        <p:spPr>
          <a:xfrm>
            <a:off x="1005840" y="1874519"/>
            <a:ext cx="9966960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race threshold label"/>
          <p:cNvSpPr txBox="1"/>
          <p:nvPr/>
        </p:nvSpPr>
        <p:spPr>
          <a:xfrm>
            <a:off x="9326880" y="155448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 / EXIT</a:t>
            </a:r>
          </a:p>
        </p:txBody>
      </p:sp>
      <p:sp>
        <p:nvSpPr>
          <p:cNvPr id="25" name="Trace decision"/>
          <p:cNvSpPr/>
          <p:nvPr/>
        </p:nvSpPr>
        <p:spPr>
          <a:xfrm>
            <a:off x="896112" y="3822191"/>
            <a:ext cx="5029200" cy="149961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race decision heading"/>
          <p:cNvSpPr txBox="1"/>
          <p:nvPr/>
        </p:nvSpPr>
        <p:spPr>
          <a:xfrm>
            <a:off x="1115568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decision</a:t>
            </a:r>
          </a:p>
        </p:txBody>
      </p:sp>
      <p:sp>
        <p:nvSpPr>
          <p:cNvPr id="27" name="Trace decision body"/>
          <p:cNvSpPr txBox="1"/>
          <p:nvPr/>
        </p:nvSpPr>
        <p:spPr>
          <a:xfrm>
            <a:off x="1143000" y="4462272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/ hold / exit；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quality、age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與剩餘窗口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8" name="Trace verdict"/>
          <p:cNvSpPr/>
          <p:nvPr/>
        </p:nvSpPr>
        <p:spPr>
          <a:xfrm>
            <a:off x="6254496" y="3822191"/>
            <a:ext cx="5029200" cy="149961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race verdict heading"/>
          <p:cNvSpPr txBox="1"/>
          <p:nvPr/>
        </p:nvSpPr>
        <p:spPr>
          <a:xfrm>
            <a:off x="6473952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</a:p>
        </p:txBody>
      </p:sp>
      <p:sp>
        <p:nvSpPr>
          <p:cNvPr id="30" name="Trace verdict body"/>
          <p:cNvSpPr txBox="1"/>
          <p:nvPr/>
        </p:nvSpPr>
        <p:spPr>
          <a:xfrm>
            <a:off x="6492240" y="4462272"/>
            <a:ext cx="453542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切換次數不是唯一答案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retry、delivery、service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一起解讀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Trace caption"/>
          <p:cNvSpPr txBox="1"/>
          <p:nvPr/>
        </p:nvSpPr>
        <p:spPr>
          <a:xfrm>
            <a:off x="868680" y="1170432"/>
            <a:ext cx="104698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逐格累積的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stability counter。</a:t>
            </a:r>
          </a:p>
        </p:txBody>
      </p:sp>
      <p:cxnSp>
        <p:nvCxnSpPr>
          <p:cNvPr id="6" name="Trace axis"/>
          <p:cNvCxnSpPr/>
          <p:nvPr/>
        </p:nvCxnSpPr>
        <p:spPr>
          <a:xfrm>
            <a:off x="1005840" y="2907792"/>
            <a:ext cx="1001268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sample 1"/>
          <p:cNvCxnSpPr/>
          <p:nvPr/>
        </p:nvCxnSpPr>
        <p:spPr>
          <a:xfrm flipV="1">
            <a:off x="1207008" y="2496312"/>
            <a:ext cx="0" cy="411480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ce point 1"/>
          <p:cNvSpPr/>
          <p:nvPr/>
        </p:nvSpPr>
        <p:spPr>
          <a:xfrm>
            <a:off x="1124712" y="241401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race sample 2"/>
          <p:cNvCxnSpPr/>
          <p:nvPr/>
        </p:nvCxnSpPr>
        <p:spPr>
          <a:xfrm flipV="1">
            <a:off x="2852928" y="1901952"/>
            <a:ext cx="0" cy="1005840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ce point 2"/>
          <p:cNvSpPr/>
          <p:nvPr/>
        </p:nvSpPr>
        <p:spPr>
          <a:xfrm>
            <a:off x="2770632" y="181965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race sample 3"/>
          <p:cNvCxnSpPr/>
          <p:nvPr/>
        </p:nvCxnSpPr>
        <p:spPr>
          <a:xfrm flipV="1">
            <a:off x="4498848" y="2249424"/>
            <a:ext cx="0" cy="65836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ce point 3"/>
          <p:cNvSpPr/>
          <p:nvPr/>
        </p:nvSpPr>
        <p:spPr>
          <a:xfrm>
            <a:off x="4416552" y="216712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race sample 4"/>
          <p:cNvCxnSpPr/>
          <p:nvPr/>
        </p:nvCxnSpPr>
        <p:spPr>
          <a:xfrm flipV="1">
            <a:off x="6144768" y="1645920"/>
            <a:ext cx="0" cy="1261872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 4"/>
          <p:cNvSpPr/>
          <p:nvPr/>
        </p:nvSpPr>
        <p:spPr>
          <a:xfrm>
            <a:off x="6062472" y="1563624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race sample 5"/>
          <p:cNvCxnSpPr/>
          <p:nvPr/>
        </p:nvCxnSpPr>
        <p:spPr>
          <a:xfrm flipV="1">
            <a:off x="7790688" y="2377440"/>
            <a:ext cx="0" cy="530352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ce point 5"/>
          <p:cNvSpPr/>
          <p:nvPr/>
        </p:nvSpPr>
        <p:spPr>
          <a:xfrm>
            <a:off x="7708392" y="229514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race sample 6"/>
          <p:cNvCxnSpPr/>
          <p:nvPr/>
        </p:nvCxnSpPr>
        <p:spPr>
          <a:xfrm flipV="1">
            <a:off x="9436608" y="1956816"/>
            <a:ext cx="0" cy="950976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ce point 6"/>
          <p:cNvSpPr/>
          <p:nvPr/>
        </p:nvSpPr>
        <p:spPr>
          <a:xfrm>
            <a:off x="9354312" y="1874519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Trace sample 7"/>
          <p:cNvCxnSpPr/>
          <p:nvPr/>
        </p:nvCxnSpPr>
        <p:spPr>
          <a:xfrm flipV="1">
            <a:off x="10808208" y="2157984"/>
            <a:ext cx="0" cy="74980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ce point 7"/>
          <p:cNvSpPr/>
          <p:nvPr/>
        </p:nvSpPr>
        <p:spPr>
          <a:xfrm>
            <a:off x="10725912" y="2075688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Trace threshold"/>
          <p:cNvCxnSpPr/>
          <p:nvPr/>
        </p:nvCxnSpPr>
        <p:spPr>
          <a:xfrm>
            <a:off x="1005840" y="1874519"/>
            <a:ext cx="9966960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ce threshold label"/>
          <p:cNvSpPr txBox="1"/>
          <p:nvPr/>
        </p:nvSpPr>
        <p:spPr>
          <a:xfrm>
            <a:off x="9326880" y="155448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 / EXIT</a:t>
            </a:r>
          </a:p>
        </p:txBody>
      </p:sp>
      <p:sp>
        <p:nvSpPr>
          <p:cNvPr id="23" name="Trace decision"/>
          <p:cNvSpPr/>
          <p:nvPr/>
        </p:nvSpPr>
        <p:spPr>
          <a:xfrm>
            <a:off x="896112" y="3822191"/>
            <a:ext cx="5029200" cy="149961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e decision heading"/>
          <p:cNvSpPr txBox="1"/>
          <p:nvPr/>
        </p:nvSpPr>
        <p:spPr>
          <a:xfrm>
            <a:off x="1115568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decision</a:t>
            </a:r>
          </a:p>
        </p:txBody>
      </p:sp>
      <p:sp>
        <p:nvSpPr>
          <p:cNvPr id="25" name="Trace decision body"/>
          <p:cNvSpPr txBox="1"/>
          <p:nvPr/>
        </p:nvSpPr>
        <p:spPr>
          <a:xfrm>
            <a:off x="1143000" y="4462272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/ hold / exit；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quality、age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與剩餘窗口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6" name="Trace verdict"/>
          <p:cNvSpPr/>
          <p:nvPr/>
        </p:nvSpPr>
        <p:spPr>
          <a:xfrm>
            <a:off x="6254496" y="3822191"/>
            <a:ext cx="5029200" cy="149961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e verdict heading"/>
          <p:cNvSpPr txBox="1"/>
          <p:nvPr/>
        </p:nvSpPr>
        <p:spPr>
          <a:xfrm>
            <a:off x="6473952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</a:p>
        </p:txBody>
      </p:sp>
      <p:sp>
        <p:nvSpPr>
          <p:cNvPr id="28" name="Trace verdict body"/>
          <p:cNvSpPr txBox="1"/>
          <p:nvPr/>
        </p:nvSpPr>
        <p:spPr>
          <a:xfrm>
            <a:off x="6492240" y="4462272"/>
            <a:ext cx="453542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切換次數不是唯一答案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retry、delivery、service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一起解讀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Trace caption"/>
          <p:cNvSpPr txBox="1"/>
          <p:nvPr/>
        </p:nvSpPr>
        <p:spPr>
          <a:xfrm>
            <a:off x="868680" y="1170432"/>
            <a:ext cx="104698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Trace A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上的三個預測標記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Trace axis"/>
          <p:cNvCxnSpPr/>
          <p:nvPr/>
        </p:nvCxnSpPr>
        <p:spPr>
          <a:xfrm>
            <a:off x="1005840" y="2907792"/>
            <a:ext cx="1001268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sample 1"/>
          <p:cNvCxnSpPr/>
          <p:nvPr/>
        </p:nvCxnSpPr>
        <p:spPr>
          <a:xfrm flipV="1">
            <a:off x="1207008" y="2496312"/>
            <a:ext cx="0" cy="411480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ce point 1"/>
          <p:cNvSpPr/>
          <p:nvPr/>
        </p:nvSpPr>
        <p:spPr>
          <a:xfrm>
            <a:off x="1124712" y="241401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race sample 2"/>
          <p:cNvCxnSpPr/>
          <p:nvPr/>
        </p:nvCxnSpPr>
        <p:spPr>
          <a:xfrm flipV="1">
            <a:off x="2852928" y="1901952"/>
            <a:ext cx="0" cy="1005840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ce point 2"/>
          <p:cNvSpPr/>
          <p:nvPr/>
        </p:nvSpPr>
        <p:spPr>
          <a:xfrm>
            <a:off x="2770632" y="181965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race sample 3"/>
          <p:cNvCxnSpPr/>
          <p:nvPr/>
        </p:nvCxnSpPr>
        <p:spPr>
          <a:xfrm flipV="1">
            <a:off x="4498848" y="2249424"/>
            <a:ext cx="0" cy="65836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ce point 3"/>
          <p:cNvSpPr/>
          <p:nvPr/>
        </p:nvSpPr>
        <p:spPr>
          <a:xfrm>
            <a:off x="4416552" y="216712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race sample 4"/>
          <p:cNvCxnSpPr/>
          <p:nvPr/>
        </p:nvCxnSpPr>
        <p:spPr>
          <a:xfrm flipV="1">
            <a:off x="6144768" y="1645920"/>
            <a:ext cx="0" cy="1261872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 4"/>
          <p:cNvSpPr/>
          <p:nvPr/>
        </p:nvSpPr>
        <p:spPr>
          <a:xfrm>
            <a:off x="6062472" y="1563624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race sample 5"/>
          <p:cNvCxnSpPr/>
          <p:nvPr/>
        </p:nvCxnSpPr>
        <p:spPr>
          <a:xfrm flipV="1">
            <a:off x="7790688" y="2377440"/>
            <a:ext cx="0" cy="530352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ce point 5"/>
          <p:cNvSpPr/>
          <p:nvPr/>
        </p:nvSpPr>
        <p:spPr>
          <a:xfrm>
            <a:off x="7708392" y="229514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race sample 6"/>
          <p:cNvCxnSpPr/>
          <p:nvPr/>
        </p:nvCxnSpPr>
        <p:spPr>
          <a:xfrm flipV="1">
            <a:off x="9436608" y="1956816"/>
            <a:ext cx="0" cy="950976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ce point 6"/>
          <p:cNvSpPr/>
          <p:nvPr/>
        </p:nvSpPr>
        <p:spPr>
          <a:xfrm>
            <a:off x="9354312" y="1874519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Trace sample 7"/>
          <p:cNvCxnSpPr/>
          <p:nvPr/>
        </p:nvCxnSpPr>
        <p:spPr>
          <a:xfrm flipV="1">
            <a:off x="10808208" y="2157984"/>
            <a:ext cx="0" cy="74980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ce point 7"/>
          <p:cNvSpPr/>
          <p:nvPr/>
        </p:nvSpPr>
        <p:spPr>
          <a:xfrm>
            <a:off x="10725912" y="2075688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Trace threshold"/>
          <p:cNvCxnSpPr/>
          <p:nvPr/>
        </p:nvCxnSpPr>
        <p:spPr>
          <a:xfrm>
            <a:off x="1005840" y="1874519"/>
            <a:ext cx="9966960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ce threshold label"/>
          <p:cNvSpPr txBox="1"/>
          <p:nvPr/>
        </p:nvSpPr>
        <p:spPr>
          <a:xfrm>
            <a:off x="9326880" y="155448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 / EXIT</a:t>
            </a:r>
          </a:p>
        </p:txBody>
      </p:sp>
      <p:sp>
        <p:nvSpPr>
          <p:cNvPr id="23" name="Trace decision"/>
          <p:cNvSpPr/>
          <p:nvPr/>
        </p:nvSpPr>
        <p:spPr>
          <a:xfrm>
            <a:off x="896112" y="3822191"/>
            <a:ext cx="5029200" cy="149961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e decision heading"/>
          <p:cNvSpPr txBox="1"/>
          <p:nvPr/>
        </p:nvSpPr>
        <p:spPr>
          <a:xfrm>
            <a:off x="1115568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decision</a:t>
            </a:r>
          </a:p>
        </p:txBody>
      </p:sp>
      <p:sp>
        <p:nvSpPr>
          <p:cNvPr id="25" name="Trace decision body"/>
          <p:cNvSpPr txBox="1"/>
          <p:nvPr/>
        </p:nvSpPr>
        <p:spPr>
          <a:xfrm>
            <a:off x="1143000" y="4462272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/ hold / exit；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quality、age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與剩餘窗口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6" name="Trace verdict"/>
          <p:cNvSpPr/>
          <p:nvPr/>
        </p:nvSpPr>
        <p:spPr>
          <a:xfrm>
            <a:off x="6254496" y="3822191"/>
            <a:ext cx="5029200" cy="149961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e verdict heading"/>
          <p:cNvSpPr txBox="1"/>
          <p:nvPr/>
        </p:nvSpPr>
        <p:spPr>
          <a:xfrm>
            <a:off x="6473952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</a:p>
        </p:txBody>
      </p:sp>
      <p:sp>
        <p:nvSpPr>
          <p:cNvPr id="28" name="Trace verdict body"/>
          <p:cNvSpPr txBox="1"/>
          <p:nvPr/>
        </p:nvSpPr>
        <p:spPr>
          <a:xfrm>
            <a:off x="6492240" y="4462272"/>
            <a:ext cx="453542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切換次數不是唯一答案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retry、delivery、service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一起解讀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Trace A baseline command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result path。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B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常數中的單一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diff。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不只讀品質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mode transition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packet/service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的同步表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B frozen receipt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的鎖與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predecessor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箭頭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7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frozen policy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跨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Trace A / B。</a:t>
            </a:r>
          </a:p>
        </p:txBody>
      </p:sp>
      <p:sp>
        <p:nvSpPr>
          <p:cNvPr id="8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11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2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4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6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8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20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2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4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ping-pong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Trace caption"/>
          <p:cNvSpPr txBox="1"/>
          <p:nvPr/>
        </p:nvSpPr>
        <p:spPr>
          <a:xfrm>
            <a:off x="868680" y="1170432"/>
            <a:ext cx="104698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兩條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transition traces。</a:t>
            </a:r>
          </a:p>
        </p:txBody>
      </p:sp>
      <p:cxnSp>
        <p:nvCxnSpPr>
          <p:cNvPr id="6" name="Trace axis"/>
          <p:cNvCxnSpPr/>
          <p:nvPr/>
        </p:nvCxnSpPr>
        <p:spPr>
          <a:xfrm>
            <a:off x="1005840" y="2907792"/>
            <a:ext cx="1001268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sample 1"/>
          <p:cNvCxnSpPr/>
          <p:nvPr/>
        </p:nvCxnSpPr>
        <p:spPr>
          <a:xfrm flipV="1">
            <a:off x="1207008" y="2496312"/>
            <a:ext cx="0" cy="411480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ce point 1"/>
          <p:cNvSpPr/>
          <p:nvPr/>
        </p:nvSpPr>
        <p:spPr>
          <a:xfrm>
            <a:off x="1124712" y="241401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race sample 2"/>
          <p:cNvCxnSpPr/>
          <p:nvPr/>
        </p:nvCxnSpPr>
        <p:spPr>
          <a:xfrm flipV="1">
            <a:off x="2852928" y="1901952"/>
            <a:ext cx="0" cy="1005840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ce point 2"/>
          <p:cNvSpPr/>
          <p:nvPr/>
        </p:nvSpPr>
        <p:spPr>
          <a:xfrm>
            <a:off x="2770632" y="181965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race sample 3"/>
          <p:cNvCxnSpPr/>
          <p:nvPr/>
        </p:nvCxnSpPr>
        <p:spPr>
          <a:xfrm flipV="1">
            <a:off x="4498848" y="2249424"/>
            <a:ext cx="0" cy="65836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ce point 3"/>
          <p:cNvSpPr/>
          <p:nvPr/>
        </p:nvSpPr>
        <p:spPr>
          <a:xfrm>
            <a:off x="4416552" y="216712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race sample 4"/>
          <p:cNvCxnSpPr/>
          <p:nvPr/>
        </p:nvCxnSpPr>
        <p:spPr>
          <a:xfrm flipV="1">
            <a:off x="6144768" y="1645920"/>
            <a:ext cx="0" cy="1261872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 4"/>
          <p:cNvSpPr/>
          <p:nvPr/>
        </p:nvSpPr>
        <p:spPr>
          <a:xfrm>
            <a:off x="6062472" y="1563624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race sample 5"/>
          <p:cNvCxnSpPr/>
          <p:nvPr/>
        </p:nvCxnSpPr>
        <p:spPr>
          <a:xfrm flipV="1">
            <a:off x="7790688" y="2377440"/>
            <a:ext cx="0" cy="530352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ce point 5"/>
          <p:cNvSpPr/>
          <p:nvPr/>
        </p:nvSpPr>
        <p:spPr>
          <a:xfrm>
            <a:off x="7708392" y="229514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race sample 6"/>
          <p:cNvCxnSpPr/>
          <p:nvPr/>
        </p:nvCxnSpPr>
        <p:spPr>
          <a:xfrm flipV="1">
            <a:off x="9436608" y="1956816"/>
            <a:ext cx="0" cy="950976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ce point 6"/>
          <p:cNvSpPr/>
          <p:nvPr/>
        </p:nvSpPr>
        <p:spPr>
          <a:xfrm>
            <a:off x="9354312" y="1874519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Trace sample 7"/>
          <p:cNvCxnSpPr/>
          <p:nvPr/>
        </p:nvCxnSpPr>
        <p:spPr>
          <a:xfrm flipV="1">
            <a:off x="10808208" y="2157984"/>
            <a:ext cx="0" cy="74980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ce point 7"/>
          <p:cNvSpPr/>
          <p:nvPr/>
        </p:nvSpPr>
        <p:spPr>
          <a:xfrm>
            <a:off x="10725912" y="2075688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Trace threshold"/>
          <p:cNvCxnSpPr/>
          <p:nvPr/>
        </p:nvCxnSpPr>
        <p:spPr>
          <a:xfrm>
            <a:off x="1005840" y="1874519"/>
            <a:ext cx="9966960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ce threshold label"/>
          <p:cNvSpPr txBox="1"/>
          <p:nvPr/>
        </p:nvSpPr>
        <p:spPr>
          <a:xfrm>
            <a:off x="9326880" y="155448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 / EXIT</a:t>
            </a:r>
          </a:p>
        </p:txBody>
      </p:sp>
      <p:sp>
        <p:nvSpPr>
          <p:cNvPr id="23" name="Trace decision"/>
          <p:cNvSpPr/>
          <p:nvPr/>
        </p:nvSpPr>
        <p:spPr>
          <a:xfrm>
            <a:off x="896112" y="3822191"/>
            <a:ext cx="5029200" cy="149961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e decision heading"/>
          <p:cNvSpPr txBox="1"/>
          <p:nvPr/>
        </p:nvSpPr>
        <p:spPr>
          <a:xfrm>
            <a:off x="1115568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decision</a:t>
            </a:r>
          </a:p>
        </p:txBody>
      </p:sp>
      <p:sp>
        <p:nvSpPr>
          <p:cNvPr id="25" name="Trace decision body"/>
          <p:cNvSpPr txBox="1"/>
          <p:nvPr/>
        </p:nvSpPr>
        <p:spPr>
          <a:xfrm>
            <a:off x="1143000" y="4462272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/ hold / exit；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quality、age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與剩餘窗口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6" name="Trace verdict"/>
          <p:cNvSpPr/>
          <p:nvPr/>
        </p:nvSpPr>
        <p:spPr>
          <a:xfrm>
            <a:off x="6254496" y="3822191"/>
            <a:ext cx="5029200" cy="149961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e verdict heading"/>
          <p:cNvSpPr txBox="1"/>
          <p:nvPr/>
        </p:nvSpPr>
        <p:spPr>
          <a:xfrm>
            <a:off x="6473952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</a:p>
        </p:txBody>
      </p:sp>
      <p:sp>
        <p:nvSpPr>
          <p:cNvPr id="28" name="Trace verdict body"/>
          <p:cNvSpPr txBox="1"/>
          <p:nvPr/>
        </p:nvSpPr>
        <p:spPr>
          <a:xfrm>
            <a:off x="6492240" y="4462272"/>
            <a:ext cx="453542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切換次數不是唯一答案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retry、delivery、service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一起解讀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不是保證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policy condition → transition → service/energy → verdict。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A/B lineage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A frozen、B frozen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workbook checkpoint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三層堆疊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0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workbook prediction + result</a:t>
            </a:r>
          </a:p>
        </p:txBody>
      </p:sp>
      <p:cxnSp>
        <p:nvCxnSpPr>
          <p:cNvPr id="11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fail-closed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要求修正被點名的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或切到同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不自行補值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15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8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拒絕原因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session、matching fallback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或修正後的新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不產生部分結果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cxnSp>
        <p:nvCxnSpPr>
          <p:cNvPr id="19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2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withheld，restore A/B checkpoint；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C：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佇列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批次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休眠或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urgent send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batch；urgent；deadline；freshness；service。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避免把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outcome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偷渡進決策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queue、deadline、freshness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不是同一欄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age；deadline；freshness；delivered / expired。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少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activation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還是多等待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BATCH_SIZE；flush；activation count；queue age。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的邊界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避免把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outcome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偷渡進決策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何時跳過一般節奏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deadline gauge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urgent margin。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deadline − now ≤ URGENT_MARGIN_S；SEND_URGENT；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不要偷看結果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C prediction：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先寫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trade-off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batching；urgency；delivered bits；endpoint J。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避免把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outcome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偷渡進決策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C-01：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baseline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course.cmd run --lab C --case baseline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先建立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untouched control，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才能把後續差異歸因於這一個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變更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runner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使用固定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scenario／seed，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寫出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 identity、policy hash、packet、service、state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endpoint-energy artifact。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：baseline run_id、policy SHA、result_path，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queue／packet／service／state／J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欄位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只做一次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candidate edit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7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 marked block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的一個小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diff。</a:t>
            </a:r>
          </a:p>
        </p:txBody>
      </p:sp>
      <p:sp>
        <p:nvSpPr>
          <p:cNvPr id="8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11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2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4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6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8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20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2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4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queue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packet ledger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delivered/expired packet ledger。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endpoint J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PROCESS/TX/RX/SLEEP/WAKE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的能量帶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C-05：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根據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做唯一一次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revision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reason；one marked-block change；no second revision。</a:t>
            </a:r>
          </a:p>
        </p:txBody>
      </p:sp>
      <p:sp>
        <p:nvSpPr>
          <p:cNvPr id="10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2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只改目前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lab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marked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區域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bytes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是唯一受控變因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bytes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timing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choice，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差異必須沿著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queue、packet、service、state time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追到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sp>
        <p:nvSpPr>
          <p:cNvPr id="13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5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：candidate result、policy SHA、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若只變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label，gate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不成立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6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8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C-06：revision freeze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 candidate checkpoint → C frozen receipt。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C-07：surprise case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frozen policy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短窗口中的突發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traffic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frozen policy。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C debrief：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packet、service、J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一起判讀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packet outcome；service；endpoint J；counterexample。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先保存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replay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artifacts/&lt;run_id&gt;/result.json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artifacts/&lt;run_id&gt;/endpoint-replay.json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stdout result_path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replay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缺一個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和錯誤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exact case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不要拼接不同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Leo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setup mode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8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urrent browser-server-preview evidence" descr="01-pre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1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2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exact result，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不上傳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policy source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8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urrent browser-server-preview evidence" descr="02-lab-a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1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2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importer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逐層檢查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provenance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9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schema → identity → units → policy / seed → provenance → replay</a:t>
            </a:r>
          </a:p>
        </p:txBody>
      </p:sp>
      <p:sp>
        <p:nvSpPr>
          <p:cNvPr id="10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2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把機器可讀的結果搬進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Leo，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不讓畫面或手抄數字取代驗證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importer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逐項檢查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schema、scenario、seed、units、policy SHA、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事件順序與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錯誤時不改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session。</a:t>
            </a:r>
          </a:p>
        </p:txBody>
      </p:sp>
      <p:sp>
        <p:nvSpPr>
          <p:cNvPr id="13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5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：all-or-nothing import receipt、scenario／units／seed／policy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 replay identity。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Evidence：VERIFIED; DONOR-REWRITE：BeamShift donor slides 70–75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evidence qualification，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current schema、identity、unit、poli…</a:t>
            </a:r>
          </a:p>
        </p:txBody>
      </p:sp>
      <p:sp>
        <p:nvSpPr>
          <p:cNvPr id="16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8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gate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失敗就回到命名的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不以空陣列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零值或手改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hash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假裝通過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replay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變成可讀時間線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8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urrent browser-server-preview evidence" descr="03-lab-b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1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2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可以證明什麼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8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urrent browser-server-preview evidence" descr="04-lab-c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1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2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匯出可重開的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Energy Decision Workbook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9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0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Current browser-server-preview evidence" descr="05-evidence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3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4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reopen，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仍在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8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urrent browser-server-preview evidence" descr="06-workbook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1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2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mismatch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必須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fail closed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8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urrent browser-server-preview evidence" descr="07-lab-a-fallback-http-sha-unavail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1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2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是同一場景的可追溯復原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matching result + replay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manifest、case label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不配對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停止使用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owner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指定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或重新解壓同一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archive。；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guard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只恢復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marked block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checkpoint restore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的三步回復箭頭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guard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fail-closed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要求修正被點名的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或切到同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不自行補值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拒絕原因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session、matching fallback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或修正後的新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不產生部分結果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不存在或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就回到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release-default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不可從不同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Lab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拼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一條完整的中斷復原路徑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identity → restore / fallback → import → reopen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先停在明確的失敗邊界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保留錯誤與身份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再回到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checkpoint。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fail-closed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要求修正被點名的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或切到同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不自行補值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拒絕原因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session、matching fallback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或修正後的新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不產生部分結果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recovery provenance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無法說清楚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將本次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標成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INCOMPLETE，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停止向下宣稱完成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evidence clinic：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決策時可取得什麼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Route caption"/>
          <p:cNvSpPr txBox="1"/>
          <p:nvPr/>
        </p:nvSpPr>
        <p:spPr>
          <a:xfrm>
            <a:off x="841248" y="12618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這一頁把名詞排成一條可追溯的路徑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Editable connector"/>
          <p:cNvCxnSpPr/>
          <p:nvPr/>
        </p:nvCxnSpPr>
        <p:spPr>
          <a:xfrm>
            <a:off x="1143000" y="2880360"/>
            <a:ext cx="9829800" cy="0"/>
          </a:xfrm>
          <a:prstGeom prst="line">
            <a:avLst/>
          </a:prstGeom>
          <a:ln w="279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te dot 1"/>
          <p:cNvSpPr/>
          <p:nvPr/>
        </p:nvSpPr>
        <p:spPr>
          <a:xfrm>
            <a:off x="1005840" y="2651760"/>
            <a:ext cx="457200" cy="457200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te label 1"/>
          <p:cNvSpPr txBox="1"/>
          <p:nvPr/>
        </p:nvSpPr>
        <p:spPr>
          <a:xfrm>
            <a:off x="658368" y="1874519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decision-time input</a:t>
            </a:r>
          </a:p>
        </p:txBody>
      </p:sp>
      <p:sp>
        <p:nvSpPr>
          <p:cNvPr id="9" name="Route dot 2"/>
          <p:cNvSpPr/>
          <p:nvPr/>
        </p:nvSpPr>
        <p:spPr>
          <a:xfrm>
            <a:off x="3337560" y="2651760"/>
            <a:ext cx="457200" cy="457200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te label 2"/>
          <p:cNvSpPr txBox="1"/>
          <p:nvPr/>
        </p:nvSpPr>
        <p:spPr>
          <a:xfrm>
            <a:off x="2990088" y="3264408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post-action outcome</a:t>
            </a:r>
          </a:p>
        </p:txBody>
      </p:sp>
      <p:sp>
        <p:nvSpPr>
          <p:cNvPr id="11" name="Route dot 3"/>
          <p:cNvSpPr/>
          <p:nvPr/>
        </p:nvSpPr>
        <p:spPr>
          <a:xfrm>
            <a:off x="5669279" y="2651760"/>
            <a:ext cx="457200" cy="457200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te label 3"/>
          <p:cNvSpPr txBox="1"/>
          <p:nvPr/>
        </p:nvSpPr>
        <p:spPr>
          <a:xfrm>
            <a:off x="5321807" y="1874519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不可互換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Route reading note"/>
          <p:cNvSpPr/>
          <p:nvPr/>
        </p:nvSpPr>
        <p:spPr>
          <a:xfrm>
            <a:off x="1005840" y="4681728"/>
            <a:ext cx="10149840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te visual note"/>
          <p:cNvSpPr txBox="1"/>
          <p:nvPr/>
        </p:nvSpPr>
        <p:spPr>
          <a:xfrm>
            <a:off x="1234440" y="4846320"/>
            <a:ext cx="96926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前取得與只能在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後讀到的兩欄分類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leakage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會讓假說看起來很強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Causal stage 1"/>
          <p:cNvSpPr/>
          <p:nvPr/>
        </p:nvSpPr>
        <p:spPr>
          <a:xfrm>
            <a:off x="749808" y="1600200"/>
            <a:ext cx="2395728" cy="10789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usal stage text 1"/>
          <p:cNvSpPr txBox="1"/>
          <p:nvPr/>
        </p:nvSpPr>
        <p:spPr>
          <a:xfrm>
            <a:off x="859536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: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現在的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 / queue / deadline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3145536" y="2139696"/>
            <a:ext cx="34747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usal stage 2"/>
          <p:cNvSpPr/>
          <p:nvPr/>
        </p:nvSpPr>
        <p:spPr>
          <a:xfrm>
            <a:off x="3566160" y="1600200"/>
            <a:ext cx="2395728" cy="107899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usal stage text 2"/>
          <p:cNvSpPr txBox="1"/>
          <p:nvPr/>
        </p:nvSpPr>
        <p:spPr>
          <a:xfrm>
            <a:off x="3675887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禁止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:future delivery / future energy。</a:t>
            </a:r>
          </a:p>
        </p:txBody>
      </p:sp>
      <p:sp>
        <p:nvSpPr>
          <p:cNvPr id="12" name="Causal explanation band"/>
          <p:cNvSpPr/>
          <p:nvPr/>
        </p:nvSpPr>
        <p:spPr>
          <a:xfrm>
            <a:off x="822960" y="3127248"/>
            <a:ext cx="10469880" cy="135331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usal explanation"/>
          <p:cNvSpPr txBox="1"/>
          <p:nvPr/>
        </p:nvSpPr>
        <p:spPr>
          <a:xfrm>
            <a:off x="1042415" y="3346704"/>
            <a:ext cx="100126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看圖判讀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：legal feature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leaky feature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的紅綠分流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：VERIFIED</a:t>
            </a:r>
          </a:p>
        </p:txBody>
      </p:sp>
      <p:sp>
        <p:nvSpPr>
          <p:cNvPr id="14" name="Causal takeaway"/>
          <p:cNvSpPr txBox="1"/>
          <p:nvPr/>
        </p:nvSpPr>
        <p:spPr>
          <a:xfrm>
            <a:off x="932688" y="4791456"/>
            <a:ext cx="1014984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講師判讀句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是否真的改變中間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再把差異連到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endpoint J。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要能自我說明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record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卡片串起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source、policy、result、replay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verdict。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source；identity；mechanism；evidence；claim class。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Evidence：VERIFIED; DONOR-REWRITE：BeamShift donor slides 70–75、96–97、113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qualification，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current artifa…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record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identity、scope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source mode，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維持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INCOMPLETE；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不以畫面或預期值補上缺欄位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measured、derived、assumed、simulated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Route caption"/>
          <p:cNvSpPr txBox="1"/>
          <p:nvPr/>
        </p:nvSpPr>
        <p:spPr>
          <a:xfrm>
            <a:off x="841248" y="12618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這一頁把名詞排成一條可追溯的路徑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Editable connector"/>
          <p:cNvCxnSpPr/>
          <p:nvPr/>
        </p:nvCxnSpPr>
        <p:spPr>
          <a:xfrm>
            <a:off x="1143000" y="2880360"/>
            <a:ext cx="9829800" cy="0"/>
          </a:xfrm>
          <a:prstGeom prst="line">
            <a:avLst/>
          </a:prstGeom>
          <a:ln w="279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te dot 1"/>
          <p:cNvSpPr/>
          <p:nvPr/>
        </p:nvSpPr>
        <p:spPr>
          <a:xfrm>
            <a:off x="1005840" y="2651760"/>
            <a:ext cx="457200" cy="457200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te label 1"/>
          <p:cNvSpPr txBox="1"/>
          <p:nvPr/>
        </p:nvSpPr>
        <p:spPr>
          <a:xfrm>
            <a:off x="658368" y="1874519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measured</a:t>
            </a:r>
          </a:p>
        </p:txBody>
      </p:sp>
      <p:sp>
        <p:nvSpPr>
          <p:cNvPr id="9" name="Route dot 2"/>
          <p:cNvSpPr/>
          <p:nvPr/>
        </p:nvSpPr>
        <p:spPr>
          <a:xfrm>
            <a:off x="3337560" y="2651760"/>
            <a:ext cx="457200" cy="457200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te label 2"/>
          <p:cNvSpPr txBox="1"/>
          <p:nvPr/>
        </p:nvSpPr>
        <p:spPr>
          <a:xfrm>
            <a:off x="2990088" y="3264408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derived</a:t>
            </a:r>
          </a:p>
        </p:txBody>
      </p:sp>
      <p:sp>
        <p:nvSpPr>
          <p:cNvPr id="11" name="Route dot 3"/>
          <p:cNvSpPr/>
          <p:nvPr/>
        </p:nvSpPr>
        <p:spPr>
          <a:xfrm>
            <a:off x="5669279" y="2651760"/>
            <a:ext cx="457200" cy="457200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te label 3"/>
          <p:cNvSpPr txBox="1"/>
          <p:nvPr/>
        </p:nvSpPr>
        <p:spPr>
          <a:xfrm>
            <a:off x="5321807" y="1874519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assumed</a:t>
            </a:r>
          </a:p>
        </p:txBody>
      </p:sp>
      <p:sp>
        <p:nvSpPr>
          <p:cNvPr id="13" name="Route dot 4"/>
          <p:cNvSpPr/>
          <p:nvPr/>
        </p:nvSpPr>
        <p:spPr>
          <a:xfrm>
            <a:off x="8001000" y="2651760"/>
            <a:ext cx="457200" cy="457200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te label 4"/>
          <p:cNvSpPr txBox="1"/>
          <p:nvPr/>
        </p:nvSpPr>
        <p:spPr>
          <a:xfrm>
            <a:off x="7653527" y="3264408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simulated。</a:t>
            </a:r>
          </a:p>
        </p:txBody>
      </p:sp>
      <p:sp>
        <p:nvSpPr>
          <p:cNvPr id="15" name="Route reading note"/>
          <p:cNvSpPr/>
          <p:nvPr/>
        </p:nvSpPr>
        <p:spPr>
          <a:xfrm>
            <a:off x="1005840" y="4681728"/>
            <a:ext cx="10149840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te visual note"/>
          <p:cNvSpPr txBox="1"/>
          <p:nvPr/>
        </p:nvSpPr>
        <p:spPr>
          <a:xfrm>
            <a:off x="1234440" y="4846320"/>
            <a:ext cx="96926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四欄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classifier，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底部標示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course ceiling = simulated teaching data。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layer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system layer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Causal stage 1"/>
          <p:cNvSpPr/>
          <p:nvPr/>
        </p:nvSpPr>
        <p:spPr>
          <a:xfrm>
            <a:off x="749808" y="1600200"/>
            <a:ext cx="2395728" cy="10789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usal stage text 1"/>
          <p:cNvSpPr txBox="1"/>
          <p:nvPr/>
        </p:nvSpPr>
        <p:spPr>
          <a:xfrm>
            <a:off x="859536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endpoint J 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不等於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system consumed J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3145536" y="2139696"/>
            <a:ext cx="34747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usal stage 2"/>
          <p:cNvSpPr/>
          <p:nvPr/>
        </p:nvSpPr>
        <p:spPr>
          <a:xfrm>
            <a:off x="3566160" y="1600200"/>
            <a:ext cx="2395728" cy="107899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usal stage text 2"/>
          <p:cNvSpPr txBox="1"/>
          <p:nvPr/>
        </p:nvSpPr>
        <p:spPr>
          <a:xfrm>
            <a:off x="3675887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共享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≠ 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共享語義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Causal explanation band"/>
          <p:cNvSpPr/>
          <p:nvPr/>
        </p:nvSpPr>
        <p:spPr>
          <a:xfrm>
            <a:off x="822960" y="3127248"/>
            <a:ext cx="10469880" cy="135331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usal explanation"/>
          <p:cNvSpPr txBox="1"/>
          <p:nvPr/>
        </p:nvSpPr>
        <p:spPr>
          <a:xfrm>
            <a:off x="1042415" y="3346704"/>
            <a:ext cx="100126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看圖判讀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兩個有明確邊界的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ledgers。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：VERIFIED; DONOR-REWRITE：BeamShift donor evidence-boundary concepts，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 replay / C-120 system replay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分層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4" name="Causal takeaway"/>
          <p:cNvSpPr txBox="1"/>
          <p:nvPr/>
        </p:nvSpPr>
        <p:spPr>
          <a:xfrm>
            <a:off x="932688" y="4791456"/>
            <a:ext cx="1014984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講師判讀句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是否真的改變中間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再把差異連到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endpoint J。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把同一機制轉到智慧農場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oncept left rail"/>
          <p:cNvSpPr/>
          <p:nvPr/>
        </p:nvSpPr>
        <p:spPr>
          <a:xfrm>
            <a:off x="749808" y="1417320"/>
            <a:ext cx="3767328" cy="4297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cept prompt"/>
          <p:cNvSpPr txBox="1"/>
          <p:nvPr/>
        </p:nvSpPr>
        <p:spPr>
          <a:xfrm>
            <a:off x="987552" y="1673352"/>
            <a:ext cx="327355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先問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這張圖的輸入是什麼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Concept inputs"/>
          <p:cNvSpPr txBox="1"/>
          <p:nvPr/>
        </p:nvSpPr>
        <p:spPr>
          <a:xfrm>
            <a:off x="1024128" y="2212848"/>
            <a:ext cx="3200400" cy="2423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soil sensor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上行機會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batch / sleep / urgent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+ endpoint J。</a:t>
            </a:r>
          </a:p>
        </p:txBody>
      </p:sp>
      <p:sp>
        <p:nvSpPr>
          <p:cNvPr id="8" name="Mechanism right rail"/>
          <p:cNvSpPr/>
          <p:nvPr/>
        </p:nvSpPr>
        <p:spPr>
          <a:xfrm>
            <a:off x="4846320" y="1417320"/>
            <a:ext cx="64465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chanism heading"/>
          <p:cNvSpPr txBox="1"/>
          <p:nvPr/>
        </p:nvSpPr>
        <p:spPr>
          <a:xfrm>
            <a:off x="5120640" y="1673352"/>
            <a:ext cx="58978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中間機制</a:t>
            </a:r>
            <a:r>
              <a:rPr sz="2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：</a:t>
            </a:r>
          </a:p>
        </p:txBody>
      </p:sp>
      <p:sp>
        <p:nvSpPr>
          <p:cNvPr id="10" name="Mechanism description"/>
          <p:cNvSpPr txBox="1"/>
          <p:nvPr/>
        </p:nvSpPr>
        <p:spPr>
          <a:xfrm>
            <a:off x="5148072" y="2103120"/>
            <a:ext cx="5806440" cy="9509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IoT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農場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sensor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gateway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的機會窗口圖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Interpretation rail"/>
          <p:cNvSpPr/>
          <p:nvPr/>
        </p:nvSpPr>
        <p:spPr>
          <a:xfrm>
            <a:off x="4846320" y="3639312"/>
            <a:ext cx="6446520" cy="207568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nterpretation heading"/>
          <p:cNvSpPr txBox="1"/>
          <p:nvPr/>
        </p:nvSpPr>
        <p:spPr>
          <a:xfrm>
            <a:off x="5120640" y="3886200"/>
            <a:ext cx="58978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最後讀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</a:t>
            </a:r>
          </a:p>
        </p:txBody>
      </p:sp>
      <p:sp>
        <p:nvSpPr>
          <p:cNvPr id="13" name="Interpretation text"/>
          <p:cNvSpPr txBox="1"/>
          <p:nvPr/>
        </p:nvSpPr>
        <p:spPr>
          <a:xfrm>
            <a:off x="5148072" y="4315968"/>
            <a:ext cx="580644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不要把畫面效果當成結果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回到同一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scenario、units、service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evidence。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HVAC、edge、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物流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機會變動仍是同一個問題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domain card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共同指向一條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causal spine。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opportunity → policy → service / energy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domain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需要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LEO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數字或未提供的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 power，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刪除該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mechanism placeholder。；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寫一個可被推翻的競賽假說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ausal stage 1"/>
          <p:cNvSpPr/>
          <p:nvPr/>
        </p:nvSpPr>
        <p:spPr>
          <a:xfrm>
            <a:off x="749808" y="1600200"/>
            <a:ext cx="2395728" cy="10789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usal stage text 1"/>
          <p:cNvSpPr txBox="1"/>
          <p:nvPr/>
        </p:nvSpPr>
        <p:spPr>
          <a:xfrm>
            <a:off x="859536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在固定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下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若改變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則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會改變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因為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______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3145536" y="2139696"/>
            <a:ext cx="34747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usal stage 2"/>
          <p:cNvSpPr/>
          <p:nvPr/>
        </p:nvSpPr>
        <p:spPr>
          <a:xfrm>
            <a:off x="3566160" y="1600200"/>
            <a:ext cx="2395728" cy="107899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usal stage text 2"/>
          <p:cNvSpPr txBox="1"/>
          <p:nvPr/>
        </p:nvSpPr>
        <p:spPr>
          <a:xfrm>
            <a:off x="3675887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假說被推翻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0" name="Causal explanation band"/>
          <p:cNvSpPr/>
          <p:nvPr/>
        </p:nvSpPr>
        <p:spPr>
          <a:xfrm>
            <a:off x="822960" y="3127248"/>
            <a:ext cx="10469880" cy="135331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usal explanation"/>
          <p:cNvSpPr txBox="1"/>
          <p:nvPr/>
        </p:nvSpPr>
        <p:spPr>
          <a:xfrm>
            <a:off x="1042415" y="3346704"/>
            <a:ext cx="100126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看圖判讀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一張可填寫但不是空白表格的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hypothesis card。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：VERIFIED</a:t>
            </a:r>
          </a:p>
        </p:txBody>
      </p:sp>
      <p:sp>
        <p:nvSpPr>
          <p:cNvPr id="12" name="Causal takeaway"/>
          <p:cNvSpPr txBox="1"/>
          <p:nvPr/>
        </p:nvSpPr>
        <p:spPr>
          <a:xfrm>
            <a:off x="932688" y="4791456"/>
            <a:ext cx="1014984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講師判讀句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是否真的改變中間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再把差異連到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endpoint J。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Appendix：TLE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只負責提供時間與位置來源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Appendix index"/>
          <p:cNvSpPr/>
          <p:nvPr/>
        </p:nvSpPr>
        <p:spPr>
          <a:xfrm>
            <a:off x="822960" y="1325880"/>
            <a:ext cx="2999232" cy="42976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ppendix heading"/>
          <p:cNvSpPr txBox="1"/>
          <p:nvPr/>
        </p:nvSpPr>
        <p:spPr>
          <a:xfrm>
            <a:off x="1060704" y="1609344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可選深挖</a:t>
            </a:r>
          </a:p>
        </p:txBody>
      </p:sp>
      <p:sp>
        <p:nvSpPr>
          <p:cNvPr id="7" name="Appendix bullet 1"/>
          <p:cNvSpPr/>
          <p:nvPr/>
        </p:nvSpPr>
        <p:spPr>
          <a:xfrm>
            <a:off x="1143000" y="2267712"/>
            <a:ext cx="164592" cy="16459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pendix bullet text 1"/>
          <p:cNvSpPr txBox="1"/>
          <p:nvPr/>
        </p:nvSpPr>
        <p:spPr>
          <a:xfrm>
            <a:off x="1444752" y="2194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pinned source → model → contact context</a:t>
            </a:r>
          </a:p>
        </p:txBody>
      </p:sp>
      <p:sp>
        <p:nvSpPr>
          <p:cNvPr id="9" name="Appendix bullet 2"/>
          <p:cNvSpPr/>
          <p:nvPr/>
        </p:nvSpPr>
        <p:spPr>
          <a:xfrm>
            <a:off x="1143000" y="2862072"/>
            <a:ext cx="164592" cy="1645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pendix bullet text 2"/>
          <p:cNvSpPr txBox="1"/>
          <p:nvPr/>
        </p:nvSpPr>
        <p:spPr>
          <a:xfrm>
            <a:off x="1444752" y="2788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= changing window example。</a:t>
            </a:r>
          </a:p>
        </p:txBody>
      </p:sp>
      <p:sp>
        <p:nvSpPr>
          <p:cNvPr id="11" name="Appendix mechanism"/>
          <p:cNvSpPr/>
          <p:nvPr/>
        </p:nvSpPr>
        <p:spPr>
          <a:xfrm>
            <a:off x="4251960" y="1325880"/>
            <a:ext cx="704088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endix mechanism heading"/>
          <p:cNvSpPr txBox="1"/>
          <p:nvPr/>
        </p:nvSpPr>
        <p:spPr>
          <a:xfrm>
            <a:off x="4526280" y="160934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為什麼這個細節存在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3" name="Appendix mechanism body"/>
          <p:cNvSpPr txBox="1"/>
          <p:nvPr/>
        </p:nvSpPr>
        <p:spPr>
          <a:xfrm>
            <a:off x="4553712" y="2029968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TLE source、model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contact context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的三層箭頭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4" name="Appendix boundary"/>
          <p:cNvSpPr/>
          <p:nvPr/>
        </p:nvSpPr>
        <p:spPr>
          <a:xfrm>
            <a:off x="4251960" y="3529584"/>
            <a:ext cx="7040880" cy="2093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ppendix boundary heading"/>
          <p:cNvSpPr txBox="1"/>
          <p:nvPr/>
        </p:nvSpPr>
        <p:spPr>
          <a:xfrm>
            <a:off x="4526280" y="380390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退回主線時要保留的邊界</a:t>
            </a:r>
          </a:p>
        </p:txBody>
      </p:sp>
      <p:sp>
        <p:nvSpPr>
          <p:cNvPr id="16" name="Appendix boundary body"/>
          <p:cNvSpPr txBox="1"/>
          <p:nvPr/>
        </p:nvSpPr>
        <p:spPr>
          <a:xfrm>
            <a:off x="4553712" y="4224528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window；endpoint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任何未凍結來源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畫面或數字保留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placeholder。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Appendix：SGP4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contact window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的最小讀法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Transfer caption"/>
          <p:cNvSpPr txBox="1"/>
          <p:nvPr/>
        </p:nvSpPr>
        <p:spPr>
          <a:xfrm>
            <a:off x="868680" y="118872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把同一個決策句型移到另一個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IoT domain，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不搬運衛星專有名詞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ransfer field 1"/>
          <p:cNvSpPr/>
          <p:nvPr/>
        </p:nvSpPr>
        <p:spPr>
          <a:xfrm>
            <a:off x="804672" y="1874519"/>
            <a:ext cx="3246120" cy="120700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nsfer label 1"/>
          <p:cNvSpPr txBox="1"/>
          <p:nvPr/>
        </p:nvSpPr>
        <p:spPr>
          <a:xfrm>
            <a:off x="932688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固定任務</a:t>
            </a:r>
          </a:p>
        </p:txBody>
      </p:sp>
      <p:sp>
        <p:nvSpPr>
          <p:cNvPr id="8" name="Transfer body 1"/>
          <p:cNvSpPr txBox="1"/>
          <p:nvPr/>
        </p:nvSpPr>
        <p:spPr>
          <a:xfrm>
            <a:off x="960120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payload / deadline / window</a:t>
            </a:r>
          </a:p>
        </p:txBody>
      </p:sp>
      <p:sp>
        <p:nvSpPr>
          <p:cNvPr id="9" name="Transfer field 2"/>
          <p:cNvSpPr/>
          <p:nvPr/>
        </p:nvSpPr>
        <p:spPr>
          <a:xfrm>
            <a:off x="4572000" y="1874519"/>
            <a:ext cx="3246120" cy="120700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nsfer label 2"/>
          <p:cNvSpPr txBox="1"/>
          <p:nvPr/>
        </p:nvSpPr>
        <p:spPr>
          <a:xfrm>
            <a:off x="4700016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控制</a:t>
            </a:r>
          </a:p>
        </p:txBody>
      </p:sp>
      <p:sp>
        <p:nvSpPr>
          <p:cNvPr id="11" name="Transfer body 2"/>
          <p:cNvSpPr txBox="1"/>
          <p:nvPr/>
        </p:nvSpPr>
        <p:spPr>
          <a:xfrm>
            <a:off x="4727448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一個可修改的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</a:t>
            </a:r>
          </a:p>
        </p:txBody>
      </p:sp>
      <p:sp>
        <p:nvSpPr>
          <p:cNvPr id="12" name="Transfer field 3"/>
          <p:cNvSpPr/>
          <p:nvPr/>
        </p:nvSpPr>
        <p:spPr>
          <a:xfrm>
            <a:off x="8339328" y="1874519"/>
            <a:ext cx="3246120" cy="12070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fer label 3"/>
          <p:cNvSpPr txBox="1"/>
          <p:nvPr/>
        </p:nvSpPr>
        <p:spPr>
          <a:xfrm>
            <a:off x="8467344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sp>
        <p:nvSpPr>
          <p:cNvPr id="14" name="Transfer body 3"/>
          <p:cNvSpPr txBox="1"/>
          <p:nvPr/>
        </p:nvSpPr>
        <p:spPr>
          <a:xfrm>
            <a:off x="8494776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freshness / deadline</a:t>
            </a:r>
          </a:p>
        </p:txBody>
      </p:sp>
      <p:sp>
        <p:nvSpPr>
          <p:cNvPr id="15" name="Transfer field 4"/>
          <p:cNvSpPr/>
          <p:nvPr/>
        </p:nvSpPr>
        <p:spPr>
          <a:xfrm>
            <a:off x="804672" y="3502152"/>
            <a:ext cx="3246120" cy="120700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nsfer label 4"/>
          <p:cNvSpPr txBox="1"/>
          <p:nvPr/>
        </p:nvSpPr>
        <p:spPr>
          <a:xfrm>
            <a:off x="932688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能量</a:t>
            </a:r>
          </a:p>
        </p:txBody>
      </p:sp>
      <p:sp>
        <p:nvSpPr>
          <p:cNvPr id="17" name="Transfer body 4"/>
          <p:cNvSpPr txBox="1"/>
          <p:nvPr/>
        </p:nvSpPr>
        <p:spPr>
          <a:xfrm>
            <a:off x="960120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Σ P·Δt → J</a:t>
            </a:r>
          </a:p>
        </p:txBody>
      </p:sp>
      <p:sp>
        <p:nvSpPr>
          <p:cNvPr id="18" name="Transfer field 5"/>
          <p:cNvSpPr/>
          <p:nvPr/>
        </p:nvSpPr>
        <p:spPr>
          <a:xfrm>
            <a:off x="4572000" y="3502152"/>
            <a:ext cx="3246120" cy="120700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nsfer label 5"/>
          <p:cNvSpPr txBox="1"/>
          <p:nvPr/>
        </p:nvSpPr>
        <p:spPr>
          <a:xfrm>
            <a:off x="4700016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反例</a:t>
            </a:r>
          </a:p>
        </p:txBody>
      </p:sp>
      <p:sp>
        <p:nvSpPr>
          <p:cNvPr id="20" name="Transfer body 5"/>
          <p:cNvSpPr txBox="1"/>
          <p:nvPr/>
        </p:nvSpPr>
        <p:spPr>
          <a:xfrm>
            <a:off x="4727448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held-out falsifier</a:t>
            </a:r>
          </a:p>
        </p:txBody>
      </p:sp>
      <p:sp>
        <p:nvSpPr>
          <p:cNvPr id="21" name="Transfer warning"/>
          <p:cNvSpPr/>
          <p:nvPr/>
        </p:nvSpPr>
        <p:spPr>
          <a:xfrm>
            <a:off x="841248" y="5212080"/>
            <a:ext cx="10469880" cy="384048"/>
          </a:xfrm>
          <a:prstGeom prst="roundRect">
            <a:avLst/>
          </a:prstGeom>
          <a:solidFill>
            <a:srgbClr val="FDEFEF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nsfer warning text"/>
          <p:cNvSpPr txBox="1"/>
          <p:nvPr/>
        </p:nvSpPr>
        <p:spPr>
          <a:xfrm>
            <a:off x="987552" y="5285232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若只有圖表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動畫變化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卻沒有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action → state → service → J → decision，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不能算可移轉證據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Appendix：quality、dB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 context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Appendix index"/>
          <p:cNvSpPr/>
          <p:nvPr/>
        </p:nvSpPr>
        <p:spPr>
          <a:xfrm>
            <a:off x="822960" y="1325880"/>
            <a:ext cx="2999232" cy="42976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ppendix heading"/>
          <p:cNvSpPr txBox="1"/>
          <p:nvPr/>
        </p:nvSpPr>
        <p:spPr>
          <a:xfrm>
            <a:off x="1060704" y="1609344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可選深挖</a:t>
            </a:r>
          </a:p>
        </p:txBody>
      </p:sp>
      <p:sp>
        <p:nvSpPr>
          <p:cNvPr id="7" name="Appendix bullet 1"/>
          <p:cNvSpPr/>
          <p:nvPr/>
        </p:nvSpPr>
        <p:spPr>
          <a:xfrm>
            <a:off x="1143000" y="2267712"/>
            <a:ext cx="164592" cy="16459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pendix bullet text 1"/>
          <p:cNvSpPr txBox="1"/>
          <p:nvPr/>
        </p:nvSpPr>
        <p:spPr>
          <a:xfrm>
            <a:off x="1444752" y="2194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observation ≠ service</a:t>
            </a:r>
          </a:p>
        </p:txBody>
      </p:sp>
      <p:sp>
        <p:nvSpPr>
          <p:cNvPr id="9" name="Appendix bullet 2"/>
          <p:cNvSpPr/>
          <p:nvPr/>
        </p:nvSpPr>
        <p:spPr>
          <a:xfrm>
            <a:off x="1143000" y="2862072"/>
            <a:ext cx="164592" cy="1645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pendix bullet text 2"/>
          <p:cNvSpPr txBox="1"/>
          <p:nvPr/>
        </p:nvSpPr>
        <p:spPr>
          <a:xfrm>
            <a:off x="1444752" y="2788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dB / linear</a:t>
            </a:r>
          </a:p>
        </p:txBody>
      </p:sp>
      <p:sp>
        <p:nvSpPr>
          <p:cNvPr id="11" name="Appendix bullet 3"/>
          <p:cNvSpPr/>
          <p:nvPr/>
        </p:nvSpPr>
        <p:spPr>
          <a:xfrm>
            <a:off x="1143000" y="3456432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endix bullet text 3"/>
          <p:cNvSpPr txBox="1"/>
          <p:nvPr/>
        </p:nvSpPr>
        <p:spPr>
          <a:xfrm>
            <a:off x="1444752" y="33832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不要求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link-budget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推導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Appendix mechanism"/>
          <p:cNvSpPr/>
          <p:nvPr/>
        </p:nvSpPr>
        <p:spPr>
          <a:xfrm>
            <a:off x="4251960" y="1325880"/>
            <a:ext cx="704088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ppendix mechanism heading"/>
          <p:cNvSpPr txBox="1"/>
          <p:nvPr/>
        </p:nvSpPr>
        <p:spPr>
          <a:xfrm>
            <a:off x="4526280" y="160934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為什麼這個細節存在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5" name="Appendix mechanism body"/>
          <p:cNvSpPr txBox="1"/>
          <p:nvPr/>
        </p:nvSpPr>
        <p:spPr>
          <a:xfrm>
            <a:off x="4553712" y="2029968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dB observation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透過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threshold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進入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的最小流程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6" name="Appendix boundary"/>
          <p:cNvSpPr/>
          <p:nvPr/>
        </p:nvSpPr>
        <p:spPr>
          <a:xfrm>
            <a:off x="4251960" y="3529584"/>
            <a:ext cx="7040880" cy="2093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ppendix boundary heading"/>
          <p:cNvSpPr txBox="1"/>
          <p:nvPr/>
        </p:nvSpPr>
        <p:spPr>
          <a:xfrm>
            <a:off x="4526280" y="380390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退回主線時要保留的邊界</a:t>
            </a:r>
          </a:p>
        </p:txBody>
      </p:sp>
      <p:sp>
        <p:nvSpPr>
          <p:cNvPr id="18" name="Appendix boundary body"/>
          <p:cNvSpPr txBox="1"/>
          <p:nvPr/>
        </p:nvSpPr>
        <p:spPr>
          <a:xfrm>
            <a:off x="4553712" y="4224528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window；endpoint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任何未凍結來源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畫面或數字保留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placeholder。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Appendix：W、J、bit/s、delivered bits、bit/J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Transfer caption"/>
          <p:cNvSpPr txBox="1"/>
          <p:nvPr/>
        </p:nvSpPr>
        <p:spPr>
          <a:xfrm>
            <a:off x="868680" y="118872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把同一個決策句型移到另一個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IoT domain，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不搬運衛星專有名詞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ransfer field 1"/>
          <p:cNvSpPr/>
          <p:nvPr/>
        </p:nvSpPr>
        <p:spPr>
          <a:xfrm>
            <a:off x="804672" y="1874519"/>
            <a:ext cx="3246120" cy="120700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nsfer label 1"/>
          <p:cNvSpPr txBox="1"/>
          <p:nvPr/>
        </p:nvSpPr>
        <p:spPr>
          <a:xfrm>
            <a:off x="932688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固定任務</a:t>
            </a:r>
          </a:p>
        </p:txBody>
      </p:sp>
      <p:sp>
        <p:nvSpPr>
          <p:cNvPr id="10" name="Transfer body 1"/>
          <p:cNvSpPr txBox="1"/>
          <p:nvPr/>
        </p:nvSpPr>
        <p:spPr>
          <a:xfrm>
            <a:off x="960120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payload / deadline / window</a:t>
            </a:r>
          </a:p>
        </p:txBody>
      </p:sp>
      <p:sp>
        <p:nvSpPr>
          <p:cNvPr id="11" name="Transfer field 2"/>
          <p:cNvSpPr/>
          <p:nvPr/>
        </p:nvSpPr>
        <p:spPr>
          <a:xfrm>
            <a:off x="4572000" y="1874519"/>
            <a:ext cx="3246120" cy="120700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nsfer label 2"/>
          <p:cNvSpPr txBox="1"/>
          <p:nvPr/>
        </p:nvSpPr>
        <p:spPr>
          <a:xfrm>
            <a:off x="4700016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控制</a:t>
            </a:r>
          </a:p>
        </p:txBody>
      </p:sp>
      <p:sp>
        <p:nvSpPr>
          <p:cNvPr id="13" name="Transfer body 2"/>
          <p:cNvSpPr txBox="1"/>
          <p:nvPr/>
        </p:nvSpPr>
        <p:spPr>
          <a:xfrm>
            <a:off x="4727448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一個可修改的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</a:t>
            </a:r>
          </a:p>
        </p:txBody>
      </p:sp>
      <p:sp>
        <p:nvSpPr>
          <p:cNvPr id="14" name="Transfer field 3"/>
          <p:cNvSpPr/>
          <p:nvPr/>
        </p:nvSpPr>
        <p:spPr>
          <a:xfrm>
            <a:off x="8339328" y="1874519"/>
            <a:ext cx="3246120" cy="12070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nsfer label 3"/>
          <p:cNvSpPr txBox="1"/>
          <p:nvPr/>
        </p:nvSpPr>
        <p:spPr>
          <a:xfrm>
            <a:off x="8467344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sp>
        <p:nvSpPr>
          <p:cNvPr id="16" name="Transfer body 3"/>
          <p:cNvSpPr txBox="1"/>
          <p:nvPr/>
        </p:nvSpPr>
        <p:spPr>
          <a:xfrm>
            <a:off x="8494776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freshness / deadline</a:t>
            </a:r>
          </a:p>
        </p:txBody>
      </p:sp>
      <p:sp>
        <p:nvSpPr>
          <p:cNvPr id="17" name="Transfer field 4"/>
          <p:cNvSpPr/>
          <p:nvPr/>
        </p:nvSpPr>
        <p:spPr>
          <a:xfrm>
            <a:off x="804672" y="3502152"/>
            <a:ext cx="3246120" cy="120700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nsfer label 4"/>
          <p:cNvSpPr txBox="1"/>
          <p:nvPr/>
        </p:nvSpPr>
        <p:spPr>
          <a:xfrm>
            <a:off x="932688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能量</a:t>
            </a:r>
          </a:p>
        </p:txBody>
      </p:sp>
      <p:sp>
        <p:nvSpPr>
          <p:cNvPr id="19" name="Transfer body 4"/>
          <p:cNvSpPr txBox="1"/>
          <p:nvPr/>
        </p:nvSpPr>
        <p:spPr>
          <a:xfrm>
            <a:off x="960120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Σ P·Δt → J</a:t>
            </a:r>
          </a:p>
        </p:txBody>
      </p:sp>
      <p:sp>
        <p:nvSpPr>
          <p:cNvPr id="20" name="Transfer field 5"/>
          <p:cNvSpPr/>
          <p:nvPr/>
        </p:nvSpPr>
        <p:spPr>
          <a:xfrm>
            <a:off x="4572000" y="3502152"/>
            <a:ext cx="3246120" cy="120700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nsfer label 5"/>
          <p:cNvSpPr txBox="1"/>
          <p:nvPr/>
        </p:nvSpPr>
        <p:spPr>
          <a:xfrm>
            <a:off x="4700016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反例</a:t>
            </a:r>
          </a:p>
        </p:txBody>
      </p:sp>
      <p:sp>
        <p:nvSpPr>
          <p:cNvPr id="22" name="Transfer body 5"/>
          <p:cNvSpPr txBox="1"/>
          <p:nvPr/>
        </p:nvSpPr>
        <p:spPr>
          <a:xfrm>
            <a:off x="4727448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held-out falsifier</a:t>
            </a:r>
          </a:p>
        </p:txBody>
      </p:sp>
      <p:sp>
        <p:nvSpPr>
          <p:cNvPr id="23" name="Transfer warning"/>
          <p:cNvSpPr/>
          <p:nvPr/>
        </p:nvSpPr>
        <p:spPr>
          <a:xfrm>
            <a:off x="841248" y="5212080"/>
            <a:ext cx="10469880" cy="384048"/>
          </a:xfrm>
          <a:prstGeom prst="roundRect">
            <a:avLst/>
          </a:prstGeom>
          <a:solidFill>
            <a:srgbClr val="FDEFEF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nsfer warning text"/>
          <p:cNvSpPr txBox="1"/>
          <p:nvPr/>
        </p:nvSpPr>
        <p:spPr>
          <a:xfrm>
            <a:off x="987552" y="5285232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若只有圖表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動畫變化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卻沒有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action → state → service → J → decision，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不能算可移轉證據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Appendix：source → model → assumption → result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Appendix index"/>
          <p:cNvSpPr/>
          <p:nvPr/>
        </p:nvSpPr>
        <p:spPr>
          <a:xfrm>
            <a:off x="822960" y="1325880"/>
            <a:ext cx="2999232" cy="42976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ppendix heading"/>
          <p:cNvSpPr txBox="1"/>
          <p:nvPr/>
        </p:nvSpPr>
        <p:spPr>
          <a:xfrm>
            <a:off x="1060704" y="1609344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可選深挖</a:t>
            </a:r>
          </a:p>
        </p:txBody>
      </p:sp>
      <p:sp>
        <p:nvSpPr>
          <p:cNvPr id="7" name="Appendix bullet 1"/>
          <p:cNvSpPr/>
          <p:nvPr/>
        </p:nvSpPr>
        <p:spPr>
          <a:xfrm>
            <a:off x="1143000" y="2267712"/>
            <a:ext cx="164592" cy="16459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pendix bullet text 1"/>
          <p:cNvSpPr txBox="1"/>
          <p:nvPr/>
        </p:nvSpPr>
        <p:spPr>
          <a:xfrm>
            <a:off x="1444752" y="2194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9" name="Appendix bullet 2"/>
          <p:cNvSpPr/>
          <p:nvPr/>
        </p:nvSpPr>
        <p:spPr>
          <a:xfrm>
            <a:off x="1143000" y="2862072"/>
            <a:ext cx="164592" cy="1645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pendix bullet text 2"/>
          <p:cNvSpPr txBox="1"/>
          <p:nvPr/>
        </p:nvSpPr>
        <p:spPr>
          <a:xfrm>
            <a:off x="1444752" y="2788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11" name="Appendix bullet 3"/>
          <p:cNvSpPr/>
          <p:nvPr/>
        </p:nvSpPr>
        <p:spPr>
          <a:xfrm>
            <a:off x="1143000" y="3456432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endix bullet text 3"/>
          <p:cNvSpPr txBox="1"/>
          <p:nvPr/>
        </p:nvSpPr>
        <p:spPr>
          <a:xfrm>
            <a:off x="1444752" y="33832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 assumption</a:t>
            </a:r>
          </a:p>
        </p:txBody>
      </p:sp>
      <p:sp>
        <p:nvSpPr>
          <p:cNvPr id="13" name="Appendix bullet 4"/>
          <p:cNvSpPr/>
          <p:nvPr/>
        </p:nvSpPr>
        <p:spPr>
          <a:xfrm>
            <a:off x="1143000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ppendix bullet text 4"/>
          <p:cNvSpPr txBox="1"/>
          <p:nvPr/>
        </p:nvSpPr>
        <p:spPr>
          <a:xfrm>
            <a:off x="1444752" y="3977639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5" name="Appendix mechanism"/>
          <p:cNvSpPr/>
          <p:nvPr/>
        </p:nvSpPr>
        <p:spPr>
          <a:xfrm>
            <a:off x="4251960" y="1325880"/>
            <a:ext cx="704088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ppendix mechanism heading"/>
          <p:cNvSpPr txBox="1"/>
          <p:nvPr/>
        </p:nvSpPr>
        <p:spPr>
          <a:xfrm>
            <a:off x="4526280" y="160934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為什麼這個細節存在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7" name="Appendix mechanism body"/>
          <p:cNvSpPr txBox="1"/>
          <p:nvPr/>
        </p:nvSpPr>
        <p:spPr>
          <a:xfrm>
            <a:off x="4553712" y="2029968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provenance spine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與四個可追溯節點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Appendix boundary"/>
          <p:cNvSpPr/>
          <p:nvPr/>
        </p:nvSpPr>
        <p:spPr>
          <a:xfrm>
            <a:off x="4251960" y="3529584"/>
            <a:ext cx="7040880" cy="2093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ppendix boundary heading"/>
          <p:cNvSpPr txBox="1"/>
          <p:nvPr/>
        </p:nvSpPr>
        <p:spPr>
          <a:xfrm>
            <a:off x="4526280" y="380390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退回主線時要保留的邊界</a:t>
            </a:r>
          </a:p>
        </p:txBody>
      </p:sp>
      <p:sp>
        <p:nvSpPr>
          <p:cNvPr id="20" name="Appendix boundary body"/>
          <p:cNvSpPr txBox="1"/>
          <p:nvPr/>
        </p:nvSpPr>
        <p:spPr>
          <a:xfrm>
            <a:off x="4553712" y="4224528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window；endpoint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任何未凍結來源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畫面或數字保留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placeholder。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allowed API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Transfer caption"/>
          <p:cNvSpPr txBox="1"/>
          <p:nvPr/>
        </p:nvSpPr>
        <p:spPr>
          <a:xfrm>
            <a:off x="868680" y="118872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把同一個決策句型移到另一個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IoT domain，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不搬運衛星專有名詞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ransfer field 1"/>
          <p:cNvSpPr/>
          <p:nvPr/>
        </p:nvSpPr>
        <p:spPr>
          <a:xfrm>
            <a:off x="804672" y="1874519"/>
            <a:ext cx="3246120" cy="120700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nsfer label 1"/>
          <p:cNvSpPr txBox="1"/>
          <p:nvPr/>
        </p:nvSpPr>
        <p:spPr>
          <a:xfrm>
            <a:off x="932688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固定任務</a:t>
            </a:r>
          </a:p>
        </p:txBody>
      </p:sp>
      <p:sp>
        <p:nvSpPr>
          <p:cNvPr id="8" name="Transfer body 1"/>
          <p:cNvSpPr txBox="1"/>
          <p:nvPr/>
        </p:nvSpPr>
        <p:spPr>
          <a:xfrm>
            <a:off x="960120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payload / deadline / window</a:t>
            </a:r>
          </a:p>
        </p:txBody>
      </p:sp>
      <p:sp>
        <p:nvSpPr>
          <p:cNvPr id="9" name="Transfer field 2"/>
          <p:cNvSpPr/>
          <p:nvPr/>
        </p:nvSpPr>
        <p:spPr>
          <a:xfrm>
            <a:off x="4572000" y="1874519"/>
            <a:ext cx="3246120" cy="120700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nsfer label 2"/>
          <p:cNvSpPr txBox="1"/>
          <p:nvPr/>
        </p:nvSpPr>
        <p:spPr>
          <a:xfrm>
            <a:off x="4700016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控制</a:t>
            </a:r>
          </a:p>
        </p:txBody>
      </p:sp>
      <p:sp>
        <p:nvSpPr>
          <p:cNvPr id="11" name="Transfer body 2"/>
          <p:cNvSpPr txBox="1"/>
          <p:nvPr/>
        </p:nvSpPr>
        <p:spPr>
          <a:xfrm>
            <a:off x="4727448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一個可修改的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</a:t>
            </a:r>
          </a:p>
        </p:txBody>
      </p:sp>
      <p:sp>
        <p:nvSpPr>
          <p:cNvPr id="12" name="Transfer field 3"/>
          <p:cNvSpPr/>
          <p:nvPr/>
        </p:nvSpPr>
        <p:spPr>
          <a:xfrm>
            <a:off x="8339328" y="1874519"/>
            <a:ext cx="3246120" cy="12070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fer label 3"/>
          <p:cNvSpPr txBox="1"/>
          <p:nvPr/>
        </p:nvSpPr>
        <p:spPr>
          <a:xfrm>
            <a:off x="8467344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sp>
        <p:nvSpPr>
          <p:cNvPr id="14" name="Transfer body 3"/>
          <p:cNvSpPr txBox="1"/>
          <p:nvPr/>
        </p:nvSpPr>
        <p:spPr>
          <a:xfrm>
            <a:off x="8494776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freshness / deadline</a:t>
            </a:r>
          </a:p>
        </p:txBody>
      </p:sp>
      <p:sp>
        <p:nvSpPr>
          <p:cNvPr id="15" name="Transfer field 4"/>
          <p:cNvSpPr/>
          <p:nvPr/>
        </p:nvSpPr>
        <p:spPr>
          <a:xfrm>
            <a:off x="804672" y="3502152"/>
            <a:ext cx="3246120" cy="120700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nsfer label 4"/>
          <p:cNvSpPr txBox="1"/>
          <p:nvPr/>
        </p:nvSpPr>
        <p:spPr>
          <a:xfrm>
            <a:off x="932688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能量</a:t>
            </a:r>
          </a:p>
        </p:txBody>
      </p:sp>
      <p:sp>
        <p:nvSpPr>
          <p:cNvPr id="17" name="Transfer body 4"/>
          <p:cNvSpPr txBox="1"/>
          <p:nvPr/>
        </p:nvSpPr>
        <p:spPr>
          <a:xfrm>
            <a:off x="960120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Σ P·Δt → J</a:t>
            </a:r>
          </a:p>
        </p:txBody>
      </p:sp>
      <p:sp>
        <p:nvSpPr>
          <p:cNvPr id="18" name="Transfer field 5"/>
          <p:cNvSpPr/>
          <p:nvPr/>
        </p:nvSpPr>
        <p:spPr>
          <a:xfrm>
            <a:off x="4572000" y="3502152"/>
            <a:ext cx="3246120" cy="120700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nsfer label 5"/>
          <p:cNvSpPr txBox="1"/>
          <p:nvPr/>
        </p:nvSpPr>
        <p:spPr>
          <a:xfrm>
            <a:off x="4700016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反例</a:t>
            </a:r>
          </a:p>
        </p:txBody>
      </p:sp>
      <p:sp>
        <p:nvSpPr>
          <p:cNvPr id="20" name="Transfer body 5"/>
          <p:cNvSpPr txBox="1"/>
          <p:nvPr/>
        </p:nvSpPr>
        <p:spPr>
          <a:xfrm>
            <a:off x="4727448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held-out falsifier</a:t>
            </a:r>
          </a:p>
        </p:txBody>
      </p:sp>
      <p:sp>
        <p:nvSpPr>
          <p:cNvPr id="21" name="Transfer warning"/>
          <p:cNvSpPr/>
          <p:nvPr/>
        </p:nvSpPr>
        <p:spPr>
          <a:xfrm>
            <a:off x="841248" y="5212080"/>
            <a:ext cx="10469880" cy="384048"/>
          </a:xfrm>
          <a:prstGeom prst="roundRect">
            <a:avLst/>
          </a:prstGeom>
          <a:solidFill>
            <a:srgbClr val="FDEFEF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nsfer warning text"/>
          <p:cNvSpPr txBox="1"/>
          <p:nvPr/>
        </p:nvSpPr>
        <p:spPr>
          <a:xfrm>
            <a:off x="987552" y="5285232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若只有圖表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動畫變化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卻沒有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action → state → service → J → decision，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不能算可移轉證據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Appendix：scenario、result、receipt、replay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的契約流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Appendix index"/>
          <p:cNvSpPr/>
          <p:nvPr/>
        </p:nvSpPr>
        <p:spPr>
          <a:xfrm>
            <a:off x="822960" y="1325880"/>
            <a:ext cx="2999232" cy="42976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pendix heading"/>
          <p:cNvSpPr txBox="1"/>
          <p:nvPr/>
        </p:nvSpPr>
        <p:spPr>
          <a:xfrm>
            <a:off x="1060704" y="1609344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可選深挖</a:t>
            </a:r>
          </a:p>
        </p:txBody>
      </p:sp>
      <p:sp>
        <p:nvSpPr>
          <p:cNvPr id="9" name="Appendix bullet 1"/>
          <p:cNvSpPr/>
          <p:nvPr/>
        </p:nvSpPr>
        <p:spPr>
          <a:xfrm>
            <a:off x="1143000" y="2267712"/>
            <a:ext cx="164592" cy="16459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pendix bullet text 1"/>
          <p:cNvSpPr txBox="1"/>
          <p:nvPr/>
        </p:nvSpPr>
        <p:spPr>
          <a:xfrm>
            <a:off x="1444752" y="2194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scenario.schema → result.schema → freeze-receipt.schema → endpoint-replay.schema → workbook。</a:t>
            </a:r>
          </a:p>
        </p:txBody>
      </p:sp>
      <p:sp>
        <p:nvSpPr>
          <p:cNvPr id="11" name="Appendix mechanism"/>
          <p:cNvSpPr/>
          <p:nvPr/>
        </p:nvSpPr>
        <p:spPr>
          <a:xfrm>
            <a:off x="4251960" y="1325880"/>
            <a:ext cx="704088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endix mechanism heading"/>
          <p:cNvSpPr txBox="1"/>
          <p:nvPr/>
        </p:nvSpPr>
        <p:spPr>
          <a:xfrm>
            <a:off x="4526280" y="160934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為什麼這個細節存在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3" name="Appendix mechanism body"/>
          <p:cNvSpPr txBox="1"/>
          <p:nvPr/>
        </p:nvSpPr>
        <p:spPr>
          <a:xfrm>
            <a:off x="4553712" y="2029968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五份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schema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連成一條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contract flow。</a:t>
            </a:r>
          </a:p>
        </p:txBody>
      </p:sp>
      <p:sp>
        <p:nvSpPr>
          <p:cNvPr id="14" name="Appendix boundary"/>
          <p:cNvSpPr/>
          <p:nvPr/>
        </p:nvSpPr>
        <p:spPr>
          <a:xfrm>
            <a:off x="4251960" y="3529584"/>
            <a:ext cx="7040880" cy="2093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ppendix boundary heading"/>
          <p:cNvSpPr txBox="1"/>
          <p:nvPr/>
        </p:nvSpPr>
        <p:spPr>
          <a:xfrm>
            <a:off x="4526280" y="380390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退回主線時要保留的邊界</a:t>
            </a:r>
          </a:p>
        </p:txBody>
      </p:sp>
      <p:sp>
        <p:nvSpPr>
          <p:cNvPr id="16" name="Appendix boundary body"/>
          <p:cNvSpPr txBox="1"/>
          <p:nvPr/>
        </p:nvSpPr>
        <p:spPr>
          <a:xfrm>
            <a:off x="4553712" y="4224528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window；endpoint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任何未凍結來源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畫面或數字保留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placeholder。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Appendix：fail-closed validation ladder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Transfer caption"/>
          <p:cNvSpPr txBox="1"/>
          <p:nvPr/>
        </p:nvSpPr>
        <p:spPr>
          <a:xfrm>
            <a:off x="868680" y="118872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把同一個決策句型移到另一個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IoT domain，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不搬運衛星專有名詞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ransfer field 1"/>
          <p:cNvSpPr/>
          <p:nvPr/>
        </p:nvSpPr>
        <p:spPr>
          <a:xfrm>
            <a:off x="804672" y="1874519"/>
            <a:ext cx="3246120" cy="120700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nsfer label 1"/>
          <p:cNvSpPr txBox="1"/>
          <p:nvPr/>
        </p:nvSpPr>
        <p:spPr>
          <a:xfrm>
            <a:off x="932688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固定任務</a:t>
            </a:r>
          </a:p>
        </p:txBody>
      </p:sp>
      <p:sp>
        <p:nvSpPr>
          <p:cNvPr id="8" name="Transfer body 1"/>
          <p:cNvSpPr txBox="1"/>
          <p:nvPr/>
        </p:nvSpPr>
        <p:spPr>
          <a:xfrm>
            <a:off x="960120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payload / deadline / window</a:t>
            </a:r>
          </a:p>
        </p:txBody>
      </p:sp>
      <p:sp>
        <p:nvSpPr>
          <p:cNvPr id="9" name="Transfer field 2"/>
          <p:cNvSpPr/>
          <p:nvPr/>
        </p:nvSpPr>
        <p:spPr>
          <a:xfrm>
            <a:off x="4572000" y="1874519"/>
            <a:ext cx="3246120" cy="120700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nsfer label 2"/>
          <p:cNvSpPr txBox="1"/>
          <p:nvPr/>
        </p:nvSpPr>
        <p:spPr>
          <a:xfrm>
            <a:off x="4700016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控制</a:t>
            </a:r>
          </a:p>
        </p:txBody>
      </p:sp>
      <p:sp>
        <p:nvSpPr>
          <p:cNvPr id="11" name="Transfer body 2"/>
          <p:cNvSpPr txBox="1"/>
          <p:nvPr/>
        </p:nvSpPr>
        <p:spPr>
          <a:xfrm>
            <a:off x="4727448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一個可修改的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</a:t>
            </a:r>
          </a:p>
        </p:txBody>
      </p:sp>
      <p:sp>
        <p:nvSpPr>
          <p:cNvPr id="12" name="Transfer field 3"/>
          <p:cNvSpPr/>
          <p:nvPr/>
        </p:nvSpPr>
        <p:spPr>
          <a:xfrm>
            <a:off x="8339328" y="1874519"/>
            <a:ext cx="3246120" cy="12070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fer label 3"/>
          <p:cNvSpPr txBox="1"/>
          <p:nvPr/>
        </p:nvSpPr>
        <p:spPr>
          <a:xfrm>
            <a:off x="8467344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sp>
        <p:nvSpPr>
          <p:cNvPr id="14" name="Transfer body 3"/>
          <p:cNvSpPr txBox="1"/>
          <p:nvPr/>
        </p:nvSpPr>
        <p:spPr>
          <a:xfrm>
            <a:off x="8494776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freshness / deadline</a:t>
            </a:r>
          </a:p>
        </p:txBody>
      </p:sp>
      <p:sp>
        <p:nvSpPr>
          <p:cNvPr id="15" name="Transfer field 4"/>
          <p:cNvSpPr/>
          <p:nvPr/>
        </p:nvSpPr>
        <p:spPr>
          <a:xfrm>
            <a:off x="804672" y="3502152"/>
            <a:ext cx="3246120" cy="120700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nsfer label 4"/>
          <p:cNvSpPr txBox="1"/>
          <p:nvPr/>
        </p:nvSpPr>
        <p:spPr>
          <a:xfrm>
            <a:off x="932688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能量</a:t>
            </a:r>
          </a:p>
        </p:txBody>
      </p:sp>
      <p:sp>
        <p:nvSpPr>
          <p:cNvPr id="17" name="Transfer body 4"/>
          <p:cNvSpPr txBox="1"/>
          <p:nvPr/>
        </p:nvSpPr>
        <p:spPr>
          <a:xfrm>
            <a:off x="960120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Σ P·Δt → J</a:t>
            </a:r>
          </a:p>
        </p:txBody>
      </p:sp>
      <p:sp>
        <p:nvSpPr>
          <p:cNvPr id="18" name="Transfer field 5"/>
          <p:cNvSpPr/>
          <p:nvPr/>
        </p:nvSpPr>
        <p:spPr>
          <a:xfrm>
            <a:off x="4572000" y="3502152"/>
            <a:ext cx="3246120" cy="120700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nsfer label 5"/>
          <p:cNvSpPr txBox="1"/>
          <p:nvPr/>
        </p:nvSpPr>
        <p:spPr>
          <a:xfrm>
            <a:off x="4700016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反例</a:t>
            </a:r>
          </a:p>
        </p:txBody>
      </p:sp>
      <p:sp>
        <p:nvSpPr>
          <p:cNvPr id="20" name="Transfer body 5"/>
          <p:cNvSpPr txBox="1"/>
          <p:nvPr/>
        </p:nvSpPr>
        <p:spPr>
          <a:xfrm>
            <a:off x="4727448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held-out falsifier</a:t>
            </a:r>
          </a:p>
        </p:txBody>
      </p:sp>
      <p:sp>
        <p:nvSpPr>
          <p:cNvPr id="21" name="Transfer warning"/>
          <p:cNvSpPr/>
          <p:nvPr/>
        </p:nvSpPr>
        <p:spPr>
          <a:xfrm>
            <a:off x="841248" y="5212080"/>
            <a:ext cx="10469880" cy="384048"/>
          </a:xfrm>
          <a:prstGeom prst="roundRect">
            <a:avLst/>
          </a:prstGeom>
          <a:solidFill>
            <a:srgbClr val="FDEFEF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nsfer warning text"/>
          <p:cNvSpPr txBox="1"/>
          <p:nvPr/>
        </p:nvSpPr>
        <p:spPr>
          <a:xfrm>
            <a:off x="987552" y="5285232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若只有圖表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動畫變化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卻沒有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action → state → service → J → decision，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不能算可移轉證據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wrapper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upstream license boundary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Appendix index"/>
          <p:cNvSpPr/>
          <p:nvPr/>
        </p:nvSpPr>
        <p:spPr>
          <a:xfrm>
            <a:off x="822960" y="1325880"/>
            <a:ext cx="2999232" cy="42976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ppendix heading"/>
          <p:cNvSpPr txBox="1"/>
          <p:nvPr/>
        </p:nvSpPr>
        <p:spPr>
          <a:xfrm>
            <a:off x="1060704" y="1609344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可選深挖</a:t>
            </a:r>
          </a:p>
        </p:txBody>
      </p:sp>
      <p:sp>
        <p:nvSpPr>
          <p:cNvPr id="7" name="Appendix bullet 1"/>
          <p:cNvSpPr/>
          <p:nvPr/>
        </p:nvSpPr>
        <p:spPr>
          <a:xfrm>
            <a:off x="1143000" y="2267712"/>
            <a:ext cx="164592" cy="16459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pendix bullet text 1"/>
          <p:cNvSpPr txBox="1"/>
          <p:nvPr/>
        </p:nvSpPr>
        <p:spPr>
          <a:xfrm>
            <a:off x="1444752" y="2194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 wrapper</a:t>
            </a:r>
          </a:p>
        </p:txBody>
      </p:sp>
      <p:sp>
        <p:nvSpPr>
          <p:cNvPr id="9" name="Appendix bullet 2"/>
          <p:cNvSpPr/>
          <p:nvPr/>
        </p:nvSpPr>
        <p:spPr>
          <a:xfrm>
            <a:off x="1143000" y="2862072"/>
            <a:ext cx="164592" cy="1645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pendix bullet text 2"/>
          <p:cNvSpPr txBox="1"/>
          <p:nvPr/>
        </p:nvSpPr>
        <p:spPr>
          <a:xfrm>
            <a:off x="1444752" y="2788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pinned upstream reference</a:t>
            </a:r>
          </a:p>
        </p:txBody>
      </p:sp>
      <p:sp>
        <p:nvSpPr>
          <p:cNvPr id="11" name="Appendix bullet 3"/>
          <p:cNvSpPr/>
          <p:nvPr/>
        </p:nvSpPr>
        <p:spPr>
          <a:xfrm>
            <a:off x="1143000" y="3456432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endix bullet text 3"/>
          <p:cNvSpPr txBox="1"/>
          <p:nvPr/>
        </p:nvSpPr>
        <p:spPr>
          <a:xfrm>
            <a:off x="1444752" y="33832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JSON seam</a:t>
            </a:r>
          </a:p>
        </p:txBody>
      </p:sp>
      <p:sp>
        <p:nvSpPr>
          <p:cNvPr id="13" name="Appendix bullet 4"/>
          <p:cNvSpPr/>
          <p:nvPr/>
        </p:nvSpPr>
        <p:spPr>
          <a:xfrm>
            <a:off x="1143000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ppendix bullet text 4"/>
          <p:cNvSpPr txBox="1"/>
          <p:nvPr/>
        </p:nvSpPr>
        <p:spPr>
          <a:xfrm>
            <a:off x="1444752" y="3977639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GPL-3.0 review。</a:t>
            </a:r>
          </a:p>
        </p:txBody>
      </p:sp>
      <p:sp>
        <p:nvSpPr>
          <p:cNvPr id="15" name="Appendix mechanism"/>
          <p:cNvSpPr/>
          <p:nvPr/>
        </p:nvSpPr>
        <p:spPr>
          <a:xfrm>
            <a:off x="4251960" y="1325880"/>
            <a:ext cx="704088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ppendix mechanism heading"/>
          <p:cNvSpPr txBox="1"/>
          <p:nvPr/>
        </p:nvSpPr>
        <p:spPr>
          <a:xfrm>
            <a:off x="4526280" y="160934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為什麼這個細節存在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7" name="Appendix mechanism body"/>
          <p:cNvSpPr txBox="1"/>
          <p:nvPr/>
        </p:nvSpPr>
        <p:spPr>
          <a:xfrm>
            <a:off x="4553712" y="2029968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upstream、course package、Leo JSON seam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的三方邊界圖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Appendix boundary"/>
          <p:cNvSpPr/>
          <p:nvPr/>
        </p:nvSpPr>
        <p:spPr>
          <a:xfrm>
            <a:off x="4251960" y="3529584"/>
            <a:ext cx="7040880" cy="2093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ppendix boundary heading"/>
          <p:cNvSpPr txBox="1"/>
          <p:nvPr/>
        </p:nvSpPr>
        <p:spPr>
          <a:xfrm>
            <a:off x="4526280" y="380390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退回主線時要保留的邊界</a:t>
            </a:r>
          </a:p>
        </p:txBody>
      </p:sp>
      <p:sp>
        <p:nvSpPr>
          <p:cNvPr id="20" name="Appendix boundary body"/>
          <p:cNvSpPr txBox="1"/>
          <p:nvPr/>
        </p:nvSpPr>
        <p:spPr>
          <a:xfrm>
            <a:off x="4553712" y="4224528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window；endpoint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任何未凍結來源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畫面或數字保留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placeholder。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Appendix：field glossary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claim ceiling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Transfer caption"/>
          <p:cNvSpPr txBox="1"/>
          <p:nvPr/>
        </p:nvSpPr>
        <p:spPr>
          <a:xfrm>
            <a:off x="868680" y="118872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把同一個決策句型移到另一個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IoT domain，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不搬運衛星專有名詞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ransfer field 1"/>
          <p:cNvSpPr/>
          <p:nvPr/>
        </p:nvSpPr>
        <p:spPr>
          <a:xfrm>
            <a:off x="804672" y="1874519"/>
            <a:ext cx="3246120" cy="120700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nsfer label 1"/>
          <p:cNvSpPr txBox="1"/>
          <p:nvPr/>
        </p:nvSpPr>
        <p:spPr>
          <a:xfrm>
            <a:off x="932688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固定任務</a:t>
            </a:r>
          </a:p>
        </p:txBody>
      </p:sp>
      <p:sp>
        <p:nvSpPr>
          <p:cNvPr id="8" name="Transfer body 1"/>
          <p:cNvSpPr txBox="1"/>
          <p:nvPr/>
        </p:nvSpPr>
        <p:spPr>
          <a:xfrm>
            <a:off x="960120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payload / deadline / window</a:t>
            </a:r>
          </a:p>
        </p:txBody>
      </p:sp>
      <p:sp>
        <p:nvSpPr>
          <p:cNvPr id="9" name="Transfer field 2"/>
          <p:cNvSpPr/>
          <p:nvPr/>
        </p:nvSpPr>
        <p:spPr>
          <a:xfrm>
            <a:off x="4572000" y="1874519"/>
            <a:ext cx="3246120" cy="120700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nsfer label 2"/>
          <p:cNvSpPr txBox="1"/>
          <p:nvPr/>
        </p:nvSpPr>
        <p:spPr>
          <a:xfrm>
            <a:off x="4700016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控制</a:t>
            </a:r>
          </a:p>
        </p:txBody>
      </p:sp>
      <p:sp>
        <p:nvSpPr>
          <p:cNvPr id="11" name="Transfer body 2"/>
          <p:cNvSpPr txBox="1"/>
          <p:nvPr/>
        </p:nvSpPr>
        <p:spPr>
          <a:xfrm>
            <a:off x="4727448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一個可修改的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</a:t>
            </a:r>
          </a:p>
        </p:txBody>
      </p:sp>
      <p:sp>
        <p:nvSpPr>
          <p:cNvPr id="12" name="Transfer field 3"/>
          <p:cNvSpPr/>
          <p:nvPr/>
        </p:nvSpPr>
        <p:spPr>
          <a:xfrm>
            <a:off x="8339328" y="1874519"/>
            <a:ext cx="3246120" cy="12070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fer label 3"/>
          <p:cNvSpPr txBox="1"/>
          <p:nvPr/>
        </p:nvSpPr>
        <p:spPr>
          <a:xfrm>
            <a:off x="8467344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sp>
        <p:nvSpPr>
          <p:cNvPr id="14" name="Transfer body 3"/>
          <p:cNvSpPr txBox="1"/>
          <p:nvPr/>
        </p:nvSpPr>
        <p:spPr>
          <a:xfrm>
            <a:off x="8494776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freshness / deadline</a:t>
            </a:r>
          </a:p>
        </p:txBody>
      </p:sp>
      <p:sp>
        <p:nvSpPr>
          <p:cNvPr id="15" name="Transfer field 4"/>
          <p:cNvSpPr/>
          <p:nvPr/>
        </p:nvSpPr>
        <p:spPr>
          <a:xfrm>
            <a:off x="804672" y="3502152"/>
            <a:ext cx="3246120" cy="120700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nsfer label 4"/>
          <p:cNvSpPr txBox="1"/>
          <p:nvPr/>
        </p:nvSpPr>
        <p:spPr>
          <a:xfrm>
            <a:off x="932688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能量</a:t>
            </a:r>
          </a:p>
        </p:txBody>
      </p:sp>
      <p:sp>
        <p:nvSpPr>
          <p:cNvPr id="17" name="Transfer body 4"/>
          <p:cNvSpPr txBox="1"/>
          <p:nvPr/>
        </p:nvSpPr>
        <p:spPr>
          <a:xfrm>
            <a:off x="960120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Σ P·Δt → J</a:t>
            </a:r>
          </a:p>
        </p:txBody>
      </p:sp>
      <p:sp>
        <p:nvSpPr>
          <p:cNvPr id="18" name="Transfer field 5"/>
          <p:cNvSpPr/>
          <p:nvPr/>
        </p:nvSpPr>
        <p:spPr>
          <a:xfrm>
            <a:off x="4572000" y="3502152"/>
            <a:ext cx="3246120" cy="120700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nsfer label 5"/>
          <p:cNvSpPr txBox="1"/>
          <p:nvPr/>
        </p:nvSpPr>
        <p:spPr>
          <a:xfrm>
            <a:off x="4700016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反例</a:t>
            </a:r>
          </a:p>
        </p:txBody>
      </p:sp>
      <p:sp>
        <p:nvSpPr>
          <p:cNvPr id="20" name="Transfer body 5"/>
          <p:cNvSpPr txBox="1"/>
          <p:nvPr/>
        </p:nvSpPr>
        <p:spPr>
          <a:xfrm>
            <a:off x="4727448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held-out falsifier</a:t>
            </a:r>
          </a:p>
        </p:txBody>
      </p:sp>
      <p:sp>
        <p:nvSpPr>
          <p:cNvPr id="21" name="Transfer warning"/>
          <p:cNvSpPr/>
          <p:nvPr/>
        </p:nvSpPr>
        <p:spPr>
          <a:xfrm>
            <a:off x="841248" y="5212080"/>
            <a:ext cx="10469880" cy="384048"/>
          </a:xfrm>
          <a:prstGeom prst="roundRect">
            <a:avLst/>
          </a:prstGeom>
          <a:solidFill>
            <a:srgbClr val="FDEFEF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nsfer warning text"/>
          <p:cNvSpPr txBox="1"/>
          <p:nvPr/>
        </p:nvSpPr>
        <p:spPr>
          <a:xfrm>
            <a:off x="987552" y="5285232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若只有圖表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動畫變化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卻沒有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action → state → service → J → decision，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不能算可移轉證據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快速分支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policy，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新的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held-out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條件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Appendix index"/>
          <p:cNvSpPr/>
          <p:nvPr/>
        </p:nvSpPr>
        <p:spPr>
          <a:xfrm>
            <a:off x="822960" y="1325880"/>
            <a:ext cx="2999232" cy="42976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ppendix heading"/>
          <p:cNvSpPr txBox="1"/>
          <p:nvPr/>
        </p:nvSpPr>
        <p:spPr>
          <a:xfrm>
            <a:off x="1060704" y="1609344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可選深挖</a:t>
            </a:r>
          </a:p>
        </p:txBody>
      </p:sp>
      <p:sp>
        <p:nvSpPr>
          <p:cNvPr id="7" name="Appendix bullet 1"/>
          <p:cNvSpPr/>
          <p:nvPr/>
        </p:nvSpPr>
        <p:spPr>
          <a:xfrm>
            <a:off x="1143000" y="2267712"/>
            <a:ext cx="164592" cy="16459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pendix bullet text 1"/>
          <p:cNvSpPr txBox="1"/>
          <p:nvPr/>
        </p:nvSpPr>
        <p:spPr>
          <a:xfrm>
            <a:off x="1444752" y="2194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freeze policy</a:t>
            </a:r>
          </a:p>
        </p:txBody>
      </p:sp>
      <p:sp>
        <p:nvSpPr>
          <p:cNvPr id="9" name="Appendix bullet 2"/>
          <p:cNvSpPr/>
          <p:nvPr/>
        </p:nvSpPr>
        <p:spPr>
          <a:xfrm>
            <a:off x="1143000" y="2862072"/>
            <a:ext cx="164592" cy="1645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pendix bullet text 2"/>
          <p:cNvSpPr txBox="1"/>
          <p:nvPr/>
        </p:nvSpPr>
        <p:spPr>
          <a:xfrm>
            <a:off x="1444752" y="2788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new opportunity / trace</a:t>
            </a:r>
          </a:p>
        </p:txBody>
      </p:sp>
      <p:sp>
        <p:nvSpPr>
          <p:cNvPr id="11" name="Appendix bullet 3"/>
          <p:cNvSpPr/>
          <p:nvPr/>
        </p:nvSpPr>
        <p:spPr>
          <a:xfrm>
            <a:off x="1143000" y="3456432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endix bullet text 3"/>
          <p:cNvSpPr txBox="1"/>
          <p:nvPr/>
        </p:nvSpPr>
        <p:spPr>
          <a:xfrm>
            <a:off x="1444752" y="33832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predict → run → compare</a:t>
            </a:r>
          </a:p>
        </p:txBody>
      </p:sp>
      <p:sp>
        <p:nvSpPr>
          <p:cNvPr id="13" name="Appendix bullet 4"/>
          <p:cNvSpPr/>
          <p:nvPr/>
        </p:nvSpPr>
        <p:spPr>
          <a:xfrm>
            <a:off x="1143000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ppendix bullet text 4"/>
          <p:cNvSpPr txBox="1"/>
          <p:nvPr/>
        </p:nvSpPr>
        <p:spPr>
          <a:xfrm>
            <a:off x="1444752" y="3977639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 retune。</a:t>
            </a:r>
          </a:p>
        </p:txBody>
      </p:sp>
      <p:sp>
        <p:nvSpPr>
          <p:cNvPr id="15" name="Appendix mechanism"/>
          <p:cNvSpPr/>
          <p:nvPr/>
        </p:nvSpPr>
        <p:spPr>
          <a:xfrm>
            <a:off x="4251960" y="1325880"/>
            <a:ext cx="704088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ppendix mechanism heading"/>
          <p:cNvSpPr txBox="1"/>
          <p:nvPr/>
        </p:nvSpPr>
        <p:spPr>
          <a:xfrm>
            <a:off x="4526280" y="160934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為什麼這個細節存在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7" name="Appendix mechanism body"/>
          <p:cNvSpPr txBox="1"/>
          <p:nvPr/>
        </p:nvSpPr>
        <p:spPr>
          <a:xfrm>
            <a:off x="4553712" y="2029968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frozen policy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直接連到新的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counterexample card。</a:t>
            </a:r>
          </a:p>
        </p:txBody>
      </p:sp>
      <p:sp>
        <p:nvSpPr>
          <p:cNvPr id="18" name="Appendix boundary"/>
          <p:cNvSpPr/>
          <p:nvPr/>
        </p:nvSpPr>
        <p:spPr>
          <a:xfrm>
            <a:off x="4251960" y="3529584"/>
            <a:ext cx="7040880" cy="2093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ppendix boundary heading"/>
          <p:cNvSpPr txBox="1"/>
          <p:nvPr/>
        </p:nvSpPr>
        <p:spPr>
          <a:xfrm>
            <a:off x="4526280" y="380390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退回主線時要保留的邊界</a:t>
            </a:r>
          </a:p>
        </p:txBody>
      </p:sp>
      <p:sp>
        <p:nvSpPr>
          <p:cNvPr id="20" name="Appendix boundary body"/>
          <p:cNvSpPr txBox="1"/>
          <p:nvPr/>
        </p:nvSpPr>
        <p:spPr>
          <a:xfrm>
            <a:off x="4553712" y="4224528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window；endpoint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任何未凍結來源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畫面或數字保留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placeholder。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退出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留下可重開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可反駁的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evidence chain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Transfer caption"/>
          <p:cNvSpPr txBox="1"/>
          <p:nvPr/>
        </p:nvSpPr>
        <p:spPr>
          <a:xfrm>
            <a:off x="868680" y="118872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把同一個決策句型移到另一個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IoT domain，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不搬運衛星專有名詞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ransfer field 1"/>
          <p:cNvSpPr/>
          <p:nvPr/>
        </p:nvSpPr>
        <p:spPr>
          <a:xfrm>
            <a:off x="804672" y="1874519"/>
            <a:ext cx="3246120" cy="120700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nsfer label 1"/>
          <p:cNvSpPr txBox="1"/>
          <p:nvPr/>
        </p:nvSpPr>
        <p:spPr>
          <a:xfrm>
            <a:off x="932688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固定任務</a:t>
            </a:r>
          </a:p>
        </p:txBody>
      </p:sp>
      <p:sp>
        <p:nvSpPr>
          <p:cNvPr id="8" name="Transfer body 1"/>
          <p:cNvSpPr txBox="1"/>
          <p:nvPr/>
        </p:nvSpPr>
        <p:spPr>
          <a:xfrm>
            <a:off x="960120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payload / deadline / window</a:t>
            </a:r>
          </a:p>
        </p:txBody>
      </p:sp>
      <p:sp>
        <p:nvSpPr>
          <p:cNvPr id="9" name="Transfer field 2"/>
          <p:cNvSpPr/>
          <p:nvPr/>
        </p:nvSpPr>
        <p:spPr>
          <a:xfrm>
            <a:off x="4572000" y="1874519"/>
            <a:ext cx="3246120" cy="120700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nsfer label 2"/>
          <p:cNvSpPr txBox="1"/>
          <p:nvPr/>
        </p:nvSpPr>
        <p:spPr>
          <a:xfrm>
            <a:off x="4700016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控制</a:t>
            </a:r>
          </a:p>
        </p:txBody>
      </p:sp>
      <p:sp>
        <p:nvSpPr>
          <p:cNvPr id="11" name="Transfer body 2"/>
          <p:cNvSpPr txBox="1"/>
          <p:nvPr/>
        </p:nvSpPr>
        <p:spPr>
          <a:xfrm>
            <a:off x="4727448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一個可修改的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</a:t>
            </a:r>
          </a:p>
        </p:txBody>
      </p:sp>
      <p:sp>
        <p:nvSpPr>
          <p:cNvPr id="12" name="Transfer field 3"/>
          <p:cNvSpPr/>
          <p:nvPr/>
        </p:nvSpPr>
        <p:spPr>
          <a:xfrm>
            <a:off x="8339328" y="1874519"/>
            <a:ext cx="3246120" cy="12070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fer label 3"/>
          <p:cNvSpPr txBox="1"/>
          <p:nvPr/>
        </p:nvSpPr>
        <p:spPr>
          <a:xfrm>
            <a:off x="8467344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sp>
        <p:nvSpPr>
          <p:cNvPr id="14" name="Transfer body 3"/>
          <p:cNvSpPr txBox="1"/>
          <p:nvPr/>
        </p:nvSpPr>
        <p:spPr>
          <a:xfrm>
            <a:off x="8494776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freshness / deadline</a:t>
            </a:r>
          </a:p>
        </p:txBody>
      </p:sp>
      <p:sp>
        <p:nvSpPr>
          <p:cNvPr id="15" name="Transfer field 4"/>
          <p:cNvSpPr/>
          <p:nvPr/>
        </p:nvSpPr>
        <p:spPr>
          <a:xfrm>
            <a:off x="804672" y="3502152"/>
            <a:ext cx="3246120" cy="120700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nsfer label 4"/>
          <p:cNvSpPr txBox="1"/>
          <p:nvPr/>
        </p:nvSpPr>
        <p:spPr>
          <a:xfrm>
            <a:off x="932688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能量</a:t>
            </a:r>
          </a:p>
        </p:txBody>
      </p:sp>
      <p:sp>
        <p:nvSpPr>
          <p:cNvPr id="17" name="Transfer body 4"/>
          <p:cNvSpPr txBox="1"/>
          <p:nvPr/>
        </p:nvSpPr>
        <p:spPr>
          <a:xfrm>
            <a:off x="960120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Σ P·Δt → J</a:t>
            </a:r>
          </a:p>
        </p:txBody>
      </p:sp>
      <p:sp>
        <p:nvSpPr>
          <p:cNvPr id="18" name="Transfer field 5"/>
          <p:cNvSpPr/>
          <p:nvPr/>
        </p:nvSpPr>
        <p:spPr>
          <a:xfrm>
            <a:off x="4572000" y="3502152"/>
            <a:ext cx="3246120" cy="120700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nsfer label 5"/>
          <p:cNvSpPr txBox="1"/>
          <p:nvPr/>
        </p:nvSpPr>
        <p:spPr>
          <a:xfrm>
            <a:off x="4700016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反例</a:t>
            </a:r>
          </a:p>
        </p:txBody>
      </p:sp>
      <p:sp>
        <p:nvSpPr>
          <p:cNvPr id="20" name="Transfer body 5"/>
          <p:cNvSpPr txBox="1"/>
          <p:nvPr/>
        </p:nvSpPr>
        <p:spPr>
          <a:xfrm>
            <a:off x="4727448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held-out falsifier</a:t>
            </a:r>
          </a:p>
        </p:txBody>
      </p:sp>
      <p:sp>
        <p:nvSpPr>
          <p:cNvPr id="21" name="Transfer warning"/>
          <p:cNvSpPr/>
          <p:nvPr/>
        </p:nvSpPr>
        <p:spPr>
          <a:xfrm>
            <a:off x="841248" y="5212080"/>
            <a:ext cx="10469880" cy="384048"/>
          </a:xfrm>
          <a:prstGeom prst="roundRect">
            <a:avLst/>
          </a:prstGeom>
          <a:solidFill>
            <a:srgbClr val="FDEFEF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nsfer warning text"/>
          <p:cNvSpPr txBox="1"/>
          <p:nvPr/>
        </p:nvSpPr>
        <p:spPr>
          <a:xfrm>
            <a:off x="987552" y="5285232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若只有圖表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動畫變化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卻沒有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action → state → service → J → decision，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不能算可移轉證據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