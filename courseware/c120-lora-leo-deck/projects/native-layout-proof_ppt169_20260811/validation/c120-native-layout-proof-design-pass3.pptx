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?>
<Relationships xmlns="http://schemas.openxmlformats.org/package/2006/relationships"><Relationship Id="rId8" Type="http://schemas.openxmlformats.org/officeDocument/2006/relationships/tableStyles" Target="tableStyles.xml" /><Relationship Id="rId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4" Type="http://schemas.openxmlformats.org/officeDocument/2006/relationships/notesMaster" Target="notesMasters/notesMaster1.xml" />  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8.xml" /></Relationships>
</file>

<file path=ppt/notesSlides/_rels/notesSlide9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9.xml" /></Relationships>
</file>

<file path=ppt/notesSlides/_rels/notesSlide10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0.xml" /></Relationships>
</file>

<file path=ppt/notesSlides/_rels/notesSlide11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1.xml" /></Relationships>
</file>

<file path=ppt/notesSlides/_rels/notesSlide12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2.xml" /></Relationships>
</file>

<file path=ppt/notesSlides/_rels/notesSlide13.xml.rels><?xml version='1.0' encoding='utf-8'?>
<Relationships xmlns="http://schemas.openxmlformats.org/package/2006/relationships"><Relationship Id="rId1" Type="http://schemas.openxmlformats.org/officeDocument/2006/relationships/notesMaster" Target="../notesMasters/notesMaster1.xml" /><Relationship Id="rId2" Type="http://schemas.openxmlformats.org/officeDocument/2006/relationships/slide" Target="../slides/slide13.xml" 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這堂課從物聯網終端的能源決策開始。當終端選擇傳送、等待、批次或休眠時，封包服務與能量會一起改變；我們要學的是如何把操作連回可以驗證的因果，而不是背誦一個漂亮數字。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請沿著這條因果鏈由上往下讀。策略先改變終端停在哪個無線狀態，以及停留多久；功率乘上時間才會累積為能量，最後還要回頭檢查必要服務是否守住。只看到功率下降，還不能直接下節能結論。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左側才是課程核心：終端策略、佇列、無線狀態與能量證據。右側的 LEO 只提供一個服務機會會改變的例子，讓現在送或稍後送產生可見差異。同一套思考可以移轉到智慧農場、空調控制、邊緣推論與物流感測。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右側不是另一套任務，而是相對於左側控制線的一次變更。先讓基準留下可辨識的 result，再只修改指定 marked block；執行前先預測佇列、服務、狀態時間與終端能量會往哪個方向改變。若同時改了多個區域，結果就無法回答是哪個機制造成差異。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第一個式子把每個無線狀態的功率乘上停留時間，再累積成終端能量。第二個式子用成功送達的資料量除以同一個能量邊界；若 delivered-data 或 energy boundary 不同，就不能直接拿兩個效率值比較。這兩個式子不是裝飾，而是用來追問哪個操作改變了哪一段功率乘時間。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這張畫面來自已驗證的 server preview 匯入流程；它證明目前的瀏覽器路徑能讀取同一份 result，但不代表 Windows 原生執行已通過。匯入之後先確認身份與 lineage，再檢查必要服務，接著用佇列、封包與狀態時間解釋能量差異。若身份不一致、服務證據缺失或機制沒有產生後果，結論就應保持證據不足。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ns2:creationId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ns2:creationId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ns2:creationId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12" name="圖片 11">
            <a:extLst>
              <a:ext uri="{FF2B5EF4-FFF2-40B4-BE49-F238E27FC236}">
                <ns2:creationId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ns5:creationId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8" name="圖片 7">
            <a:extLst>
              <a:ext uri="{FF2B5EF4-FFF2-40B4-BE49-F238E27FC236}">
                <ns2:creationId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4:creationId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ns2="http://schemas.microsoft.com/office/powerpoint/2010/main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ns2="http://schemas.microsoft.com/office/powerpoint/2010/main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ns2="http://schemas.microsoft.com/office/powerpoint/2010/main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ns2:creationId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ns2="http://schemas.microsoft.com/office/powerpoint/2010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ns2:creationId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ns2="http://schemas.microsoft.com/office/powerpoint/2010/main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ns2="http://schemas.microsoft.com/office/powerpoint/2010/main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</p:spTree>
    <p:extLst>
      <p:ext uri="{BB962C8B-B14F-4D97-AF65-F5344CB8AC3E}">
        <ns2:creationId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ns2="http://schemas.microsoft.com/office/powerpoint/2010/main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ns2:creationId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ns2="http://schemas.microsoft.com/office/powerpoint/2010/main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ns2:creationId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ns2:creationId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ns2:creationId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ns2:creationId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 xml:space="preserve"> Sie, um die </a:t>
            </a:r>
            <a:r>
              <a:rPr lang="en-US" altLang="zh-TW" dirty="0" err="1"/>
              <a:t>Formate</a:t>
            </a:r>
            <a:r>
              <a:rPr lang="en-US" altLang="zh-TW" dirty="0"/>
              <a:t xml:space="preserve"> des </a:t>
            </a:r>
            <a:r>
              <a:rPr lang="en-US" altLang="zh-TW" dirty="0" err="1"/>
              <a:t>Vorlagentextes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zu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 xml:space="preserve"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ns2:creationId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ns2:creationId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ns4:hiddenFill>
                <a:noFill/>
              </ns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ns2:creationId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ns5:creationId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8.xml" /></Relationships>
</file>

<file path=ppt/slides/_rels/slide9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2.xml" />
<Relationship Id="rId2" Type="http://schemas.openxmlformats.org/officeDocument/2006/relationships/notesSlide" Target="../notesSlides/notesSlide9.xml" /></Relationships>
</file>

<file path=ppt/slides/_rels/slide10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3.xml" />
<Relationship Id="rId2" Type="http://schemas.openxmlformats.org/officeDocument/2006/relationships/notesSlide" Target="../notesSlides/notesSlide10.xml" /></Relationships>
</file>

<file path=ppt/slides/_rels/slide11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4.xml" />
<Relationship Id="rId2" Type="http://schemas.openxmlformats.org/officeDocument/2006/relationships/notesSlide" Target="../notesSlides/notesSlide11.xml" /></Relationships>
</file>

<file path=ppt/slides/_rels/slide12.xml.rels><?xml version='1.0' encoding='utf-8'?>
<Relationships xmlns="http://schemas.openxmlformats.org/package/2006/relationships">
  <Relationship Id="rId1" Type="http://schemas.openxmlformats.org/officeDocument/2006/relationships/slideLayout" Target="../slideLayouts/slideLayout5.xml" />
<Relationship Id="rId2" Type="http://schemas.openxmlformats.org/officeDocument/2006/relationships/notesSlide" Target="../notesSlides/notesSlide12.xml" /></Relationships>
</file>

<file path=ppt/slides/_rels/slide13.xml.rels><?xml version='1.0' encoding='utf-8'?>
<pr:Relationships xmlns:pr="http://schemas.openxmlformats.org/package/2006/relationships">
  <pr:Relationship Id="rId1" Type="http://schemas.openxmlformats.org/officeDocument/2006/relationships/slideLayout" Target="../slideLayouts/slideLayout7.xml" />
<pr:Relationship Id="rId2" Type="http://schemas.openxmlformats.org/officeDocument/2006/relationships/notesSlide" Target="../notesSlides/notesSlide13.xml" /><pr:Relationship Id="rId3" Type="http://schemas.openxmlformats.org/officeDocument/2006/relationships/image" Target="../media/c120-server-preview-import.png" /></pr:Relationships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ns2:creationId id="{A1DD83AA-F47A-45B9-B139-7BEF20F9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>LoRaEnergySim × 智慧節能與物聯網應用</a:t>
            </a:r>
            <a:r>
              <a:rPr lang="zh-TW" altLang="en-US" b="0" i="0" u="none" strike="noStrike" baseline="0" dirty="0" sz="2800">
                <a:latin typeface="Times New Roman"/>
                <a:ea typeface="標楷體"/>
                <a:cs typeface="Times New Roman"/>
              </a:rPr>
              <a:t xml:space="preserve"/>
            </a:r>
            <a:r>
              <a:rPr lang="en-US" altLang="zh-TW" b="0" i="0" u="none" strike="noStrike" baseline="0" dirty="0" sz="28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副標題 2">
            <a:extLst>
              <a:ext uri="{FF2B5EF4-FFF2-40B4-BE49-F238E27FC236}">
                <ns2:creationId id="{46C66A00-D57B-4EA9-AA9B-8637032128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ctr">
              <a:buNone/>
            </a:pP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 xml:space="preserve">從 policy 變更，看見 service 與 endpoint energy 的因果</a:t>
            </a:r>
            <a:r>
              <a:rPr lang="en-US" altLang="zh-TW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r>
              <a:rPr lang="en-US" altLang="zh-TW" b="0" i="0" u="none" strike="noStrike" baseline="0" dirty="0" sz="2400">
                <a:latin typeface="Times New Roman"/>
                <a:ea typeface="標楷體"/>
                <a:cs typeface="Times New Roman"/>
              </a:rPr>
              <a:t/>
            </a:r>
            <a:endParaRPr lang="zh-TW" altLang="en-US" dirty="0" i="0" sz="2400">
              <a:latin typeface="Times New Roman"/>
              <a:ea typeface="標楷體"/>
              <a:cs typeface="Times New Roman"/>
            </a:endParaRPr>
          </a:p>
        </p:txBody>
      </p:sp>
    </p:spTree>
    <p:extLst>
      <p:ext uri="{BB962C8B-B14F-4D97-AF65-F5344CB8AC3E}">
        <ns3:creationId val="2393275261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節能不是只看功率變小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1pPr>
            <a:lvl2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2pPr>
            <a:lvl3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3pPr>
            <a:lvl4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4pPr>
            <a:lvl5pPr>
              <a:defRPr sz="2400" baseline="0" i="0">
                <a:latin typeface="Times New Roman" panose="02020603050405020304" pitchFamily="18" charset="0"/>
                <a:ea typeface="標楷體" panose="03000509000000000000" pitchFamily="65" charset="-120"/>
                <a:cs typeface="Times New Roman"/>
              </a:defRPr>
            </a:lvl5pPr>
          </a:lstStyle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選擇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停留時間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endpoint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↓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service 判讀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LEO 只提供會改變的服務窗口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課程核心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LoRa endpoint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policy / queue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radio state / energy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LEO 範例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窗口會開、會關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品質會改變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等待會產生後果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 i="0" sz="280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先跑基準，再只改一個 policy block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Native content placeholder 1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基準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 anchor="t" lIns="0" rIns="0"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先驗證環境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i="0" sz="1800">
                <a:latin typeface="Times New Roman"/>
                <a:ea typeface="標楷體"/>
                <a:cs typeface="Times New Roman"/>
              </a:rPr>
              <a:t>bash course.sh verify</a:t>
            </a:r>
            <a:endParaRPr lang="zh-TW" i="0" sz="18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保持 policy 不變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i="0" sz="1800">
                <a:latin typeface="Times New Roman"/>
                <a:ea typeface="標楷體"/>
                <a:cs typeface="Times New Roman"/>
              </a:rPr>
              <a:t>bash course.sh run --lab A --case baseline</a:t>
            </a:r>
            <a:endParaRPr lang="zh-TW" i="0" sz="1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5" name="Native content placeholder 3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b="1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一次變更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6" name="Native content placeholder 4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 anchor="t" lIns="0" rIns="0"/>
          <a:lstStyle>
            <a:lvl1pPr>
              <a:defRPr sz="2400" baseline="0" i="0">
                <a:latin typeface="Times New Roman"/>
                <a:ea typeface="標楷體"/>
                <a:cs typeface="Times New Roman"/>
              </a:defRPr>
            </a:lvl1pPr>
            <a:lvl2pPr>
              <a:defRPr sz="2400" baseline="0" i="0">
                <a:latin typeface="Times New Roman"/>
                <a:ea typeface="標楷體"/>
                <a:cs typeface="Times New Roman"/>
              </a:defRPr>
            </a:lvl2pPr>
            <a:lvl3pPr>
              <a:defRPr sz="2400" baseline="0" i="0">
                <a:latin typeface="Times New Roman"/>
                <a:ea typeface="標楷體"/>
                <a:cs typeface="Times New Roman"/>
              </a:defRPr>
            </a:lvl3pPr>
            <a:lvl4pPr>
              <a:defRPr sz="2400" baseline="0" i="0">
                <a:latin typeface="Times New Roman"/>
                <a:ea typeface="標楷體"/>
                <a:cs typeface="Times New Roman"/>
              </a:defRPr>
            </a:lvl4pPr>
            <a:lvl5pPr>
              <a:defRPr sz="2400" baseline="0" i="0">
                <a:latin typeface="Times New Roman"/>
                <a:ea typeface="標楷體"/>
                <a:cs typeface="Times New Roman"/>
              </a:defRPr>
            </a:lvl5pPr>
            <a:lvl6pPr>
              <a:defRPr sz="2400" i="0">
                <a:latin typeface="Times New Roman"/>
                <a:ea typeface="標楷體"/>
                <a:cs typeface="Times New Roman"/>
              </a:defRPr>
            </a:lvl6pPr>
            <a:lvl7pPr>
              <a:defRPr sz="2400" i="0">
                <a:latin typeface="Times New Roman"/>
                <a:ea typeface="標楷體"/>
                <a:cs typeface="Times New Roman"/>
              </a:defRPr>
            </a:lvl7pPr>
            <a:lvl8pPr>
              <a:defRPr sz="2400" i="0">
                <a:latin typeface="Times New Roman"/>
                <a:ea typeface="標楷體"/>
                <a:cs typeface="Times New Roman"/>
              </a:defRPr>
            </a:lvl8pPr>
            <a:lvl9pPr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只改 </a:t>
            </a:r>
            <a:r>
              <a:rPr lang="zh-TW" i="1" sz="2400">
                <a:latin typeface="Times New Roman"/>
                <a:ea typeface="標楷體"/>
                <a:cs typeface="Times New Roman"/>
              </a:rPr>
              <a:t>lab-a-pace-rest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 xml:space="preserve">先寫下預測，再執行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 algn="l">
              <a:buNone/>
            </a:pPr>
            <a:r>
              <a:rPr lang="zh-TW" i="0" sz="1800">
                <a:latin typeface="Times New Roman"/>
                <a:ea typeface="標楷體"/>
                <a:cs typeface="Times New Roman"/>
              </a:rPr>
              <a:t xml:space="preserve">bash course.sh run --lab A --case candidate --freeze</a:t>
            </a:r>
            <a:endParaRPr lang="zh-TW" i="0" sz="180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i="0" sz="2800">
                <a:latin typeface="Times New Roman"/>
                <a:ea typeface="標楷體"/>
                <a:cs typeface="Times New Roman"/>
              </a:rPr>
              <a:t>公式把操作連到證據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3" name="C120 equation interpretation"/>
          <p:cNvSpPr txBox="1"/>
          <p:nvPr/>
        </p:nvSpPr>
        <p:spPr>
          <a:xfrm>
            <a:off x="960120" y="4846320"/>
            <a:ext cx="102870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zh-TW" altLang="en-US" sz="2400" i="0" b="0">
                <a:solidFill>
                  <a:srgbClr val="292B6E"/>
                </a:solidFill>
                <a:latin typeface="Times New Roman"/>
                <a:ea typeface="標楷體"/>
                <a:cs typeface="Times New Roman"/>
              </a:rPr>
              <a:t>第一式：各 radio state 的功率與停留時間累積為 endpoint energy</a:t>
            </a:r>
            <a:endParaRPr lang="zh-TW" altLang="en-US" sz="2400" i="0">
              <a:latin typeface="Times New Roman"/>
              <a:ea typeface="標楷體"/>
              <a:cs typeface="Times New Roman"/>
            </a:endParaRPr>
          </a:p>
          <a:p>
            <a:pPr algn="ctr">
              <a:buNone/>
            </a:pPr>
            <a:r>
              <a:rPr lang="zh-TW" altLang="en-US" sz="2400" i="0" b="0">
                <a:solidFill>
                  <a:srgbClr val="292B6E"/>
                </a:solidFill>
                <a:latin typeface="Times New Roman"/>
                <a:ea typeface="標楷體"/>
                <a:cs typeface="Times New Roman"/>
              </a:rPr>
              <a:t>第二式：送達資料量除以相同能量邊界，才可比較 energy efficiency</a:t>
            </a:r>
            <a:endParaRPr lang="zh-TW" altLang="en-US" sz="2400" i="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title placeholder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800" b="1" i="0">
                <a:latin typeface="Times New Roman"/>
                <a:ea typeface="標楷體"/>
                <a:cs typeface="Times New Roman"/>
              </a:defRPr>
            </a:lvl1pPr>
          </a:lstStyle>
          <a:p>
            <a:r>
              <a:rPr lang="zh-TW" i="0" sz="2800">
                <a:latin typeface="Times New Roman"/>
                <a:ea typeface="標楷體"/>
                <a:cs typeface="Times New Roman"/>
              </a:rPr>
              <a:t>一筆 result，先看證據鏈</a:t>
            </a:r>
            <a:endParaRPr lang="zh-TW" i="0" sz="2800">
              <a:latin typeface="Times New Roman"/>
              <a:ea typeface="標楷體"/>
              <a:cs typeface="Times New Roman"/>
            </a:endParaRPr>
          </a:p>
        </p:txBody>
      </p:sp>
      <p:sp>
        <p:nvSpPr>
          <p:cNvPr id="4" name="Native content placeholder 2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2400" i="0">
                <a:latin typeface="Times New Roman"/>
                <a:ea typeface="標楷體"/>
                <a:cs typeface="Times New Roman"/>
              </a:defRPr>
            </a:lvl1pPr>
            <a:lvl2pPr marL="457200" indent="0">
              <a:buNone/>
              <a:defRPr sz="2400" i="0">
                <a:latin typeface="Times New Roman"/>
                <a:ea typeface="標楷體"/>
                <a:cs typeface="Times New Roman"/>
              </a:defRPr>
            </a:lvl2pPr>
            <a:lvl3pPr marL="914400" indent="0">
              <a:buNone/>
              <a:defRPr sz="2400" i="0">
                <a:latin typeface="Times New Roman"/>
                <a:ea typeface="標楷體"/>
                <a:cs typeface="Times New Roman"/>
              </a:defRPr>
            </a:lvl3pPr>
            <a:lvl4pPr marL="1371600" indent="0">
              <a:buNone/>
              <a:defRPr sz="2400" i="0">
                <a:latin typeface="Times New Roman"/>
                <a:ea typeface="標楷體"/>
                <a:cs typeface="Times New Roman"/>
              </a:defRPr>
            </a:lvl4pPr>
            <a:lvl5pPr marL="1828800" indent="0">
              <a:buNone/>
              <a:defRPr sz="2400" i="0">
                <a:latin typeface="Times New Roman"/>
                <a:ea typeface="標楷體"/>
                <a:cs typeface="Times New Roman"/>
              </a:defRPr>
            </a:lvl5pPr>
            <a:lvl6pPr marL="2286000" indent="0">
              <a:buNone/>
              <a:defRPr sz="2400" i="0">
                <a:latin typeface="Times New Roman"/>
                <a:ea typeface="標楷體"/>
                <a:cs typeface="Times New Roman"/>
              </a:defRPr>
            </a:lvl6pPr>
            <a:lvl7pPr marL="2743200" indent="0">
              <a:buNone/>
              <a:defRPr sz="2400" i="0">
                <a:latin typeface="Times New Roman"/>
                <a:ea typeface="標楷體"/>
                <a:cs typeface="Times New Roman"/>
              </a:defRPr>
            </a:lvl7pPr>
            <a:lvl8pPr marL="3200400" indent="0">
              <a:buNone/>
              <a:defRPr sz="2400" i="0">
                <a:latin typeface="Times New Roman"/>
                <a:ea typeface="標楷體"/>
                <a:cs typeface="Times New Roman"/>
              </a:defRPr>
            </a:lvl8pPr>
            <a:lvl9pPr marL="3657600" indent="0">
              <a:buNone/>
              <a:defRPr sz="2400" i="0">
                <a:latin typeface="Times New Roman"/>
                <a:ea typeface="標楷體"/>
                <a:cs typeface="Times New Roman"/>
              </a:defRPr>
            </a:lvl9pPr>
          </a:lstStyle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身份 / lineage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服務 / deadline / freshness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機制 / queue / packet / state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能量 / power × time</a:t>
            </a: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endParaRPr lang="zh-TW" i="0" sz="2400">
              <a:latin typeface="Times New Roman"/>
              <a:ea typeface="標楷體"/>
              <a:cs typeface="Times New Roman"/>
            </a:endParaRPr>
          </a:p>
          <a:p>
            <a:pPr>
              <a:buNone/>
            </a:pPr>
            <a:r>
              <a:rPr lang="zh-TW" i="0" sz="2400">
                <a:latin typeface="Times New Roman"/>
                <a:ea typeface="標楷體"/>
                <a:cs typeface="Times New Roman"/>
              </a:rPr>
              <a:t>判讀 / 支持、反駁、待查</a:t>
            </a:r>
            <a:endParaRPr lang="zh-TW" i="0" sz="2400">
              <a:latin typeface="Times New Roman"/>
              <a:ea typeface="標楷體"/>
              <a:cs typeface="Times New Roman"/>
            </a:endParaRPr>
          </a:p>
        </p:txBody>
      </p:sp>
      <p:pic>
        <p:nvPicPr>
          <p:cNvPr id="5" name="Verified server preview import evidence" descr="C-120 server preview browser import evidence; source_sha256=a515857ef52f0a76536aa725967b273bb2e33c2eeafe225e4be7cba77578268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05840"/>
            <a:ext cx="7104888" cy="3995928"/>
          </a:xfrm>
          <a:prstGeom prst="rect">
            <a:avLst/>
          </a:prstGeom>
        </p:spPr>
      </p:pic>
      <p:sp>
        <p:nvSpPr>
          <p:cNvPr id="6" name="Evidence boundary"/>
          <p:cNvSpPr txBox="1"/>
          <p:nvPr/>
        </p:nvSpPr>
        <p:spPr>
          <a:xfrm>
            <a:off x="4773168" y="5138928"/>
            <a:ext cx="7104888" cy="5669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tr">
              <a:buNone/>
            </a:pPr>
            <a:r>
              <a:rPr lang="zh-TW" altLang="en-US" sz="2400" i="0" b="0">
                <a:solidFill>
                  <a:srgbClr val="292B6E"/>
                </a:solidFill>
                <a:latin typeface="Times New Roman"/>
                <a:ea typeface="標楷體"/>
                <a:cs typeface="Times New Roman"/>
              </a:rPr>
              <a:t>Server preview 已驗證；Windows native 待實機驗證</a:t>
            </a:r>
            <a:endParaRPr lang="zh-TW" altLang="en-US" sz="2400" i="0">
              <a:latin typeface="Times New Roman"/>
              <a:ea typeface="標楷體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