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notesMasters/notesMaster1.xml" ContentType="application/vnd.openxmlformats-officedocument.presentationml.notesMaster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theme/theme2.xml" ContentType="application/vnd.openxmlformats-officedocument.them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8.xml" ContentType="application/vnd.openxmlformats-officedocument.presentationml.slide+xml"/>
  <ct:Override PartName="/ppt/notesSlides/notesSlide8.xml" ContentType="application/vnd.openxmlformats-officedocument.presentationml.notesSlide+xml"/>
  <ct:Override PartName="/ppt/slides/slide9.xml" ContentType="application/vnd.openxmlformats-officedocument.presentationml.slide+xml"/>
  <ct:Override PartName="/ppt/notesSlides/notesSlide9.xml" ContentType="application/vnd.openxmlformats-officedocument.presentationml.notesSlide+xml"/>
  <ct:Override PartName="/ppt/slides/slide10.xml" ContentType="application/vnd.openxmlformats-officedocument.presentationml.slide+xml"/>
  <ct:Override PartName="/ppt/notesSlides/notesSlide10.xml" ContentType="application/vnd.openxmlformats-officedocument.presentationml.notesSlide+xml"/>
  <ct:Override PartName="/ppt/slides/slide11.xml" ContentType="application/vnd.openxmlformats-officedocument.presentationml.slide+xml"/>
  <ct:Override PartName="/ppt/notesSlides/notesSlide11.xml" ContentType="application/vnd.openxmlformats-officedocument.presentationml.notesSlide+xml"/>
  <ct:Override PartName="/ppt/slides/slide12.xml" ContentType="application/vnd.openxmlformats-officedocument.presentationml.slide+xml"/>
  <ct:Override PartName="/ppt/notesSlides/notesSlide12.xml" ContentType="application/vnd.openxmlformats-officedocument.presentationml.notesSlide+xml"/>
  <ct:Override PartName="/ppt/slides/slide13.xml" ContentType="application/vnd.openxmlformats-officedocument.presentationml.slide+xml"/>
  <ct:Override PartName="/ppt/notesSlides/notesSlide13.xml" ContentType="application/vnd.openxmlformats-officedocument.presentationml.notesSlide+xml"/>
  <ct:Default Extension="svg" ContentType="image/svg+xml"/>
</ct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a14="http://schemas.microsoft.com/office/drawing/2010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ns2:creationId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ns2:creationId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ns2:creationId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12" name="圖片 11">
            <a:extLst>
              <a:ext uri="{FF2B5EF4-FFF2-40B4-BE49-F238E27FC236}">
                <ns2:creationId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ns5:creationId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8" name="圖片 7">
            <a:extLst>
              <a:ext uri="{FF2B5EF4-FFF2-40B4-BE49-F238E27FC236}">
                <ns2:creationId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4:creationId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ns2:creationId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ns2:creationId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a14="http://schemas.microsoft.com/office/drawing/2010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ns2:creationId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ns2:creationId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ns2:creationId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ns2:creationId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ns2:creationId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ns2:creationId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5:creationId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ns0:Relationships xmlns:ns0="http://schemas.openxmlformats.org/package/2006/relationships">
  <ns0:Relationship Id="rId1" Type="http://schemas.openxmlformats.org/officeDocument/2006/relationships/slideLayout" Target="../slideLayouts/slideLayout5.xml" />
<ns0:Relationship Id="rId2" Type="http://schemas.openxmlformats.org/officeDocument/2006/relationships/notesSlide" Target="../notesSlides/notesSlide12.xml" /><ns0:Relationship Id="rId4" Type="http://schemas.openxmlformats.org/officeDocument/2006/relationships/image" Target="../media/c120-equations-fallback.png" /></ns0:Relationships>
</file>

<file path=ppt/slides/_rels/slide13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7.xml" />
<pr:Relationship Id="rId2" Type="http://schemas.openxmlformats.org/officeDocument/2006/relationships/notesSlide" Target="../notesSlides/notesSlide13.xml" /><pr:Relationship Id="rId3" Type="http://schemas.openxmlformats.org/officeDocument/2006/relationships/image" Target="../media/c120-server-preview-import.png" /></pr: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993392"/>
            <a:ext cx="8183880" cy="676656"/>
          </a:xfrm>
        </p:spPr>
        <p:txBody>
          <a:bodyPr anchor="ctr" wrap="square" lIns="0" rIns="0" tIns="0" bIns="0"/>
          <a:lstStyle/>
          <a:p>
            <a:pPr algn="l"/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3611880"/>
            <a:ext cx="8138160" cy="658368"/>
          </a:xfrm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zh-TW" altLang="en-US" i="0" u="none" strike="noStrike" baseline="0" dirty="0" sz="240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4" name="Cover causal route"/>
          <p:cNvCxnSpPr/>
          <p:nvPr/>
        </p:nvCxnSpPr>
        <p:spPr>
          <a:xfrm>
            <a:off x="1965960" y="5212080"/>
            <a:ext cx="8138160" cy="0"/>
          </a:xfrm>
          <a:prstGeom prst="line">
            <a:avLst/>
          </a:prstGeom>
          <a:ln w="1651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5" name="Cover route node 1"/>
          <p:cNvSpPr/>
          <p:nvPr/>
        </p:nvSpPr>
        <p:spPr>
          <a:xfrm>
            <a:off x="17099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6" name="Cover route label 1"/>
          <p:cNvSpPr txBox="1"/>
          <p:nvPr/>
        </p:nvSpPr>
        <p:spPr>
          <a:xfrm>
            <a:off x="10972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ver route node 2"/>
          <p:cNvSpPr/>
          <p:nvPr/>
        </p:nvSpPr>
        <p:spPr>
          <a:xfrm>
            <a:off x="44531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ver route label 2"/>
          <p:cNvSpPr txBox="1"/>
          <p:nvPr/>
        </p:nvSpPr>
        <p:spPr>
          <a:xfrm>
            <a:off x="38404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ver route node 3"/>
          <p:cNvSpPr/>
          <p:nvPr/>
        </p:nvSpPr>
        <p:spPr>
          <a:xfrm>
            <a:off x="71963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ver route label 3"/>
          <p:cNvSpPr txBox="1"/>
          <p:nvPr/>
        </p:nvSpPr>
        <p:spPr>
          <a:xfrm>
            <a:off x="65836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ver route node 4"/>
          <p:cNvSpPr/>
          <p:nvPr/>
        </p:nvSpPr>
        <p:spPr>
          <a:xfrm>
            <a:off x="99395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ver route label 4"/>
          <p:cNvSpPr txBox="1"/>
          <p:nvPr/>
        </p:nvSpPr>
        <p:spPr>
          <a:xfrm>
            <a:off x="93268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ausal node 1"/>
          <p:cNvSpPr/>
          <p:nvPr/>
        </p:nvSpPr>
        <p:spPr>
          <a:xfrm>
            <a:off x="658368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Causal node marker 1"/>
          <p:cNvSpPr/>
          <p:nvPr/>
        </p:nvSpPr>
        <p:spPr>
          <a:xfrm>
            <a:off x="1408176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Causal node text 1"/>
          <p:cNvSpPr txBox="1"/>
          <p:nvPr/>
        </p:nvSpPr>
        <p:spPr>
          <a:xfrm>
            <a:off x="749808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選擇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6" name="Causal arrow 1"/>
          <p:cNvCxnSpPr/>
          <p:nvPr/>
        </p:nvCxnSpPr>
        <p:spPr>
          <a:xfrm>
            <a:off x="2450592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7" name="Causal node 2"/>
          <p:cNvSpPr/>
          <p:nvPr/>
        </p:nvSpPr>
        <p:spPr>
          <a:xfrm>
            <a:off x="2907792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ausal node marker 2"/>
          <p:cNvSpPr/>
          <p:nvPr/>
        </p:nvSpPr>
        <p:spPr>
          <a:xfrm>
            <a:off x="3657600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Causal node text 2"/>
          <p:cNvSpPr txBox="1"/>
          <p:nvPr/>
        </p:nvSpPr>
        <p:spPr>
          <a:xfrm>
            <a:off x="2999232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停留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0" name="Causal arrow 2"/>
          <p:cNvCxnSpPr/>
          <p:nvPr/>
        </p:nvCxnSpPr>
        <p:spPr>
          <a:xfrm>
            <a:off x="4700016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1" name="Causal node 3"/>
          <p:cNvSpPr/>
          <p:nvPr/>
        </p:nvSpPr>
        <p:spPr>
          <a:xfrm>
            <a:off x="5157216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ausal node marker 3"/>
          <p:cNvSpPr/>
          <p:nvPr/>
        </p:nvSpPr>
        <p:spPr>
          <a:xfrm>
            <a:off x="5907024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3" name="Causal node text 3"/>
          <p:cNvSpPr txBox="1"/>
          <p:nvPr/>
        </p:nvSpPr>
        <p:spPr>
          <a:xfrm>
            <a:off x="5248656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4" name="Causal arrow 3"/>
          <p:cNvCxnSpPr/>
          <p:nvPr/>
        </p:nvCxnSpPr>
        <p:spPr>
          <a:xfrm>
            <a:off x="6949440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5" name="Causal node 4"/>
          <p:cNvSpPr/>
          <p:nvPr/>
        </p:nvSpPr>
        <p:spPr>
          <a:xfrm>
            <a:off x="7406640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6" name="Causal node marker 4"/>
          <p:cNvSpPr/>
          <p:nvPr/>
        </p:nvSpPr>
        <p:spPr>
          <a:xfrm>
            <a:off x="8156448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Causal node text 4"/>
          <p:cNvSpPr txBox="1"/>
          <p:nvPr/>
        </p:nvSpPr>
        <p:spPr>
          <a:xfrm>
            <a:off x="7498080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8" name="Causal arrow 4"/>
          <p:cNvCxnSpPr/>
          <p:nvPr/>
        </p:nvCxnSpPr>
        <p:spPr>
          <a:xfrm>
            <a:off x="9198864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9" name="Causal node 5"/>
          <p:cNvSpPr/>
          <p:nvPr/>
        </p:nvSpPr>
        <p:spPr>
          <a:xfrm>
            <a:off x="9656064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0" name="Causal node marker 5"/>
          <p:cNvSpPr/>
          <p:nvPr/>
        </p:nvSpPr>
        <p:spPr>
          <a:xfrm>
            <a:off x="10405872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Causal node text 5"/>
          <p:cNvSpPr txBox="1"/>
          <p:nvPr/>
        </p:nvSpPr>
        <p:spPr>
          <a:xfrm>
            <a:off x="9747504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Causal takeaway"/>
          <p:cNvSpPr txBox="1"/>
          <p:nvPr/>
        </p:nvSpPr>
        <p:spPr>
          <a:xfrm>
            <a:off x="1463040" y="4572000"/>
            <a:ext cx="9098280" cy="50292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功率只是狀態；能量還要乘上停留。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ore frame"/>
          <p:cNvSpPr/>
          <p:nvPr/>
        </p:nvSpPr>
        <p:spPr>
          <a:xfrm>
            <a:off x="749808" y="1508760"/>
            <a:ext cx="4800600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LEO frame"/>
          <p:cNvSpPr/>
          <p:nvPr/>
        </p:nvSpPr>
        <p:spPr>
          <a:xfrm>
            <a:off x="6473952" y="1508760"/>
            <a:ext cx="4828032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cxnSp>
        <p:nvCxnSpPr>
          <p:cNvPr id="5" name="LEO split divider"/>
          <p:cNvCxnSpPr/>
          <p:nvPr/>
        </p:nvCxnSpPr>
        <p:spPr>
          <a:xfrm>
            <a:off x="6016752" y="1737360"/>
            <a:ext cx="0" cy="3566160"/>
          </a:xfrm>
          <a:prstGeom prst="line">
            <a:avLst/>
          </a:prstGeom>
          <a:ln w="15240" cap="flat">
            <a:solidFill>
              <a:srgbClr val="B7C1EB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6" name="Core heading"/>
          <p:cNvSpPr txBox="1"/>
          <p:nvPr/>
        </p:nvSpPr>
        <p:spPr>
          <a:xfrm>
            <a:off x="1051560" y="17830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課程核心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re marker 1"/>
          <p:cNvSpPr/>
          <p:nvPr/>
        </p:nvSpPr>
        <p:spPr>
          <a:xfrm>
            <a:off x="1078992" y="2468880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re row 1"/>
          <p:cNvSpPr txBox="1"/>
          <p:nvPr/>
        </p:nvSpPr>
        <p:spPr>
          <a:xfrm>
            <a:off x="1481328" y="2423160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endpoint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資料從哪裡來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re marker 2"/>
          <p:cNvSpPr/>
          <p:nvPr/>
        </p:nvSpPr>
        <p:spPr>
          <a:xfrm>
            <a:off x="1078992" y="3273552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re row 2"/>
          <p:cNvSpPr txBox="1"/>
          <p:nvPr/>
        </p:nvSpPr>
        <p:spPr>
          <a:xfrm>
            <a:off x="1481328" y="3227832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/ queue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怎麼排進服務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re marker 3"/>
          <p:cNvSpPr/>
          <p:nvPr/>
        </p:nvSpPr>
        <p:spPr>
          <a:xfrm>
            <a:off x="1078992" y="4078224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re row 3"/>
          <p:cNvSpPr txBox="1"/>
          <p:nvPr/>
        </p:nvSpPr>
        <p:spPr>
          <a:xfrm>
            <a:off x="1481328" y="4032504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/ energy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結果如何累積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LEO heading"/>
          <p:cNvSpPr txBox="1"/>
          <p:nvPr/>
        </p:nvSpPr>
        <p:spPr>
          <a:xfrm>
            <a:off x="6784848" y="1783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範例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LEO claim"/>
          <p:cNvSpPr txBox="1"/>
          <p:nvPr/>
        </p:nvSpPr>
        <p:spPr>
          <a:xfrm>
            <a:off x="6784848" y="2304288"/>
            <a:ext cx="4069080" cy="4023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只改服務窗口，不改核心因果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5" name="Service window baseline"/>
          <p:cNvCxnSpPr/>
          <p:nvPr/>
        </p:nvCxnSpPr>
        <p:spPr>
          <a:xfrm>
            <a:off x="6949440" y="3794760"/>
            <a:ext cx="4160520" cy="0"/>
          </a:xfrm>
          <a:prstGeom prst="line">
            <a:avLst/>
          </a:prstGeom>
          <a:ln w="1778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6" name="Service marker 1"/>
          <p:cNvSpPr/>
          <p:nvPr/>
        </p:nvSpPr>
        <p:spPr>
          <a:xfrm>
            <a:off x="705916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Service marker label 1"/>
          <p:cNvSpPr txBox="1"/>
          <p:nvPr/>
        </p:nvSpPr>
        <p:spPr>
          <a:xfrm>
            <a:off x="667512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Service marker 2"/>
          <p:cNvSpPr/>
          <p:nvPr/>
        </p:nvSpPr>
        <p:spPr>
          <a:xfrm>
            <a:off x="8302752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9" name="Service marker label 2"/>
          <p:cNvSpPr txBox="1"/>
          <p:nvPr/>
        </p:nvSpPr>
        <p:spPr>
          <a:xfrm>
            <a:off x="7918704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開啟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0" name="Service marker 3"/>
          <p:cNvSpPr/>
          <p:nvPr/>
        </p:nvSpPr>
        <p:spPr>
          <a:xfrm>
            <a:off x="952804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Service marker label 3"/>
          <p:cNvSpPr txBox="1"/>
          <p:nvPr/>
        </p:nvSpPr>
        <p:spPr>
          <a:xfrm>
            <a:off x="914400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Service consequence"/>
          <p:cNvSpPr txBox="1"/>
          <p:nvPr/>
        </p:nvSpPr>
        <p:spPr>
          <a:xfrm>
            <a:off x="6784848" y="461772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品質會改變；等待會產生後果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Runbook spine"/>
          <p:cNvCxnSpPr/>
          <p:nvPr/>
        </p:nvCxnSpPr>
        <p:spPr>
          <a:xfrm>
            <a:off x="1170432" y="1847088"/>
            <a:ext cx="0" cy="3364992"/>
          </a:xfrm>
          <a:prstGeom prst="line">
            <a:avLst/>
          </a:prstGeom>
          <a:ln w="2032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Runbook step 1"/>
          <p:cNvSpPr/>
          <p:nvPr/>
        </p:nvSpPr>
        <p:spPr>
          <a:xfrm>
            <a:off x="1005840" y="1773936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Runbook numeral 1"/>
          <p:cNvSpPr txBox="1"/>
          <p:nvPr/>
        </p:nvSpPr>
        <p:spPr>
          <a:xfrm>
            <a:off x="1010412" y="18013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①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Runbook heading 1"/>
          <p:cNvSpPr txBox="1"/>
          <p:nvPr/>
        </p:nvSpPr>
        <p:spPr>
          <a:xfrm>
            <a:off x="1572768" y="1682496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驗證環境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Runbook command 1"/>
          <p:cNvSpPr txBox="1"/>
          <p:nvPr/>
        </p:nvSpPr>
        <p:spPr>
          <a:xfrm>
            <a:off x="4617720" y="1700784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Runbook interpretation 1"/>
          <p:cNvSpPr txBox="1"/>
          <p:nvPr/>
        </p:nvSpPr>
        <p:spPr>
          <a:xfrm>
            <a:off x="1572768" y="2112264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先讓工具鏈可重現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Runbook step 2"/>
          <p:cNvSpPr/>
          <p:nvPr/>
        </p:nvSpPr>
        <p:spPr>
          <a:xfrm>
            <a:off x="1005840" y="2944368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Runbook numeral 2"/>
          <p:cNvSpPr txBox="1"/>
          <p:nvPr/>
        </p:nvSpPr>
        <p:spPr>
          <a:xfrm>
            <a:off x="1010412" y="29718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②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Runbook heading 2"/>
          <p:cNvSpPr txBox="1"/>
          <p:nvPr/>
        </p:nvSpPr>
        <p:spPr>
          <a:xfrm>
            <a:off x="1572768" y="2852928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保存基準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2" name="Runbook command 2"/>
          <p:cNvSpPr txBox="1"/>
          <p:nvPr/>
        </p:nvSpPr>
        <p:spPr>
          <a:xfrm>
            <a:off x="4617720" y="2871216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Runbook interpretation 2"/>
          <p:cNvSpPr txBox="1"/>
          <p:nvPr/>
        </p:nvSpPr>
        <p:spPr>
          <a:xfrm>
            <a:off x="1572768" y="328269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記下未改 policy 的 result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Runbook step 3"/>
          <p:cNvSpPr/>
          <p:nvPr/>
        </p:nvSpPr>
        <p:spPr>
          <a:xfrm>
            <a:off x="1005840" y="4114800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Runbook numeral 3"/>
          <p:cNvSpPr txBox="1"/>
          <p:nvPr/>
        </p:nvSpPr>
        <p:spPr>
          <a:xfrm>
            <a:off x="1010412" y="41422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③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Runbook heading 3"/>
          <p:cNvSpPr txBox="1"/>
          <p:nvPr/>
        </p:nvSpPr>
        <p:spPr>
          <a:xfrm>
            <a:off x="1572768" y="4023360"/>
            <a:ext cx="2907792" cy="71323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只改一個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block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7" name="Runbook command 3"/>
          <p:cNvSpPr txBox="1"/>
          <p:nvPr/>
        </p:nvSpPr>
        <p:spPr>
          <a:xfrm>
            <a:off x="4617720" y="4041648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policy = </a:t>
            </a:r>
            <a:r>
              <a:rPr lang="zh-TW" altLang="en-US" sz="20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Runbook interpretation 3"/>
          <p:cNvSpPr txBox="1"/>
          <p:nvPr/>
        </p:nvSpPr>
        <p:spPr>
          <a:xfrm>
            <a:off x="1572768" y="479145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比較時只歸因到這一個變更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9" name="Runbook recovery text"/>
          <p:cNvSpPr txBox="1"/>
          <p:nvPr/>
        </p:nvSpPr>
        <p:spPr>
          <a:xfrm>
            <a:off x="7973568" y="523036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 失敗 → 修環境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Native title placeholder"/>
          <p:cNvSpPr>
            <ns1:spLocks noGrp="1"/>
          </p:cNvSpPr>
          <p:nvPr>
            <p:ph type="title"/>
          </p:nvPr>
        </p:nvSpPr>
        <p:spPr>
          <ns1:xfrm>
            <ns1:off x="640080" y="164592"/>
            <ns1:ext cx="10881360" cy="566928"/>
          </ns1:xfrm>
        </p:spPr>
        <p:txBody>
          <ns1:bodyPr anchor="ctr" wrap="square" lIns="0" rIns="0" tIns="0" bIns="0"/>
          <ns1:lstStyle/>
          <ns1:p>
            <ns1:r>
              <ns1:rPr lang="zh-TW" i="0" sz="2800" altLang="en-US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公式把操作連到證據</ns1:t>
            </ns1:r>
            <ns1:endParaRPr lang="zh-TW" i="0" sz="2800" altLang="en-US" b="1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sp>
        <p:nvSpPr>
          <p:cNvPr id="6" name="Equation readout one"/>
          <p:cNvSpPr txBox="1"/>
          <p:nvPr/>
        </p:nvSpPr>
        <p:spPr>
          <ns1:xfrm>
            <ns1:off x="1874520" y="4645152"/>
            <ns1:ext cx="8458200" cy="411480"/>
          </ns1:xfrm>
          <ns1:prstGeom prst="rect">
            <ns1:avLst/>
          </ns1:prstGeom>
          <ns1:noFill/>
          <ns1:ln>
            <ns1:noFill/>
          </ns1:ln>
        </p:spPr>
        <p:txBody>
          <ns1:bodyPr anchor="ctr" wrap="square" lIns="0" rIns="0" tIns="0" bIns="0"/>
          <ns1:lstStyle/>
          <ns1:p>
            <ns1:pPr algn="ctr">
              <ns1:buNone/>
            </ns1:pPr>
            <ns1:r>
              <ns1:rPr lang="zh-TW" altLang="en-US" sz="2400" i="1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radio state × 停留 → endpoint energy</ns1:t>
            </ns1:r>
            <ns1:endParaRPr lang="zh-TW" altLang="en-US" sz="2400" i="0" b="0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sp>
        <p:nvSpPr>
          <p:cNvPr id="7" name="Equation readout two"/>
          <p:cNvSpPr txBox="1"/>
          <p:nvPr/>
        </p:nvSpPr>
        <p:spPr>
          <ns1:xfrm>
            <ns1:off x="1572768" y="5138928"/>
            <ns1:ext cx="9052560" cy="411480"/>
          </ns1:xfrm>
          <ns1:prstGeom prst="rect">
            <ns1:avLst/>
          </ns1:prstGeom>
          <ns1:noFill/>
          <ns1:ln>
            <ns1:noFill/>
          </ns1:ln>
        </p:spPr>
        <p:txBody>
          <ns1:bodyPr anchor="ctr" wrap="square" lIns="0" rIns="0" tIns="0" bIns="0"/>
          <ns1:lstStyle/>
          <ns1:p>
            <ns1:pPr algn="ctr">
              <ns1:buNone/>
            </ns1:pPr>
            <ns1:r>
              <ns1:rPr lang="zh-TW" altLang="en-US" sz="2000" i="0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送達資料量 ÷ 相同能量邊界 → 可比較的效率</ns1:t>
            </ns1:r>
            <ns1:endParaRPr lang="zh-TW" altLang="en-US" sz="2000" i="0" b="0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pic>
        <p:nvPicPr>
          <p:cNvPr id="5" name="Native Office Math fallback SVG" title="Office Math fallback" descr="E_{\mathrm{endpoint}} = \sum_{s \in S} P_s t_s&#10;\eta_E = \frac{D_{\mathrm{delivered}}}{E_{\mathrm{endpoint}}}"/>
          <p:cNvPicPr preferRelativeResize="0"/>
          <p:nvPr/>
        </p:nvPicPr>
        <p:blipFill>
          <ns1:blip ns2:embed="rId4"/>
          <ns1:stretch>
            <ns1:fillRect/>
          </ns1:stretch>
        </p:blipFill>
        <p:spPr>
          <ns1:xfrm>
            <ns1:off x="1874520" y="1828800"/>
            <ns1:ext cx="8458200" cy="2331720"/>
          </ns1:xfrm>
          <ns1:prstGeom prst="rect">
            <ns1:avLst/>
          </ns1:prstGeom>
        </p:spPr>
      </p:pic>
    </p:spTree>
  </p:cSld>
  <p:clrMapOvr>
    <ns1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Evidence chain spine"/>
          <p:cNvCxnSpPr/>
          <p:nvPr/>
        </p:nvCxnSpPr>
        <p:spPr>
          <a:xfrm>
            <a:off x="1207008" y="1865376"/>
            <a:ext cx="0" cy="3063240"/>
          </a:xfrm>
          <a:prstGeom prst="line">
            <a:avLst/>
          </a:prstGeom>
          <a:ln w="1905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Evidence layer 1"/>
          <p:cNvSpPr/>
          <p:nvPr/>
        </p:nvSpPr>
        <p:spPr>
          <a:xfrm>
            <a:off x="1060704" y="1819656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Evidence label 1"/>
          <p:cNvSpPr txBox="1"/>
          <p:nvPr/>
        </p:nvSpPr>
        <p:spPr>
          <a:xfrm>
            <a:off x="1536192" y="177393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lineage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Evidence layer 2"/>
          <p:cNvSpPr/>
          <p:nvPr/>
        </p:nvSpPr>
        <p:spPr>
          <a:xfrm>
            <a:off x="1060704" y="2587752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7" name="Evidence label 2"/>
          <p:cNvSpPr txBox="1"/>
          <p:nvPr/>
        </p:nvSpPr>
        <p:spPr>
          <a:xfrm>
            <a:off x="1536192" y="2542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 / freshness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Evidence layer 3"/>
          <p:cNvSpPr/>
          <p:nvPr/>
        </p:nvSpPr>
        <p:spPr>
          <a:xfrm>
            <a:off x="1060704" y="3355848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Evidence label 3"/>
          <p:cNvSpPr txBox="1"/>
          <p:nvPr/>
        </p:nvSpPr>
        <p:spPr>
          <a:xfrm>
            <a:off x="1536192" y="331012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 / packet / state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0" name="Evidence layer 4"/>
          <p:cNvSpPr/>
          <p:nvPr/>
        </p:nvSpPr>
        <p:spPr>
          <a:xfrm>
            <a:off x="1060704" y="4123944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1" name="Evidence label 4"/>
          <p:cNvSpPr txBox="1"/>
          <p:nvPr/>
        </p:nvSpPr>
        <p:spPr>
          <a:xfrm>
            <a:off x="1536192" y="407822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能量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2" name="Evidence interpretation arrow"/>
          <p:cNvCxnSpPr/>
          <p:nvPr/>
        </p:nvCxnSpPr>
        <p:spPr>
          <a:xfrm>
            <a:off x="2670048" y="5010912"/>
            <a:ext cx="65836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3" name="Evidence interpretation"/>
          <p:cNvSpPr txBox="1"/>
          <p:nvPr/>
        </p:nvSpPr>
        <p:spPr>
          <a:xfrm>
            <a:off x="3401568" y="4736592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支持、反駁、待查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Evidence status tag"/>
          <p:cNvSpPr/>
          <p:nvPr/>
        </p:nvSpPr>
        <p:spPr>
          <a:xfrm>
            <a:off x="7973568" y="1280160"/>
            <a:ext cx="3364992" cy="566928"/>
          </a:xfrm>
          <a:prstGeom prst="roundRect">
            <a:avLst/>
          </a:prstGeom>
          <a:noFill/>
          <a:ln w="14605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Evidence status"/>
          <p:cNvSpPr txBox="1"/>
          <p:nvPr/>
        </p:nvSpPr>
        <p:spPr>
          <a:xfrm>
            <a:off x="8101584" y="136245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伺服器 preview：已驗證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native：待實機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Evidence caption"/>
          <p:cNvSpPr txBox="1"/>
          <p:nvPr/>
        </p:nvSpPr>
        <p:spPr>
          <a:xfrm>
            <a:off x="4681728" y="122529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replay evidence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pic>
        <p:nvPicPr>
          <p:cNvPr id="17" name="Verified server preview import evidence" descr="server preview evidence; source_sha256=a515857ef52f0a76536aa725967b273bb2e33c2eeafe225e4be7cba77578268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81728" y="1938528"/>
            <a:ext cx="6629400" cy="3584448"/>
          </a:xfrm>
          <a:prstGeom prst="rect">
            <a:avLst/>
          </a:prstGeom>
          <a:ln w="15240" cap="flat">
            <a:solidFill>
              <a:srgbClr val="35377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