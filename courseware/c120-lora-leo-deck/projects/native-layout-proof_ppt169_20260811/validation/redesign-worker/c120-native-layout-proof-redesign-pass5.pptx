
<file path=[Content_Types].xml><?xml version="1.0" encoding="utf-8"?>
<ct:Types xmlns:ct="http://schemas.openxmlformats.org/package/2006/content-types">
  <ct:Default Extension="png" ContentType="image/png"/>
  <ct:Default Extension="rels" ContentType="application/vnd.openxmlformats-package.relationships+xml"/>
  <ct:Default Extension="xml" ContentType="application/xml"/>
  <ct:Override PartName="/ppt/presentation.xml" ContentType="application/vnd.openxmlformats-officedocument.presentationml.presentation.main+xml"/>
  <ct:Override PartName="/ppt/slideMasters/slideMaster1.xml" ContentType="application/vnd.openxmlformats-officedocument.presentationml.slideMaster+xml"/>
  <ct:Override PartName="/ppt/notesMasters/notesMaster1.xml" ContentType="application/vnd.openxmlformats-officedocument.presentationml.notesMaster+xml"/>
  <ct:Override PartName="/ppt/presProps.xml" ContentType="application/vnd.openxmlformats-officedocument.presentationml.presProps+xml"/>
  <ct:Override PartName="/ppt/viewProps.xml" ContentType="application/vnd.openxmlformats-officedocument.presentationml.viewProps+xml"/>
  <ct:Override PartName="/ppt/theme/theme1.xml" ContentType="application/vnd.openxmlformats-officedocument.theme+xml"/>
  <ct:Override PartName="/ppt/tableStyles.xml" ContentType="application/vnd.openxmlformats-officedocument.presentationml.tableStyles+xml"/>
  <ct:Override PartName="/ppt/slideLayouts/slideLayout1.xml" ContentType="application/vnd.openxmlformats-officedocument.presentationml.slideLayout+xml"/>
  <ct:Override PartName="/ppt/slideLayouts/slideLayout2.xml" ContentType="application/vnd.openxmlformats-officedocument.presentationml.slideLayout+xml"/>
  <ct:Override PartName="/ppt/slideLayouts/slideLayout3.xml" ContentType="application/vnd.openxmlformats-officedocument.presentationml.slideLayout+xml"/>
  <ct:Override PartName="/ppt/slideLayouts/slideLayout4.xml" ContentType="application/vnd.openxmlformats-officedocument.presentationml.slideLayout+xml"/>
  <ct:Override PartName="/ppt/slideLayouts/slideLayout5.xml" ContentType="application/vnd.openxmlformats-officedocument.presentationml.slideLayout+xml"/>
  <ct:Override PartName="/ppt/slideLayouts/slideLayout6.xml" ContentType="application/vnd.openxmlformats-officedocument.presentationml.slideLayout+xml"/>
  <ct:Override PartName="/ppt/slideLayouts/slideLayout7.xml" ContentType="application/vnd.openxmlformats-officedocument.presentationml.slideLayout+xml"/>
  <ct:Override PartName="/ppt/slideLayouts/slideLayout8.xml" ContentType="application/vnd.openxmlformats-officedocument.presentationml.slideLayout+xml"/>
  <ct:Override PartName="/ppt/slideLayouts/slideLayout9.xml" ContentType="application/vnd.openxmlformats-officedocument.presentationml.slideLayout+xml"/>
  <ct:Override PartName="/ppt/slideLayouts/slideLayout10.xml" ContentType="application/vnd.openxmlformats-officedocument.presentationml.slideLayout+xml"/>
  <ct:Override PartName="/ppt/theme/theme2.xml" ContentType="application/vnd.openxmlformats-officedocument.theme+xml"/>
  <ct:Override PartName="/docProps/core.xml" ContentType="application/vnd.openxmlformats-package.core-properties+xml"/>
  <ct:Override PartName="/docProps/app.xml" ContentType="application/vnd.openxmlformats-officedocument.extended-properties+xml"/>
  <ct:Override PartName="/ppt/slides/slide8.xml" ContentType="application/vnd.openxmlformats-officedocument.presentationml.slide+xml"/>
  <ct:Override PartName="/ppt/notesSlides/notesSlide8.xml" ContentType="application/vnd.openxmlformats-officedocument.presentationml.notesSlide+xml"/>
  <ct:Override PartName="/ppt/slides/slide9.xml" ContentType="application/vnd.openxmlformats-officedocument.presentationml.slide+xml"/>
  <ct:Override PartName="/ppt/notesSlides/notesSlide9.xml" ContentType="application/vnd.openxmlformats-officedocument.presentationml.notesSlide+xml"/>
  <ct:Override PartName="/ppt/slides/slide10.xml" ContentType="application/vnd.openxmlformats-officedocument.presentationml.slide+xml"/>
  <ct:Override PartName="/ppt/notesSlides/notesSlide10.xml" ContentType="application/vnd.openxmlformats-officedocument.presentationml.notesSlide+xml"/>
  <ct:Override PartName="/ppt/slides/slide11.xml" ContentType="application/vnd.openxmlformats-officedocument.presentationml.slide+xml"/>
  <ct:Override PartName="/ppt/notesSlides/notesSlide11.xml" ContentType="application/vnd.openxmlformats-officedocument.presentationml.notesSlide+xml"/>
  <ct:Override PartName="/ppt/slides/slide12.xml" ContentType="application/vnd.openxmlformats-officedocument.presentationml.slide+xml"/>
  <ct:Override PartName="/ppt/notesSlides/notesSlide12.xml" ContentType="application/vnd.openxmlformats-officedocument.presentationml.notesSlide+xml"/>
  <ct:Override PartName="/ppt/slides/slide13.xml" ContentType="application/vnd.openxmlformats-officedocument.presentationml.slide+xml"/>
  <ct:Override PartName="/ppt/notesSlides/notesSlide13.xml" ContentType="application/vnd.openxmlformats-officedocument.presentationml.notesSlide+xml"/>
  <ct:Default Extension="svg" ContentType="image/svg+xml"/>
</ct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  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這堂課從物聯網終端的能源決策開始。當終端選擇傳送、等待、批次或休眠時，封包服務與能量會一起改變；我們要學的是如何把操作連回可以驗證的因果，而不是背誦一個漂亮數字。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請沿著這條因果鏈由上往下讀。策略先改變終端停在哪個無線狀態，以及停留多久；功率乘上時間才會累積為能量，最後還要回頭檢查必要服務是否守住。只看到功率下降，還不能直接下節能結論。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左側才是課程核心：終端策略、佇列、無線狀態與能量證據。右側的 LEO 只提供一個服務機會會改變的例子，讓現在送或稍後送產生可見差異。同一套思考可以移轉到智慧農場、空調控制、邊緣推論與物流感測。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右側不是另一套任務，而是相對於左側控制線的一次變更。先讓基準留下可辨識的 result，再只修改指定 marked block；執行前先預測佇列、服務、狀態時間與終端能量會往哪個方向改變。若同時改了多個區域，結果就無法回答是哪個機制造成差異。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第一個式子把每個無線狀態的功率乘上停留時間，再累積成終端能量。第二個式子用成功送達的資料量除以同一個能量邊界；若 delivered-data 或 energy boundary 不同，就不能直接拿兩個效率值比較。這兩個式子不是裝飾，而是用來追問哪個操作改變了哪一段功率乘時間。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這張畫面來自已驗證的 server preview 匯入流程；它證明目前的瀏覽器路徑能讀取同一份 result，但不代表 Windows 原生執行已通過。匯入之後先確認身份與 lineage，再檢查必要服務，接著用佇列、封包與狀態時間解釋能量差異。若身份不一致、服務證據缺失或機制沒有產生後果，結論就應保持證據不足。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a14="http://schemas.microsoft.com/office/drawing/2010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ns2:creationId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ns2:creationId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ns2:creationId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pic>
        <p:nvPicPr>
          <p:cNvPr id="12" name="圖片 11">
            <a:extLst>
              <a:ext uri="{FF2B5EF4-FFF2-40B4-BE49-F238E27FC236}">
                <ns2:creationId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ns5:creationId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8" name="圖片 7">
            <a:extLst>
              <a:ext uri="{FF2B5EF4-FFF2-40B4-BE49-F238E27FC236}">
                <ns2:creationId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ns4:creationId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ns2:creationId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ns2:creationId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ns2:creationId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ns2:creationId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ns2:creationId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ns2:creationId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ns2:creationId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a14="http://schemas.microsoft.com/office/drawing/2010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ns2:creationId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ns2:creationId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ns2:creationId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ns2:creationId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ns2:creationId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ns2:creationId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ns5:creationId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1.xml" /></Relationships>
</file>

<file path=ppt/slides/_rels/slide12.xml.rels><?xml version='1.0' encoding='utf-8'?>
<pr:Relationships xmlns:pr="http://schemas.openxmlformats.org/package/2006/relationships">
  <pr:Relationship Id="rId1" Type="http://schemas.openxmlformats.org/officeDocument/2006/relationships/slideLayout" Target="../slideLayouts/slideLayout5.xml" />
<pr:Relationship Id="rId2" Type="http://schemas.openxmlformats.org/officeDocument/2006/relationships/notesSlide" Target="../notesSlides/notesSlide12.xml" /><pr:Relationship Id="rId3" Type="http://schemas.openxmlformats.org/officeDocument/2006/relationships/image" Target="../media/native-equations-fallback.svg" /><pr:Relationship Id="rId4" Type="http://schemas.openxmlformats.org/officeDocument/2006/relationships/image" Target="../media/c120-equations-fallback.png" /></pr:Relationships>
</file>

<file path=ppt/slides/_rels/slide13.xml.rels><?xml version='1.0' encoding='utf-8'?>
<pr:Relationships xmlns:pr="http://schemas.openxmlformats.org/package/2006/relationships">
  <pr:Relationship Id="rId1" Type="http://schemas.openxmlformats.org/officeDocument/2006/relationships/slideLayout" Target="../slideLayouts/slideLayout7.xml" />
<pr:Relationship Id="rId2" Type="http://schemas.openxmlformats.org/officeDocument/2006/relationships/notesSlide" Target="../notesSlides/notesSlide13.xml" /><pr:Relationship Id="rId3" Type="http://schemas.openxmlformats.org/officeDocument/2006/relationships/image" Target="../media/c120-server-preview-import.png" /></pr:Relationships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680" y="1993392"/>
            <a:ext cx="8183880" cy="676656"/>
          </a:xfrm>
        </p:spPr>
        <p:txBody>
          <a:bodyPr anchor="ctr" wrap="square" lIns="0" rIns="0" tIns="0" bIns="0"/>
          <a:lstStyle/>
          <a:p>
            <a:pPr algn="l"/>
            <a:r>
              <a:rPr lang="zh-TW" altLang="en-US" b="1" i="0" u="none" strike="noStrike" baseline="0" dirty="0" sz="280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LoRaEnergySim × 智慧節能與物聯網應用</a:t>
            </a:r>
            <a:r>
              <a:rPr lang="zh-TW" altLang="en-US" b="1" i="0" u="none" strike="noStrike" baseline="0" dirty="0" sz="280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 xml:space="preserve"/>
            </a:r>
            <a:r>
              <a:rPr lang="zh-TW" altLang="en-US" b="1" i="0" u="none" strike="noStrike" baseline="0" dirty="0" sz="280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1680" y="3611880"/>
            <a:ext cx="8138160" cy="658368"/>
          </a:xfrm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b="0" i="0" u="none" strike="noStrike" baseline="0" dirty="0" sz="240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 xml:space="preserve">從 policy 變更，看見 service 與 endpoint energy 的因果</a:t>
            </a:r>
            <a:r>
              <a:rPr lang="zh-TW" altLang="en-US" i="0" u="none" strike="noStrike" baseline="0" dirty="0" sz="240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 sz="240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40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4" name="Cover causal route"/>
          <p:cNvCxnSpPr/>
          <p:nvPr/>
        </p:nvCxnSpPr>
        <p:spPr>
          <a:xfrm>
            <a:off x="1965960" y="5212080"/>
            <a:ext cx="8138160" cy="0"/>
          </a:xfrm>
          <a:prstGeom prst="line">
            <a:avLst/>
          </a:prstGeom>
          <a:ln w="16510" cap="flat">
            <a:solidFill>
              <a:srgbClr val="35377F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5" name="Cover route node 1"/>
          <p:cNvSpPr/>
          <p:nvPr/>
        </p:nvSpPr>
        <p:spPr>
          <a:xfrm>
            <a:off x="17099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6" name="Cover route label 1"/>
          <p:cNvSpPr txBox="1"/>
          <p:nvPr/>
        </p:nvSpPr>
        <p:spPr>
          <a:xfrm>
            <a:off x="10972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Cover route node 2"/>
          <p:cNvSpPr/>
          <p:nvPr/>
        </p:nvSpPr>
        <p:spPr>
          <a:xfrm>
            <a:off x="44531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8" name="Cover route label 2"/>
          <p:cNvSpPr txBox="1"/>
          <p:nvPr/>
        </p:nvSpPr>
        <p:spPr>
          <a:xfrm>
            <a:off x="38404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9" name="Cover route node 3"/>
          <p:cNvSpPr/>
          <p:nvPr/>
        </p:nvSpPr>
        <p:spPr>
          <a:xfrm>
            <a:off x="71963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0" name="Cover route label 3"/>
          <p:cNvSpPr txBox="1"/>
          <p:nvPr/>
        </p:nvSpPr>
        <p:spPr>
          <a:xfrm>
            <a:off x="65836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energy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1" name="Cover route node 4"/>
          <p:cNvSpPr/>
          <p:nvPr/>
        </p:nvSpPr>
        <p:spPr>
          <a:xfrm>
            <a:off x="99395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2" name="Cover route label 4"/>
          <p:cNvSpPr txBox="1"/>
          <p:nvPr/>
        </p:nvSpPr>
        <p:spPr>
          <a:xfrm>
            <a:off x="93268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>
              <a:defRPr sz="28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節能不是只看功率變小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Causal node 1"/>
          <p:cNvSpPr/>
          <p:nvPr/>
        </p:nvSpPr>
        <p:spPr>
          <a:xfrm>
            <a:off x="658368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4" name="Causal node marker 1"/>
          <p:cNvSpPr/>
          <p:nvPr/>
        </p:nvSpPr>
        <p:spPr>
          <a:xfrm>
            <a:off x="1408176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5" name="Causal node text 1"/>
          <p:cNvSpPr txBox="1"/>
          <p:nvPr/>
        </p:nvSpPr>
        <p:spPr>
          <a:xfrm>
            <a:off x="749808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選擇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6" name="Causal arrow 1"/>
          <p:cNvCxnSpPr/>
          <p:nvPr/>
        </p:nvCxnSpPr>
        <p:spPr>
          <a:xfrm>
            <a:off x="2450592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7" name="Causal node 2"/>
          <p:cNvSpPr/>
          <p:nvPr/>
        </p:nvSpPr>
        <p:spPr>
          <a:xfrm>
            <a:off x="2907792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8" name="Causal node marker 2"/>
          <p:cNvSpPr/>
          <p:nvPr/>
        </p:nvSpPr>
        <p:spPr>
          <a:xfrm>
            <a:off x="3657600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9" name="Causal node text 2"/>
          <p:cNvSpPr txBox="1"/>
          <p:nvPr/>
        </p:nvSpPr>
        <p:spPr>
          <a:xfrm>
            <a:off x="2999232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停留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0" name="Causal arrow 2"/>
          <p:cNvCxnSpPr/>
          <p:nvPr/>
        </p:nvCxnSpPr>
        <p:spPr>
          <a:xfrm>
            <a:off x="4700016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1" name="Causal node 3"/>
          <p:cNvSpPr/>
          <p:nvPr/>
        </p:nvSpPr>
        <p:spPr>
          <a:xfrm>
            <a:off x="5157216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2" name="Causal node marker 3"/>
          <p:cNvSpPr/>
          <p:nvPr/>
        </p:nvSpPr>
        <p:spPr>
          <a:xfrm>
            <a:off x="5907024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3" name="Causal node text 3"/>
          <p:cNvSpPr txBox="1"/>
          <p:nvPr/>
        </p:nvSpPr>
        <p:spPr>
          <a:xfrm>
            <a:off x="5248656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 × time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4" name="Causal arrow 3"/>
          <p:cNvCxnSpPr/>
          <p:nvPr/>
        </p:nvCxnSpPr>
        <p:spPr>
          <a:xfrm>
            <a:off x="6949440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5" name="Causal node 4"/>
          <p:cNvSpPr/>
          <p:nvPr/>
        </p:nvSpPr>
        <p:spPr>
          <a:xfrm>
            <a:off x="7406640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6" name="Causal node marker 4"/>
          <p:cNvSpPr/>
          <p:nvPr/>
        </p:nvSpPr>
        <p:spPr>
          <a:xfrm>
            <a:off x="8156448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7" name="Causal node text 4"/>
          <p:cNvSpPr txBox="1"/>
          <p:nvPr/>
        </p:nvSpPr>
        <p:spPr>
          <a:xfrm>
            <a:off x="7498080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energy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8" name="Causal arrow 4"/>
          <p:cNvCxnSpPr/>
          <p:nvPr/>
        </p:nvCxnSpPr>
        <p:spPr>
          <a:xfrm>
            <a:off x="9198864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9" name="Causal node 5"/>
          <p:cNvSpPr/>
          <p:nvPr/>
        </p:nvSpPr>
        <p:spPr>
          <a:xfrm>
            <a:off x="9656064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0" name="Causal node marker 5"/>
          <p:cNvSpPr/>
          <p:nvPr/>
        </p:nvSpPr>
        <p:spPr>
          <a:xfrm>
            <a:off x="10405872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1" name="Causal node text 5"/>
          <p:cNvSpPr txBox="1"/>
          <p:nvPr/>
        </p:nvSpPr>
        <p:spPr>
          <a:xfrm>
            <a:off x="9747504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判讀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22" name="Causal takeaway"/>
          <p:cNvSpPr txBox="1"/>
          <p:nvPr/>
        </p:nvSpPr>
        <p:spPr>
          <a:xfrm>
            <a:off x="1463040" y="4572000"/>
            <a:ext cx="9098280" cy="50292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功率只是狀態；能量還要乘上停留。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只提供會改變的服務窗口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Core frame"/>
          <p:cNvSpPr/>
          <p:nvPr/>
        </p:nvSpPr>
        <p:spPr>
          <a:xfrm>
            <a:off x="749808" y="1508760"/>
            <a:ext cx="4800600" cy="4005072"/>
          </a:xfrm>
          <a:prstGeom prst="roundRect">
            <a:avLst/>
          </a:prstGeom>
          <a:noFill/>
          <a:ln w="1397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4" name="LEO frame"/>
          <p:cNvSpPr/>
          <p:nvPr/>
        </p:nvSpPr>
        <p:spPr>
          <a:xfrm>
            <a:off x="6473952" y="1508760"/>
            <a:ext cx="4828032" cy="4005072"/>
          </a:xfrm>
          <a:prstGeom prst="roundRect">
            <a:avLst/>
          </a:prstGeom>
          <a:noFill/>
          <a:ln w="1397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cxnSp>
        <p:nvCxnSpPr>
          <p:cNvPr id="5" name="LEO split divider"/>
          <p:cNvCxnSpPr/>
          <p:nvPr/>
        </p:nvCxnSpPr>
        <p:spPr>
          <a:xfrm>
            <a:off x="6016752" y="1737360"/>
            <a:ext cx="0" cy="3566160"/>
          </a:xfrm>
          <a:prstGeom prst="line">
            <a:avLst/>
          </a:prstGeom>
          <a:ln w="15240" cap="flat">
            <a:solidFill>
              <a:srgbClr val="B7C1EB"/>
            </a:solidFill>
          </a:ln>
        </p:spPr>
        <p:txBody>
          <a:bodyPr anchor="t" wrap="none" lIns="0" rIns="0" tIns="0" bIns="0"/>
          <a:lstStyle/>
          <a:p/>
        </p:txBody>
      </p:cxnSp>
      <p:sp>
        <p:nvSpPr>
          <p:cNvPr id="6" name="Core heading"/>
          <p:cNvSpPr txBox="1"/>
          <p:nvPr/>
        </p:nvSpPr>
        <p:spPr>
          <a:xfrm>
            <a:off x="1051560" y="178308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課程核心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Core marker 1"/>
          <p:cNvSpPr/>
          <p:nvPr/>
        </p:nvSpPr>
        <p:spPr>
          <a:xfrm>
            <a:off x="1078992" y="2468880"/>
            <a:ext cx="283464" cy="283464"/>
          </a:xfrm>
          <a:prstGeom prst="ellipse">
            <a:avLst/>
          </a:prstGeom>
          <a:noFill/>
          <a:ln w="2159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8" name="Core row 1"/>
          <p:cNvSpPr txBox="1"/>
          <p:nvPr/>
        </p:nvSpPr>
        <p:spPr>
          <a:xfrm>
            <a:off x="1481328" y="2423160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 endpoint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資料從哪裡來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9" name="Core marker 2"/>
          <p:cNvSpPr/>
          <p:nvPr/>
        </p:nvSpPr>
        <p:spPr>
          <a:xfrm>
            <a:off x="1078992" y="3273552"/>
            <a:ext cx="283464" cy="283464"/>
          </a:xfrm>
          <a:prstGeom prst="ellipse">
            <a:avLst/>
          </a:prstGeom>
          <a:noFill/>
          <a:ln w="2159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0" name="Core row 2"/>
          <p:cNvSpPr txBox="1"/>
          <p:nvPr/>
        </p:nvSpPr>
        <p:spPr>
          <a:xfrm>
            <a:off x="1481328" y="3227832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/ queue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怎麼排進服務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1" name="Core marker 3"/>
          <p:cNvSpPr/>
          <p:nvPr/>
        </p:nvSpPr>
        <p:spPr>
          <a:xfrm>
            <a:off x="1078992" y="4078224"/>
            <a:ext cx="283464" cy="283464"/>
          </a:xfrm>
          <a:prstGeom prst="ellipse">
            <a:avLst/>
          </a:prstGeom>
          <a:noFill/>
          <a:ln w="2159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2" name="Core row 3"/>
          <p:cNvSpPr txBox="1"/>
          <p:nvPr/>
        </p:nvSpPr>
        <p:spPr>
          <a:xfrm>
            <a:off x="1481328" y="4032504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 / energy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結果如何累積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3" name="LEO heading"/>
          <p:cNvSpPr txBox="1"/>
          <p:nvPr/>
        </p:nvSpPr>
        <p:spPr>
          <a:xfrm>
            <a:off x="6784848" y="17830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範例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4" name="LEO claim"/>
          <p:cNvSpPr txBox="1"/>
          <p:nvPr/>
        </p:nvSpPr>
        <p:spPr>
          <a:xfrm>
            <a:off x="6784848" y="2304288"/>
            <a:ext cx="4069080" cy="4023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只改服務窗口，不改核心因果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5" name="Service window baseline"/>
          <p:cNvCxnSpPr/>
          <p:nvPr/>
        </p:nvCxnSpPr>
        <p:spPr>
          <a:xfrm>
            <a:off x="6949440" y="3794760"/>
            <a:ext cx="4160520" cy="0"/>
          </a:xfrm>
          <a:prstGeom prst="line">
            <a:avLst/>
          </a:prstGeom>
          <a:ln w="17780" cap="flat">
            <a:solidFill>
              <a:srgbClr val="35377F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6" name="Service marker 1"/>
          <p:cNvSpPr/>
          <p:nvPr/>
        </p:nvSpPr>
        <p:spPr>
          <a:xfrm>
            <a:off x="7059168" y="3657600"/>
            <a:ext cx="274320" cy="274320"/>
          </a:xfrm>
          <a:prstGeom prst="ellipse">
            <a:avLst/>
          </a:prstGeom>
          <a:noFill/>
          <a:ln w="2286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7" name="Service marker label 1"/>
          <p:cNvSpPr txBox="1"/>
          <p:nvPr/>
        </p:nvSpPr>
        <p:spPr>
          <a:xfrm>
            <a:off x="6675120" y="4069080"/>
            <a:ext cx="1024128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關閉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8" name="Service marker 2"/>
          <p:cNvSpPr/>
          <p:nvPr/>
        </p:nvSpPr>
        <p:spPr>
          <a:xfrm>
            <a:off x="8302752" y="3657600"/>
            <a:ext cx="274320" cy="274320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9" name="Service marker label 2"/>
          <p:cNvSpPr txBox="1"/>
          <p:nvPr/>
        </p:nvSpPr>
        <p:spPr>
          <a:xfrm>
            <a:off x="7918704" y="4069080"/>
            <a:ext cx="1024128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開啟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20" name="Service marker 3"/>
          <p:cNvSpPr/>
          <p:nvPr/>
        </p:nvSpPr>
        <p:spPr>
          <a:xfrm>
            <a:off x="9528048" y="3657600"/>
            <a:ext cx="274320" cy="274320"/>
          </a:xfrm>
          <a:prstGeom prst="ellipse">
            <a:avLst/>
          </a:prstGeom>
          <a:noFill/>
          <a:ln w="2286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1" name="Service marker label 3"/>
          <p:cNvSpPr txBox="1"/>
          <p:nvPr/>
        </p:nvSpPr>
        <p:spPr>
          <a:xfrm>
            <a:off x="9144000" y="4069080"/>
            <a:ext cx="1024128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關閉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22" name="Service consequence"/>
          <p:cNvSpPr txBox="1"/>
          <p:nvPr/>
        </p:nvSpPr>
        <p:spPr>
          <a:xfrm>
            <a:off x="6784848" y="4617720"/>
            <a:ext cx="4069080" cy="62179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窗口會開、會關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品質會改變；等待會產生後果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先跑基準，再只改一個 policy block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3" name="Runbook spine"/>
          <p:cNvCxnSpPr/>
          <p:nvPr/>
        </p:nvCxnSpPr>
        <p:spPr>
          <a:xfrm>
            <a:off x="1170432" y="1847088"/>
            <a:ext cx="0" cy="3364992"/>
          </a:xfrm>
          <a:prstGeom prst="line">
            <a:avLst/>
          </a:prstGeom>
          <a:ln w="2032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cxnSp>
      <p:sp>
        <p:nvSpPr>
          <p:cNvPr id="4" name="Runbook step 1"/>
          <p:cNvSpPr/>
          <p:nvPr/>
        </p:nvSpPr>
        <p:spPr>
          <a:xfrm>
            <a:off x="1005840" y="1773936"/>
            <a:ext cx="329184" cy="329184"/>
          </a:xfrm>
          <a:prstGeom prst="ellipse">
            <a:avLst/>
          </a:prstGeom>
          <a:noFill/>
          <a:ln w="2667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5" name="Runbook numeral 1"/>
          <p:cNvSpPr txBox="1"/>
          <p:nvPr/>
        </p:nvSpPr>
        <p:spPr>
          <a:xfrm>
            <a:off x="1010412" y="180136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①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Runbook heading 1"/>
          <p:cNvSpPr txBox="1"/>
          <p:nvPr/>
        </p:nvSpPr>
        <p:spPr>
          <a:xfrm>
            <a:off x="1572768" y="1682496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驗證環境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Runbook command 1"/>
          <p:cNvSpPr txBox="1"/>
          <p:nvPr/>
        </p:nvSpPr>
        <p:spPr>
          <a:xfrm>
            <a:off x="4617720" y="1700784"/>
            <a:ext cx="65379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8" name="Runbook interpretation 1"/>
          <p:cNvSpPr txBox="1"/>
          <p:nvPr/>
        </p:nvSpPr>
        <p:spPr>
          <a:xfrm>
            <a:off x="1572768" y="2112264"/>
            <a:ext cx="2907792" cy="29260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先讓工具鏈可重現</a:t>
            </a:r>
            <a:endParaRPr lang="zh-TW" altLang="en-US" sz="20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9" name="Runbook step 2"/>
          <p:cNvSpPr/>
          <p:nvPr/>
        </p:nvSpPr>
        <p:spPr>
          <a:xfrm>
            <a:off x="1005840" y="2944368"/>
            <a:ext cx="329184" cy="329184"/>
          </a:xfrm>
          <a:prstGeom prst="ellipse">
            <a:avLst/>
          </a:prstGeom>
          <a:noFill/>
          <a:ln w="2667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0" name="Runbook numeral 2"/>
          <p:cNvSpPr txBox="1"/>
          <p:nvPr/>
        </p:nvSpPr>
        <p:spPr>
          <a:xfrm>
            <a:off x="1010412" y="29718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②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1" name="Runbook heading 2"/>
          <p:cNvSpPr txBox="1"/>
          <p:nvPr/>
        </p:nvSpPr>
        <p:spPr>
          <a:xfrm>
            <a:off x="1572768" y="2852928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保存基準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2" name="Runbook command 2"/>
          <p:cNvSpPr txBox="1"/>
          <p:nvPr/>
        </p:nvSpPr>
        <p:spPr>
          <a:xfrm>
            <a:off x="4617720" y="2871216"/>
            <a:ext cx="65379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3" name="Runbook interpretation 2"/>
          <p:cNvSpPr txBox="1"/>
          <p:nvPr/>
        </p:nvSpPr>
        <p:spPr>
          <a:xfrm>
            <a:off x="1572768" y="3282696"/>
            <a:ext cx="2907792" cy="29260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記下未改 policy 的 result</a:t>
            </a:r>
            <a:endParaRPr lang="zh-TW" altLang="en-US" sz="20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4" name="Runbook step 3"/>
          <p:cNvSpPr/>
          <p:nvPr/>
        </p:nvSpPr>
        <p:spPr>
          <a:xfrm>
            <a:off x="1005840" y="4114800"/>
            <a:ext cx="329184" cy="329184"/>
          </a:xfrm>
          <a:prstGeom prst="ellipse">
            <a:avLst/>
          </a:prstGeom>
          <a:noFill/>
          <a:ln w="2667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5" name="Runbook numeral 3"/>
          <p:cNvSpPr txBox="1"/>
          <p:nvPr/>
        </p:nvSpPr>
        <p:spPr>
          <a:xfrm>
            <a:off x="1010412" y="414223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③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6" name="Runbook heading 3"/>
          <p:cNvSpPr txBox="1"/>
          <p:nvPr/>
        </p:nvSpPr>
        <p:spPr>
          <a:xfrm>
            <a:off x="1572768" y="4023360"/>
            <a:ext cx="2907792" cy="71323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只改一個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block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7" name="Runbook command 3"/>
          <p:cNvSpPr txBox="1"/>
          <p:nvPr/>
        </p:nvSpPr>
        <p:spPr>
          <a:xfrm>
            <a:off x="4617720" y="4041648"/>
            <a:ext cx="65379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policy = </a:t>
            </a:r>
            <a:r>
              <a:rPr lang="zh-TW" altLang="en-US" sz="20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8" name="Runbook interpretation 3"/>
          <p:cNvSpPr txBox="1"/>
          <p:nvPr/>
        </p:nvSpPr>
        <p:spPr>
          <a:xfrm>
            <a:off x="1572768" y="4791456"/>
            <a:ext cx="2907792" cy="29260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比較時只歸因到這一個變更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9" name="Runbook recovery text"/>
          <p:cNvSpPr txBox="1"/>
          <p:nvPr/>
        </p:nvSpPr>
        <p:spPr>
          <a:xfrm>
            <a:off x="7973568" y="523036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18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verify 失敗 → 先修環境，再比較</a:t>
            </a:r>
            <a:endParaRPr lang="zh-TW" altLang="en-US" sz="18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/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公式把操作連到證據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mc:AlternateContent>
        <mc:Choice Requires="a14">
          <p:sp>
            <p:nvSpPr>
              <p:cNvPr id="3" name="Native Office Math E_endpoint" title="E_endpoint" descr="E_{\mathrm{endpoint}} = \sum_{s \in S} P_s t_s"/>
              <p:cNvSpPr>
                <a:spLocks noGrp="1"/>
              </p:cNvSpPr>
              <p:nvPr/>
            </p:nvSpPr>
            <p:spPr>
              <a:xfrm>
                <a:off x="1874520" y="1874520"/>
                <a:ext cx="8458200" cy="987552"/>
              </a:xfrm>
              <a:noFill/>
              <a:ln>
                <a:noFill/>
              </a:ln>
            </p:spPr>
            <p:txBody>
              <a:bodyPr anchor="ctr" wrap="none" lIns="0" rIns="0" tIns="0" bIns="0"/>
              <a:lstStyle/>
              <a:p>
                <a:pPr algn="ctr"/>
                <a14:m>
                  <m:oMathPara>
                    <m:oMath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E</m:t>
                          </m:r>
                        </m:e>
                        <m:e>
                          <m:r>
                            <a:rPr lang="en-US" altLang="en-US" sz="3000" dirty="0" i="0">
                              <a:latin typeface="Cambria Math"/>
                            </a:rPr>
                            <m:t>endpoint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 xml:space="preserve"> = </m:t>
                      </m:r>
                      <m:nary>
                        <m:naryPr>
                          <m:chr m:val="∑"/>
                          <m:limLoc m:val="undOvr"/>
                          <m:grow m:val="1"/>
                        </m:naryPr>
                        <m:sub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  <m:r>
                            <a:rPr lang="en-US" altLang="en-US" sz="3000" dirty="0">
                              <a:latin typeface="Cambria Math"/>
                            </a:rPr>
                            <m:t xml:space="preserve"> ∈ </m:t>
                          </m:r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</m:sub>
                        <m:sup/>
                        <m:e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P</m:t>
                              </m:r>
                            </m:e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s</m:t>
                              </m:r>
                            </m:e>
                          </m:sSub>
                          <m:r>
                            <a:rPr lang="en-US" altLang="en-US" sz="3000" dirty="0">
                              <a:latin typeface="Cambria Math"/>
                            </a:rPr>
                            <m:t xml:space="preserve"> </m:t>
                          </m:r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t</m:t>
                              </m:r>
                            </m:e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s</m:t>
                              </m:r>
                            </m:e>
                          </m:sSub>
                        </m:e>
                      </m:nary>
                    </m:oMath>
                  </m:oMathPara>
                </a14:m>
                <a:endParaRPr lang="en-US" altLang="en-US" sz="3000" dirty="0"/>
              </a:p>
            </p:txBody>
          </p:sp>
          <p:sp>
            <p:nvSpPr>
              <p:cNvPr id="4" name="Native Office Math eta_E" title="eta_E" descr="\eta_E = \frac{D_{\mathrm{delivered}}}{E_{\mathrm{endpoint}}}"/>
              <p:cNvSpPr>
                <a:spLocks noGrp="1"/>
              </p:cNvSpPr>
              <p:nvPr/>
            </p:nvSpPr>
            <p:spPr>
              <a:xfrm>
                <a:off x="1874520" y="3172968"/>
                <a:ext cx="8458200" cy="987552"/>
              </a:xfrm>
              <a:noFill/>
              <a:ln>
                <a:noFill/>
              </a:ln>
            </p:spPr>
            <p:txBody>
              <a:bodyPr anchor="ctr" wrap="none" lIns="0" rIns="0" tIns="0" bIns="0"/>
              <a:lstStyle/>
              <a:p>
                <a:pPr algn="ctr"/>
                <a14:m>
                  <m:oMathPara>
                    <m:oMath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η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E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 xml:space="preserve"> = 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D</m:t>
                              </m:r>
                            </m:e>
                            <m:e>
                              <m:r>
                                <a:rPr lang="en-US" altLang="en-US" sz="3000" dirty="0" i="0">
                                  <a:latin typeface="Cambria Math"/>
                                </a:rPr>
                                <m:t>delivered</m:t>
                              </m:r>
                            </m:e>
                          </m:sSub>
                        </m:num>
                        <m:den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E</m:t>
                              </m:r>
                            </m:e>
                            <m:e>
                              <m:r>
                                <a:rPr lang="en-US" altLang="en-US" sz="3000" dirty="0" i="0">
                                  <a:latin typeface="Cambria Math"/>
                                </a:rPr>
                                <m:t>endpoint</m:t>
                              </m:r>
                            </m:e>
                          </m:sSub>
                        </m:den>
                      </m:f>
                    </m:oMath>
                  </m:oMathPara>
                </a14:m>
                <a:endParaRPr lang="en-US" altLang="en-US" sz="3000" dirty="0"/>
              </a:p>
            </p:txBody>
          </p:sp>
        </mc:Choice>
        <mc:Fallback>
          <p:pic>
            <p:nvPicPr>
              <p:cNvPr id="5" name="Native Office Math fallback SVG" title="Office Math fallback" descr="E_{\mathrm{endpoint}} = \sum_{s \in S} P_s t_s&#10;\eta_E = \frac{D_{\mathrm{delivered}}}{E_{\mathrm{endpoint}}}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4520" y="1828800"/>
                <a:ext cx="8458200" cy="23317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Equation readout one"/>
          <p:cNvSpPr txBox="1"/>
          <p:nvPr/>
        </p:nvSpPr>
        <p:spPr>
          <a:xfrm>
            <a:off x="1874520" y="4645152"/>
            <a:ext cx="8458200" cy="41148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 × 停留 → endpoint energy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Equation readout two"/>
          <p:cNvSpPr txBox="1"/>
          <p:nvPr/>
        </p:nvSpPr>
        <p:spPr>
          <a:xfrm>
            <a:off x="1572768" y="5138928"/>
            <a:ext cx="9052560" cy="41148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送達資料量 ÷ 相同能量邊界 → 可比較的效率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 algn="l">
              <a:defRPr sz="2800" b="1" i="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一筆 result，先看證據鏈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3" name="Evidence chain spine"/>
          <p:cNvCxnSpPr/>
          <p:nvPr/>
        </p:nvCxnSpPr>
        <p:spPr>
          <a:xfrm>
            <a:off x="1207008" y="1865376"/>
            <a:ext cx="0" cy="3063240"/>
          </a:xfrm>
          <a:prstGeom prst="line">
            <a:avLst/>
          </a:prstGeom>
          <a:ln w="19050" cap="flat">
            <a:solidFill>
              <a:srgbClr val="35377F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4" name="Evidence layer 1"/>
          <p:cNvSpPr/>
          <p:nvPr/>
        </p:nvSpPr>
        <p:spPr>
          <a:xfrm>
            <a:off x="1060704" y="1819656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5" name="Evidence label 1"/>
          <p:cNvSpPr txBox="1"/>
          <p:nvPr/>
        </p:nvSpPr>
        <p:spPr>
          <a:xfrm>
            <a:off x="1536192" y="1773936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lineage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Evidence layer 2"/>
          <p:cNvSpPr/>
          <p:nvPr/>
        </p:nvSpPr>
        <p:spPr>
          <a:xfrm>
            <a:off x="1060704" y="2587752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7" name="Evidence label 2"/>
          <p:cNvSpPr txBox="1"/>
          <p:nvPr/>
        </p:nvSpPr>
        <p:spPr>
          <a:xfrm>
            <a:off x="1536192" y="254203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服務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 / freshness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8" name="Evidence layer 3"/>
          <p:cNvSpPr/>
          <p:nvPr/>
        </p:nvSpPr>
        <p:spPr>
          <a:xfrm>
            <a:off x="1060704" y="3355848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9" name="Evidence label 3"/>
          <p:cNvSpPr txBox="1"/>
          <p:nvPr/>
        </p:nvSpPr>
        <p:spPr>
          <a:xfrm>
            <a:off x="1536192" y="331012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機制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queue / packet / state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0" name="Evidence layer 4"/>
          <p:cNvSpPr/>
          <p:nvPr/>
        </p:nvSpPr>
        <p:spPr>
          <a:xfrm>
            <a:off x="1060704" y="4123944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1" name="Evidence label 4"/>
          <p:cNvSpPr txBox="1"/>
          <p:nvPr/>
        </p:nvSpPr>
        <p:spPr>
          <a:xfrm>
            <a:off x="1536192" y="4078224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能量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 × time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2" name="Evidence interpretation arrow"/>
          <p:cNvCxnSpPr/>
          <p:nvPr/>
        </p:nvCxnSpPr>
        <p:spPr>
          <a:xfrm>
            <a:off x="2670048" y="5010912"/>
            <a:ext cx="65836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3" name="Evidence interpretation"/>
          <p:cNvSpPr txBox="1"/>
          <p:nvPr/>
        </p:nvSpPr>
        <p:spPr>
          <a:xfrm>
            <a:off x="3401568" y="4736592"/>
            <a:ext cx="1417320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判讀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支持、反駁、待查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4" name="Evidence status tag"/>
          <p:cNvSpPr/>
          <p:nvPr/>
        </p:nvSpPr>
        <p:spPr>
          <a:xfrm>
            <a:off x="7973568" y="1280160"/>
            <a:ext cx="3364992" cy="566928"/>
          </a:xfrm>
          <a:prstGeom prst="roundRect">
            <a:avLst/>
          </a:prstGeom>
          <a:noFill/>
          <a:ln w="14605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5" name="Evidence status"/>
          <p:cNvSpPr txBox="1"/>
          <p:nvPr/>
        </p:nvSpPr>
        <p:spPr>
          <a:xfrm>
            <a:off x="8101584" y="1362456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18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伺服器 preview：已驗證</a:t>
            </a:r>
            <a:endParaRPr lang="zh-TW" altLang="en-US" sz="18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18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native：待實機</a:t>
            </a:r>
            <a:endParaRPr lang="zh-TW" altLang="en-US" sz="18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6" name="Evidence caption"/>
          <p:cNvSpPr txBox="1"/>
          <p:nvPr/>
        </p:nvSpPr>
        <p:spPr>
          <a:xfrm>
            <a:off x="4681728" y="1225296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browser evidence / endpoint replay</a:t>
            </a:r>
            <a:endParaRPr lang="zh-TW" altLang="en-US" sz="18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pic>
        <p:nvPicPr>
          <p:cNvPr id="17" name="Verified server preview import evidence" descr="server preview evidence; source_sha256=a515857ef52f0a76536aa725967b273bb2e33c2eeafe225e4be7cba77578268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81728" y="1938528"/>
            <a:ext cx="6629400" cy="3584448"/>
          </a:xfrm>
          <a:prstGeom prst="rect">
            <a:avLst/>
          </a:prstGeom>
          <a:ln w="15240" cap="flat">
            <a:solidFill>
              <a:srgbClr val="35377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