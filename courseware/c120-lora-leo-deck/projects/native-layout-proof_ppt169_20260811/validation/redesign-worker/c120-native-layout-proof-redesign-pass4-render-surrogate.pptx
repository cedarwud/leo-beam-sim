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ppt/presentation.xml" ContentType="application/vnd.openxmlformats-officedocument.presentationml.presentation.main+xml"/>
  <ct:Override PartName="/ppt/slideMasters/slideMaster1.xml" ContentType="application/vnd.openxmlformats-officedocument.presentationml.slideMaster+xml"/>
  <ct:Override PartName="/ppt/notesMasters/notesMaster1.xml" ContentType="application/vnd.openxmlformats-officedocument.presentationml.notesMaster+xml"/>
  <ct:Override PartName="/ppt/presProps.xml" ContentType="application/vnd.openxmlformats-officedocument.presentationml.presProps+xml"/>
  <ct:Override PartName="/ppt/viewProps.xml" ContentType="application/vnd.openxmlformats-officedocument.presentationml.viewProps+xml"/>
  <ct:Override PartName="/ppt/theme/theme1.xml" ContentType="application/vnd.openxmlformats-officedocument.theme+xml"/>
  <ct:Override PartName="/ppt/tableStyles.xml" ContentType="application/vnd.openxmlformats-officedocument.presentationml.tableStyles+xml"/>
  <ct:Override PartName="/ppt/slideLayouts/slideLayout1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theme/theme2.xml" ContentType="application/vnd.openxmlformats-officedocument.theme+xml"/>
  <ct:Override PartName="/docProps/core.xml" ContentType="application/vnd.openxmlformats-package.core-properties+xml"/>
  <ct:Override PartName="/docProps/app.xml" ContentType="application/vnd.openxmlformats-officedocument.extended-properties+xml"/>
  <ct:Override PartName="/ppt/slides/slide8.xml" ContentType="application/vnd.openxmlformats-officedocument.presentationml.slide+xml"/>
  <ct:Override PartName="/ppt/notesSlides/notesSlide8.xml" ContentType="application/vnd.openxmlformats-officedocument.presentationml.notesSlide+xml"/>
  <ct:Override PartName="/ppt/slides/slide9.xml" ContentType="application/vnd.openxmlformats-officedocument.presentationml.slide+xml"/>
  <ct:Override PartName="/ppt/notesSlides/notesSlide9.xml" ContentType="application/vnd.openxmlformats-officedocument.presentationml.notesSlide+xml"/>
  <ct:Override PartName="/ppt/slides/slide10.xml" ContentType="application/vnd.openxmlformats-officedocument.presentationml.slide+xml"/>
  <ct:Override PartName="/ppt/notesSlides/notesSlide10.xml" ContentType="application/vnd.openxmlformats-officedocument.presentationml.notesSlide+xml"/>
  <ct:Override PartName="/ppt/slides/slide11.xml" ContentType="application/vnd.openxmlformats-officedocument.presentationml.slide+xml"/>
  <ct:Override PartName="/ppt/notesSlides/notesSlide11.xml" ContentType="application/vnd.openxmlformats-officedocument.presentationml.notesSlide+xml"/>
  <ct:Override PartName="/ppt/slides/slide12.xml" ContentType="application/vnd.openxmlformats-officedocument.presentationml.slide+xml"/>
  <ct:Override PartName="/ppt/notesSlides/notesSlide12.xml" ContentType="application/vnd.openxmlformats-officedocument.presentationml.notesSlide+xml"/>
  <ct:Override PartName="/ppt/slides/slide13.xml" ContentType="application/vnd.openxmlformats-officedocument.presentationml.slide+xml"/>
  <ct:Override PartName="/ppt/notesSlides/notesSlide13.xml" ContentType="application/vnd.openxmlformats-officedocument.presentationml.notesSlide+xml"/>
  <ct:Default Extension="svg" ContentType="image/svg+xml"/>
</ct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這張畫面來自已驗證的 server preview 匯入流程；它證明目前的瀏覽器路徑能讀取同一份 result，但不代表 Windows 原生執行已通過。匯入之後先確認身份與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pr:Relationships xmlns:pr="http://schemas.openxmlformats.org/package/2006/relationships">
  <pr:Relationship Id="rId1" Type="http://schemas.openxmlformats.org/officeDocument/2006/relationships/slideLayout" Target="../slideLayouts/slideLayout5.xml" />
<pr:Relationship Id="rId2" Type="http://schemas.openxmlformats.org/officeDocument/2006/relationships/notesSlide" Target="../notesSlides/notesSlide12.xml" /><pr:Relationship Id="rId4" Type="http://schemas.openxmlformats.org/officeDocument/2006/relationships/image" Target="../media/c120-equations-fallback.png" /></pr:Relationships>
</file>

<file path=ppt/slides/_rels/slide13.xml.rels><?xml version='1.0' encoding='utf-8'?>
<pr:Relationships xmlns:pr="http://schemas.openxmlformats.org/package/2006/relationships">
  <pr:Relationship Id="rId1" Type="http://schemas.openxmlformats.org/officeDocument/2006/relationships/slideLayout" Target="../slideLayouts/slideLayout7.xml" />
<pr:Relationship Id="rId2" Type="http://schemas.openxmlformats.org/officeDocument/2006/relationships/notesSlide" Target="../notesSlides/notesSlide13.xml" /><pr:Relationship Id="rId3" Type="http://schemas.openxmlformats.org/officeDocument/2006/relationships/image" Target="../media/c120-server-preview-import.png" /></pr:Relationships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80" y="1993392"/>
            <a:ext cx="8183880" cy="676656"/>
          </a:xfrm>
        </p:spPr>
        <p:txBody>
          <a:bodyPr anchor="ctr" wrap="square" lIns="0" rIns="0" tIns="0" bIns="0"/>
          <a:lstStyle/>
          <a:p>
            <a:pPr algn="l"/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LoRaEnergySim × 智慧節能與物聯網應用</a:t>
            </a:r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 xml:space="preserve"/>
            </a:r>
            <a:r>
              <a:rPr lang="zh-TW" altLang="en-US" b="1" i="0" u="none" strike="noStrike" baseline="0" dirty="0" sz="280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1680" y="3611880"/>
            <a:ext cx="8138160" cy="658368"/>
          </a:xfrm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b="0" i="0" u="none" strike="noStrike" baseline="0" dirty="0" sz="240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 xml:space="preserve">從 policy 變更，看見 service 與 endpoint energy 的因果</a:t>
            </a:r>
            <a:r>
              <a:rPr lang="zh-TW" altLang="en-US" i="0" u="none" strike="noStrike" baseline="0" dirty="0" sz="240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 sz="240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40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4" name="Cover causal route"/>
          <p:cNvCxnSpPr/>
          <p:nvPr/>
        </p:nvCxnSpPr>
        <p:spPr>
          <a:xfrm>
            <a:off x="1965960" y="5212080"/>
            <a:ext cx="8138160" cy="0"/>
          </a:xfrm>
          <a:prstGeom prst="line">
            <a:avLst/>
          </a:prstGeom>
          <a:ln w="1651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5" name="Cover route node 1"/>
          <p:cNvSpPr/>
          <p:nvPr/>
        </p:nvSpPr>
        <p:spPr>
          <a:xfrm>
            <a:off x="17099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6" name="Cover route label 1"/>
          <p:cNvSpPr txBox="1"/>
          <p:nvPr/>
        </p:nvSpPr>
        <p:spPr>
          <a:xfrm>
            <a:off x="10972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Cover route node 2"/>
          <p:cNvSpPr/>
          <p:nvPr/>
        </p:nvSpPr>
        <p:spPr>
          <a:xfrm>
            <a:off x="44531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over route label 2"/>
          <p:cNvSpPr txBox="1"/>
          <p:nvPr/>
        </p:nvSpPr>
        <p:spPr>
          <a:xfrm>
            <a:off x="38404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Cover route node 3"/>
          <p:cNvSpPr/>
          <p:nvPr/>
        </p:nvSpPr>
        <p:spPr>
          <a:xfrm>
            <a:off x="71963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Cover route label 3"/>
          <p:cNvSpPr txBox="1"/>
          <p:nvPr/>
        </p:nvSpPr>
        <p:spPr>
          <a:xfrm>
            <a:off x="65836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energy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Cover route node 4"/>
          <p:cNvSpPr/>
          <p:nvPr/>
        </p:nvSpPr>
        <p:spPr>
          <a:xfrm>
            <a:off x="9939528" y="5093208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over route label 4"/>
          <p:cNvSpPr txBox="1"/>
          <p:nvPr/>
        </p:nvSpPr>
        <p:spPr>
          <a:xfrm>
            <a:off x="9326880" y="539496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sz="28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節能不是只看功率變小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ausal node 1"/>
          <p:cNvSpPr/>
          <p:nvPr/>
        </p:nvSpPr>
        <p:spPr>
          <a:xfrm>
            <a:off x="658368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4" name="Causal node marker 1"/>
          <p:cNvSpPr/>
          <p:nvPr/>
        </p:nvSpPr>
        <p:spPr>
          <a:xfrm>
            <a:off x="1408176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Causal node text 1"/>
          <p:cNvSpPr txBox="1"/>
          <p:nvPr/>
        </p:nvSpPr>
        <p:spPr>
          <a:xfrm>
            <a:off x="749808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選擇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6" name="Causal arrow 1"/>
          <p:cNvCxnSpPr/>
          <p:nvPr/>
        </p:nvCxnSpPr>
        <p:spPr>
          <a:xfrm>
            <a:off x="2450592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7" name="Causal node 2"/>
          <p:cNvSpPr/>
          <p:nvPr/>
        </p:nvSpPr>
        <p:spPr>
          <a:xfrm>
            <a:off x="2907792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ausal node marker 2"/>
          <p:cNvSpPr/>
          <p:nvPr/>
        </p:nvSpPr>
        <p:spPr>
          <a:xfrm>
            <a:off x="3657600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9" name="Causal node text 2"/>
          <p:cNvSpPr txBox="1"/>
          <p:nvPr/>
        </p:nvSpPr>
        <p:spPr>
          <a:xfrm>
            <a:off x="2999232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停留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0" name="Causal arrow 2"/>
          <p:cNvCxnSpPr/>
          <p:nvPr/>
        </p:nvCxnSpPr>
        <p:spPr>
          <a:xfrm>
            <a:off x="4700016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1" name="Causal node 3"/>
          <p:cNvSpPr/>
          <p:nvPr/>
        </p:nvSpPr>
        <p:spPr>
          <a:xfrm>
            <a:off x="5157216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ausal node marker 3"/>
          <p:cNvSpPr/>
          <p:nvPr/>
        </p:nvSpPr>
        <p:spPr>
          <a:xfrm>
            <a:off x="5907024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3" name="Causal node text 3"/>
          <p:cNvSpPr txBox="1"/>
          <p:nvPr/>
        </p:nvSpPr>
        <p:spPr>
          <a:xfrm>
            <a:off x="5248656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 × time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4" name="Causal arrow 3"/>
          <p:cNvCxnSpPr/>
          <p:nvPr/>
        </p:nvCxnSpPr>
        <p:spPr>
          <a:xfrm>
            <a:off x="6949440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5" name="Causal node 4"/>
          <p:cNvSpPr/>
          <p:nvPr/>
        </p:nvSpPr>
        <p:spPr>
          <a:xfrm>
            <a:off x="7406640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6" name="Causal node marker 4"/>
          <p:cNvSpPr/>
          <p:nvPr/>
        </p:nvSpPr>
        <p:spPr>
          <a:xfrm>
            <a:off x="8156448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7" name="Causal node text 4"/>
          <p:cNvSpPr txBox="1"/>
          <p:nvPr/>
        </p:nvSpPr>
        <p:spPr>
          <a:xfrm>
            <a:off x="7498080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energy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8" name="Causal arrow 4"/>
          <p:cNvCxnSpPr/>
          <p:nvPr/>
        </p:nvCxnSpPr>
        <p:spPr>
          <a:xfrm>
            <a:off x="9198864" y="2953512"/>
            <a:ext cx="384048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9" name="Causal node 5"/>
          <p:cNvSpPr/>
          <p:nvPr/>
        </p:nvSpPr>
        <p:spPr>
          <a:xfrm>
            <a:off x="9656064" y="2331720"/>
            <a:ext cx="1755648" cy="1234440"/>
          </a:xfrm>
          <a:prstGeom prst="roundRect">
            <a:avLst/>
          </a:prstGeom>
          <a:noFill/>
          <a:ln w="1524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0" name="Causal node marker 5"/>
          <p:cNvSpPr/>
          <p:nvPr/>
        </p:nvSpPr>
        <p:spPr>
          <a:xfrm>
            <a:off x="10405872" y="2084832"/>
            <a:ext cx="237744" cy="237744"/>
          </a:xfrm>
          <a:prstGeom prst="ellipse">
            <a:avLst/>
          </a:prstGeom>
          <a:noFill/>
          <a:ln w="2540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1" name="Causal node text 5"/>
          <p:cNvSpPr txBox="1"/>
          <p:nvPr/>
        </p:nvSpPr>
        <p:spPr>
          <a:xfrm>
            <a:off x="9747504" y="2542032"/>
            <a:ext cx="1572768" cy="69494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2" name="Causal takeaway"/>
          <p:cNvSpPr txBox="1"/>
          <p:nvPr/>
        </p:nvSpPr>
        <p:spPr>
          <a:xfrm>
            <a:off x="1463040" y="4572000"/>
            <a:ext cx="9098280" cy="50292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功率只是狀態；能量還要乘上停留。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只提供會改變的服務窗口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ore frame"/>
          <p:cNvSpPr/>
          <p:nvPr/>
        </p:nvSpPr>
        <p:spPr>
          <a:xfrm>
            <a:off x="749808" y="1508760"/>
            <a:ext cx="4800600" cy="4005072"/>
          </a:xfrm>
          <a:prstGeom prst="roundRect">
            <a:avLst/>
          </a:prstGeom>
          <a:noFill/>
          <a:ln w="1397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4" name="LEO frame"/>
          <p:cNvSpPr/>
          <p:nvPr/>
        </p:nvSpPr>
        <p:spPr>
          <a:xfrm>
            <a:off x="6473952" y="1508760"/>
            <a:ext cx="4828032" cy="4005072"/>
          </a:xfrm>
          <a:prstGeom prst="roundRect">
            <a:avLst/>
          </a:prstGeom>
          <a:noFill/>
          <a:ln w="1397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cxnSp>
        <p:nvCxnSpPr>
          <p:cNvPr id="5" name="LEO split divider"/>
          <p:cNvCxnSpPr/>
          <p:nvPr/>
        </p:nvCxnSpPr>
        <p:spPr>
          <a:xfrm>
            <a:off x="6016752" y="1737360"/>
            <a:ext cx="0" cy="3566160"/>
          </a:xfrm>
          <a:prstGeom prst="line">
            <a:avLst/>
          </a:prstGeom>
          <a:ln w="15240" cap="flat">
            <a:solidFill>
              <a:srgbClr val="B7C1EB"/>
            </a:solidFill>
          </a:ln>
        </p:spPr>
        <p:txBody>
          <a:bodyPr anchor="t" wrap="none" lIns="0" rIns="0" tIns="0" bIns="0"/>
          <a:lstStyle/>
          <a:p/>
        </p:txBody>
      </p:cxnSp>
      <p:sp>
        <p:nvSpPr>
          <p:cNvPr id="6" name="Core heading"/>
          <p:cNvSpPr txBox="1"/>
          <p:nvPr/>
        </p:nvSpPr>
        <p:spPr>
          <a:xfrm>
            <a:off x="1051560" y="178308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課程核心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Core marker 1"/>
          <p:cNvSpPr/>
          <p:nvPr/>
        </p:nvSpPr>
        <p:spPr>
          <a:xfrm>
            <a:off x="1078992" y="2468880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8" name="Core row 1"/>
          <p:cNvSpPr txBox="1"/>
          <p:nvPr/>
        </p:nvSpPr>
        <p:spPr>
          <a:xfrm>
            <a:off x="1481328" y="2423160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 endpoint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資料從哪裡來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Core marker 2"/>
          <p:cNvSpPr/>
          <p:nvPr/>
        </p:nvSpPr>
        <p:spPr>
          <a:xfrm>
            <a:off x="1078992" y="3273552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Core row 2"/>
          <p:cNvSpPr txBox="1"/>
          <p:nvPr/>
        </p:nvSpPr>
        <p:spPr>
          <a:xfrm>
            <a:off x="1481328" y="3227832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/ queue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怎麼排進服務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Core marker 3"/>
          <p:cNvSpPr/>
          <p:nvPr/>
        </p:nvSpPr>
        <p:spPr>
          <a:xfrm>
            <a:off x="1078992" y="4078224"/>
            <a:ext cx="283464" cy="283464"/>
          </a:xfrm>
          <a:prstGeom prst="ellipse">
            <a:avLst/>
          </a:prstGeom>
          <a:noFill/>
          <a:ln w="2159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2" name="Core row 3"/>
          <p:cNvSpPr txBox="1"/>
          <p:nvPr/>
        </p:nvSpPr>
        <p:spPr>
          <a:xfrm>
            <a:off x="1481328" y="4032504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1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 / energy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結果如何累積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3" name="LEO heading"/>
          <p:cNvSpPr txBox="1"/>
          <p:nvPr/>
        </p:nvSpPr>
        <p:spPr>
          <a:xfrm>
            <a:off x="6784848" y="1783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範例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LEO claim"/>
          <p:cNvSpPr txBox="1"/>
          <p:nvPr/>
        </p:nvSpPr>
        <p:spPr>
          <a:xfrm>
            <a:off x="6784848" y="2304288"/>
            <a:ext cx="4069080" cy="402336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只改服務窗口，不改核心因果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5" name="Service window baseline"/>
          <p:cNvCxnSpPr/>
          <p:nvPr/>
        </p:nvCxnSpPr>
        <p:spPr>
          <a:xfrm>
            <a:off x="6949440" y="3794760"/>
            <a:ext cx="4160520" cy="0"/>
          </a:xfrm>
          <a:prstGeom prst="line">
            <a:avLst/>
          </a:prstGeom>
          <a:ln w="1778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6" name="Service marker 1"/>
          <p:cNvSpPr/>
          <p:nvPr/>
        </p:nvSpPr>
        <p:spPr>
          <a:xfrm>
            <a:off x="7059168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7" name="Service marker label 1"/>
          <p:cNvSpPr txBox="1"/>
          <p:nvPr/>
        </p:nvSpPr>
        <p:spPr>
          <a:xfrm>
            <a:off x="6675120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8" name="Service marker 2"/>
          <p:cNvSpPr/>
          <p:nvPr/>
        </p:nvSpPr>
        <p:spPr>
          <a:xfrm>
            <a:off x="8302752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9" name="Service marker label 2"/>
          <p:cNvSpPr txBox="1"/>
          <p:nvPr/>
        </p:nvSpPr>
        <p:spPr>
          <a:xfrm>
            <a:off x="7918704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開啟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0" name="Service marker 3"/>
          <p:cNvSpPr/>
          <p:nvPr/>
        </p:nvSpPr>
        <p:spPr>
          <a:xfrm>
            <a:off x="9528048" y="3657600"/>
            <a:ext cx="274320" cy="274320"/>
          </a:xfrm>
          <a:prstGeom prst="ellipse">
            <a:avLst/>
          </a:prstGeom>
          <a:noFill/>
          <a:ln w="2286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1" name="Service marker label 3"/>
          <p:cNvSpPr txBox="1"/>
          <p:nvPr/>
        </p:nvSpPr>
        <p:spPr>
          <a:xfrm>
            <a:off x="9144000" y="4069080"/>
            <a:ext cx="1024128" cy="34747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關閉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22" name="Service consequence"/>
          <p:cNvSpPr txBox="1"/>
          <p:nvPr/>
        </p:nvSpPr>
        <p:spPr>
          <a:xfrm>
            <a:off x="6784848" y="4617720"/>
            <a:ext cx="4069080" cy="62179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窗口會開、會關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品質會改變；等待會產生後果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先跑基準，再只改一個 policy block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3" name="Runbook spine"/>
          <p:cNvCxnSpPr/>
          <p:nvPr/>
        </p:nvCxnSpPr>
        <p:spPr>
          <a:xfrm>
            <a:off x="1170432" y="1847088"/>
            <a:ext cx="0" cy="3364992"/>
          </a:xfrm>
          <a:prstGeom prst="line">
            <a:avLst/>
          </a:prstGeom>
          <a:ln w="20320" cap="flat">
            <a:solidFill>
              <a:srgbClr val="35377F"/>
            </a:solidFill>
          </a:ln>
        </p:spPr>
        <p:txBody>
          <a:bodyPr anchor="t" wrap="none" lIns="0" rIns="0" tIns="0" bIns="0"/>
          <a:lstStyle/>
          <a:p/>
        </p:txBody>
      </p:cxnSp>
      <p:sp>
        <p:nvSpPr>
          <p:cNvPr id="4" name="Runbook step 1"/>
          <p:cNvSpPr/>
          <p:nvPr/>
        </p:nvSpPr>
        <p:spPr>
          <a:xfrm>
            <a:off x="1005840" y="1773936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Runbook numeral 1"/>
          <p:cNvSpPr txBox="1"/>
          <p:nvPr/>
        </p:nvSpPr>
        <p:spPr>
          <a:xfrm>
            <a:off x="1010412" y="18013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①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Runbook heading 1"/>
          <p:cNvSpPr txBox="1"/>
          <p:nvPr/>
        </p:nvSpPr>
        <p:spPr>
          <a:xfrm>
            <a:off x="1572768" y="1682496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驗證環境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7" name="Runbook command 1"/>
          <p:cNvSpPr txBox="1"/>
          <p:nvPr/>
        </p:nvSpPr>
        <p:spPr>
          <a:xfrm>
            <a:off x="4617720" y="1700784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8" name="Runbook interpretation 1"/>
          <p:cNvSpPr txBox="1"/>
          <p:nvPr/>
        </p:nvSpPr>
        <p:spPr>
          <a:xfrm>
            <a:off x="1572768" y="2112264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先讓工具鏈可重現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9" name="Runbook step 2"/>
          <p:cNvSpPr/>
          <p:nvPr/>
        </p:nvSpPr>
        <p:spPr>
          <a:xfrm>
            <a:off x="1005840" y="2944368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0" name="Runbook numeral 2"/>
          <p:cNvSpPr txBox="1"/>
          <p:nvPr/>
        </p:nvSpPr>
        <p:spPr>
          <a:xfrm>
            <a:off x="1010412" y="297180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②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1" name="Runbook heading 2"/>
          <p:cNvSpPr txBox="1"/>
          <p:nvPr/>
        </p:nvSpPr>
        <p:spPr>
          <a:xfrm>
            <a:off x="1572768" y="2852928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保存基準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2" name="Runbook command 2"/>
          <p:cNvSpPr txBox="1"/>
          <p:nvPr/>
        </p:nvSpPr>
        <p:spPr>
          <a:xfrm>
            <a:off x="4617720" y="2871216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3" name="Runbook interpretation 2"/>
          <p:cNvSpPr txBox="1"/>
          <p:nvPr/>
        </p:nvSpPr>
        <p:spPr>
          <a:xfrm>
            <a:off x="1572768" y="3282696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記下未改 policy 的 result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Runbook step 3"/>
          <p:cNvSpPr/>
          <p:nvPr/>
        </p:nvSpPr>
        <p:spPr>
          <a:xfrm>
            <a:off x="1005840" y="4114800"/>
            <a:ext cx="329184" cy="329184"/>
          </a:xfrm>
          <a:prstGeom prst="ellipse">
            <a:avLst/>
          </a:prstGeom>
          <a:noFill/>
          <a:ln w="2667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5" name="Runbook numeral 3"/>
          <p:cNvSpPr txBox="1"/>
          <p:nvPr/>
        </p:nvSpPr>
        <p:spPr>
          <a:xfrm>
            <a:off x="1010412" y="4142232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③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6" name="Runbook heading 3"/>
          <p:cNvSpPr txBox="1"/>
          <p:nvPr/>
        </p:nvSpPr>
        <p:spPr>
          <a:xfrm>
            <a:off x="1572768" y="402336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只改一個 policy block</a:t>
            </a:r>
            <a:endParaRPr lang="zh-TW" altLang="en-US" sz="24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7" name="Runbook command 3"/>
          <p:cNvSpPr txBox="1"/>
          <p:nvPr/>
        </p:nvSpPr>
        <p:spPr>
          <a:xfrm>
            <a:off x="4617720" y="4041648"/>
            <a:ext cx="6537960" cy="621792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18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policy = </a:t>
            </a:r>
            <a:r>
              <a:rPr lang="zh-TW" altLang="en-US" sz="20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endParaRPr lang="zh-TW" altLang="en-US" sz="18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8" name="Runbook interpretation 3"/>
          <p:cNvSpPr txBox="1"/>
          <p:nvPr/>
        </p:nvSpPr>
        <p:spPr>
          <a:xfrm>
            <a:off x="1572768" y="4453128"/>
            <a:ext cx="2907792" cy="292608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比較時只歸因到這一個變更</a:t>
            </a:r>
            <a:endParaRPr lang="zh-TW" altLang="en-US" sz="20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9" name="Runbook recovery callout"/>
          <p:cNvSpPr/>
          <p:nvPr/>
        </p:nvSpPr>
        <p:spPr>
          <a:xfrm>
            <a:off x="8001000" y="4983480"/>
            <a:ext cx="3154680" cy="512064"/>
          </a:xfrm>
          <a:prstGeom prst="roundRect">
            <a:avLst/>
          </a:prstGeom>
          <a:noFill/>
          <a:ln w="1524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20" name="Runbook recovery text"/>
          <p:cNvSpPr txBox="1"/>
          <p:nvPr/>
        </p:nvSpPr>
        <p:spPr>
          <a:xfrm>
            <a:off x="8138160" y="5111496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verify 失敗：先修環境，再比較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ns1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ns1:xfrm>
          <ns1:off x="0" y="0"/>
          <ns1:ext cx="0" cy="0"/>
          <ns1:chOff x="0" y="0"/>
          <ns1:chExt cx="0" cy="0"/>
        </ns1:xfrm>
      </p:grpSpPr>
      <p:sp>
        <p:nvSpPr>
          <p:cNvPr id="2" name="Native title placeholder"/>
          <p:cNvSpPr>
            <ns1:spLocks noGrp="1"/>
          </p:cNvSpPr>
          <p:nvPr>
            <p:ph type="title"/>
          </p:nvPr>
        </p:nvSpPr>
        <p:spPr>
          <ns1:xfrm>
            <ns1:off x="640080" y="164592"/>
            <ns1:ext cx="10881360" cy="566928"/>
          </ns1:xfrm>
        </p:spPr>
        <p:txBody>
          <ns1:bodyPr anchor="ctr" wrap="square" lIns="0" rIns="0" tIns="0" bIns="0"/>
          <ns1:lstStyle/>
          <ns1:p>
            <ns1:r>
              <ns1:rPr lang="zh-TW" i="0" sz="2800" altLang="en-US" b="1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公式把操作連到證據</ns1:t>
            </ns1:r>
            <ns1:endParaRPr lang="zh-TW" i="0" sz="2800" altLang="en-US" b="1">
              <ns1:solidFill>
                <ns1:srgbClr val="35377F"/>
              </ns1:solidFill>
              <ns1:latin typeface="Times New Roman"/>
              <ns1:ea typeface="標楷體"/>
              <ns1:cs typeface="Times New Roman"/>
            </ns1:endParaRPr>
          </ns1:p>
        </p:txBody>
      </p:sp>
      <p:sp>
        <p:nvSpPr>
          <p:cNvPr id="6" name="Equation readout one"/>
          <p:cNvSpPr txBox="1"/>
          <p:nvPr/>
        </p:nvSpPr>
        <p:spPr>
          <ns1:xfrm>
            <ns1:off x="1874520" y="4645152"/>
            <ns1:ext cx="8458200" cy="411480"/>
          </ns1:xfrm>
          <ns1:prstGeom prst="rect">
            <ns1:avLst/>
          </ns1:prstGeom>
          <ns1:noFill/>
          <ns1:ln>
            <ns1:noFill/>
          </ns1:ln>
        </p:spPr>
        <p:txBody>
          <ns1:bodyPr anchor="ctr" wrap="square" lIns="0" rIns="0" tIns="0" bIns="0"/>
          <ns1:lstStyle/>
          <ns1:p>
            <ns1:pPr algn="ctr">
              <ns1:buNone/>
            </ns1:pPr>
            <ns1:r>
              <ns1:rPr lang="zh-TW" altLang="en-US" sz="2400" i="1" b="1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radio state × 停留 → endpoint energy</ns1:t>
            </ns1:r>
            <ns1:endParaRPr lang="zh-TW" altLang="en-US" sz="2400" i="0" b="0">
              <ns1:solidFill>
                <ns1:srgbClr val="35377F"/>
              </ns1:solidFill>
              <ns1:latin typeface="Times New Roman"/>
              <ns1:ea typeface="標楷體"/>
              <ns1:cs typeface="Times New Roman"/>
            </ns1:endParaRPr>
          </ns1:p>
        </p:txBody>
      </p:sp>
      <p:sp>
        <p:nvSpPr>
          <p:cNvPr id="7" name="Equation readout two"/>
          <p:cNvSpPr txBox="1"/>
          <p:nvPr/>
        </p:nvSpPr>
        <p:spPr>
          <ns1:xfrm>
            <ns1:off x="1572768" y="5138928"/>
            <ns1:ext cx="9052560" cy="411480"/>
          </ns1:xfrm>
          <ns1:prstGeom prst="rect">
            <ns1:avLst/>
          </ns1:prstGeom>
          <ns1:noFill/>
          <ns1:ln>
            <ns1:noFill/>
          </ns1:ln>
        </p:spPr>
        <p:txBody>
          <ns1:bodyPr anchor="ctr" wrap="square" lIns="0" rIns="0" tIns="0" bIns="0"/>
          <ns1:lstStyle/>
          <ns1:p>
            <ns1:pPr algn="ctr">
              <ns1:buNone/>
            </ns1:pPr>
            <ns1:r>
              <ns1:rPr lang="zh-TW" altLang="en-US" sz="2000" i="0" b="1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送達資料量 ÷ 相同能量邊界 → 可比較的效率</ns1:t>
            </ns1:r>
            <ns1:endParaRPr lang="zh-TW" altLang="en-US" sz="2000" i="0" b="0">
              <ns1:solidFill>
                <ns1:srgbClr val="35377F"/>
              </ns1:solidFill>
              <ns1:latin typeface="Times New Roman"/>
              <ns1:ea typeface="標楷體"/>
              <ns1:cs typeface="Times New Roman"/>
            </ns1:endParaRPr>
          </ns1:p>
        </p:txBody>
      </p:sp>
      <p:pic>
        <p:nvPicPr>
          <p:cNvPr id="5" name="Native Office Math fallback SVG" title="Office Math fallback" descr="E_{\mathrm{endpoint}} = \sum_{s \in S} P_s t_s&#10;\eta_E = \frac{D_{\mathrm{delivered}}}{E_{\mathrm{endpoint}}}"/>
          <p:cNvPicPr preferRelativeResize="0"/>
          <p:nvPr/>
        </p:nvPicPr>
        <p:blipFill>
          <ns1:blip ns2:embed="rId4"/>
          <ns1:stretch>
            <ns1:fillRect/>
          </ns1:stretch>
        </p:blipFill>
        <p:spPr>
          <ns1:xfrm>
            <ns1:off x="1874520" y="1828800"/>
            <ns1:ext cx="8458200" cy="2331720"/>
          </ns1:xfrm>
          <ns1:prstGeom prst="rect">
            <ns1:avLst/>
          </ns1:prstGeom>
        </p:spPr>
      </p:pic>
    </p:spTree>
  </p:cSld>
  <p:clrMapOvr>
    <ns1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40080" y="164592"/>
            <a:ext cx="10881360" cy="566928"/>
          </a:xfrm>
        </p:spPr>
        <p:txBody>
          <a:bodyPr anchor="ctr" wrap="square" lIns="0" rIns="0" tIns="0" bIns="0"/>
          <a:lstStyle>
            <a:lvl1pPr algn="l">
              <a:defRPr sz="2800" b="1" i="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 altLang="en-US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一筆 result，先看證據鏈</a:t>
            </a:r>
            <a:endParaRPr lang="zh-TW" i="0" sz="2800" altLang="en-US" b="1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3" name="Evidence chain spine"/>
          <p:cNvCxnSpPr/>
          <p:nvPr/>
        </p:nvCxnSpPr>
        <p:spPr>
          <a:xfrm>
            <a:off x="1207008" y="1865376"/>
            <a:ext cx="0" cy="3063240"/>
          </a:xfrm>
          <a:prstGeom prst="line">
            <a:avLst/>
          </a:prstGeom>
          <a:ln w="19050" cap="flat">
            <a:solidFill>
              <a:srgbClr val="35377F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4" name="Evidence layer 1"/>
          <p:cNvSpPr/>
          <p:nvPr/>
        </p:nvSpPr>
        <p:spPr>
          <a:xfrm>
            <a:off x="1060704" y="1819656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5" name="Evidence label 1"/>
          <p:cNvSpPr txBox="1"/>
          <p:nvPr/>
        </p:nvSpPr>
        <p:spPr>
          <a:xfrm>
            <a:off x="1536192" y="1773936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lineage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Evidence layer 2"/>
          <p:cNvSpPr/>
          <p:nvPr/>
        </p:nvSpPr>
        <p:spPr>
          <a:xfrm>
            <a:off x="1060704" y="2587752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7" name="Evidence label 2"/>
          <p:cNvSpPr txBox="1"/>
          <p:nvPr/>
        </p:nvSpPr>
        <p:spPr>
          <a:xfrm>
            <a:off x="1536192" y="254203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服務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 / freshness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8" name="Evidence layer 3"/>
          <p:cNvSpPr/>
          <p:nvPr/>
        </p:nvSpPr>
        <p:spPr>
          <a:xfrm>
            <a:off x="1060704" y="3355848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9" name="Evidence label 3"/>
          <p:cNvSpPr txBox="1"/>
          <p:nvPr/>
        </p:nvSpPr>
        <p:spPr>
          <a:xfrm>
            <a:off x="1536192" y="331012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機制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 / packet / state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0" name="Evidence layer 4"/>
          <p:cNvSpPr/>
          <p:nvPr/>
        </p:nvSpPr>
        <p:spPr>
          <a:xfrm>
            <a:off x="1060704" y="4123944"/>
            <a:ext cx="283464" cy="283464"/>
          </a:xfrm>
          <a:prstGeom prst="ellipse">
            <a:avLst/>
          </a:prstGeom>
          <a:noFill/>
          <a:ln w="22860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1" name="Evidence label 4"/>
          <p:cNvSpPr txBox="1"/>
          <p:nvPr/>
        </p:nvSpPr>
        <p:spPr>
          <a:xfrm>
            <a:off x="1536192" y="4078224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l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能量</a:t>
            </a:r>
            <a:r>
              <a:rPr lang="zh-TW" altLang="en-US" sz="24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  /  </a:t>
            </a:r>
            <a:r>
              <a:rPr lang="zh-TW" altLang="en-US" sz="24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 × time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cxnSp>
        <p:nvCxnSpPr>
          <p:cNvPr id="12" name="Evidence interpretation arrow"/>
          <p:cNvCxnSpPr/>
          <p:nvPr/>
        </p:nvCxnSpPr>
        <p:spPr>
          <a:xfrm>
            <a:off x="2670048" y="5010912"/>
            <a:ext cx="1097280" cy="0"/>
          </a:xfrm>
          <a:prstGeom prst="line">
            <a:avLst/>
          </a:prstGeom>
          <a:ln w="17780" cap="flat">
            <a:solidFill>
              <a:srgbClr val="ECD882"/>
            </a:solidFill>
            <a:headEnd type="none" w="med" len="med"/>
            <a:tailEnd type="triangle" w="med" len="med"/>
          </a:ln>
        </p:spPr>
        <p:txBody>
          <a:bodyPr anchor="t" wrap="none" lIns="0" rIns="0" tIns="0" bIns="0"/>
          <a:lstStyle/>
          <a:p/>
        </p:txBody>
      </p:cxnSp>
      <p:sp>
        <p:nvSpPr>
          <p:cNvPr id="13" name="Evidence interpretation"/>
          <p:cNvSpPr txBox="1"/>
          <p:nvPr/>
        </p:nvSpPr>
        <p:spPr>
          <a:xfrm>
            <a:off x="3602736" y="4736592"/>
            <a:ext cx="1170432" cy="603504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4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判讀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000" i="0" b="0">
                <a:solidFill>
                  <a:srgbClr val="1C1C1C"/>
                </a:solidFill>
                <a:latin typeface="Times New Roman"/>
                <a:ea typeface="標楷體"/>
                <a:cs typeface="Times New Roman"/>
              </a:rPr>
              <a:t>支持、反駁、待查</a:t>
            </a:r>
            <a:endParaRPr lang="zh-TW" altLang="en-US" sz="2400" i="0" b="0">
              <a:solidFill>
                <a:srgbClr val="1C1C1C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4" name="Evidence status tag"/>
          <p:cNvSpPr/>
          <p:nvPr/>
        </p:nvSpPr>
        <p:spPr>
          <a:xfrm>
            <a:off x="8092440" y="1078992"/>
            <a:ext cx="3246120" cy="475488"/>
          </a:xfrm>
          <a:prstGeom prst="roundRect">
            <a:avLst/>
          </a:prstGeom>
          <a:noFill/>
          <a:ln w="14605" cap="flat">
            <a:solidFill>
              <a:srgbClr val="ECD882"/>
            </a:solidFill>
          </a:ln>
        </p:spPr>
        <p:txBody>
          <a:bodyPr anchor="t" wrap="none" lIns="0" rIns="0" tIns="0" bIns="0"/>
          <a:lstStyle/>
          <a:p/>
        </p:txBody>
      </p:sp>
      <p:sp>
        <p:nvSpPr>
          <p:cNvPr id="15" name="Evidence status"/>
          <p:cNvSpPr txBox="1"/>
          <p:nvPr/>
        </p:nvSpPr>
        <p:spPr>
          <a:xfrm>
            <a:off x="8211312" y="1197864"/>
            <a:ext cx="2999232" cy="201168"/>
          </a:xfrm>
          <a:prstGeom prst="rect">
            <a:avLst/>
          </a:prstGeom>
          <a:noFill/>
          <a:ln>
            <a:noFill/>
          </a:ln>
        </p:spPr>
        <p:txBody>
          <a:bodyPr anchor="ctr" wrap="square" lIns="0" rIns="0" tIns="0" bIns="0"/>
          <a:lstStyle/>
          <a:p>
            <a:pPr algn="ctr">
              <a:buNone/>
            </a:pPr>
            <a:r>
              <a:rPr lang="zh-TW" altLang="en-US" sz="2000" i="0" b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伺服器 preview：已驗證  ·  Windows native：待實機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16" name="Evidence caption"/>
          <p:cNvSpPr txBox="1"/>
          <p:nvPr/>
        </p:nvSpPr>
        <p:spPr>
          <a:xfrm>
            <a:off x="4681728" y="1216152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rIns="0" tIns="0" bIns="0"/>
          <a:lstStyle/>
          <a:p>
            <a:pPr algn="l">
              <a:buNone/>
            </a:pPr>
            <a:r>
              <a:rPr lang="zh-TW" altLang="en-US" sz="2000" i="1" b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browser evidence / endpoint replay</a:t>
            </a:r>
            <a:endParaRPr lang="zh-TW" altLang="en-US" sz="2000" i="0" b="0">
              <a:solidFill>
                <a:srgbClr val="35377F"/>
              </a:solidFill>
              <a:latin typeface="Times New Roman"/>
              <a:ea typeface="標楷體"/>
              <a:cs typeface="Times New Roman"/>
            </a:endParaRPr>
          </a:p>
        </p:txBody>
      </p:sp>
      <p:pic>
        <p:nvPicPr>
          <p:cNvPr id="17" name="Verified server preview import evidence" descr="server preview evidence; source_sha256=a515857ef52f0a76536aa725967b273bb2e33c2eeafe225e4be7cba77578268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81728" y="1627632"/>
            <a:ext cx="6629400" cy="3730752"/>
          </a:xfrm>
          <a:prstGeom prst="rect">
            <a:avLst/>
          </a:prstGeom>
          <a:ln w="15240" cap="flat">
            <a:solidFill>
              <a:srgbClr val="35377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