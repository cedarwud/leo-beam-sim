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TLE：固定來源與情境錨點。TLE（兩行軌道元素）保存 scenario 使用的來源文字與 epoch；此頁只建立來源 provenance。欄位依序解讀如下：source_id（來源識別碼）：scenario package 產生；字串、無單位；連結固定來源與後續推導。；epoch（來源時刻）：TLE 文字提供；時間戳；界定元素所對應的基準時刻。；raw bytes（原始位元組）：pinned source 保存；byte 序列；供 identity 與重建核對。判讀結論為：current source identity 尚未隨本次教材凍結，畫面狀態維持「待取得 current evidence」。遇到契約缺漏時採用以下恢復路徑：來源、epoch 或 scenario identity 缺漏時，附錄停在來源層，後續推導不成立。概念來源為 BeamShift e2 7 或 98；兩頁概念去重後只保留一個來源入口。。Donor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SGP4：平均元素至目標時間狀態。SGP4（簡化一般擾動模型）讀取 TLE／GP 與 target time，輸出 position／velocity 的模型推導狀態。欄位依序解讀如下：target time（目標時間）：scenario clock 提供；時間戳；指定模型推進時點。；position（位置向量）：SGP4 產生；km；描述 TEME reference frame 中的位置。；velocity（速度向量）：SGP4 產生；km/s；描述同一 frame 與時刻的速度。判讀結論為：輸出分類為 derived（模型推導），其證據強度由 source、model version、time 與 units lineage 決定。遇到契約缺漏時採用以下恢復路徑：model version、target time 或 units 缺漏時，狀態標記為「待取得 current evidence」。概念來源為 BeamShift e2 8 或 107；移除 donor 數值，只保留 model lineage。。Donor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TEME 至地面站方向的座標轉換。Reference frame 轉換把衛星狀態依序映射到地固與觀測者座標；每一步保留 frame 與 units。欄位依序解讀如下：TEME（真赤道平春分點座標）：SGP4 輸出 frame；位置 km、速度 km/s；保存軌道模型狀態。；ECEF（地心地固座標）：frame conversion 產生；km；把向量連結到旋轉地球。；ENU（東北天座標）：observer location 產生；km；形成 azimuth／elevation／range。判讀結論為：azimuth（方位角）與 elevation（仰角）為 degree；range（斜距）為 km，三者皆屬 observer-frame derived field。遇到契約缺漏時採用以下恢復路徑：frame 或 unit mapping 不完整時，不進入品質與 policy 比較。概念來源為 BeamShift e2 9–10、108–109；合併為一頁 source vocabulary。。Donor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幾何與品質的分層 gate。四類欄位進入不同模型分支，service opportunity 需通過 current scenario 所定義的必要 gate。欄位依序解讀如下：elevation（仰角）：geometry derivation 產生；degree；判定地平線可見性。；boresight angle（離軸角）：beam geometry 產生；degree；描述波束中心偏離。；range（斜距）：observer frame 產生；km；進入 path／timing context。；quality（品質分類）：runner observation 產生；ordinal、無物理單位；供 policy threshold 判斷。判讀結論為：visibility、geometry、quality 與 delivered service 分層保存，任何單一 gate 皆不能取代 service evidence。遇到契約缺漏時採用以下恢復路徑：欄位來源或 units 未凍結時，candidate 維持 unqualified。概念來源為 BeamShift e2 5、11、30–31、110–111；去除專業推導與 donor 門檻。。Donor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quality／dB：policy 的觀測情境。quality 是 decision-time observation；若 current contract 使用 dB，log value 需連結明確 source、unit 與 timing。欄位依序解讀如下：quality_band（品質帶）：runner observation 產生；ordinal、無 dB 單位；供 enter／hold／exit 條件讀取。；dB（分貝）：模型欄位在已定義 ratio source 時產生；dB；表達 logarithmic ratio。；threshold（門檻）：student_policy.py marked block 提供；與觀測同型別；決定 action branch。判讀結論為：quality observation 只描述 action context；service、endpoint energy 與 bit/J 由不同 result fields 提供。遇到契約缺漏時採用以下恢復路徑：units 或 observation timing 未知時，欄位標記 unavailable，返回 policy API 定義。概念來源為 BeamShift e2 13、15、22–24；保留概念，排除 donor RF 數值。。Donor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throughput、delivered bits 與 service。傳輸速率、已送達工作量與服務判定分別描述過程、輸出與 gate。欄位依序解讀如下：throughput（吞吐率）：result aggregation 產生；bit/s；描述指定 interval 的 delivered rate。；delivered_bits（已送達位元）：packet ledger 產生；bit；累積符合 delivery 定義的工作量。；service_pass（服務通過）：service evaluator 產生；Boolean、無單位；整合 delivery、deadline 與 freshness 條件。判讀結論為：energy efficiency 僅在相同 boundary、qualified window 與 service condition 下比較。遇到契約缺漏時採用以下恢復路徑：packet 或 service evidence 缺漏時，比較狀態維持 incomplete。概念來源為 BeamShift e2 14、32、37；與 core unit 頁去重。。Donor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切換時機的兩種失敗型態。Frozen policy 在兩條 held-out trace 上揭示 delayed switch 與 ping-pong 的事件特徵。欄位依序解讀如下：delayed switch（延遲切換）：transition ledger 產生；event timing；可能造成服務中斷或錯過窗口。；ping-pong（往返切換）：transition ledger 產生；event count／timing；顯示條件過度敏感。；continuity（服務連續性）：service trace 產生；Boolean／duration；連結切換與 packet outcome。判讀結論為：transition count 屬事件證據；energy verdict 仍需 scoped state duration、packet/service 與 endpoint J。遇到契約缺漏時採用以下恢復路徑：policy identity 或 trace identity 不相符時，返回 Lab B freeze record。概念來源為 BeamShift e2 12；作為 Lab B optional counterexample。。Donor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功率與能量的帳本範圍。Power 描述瞬時速率，energy 描述指定 boundary 內 power 隨 time 的累積。欄位依序解讀如下：P(t)（時間函數功率）：energy model 提供；W＝J/s；依 radio state 與 processing state 取值。；state duration（狀態停留時間）：endpoint replay 產生；s；決定每個 power bucket 的累積量。；endpoint_energy_j（端點累積能量）：runner result 產生；J；涵蓋 endpoint radio／processing course boundary。判讀結論為：RF output、PA input、static term、endpoint J 與 system J 各有獨立 source 與 scope。遇到契約缺漏時採用以下恢復路徑：未建模項維持 absent；scope 未定時停止 bit/J 判讀。概念來源為 BeamShift e2 16／17、21、25–29、112；重寫為單一 accounting page。。Donor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公平 A/B 的固定條件。Baseline 與 candidate 共享 scenario、seed、service window、units 與 predecessor，只允許一個 marked policy change。欄位依序解讀如下：scenario（情境）：scenario package 提供；structured record；固定 job、window 與 model inputs。；seed（隨機種子）：runner command 提供；integer、無物理單位；固定 deterministic branch。；predecessor（前置結果）：freeze receipt 提供；identity；維持 A/B lineage。；consequential diff（具因果影響的差異）：result/replay comparison 產生；typed events；證明修改進入 runtime path。判讀結論為：identity mismatch 或 null diff 屬 comparison gate failure，不能形成 energy result。遇到契約缺漏時採用以下恢復路徑：恢復相符 checkpoint 或 same-scenario fallback，再重建比較。概念來源為 BeamShift e2 20、36–37、70–75；深化 fair-baseline 概念。。Donor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控制至證據的因果骨架。student_policy.py 的唯一修改須沿 action、state、packet／service 與 endpoint energy 留下對應證據。欄位依序解讀如下：action（策略動作）：policy callback 產生；enum、無單位；選擇 WAIT、SLEEP 或 send family。；radio state（無線電狀態）：runner state machine 產生；enum、無單位；決定 duration 與 energy bucket。；packet outcome（封包結果）：packet ledger 產生；category／timestamp；連結 delivery、expiry 與 retry。判讀結論為：中介 state evidence 將 code change 與 result field 連成可反駁因果句。遇到契約缺漏時採用以下恢復路徑：預測保留；若中介 evidence 無差異，返回 marked block 與 policy API。概念來源為 BeamShift e2 38–39；整併為 debrief causal spine。。Donor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節能判讀需要服務、工作量與能量。同一 qualified window 內同時核對 delivered work、service／quality 與 scoped energy。欄位依序解讀如下：delivered work（已送達工作量）：packet ledger 產生；bit；提供效率 numerator。；service verdict（服務判定）：service evaluator 產生；Boolean／reason；限定比較有效性。；scoped energy（有範圍的能量）：endpoint result 產生；J；提供同 boundary denominator。判讀結論為：較低 J 且 service loss 的結果分類為 trade-off 或 failure；資料完整度不足時分類為 incomplete。遇到契約缺漏時採用以下恢復路徑：保留原始 result/replay 與 missing-field status，不補寫預期值。概念來源為 BeamShift e2 70–75；current values 全數由 course evidence 提供。。Donor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可重建的 evidence record。Evidence record 連結 source mode、identity、mechanism、observed evidence 與 limitation。欄位依序解讀如下：source mode（來源模式）：importer 產生；actual run／fallback category；界定證據來源。；run_id（執行識別碼）：runner 產生；字串、無單位；連結 result 與 endpoint replay。；scope（範圍）：schema／authority map 提供；category；限定 endpoint 或 system interpretation。判讀結論為：完整 record 允許重建修改、輸入、觀察與限制；缺少 identity 或 scope 時狀態為 INCOMPLETE。遇到契約缺漏時採用以下恢復路徑：current record 待取得；donor screenshot 與預期值不填入缺口。概念來源為 BeamShift e2 96–97；改寫為 current endpoint record。。Donor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證據來源分類。來源與 model lineage 決定 claim class；分類描述證據生成方式，不作優劣排名。欄位依序解讀如下：measured（實測）：instrument 直接取得；unit 隨物理量；支援 bounded measurement claim。；derived（模型推導）：source 加 model 產生；unit 隨輸出；需保留 model／time lineage。；assumed（課程假設）：course contract 指定；unit 隨參數；只支援 assumption-scoped explanation。；simulated（模擬輸出）：runner 產生；unit 隨 schema；本課 endpoint result 的目前分類。判讀結論為：目前 claim ceiling 為 course-packaged simulated endpoint-energy lab；current owner evidence 改變前維持此分類。遇到契約缺漏時採用以下恢復路徑：來源不明時降低 claim，欄位標示「待取得 current evidence」。概念來源為 BeamShift e2 113；保留四類 classifier。。Donor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endpoint 與 system 能量邊界。兩層 replay 可共享 scenario／clock anchor，但 field authority 與 energy semantics 分離。欄位依序解讀如下：endpoint_energy_j（端點能量）：LoRaEnergySim result 產生；J；涵蓋 endpoint radio／processing boundary。；system consumed J（系統消耗能量）：C-120 provider contract 產生；J；屬 LEO／system evidence authority。；canonical efficiency（權威系統效率）：canonical source 定義；bit/J；需要完整 system numerator／denominator。判讀結論為：相同 J unit 不形成語義等價；endpoint 欄位不寫入 system／canonical fields。遇到契約缺漏時採用以下恢復路徑：scope 不明時停止所有 bit/J comparison，返回 authority map。概念來源為 BeamShift e2 19–21、28–29、32–33；current ADR／SDD 優先。。Donor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policy 至 Leo import 的 lineage。student_policy.py 是唯一可編輯 node；deterministic run 產生 result／replay JSON，Leo 只執行 validation 與 materialization。欄位依序解讀如下：policy identity（策略識別）：runner 產生；字串、無物理單位；連結 permitted edit 與 artifact。；result.json（結果檔）：runner 產生；structured JSON；保存 summary、service 與 endpoint energy。；endpoint-replay.json（端點重播檔）：runner 產生；event JSON；保存 queue、action、state 與 packet timeline。判讀結論為：Leo 接收通過 gate 的 JSON；label 或 animation 變化需有 consequential artifact diff 才具教學證據。遇到契約缺漏時採用以下恢復路徑：version、policy identity 或 scenario mismatch 時返回 release checkpoint 或 matching fallback。概念來源為 BeamShift e2 96–97 的 lineage 概念；current package contract 重寫。。Donor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scenario 至 workbook 的契約鏈。五個物件以 identity、units、seed、policy 與 source mode 共同維持 all-or-nothing import。欄位依序解讀如下：scenario（情境定義）：package 來源；structured record、無物理單位；固定 inputs 與 cases。；receipt（凍結收據）：runner 來源；identity record、無物理單位；保存 predecessor 與 policy lineage。；replay（事件重播）：runner／provider 來源；ordered events；以事件時間呈現 state changes。；workbook（比較紀錄）：browser 寫入；JSON、無物理單位；保存 prediction 與 result lineage。判讀結論為：validation failure 時 session 與 workbook 保持原狀，契約鏈不接受局部寫入。遇到契約缺漏時採用以下恢復路徑：選擇 exact matching artifact 或 same-scenario fallback，不手動改寫 schema fields。概念來源為 Current SDD 為主；BeamShift e2 70–75 提供 evidence qualification 概念。。Donor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source、model、assumption 與 license。Pinned upstream、course wrapper、documented JSON 與 Leo application 以清楚介面分離。欄位依序解讀如下：source（來源）：upstream package／scenario 提供；code 或 data；決定原始 provenance。；model（模型）：runner implementation 提供；equations／state machine；把 input 轉為 simulated events。；assumption（假設）：course wrapper 明示；typed parameter；界定教學簡化。；license（授權）：repository metadata 提供；legal category；限制 code reuse 與 distribution。判讀結論為：Course wrapper 與 JSON seam 維持 GPL upstream 與 Leo application 的技術／授權分界。遇到契約缺漏時採用以下恢復路徑：涉及 upstream、Leo source、schema 或 scientific semantics 的修改回到 owner review。概念來源為 BeamShift e2 113–114；依 ADR-004 trust boundary 重寫。。Donor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機制遷移至其他 IoT 場域。Changing opportunity 仍會形成 send／wait／sleep／batch／urgent 的控制與 service-energy trade-off。欄位依序解讀如下：job（工作量）：application model 產生；packet／task units；定義需完成的工作。；opportunity（可服務機會）：environment trace 產生；time／quality fields；限制 action 時機。；policy（策略）：marked control 提供；enum／threshold；把 observation 映射為 action。；falsifier（反證條件）：hypothesis record 提供；Boolean criterion；指出預測失效的 evidence。判讀結論為：智慧農業、HVAC 或 edge application 需重新定義 service、deadline、traffic 與 energy boundary。遇到契約缺漏時採用以下恢復路徑：只有 label 變更而 boundary 未重定義時，transfer record 維持 incomplete。概念來源為 BeamShift e2 2、4、19；僅保留 transfer mechanism。。Donor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>
                <a:latin typeface="標楷體"/>
              </a:rPr>
              <a:t>可重開、可反駁、可追溯的交接紀錄。交接狀態由 frozen policy／result identity、workbook reopen state、evidence record 與 claim class 共同決定。欄位依序解讀如下：COMPLETE（完整）：required evidence 全部存在；status、無單位；允許依 bounded claim 交接。；INCOMPLETE（未完整）：至少一個 required gate 缺漏；status、無單位；保留缺口與 recovery target。；claim class（主張分類）：authority record 提供；category；限制可陳述的證據強度。判讀結論為：Donor material 保留為 concept／source trail；current course evidence 由本次 artifact 與 authority 提供。遇到契約缺漏時採用以下恢復路徑：缺漏 gate 返回對應頁或 same-scenario fallback，claim 維持既定 ceiling。概念來源為 BeamShift e2 96–97、113–114 與 donor disposition map。。Donor 只提供概念與敘事位置，current evidence 仍以課程 authority 與目前 artifact 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：固定來源與情境錨點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（兩行軌道元素）保存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使用的來源文字與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；此頁只建立來源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provenance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10469880" cy="2660904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93392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source_id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（來源識別碼）：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 package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產生；字串、無單位；連結固定來源與後續推導。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0704" y="2642616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2761488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（來源時刻）：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文字提供；時間戳；界定元素所對應的基準時刻。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0704" y="3410712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9848" y="3529584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raw bytes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（原始位元組）：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pinned source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保存；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byte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序列；供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與重建核對。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source identity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尚未隨本次教材凍結，畫面狀態維持「待取得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evidence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恢復｜來源、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scenario identity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缺漏時，附錄停在來源層，後續推導不成立。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：平均元素至目標時間狀態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（簡化一般擾動模型）讀取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GP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target time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，輸出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position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velocity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的模型推導狀態。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target 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03704"/>
            <a:ext cx="292607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874519"/>
            <a:ext cx="297180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position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velocity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843784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743200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target time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（目標時間）：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 clock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提供；時間戳；指定模型推進時點。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429000"/>
            <a:ext cx="137160" cy="137160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328416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position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（位置向量）：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；描述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TEME reference frame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中的位置。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3913632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velocity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（速度向量）：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km/s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；描述同一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frame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與時刻的速度。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判讀｜輸出分類為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derived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（模型推導），其證據強度由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 version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units lineage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決定。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model version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target time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缺漏時，狀態標記為「待取得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current evidence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TEME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至地面站方向的座標轉換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Reference frame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轉換把衛星狀態依序映射到地固與觀測者座標；每一步保留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frame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TEME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03704"/>
            <a:ext cx="292607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874519"/>
            <a:ext cx="297180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ECEF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ENU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843784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743200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TEME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（真赤道平春分點座標）：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輸出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frame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；位置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、速度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km/s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；保存軌道模型狀態。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429000"/>
            <a:ext cx="137160" cy="137160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328416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ECEF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（地心地固座標）：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frame conversion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；把向量連結到旋轉地球。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3913632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ENU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（東北天座標）：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observer location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；形成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azimuth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azimuth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（方位角）與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（仰角）為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degree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（斜距）為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，三者皆屬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observer-frame derived field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frame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unit mapping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不完整時，不進入品質與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比較。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幾何與品質的分層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gate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四類欄位進入不同模型分支，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opportunity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需通過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scenario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所定義的必要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Hexagon 4"/>
          <p:cNvSpPr/>
          <p:nvPr/>
        </p:nvSpPr>
        <p:spPr>
          <a:xfrm>
            <a:off x="841248" y="1810512"/>
            <a:ext cx="1078992" cy="512064"/>
          </a:xfrm>
          <a:prstGeom prst="hexagon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180136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（仰角）：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geometry derivation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degree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；判定地平線可見性。</a:t>
            </a:r>
          </a:p>
        </p:txBody>
      </p:sp>
      <p:sp>
        <p:nvSpPr>
          <p:cNvPr id="8" name="Hexagon 7"/>
          <p:cNvSpPr/>
          <p:nvPr/>
        </p:nvSpPr>
        <p:spPr>
          <a:xfrm>
            <a:off x="841248" y="2439162"/>
            <a:ext cx="1078992" cy="512064"/>
          </a:xfrm>
          <a:prstGeom prst="hexagon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9402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43001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boresight angle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（離軸角）：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beam geometry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degree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；描述波束中心偏離。</a:t>
            </a:r>
          </a:p>
        </p:txBody>
      </p:sp>
      <p:sp>
        <p:nvSpPr>
          <p:cNvPr id="11" name="Hexagon 10"/>
          <p:cNvSpPr/>
          <p:nvPr/>
        </p:nvSpPr>
        <p:spPr>
          <a:xfrm>
            <a:off x="841248" y="3067812"/>
            <a:ext cx="1078992" cy="512064"/>
          </a:xfrm>
          <a:prstGeom prst="hexagon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2267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05866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（斜距）：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observer frame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km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；進入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path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timing context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4" name="Hexagon 13"/>
          <p:cNvSpPr/>
          <p:nvPr/>
        </p:nvSpPr>
        <p:spPr>
          <a:xfrm>
            <a:off x="841248" y="3696462"/>
            <a:ext cx="1078992" cy="512064"/>
          </a:xfrm>
          <a:prstGeom prst="hexagon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5132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68731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（品質分類）：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observation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ordinal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、無物理單位；供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 threshold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判斷。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visibility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geometry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delivered service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分層保存，任何單一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皆不能取代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evidence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恢復｜欄位來源或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未凍結時，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candidate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維持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unqualified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dB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：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的觀測情境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是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decision-time observation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；若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contract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使用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dB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log value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需連結明確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timing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47088"/>
            <a:ext cx="5074920" cy="2542032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quality_band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（品質帶）：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observation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ordinal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dB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單位；供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enter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hold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exit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條件讀取。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47088"/>
            <a:ext cx="5074920" cy="2542032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029968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dB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（分貝）：模型欄位在已定義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ratio source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時產生；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dB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；表達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logarithmic ratio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054096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threshold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（門檻）：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student_policy.py marked block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提供；與觀測同型別；決定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 branch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 observation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只描述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 context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energy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bit/J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由不同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 fields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observation timing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未知時，欄位標記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unavailable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，返回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policy API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定義。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throughput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delivered bits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傳輸速率、已送達工作量與服務判定分別描述過程、輸出與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70432" y="2130552"/>
            <a:ext cx="9820656" cy="0"/>
          </a:xfrm>
          <a:prstGeom prst="line">
            <a:avLst/>
          </a:prstGeom>
          <a:ln w="2540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06424" y="2002536"/>
            <a:ext cx="256032" cy="256032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468880"/>
            <a:ext cx="3273552" cy="1938528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944368" cy="16093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throughput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（吞吐率）：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 aggregation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bit/s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；描述指定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interval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delivered rate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Oval 8"/>
          <p:cNvSpPr/>
          <p:nvPr/>
        </p:nvSpPr>
        <p:spPr>
          <a:xfrm>
            <a:off x="5838444" y="2002536"/>
            <a:ext cx="256032" cy="256032"/>
          </a:xfrm>
          <a:prstGeom prst="ellipse">
            <a:avLst/>
          </a:prstGeom>
          <a:solidFill>
            <a:srgbClr val="B0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2468880"/>
            <a:ext cx="3273552" cy="1938528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2633472"/>
            <a:ext cx="2944368" cy="16093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delivered_bits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（已送達位元）：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ledger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bit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；累積符合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定義的工作量。</a:t>
            </a:r>
          </a:p>
        </p:txBody>
      </p:sp>
      <p:sp>
        <p:nvSpPr>
          <p:cNvPr id="12" name="Oval 11"/>
          <p:cNvSpPr/>
          <p:nvPr/>
        </p:nvSpPr>
        <p:spPr>
          <a:xfrm>
            <a:off x="10570463" y="2002536"/>
            <a:ext cx="256032" cy="256032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468880"/>
            <a:ext cx="3273552" cy="1938528"/>
          </a:xfrm>
          <a:prstGeom prst="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633472"/>
            <a:ext cx="2944368" cy="16093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（服務通過）：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evaluator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Boolean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、無單位；整合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freshness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條件。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efficiency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僅在相同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boundary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qualified window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condition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下比較。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service evidence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缺漏時，比較狀態維持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切換時機的兩種失敗型態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快速深化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Frozen policy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在兩條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held-out trace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上揭示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delayed switch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ping-pong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的事件特徵。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92224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型態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67128"/>
            <a:ext cx="5074920" cy="2258568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359152"/>
            <a:ext cx="466344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delayed switch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（延遲切換）：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transition ledger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event timing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；可能造成服務中斷或錯過窗口。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291840"/>
            <a:ext cx="466344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ping-pong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（往返切換）：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transition ledger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event count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timing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；顯示條件過度敏感。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792224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型態 </a:t>
            </a:r>
            <a:r>
              <a:rPr sz="2000" b="1" i="0">
                <a:solidFill>
                  <a:srgbClr val="0F6F73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0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／判讀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167128"/>
            <a:ext cx="5074920" cy="2258568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2359152"/>
            <a:ext cx="466344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continuity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（服務連續性）：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trace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Boolean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；連結切換與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outcome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transition count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屬事件證據；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verdict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仍需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scoped state duration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packet/service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J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policy identity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trace identity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不相符時，返回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Lab B freeze record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功率與能量的帳本範圍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Power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描述瞬時速率，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描述指定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boundary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內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power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隨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的累積。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3364992" cy="2423160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9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(</a:t>
            </a:r>
            <a:r>
              <a:rPr sz="195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9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)（時間函數功率）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model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＝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J/s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；依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radio state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processing state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取值。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4568" y="1901952"/>
            <a:ext cx="3364992" cy="2423160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0F6F73"/>
                </a:solidFill>
                <a:latin typeface="Times New Roman"/>
                <a:ea typeface="Times New Roman"/>
                <a:cs typeface="Times New Roman"/>
              </a:rPr>
              <a:t>state duration</a:t>
            </a:r>
            <a:r>
              <a:rPr sz="195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（狀態停留時間）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replay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；決定每個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power bucket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的累積量。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901952"/>
            <a:ext cx="3364992" cy="2423160"/>
          </a:xfrm>
          <a:prstGeom prst="round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B07A17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  <a:r>
              <a:rPr sz="1950" b="1" i="0">
                <a:solidFill>
                  <a:srgbClr val="B07A17"/>
                </a:solidFill>
                <a:latin typeface="標楷體"/>
                <a:ea typeface="標楷體"/>
                <a:cs typeface="標楷體"/>
              </a:rPr>
              <a:t>（端點累積能量）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result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；涵蓋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radio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processing course boundary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RF output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 input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static term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J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 J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各有獨立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恢復｜未建模項維持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absent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未定時停止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bit/J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判讀。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公平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A/B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的固定條件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快速深化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Baseline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candidate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共享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window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，只允許一個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marked policy change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Hexagon 4"/>
          <p:cNvSpPr/>
          <p:nvPr/>
        </p:nvSpPr>
        <p:spPr>
          <a:xfrm>
            <a:off x="841248" y="1810512"/>
            <a:ext cx="1078992" cy="512064"/>
          </a:xfrm>
          <a:prstGeom prst="hexagon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180136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（情境）：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 package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structured record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；固定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job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window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 inputs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8" name="Hexagon 7"/>
          <p:cNvSpPr/>
          <p:nvPr/>
        </p:nvSpPr>
        <p:spPr>
          <a:xfrm>
            <a:off x="841248" y="2439162"/>
            <a:ext cx="1078992" cy="512064"/>
          </a:xfrm>
          <a:prstGeom prst="hexagon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9402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43001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（隨機種子）：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command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integer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、無物理單位；固定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deterministic branch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1" name="Hexagon 10"/>
          <p:cNvSpPr/>
          <p:nvPr/>
        </p:nvSpPr>
        <p:spPr>
          <a:xfrm>
            <a:off x="841248" y="3067812"/>
            <a:ext cx="1078992" cy="512064"/>
          </a:xfrm>
          <a:prstGeom prst="hexagon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2267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05866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（前置結果）：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freeze receipt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；維持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A/B lineage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4" name="Hexagon 13"/>
          <p:cNvSpPr/>
          <p:nvPr/>
        </p:nvSpPr>
        <p:spPr>
          <a:xfrm>
            <a:off x="841248" y="3696462"/>
            <a:ext cx="1078992" cy="512064"/>
          </a:xfrm>
          <a:prstGeom prst="hexagon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51326"/>
            <a:ext cx="960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687318"/>
            <a:ext cx="9235440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consequential diff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（具因果影響的差異）：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result/replay comparison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typed events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；證明修改進入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runtime path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 mismatch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null diff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屬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comparison gate failure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，不能形成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result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恢復｜恢復相符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checkpoint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same-scenario fallback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，再重建比較。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控制至證據的因果骨架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快速深化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的唯一修改須沿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energy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留下對應證據。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03704"/>
            <a:ext cx="292607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874519"/>
            <a:ext cx="297180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radio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packet outcome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843784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743200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（策略動作）：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 callback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enum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、無單位；選擇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send family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429000"/>
            <a:ext cx="137160" cy="137160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328416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radio state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（無線電狀態）：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state machine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enum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、無單位；決定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bucket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3913632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outcome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（封包結果）：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ledger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category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timestamp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；連結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expiry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retry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判讀｜中介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state evidence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code change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 field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連成可反駁因果句。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恢復｜預測保留；若中介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無差異，返回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marked block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policy API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節能判讀需要服務、工作量與能量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同一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qualified window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內同時核對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delivered work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scoped energy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3364992" cy="2423160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delivered work</a:t>
            </a:r>
            <a:r>
              <a:rPr sz="19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（已送達工作量）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ledger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bit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；提供效率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numerator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4568" y="1901952"/>
            <a:ext cx="3364992" cy="2423160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0F6F73"/>
                </a:solidFill>
                <a:latin typeface="Times New Roman"/>
                <a:ea typeface="Times New Roman"/>
                <a:cs typeface="Times New Roman"/>
              </a:rPr>
              <a:t>service verdict</a:t>
            </a:r>
            <a:r>
              <a:rPr sz="195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（服務判定）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573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evaluator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Boolean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reason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；限定比較有效性。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901952"/>
            <a:ext cx="3364992" cy="2423160"/>
          </a:xfrm>
          <a:prstGeom prst="round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75688"/>
            <a:ext cx="30358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B07A17"/>
                </a:solidFill>
                <a:latin typeface="Times New Roman"/>
                <a:ea typeface="Times New Roman"/>
                <a:cs typeface="Times New Roman"/>
              </a:rPr>
              <a:t>scoped energy</a:t>
            </a:r>
            <a:r>
              <a:rPr sz="1950" b="1" i="0">
                <a:solidFill>
                  <a:srgbClr val="B07A17"/>
                </a:solidFill>
                <a:latin typeface="標楷體"/>
                <a:ea typeface="標楷體"/>
                <a:cs typeface="標楷體"/>
              </a:rPr>
              <a:t>（有範圍的能量）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752344"/>
            <a:ext cx="2962656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result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；提供同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boundary denominator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判讀｜較低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且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 loss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的結果分類為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trade-off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failure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；資料完整度不足時分類為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恢復｜保留原始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result/replay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missing-field status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，不補寫預期值。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可重建的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evidence record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Evidence record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連結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 mode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mechanism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observed evidence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limitation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10469880" cy="2660904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93392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 mode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（來源模式）：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importer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actual run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fallback category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；界定證據來源。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0704" y="2642616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2761488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run_id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（執行識別碼）：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產生；字串、無單位；連結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replay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0704" y="3410712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9848" y="3529584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（範圍）：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schema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authority map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category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；限定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 interpretation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判讀｜完整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record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允許重建修改、輸入、觀察與限制；缺少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時狀態為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current record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待取得；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donor screenshot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與預期值不填入缺口。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證據來源分類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來源與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 lineage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決定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claim class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；分類描述證據生成方式，不作優劣排名。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5084064" cy="1124712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38528"/>
            <a:ext cx="4718304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measured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（實測）：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instrument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直接取得；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隨物理量；支援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bounded measurement claim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1344" y="1828800"/>
            <a:ext cx="5084064" cy="1124712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1938528"/>
            <a:ext cx="4718304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derived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（模型推導）：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加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隨輸出；需保留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time lineage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154680"/>
            <a:ext cx="5084064" cy="1124712"/>
          </a:xfrm>
          <a:prstGeom prst="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264408"/>
            <a:ext cx="4718304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assumed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（課程假設）：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course contract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指定；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隨參數；只支援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assumption-scoped explanation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3154680"/>
            <a:ext cx="5084064" cy="1124712"/>
          </a:xfrm>
          <a:prstGeom prst="rect">
            <a:avLst/>
          </a:prstGeom>
          <a:noFill/>
          <a:ln w="19050">
            <a:solidFill>
              <a:srgbClr val="8F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264408"/>
            <a:ext cx="4718304" cy="8961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simulated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（模擬輸出）：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隨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schema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；本課 </a:t>
            </a:r>
            <a:r>
              <a:rPr sz="18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result</a:t>
            </a:r>
            <a:r>
              <a:rPr sz="18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的目前分類。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判讀｜目前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claim ceiling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course-packaged simulated endpoint-energy lab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owner evidence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改變前維持此分類。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恢復｜來源不明時降低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claim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，欄位標示「待取得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current evidence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能量邊界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兩層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可共享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clock anchor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，但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field authority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semantics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分離。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47088"/>
            <a:ext cx="5074920" cy="2542032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（端點能量）：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LoRaEnergySim result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；涵蓋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radio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processing boundary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47088"/>
            <a:ext cx="5074920" cy="2542032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029968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 consumed J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（系統消耗能量）：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C-120 provider contract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；屬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 evidence authority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054096"/>
            <a:ext cx="4672584" cy="8503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canonical efficiency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（權威系統效率）：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canonical source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定義；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bit/J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；需要完整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 numerator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denominator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判讀｜相同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 unit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不形成語義等價；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欄位不寫入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canonical fields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不明時停止所有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bit/J comparison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，返回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authority map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至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Leo import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lineage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是唯一可編輯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node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deterministic run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replay JSON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，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只執行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validation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materialization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policy identity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03704"/>
            <a:ext cx="292607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874519"/>
            <a:ext cx="297180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74519"/>
            <a:ext cx="297180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920240"/>
            <a:ext cx="28254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endpoint-replay.json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2843784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743200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 identity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（策略識別）：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產生；字串、無物理單位；連結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permitted edit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artifact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429000"/>
            <a:ext cx="137160" cy="137160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328416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（結果檔）：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structured JSON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；保存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summary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 energy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3913632"/>
            <a:ext cx="10469880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endpoint-replay.json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（端點重播檔）：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event JSON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；保存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queue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9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 timeline</a:t>
            </a:r>
            <a:r>
              <a:rPr sz="19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接收通過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label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animation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變化需有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consequential artifact diff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才具教學證據。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version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policy identity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scenario mismatch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時返回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release checkpoint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matching fallback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至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的契約鏈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五個物件以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 mode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共同維持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all-or-nothing import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14884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200253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scenario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874519"/>
            <a:ext cx="214884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920240"/>
            <a:ext cx="200253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receipt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0" y="1874519"/>
            <a:ext cx="2148840" cy="658368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1920240"/>
            <a:ext cx="200253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replay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2203704"/>
            <a:ext cx="292608" cy="0"/>
          </a:xfrm>
          <a:prstGeom prst="line">
            <a:avLst/>
          </a:prstGeom>
          <a:ln w="19050">
            <a:solidFill>
              <a:srgbClr val="B07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1874519"/>
            <a:ext cx="2148840" cy="658368"/>
          </a:xfrm>
          <a:prstGeom prst="round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200253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workbook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2743200"/>
            <a:ext cx="118872" cy="118872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624328"/>
            <a:ext cx="1042416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（情境定義）：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package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來源；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structured record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、無物理單位；固定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inputs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cases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3246120"/>
            <a:ext cx="118872" cy="118872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127248"/>
            <a:ext cx="1042416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receipt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（凍結收據）：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來源；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identity record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、無物理單位；保存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 lineage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3749040"/>
            <a:ext cx="118872" cy="118872"/>
          </a:xfrm>
          <a:prstGeom prst="ellipse">
            <a:avLst/>
          </a:prstGeom>
          <a:solidFill>
            <a:srgbClr val="0F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630168"/>
            <a:ext cx="1042416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（事件重播）：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provider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來源；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ordered events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；以事件時間呈現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state changes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251960"/>
            <a:ext cx="118872" cy="118872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33088"/>
            <a:ext cx="1042416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（比較紀錄）：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browser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寫入；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、無物理單位；保存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prediction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 lineage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validation failure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時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session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保持原狀，契約鏈不接受局部寫入。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恢復｜選擇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exact matching artifact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same-scenario fallback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，不手動改寫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schema fields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assumption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license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技術附錄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Pinned upstream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course wrapper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documented JSON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 application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以清楚介面分離。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901952"/>
            <a:ext cx="2331720" cy="2606040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2039112" cy="2194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（來源）：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upstream package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code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；決定原始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provenance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9815" y="3182112"/>
            <a:ext cx="374905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47872" y="1901952"/>
            <a:ext cx="2331720" cy="2606040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84831"/>
            <a:ext cx="2039112" cy="2194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（模型）：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runner implementation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equations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state machine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；把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input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轉為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simulated events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79" y="3182112"/>
            <a:ext cx="374904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1901952"/>
            <a:ext cx="2331720" cy="2606040"/>
          </a:xfrm>
          <a:prstGeom prst="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84831"/>
            <a:ext cx="2039112" cy="2194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assumption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（假設）：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course wrapper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明示；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typed parameter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；界定教學簡化。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95944" y="3182112"/>
            <a:ext cx="374904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0" y="1901952"/>
            <a:ext cx="2331720" cy="2606040"/>
          </a:xfrm>
          <a:prstGeom prst="rect">
            <a:avLst/>
          </a:prstGeom>
          <a:noFill/>
          <a:ln w="19050">
            <a:solidFill>
              <a:srgbClr val="8F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0304" y="2084831"/>
            <a:ext cx="2039112" cy="2194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license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（授權）：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repository metadata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legal category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；限制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code reuse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80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distribution</a:t>
            </a:r>
            <a:r>
              <a:rPr sz="180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Course wrapper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JSON seam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維持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GPL upstream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 application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的技術／授權分界。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恢復｜涉及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upstream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Leo source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schema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scientific semantics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的修改回到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owner review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機制遷移至其他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IoT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場域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快速深化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Changing opportunity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仍會形成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send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urgent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的控制與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service-energy trade-off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2286000" cy="640080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210312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LEO window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54096" y="2148840"/>
            <a:ext cx="420624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47872" y="1828800"/>
            <a:ext cx="2286000" cy="640080"/>
          </a:xfrm>
          <a:prstGeom prst="round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92807"/>
            <a:ext cx="210312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智慧農業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148840"/>
            <a:ext cx="420624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45936" y="1828800"/>
            <a:ext cx="2286000" cy="640080"/>
          </a:xfrm>
          <a:prstGeom prst="round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92807"/>
            <a:ext cx="210312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HVAC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224" y="2148840"/>
            <a:ext cx="420624" cy="0"/>
          </a:xfrm>
          <a:prstGeom prst="line">
            <a:avLst/>
          </a:prstGeom>
          <a:ln w="19050">
            <a:solidFill>
              <a:srgbClr val="525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1828800"/>
            <a:ext cx="2286000" cy="640080"/>
          </a:xfrm>
          <a:prstGeom prst="roundRect">
            <a:avLst/>
          </a:prstGeom>
          <a:noFill/>
          <a:ln w="19050">
            <a:solidFill>
              <a:srgbClr val="B07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92807"/>
            <a:ext cx="210312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670048"/>
            <a:ext cx="5065776" cy="768096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2752344"/>
            <a:ext cx="47548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job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（工作量）：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application model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task units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；定義需完成的工作。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670048"/>
            <a:ext cx="5065776" cy="768096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752344"/>
            <a:ext cx="47548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opportunity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（可服務機會）：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environment trace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產生；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time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quality fields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；限制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時機。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584448"/>
            <a:ext cx="5065776" cy="768096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3666744"/>
            <a:ext cx="47548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（策略）：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marked control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enum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threshold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；把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映射為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3584448"/>
            <a:ext cx="5065776" cy="768096"/>
          </a:xfrm>
          <a:prstGeom prst="rect">
            <a:avLst/>
          </a:prstGeom>
          <a:noFill/>
          <a:ln w="19050">
            <a:solidFill>
              <a:srgbClr val="0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666744"/>
            <a:ext cx="47548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falsifier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（反證條件）：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hypothesis record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Boolean criterion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；指出預測失效的 </a:t>
            </a:r>
            <a:r>
              <a:rPr sz="16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r>
              <a:rPr sz="16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判讀｜智慧農業、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HVAC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edge application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需重新定義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traffic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energy boundary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恢復｜只有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label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變更而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boundary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未重定義時，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transfer record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維持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39" y="187452"/>
            <a:ext cx="9462211" cy="480060"/>
          </a:xfrm>
        </p:spPr>
        <p:txBody>
          <a:bodyPr wrap="none" lIns="0" rIns="0" tIns="0" bIns="0"/>
          <a:lstStyle/>
          <a:p>
            <a:pPr algn="l"/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可重開、可反駁、可追溯的交接紀錄</a:t>
            </a:r>
          </a:p>
        </p:txBody>
      </p:sp>
      <p:sp>
        <p:nvSpPr>
          <p:cNvPr id="3" name="Route label"/>
          <p:cNvSpPr txBox="1"/>
          <p:nvPr/>
        </p:nvSpPr>
        <p:spPr>
          <a:xfrm>
            <a:off x="658368" y="749808"/>
            <a:ext cx="14173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6F73"/>
                </a:solidFill>
                <a:latin typeface="標楷體"/>
                <a:ea typeface="標楷體"/>
                <a:cs typeface="標楷體"/>
              </a:rPr>
              <a:t>交接紀錄</a:t>
            </a:r>
          </a:p>
        </p:txBody>
      </p:sp>
      <p:sp>
        <p:nvSpPr>
          <p:cNvPr id="4" name="Teaching anchor"/>
          <p:cNvSpPr txBox="1"/>
          <p:nvPr/>
        </p:nvSpPr>
        <p:spPr>
          <a:xfrm>
            <a:off x="694944" y="1024128"/>
            <a:ext cx="1092708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交接狀態由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frozen policy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result identity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workbook reopen state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evidence record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1" i="0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claim class</a:t>
            </a:r>
            <a:r>
              <a:rPr sz="2200" b="1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共同決定。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10469880" cy="2660904"/>
          </a:xfrm>
          <a:prstGeom prst="rect">
            <a:avLst/>
          </a:prstGeom>
          <a:noFill/>
          <a:ln w="1905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93392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COMPLETE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（完整）：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required evidence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全部存在；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status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、無單位；允許依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bounded claim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交接。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0704" y="2642616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69848" y="2761488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（未完整）：至少一個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required gate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缺漏；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status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、無單位；保留缺口與 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recovery target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0704" y="3410712"/>
            <a:ext cx="9985248" cy="0"/>
          </a:xfrm>
          <a:prstGeom prst="line">
            <a:avLst/>
          </a:prstGeom>
          <a:ln w="12700">
            <a:solidFill>
              <a:srgbClr val="EB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9848" y="3529584"/>
            <a:ext cx="10012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claim class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（主張分類）：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authority record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提供；</a:t>
            </a:r>
            <a:r>
              <a:rPr sz="19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category</a:t>
            </a:r>
            <a:r>
              <a:rPr sz="19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；限制可陳述的證據強度。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4690872"/>
            <a:ext cx="10479024" cy="0"/>
          </a:xfrm>
          <a:prstGeom prst="line">
            <a:avLst/>
          </a:prstGeom>
          <a:ln w="20320">
            <a:solidFill>
              <a:srgbClr val="0F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4736592"/>
            <a:ext cx="10479024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判讀｜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Donor material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保留為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concept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source trail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current course evidence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由本次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artifact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1">
                <a:solidFill>
                  <a:srgbClr val="1C1F24"/>
                </a:solidFill>
                <a:latin typeface="Times New Roman"/>
                <a:ea typeface="Times New Roman"/>
                <a:cs typeface="Times New Roman"/>
              </a:rPr>
              <a:t>authority</a:t>
            </a:r>
            <a:r>
              <a:rPr sz="1750" b="0" i="0">
                <a:solidFill>
                  <a:srgbClr val="1C1F24"/>
                </a:solidFill>
                <a:latin typeface="標楷體"/>
                <a:ea typeface="標楷體"/>
                <a:cs typeface="標楷體"/>
              </a:rPr>
              <a:t> 提供。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413248"/>
            <a:ext cx="1047902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恢復｜缺漏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返回對應頁或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same-scenario fallback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，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claim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 維持既定 </a:t>
            </a:r>
            <a:r>
              <a:rPr sz="1650" b="0" i="1">
                <a:solidFill>
                  <a:srgbClr val="525860"/>
                </a:solidFill>
                <a:latin typeface="Times New Roman"/>
                <a:ea typeface="Times New Roman"/>
                <a:cs typeface="Times New Roman"/>
              </a:rPr>
              <a:t>ceiling</a:t>
            </a:r>
            <a:r>
              <a:rPr sz="1650" b="0" i="0">
                <a:solidFill>
                  <a:srgbClr val="525860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 ALT 技術附錄</dc:title>
  <dc:creator>OpenAI Codex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P098-P116 donor-tail review</dc:subject>
</cp:coreProperties>
</file>