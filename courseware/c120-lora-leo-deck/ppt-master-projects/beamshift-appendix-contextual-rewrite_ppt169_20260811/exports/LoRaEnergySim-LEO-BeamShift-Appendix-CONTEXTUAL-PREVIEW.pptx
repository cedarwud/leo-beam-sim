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本頁目的：把附錄問題路由到可核對的頁面，不新增實驗流程。
畫面指向：四列問題路由、每列右側頁碼，以及最下方返回主流程的箭頭。
可直接說：這份附錄不是另一套衛星課程，而是主流程的查閱索引。情境來源不清楚時，進入來源與服務視窗；程式修改與結果無法連結時，進入策略與證據鏈；網站欄位不清楚時，進入匯入與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；完成查閱後，依最後一頁返回原本的實驗或操作。
必要操作：依問題類型找到頁碼，再帶著該頁的欄位或命令返回原操作頁。
預期畫面或結果：頁碼與問題不一致時保留疑問，回到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P098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的索引，不把附錄當成新的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失敗處理：沿著四列問題路由閱讀；本頁不變更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P099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｜從服務視窗到端點結果的完整鏈；把本頁的欄位邊界或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本頁目的：建立來源到端點結果的可追溯因果鏈。
畫面指向：上方固定來源、服務視窗、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action/state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節點與下方兩個結果卡。
可直接說：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在本課程中只是一個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changing-service-window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範例。固定來源與時間形成服務視窗，視窗內的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交給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產生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再把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轉為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。後面的技術頁都在補充這條鏈上的一個節點，不會改變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LoRaEnergySim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是主體的課程定位。
必要操作：沿箭頭判讀來源如何形成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，再由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產生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action/state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，最後分流到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預期畫面或結果：節點缺失或來源與結果混用時，返回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source/window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頁，維持欄位邊界。
失敗處理：沿畫面箭頭閱讀；此頁維持模型解釋，不寫入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、證據或進度備份。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P100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｜情境資料從哪裡開始；把本頁的欄位邊界或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本頁目的：界定未凍結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boundary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claim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ceiling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畫面指向：左側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1/2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尚未凍結，以及右側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source_id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epoch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、兩行原始文字欄位。
可直接說：情境追查從固定來源開始。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source_id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指向本次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使用的來源紀錄，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epoch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表示軌道元素的基準時刻，原始兩行文字保留模型輸入。此頁只建立來源與情境的連結；目前來源畫面尚未凍結，因此使用明示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，待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凍結後更新來源字串。
必要操作：此頁明示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尚未凍結；只核對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labels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source_id/epoch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欄位，不填入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、不捏造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screenshot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或即時位置。
預期畫面或結果：任何來源字串或畫面被當成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時，恢復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，停止超出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claim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ceiling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的解讀。
失敗處理：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必須仍可見；本頁只界定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claim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ceiling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，不產生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location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｜固定來源如何形成服務視窗；把本頁的欄位邊界或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本頁目的：說明固定來源如何透過時間與座標推導形成服務視窗。
畫面指向：固定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TLE/GP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、目標時間、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SGP4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狀態、地面座標、服務視窗五個節點，以及下方模型推導卡。
可直接說：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提供固定來源，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clock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提供目標時間，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SGP4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產生該時刻的模型狀態。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ECEF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再到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ENU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的轉換，把模型狀態連結到指定地面位置。最後得到的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elevation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azimuth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range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用於描述服務機會；這些欄位仍是模型推導，不是封包送達或服務通過。
必要操作：先區分模型輸入與推導欄位，再把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elevation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azimuth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range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帶入策略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預期畫面或結果：來源、時鐘、座標系或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不一致時，停止服務視窗解讀並返回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失敗處理：沿五個節點核對順序；本頁不宣稱封包送達或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｜可見、品質合格與完成服務是三個層次；把本頁的欄位邊界或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本頁目的：把幾何可見、品質情境、完成服務分成三個不能互換的判讀層。
畫面指向：三層橫向卡片與底部的「仰角通過 ≠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合格 ≠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完成」邊界句。
可直接說：第一層處理幾何可見性，例如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elevation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range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。第二層處理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，表示策略在決策時取得的品質情境。第三層處理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。三層分開保存，避免以單一角度或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欄位替代實際服務結果。
必要操作：先看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geometry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，最後看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預期畫面或結果：若只取得角度或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欄位，保留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，不補寫服務完成。
失敗處理：依三層由上而下核對欄位；本頁不修改模型或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generated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P103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欄位如何影響策略分支；把本頁的欄位邊界或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本頁目的：說明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、門檻與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hold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條件如何形成策略分支。
畫面指向：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節點、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ENTER/EXIT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+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門檻、進入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維持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退出三個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卡。
可直接說：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是決策當下的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，不是送達位元或能量結果。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決定何時進入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send-ready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決定何時退出，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抑制短時間擺動。修改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後，檢查順序為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本身不直接代表節能。
必要操作：把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當成決策當下的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；再沿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判讀。
預期畫面或結果：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future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混淆時，返回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API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邊界，只保留允許的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失敗處理：沿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threshold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的箭頭閱讀；欄位保持唯讀。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｜速率、送達量與服務判定各自代表什麼；把本頁的欄位邊界或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本頁目的：區分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throughput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的單位和判定責任。
畫面指向：時間線上的三個節點與各自的單位、工作量或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Boolean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判定說明。
可直接說：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throughput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描述指定區間的傳輸速率，單位是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bit/s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累積符合送達定義的資料量，單位是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另外檢查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或其他服務條件。網站同時呈現這三類欄位，是為了避免把高傳輸速率直接解讀成工作已完成。
必要操作：先讀速率，再讀完成量，最後讀期限或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條件；高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throughput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不直接推出服務完成。
預期畫面或結果：欄位缺少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時，保留欄位不足，不以單一速率代替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失敗處理：按時間線左到右核對欄位；本頁只做結果閱讀，不改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artifacts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P105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｜狀態停留時間如何累積為端點能量；把本頁的欄位邊界或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的分子邊界、狀態功率與停留時間來源。
畫面指向：公式保留區、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P_s/t_s/E_endpoint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三個變數卡，以及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+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processing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邊界句。
可直接說：公式的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LaTeX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E_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{\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mathrm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{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}} = \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sum_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{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\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}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P_s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t_s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P_s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是狀態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的功率，單位為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t_s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是該狀態的停留時間，單位為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；乘積與加總得到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，單位為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。這個邊界涵蓋課程模型中的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processing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，不代表衛星、閘道或整體系統消耗。
必要操作：逐一核對功率單位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、時間單位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、加總結果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，再確認範圍沒有混入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satellite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gateway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numerator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denominator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scope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不一致時，保持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，不以相同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標籤拼接比較。
失敗處理：沿公式區到三個變數卡閱讀；本頁不產生新的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P106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｜低能量結果的四種判定；把本頁的欄位邊界或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本頁目的：以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維持與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變化共同判定結果類型。
畫面指向：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軸、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軸與四個結果格。
可直接說：比較順序為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變化。服務維持且能量降低，形成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bounded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saving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；服務維持但能量上升，表示成本增加；服務下降但能量降低，屬於服務換能量的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trade-off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；兩者都變差則是失敗結果。欄位不足時維持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，不補寫預期值。
必要操作：先讀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是否維持，再讀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下降、增加或不變，最後選擇對應結果格。
預期畫面或結果：欄位不足時標記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；較低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但服務下降只能判為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trade-off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失敗處理：沿矩陣先行後列閱讀；本頁不捏造缺少的結果值。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P107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比較固定哪些條件；把本頁的欄位邊界或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本頁目的：把公平比較的固定條件與唯一編輯面連成可執行索引。
畫面指向：上方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window/units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predecessor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四個固定條件卡；下方精確修改索引卡。
可直接說：公平比較的目的，是把差異限制在一個策略修改。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固定輸入與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deterministic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branch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固定比較邊界，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predecessor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lineage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不一致或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沒有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consequential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，該次比較不形成有效結果。
必要操作：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；策略檔的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package-relative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。索引列出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；先對照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限在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active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block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預期畫面或結果：預期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baseline/candidate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共用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predecessor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，且只出現一個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block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mismatch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null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保持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comparison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failure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失敗處理：若固定條件或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不一致，保留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與比較失敗訊息，返回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，不拼接另一份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P108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｜程式修改後應出現哪些中介證據；把本頁的欄位邊界或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本頁目的：把精確程式變更、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consumer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與中介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串成可反駁的因果鏈。
畫面指向：上方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code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packet/service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spine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；下方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exact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edit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index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consumer/mechanism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卡。
可直接說：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block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是唯一程式修改位置。差異沿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與停留時間傳遞；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ledger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evaluator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記錄工作結果，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ledger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記錄能量。若程式檔不同但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完全相同，表示修改沒有進入目前觀察的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runtime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必要操作：精確索引是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consumer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先讀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choose_action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(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)，再讀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內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lora_energy_lab/engine.py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預期畫面或結果：預期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先改變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，再能在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packet/service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看到中介或結果差異；只有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而沒有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runtime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差異時，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claim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維持未完成。
失敗處理：若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action/state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無差異，保留程式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result/replay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，返回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API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consumer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runtime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，不用畫面效果補足證據。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P109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延伸：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的狀態帳本；把本頁的欄位邊界或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本頁目的：說明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的狀態停留、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、封包與服務差異。
畫面指向：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兩張狀態卡，以及底部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WAIT/SLEEP/WAKE/TX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的檢查列。
可直接說：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通常保留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狀態，後續送出延遲較短，但等待期間持續消耗對應功率。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降低休息狀態功率，重新送出前會增加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。比較時查看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，以及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；結論由同一份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提供。
必要操作：把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差異連到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，再按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判讀。
預期畫面或結果：只有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名稱而沒有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result/replay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配對時，保留因果鏈未完成。
失敗處理：依底部檢查列逐欄閱讀；本頁不改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ledger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P110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延伸：切換太慢與過度往返；把本頁的欄位邊界或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本頁目的：區分快速反應不足與門檻過敏造成的往返兩種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failure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mechanism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畫面指向：切換太慢與過度往返兩張卡，以及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timing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句。
可直接說：切換太慢時，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已下降但策略仍維持原狀態，可能錯過服務機會。條件過度敏感時，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再回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的往返事件增加，形成額外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與狀態切換成本。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的重點不是追求最少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，而是檢查門檻與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如何共同影響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continuity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必要操作：先看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變化與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，再分辨錯過服務視窗或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往返，最後看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continuity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預期畫面或結果：只有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次數而沒有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context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時，保留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mechanism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未判定。
失敗處理：依兩種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failure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mechanism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分開閱讀；本頁不把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越少當成唯一目標。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延伸：批次與緊急資料；把本頁的欄位邊界或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本頁目的：說明批次、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如何改變喚醒、傳送與服務結果。
畫面指向：事件時間線與累積、批次送出、緊急送出三張結果卡。
可直接說：一般資料可累積到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batch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條件後再送出，減少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次數。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或接近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的資料需要提前送出，避免服務失敗。比較時同時查看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depth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batch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；批次較大不自動代表較佳。
必要操作：把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depth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batch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threshold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串成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判定。
預期畫面或結果：批次較大但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下降時，保留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trade-off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，不直接判定節能。
失敗處理：沿事件時間線閱讀，再核對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；本頁不修改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匯入流程與目前證據邊界；把本頁的欄位邊界或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本頁目的：把瀏覽器匯入邊界與本機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配對證據分開。
畫面指向：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選取卡、同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目錄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卡、契約預期流程與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live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空狀態。
可直接說：操作入口是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stdout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顯示的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。於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檔案選擇器選取該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；不選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，也不在匯入控制中另外選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。匯入契約要求檢查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version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contract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後預期更新「證據」頁的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欄位與「進度備份」的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2026-08-11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14:12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仍為尚未匯入，因此本頁不宣稱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已在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live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建立。進度備份只保存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progress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與匯入紀錄，不重算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；相同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目錄內的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保留作為配對與事件核對證據。驗證失敗時，原有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session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、證據與進度備份不變。
必要操作：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；瀏覽器入口是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http://120.126.151.102:3000/course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。檔案選擇器只匯入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stdout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所指向的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；同一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目錄的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留在本機，作為配對與事件核對證據。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不上傳、不在瀏覽器執行。
預期畫面或結果：依匯入契約，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後預期更新「證據」欄位；「進度備份」只保存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progress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A/B/C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，不重算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2026-08-11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14:12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仍為尚未匯入，故本頁不宣稱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live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已建立。
失敗處理：驗證失敗時保留原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session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、證據、進度備份與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目錄，不改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generated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stdout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檢查。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P113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｜對照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讀取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本頁目的：提供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真實畫面的欄位閱讀順序，並把截圖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留在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畫面指向：左側五個欄位閱讀列、右側四個說明卡與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P085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P099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指示。
可直接說：這是一張欄位閱讀地圖，不是網站截圖。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的真實截圖、目前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fields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ledger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controls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位於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P085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P099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。閱讀順序為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actual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matching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來源、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，以及「證據」頁保存的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；「進度備份」只保存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progress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A/B/C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，不重算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。網站畫面更新時，以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頁為準。
必要操作：先讀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與來源，再讀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service/packet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duration/endpoint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，最後讀證據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進度備份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預期畫面或結果：真實畫面或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與本頁不同時，以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為準，不把示意圖當現況。
失敗處理：沿五個欄位列閱讀；本頁不匯入檔案、不執行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記錄的目的；把本頁的欄位邊界或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本頁目的：分清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記錄的責任。
畫面指向：四段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SETUP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RUN/IMPORT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流程、兩張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卡，以及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commands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索引。
可直接說：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檢查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Python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3.11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API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schema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，並寫入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machine-readable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的「記錄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」讀取這個前置條件狀態並保存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紀錄；按鈕本身不安裝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Python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、不執行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、不執行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，也不產生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完成後，「證據」頁提供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欄位；「進度備份」只保存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progress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A/B/C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，不重算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必要操作：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PowerShell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執行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.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\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course.cmd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WSL/POSIX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執行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bash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course.sh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先寫入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artifacts/verify-receipt.json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。瀏覽器入口是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http://120.126.151.102:3000/course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，頁面只保存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，不安裝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Python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、不執行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預期畫面或結果：預期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status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，且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可分開追查；兩者都不產生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或宣稱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完成。
失敗處理：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不一致時保留錯誤狀態，返回同一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重做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不取代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P115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｜資料來源與能量範圍要同時標記；把本頁的欄位邊界或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本頁目的：同時標記資料來源分類與能量範圍，避免把不同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直接比較。
畫面指向：左側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actual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run/matching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fallback/simulated-derived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，右側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endpoint/system/canonical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兩種範圍卡。
可直接說：來源分類回答資料如何產生，範圍分類回答數值涵蓋哪一層。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LoRaEnergySim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屬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或既有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C-120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provider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system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fields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屬另一個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。兩者即使同為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，也不能直接互換；任何效率解讀都要固定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numerator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denominator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scope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必要操作：先問資料如何產生，再問數值涵蓋哪一層，最後固定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numerator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denominator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scope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預期畫面或結果：來源或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scope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缺一項時維持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system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數值放進同一項效率判定。
失敗處理：沿來源欄到範圍欄閱讀；本頁不合併不同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的結果。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P116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｜依問題返回對應操作頁；把本頁的欄位邊界或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本頁目的：把附錄查閱結果返回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的原操作頁。
畫面指向：四列問題分類、對應頁碼與右側返回目標。
可直接說：來源與服務視窗問題返回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P100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；策略欄位與程式因果問題返回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P103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P107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與三個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延伸；能量與服務判定問題返回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P106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P115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與網站問題返回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。概念釐清後回到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的原操作頁，附錄不另設新的實驗流程。
必要操作：先依疑問找到分類，再依頁碼返回安裝、策略、結果或網站欄位操作。
預期畫面或結果：找不到對應頁時返回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P098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索引，維持原主流程，不新增附錄實驗。
失敗處理：沿四列返回路由閱讀；本頁不新增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操作。
銜接下一頁：附錄在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P116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收束，依問題分類返回原本的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操作頁。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這份附錄處理哪些問題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P098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主流程出現來源、策略、結果或網站欄位疑問時，依問題進入對應頁面。
每一列列出問題類型與頁碼，不必依序閱讀整份附錄。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55648"/>
            <a:ext cx="1024128" cy="676656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755648"/>
            <a:ext cx="9235440" cy="67665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12848" y="1828800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情境來源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7952" y="1828800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、時間、服務視窗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1828800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P100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1024128" cy="676656"/>
          </a:xfrm>
          <a:prstGeom prst="rect">
            <a:avLst/>
          </a:prstGeom>
          <a:solidFill>
            <a:srgbClr val="006970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392" y="2779776"/>
            <a:ext cx="9235440" cy="67665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2852928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策略與能量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852928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2852928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P103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P111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803904"/>
            <a:ext cx="1024128" cy="676656"/>
          </a:xfrm>
          <a:prstGeom prst="rect">
            <a:avLst/>
          </a:prstGeom>
          <a:solidFill>
            <a:srgbClr val="444B56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3803904"/>
            <a:ext cx="9235440" cy="676656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12848" y="3877056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網站與證據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3877056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JSON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、欄位、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877056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P112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P115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828032"/>
            <a:ext cx="1024128" cy="676656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93392" y="4828032"/>
            <a:ext cx="9235440" cy="67665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2848" y="4901184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返回操作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4901184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回到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的原頁面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4901184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P116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從服務視窗到端點結果的完整鏈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P099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提供隨時間改變的服務機會；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LoRaEnergySim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負責端點策略、狀態、服務與能量結果。
閱讀方向為來源、視窗、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、服務與能量。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20240"/>
            <a:ext cx="1901952" cy="74980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固定來源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05456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25496" y="1920240"/>
            <a:ext cx="1901952" cy="74980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6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服務視窗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27448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47488" y="1920240"/>
            <a:ext cx="1901952" cy="74980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1920240"/>
            <a:ext cx="1901952" cy="74980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71432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91472" y="1920240"/>
            <a:ext cx="1901952" cy="74980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2912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75520" y="2670048"/>
            <a:ext cx="0" cy="54864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" y="3310128"/>
            <a:ext cx="4773168" cy="159105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456432"/>
            <a:ext cx="44074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服務結果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895344"/>
            <a:ext cx="4407407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310128"/>
            <a:ext cx="4773168" cy="159105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456432"/>
            <a:ext cx="44074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95344"/>
            <a:ext cx="4407407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processing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累積為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166360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LoRaEnergySim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產生兩側結果；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不替代端點 </a:t>
            </a:r>
            <a:r>
              <a:rPr sz="22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model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情境資料從哪裡開始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尚未凍結；本頁只界定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claim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ceiling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，不提供可執行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source_id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epoch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與兩行原始資料只用於後續模型輸入追查。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737360"/>
            <a:ext cx="4736592" cy="35112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4224528" cy="4023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78608"/>
            <a:ext cx="4133087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444B56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line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line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尚未凍結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16052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目前來源尚未凍結；欄位保留明示 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230368" cy="93268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source_id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865376"/>
            <a:ext cx="3182112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指出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使用哪一筆固定來源。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907791"/>
            <a:ext cx="5230368" cy="93268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3035808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epoch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035808"/>
            <a:ext cx="3182112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表示軌道元素的基準時刻。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078224"/>
            <a:ext cx="5230368" cy="932688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4206240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兩行原始文字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4206240"/>
            <a:ext cx="3182112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保留模型輸入，供後續推導與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追查。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固定來源如何形成服務視窗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來源資料經過時間推進與座標轉換，形成地面位置所見的仰角、方位與距離。
流程左側是模型輸入，中段是推導，右側是策略使用的服務機會。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固定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GP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模型輸入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04872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61488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目標時間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clock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27448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84064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SGP4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狀態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position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velocity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50024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地面座標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azimuth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elevation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range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72600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29216" y="1828800"/>
            <a:ext cx="1965960" cy="76809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0656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服務視窗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9216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changing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opportunity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10128"/>
            <a:ext cx="3529584" cy="17190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45643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模型推導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3895344"/>
            <a:ext cx="3163824" cy="10058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位置、速度與方向
來源、時間、座標系、單位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3310128"/>
            <a:ext cx="3529584" cy="17190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345643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策略輸入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3895344"/>
            <a:ext cx="3163824" cy="10058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服務視窗／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輸入端點策略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0144" y="3310128"/>
            <a:ext cx="3529584" cy="1719072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3" y="345643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結果證據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3895344"/>
            <a:ext cx="3163824" cy="10058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由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產生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可見、品質合格與完成服務是三個層次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通過仰角條件只表示幾何可見；完成資料工作仍需品質與服務證據。
判讀順序固定為幾何可見、品質情境，再確認封包與期限是否完成。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207" y="1719072"/>
            <a:ext cx="10241280" cy="93268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6375" y="1810512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第一層｜幾何可見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8679" y="1810512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elevation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azimuth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3015" y="1810512"/>
            <a:ext cx="241401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說明幾何是否可見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3847" y="2834639"/>
            <a:ext cx="9144000" cy="93268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25015" y="2926079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第二層｜品質情境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7319" y="2926079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4375" y="2926079"/>
            <a:ext cx="241401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說明決策時的品質輸入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81047" y="3950208"/>
            <a:ext cx="8229600" cy="932688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2215" y="4041648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第三層｜完成服務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4519" y="4041648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7175" y="4041648"/>
            <a:ext cx="241401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說明資料工作是否完成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5212080"/>
            <a:ext cx="9582912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仰角通過 ≠ </a:t>
            </a:r>
            <a:r>
              <a:rPr sz="24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4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合格 ≠ </a:t>
            </a:r>
            <a:r>
              <a:rPr sz="24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4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完成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欄位如何影響策略分支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讀取同一型別的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與門檻，產生進入、維持或退出的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門檻修改直接影響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是後續結果。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47088"/>
            <a:ext cx="2359152" cy="82296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20240"/>
            <a:ext cx="2176272" cy="67665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72384" y="2258568"/>
            <a:ext cx="420624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9584" y="1719072"/>
            <a:ext cx="2651760" cy="107899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792224"/>
            <a:ext cx="2468879" cy="9326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ENTER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EXIT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
＋ </a:t>
            </a: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81344" y="2258568"/>
            <a:ext cx="420624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75120" y="1682496"/>
            <a:ext cx="1481328" cy="118872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111556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進入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267712"/>
            <a:ext cx="1115568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send-ready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7" y="1682496"/>
            <a:ext cx="1481328" cy="118872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7" y="1828800"/>
            <a:ext cx="111556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維持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2267712"/>
            <a:ext cx="1115568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03536" y="1682496"/>
            <a:ext cx="1481328" cy="118872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86415" y="1828800"/>
            <a:ext cx="111556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6415" y="2267712"/>
            <a:ext cx="1115568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310128"/>
            <a:ext cx="3474720" cy="1417320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5643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策略前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895344"/>
            <a:ext cx="3108960" cy="7040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的型別、時間點與門檻型別一致。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3310128"/>
            <a:ext cx="3474720" cy="141732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345643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策略後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3895344"/>
            <a:ext cx="3108960" cy="7040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留下中介證據。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310128"/>
            <a:ext cx="3474720" cy="141732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345643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結果端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3895344"/>
            <a:ext cx="3108960" cy="7040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另外判定。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速率、送達量與服務判定各自代表什麼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三個欄位分別描述傳輸過程、完成工作量與應用條件，不能互相替代。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throughput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是速率、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是完成量、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是條件判定。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331720"/>
            <a:ext cx="10241280" cy="0"/>
          </a:xfrm>
          <a:prstGeom prst="line">
            <a:avLst/>
          </a:prstGeom>
          <a:ln w="27940">
            <a:solidFill>
              <a:srgbClr val="2F32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362456" y="2185416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1" y="2688336"/>
            <a:ext cx="2596896" cy="155448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283464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273552"/>
            <a:ext cx="2231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傳輸速率
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bit/s</a:t>
            </a:r>
          </a:p>
        </p:txBody>
      </p:sp>
      <p:sp>
        <p:nvSpPr>
          <p:cNvPr id="10" name="Oval 9"/>
          <p:cNvSpPr/>
          <p:nvPr/>
        </p:nvSpPr>
        <p:spPr>
          <a:xfrm>
            <a:off x="5934456" y="2185416"/>
            <a:ext cx="292608" cy="292608"/>
          </a:xfrm>
          <a:prstGeom prst="ellipse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82312" y="2688336"/>
            <a:ext cx="2596896" cy="155448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283464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delivered_bits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3273552"/>
            <a:ext cx="2231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已送達工作量
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bit</a:t>
            </a:r>
          </a:p>
        </p:txBody>
      </p:sp>
      <p:sp>
        <p:nvSpPr>
          <p:cNvPr id="14" name="Oval 13"/>
          <p:cNvSpPr/>
          <p:nvPr/>
        </p:nvSpPr>
        <p:spPr>
          <a:xfrm>
            <a:off x="10506456" y="2185416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54312" y="2688336"/>
            <a:ext cx="2596896" cy="155448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37192" y="283464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service_pass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2" y="3273552"/>
            <a:ext cx="2231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應用服務判定
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Boolean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8"/>
            <a:ext cx="1016812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高 </a:t>
            </a:r>
            <a:r>
              <a:rPr sz="22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throughput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不保證資料在期限內送達；</a:t>
            </a:r>
            <a:r>
              <a:rPr sz="22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也不等於 </a:t>
            </a:r>
            <a:r>
              <a:rPr sz="22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較低。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狀態停留時間如何累積為端點能量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每個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的功率乘以停留時間，再於相同邊界內加總。
核對順序為各狀態功率、停留時間、加總結果與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範圍。</a:t>
            </a:r>
          </a:p>
        </p:txBody>
      </p:sp>
      <p:sp>
        <p:nvSpPr>
          <p:cNvPr id="5" name="Visual formula surrogate"/>
          <p:cNvSpPr txBox="1"/>
          <p:nvPr/>
        </p:nvSpPr>
        <p:spPr>
          <a:xfrm>
            <a:off x="932688" y="1664208"/>
            <a:ext cx="10332720" cy="1024128"/>
          </a:xfrm>
          <a:prstGeom prst="rect">
            <a:avLst/>
          </a:prstGeom>
          <a:solidFill>
            <a:srgbClr val="EEF1F9"/>
          </a:solidFill>
          <a:ln w="15240">
            <a:solidFill>
              <a:srgbClr val="2F327F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</a:t>
            </a:r>
            <a:r>
              <a:rPr sz="3000" b="0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3000" b="0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= Σ </a:t>
            </a:r>
            <a:r>
              <a:rPr sz="3000" b="0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</a:t>
            </a:r>
            <a:r>
              <a:rPr sz="3000" b="0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3000" b="0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3000" b="0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t</a:t>
            </a:r>
            <a:r>
              <a:rPr sz="3000" b="0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3035808"/>
            <a:ext cx="3474720" cy="140817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182112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P_s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｜狀態功率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657600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由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model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提供；單位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3035808"/>
            <a:ext cx="3474720" cy="140817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3182112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t_s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｜停留時間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3657600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由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提供；單位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3035808"/>
            <a:ext cx="3474720" cy="1408176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3182112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E_endpoint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｜端點能量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3657600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由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提供；單位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773168"/>
            <a:ext cx="10332720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邊界：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processing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；不包含 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satellite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gateway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whole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system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低能量結果的四種判定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必須同時比較；單獨採用較低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會遺漏服務損失。
本課程的節能判定同時要求服務維持與端點能量下降。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770632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99616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892807"/>
            <a:ext cx="358444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降低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184" y="1892807"/>
            <a:ext cx="358444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增加／不變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6883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維持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415137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下降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377440"/>
            <a:ext cx="3584448" cy="12618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52374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節能結果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96265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服務維持，端點能量降低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87184" y="2377440"/>
            <a:ext cx="3584448" cy="12618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252374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能量成本增加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4" y="296265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服務維持，能量未降低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840480"/>
            <a:ext cx="3584448" cy="1261872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98678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服務換能量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42569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能量降低伴隨服務損失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87184" y="3840480"/>
            <a:ext cx="3584448" cy="12618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0064" y="398678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結果惡化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4" y="442569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服務與能量皆未改善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比較固定哪些條件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Baseline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candidate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共用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predecessor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，只改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block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固定條件的目的，是讓兩次結果的差異集中在單一策略修改。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55648"/>
            <a:ext cx="2487168" cy="135331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固定工作與模型輸入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54096" y="2432304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01568" y="1755648"/>
            <a:ext cx="2487168" cy="135331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固定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deterministic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branch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88736" y="2432304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36208" y="1755648"/>
            <a:ext cx="2487168" cy="135331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固定比較邊界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23376" y="2432304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70848" y="1755648"/>
            <a:ext cx="2487168" cy="135331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predecessor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固定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lineage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3584448"/>
            <a:ext cx="10588752" cy="1371600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749039"/>
            <a:ext cx="1938528" cy="10241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精確修改索引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3675887"/>
            <a:ext cx="7973568" cy="11887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lora-energy-lab/student_policy.py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5102352"/>
            <a:ext cx="9710928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mismatch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null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comparison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gate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failure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程式修改後應出現哪些中介證據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程式差異須依序反映在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沒有改變時，後續差異不歸因於這次程式修改。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01952"/>
            <a:ext cx="1956816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程式差異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14016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79776" y="1901952"/>
            <a:ext cx="1956816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6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6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策略輸出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36592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02352" y="1901952"/>
            <a:ext cx="1956816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停留時間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59168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24928" y="1901952"/>
            <a:ext cx="1956816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工作結果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81744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47504" y="1901952"/>
            <a:ext cx="1956816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38944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能量結果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64992"/>
            <a:ext cx="6528816" cy="188366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511296"/>
            <a:ext cx="6163055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exact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edit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950208"/>
            <a:ext cx="6163055" cy="11704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0064" y="3364992"/>
            <a:ext cx="4261104" cy="1883664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52944" y="3511296"/>
            <a:ext cx="389534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consumer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/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3950208"/>
            <a:ext cx="3895344" cy="11704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choose_action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(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)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lora_energy_lab/engine.py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延伸：</a:t>
            </a:r>
            <a:r>
              <a:rPr sz="28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8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的狀態帳本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兩種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的差異不只在名稱，而在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awake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idle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的停留時間。
比較順序為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、封包結果與服務結果。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73936"/>
            <a:ext cx="5285232" cy="248716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491947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59152"/>
            <a:ext cx="4919472" cy="17739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維持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awake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idle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等待期間持續累積功率
後續送出通常不經完整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773936"/>
            <a:ext cx="5285232" cy="248716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5936" y="1920240"/>
            <a:ext cx="491947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2359152"/>
            <a:ext cx="4919472" cy="17739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進入低功率休息狀態
重新送出前增加 </a:t>
            </a: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節省與延遲由同一份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ledger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590288"/>
            <a:ext cx="10314432" cy="768096"/>
          </a:xfrm>
          <a:prstGeom prst="rect">
            <a:avLst/>
          </a:prstGeom>
          <a:solidFill>
            <a:srgbClr val="F5F6F8"/>
          </a:solidFill>
          <a:ln w="15240">
            <a:solidFill>
              <a:srgbClr val="444B56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檢查：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延伸：切換太慢與過度往返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門檻與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hold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條件同時影響服務連續性、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次數與狀態能量。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too-slow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ping-pong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是不同失敗機制，須分別從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37360"/>
            <a:ext cx="5230368" cy="292608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83664"/>
            <a:ext cx="48646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切換太慢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22576"/>
            <a:ext cx="4864607" cy="22128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已下降
策略仍維持原狀態
可能錯過服務視窗或增加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37360"/>
            <a:ext cx="5230368" cy="292608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83664"/>
            <a:ext cx="48646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過度往返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322576"/>
            <a:ext cx="4864607" cy="22128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事件密集
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change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增加
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continuity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與能量需一起檢查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010912"/>
            <a:ext cx="10021824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共同決定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timing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延伸：批次與緊急資料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批次策略減少喚醒與傳送事件，但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限制等待時間。
批次過小增加喚醒與傳送；批次過大則可能造成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failure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2395728"/>
            <a:ext cx="10405872" cy="0"/>
          </a:xfrm>
          <a:prstGeom prst="line">
            <a:avLst/>
          </a:prstGeom>
          <a:ln w="27940">
            <a:solidFill>
              <a:srgbClr val="2F32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88136" y="2249424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一般資料</a:t>
            </a:r>
          </a:p>
        </p:txBody>
      </p:sp>
      <p:sp>
        <p:nvSpPr>
          <p:cNvPr id="8" name="Oval 7"/>
          <p:cNvSpPr/>
          <p:nvPr/>
        </p:nvSpPr>
        <p:spPr>
          <a:xfrm>
            <a:off x="3191256" y="2249424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一般資料</a:t>
            </a:r>
          </a:p>
        </p:txBody>
      </p:sp>
      <p:sp>
        <p:nvSpPr>
          <p:cNvPr id="10" name="Oval 9"/>
          <p:cNvSpPr/>
          <p:nvPr/>
        </p:nvSpPr>
        <p:spPr>
          <a:xfrm>
            <a:off x="5358383" y="2249424"/>
            <a:ext cx="292608" cy="292608"/>
          </a:xfrm>
          <a:prstGeom prst="ellipse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7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batch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threshold</a:t>
            </a:r>
          </a:p>
        </p:txBody>
      </p:sp>
      <p:sp>
        <p:nvSpPr>
          <p:cNvPr id="12" name="Oval 11"/>
          <p:cNvSpPr/>
          <p:nvPr/>
        </p:nvSpPr>
        <p:spPr>
          <a:xfrm>
            <a:off x="7699248" y="2249424"/>
            <a:ext cx="292608" cy="292608"/>
          </a:xfrm>
          <a:prstGeom prst="ellipse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urgent</a:t>
            </a:r>
          </a:p>
        </p:txBody>
      </p:sp>
      <p:sp>
        <p:nvSpPr>
          <p:cNvPr id="14" name="Oval 13"/>
          <p:cNvSpPr/>
          <p:nvPr/>
        </p:nvSpPr>
        <p:spPr>
          <a:xfrm>
            <a:off x="10076688" y="2249424"/>
            <a:ext cx="292608" cy="292608"/>
          </a:xfrm>
          <a:prstGeom prst="ellipse">
            <a:avLst/>
          </a:prstGeom>
          <a:solidFill>
            <a:srgbClr val="444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2912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438144"/>
            <a:ext cx="3236976" cy="129844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84448"/>
            <a:ext cx="28712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累積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023359"/>
            <a:ext cx="2871216" cy="58521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depth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age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增加。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3438144"/>
            <a:ext cx="3236976" cy="129844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3584448"/>
            <a:ext cx="28712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批次送出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023359"/>
            <a:ext cx="2871216" cy="58521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減少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次數。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3438144"/>
            <a:ext cx="3236976" cy="1298448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3584448"/>
            <a:ext cx="28712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緊急送出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4023359"/>
            <a:ext cx="2871216" cy="58521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覆寫等待。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047488"/>
            <a:ext cx="991209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批次較大 ≠ 自動較省；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同時判定。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匯入流程與目前證據邊界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root: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browser: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http://120.126.151.102:3000/course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目前畫面尚未匯入結果；下方流程是匯入契約的預期路徑，不代表已完成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live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驗證。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00784"/>
            <a:ext cx="2816352" cy="144475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245059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選取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450592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stdout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指定唯一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73552" y="2423160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730752"/>
            <a:ext cx="2816352" cy="144475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77056"/>
            <a:ext cx="245059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保留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15968"/>
            <a:ext cx="2450592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同一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目錄配對
不在匯入欄另選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73552" y="4453128"/>
            <a:ext cx="310896" cy="0"/>
          </a:xfrm>
          <a:prstGeom prst="line">
            <a:avLst/>
          </a:prstGeom>
          <a:ln w="19050">
            <a:solidFill>
              <a:srgbClr val="00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21024" y="1920240"/>
            <a:ext cx="2322576" cy="3255264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2066544"/>
            <a:ext cx="19568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驗證 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2505456"/>
            <a:ext cx="1956816" cy="2542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version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contract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3547872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72784" y="1920240"/>
            <a:ext cx="2377440" cy="325526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06654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契約預期：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accepted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505456"/>
            <a:ext cx="2011680" cy="2542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後預期更新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與證據欄位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50224" y="3547872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79408" y="1920240"/>
            <a:ext cx="2743200" cy="325526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206654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目前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live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邊界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505456"/>
            <a:ext cx="2377440" cy="2542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目前尚未匯入
沒有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進度備份不重算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對照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讀取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欄位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本頁是欄位閱讀地圖；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真實畫面與逐項說明位於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P085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P099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閱讀順序為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、來源、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、證據與進度備份。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82496"/>
            <a:ext cx="6565392" cy="3968496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65376"/>
            <a:ext cx="6089904" cy="4023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欄位閱讀地圖｜真實畫面見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P085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P099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2487168"/>
            <a:ext cx="420624" cy="384048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487168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3044952"/>
            <a:ext cx="420624" cy="384048"/>
          </a:xfrm>
          <a:prstGeom prst="rect">
            <a:avLst/>
          </a:prstGeom>
          <a:solidFill>
            <a:srgbClr val="006970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044952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mode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3602736"/>
            <a:ext cx="420624" cy="384048"/>
          </a:xfrm>
          <a:prstGeom prst="rect">
            <a:avLst/>
          </a:prstGeom>
          <a:solidFill>
            <a:srgbClr val="006970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3602736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4160520"/>
            <a:ext cx="420624" cy="384048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4160520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4718304"/>
            <a:ext cx="420624" cy="384048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718304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證據／進度備份／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6368" y="1682496"/>
            <a:ext cx="4023360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773936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1773936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確認目前顯示的是哪個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與來源。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8" y="2670048"/>
            <a:ext cx="4023360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761488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2761488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服務與封包結果優先於單一能量數值。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3657600"/>
            <a:ext cx="4023360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3749039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3749039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說明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的機制。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6368" y="4645152"/>
            <a:ext cx="4023360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736592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4736592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證據、進度備份與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分別記錄結果與流程狀態。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記錄的目的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root: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writes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/course: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http://120.126.151.102:3000/course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分開。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847088"/>
            <a:ext cx="2487168" cy="144475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建立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Python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3.11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569464"/>
            <a:ext cx="36576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46704" y="1847088"/>
            <a:ext cx="2487168" cy="144475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檢查前置條件並寫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33872" y="2569464"/>
            <a:ext cx="36576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54496" y="1847088"/>
            <a:ext cx="2487168" cy="144475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保存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41664" y="2569464"/>
            <a:ext cx="36576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62288" y="1847088"/>
            <a:ext cx="2487168" cy="144475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5168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產生或載入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" y="3822191"/>
            <a:ext cx="5010912" cy="133502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68496"/>
            <a:ext cx="464515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兩種 </a:t>
            </a: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紀錄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4407407"/>
            <a:ext cx="4645152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記錄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保存頁面狀態。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822191"/>
            <a:ext cx="5010912" cy="1335024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968496"/>
            <a:ext cx="464515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兩者都不代表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07407"/>
            <a:ext cx="4645152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已完成、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通過、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降低或比較成立。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資料來源與能量範圍要同時標記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actual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matching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simulated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derived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是來源分類；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system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是範圍分類。
同樣標示為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的數值，來源與範圍不同時不放在同一項效率比較。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來源分類｜資料如何產生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4032" y="16276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範圍分類｜數值涵蓋哪一層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57984"/>
            <a:ext cx="4736592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585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actual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2384" y="2258568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本機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產生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27248"/>
            <a:ext cx="4736592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2278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matching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32278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相同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的封裝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artifact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736592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19709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simulated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derived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4197096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模型或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輸出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5392" y="2157984"/>
            <a:ext cx="4736592" cy="137160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2304288"/>
            <a:ext cx="4370831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743200"/>
            <a:ext cx="4370831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LoRaEnergySim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processing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boundary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3730752"/>
            <a:ext cx="4736592" cy="1371600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3877056"/>
            <a:ext cx="4370831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system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canonical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4315968"/>
            <a:ext cx="4370831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C-120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provider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canonical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另一套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numerator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denominator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15584" y="2139696"/>
            <a:ext cx="0" cy="2761488"/>
          </a:xfrm>
          <a:prstGeom prst="line">
            <a:avLst/>
          </a:prstGeom>
          <a:ln w="2032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97280" y="5230368"/>
            <a:ext cx="9985248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同為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不代表相同語義；來源標籤與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scope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標籤必須同時存在。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依問題返回對應操作頁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附錄的作用在於補足概念；查閱完成後回到原本的安裝、實驗、匯入或網站判讀。
依左側問題分類找到說明頁，再由右側連結返回對應的主流程。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37360"/>
            <a:ext cx="2834640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8366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來源／視窗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22576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P100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84448" y="2130552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96512" y="1737360"/>
            <a:ext cx="7242048" cy="786384"/>
          </a:xfrm>
          <a:prstGeom prst="rect">
            <a:avLst/>
          </a:prstGeom>
          <a:solidFill>
            <a:srgbClr val="EEF1F9"/>
          </a:solidFill>
          <a:ln w="15240">
            <a:solidFill>
              <a:srgbClr val="2F327F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返回情境與服務視窗說明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761488"/>
            <a:ext cx="2834640" cy="78638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90779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策略／程式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346704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P103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P107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4448" y="3154680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6512" y="2761488"/>
            <a:ext cx="7242048" cy="786384"/>
          </a:xfrm>
          <a:prstGeom prst="rect">
            <a:avLst/>
          </a:prstGeom>
          <a:solidFill>
            <a:srgbClr val="E8F4F4"/>
          </a:solidFill>
          <a:ln w="15240">
            <a:solidFill>
              <a:srgbClr val="006970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返回 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785616"/>
            <a:ext cx="2834640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319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服務／能量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70832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P104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P106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84448" y="4178808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96512" y="3785616"/>
            <a:ext cx="7242048" cy="786384"/>
          </a:xfrm>
          <a:prstGeom prst="rect">
            <a:avLst/>
          </a:prstGeom>
          <a:solidFill>
            <a:srgbClr val="EEF1F9"/>
          </a:solidFill>
          <a:ln w="15240">
            <a:solidFill>
              <a:srgbClr val="2F327F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返回結果比較頁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09744"/>
            <a:ext cx="2834640" cy="786384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9560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JSON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／網站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394959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P112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84448" y="5202936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96512" y="4809744"/>
            <a:ext cx="7242048" cy="786384"/>
          </a:xfrm>
          <a:prstGeom prst="rect">
            <a:avLst/>
          </a:prstGeom>
          <a:solidFill>
            <a:srgbClr val="F5F6F8"/>
          </a:solidFill>
          <a:ln w="15240">
            <a:solidFill>
              <a:srgbClr val="444B56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返回匯入與欄位操作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LoRaEnergySim + LEO BeamShift 附錄脈絡化重寫</dc:title>
  <dc:creator>OpenAI Codex</dc:creator>
  <cp:lastModifiedBy>柏宏 吳</cp:lastModifiedBy>
  <cp:revision>1493</cp:revision>
  <dcterms:created xsi:type="dcterms:W3CDTF">2019-10-21T01:22:34Z</dcterms:created>
  <dcterms:modified xsi:type="dcterms:W3CDTF">2025-12-10T11:42:30Z</dcterms:modified>
  <dc:subject>P098-P116 contextual appendix review</dc:subject>
</cp:coreProperties>
</file>