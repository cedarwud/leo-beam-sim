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這份附錄不是另一套衛星課程，而是主流程的查閱索引。情境來源不清楚時，進入來源與服務視窗；程式修改與結果無法連結時，進入策略與證據鏈；網站欄位不清楚時，進入匯入與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；完成查閱後，依最後一頁返回原本的實驗或操作。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LEO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在本課程中只是一個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changing-service-window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範例。固定來源與時間形成服務視窗，視窗內的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交給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產生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再把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轉為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。後面的技術頁都在補充這條鏈上的一個節點，不會改變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LoRaEnergySim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是主體的課程定位。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情境追查從固定來源開始。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source_id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指向本次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使用的來源紀錄，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epoch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表示軌道元素的基準時刻，原始兩行文字保留模型輸入。此頁只建立來源與情境的連結；目前來源畫面尚未凍結，因此使用明示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placeholder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，待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凍結後更新來源字串。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TLE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GP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提供固定來源，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clock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提供目標時間，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SGP4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產生該時刻的模型狀態。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TEME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ECEF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再到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ENU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的轉換，把模型狀態連結到指定地面位置。最後得到的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elevation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azimuth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range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用於描述服務機會；這些欄位仍是模型推導，不是封包送達或服務通過。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第一層處理幾何可見性，例如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elevation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range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。第二層處理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，表示策略在決策時取得的品質情境。第三層處理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delivery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freshness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。三層分開保存，避免以單一角度或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欄位替代實際服務結果。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是決策當下的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，不是送達位元或能量結果。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ENTER_QUALITY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決定何時進入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send-ready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狀態，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EXIT_QUALITY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決定何時退出，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抑制短時間擺動。修改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後，檢查順序為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本身不直接代表節能。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throughput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描述指定區間的傳輸速率，單位是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bit/s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delivered_bits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累積符合送達定義的資料量，單位是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bit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另外檢查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freshness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或其他服務條件。網站同時呈現這三類欄位，是為了避免把高傳輸速率直接解讀成工作已完成。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公式的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LaTeX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E_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{\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mathrm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{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}} = \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sum_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{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\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}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P_s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t_s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P_s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是狀態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的功率，單位為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t_s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是該狀態的停留時間，單位為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；乘積與加總得到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，單位為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。這個邊界涵蓋課程模型中的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processing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，不代表衛星、閘道或整體系統消耗。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比較順序為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狀態與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變化。服務維持且能量降低，形成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bounded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saving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；服務維持但能量上升，表示成本增加；服務下降但能量降低，屬於服務換能量的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trade-off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；兩者都變差則是失敗結果。欄位不足時維持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incomplete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，不補寫預期值。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公平比較的目的，是把差異限制在一個策略修改。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seed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固定輸入與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deterministic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branch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window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固定比較邊界，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predecessor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lineage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不一致或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artifact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沒有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consequential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，該次比較不形成有效結果。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marked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block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是唯一程式修改位置。差異沿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與停留時間傳遞；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ledger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evaluator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記錄工作結果，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ledger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記錄能量。若程式檔不同但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完全相同，表示修改沒有進入目前觀察的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runtime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path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通常保留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awake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idle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狀態，後續送出延遲較短，但等待期間持續消耗對應功率。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降低休息狀態功率，重新送出前會增加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。比較時查看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TX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duration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，以及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delivery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；結論由同一份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切換太慢時，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已下降但策略仍維持原狀態，可能錯過服務機會。條件過度敏感時，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再回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的往返事件增加，形成額外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與狀態切換成本。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的重點不是追求最少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，而是檢查門檻與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如何共同影響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continuity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一般資料可累積到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batch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條件後再送出，減少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TX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event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次數。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urgent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或接近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的資料需要提前送出，避免服務失敗。比較時同時查看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queue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depth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age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batch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；批次較大不自動代表較佳。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操作入口是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stdout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顯示的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result_path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。於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檔案選擇器選取該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；不選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，也不在匯入控制中另外選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endpoint-replay.json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。網站檢查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version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event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contract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，通過後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materialize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並更新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workbook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。相同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目錄內的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endpoint-replay.json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保留作為配對與事件核對證據。驗證失敗時，原有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session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workbook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不變。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這是一張欄位閱讀地圖，不是網站截圖。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的真實截圖、目前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fields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ledger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controls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位於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P085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–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P099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。閱讀順序為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actual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matching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fallback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來源、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duration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，以及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workbook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保存的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。網站畫面更新時，以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頁為準。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檢查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Python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3.11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API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schema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，並寫入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machine-readable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的「記錄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」讀取這個前置條件狀態並保存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紀錄；按鈕本身不安裝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Python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、不執行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、不執行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，也不產生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IMPORT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完成後，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workbook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提供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證據。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來源分類回答資料如何產生，範圍分類回答數值涵蓋哪一層。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LoRaEnergySim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屬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Leo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或既有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C-120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provider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fields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屬另一個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。兩者即使同為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，也不能直接互換；任何效率解讀都要固定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numerator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denominator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window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scope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來源與服務視窗問題返回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P100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P102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；策略欄位與程式因果問題返回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P103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P107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與三個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延伸；能量與服務判定問題返回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P104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P106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P115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JSON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與網站問題返回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P112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P114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。概念釐清後回到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的原操作頁，附錄不另設新的實驗流程。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這份附錄處理哪些問題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P098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主流程出現來源、策略、結果或網站欄位疑問時，依問題進入對應頁面。
每一列列出問題類型與頁碼，不必依序閱讀整份附錄。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55648"/>
            <a:ext cx="1024128" cy="676656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755648"/>
            <a:ext cx="9235440" cy="67665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12848" y="1828800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情境來源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7952" y="1828800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TLE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、時間、服務視窗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1828800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P100</a:t>
            </a:r>
            <a:r>
              <a:rPr sz="20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–</a:t>
            </a:r>
            <a:r>
              <a:rPr sz="20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1024128" cy="676656"/>
          </a:xfrm>
          <a:prstGeom prst="rect">
            <a:avLst/>
          </a:prstGeom>
          <a:solidFill>
            <a:srgbClr val="006970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392" y="2779776"/>
            <a:ext cx="9235440" cy="67665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2852928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策略與能量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852928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2852928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P103</a:t>
            </a:r>
            <a:r>
              <a:rPr sz="20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–</a:t>
            </a:r>
            <a:r>
              <a:rPr sz="20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P111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803904"/>
            <a:ext cx="1024128" cy="676656"/>
          </a:xfrm>
          <a:prstGeom prst="rect">
            <a:avLst/>
          </a:prstGeom>
          <a:solidFill>
            <a:srgbClr val="444B56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3803904"/>
            <a:ext cx="9235440" cy="676656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12848" y="3877056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網站與證據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3877056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JSON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、欄位、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877056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P112</a:t>
            </a:r>
            <a:r>
              <a:rPr sz="20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–</a:t>
            </a:r>
            <a:r>
              <a:rPr sz="20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P115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828032"/>
            <a:ext cx="1024128" cy="676656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93392" y="4828032"/>
            <a:ext cx="9235440" cy="67665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2848" y="4901184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返回操作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4901184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回到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Part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的原頁面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4901184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P116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從服務視窗到端點結果的完整鏈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P099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LEO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提供隨時間改變的服務機會；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LoRaEnergySim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負責端點策略、狀態、服務與能量結果。
閱讀方向為來源、視窗、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、服務與能量。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20240"/>
            <a:ext cx="1901952" cy="74980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固定來源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05456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25496" y="1920240"/>
            <a:ext cx="1901952" cy="74980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6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服務視窗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27448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47488" y="1920240"/>
            <a:ext cx="1901952" cy="74980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9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9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1920240"/>
            <a:ext cx="1901952" cy="74980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student_policy.py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71432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91472" y="1920240"/>
            <a:ext cx="1901952" cy="74980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2912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19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75520" y="2670048"/>
            <a:ext cx="0" cy="54864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" y="3310128"/>
            <a:ext cx="4773168" cy="159105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456432"/>
            <a:ext cx="44074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服務結果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895344"/>
            <a:ext cx="4407407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delivery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deadline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freshness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310128"/>
            <a:ext cx="4773168" cy="159105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456432"/>
            <a:ext cx="44074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端點能量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95344"/>
            <a:ext cx="4407407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radio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processing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duration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累積為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endpoint_energy_j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166360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LoRaEnergySim</a:t>
            </a: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產生兩側結果；</a:t>
            </a:r>
            <a:r>
              <a:rPr sz="22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LEO</a:t>
            </a: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不替代端點 </a:t>
            </a:r>
            <a:r>
              <a:rPr sz="22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2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情境資料從哪裡開始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固定的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TLE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文字與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epoch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是模型輸入紀錄；它們不等於即時位置或現場量測。
結果追查由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source_id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epoch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與兩行原始資料起始，再連到後續模型推導。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737360"/>
            <a:ext cx="4736592" cy="35112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4224528" cy="4023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CURRENT</a:t>
            </a:r>
            <a:r>
              <a:rPr sz="20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20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PLACEHOLDER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78608"/>
            <a:ext cx="4133087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444B56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TLE</a:t>
            </a:r>
            <a:r>
              <a:rPr sz="22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line</a:t>
            </a:r>
            <a:r>
              <a:rPr sz="22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2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
</a:t>
            </a:r>
            <a:r>
              <a:rPr sz="22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TLE</a:t>
            </a:r>
            <a:r>
              <a:rPr sz="22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line</a:t>
            </a:r>
            <a:r>
              <a:rPr sz="22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2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
</a:t>
            </a:r>
            <a:r>
              <a:rPr sz="22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current</a:t>
            </a:r>
            <a:r>
              <a:rPr sz="22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22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尚未凍結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16052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目前來源尚未凍結；欄位保留明示 </a:t>
            </a:r>
            <a:r>
              <a:rPr sz="20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placeholder</a:t>
            </a:r>
            <a:r>
              <a:rPr sz="20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230368" cy="93268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source_id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865376"/>
            <a:ext cx="3182112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指出 </a:t>
            </a:r>
            <a:r>
              <a:rPr sz="19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使用哪一筆固定來源。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907791"/>
            <a:ext cx="5230368" cy="93268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3035808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epoch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035808"/>
            <a:ext cx="3182112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表示軌道元素的基準時刻。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078224"/>
            <a:ext cx="5230368" cy="932688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4206240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兩行原始文字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4206240"/>
            <a:ext cx="3182112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保留模型輸入，供後續推導與 </a:t>
            </a:r>
            <a:r>
              <a:rPr sz="19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追查。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固定來源如何形成服務視窗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來源資料經過時間推進與座標轉換，形成地面位置所見的仰角、方位與距離。
流程左側是模型輸入，中段是推導，右側是策略使用的服務機會。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固定 </a:t>
            </a:r>
            <a:r>
              <a:rPr sz="19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TLE</a:t>
            </a:r>
            <a:r>
              <a:rPr sz="19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GP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模型輸入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04872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61488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目標時間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7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7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clock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27448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84064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SGP4</a:t>
            </a:r>
            <a:r>
              <a:rPr sz="19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狀態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position</a:t>
            </a:r>
            <a:r>
              <a:rPr sz="17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7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velocity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50024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地面座標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azimuth</a:t>
            </a:r>
            <a:r>
              <a:rPr sz="17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7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elevation</a:t>
            </a:r>
            <a:r>
              <a:rPr sz="17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7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range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72600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29216" y="1828800"/>
            <a:ext cx="1965960" cy="76809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0656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服務視窗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9216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changing</a:t>
            </a:r>
            <a:r>
              <a:rPr sz="17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700" b="0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opportunity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10128"/>
            <a:ext cx="3529584" cy="17190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45643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模型推導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3895344"/>
            <a:ext cx="3163824" cy="10058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位置、速度與方向
來源、時間、座標系、單位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3310128"/>
            <a:ext cx="3529584" cy="17190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345643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策略輸入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3895344"/>
            <a:ext cx="3163824" cy="10058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服務視窗／</a:t>
            </a:r>
            <a:r>
              <a:rPr sz="18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輸入端點策略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0144" y="3310128"/>
            <a:ext cx="3529584" cy="1719072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3" y="345643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結果證據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3895344"/>
            <a:ext cx="3163824" cy="10058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由 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產生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可見、品質合格與完成服務是三個層次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通過仰角條件只表示幾何可見；完成資料工作仍需品質與服務證據。
判讀順序固定為幾何可見、品質情境，再確認封包與期限是否完成。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207" y="1719072"/>
            <a:ext cx="10241280" cy="93268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6375" y="1810512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第一層｜幾何可見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8679" y="1810512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elevation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azimuth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3015" y="1810512"/>
            <a:ext cx="241401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說明幾何是否可見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3847" y="2834639"/>
            <a:ext cx="9144000" cy="93268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25015" y="2926079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第二層｜品質情境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7319" y="2926079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5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4375" y="2926079"/>
            <a:ext cx="241401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說明決策時的品質輸入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81047" y="3950208"/>
            <a:ext cx="8229600" cy="932688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2215" y="4041648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第三層｜完成服務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4519" y="4041648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delivery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5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deadline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</a:t>
            </a:r>
            <a:r>
              <a:rPr sz="185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freshness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5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7175" y="4041648"/>
            <a:ext cx="241401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說明資料工作是否完成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5212080"/>
            <a:ext cx="9582912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仰角通過 ≠ </a:t>
            </a:r>
            <a:r>
              <a:rPr sz="24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24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合格 ≠ </a:t>
            </a:r>
            <a:r>
              <a:rPr sz="24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24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完成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欄位如何影響策略分支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Lab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讀取同一型別的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與門檻，產生進入、維持或退出的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
門檻修改直接影響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是後續結果。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47088"/>
            <a:ext cx="2359152" cy="82296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20240"/>
            <a:ext cx="2176272" cy="67665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20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72384" y="2258568"/>
            <a:ext cx="420624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9584" y="1719072"/>
            <a:ext cx="2651760" cy="107899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792224"/>
            <a:ext cx="2468879" cy="9326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ENTER</a:t>
            </a:r>
            <a:r>
              <a:rPr sz="20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EXIT</a:t>
            </a:r>
            <a:r>
              <a:rPr sz="20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
＋ </a:t>
            </a: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STABLE_STEPS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81344" y="2258568"/>
            <a:ext cx="420624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75120" y="1682496"/>
            <a:ext cx="1481328" cy="118872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111556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進入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267712"/>
            <a:ext cx="1115568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send-ready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7" y="1682496"/>
            <a:ext cx="1481328" cy="118872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7" y="1828800"/>
            <a:ext cx="111556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維持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2267712"/>
            <a:ext cx="1115568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03536" y="1682496"/>
            <a:ext cx="1481328" cy="118872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86415" y="1828800"/>
            <a:ext cx="111556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6415" y="2267712"/>
            <a:ext cx="1115568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WAIT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SLEEP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310128"/>
            <a:ext cx="3474720" cy="1417320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5643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策略前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895344"/>
            <a:ext cx="3108960" cy="7040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的型別、時間點與門檻型別一致。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3310128"/>
            <a:ext cx="3474720" cy="141732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345643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策略後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3895344"/>
            <a:ext cx="3108960" cy="7040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留下中介證據。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310128"/>
            <a:ext cx="3474720" cy="141732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345643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結果端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3895344"/>
            <a:ext cx="3108960" cy="7040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另外判定。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速率、送達量與服務判定各自代表什麼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三個欄位分別描述傳輸過程、完成工作量與應用條件，不能互相替代。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throughput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是速率、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delivered_bits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是完成量、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是條件判定。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331720"/>
            <a:ext cx="10241280" cy="0"/>
          </a:xfrm>
          <a:prstGeom prst="line">
            <a:avLst/>
          </a:prstGeom>
          <a:ln w="27940">
            <a:solidFill>
              <a:srgbClr val="2F32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362456" y="2185416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1" y="2688336"/>
            <a:ext cx="2596896" cy="155448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283464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273552"/>
            <a:ext cx="2231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傳輸速率
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bit/s</a:t>
            </a:r>
          </a:p>
        </p:txBody>
      </p:sp>
      <p:sp>
        <p:nvSpPr>
          <p:cNvPr id="10" name="Oval 9"/>
          <p:cNvSpPr/>
          <p:nvPr/>
        </p:nvSpPr>
        <p:spPr>
          <a:xfrm>
            <a:off x="5934456" y="2185416"/>
            <a:ext cx="292608" cy="292608"/>
          </a:xfrm>
          <a:prstGeom prst="ellipse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82312" y="2688336"/>
            <a:ext cx="2596896" cy="155448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283464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delivered_bits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3273552"/>
            <a:ext cx="2231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已送達工作量
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bit</a:t>
            </a:r>
          </a:p>
        </p:txBody>
      </p:sp>
      <p:sp>
        <p:nvSpPr>
          <p:cNvPr id="14" name="Oval 13"/>
          <p:cNvSpPr/>
          <p:nvPr/>
        </p:nvSpPr>
        <p:spPr>
          <a:xfrm>
            <a:off x="10506456" y="2185416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54312" y="2688336"/>
            <a:ext cx="2596896" cy="155448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37192" y="283464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2" y="3273552"/>
            <a:ext cx="2231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應用服務判定
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Boolean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＋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8"/>
            <a:ext cx="1016812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高 </a:t>
            </a:r>
            <a:r>
              <a:rPr sz="22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throughput</a:t>
            </a: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不保證資料在期限內送達；</a:t>
            </a:r>
            <a:r>
              <a:rPr sz="22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也不等於 </a:t>
            </a:r>
            <a:r>
              <a:rPr sz="22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較低。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狀態停留時間如何累積為端點能量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每個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的功率乘以停留時間，再於相同邊界內加總。
核對順序為各狀態功率、停留時間、加總結果與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範圍。</a:t>
            </a:r>
          </a:p>
        </p:txBody>
      </p:sp>
      <p:sp>
        <p:nvSpPr>
          <p:cNvPr id="5" name="Native Office Math reserved region"/>
          <p:cNvSpPr txBox="1"/>
          <p:nvPr/>
        </p:nvSpPr>
        <p:spPr>
          <a:xfrm>
            <a:off x="932688" y="1664208"/>
            <a:ext cx="10332720" cy="10241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86384" y="3035808"/>
            <a:ext cx="3474720" cy="140817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182112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P_s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｜狀態功率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657600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由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model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提供；單位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3035808"/>
            <a:ext cx="3474720" cy="140817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3182112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t_s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｜停留時間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3657600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由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replay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提供；單位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3035808"/>
            <a:ext cx="3474720" cy="1408176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3182112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E_endpoint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｜端點能量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3657600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由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提供；單位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773168"/>
            <a:ext cx="10332720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邊界：</a:t>
            </a:r>
            <a:r>
              <a:rPr sz="21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radio</a:t>
            </a: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＋</a:t>
            </a:r>
            <a:r>
              <a:rPr sz="21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processing</a:t>
            </a: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；不包含 </a:t>
            </a:r>
            <a:r>
              <a:rPr sz="21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satellite</a:t>
            </a: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1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gateway</a:t>
            </a: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21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whole</a:t>
            </a: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16" name="Native Office Math E_endpoint" title="E_endpoint" descr="E_{\mathrm{endpoint}} = \sum_{s \in S} P_s t_s"/>
          <p:cNvSpPr>
            <a:spLocks noGrp="1"/>
          </p:cNvSpPr>
          <p:nvPr/>
        </p:nvSpPr>
        <p:spPr>
          <a:xfrm>
            <a:off x="609600" y="1714500"/>
            <a:ext cx="10972800" cy="979714"/>
          </a:xfrm>
          <a:noFill/>
          <a:ln>
            <a:noFill/>
          </a:ln>
        </p:spPr>
        <p:txBody>
          <a:bodyPr anchor="ctr" wrap="none"/>
          <a:lstStyle/>
          <a:p>
            <a:pPr algn="ctr"/>
            <a14:m>
              <m:oMathPara>
                <m:oMath>
                  <m:sSub>
                    <m:sSubPr/>
                    <m:e>
                      <m:r>
                        <a:rPr lang="en-US" altLang="en-US" sz="3000" dirty="0">
                          <a:latin typeface="Cambria Math"/>
                        </a:rPr>
                        <m:t>E</m:t>
                      </m:r>
                    </m:e>
                    <m:e>
                      <m:r>
                        <a:rPr lang="en-US" altLang="en-US" sz="3000" dirty="0" i="0">
                          <a:latin typeface="Cambria Math"/>
                        </a:rPr>
                        <m:t>endpoint</m:t>
                      </m:r>
                    </m:e>
                  </m:sSub>
                  <m:r>
                    <a:rPr lang="en-US" altLang="en-US" sz="3000" dirty="0">
                      <a:latin typeface="Cambria Math"/>
                    </a:rPr>
                    <m:t xml:space="preserve"> = </m:t>
                  </m:r>
                  <m:nary>
                    <m:naryPr>
                      <m:chr m:val="∑"/>
                      <m:limLoc m:val="undOvr"/>
                      <m:grow m:val="1"/>
                    </m:naryPr>
                    <m:sub>
                      <m:r>
                        <a:rPr lang="en-US" altLang="en-US" sz="3000" dirty="0">
                          <a:latin typeface="Cambria Math"/>
                        </a:rPr>
                        <m:t>s</m:t>
                      </m:r>
                      <m:r>
                        <a:rPr lang="en-US" altLang="en-US" sz="3000" dirty="0">
                          <a:latin typeface="Cambria Math"/>
                        </a:rPr>
                        <m:t xml:space="preserve"> ∈ </m:t>
                      </m:r>
                      <m:r>
                        <a:rPr lang="en-US" altLang="en-US" sz="3000" dirty="0">
                          <a:latin typeface="Cambria Math"/>
                        </a:rPr>
                        <m:t>S</m:t>
                      </m:r>
                    </m:sub>
                    <m:sup/>
                    <m:e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P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</m:t>
                      </m:r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t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e>
                      </m:sSub>
                    </m:e>
                  </m:nary>
                </m:oMath>
              </m:oMathPara>
            </a14:m>
            <a:endParaRPr lang="en-US" alt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低能量結果的四種判定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必須同時比較；單獨採用較低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會遺漏服務損失。
本課程的節能判定同時要求服務維持與端點能量下降。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770632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99616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892807"/>
            <a:ext cx="358444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降低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184" y="1892807"/>
            <a:ext cx="358444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增加／不變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6883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維持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415137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下降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377440"/>
            <a:ext cx="3584448" cy="12618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52374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節能結果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96265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服務維持，端點能量降低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87184" y="2377440"/>
            <a:ext cx="3584448" cy="12618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252374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能量成本增加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4" y="296265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服務維持，能量未降低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840480"/>
            <a:ext cx="3584448" cy="1261872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98678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服務換能量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42569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能量降低伴隨服務損失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87184" y="3840480"/>
            <a:ext cx="3584448" cy="12618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0064" y="398678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結果惡化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4" y="442569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服務與能量皆未改善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比較固定哪些條件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Baseline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candidate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共用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seed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window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units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predecessor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，只改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marked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block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
固定條件的目的，是讓兩次結果的差異集中在單一策略修改。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55648"/>
            <a:ext cx="2487168" cy="135331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固定工作與模型輸入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54096" y="2432304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01568" y="1755648"/>
            <a:ext cx="2487168" cy="135331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固定 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deterministic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branch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88736" y="2432304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36208" y="1755648"/>
            <a:ext cx="2487168" cy="135331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window</a:t>
            </a:r>
            <a:r>
              <a:rPr sz="20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固定比較邊界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23376" y="2432304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70848" y="1755648"/>
            <a:ext cx="2487168" cy="135331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predecessor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固定 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lineage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01952" y="3675887"/>
            <a:ext cx="8394192" cy="1097280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39696" y="3840480"/>
            <a:ext cx="2084831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唯一修改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3840480"/>
            <a:ext cx="568756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student_policy.py</a:t>
            </a:r>
            <a:r>
              <a:rPr sz="24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 的 </a:t>
            </a:r>
            <a:r>
              <a:rPr sz="24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marked</a:t>
            </a:r>
            <a:r>
              <a:rPr sz="24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4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5102352"/>
            <a:ext cx="9710928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mismatch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null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diff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→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comparison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gate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failure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程式修改後應出現哪些中介證據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程式差異須依序反映在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沒有改變時，後續差異不歸因於這次程式修改。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01952"/>
            <a:ext cx="1956816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marked</a:t>
            </a:r>
            <a:r>
              <a:rPr sz="19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9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程式差異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14016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79776" y="1901952"/>
            <a:ext cx="1956816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6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6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策略輸出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36592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02352" y="1901952"/>
            <a:ext cx="1956816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radio</a:t>
            </a:r>
            <a:r>
              <a:rPr sz="19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9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停留時間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59168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24928" y="1901952"/>
            <a:ext cx="1956816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19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工作結果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81744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47504" y="1901952"/>
            <a:ext cx="1956816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38944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9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9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能量結果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" y="3602736"/>
            <a:ext cx="4937760" cy="12618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749039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中介證據有差異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187952"/>
            <a:ext cx="4572000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中介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與結果欄位反映程式修改。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602736"/>
            <a:ext cx="4937760" cy="1261872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749039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中介證據無差異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4572000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保留程式差異，返回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API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runtime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path</a:t>
            </a:r>
            <a:r>
              <a:rPr sz="21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Lab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延伸：</a:t>
            </a:r>
            <a:r>
              <a:rPr sz="28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WAIT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8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SLEEP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的狀態帳本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兩種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的差異不只在名稱，而在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awake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idle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sleep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wake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的停留時間。
比較順序為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WAIT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SLEEP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WAKE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TX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duration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、封包結果與服務結果。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73936"/>
            <a:ext cx="5285232" cy="248716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491947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59152"/>
            <a:ext cx="4919472" cy="17739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維持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awake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idle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等待期間持續累積功率
後續送出通常不經完整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wake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transition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773936"/>
            <a:ext cx="5285232" cy="248716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5936" y="1920240"/>
            <a:ext cx="491947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SLEEP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2359152"/>
            <a:ext cx="4919472" cy="17739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進入低功率休息狀態
重新送出前增加 </a:t>
            </a:r>
            <a:r>
              <a:rPr sz="22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WAKE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節省與延遲由同一份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ledger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判定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590288"/>
            <a:ext cx="10314432" cy="768096"/>
          </a:xfrm>
          <a:prstGeom prst="rect">
            <a:avLst/>
          </a:prstGeom>
          <a:solidFill>
            <a:srgbClr val="F5F6F8"/>
          </a:solidFill>
          <a:ln w="15240">
            <a:solidFill>
              <a:srgbClr val="444B56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檢查：</a:t>
            </a: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WAIT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SLEEP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WAKE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TX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duration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→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delivery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→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→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endpoint_energy_j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Lab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延伸：切換太慢與過度往返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門檻與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hold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條件同時影響服務連續性、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次數與狀態能量。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too-slow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ping-pong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是不同失敗機制，須分別從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trace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判讀。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37360"/>
            <a:ext cx="5230368" cy="292608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83664"/>
            <a:ext cx="48646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切換太慢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22576"/>
            <a:ext cx="4864607" cy="22128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quality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已下降
策略仍維持原狀態
可能錯過服務視窗或增加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37360"/>
            <a:ext cx="5230368" cy="292608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83664"/>
            <a:ext cx="48646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過度往返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322576"/>
            <a:ext cx="4864607" cy="22128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→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→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事件密集
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2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change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增加
</a:t>
            </a:r>
            <a:r>
              <a:rPr sz="22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continuity</a:t>
            </a:r>
            <a:r>
              <a:rPr sz="22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與能量需一起檢查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010912"/>
            <a:ext cx="10021824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ENTER_QUALITY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EXIT_QUALITY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STABLE_STEPS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共同決定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transition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timing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Lab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延伸：批次與緊急資料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批次策略減少喚醒與傳送事件，但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deadline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urgent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限制等待時間。
批次過小增加喚醒與傳送；批次過大則可能造成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urgent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deadline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failure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2395728"/>
            <a:ext cx="10405872" cy="0"/>
          </a:xfrm>
          <a:prstGeom prst="line">
            <a:avLst/>
          </a:prstGeom>
          <a:ln w="27940">
            <a:solidFill>
              <a:srgbClr val="2F32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88136" y="2249424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一般資料</a:t>
            </a:r>
          </a:p>
        </p:txBody>
      </p:sp>
      <p:sp>
        <p:nvSpPr>
          <p:cNvPr id="8" name="Oval 7"/>
          <p:cNvSpPr/>
          <p:nvPr/>
        </p:nvSpPr>
        <p:spPr>
          <a:xfrm>
            <a:off x="3191256" y="2249424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一般資料</a:t>
            </a:r>
          </a:p>
        </p:txBody>
      </p:sp>
      <p:sp>
        <p:nvSpPr>
          <p:cNvPr id="10" name="Oval 9"/>
          <p:cNvSpPr/>
          <p:nvPr/>
        </p:nvSpPr>
        <p:spPr>
          <a:xfrm>
            <a:off x="5358383" y="2249424"/>
            <a:ext cx="292608" cy="292608"/>
          </a:xfrm>
          <a:prstGeom prst="ellipse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7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batch</a:t>
            </a:r>
            <a:r>
              <a:rPr sz="18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threshold</a:t>
            </a:r>
          </a:p>
        </p:txBody>
      </p:sp>
      <p:sp>
        <p:nvSpPr>
          <p:cNvPr id="12" name="Oval 11"/>
          <p:cNvSpPr/>
          <p:nvPr/>
        </p:nvSpPr>
        <p:spPr>
          <a:xfrm>
            <a:off x="7699248" y="2249424"/>
            <a:ext cx="292608" cy="292608"/>
          </a:xfrm>
          <a:prstGeom prst="ellipse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urgent</a:t>
            </a:r>
          </a:p>
        </p:txBody>
      </p:sp>
      <p:sp>
        <p:nvSpPr>
          <p:cNvPr id="14" name="Oval 13"/>
          <p:cNvSpPr/>
          <p:nvPr/>
        </p:nvSpPr>
        <p:spPr>
          <a:xfrm>
            <a:off x="10076688" y="2249424"/>
            <a:ext cx="292608" cy="292608"/>
          </a:xfrm>
          <a:prstGeom prst="ellipse">
            <a:avLst/>
          </a:prstGeom>
          <a:solidFill>
            <a:srgbClr val="444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2912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deadline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438144"/>
            <a:ext cx="3236976" cy="129844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84448"/>
            <a:ext cx="28712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累積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023359"/>
            <a:ext cx="2871216" cy="58521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queue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depth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age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增加。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3438144"/>
            <a:ext cx="3236976" cy="129844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3584448"/>
            <a:ext cx="28712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批次送出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023359"/>
            <a:ext cx="2871216" cy="58521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減少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WAKE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TX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event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次數。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3438144"/>
            <a:ext cx="3236976" cy="1298448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3584448"/>
            <a:ext cx="28712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緊急送出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4023359"/>
            <a:ext cx="2871216" cy="58521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deadline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urgent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覆寫等待。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047488"/>
            <a:ext cx="991209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批次較大 ≠ 自動較省；</a:t>
            </a: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service_pass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endpoint_energy_j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同時判定。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上傳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JSON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後網站執行哪些步驟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在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/course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檔案選擇器選取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stdout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result_path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指向的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result.json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
網站驗證通過後建立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replay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workbook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紀錄；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student_policy.py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不會上傳或執行。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19072"/>
            <a:ext cx="2907792" cy="12252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65376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選取 </a:t>
            </a:r>
            <a:r>
              <a:rPr sz="19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result.json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04288"/>
            <a:ext cx="2542032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來源：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stdout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result_path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作用：唯一匯入入口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2331720"/>
            <a:ext cx="420624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6928" y="3273552"/>
            <a:ext cx="2907792" cy="133502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419856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保留 </a:t>
            </a:r>
            <a:r>
              <a:rPr sz="18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endpoint-replay.json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58768"/>
            <a:ext cx="2542032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同一 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目錄的配對證據
不在匯入欄另外選取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3941063"/>
            <a:ext cx="420624" cy="0"/>
          </a:xfrm>
          <a:prstGeom prst="line">
            <a:avLst/>
          </a:prstGeom>
          <a:ln w="19050">
            <a:solidFill>
              <a:srgbClr val="00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31920" y="1993392"/>
            <a:ext cx="2286000" cy="2615184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213969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驗證 </a:t>
            </a:r>
            <a:r>
              <a:rPr sz="22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78608"/>
            <a:ext cx="1920240" cy="19019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</a:t>
            </a:r>
            <a:r>
              <a:rPr sz="19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9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</a:t>
            </a:r>
            <a:r>
              <a:rPr sz="19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version</a:t>
            </a: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9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units</a:t>
            </a: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</a:t>
            </a:r>
            <a:r>
              <a:rPr sz="19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event</a:t>
            </a:r>
            <a:r>
              <a:rPr sz="19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9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contract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0" y="3300984"/>
            <a:ext cx="420624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75120" y="1993392"/>
            <a:ext cx="2157984" cy="261518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139696"/>
            <a:ext cx="179222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建立 </a:t>
            </a:r>
            <a:r>
              <a:rPr sz="22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replay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78608"/>
            <a:ext cx="1792224" cy="19019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建立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current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replay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33104" y="3300984"/>
            <a:ext cx="420624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90304" y="1993392"/>
            <a:ext cx="2322576" cy="26151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3184" y="2139696"/>
            <a:ext cx="19568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更新 </a:t>
            </a:r>
            <a:r>
              <a:rPr sz="22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workbook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578608"/>
            <a:ext cx="1956816" cy="19019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保存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prediction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lineage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901184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匯入控制選擇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result.json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；瀏覽器不執行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student_policy.py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，也不修改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generated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artifacts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對照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Part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讀取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/course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欄位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本頁是欄位閱讀地圖；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current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/course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真實畫面與逐項說明位於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Part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P085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–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P099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
閱讀順序為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identity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、來源、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workbook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82496"/>
            <a:ext cx="6565392" cy="3968496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65376"/>
            <a:ext cx="6089904" cy="4023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欄位閱讀地圖｜真實畫面見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Part</a:t>
            </a:r>
            <a:r>
              <a:rPr sz="20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0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P085</a:t>
            </a:r>
            <a:r>
              <a:rPr sz="20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–</a:t>
            </a:r>
            <a:r>
              <a:rPr sz="20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P099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2487168"/>
            <a:ext cx="420624" cy="384048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487168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2000" b="1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1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2000" b="1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3044952"/>
            <a:ext cx="420624" cy="384048"/>
          </a:xfrm>
          <a:prstGeom prst="rect">
            <a:avLst/>
          </a:prstGeom>
          <a:solidFill>
            <a:srgbClr val="006970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044952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2000" b="1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mode</a:t>
            </a:r>
            <a:r>
              <a:rPr sz="2000" b="1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1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3602736"/>
            <a:ext cx="420624" cy="384048"/>
          </a:xfrm>
          <a:prstGeom prst="rect">
            <a:avLst/>
          </a:prstGeom>
          <a:solidFill>
            <a:srgbClr val="006970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3602736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2000" b="1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1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packet</a:t>
            </a:r>
            <a:r>
              <a:rPr sz="2000" b="1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4160520"/>
            <a:ext cx="420624" cy="384048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4160520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2000" b="1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duration</a:t>
            </a:r>
            <a:r>
              <a:rPr sz="2000" b="1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1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1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1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4718304"/>
            <a:ext cx="420624" cy="384048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718304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workbook</a:t>
            </a:r>
            <a:r>
              <a:rPr sz="2000" b="1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1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6368" y="1682496"/>
            <a:ext cx="4023360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773936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–</a:t>
            </a:r>
            <a:r>
              <a:rPr sz="1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1773936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確認目前顯示的是哪個 </a:t>
            </a:r>
            <a:r>
              <a:rPr sz="175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75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policy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與來源。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8" y="2670048"/>
            <a:ext cx="4023360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761488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2761488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服務與封包結果優先於單一能量數值。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3657600"/>
            <a:ext cx="4023360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3749039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3749039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state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duration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說明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的機制。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6368" y="4645152"/>
            <a:ext cx="4023360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736592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4736592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workbook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記錄流程狀態。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記錄的目的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.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\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course.cmd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verify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bash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course.sh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verify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寫入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terminal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receipt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。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/course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的「記錄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」只保存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browser-local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狀態；兩者都不會產生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結果。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847088"/>
            <a:ext cx="2487168" cy="144475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建立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Python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3.11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.venv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569464"/>
            <a:ext cx="36576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46704" y="1847088"/>
            <a:ext cx="2487168" cy="144475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TERMINAL</a:t>
            </a:r>
            <a:r>
              <a:rPr sz="18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檢查前置條件並寫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receipt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33872" y="2569464"/>
            <a:ext cx="36576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54496" y="1847088"/>
            <a:ext cx="2487168" cy="144475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/COURSE</a:t>
            </a:r>
            <a:r>
              <a:rPr sz="18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保存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browser-local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狀態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41664" y="2569464"/>
            <a:ext cx="36576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62288" y="1847088"/>
            <a:ext cx="2487168" cy="144475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5168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RUN</a:t>
            </a: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10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產生或載入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" y="3822191"/>
            <a:ext cx="5010912" cy="133502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68496"/>
            <a:ext cx="464515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兩種 </a:t>
            </a:r>
            <a:r>
              <a:rPr sz="22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READY</a:t>
            </a:r>
            <a:r>
              <a:rPr sz="22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 紀錄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4407407"/>
            <a:ext cx="4645152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terminal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receipt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記錄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verify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browser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record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保存頁面狀態。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822191"/>
            <a:ext cx="5010912" cy="1335024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968496"/>
            <a:ext cx="464515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兩者都不代表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07407"/>
            <a:ext cx="4645152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已完成、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通過、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降低或比較成立。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資料來源與能量範圍要同時標記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actual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matching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fallback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simulated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derived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是來源分類；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是範圍分類。
同樣標示為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的數值，來源與範圍不同時不放在同一項效率比較。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來源分類｜資料如何產生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4032" y="16276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範圍分類｜數值涵蓋哪一層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57984"/>
            <a:ext cx="4736592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585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actual</a:t>
            </a:r>
            <a:r>
              <a:rPr sz="185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5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2384" y="2258568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本機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產生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27248"/>
            <a:ext cx="4736592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2278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matching</a:t>
            </a:r>
            <a:r>
              <a:rPr sz="185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5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32278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相同 </a:t>
            </a:r>
            <a:r>
              <a:rPr sz="175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scenario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的封裝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artifact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736592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19709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simulated</a:t>
            </a:r>
            <a:r>
              <a:rPr sz="185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50" b="1" i="0">
                <a:solidFill>
                  <a:srgbClr val="2F327F"/>
                </a:solidFill>
                <a:latin typeface="Times New Roman"/>
                <a:ea typeface="Times New Roman"/>
                <a:cs typeface="Times New Roman"/>
              </a:rPr>
              <a:t>derived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4197096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模型或 </a:t>
            </a:r>
            <a:r>
              <a:rPr sz="17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runner</a:t>
            </a:r>
            <a:r>
              <a:rPr sz="17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輸出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5392" y="2157984"/>
            <a:ext cx="4736592" cy="137160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2304288"/>
            <a:ext cx="4370831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743200"/>
            <a:ext cx="4370831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LoRaEnergySim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result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replay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</a:t>
            </a:r>
            <a:r>
              <a:rPr sz="1850" b="0" i="1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radio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＋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processing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boundary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3730752"/>
            <a:ext cx="4736592" cy="1371600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3877056"/>
            <a:ext cx="4370831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system</a:t>
            </a:r>
            <a:r>
              <a:rPr sz="22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2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canonical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4315968"/>
            <a:ext cx="4370831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Leo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C-120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provider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或 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canonical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source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
另一套 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numerator</a:t>
            </a:r>
            <a:r>
              <a:rPr sz="185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185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denominator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15584" y="2139696"/>
            <a:ext cx="0" cy="2761488"/>
          </a:xfrm>
          <a:prstGeom prst="line">
            <a:avLst/>
          </a:prstGeom>
          <a:ln w="2032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97280" y="5230368"/>
            <a:ext cx="9985248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同為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J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不代表相同語義；來源標籤與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scope</a:t>
            </a:r>
            <a:r>
              <a:rPr sz="21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 標籤必須同時存在。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依問題返回對應操作頁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Times New Roman"/>
                <a:cs typeface="Times New Roman"/>
              </a:rPr>
              <a:t>P116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附錄的作用在於補足概念；查閱完成後回到原本的安裝、實驗、匯入或網站判讀。
依左側問題分類找到說明頁，再由右側連結返回對應的主流程。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37360"/>
            <a:ext cx="2834640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8366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來源／視窗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22576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P100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–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84448" y="2130552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96512" y="1737360"/>
            <a:ext cx="7242048" cy="786384"/>
          </a:xfrm>
          <a:prstGeom prst="rect">
            <a:avLst/>
          </a:prstGeom>
          <a:solidFill>
            <a:srgbClr val="EEF1F9"/>
          </a:solidFill>
          <a:ln w="15240">
            <a:solidFill>
              <a:srgbClr val="2F327F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返回情境與服務視窗說明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761488"/>
            <a:ext cx="2834640" cy="78638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90779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策略／程式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346704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P103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P107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–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4448" y="3154680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6512" y="2761488"/>
            <a:ext cx="7242048" cy="786384"/>
          </a:xfrm>
          <a:prstGeom prst="rect">
            <a:avLst/>
          </a:prstGeom>
          <a:solidFill>
            <a:srgbClr val="E8F4F4"/>
          </a:solidFill>
          <a:ln w="15240">
            <a:solidFill>
              <a:srgbClr val="006970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返回 </a:t>
            </a:r>
            <a:r>
              <a:rPr sz="23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Lab</a:t>
            </a:r>
            <a:r>
              <a:rPr sz="23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 </a:t>
            </a:r>
            <a:r>
              <a:rPr sz="23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3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3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2300" b="1" i="0">
                <a:solidFill>
                  <a:srgbClr val="006970"/>
                </a:solidFill>
                <a:latin typeface="標楷體"/>
                <a:ea typeface="標楷體"/>
                <a:cs typeface="標楷體"/>
              </a:rPr>
              <a:t>／</a:t>
            </a:r>
            <a:r>
              <a:rPr sz="2300" b="1" i="0">
                <a:solidFill>
                  <a:srgbClr val="006970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785616"/>
            <a:ext cx="2834640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319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服務／能量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70832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P104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–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P106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、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P115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84448" y="4178808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96512" y="3785616"/>
            <a:ext cx="7242048" cy="786384"/>
          </a:xfrm>
          <a:prstGeom prst="rect">
            <a:avLst/>
          </a:prstGeom>
          <a:solidFill>
            <a:srgbClr val="EEF1F9"/>
          </a:solidFill>
          <a:ln w="15240">
            <a:solidFill>
              <a:srgbClr val="2F327F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標楷體"/>
                <a:ea typeface="標楷體"/>
                <a:cs typeface="標楷體"/>
              </a:rPr>
              <a:t>返回結果比較頁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09744"/>
            <a:ext cx="2834640" cy="786384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9560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Times New Roman"/>
                <a:cs typeface="Times New Roman"/>
              </a:rPr>
              <a:t>JSON</a:t>
            </a:r>
            <a:r>
              <a:rPr sz="20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／網站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394959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P112</a:t>
            </a:r>
            <a:r>
              <a:rPr sz="1800" b="0" i="0">
                <a:solidFill>
                  <a:srgbClr val="191C22"/>
                </a:solidFill>
                <a:latin typeface="標楷體"/>
                <a:ea typeface="標楷體"/>
                <a:cs typeface="標楷體"/>
              </a:rPr>
              <a:t>–</a:t>
            </a:r>
            <a:r>
              <a:rPr sz="1800" b="0" i="0">
                <a:solidFill>
                  <a:srgbClr val="191C22"/>
                </a:solidFill>
                <a:latin typeface="Times New Roman"/>
                <a:ea typeface="Times New Roman"/>
                <a:cs typeface="Times New Roman"/>
              </a:rPr>
              <a:t>P114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84448" y="5202936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96512" y="4809744"/>
            <a:ext cx="7242048" cy="786384"/>
          </a:xfrm>
          <a:prstGeom prst="rect">
            <a:avLst/>
          </a:prstGeom>
          <a:solidFill>
            <a:srgbClr val="F5F6F8"/>
          </a:solidFill>
          <a:ln w="15240">
            <a:solidFill>
              <a:srgbClr val="444B56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44B56"/>
                </a:solidFill>
                <a:latin typeface="標楷體"/>
                <a:ea typeface="標楷體"/>
                <a:cs typeface="標楷體"/>
              </a:rPr>
              <a:t>返回匯入與欄位操作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LoRaEnergySim + LEO BeamShift 附錄脈絡化重寫</dc:title>
  <dc:creator>OpenAI Codex</dc:creator>
  <cp:lastModifiedBy>柏宏 吳</cp:lastModifiedBy>
  <cp:revision>1493</cp:revision>
  <dcterms:created xsi:type="dcterms:W3CDTF">2019-10-21T01:22:34Z</dcterms:created>
  <dcterms:modified xsi:type="dcterms:W3CDTF">2025-12-10T11:42:30Z</dcterms:modified>
  <dc:subject>P098-P116 contextual appendix review</dc:subject>
</cp:coreProperties>
</file>