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4"/>
  </p:notesMasterIdLst>
  <p:sldIdLst>
    <p:sldId id="256" r:id="rId3"/>
    <p:sldId id="257" r:id="rId2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5169CF"/>
    <a:srgbClr val="A1A1A1"/>
    <a:srgbClr val="5F75D3"/>
    <a:srgbClr val="EFA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46" autoAdjust="0"/>
    <p:restoredTop sz="76848" autoAdjust="0"/>
  </p:normalViewPr>
  <p:slideViewPr>
    <p:cSldViewPr snapToGrid="0">
      <p:cViewPr varScale="1">
        <p:scale>
          <a:sx n="88" d="100"/>
          <a:sy n="88" d="100"/>
        </p:scale>
        <p:origin x="153" y="4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6E184DA3-7456-445E-B789-C4A3C11A868B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787" tIns="47393" rIns="94787" bIns="47393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E0BAEFB6-4136-4525-B476-790D9DDC51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060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P046。A candidate 將 Lab A 的 marked value 改為 WAIT 後，以 `--freeze` 產生 receipt 與 checkpoint。receipt 記錄 policy identity、scenario、seed role 與 active block；checkpoint 保存可復原的 policy source。hidden 不再改 policy，只在同一 frozen identity 下讀取另一個 case。這個 lineage 讓後續差異可以回到條件與事件，而不是混入新的 edit。 目前 evidence 尚待取得，數值欄位維持待補；讀取時使用本次 stdout 印出的 result_path，並以同一產物目錄的 endpoint-replay.json 配對。若 receipt 或 checkpoint 缺失，先從 baseline policy 還原，重新執行 A candidate 的 `--freeze`；尚未取得配對 identity 前不進 hidden。 資料分類維持 SIMULATED TEACHING DATA / NOT LIVE / NOT MEASURED / NOT CANONICAL-PARITY-VERIFIED。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P047。A hidden 只替換 case 條件，不替換 frozen policy。讀取 command stdout 的 `result_path`，再配對同一 run 目錄的 `endpoint-replay.json`。如果 service、delivery 或 endpoint J 方向改變，這是對條件邊界的資訊；結論不延伸成所有 window 或 traffic 都相同。 目前 evidence 尚待取得，數值欄位維持待補；讀取時使用本次 stdout 印出的 result_path，並以同一產物目錄的 endpoint-replay.json 配對。若 hidden path 缺失，從 `artifacts/checkpoints/lab-a-frozen.py` 還原 policy，重新執行 exact hidden case，使用新 stdout result_path。 資料分類維持 SIMULATED TEACHING DATA / NOT LIVE / NOT MEASURED / NOT CANONICAL-PARITY-VERIFIED。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P048。Lab A 收束時，`state_interval` 來自 result events，單位是秒；它把 WAIT 或 SLEEP 的 action 接到後續時間與 energy bucket。接著讀 packet delivery、service gate 與同一 result 的 `endpoint_energy_j`。這種讀法保留 mechanism、service 與端點 scope，避免把單一 J 值當成完整結論。 目前 evidence 尚待取得，數值欄位維持待補；讀取時使用本次 stdout 印出的 result_path，並以同一產物目錄的 endpoint-replay.json 配對。若三個 result／replay pair 的 identity 無法配對，回到 A freeze gate，重新取得正確 stdout result_path；不手改 JSON。 資料分類維持 SIMULATED TEACHING DATA / NOT LIVE / NOT MEASURED / NOT CANONICAL-PARITY-VERIFIED。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P049。Lab B 使用 LoRaEnergySim 的 energy-state vocabulary 來串起 quality observation、MODE_CHANGE、packet outcome 與 endpoint energy。這使 hold 參數不只是品質分數，而能沿事件鏈追問何時進入 send-ready、是否取得傳送機會、是否付出 retry 或 radio／processing 成本。LEO 只提供 changing service window 的情境輸入；本套件的結果是固定 scenario 的 simulated teaching data。 目前 evidence 尚待取得，數值欄位維持待補；讀取時使用本次 stdout 印出的 result_path，並以同一產物目錄的 endpoint-replay.json 配對。若前序 A policy 不是 frozen，先還原 `artifacts/checkpoints/lab-a-frozen.py`，完成 compile 後再開始 Lab B。 資料分類維持 SIMULATED TEACHING DATA / NOT LIVE / NOT MEASURED / NOT CANONICAL-PARITY-VERIFIED。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P050。Lab B 的實際檔案是 `student_policy.py`，作用區塊是 `lab-b-enter-exit-hold`。ENTER_QUALITY=2 與 EXIT_QUALITY=1 先保持不動；本 lab 的唯一 edit 是 STABLE_STEPS。Lab A 的 frozen block、Lab C block、runner、scenario 與 schema 都是固定條件。這個界線讓後續結果可歸因於一個變數。 目前 evidence 尚待取得，數值欄位維持待補；讀取時使用本次 stdout 印出的 result_path，並以同一產物目錄的 endpoint-replay.json 配對。若 marked block 或 predecessor identity 與頁面不同，先停止執行，從 A frozen checkpoint 恢復，再檢查 package baseline。 資料分類維持 SIMULATED TEACHING DATA / NOT LIVE / NOT MEASURED / NOT CANONICAL-PARITY-VERIFIED。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P051。Before code 顯示 B marked block 的五行相關內容。ENTER_QUALITY=2 定義品質達標；EXIT_QUALITY=1 定義已進入後的保持下限。STABLE_STEPS=2 則要求同一正品質連續出現兩個固定 step，才可進入 send-ready。只有這個數值屬於本頁之後的 edit。 目前 evidence 尚待取得，數值欄位維持待補；讀取時使用本次 stdout 印出的 result_path，並以同一產物目錄的 endpoint-replay.json 配對。先保持 baseline policy 不變，執行 Trace A baseline；stdout 印出的 result_path 是之後比較的基準。 資料分類維持 SIMULATED TEACHING DATA / NOT LIVE / NOT MEASURED / NOT CANONICAL-PARITY-VERIFIED。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P052。After code 顯示相同的 B block，只有數字 1 被標示為 changed value。ENTER_QUALITY、EXIT_QUALITY、中文註解、Lab A frozen block、Lab C block、runner、scenario、schemas 與檔案格式都保持原樣。這是一個 bounded edit；候選效果要由 Trace A candidate 的事件與結果驗證。 目前 evidence 尚待取得，數值欄位維持待補；讀取時使用本次 stdout 印出的 result_path，並以同一產物目錄的 endpoint-replay.json 配對。存檔後先做 compile，再執行 Trace A candidate 的 `--freeze`；若多於一個值改變，回到 baseline policy 重做。 資料分類維持 SIMULATED TEACHING DATA / NOT LIVE / NOT MEASURED / NOT CANONICAL-PARITY-VERIFIED。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P053。Baseline 的 STABLE_STEPS=2 需要兩個連續穩定觀測；第一次達標只開始累積，第二次仍穩定才記錄 MODE_CHANGE。Candidate 的值為 1，第一次達標就可能進入 send-ready。這個機制只改變 decision timing；封包是否送達仍由窗口、runner 與 packet outcome 決定。 目前 evidence 尚待取得，數值欄位維持待補；讀取時使用本次 stdout 印出的 result_path，並以同一產物目錄的 endpoint-replay.json 配對。Trace A 要讀 MODE_CHANGE 的時間，再讀 packet、service 與 endpoint J；若沒有事件證據，不把 timing prediction 當成結果。 資料分類維持 SIMULATED TEACHING DATA / NOT LIVE / NOT MEASURED / NOT CANONICAL-PARITY-VERIFIED。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P054。Trace A 比較的前提是 A frozen predecessor。Baseline 使用 STABLE_STEPS=2；candidate 只改為 1，並以 `--freeze` 產生 B checkpoint；Trace B 維持這個 frozen policy，改看 withheld case。預測是可被反駁的工作假設：較早進入可能增加 service opportunity，也可能增加 radio／processing 成本。 目前 evidence 尚待取得，數值欄位維持待補；讀取時使用本次 stdout 印出的 result_path，並以同一產物目錄的 endpoint-replay.json 配對。執行順序不可交換；candidate freeze 缺失時不進 Trace B，先恢復 A checkpoint 並重跑 candidate freeze。 資料分類維持 SIMULATED TEACHING DATA / NOT LIVE / NOT MEASURED / NOT CANONICAL-PARITY-VERIFIED。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P055。Linux 與 macOS 終端機使用 `bash course.sh`；WSL 同樣使用這組 Linux launcher。第一條建立 Trace A baseline；第二條在 STABLE_STEPS=1 的 policy 下建立 candidate freeze；第三條保持 B frozen 執行 Trace B。每一條成功命令都在 stdout 印出本次 `result_path`，後續以該路徑找 result.json。 目前 evidence 尚待取得，數值欄位維持待補；讀取時使用本次 stdout 印出的 result_path，並以同一產物目錄的 endpoint-replay.json 配對。若命令失敗，保留 stdout／stderr；candidate freeze 缺失時不執行 Trace B，先回到 A checkpoint 並重做 candidate。 資料分類維持 SIMULATED TEACHING DATA / NOT LIVE / NOT MEASURED / NOT CANONICAL-PARITY-VERIFIED。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P056。Windows PowerShell 以 ` .\course.cmd ` 呼叫三個 Lab B cases；Command Prompt 以 `course.cmd` 呼叫同樣三個參數。PowerShell 版本的前綴包含 `.` 與反斜線；Command Prompt 版本不含這個前綴。案例順序保持 baseline、candidate `--freeze`、Trace B，stdout 仍是 result_path 的唯一選取入口。 目前 evidence 尚待取得，數值欄位維持待補；讀取時使用本次 stdout 印出的 result_path，並以同一產物目錄的 endpoint-replay.json 配對。若 shell 解析錯誤，改用該 shell 的完整 launcher，不混用引號或換行；保留錯誤後重新執行 exact case。 資料分類維持 SIMULATED TEACHING DATA / NOT LIVE / NOT MEASURED / NOT CANONICAL-PARITY-VERIFIED。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P057。每次成功 run 的 stdout 都會印出 `result_path`。該路徑指向 `artifacts/&lt;run_id&gt;/result.json`；同一目錄的 `endpoint-replay.json` 保存 state、queue 與 packet 的回放資料。candidate 加上 `--freeze` 時，另外保存 receipt 與 checkpoint。policy checkpoint 用來恢復 lineage，不能代替遺失的 result。 目前 evidence 尚待取得，數值欄位維持待補；讀取時使用本次 stdout 印出的 result_path，並以同一產物目錄的 endpoint-replay.json 配對。若 result 或 replay 缺一，保留原始 stdout path，不手改 JSON；回到最後一個有效 checkpoint，重跑 exact case 取得新的 pair。 資料分類維持 SIMULATED TEACHING DATA / NOT LIVE / NOT MEASURED / NOT CANONICAL-PARITY-VERIFIED。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P058。結果判讀固定採四層順序。第一層 service 讀 deadline、freshness 與 delivery；第二層 packet 讀 attempted、retry、collision 與 delivered；第三層 state 讀 MODE_CHANGE 與 WAIT／SLEEP／PROCESS／TX／RX 的時間；第四層讀 endpoint_energy_j。endpoint J 只描述 endpoint radio／processing scope，不是 LEO 或整個 system energy。 目前 evidence 尚待取得，數值欄位維持待補；讀取時使用本次 stdout 印出的 result_path，並以同一產物目錄的 endpoint-replay.json 配對。若 service_pass、packet 或 state 欄位缺失，先確認 result／replay 是同一 run pair，再進行解讀。 資料分類維持 SIMULATED TEACHING DATA / NOT LIVE / NOT MEASURED / NOT CANONICAL-PARITY-VERIFIED。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P059。Trace A current evidence 顯示：STABLE_STEPS 由 2 改成 1 後，delivered 從 1/4 增至 3/4，expired 從 3 降至 1；retries 與 collisions 都維持 1。endpoint energy 從 8.86 J 增至 10.66 J，增加 1.80 J，但 service_pass 仍為 false。因此 candidate 改善送達數，不等於完成 service gate。 這組數值來自 current Trace A baseline／candidate result pair；後續仍以同一 run 的 replay 對照 MODE_CHANGE 與 state interval，不把 service false 寫成成功。 資料分類維持 SIMULATED TEACHING DATA / NOT LIVE / NOT MEASURED / NOT CANONICAL-PARITY-VERIFIED。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P060。Trace B 沿用 Trace A candidate 的 frozen policy，但 current evidence 顯示 delivered 只有 1/3、expired 為 2、service_pass 仍為 false、endpoint energy 為 5.43 J。Trace B 沒有通過 service，因此 5.43 J 只能描述這個 withheld case 的端點成本，不能覆蓋服務失敗，也不能支持整體改善。 保持 B checkpoint 與 policy identity 不變；若 B evidence pair 缺失，先恢復 A predecessor，重新執行 Trace A candidate `--freeze`，再跑 Trace B。 資料分類維持 SIMULATED TEACHING DATA / NOT LIVE / NOT MEASURED / NOT CANONICAL-PARITY-VERIFIED。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P061。current evidence 的 Lab B 結論是條件式的：Trace A candidate 將 delivered 從 1/4 提高到 3/4、expired 從 3 降到 1，但 endpoint energy 從 8.86 J 增至 10.66 J，且 service_pass 仍為 false。Trace B 使用 frozen candidate，delivered 只有 1/3、expired 為 2、endpoint energy 為 5.43 J，service_pass 同樣為 false。因此 candidate 增加送達並不等於整體改善；Trace B 未通過 service，不能宣稱跨 case 的改善。LoRaEnergySim energy ledger 的幫助在於把這個送達／成本／服務 trade-off 放在同一條可追溯鏈。 保留 B freeze 與兩組 result／replay identity；若欄位不符，回到 B freeze gate，不重新改 policy。 資料分類維持 SIMULATED TEACHING DATA / NOT LIVE / NOT MEASURED / NOT CANONICAL-PARITY-VERIFIED。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P062。中斷復原分成 copy、compile、exact rerun、new pair 四步。Linux／macOS 終端機與 WSL 使用 cp 和 `.venv/bin/python`；Windows Command Prompt 使用 copy /Y 和 `.venv\Scripts\python.exe`。copy 只恢復 B frozen policy，compile 只確認語法；同一 case 重新 run 才會取得新的 result_path 與同目錄 replay。 目前 evidence 尚待取得，數值欄位維持待補；讀取時使用本次 stdout 印出的 result_path，並以同一產物目錄的 endpoint-replay.json 配對。若缺少 result 或 replay，不手改 artifact；從最後一個 identity 正確的 checkpoint 恢復，依原 case contract 重新執行。 資料分類維持 SIMULATED TEACHING DATA / NOT LIVE / NOT MEASURED / NOT CANONICAL-PARITY-VERIFIED。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P063。匯入 /course 時，選擇 stdout 的 `result_path` 所指向的 `result.json`，不要上傳 policy source。網站驗證 schema、scenario、case、units、policy lineage 與 provenance；通過後讀取同一目錄的 `endpoint-replay.json`，把 service、packet、state 與 endpoint J 保存到 workbook。讀取順序仍是 service → packet → state → endpoint J。identity、unit 或 provenance 不符時 fail closed，原 workbook 不變。 目前 evidence 尚待取得，數值欄位維持待補；讀取時使用本次 stdout 印出的 result_path，並以同一產物目錄的 endpoint-replay.json 配對。若匯入失敗，保留錯誤與原始 stdout path；回到中斷復原步驟重跑 exact case，取得新的 result／replay pair，不手改 JSON。 資料分類維持 SIMULATED TEACHING DATA / NOT LIVE / NOT MEASURED / NOT CANONICAL-PARITY-VERIFIED。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805DCD4E-0403-46F3-858B-5BF02EA5C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Line 12">
            <a:extLst>
              <a:ext uri="{FF2B5EF4-FFF2-40B4-BE49-F238E27FC236}">
                <a16:creationId xmlns:a16="http://schemas.microsoft.com/office/drawing/2014/main" id="{C41B0D54-DF44-4127-9A39-B15ADA472D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1184" y="2312353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Line 13">
            <a:extLst>
              <a:ext uri="{FF2B5EF4-FFF2-40B4-BE49-F238E27FC236}">
                <a16:creationId xmlns:a16="http://schemas.microsoft.com/office/drawing/2014/main" id="{B2658828-45E5-4D11-9E76-B8625DD6F8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685" y="2844165"/>
            <a:ext cx="109431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95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132417" y="1581209"/>
            <a:ext cx="10363200" cy="1143000"/>
          </a:xfrm>
        </p:spPr>
        <p:txBody>
          <a:bodyPr/>
          <a:lstStyle>
            <a:lvl1pPr>
              <a:defRPr sz="3200" b="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de-DE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80117" y="2935777"/>
            <a:ext cx="8534400" cy="1438103"/>
          </a:xfrm>
        </p:spPr>
        <p:txBody>
          <a:bodyPr/>
          <a:lstStyle>
            <a:lvl1pPr marL="0" indent="0" algn="ctr">
              <a:buFont typeface="Symbol" pitchFamily="18" charset="2"/>
              <a:buNone/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  <a:endParaRPr lang="de-DE" dirty="0"/>
          </a:p>
        </p:txBody>
      </p:sp>
      <p:sp>
        <p:nvSpPr>
          <p:cNvPr id="10" name="Rectangle 28">
            <a:extLst>
              <a:ext uri="{FF2B5EF4-FFF2-40B4-BE49-F238E27FC236}">
                <a16:creationId xmlns:a16="http://schemas.microsoft.com/office/drawing/2014/main" id="{8B435778-36B6-470A-939D-7E55FA140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F80F928-0BFD-43F3-B309-F20FD4B2E04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3509"/>
            <a:ext cx="12192000" cy="216208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4DFD7906-056A-47BA-A5D9-39A4EA473B5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75182" y="0"/>
            <a:ext cx="2265448" cy="32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28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8">
            <a:extLst>
              <a:ext uri="{FF2B5EF4-FFF2-40B4-BE49-F238E27FC236}">
                <a16:creationId xmlns:a16="http://schemas.microsoft.com/office/drawing/2014/main" id="{46B19FCD-9041-49CE-B2A7-94FA63606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B7FDDD4-34FF-4C30-A3FA-0C9DE9C65A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21662"/>
            <a:ext cx="12192000" cy="21620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BBD6104-E76A-4DD4-96A1-B5DFE36EE1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537E7AB-D74C-4DDB-911A-5E4E55C8C56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5728" y="6340475"/>
            <a:ext cx="10705672" cy="350555"/>
          </a:xfrm>
        </p:spPr>
        <p:txBody>
          <a:bodyPr/>
          <a:lstStyle>
            <a:lvl1pPr marL="0" indent="0">
              <a:buFontTx/>
              <a:buNone/>
              <a:defRPr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</a:lstStyle>
          <a:p>
            <a:pPr lvl="0"/>
            <a:r>
              <a:rPr lang="zh-TW" altLang="en-US" dirty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87340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777D388-01C3-486D-A87C-B924DC57D28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D893B48-16BE-E45D-6372-999419BFA5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308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28">
            <a:extLst>
              <a:ext uri="{FF2B5EF4-FFF2-40B4-BE49-F238E27FC236}">
                <a16:creationId xmlns:a16="http://schemas.microsoft.com/office/drawing/2014/main" id="{B243DEEE-11C0-45AB-B44D-DA0457D5804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112EF57-5A2F-97E4-31F4-6B2593170B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28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28">
            <a:extLst>
              <a:ext uri="{FF2B5EF4-FFF2-40B4-BE49-F238E27FC236}">
                <a16:creationId xmlns:a16="http://schemas.microsoft.com/office/drawing/2014/main" id="{C39D7682-F964-461A-AAAE-372642E0A38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0D15BFF-517B-3F62-F57C-7D32F1722A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015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8">
            <a:extLst>
              <a:ext uri="{FF2B5EF4-FFF2-40B4-BE49-F238E27FC236}">
                <a16:creationId xmlns:a16="http://schemas.microsoft.com/office/drawing/2014/main" id="{F27029BD-E6AF-407F-ACA5-95E13AE34AC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6503788-F803-DC83-ED63-88E8F575E8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151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E618970D-DD05-4ECF-8733-3A668C35F98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0F9C425-8EE6-52EC-F828-4140E6EFA4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324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94783" y="135466"/>
            <a:ext cx="11360151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939800"/>
            <a:ext cx="7315200" cy="3787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028672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45A8477-25E2-4F3E-A2CA-70F6EA99A4A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02888C7-1B6B-55CD-3260-A183B3AD7E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36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A425C922-DC02-4EB7-87C5-86932890B2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E837BF0-9322-459D-EC50-1D7F6B46FE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848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39063" y="931333"/>
            <a:ext cx="2842683" cy="517419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50334" y="931333"/>
            <a:ext cx="8329084" cy="517419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42F45190-893E-4A4D-AC70-724C5AF4D21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B2D1CF3-7FC4-BA66-E0BC-42D6639BC5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473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9ABF8AB-B0B8-4681-BD44-8CF5E845AA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6" name="Rectangle 4">
            <a:extLst>
              <a:ext uri="{FF2B5EF4-FFF2-40B4-BE49-F238E27FC236}">
                <a16:creationId xmlns:a16="http://schemas.microsoft.com/office/drawing/2014/main" id="{E37310E9-2521-4BB7-B15D-959B68467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5151" y="141288"/>
            <a:ext cx="114173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altLang="zh-TW" dirty="0"/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794864E5-9918-4FF7-9866-35661BF26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5151" y="914400"/>
            <a:ext cx="114173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 err="1"/>
              <a:t>Klicken</a:t>
            </a:r>
            <a:r>
              <a:rPr lang="en-US" altLang="zh-TW" dirty="0"/>
              <a:t> Sie, um die </a:t>
            </a:r>
            <a:r>
              <a:rPr lang="en-US" altLang="zh-TW" dirty="0" err="1"/>
              <a:t>Formate</a:t>
            </a:r>
            <a:r>
              <a:rPr lang="en-US" altLang="zh-TW" dirty="0"/>
              <a:t> des </a:t>
            </a:r>
            <a:r>
              <a:rPr lang="en-US" altLang="zh-TW" dirty="0" err="1"/>
              <a:t>Vorlagentextes</a:t>
            </a:r>
            <a:r>
              <a:rPr lang="en-US" altLang="zh-TW" dirty="0"/>
              <a:t> </a:t>
            </a:r>
            <a:r>
              <a:rPr lang="en-US" altLang="zh-TW" dirty="0" err="1"/>
              <a:t>zu</a:t>
            </a:r>
            <a:r>
              <a:rPr lang="en-US" altLang="zh-TW" dirty="0"/>
              <a:t> </a:t>
            </a:r>
            <a:r>
              <a:rPr lang="en-US" altLang="zh-TW" dirty="0" err="1"/>
              <a:t>bearbeiten</a:t>
            </a:r>
            <a:endParaRPr lang="en-US" altLang="zh-TW" dirty="0"/>
          </a:p>
          <a:p>
            <a:pPr lvl="1"/>
            <a:r>
              <a:rPr lang="en-US" altLang="zh-TW" dirty="0" err="1"/>
              <a:t>Zweite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2"/>
            <a:r>
              <a:rPr lang="en-US" altLang="zh-TW" dirty="0" err="1"/>
              <a:t>Dritte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3"/>
            <a:r>
              <a:rPr lang="en-US" altLang="zh-TW" dirty="0" err="1"/>
              <a:t>Vierte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4"/>
            <a:r>
              <a:rPr lang="en-US" altLang="zh-TW" dirty="0" err="1"/>
              <a:t>Fünfte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</p:txBody>
      </p:sp>
      <p:sp>
        <p:nvSpPr>
          <p:cNvPr id="1028" name="Line 22">
            <a:extLst>
              <a:ext uri="{FF2B5EF4-FFF2-40B4-BE49-F238E27FC236}">
                <a16:creationId xmlns:a16="http://schemas.microsoft.com/office/drawing/2014/main" id="{AB7F6124-04C7-45E8-AA65-7F9F759D6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29" name="Line 24">
            <a:extLst>
              <a:ext uri="{FF2B5EF4-FFF2-40B4-BE49-F238E27FC236}">
                <a16:creationId xmlns:a16="http://schemas.microsoft.com/office/drawing/2014/main" id="{C8074568-B491-4B67-9A93-41BE6E79B6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30" name="Line 25">
            <a:extLst>
              <a:ext uri="{FF2B5EF4-FFF2-40B4-BE49-F238E27FC236}">
                <a16:creationId xmlns:a16="http://schemas.microsoft.com/office/drawing/2014/main" id="{311CE126-5E96-48EA-A8E4-423F29F2B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6240463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8508" name="Rectangle 28">
            <a:extLst>
              <a:ext uri="{FF2B5EF4-FFF2-40B4-BE49-F238E27FC236}">
                <a16:creationId xmlns:a16="http://schemas.microsoft.com/office/drawing/2014/main" id="{87C75FDA-A8B1-4916-8A2B-A105EA9C4F4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70913959-438C-19FB-F2F8-1592E452ADC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D03BE1FC-A522-6621-C15D-29238ADFB2C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88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76200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0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2pPr>
      <a:lvl3pPr marL="12382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3pPr>
      <a:lvl4pPr marL="1619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4pPr>
      <a:lvl5pPr marL="2000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5pPr>
      <a:lvl6pPr marL="24574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6pPr>
      <a:lvl7pPr marL="29146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7pPr>
      <a:lvl8pPr marL="33718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8pPr>
      <a:lvl9pPr marL="38290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9144" tIns="0" rIns="9144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A freeze：把 candidate 綁成可追溯 policy</a:t>
            </a:r>
          </a:p>
        </p:txBody>
      </p:sp>
      <p:sp>
        <p:nvSpPr>
          <p:cNvPr id="3" name="Readable lead"/>
          <p:cNvSpPr txBox="1"/>
          <p:nvPr/>
        </p:nvSpPr>
        <p:spPr>
          <a:xfrm>
            <a:off x="841248" y="932688"/>
            <a:ext cx="1049731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freeze receipt 固定 policy identity；hidden 只接受配對的 checkpoint。</a:t>
            </a:r>
          </a:p>
        </p:txBody>
      </p:sp>
      <p:sp>
        <p:nvSpPr>
          <p:cNvPr id="4" name="A freeze node 1"/>
          <p:cNvSpPr/>
          <p:nvPr/>
        </p:nvSpPr>
        <p:spPr>
          <a:xfrm>
            <a:off x="713232" y="1572768"/>
            <a:ext cx="3255264" cy="1353312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 freeze node 1 heading"/>
          <p:cNvSpPr txBox="1"/>
          <p:nvPr/>
        </p:nvSpPr>
        <p:spPr>
          <a:xfrm>
            <a:off x="859536" y="1682495"/>
            <a:ext cx="2962656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A baseline</a:t>
            </a:r>
          </a:p>
        </p:txBody>
      </p:sp>
      <p:sp>
        <p:nvSpPr>
          <p:cNvPr id="6" name="A freeze node 1 body"/>
          <p:cNvSpPr txBox="1"/>
          <p:nvPr/>
        </p:nvSpPr>
        <p:spPr>
          <a:xfrm>
            <a:off x="877824" y="2084832"/>
            <a:ext cx="2926080" cy="731519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原始 policy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固定 scenario／seed</a:t>
            </a:r>
          </a:p>
        </p:txBody>
      </p:sp>
      <p:sp>
        <p:nvSpPr>
          <p:cNvPr id="7" name="A freeze connector"/>
          <p:cNvSpPr/>
          <p:nvPr/>
        </p:nvSpPr>
        <p:spPr>
          <a:xfrm>
            <a:off x="4078224" y="2066543"/>
            <a:ext cx="310896" cy="384048"/>
          </a:xfrm>
          <a:prstGeom prst="chevron">
            <a:avLst/>
          </a:prstGeom>
          <a:solidFill>
            <a:srgbClr val="84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 freeze node 2"/>
          <p:cNvSpPr/>
          <p:nvPr/>
        </p:nvSpPr>
        <p:spPr>
          <a:xfrm>
            <a:off x="4480560" y="1572768"/>
            <a:ext cx="3255264" cy="1353312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 freeze node 2 heading"/>
          <p:cNvSpPr txBox="1"/>
          <p:nvPr/>
        </p:nvSpPr>
        <p:spPr>
          <a:xfrm>
            <a:off x="4626864" y="1682495"/>
            <a:ext cx="2962656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candidate + freeze</a:t>
            </a:r>
          </a:p>
        </p:txBody>
      </p:sp>
      <p:sp>
        <p:nvSpPr>
          <p:cNvPr id="10" name="A freeze node 2 body"/>
          <p:cNvSpPr txBox="1"/>
          <p:nvPr/>
        </p:nvSpPr>
        <p:spPr>
          <a:xfrm>
            <a:off x="4645152" y="2084832"/>
            <a:ext cx="2926080" cy="731519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REST_DURING_GAP = WAIT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留下 receipt + checkpoint</a:t>
            </a:r>
          </a:p>
        </p:txBody>
      </p:sp>
      <p:sp>
        <p:nvSpPr>
          <p:cNvPr id="11" name="A freeze connector"/>
          <p:cNvSpPr/>
          <p:nvPr/>
        </p:nvSpPr>
        <p:spPr>
          <a:xfrm>
            <a:off x="7845552" y="2066543"/>
            <a:ext cx="310896" cy="384048"/>
          </a:xfrm>
          <a:prstGeom prst="chevron">
            <a:avLst/>
          </a:prstGeom>
          <a:solidFill>
            <a:srgbClr val="84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 freeze node 3"/>
          <p:cNvSpPr/>
          <p:nvPr/>
        </p:nvSpPr>
        <p:spPr>
          <a:xfrm>
            <a:off x="8247888" y="1572768"/>
            <a:ext cx="3255264" cy="1353312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 freeze node 3 heading"/>
          <p:cNvSpPr txBox="1"/>
          <p:nvPr/>
        </p:nvSpPr>
        <p:spPr>
          <a:xfrm>
            <a:off x="8394192" y="1682495"/>
            <a:ext cx="2962656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A hidden</a:t>
            </a:r>
          </a:p>
        </p:txBody>
      </p:sp>
      <p:sp>
        <p:nvSpPr>
          <p:cNvPr id="14" name="A freeze node 3 body"/>
          <p:cNvSpPr txBox="1"/>
          <p:nvPr/>
        </p:nvSpPr>
        <p:spPr>
          <a:xfrm>
            <a:off x="8412480" y="2084832"/>
            <a:ext cx="2926080" cy="731519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policy 不再改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只換 case 條件</a:t>
            </a:r>
          </a:p>
        </p:txBody>
      </p:sp>
      <p:sp>
        <p:nvSpPr>
          <p:cNvPr id="15" name="A freeze receipt"/>
          <p:cNvSpPr/>
          <p:nvPr/>
        </p:nvSpPr>
        <p:spPr>
          <a:xfrm>
            <a:off x="786384" y="3273552"/>
            <a:ext cx="5084064" cy="1188720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 freeze receipt heading"/>
          <p:cNvSpPr txBox="1"/>
          <p:nvPr/>
        </p:nvSpPr>
        <p:spPr>
          <a:xfrm>
            <a:off x="932688" y="3383280"/>
            <a:ext cx="4791455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receipt｜凍結收據</a:t>
            </a:r>
          </a:p>
        </p:txBody>
      </p:sp>
      <p:sp>
        <p:nvSpPr>
          <p:cNvPr id="17" name="A freeze receipt body"/>
          <p:cNvSpPr txBox="1"/>
          <p:nvPr/>
        </p:nvSpPr>
        <p:spPr>
          <a:xfrm>
            <a:off x="950976" y="3785616"/>
            <a:ext cx="4754879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--freeze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產生；記下 policy、scenario、seed role。</a:t>
            </a:r>
          </a:p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作用：確認後續 case 使用同一個 policy identity。</a:t>
            </a:r>
          </a:p>
        </p:txBody>
      </p:sp>
      <p:sp>
        <p:nvSpPr>
          <p:cNvPr id="18" name="A freeze checkpoint"/>
          <p:cNvSpPr/>
          <p:nvPr/>
        </p:nvSpPr>
        <p:spPr>
          <a:xfrm>
            <a:off x="6272784" y="3273552"/>
            <a:ext cx="5084064" cy="1188720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 freeze checkpoint heading"/>
          <p:cNvSpPr txBox="1"/>
          <p:nvPr/>
        </p:nvSpPr>
        <p:spPr>
          <a:xfrm>
            <a:off x="6419088" y="3383280"/>
            <a:ext cx="4791455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checkpoint｜策略快照</a:t>
            </a:r>
          </a:p>
        </p:txBody>
      </p:sp>
      <p:sp>
        <p:nvSpPr>
          <p:cNvPr id="20" name="A freeze checkpoint body"/>
          <p:cNvSpPr txBox="1"/>
          <p:nvPr/>
        </p:nvSpPr>
        <p:spPr>
          <a:xfrm>
            <a:off x="6437376" y="3785616"/>
            <a:ext cx="4754879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同一 run 保存 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.json + .py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；可復原前序 policy。</a:t>
            </a:r>
          </a:p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作用：identity 不符時停止，不直接進 hidden。</a:t>
            </a:r>
          </a:p>
        </p:txBody>
      </p:sp>
      <p:sp>
        <p:nvSpPr>
          <p:cNvPr id="21" name="Field strip freeze_receipt"/>
          <p:cNvSpPr/>
          <p:nvPr/>
        </p:nvSpPr>
        <p:spPr>
          <a:xfrm>
            <a:off x="804672" y="4901184"/>
            <a:ext cx="10588752" cy="47548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rIns="146304" bIns="9144"/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freeze_receipt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（凍結收據識別）｜來源：candidate stdout／receipt｜作用：配對後續 policy｜單位：hash-like identity｜判讀：對得上才可進 hidden</a:t>
            </a:r>
          </a:p>
        </p:txBody>
      </p:sp>
      <p:sp>
        <p:nvSpPr>
          <p:cNvPr id="22" name="Claim boundary strip"/>
          <p:cNvSpPr/>
          <p:nvPr/>
        </p:nvSpPr>
        <p:spPr>
          <a:xfrm>
            <a:off x="804672" y="5468112"/>
            <a:ext cx="10588752" cy="402336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9144" rIns="27432" bIns="9144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資料界線：固定 scenario 的 simulated teaching data；結果以本次 stdout result_path 與同目錄 replay 為準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9144" tIns="0" rIns="9144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A hidden：同一 policy，檢查新的 case</a:t>
            </a:r>
          </a:p>
        </p:txBody>
      </p:sp>
      <p:sp>
        <p:nvSpPr>
          <p:cNvPr id="3" name="Readable lead"/>
          <p:cNvSpPr txBox="1"/>
          <p:nvPr/>
        </p:nvSpPr>
        <p:spPr>
          <a:xfrm>
            <a:off x="841248" y="932688"/>
            <a:ext cx="1049731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withheld case 改變 contact／traffic 條件；frozen policy 保持不變。</a:t>
            </a:r>
          </a:p>
        </p:txBody>
      </p:sp>
      <p:sp>
        <p:nvSpPr>
          <p:cNvPr id="4" name="A hidden frozen"/>
          <p:cNvSpPr/>
          <p:nvPr/>
        </p:nvSpPr>
        <p:spPr>
          <a:xfrm>
            <a:off x="786384" y="1572768"/>
            <a:ext cx="5102352" cy="239572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 hidden frozen heading"/>
          <p:cNvSpPr txBox="1"/>
          <p:nvPr/>
        </p:nvSpPr>
        <p:spPr>
          <a:xfrm>
            <a:off x="932688" y="1682495"/>
            <a:ext cx="480974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固定的 policy</a:t>
            </a:r>
          </a:p>
        </p:txBody>
      </p:sp>
      <p:sp>
        <p:nvSpPr>
          <p:cNvPr id="6" name="A hidden frozen body"/>
          <p:cNvSpPr txBox="1"/>
          <p:nvPr/>
        </p:nvSpPr>
        <p:spPr>
          <a:xfrm>
            <a:off x="950976" y="2084832"/>
            <a:ext cx="4773168" cy="177393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A checkpoint：</a:t>
            </a:r>
            <a:r>
              <a:rPr sz="20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REST_DURING_GAP = WAIT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policy edit：0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同一 policy identity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新的 case 條件才是檢驗因素</a:t>
            </a:r>
          </a:p>
        </p:txBody>
      </p:sp>
      <p:sp>
        <p:nvSpPr>
          <p:cNvPr id="7" name="A hidden evidence"/>
          <p:cNvSpPr/>
          <p:nvPr/>
        </p:nvSpPr>
        <p:spPr>
          <a:xfrm>
            <a:off x="6272784" y="1572768"/>
            <a:ext cx="5102352" cy="239572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 hidden evidence heading"/>
          <p:cNvSpPr txBox="1"/>
          <p:nvPr/>
        </p:nvSpPr>
        <p:spPr>
          <a:xfrm>
            <a:off x="6419088" y="1682495"/>
            <a:ext cx="480974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要讀的 evidence</a:t>
            </a:r>
          </a:p>
        </p:txBody>
      </p:sp>
      <p:sp>
        <p:nvSpPr>
          <p:cNvPr id="9" name="A hidden evidence body"/>
          <p:cNvSpPr txBox="1"/>
          <p:nvPr/>
        </p:nvSpPr>
        <p:spPr>
          <a:xfrm>
            <a:off x="6437376" y="2084832"/>
            <a:ext cx="4773168" cy="177393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指向本次 </a:t>
            </a: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result.json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同目錄保留 </a:t>
            </a: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endpoint-replay.json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service、delivery、endpoint J：待補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數值以同一 run pair 為準</a:t>
            </a:r>
          </a:p>
        </p:txBody>
      </p:sp>
      <p:sp>
        <p:nvSpPr>
          <p:cNvPr id="10" name="A hidden interpretation"/>
          <p:cNvSpPr/>
          <p:nvPr/>
        </p:nvSpPr>
        <p:spPr>
          <a:xfrm>
            <a:off x="914400" y="4315968"/>
            <a:ext cx="10369296" cy="713232"/>
          </a:xfrm>
          <a:prstGeom prst="roundRect">
            <a:avLst/>
          </a:prstGeom>
          <a:solidFill>
            <a:srgbClr val="FFF9E6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 hidden interpretation text"/>
          <p:cNvSpPr txBox="1"/>
          <p:nvPr/>
        </p:nvSpPr>
        <p:spPr>
          <a:xfrm>
            <a:off x="1078992" y="4462272"/>
            <a:ext cx="1004011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同一 policy 在新 case 出現不同結果，結論只描述可被這組條件支持的範圍。</a:t>
            </a:r>
          </a:p>
        </p:txBody>
      </p:sp>
      <p:sp>
        <p:nvSpPr>
          <p:cNvPr id="12" name="Field strip withheld"/>
          <p:cNvSpPr/>
          <p:nvPr/>
        </p:nvSpPr>
        <p:spPr>
          <a:xfrm>
            <a:off x="804672" y="4901184"/>
            <a:ext cx="10588752" cy="47548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rIns="146304" bIns="9144"/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withheld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（保留 case）｜來源：scenario contract｜作用：檢查條件邊界｜單位：case role｜判讀：不同結果不是新的調參證據</a:t>
            </a:r>
          </a:p>
        </p:txBody>
      </p:sp>
      <p:sp>
        <p:nvSpPr>
          <p:cNvPr id="13" name="Claim boundary strip"/>
          <p:cNvSpPr/>
          <p:nvPr/>
        </p:nvSpPr>
        <p:spPr>
          <a:xfrm>
            <a:off x="804672" y="5468112"/>
            <a:ext cx="10588752" cy="402336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9144" rIns="27432" bIns="9144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資料界線：固定 scenario 的 simulated teaching data；結果以本次 stdout result_path 與同目錄 replay 為準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9144" tIns="0" rIns="9144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Lab A 結論：state、service、J 要一起讀</a:t>
            </a:r>
          </a:p>
        </p:txBody>
      </p:sp>
      <p:sp>
        <p:nvSpPr>
          <p:cNvPr id="3" name="Readable lead"/>
          <p:cNvSpPr txBox="1"/>
          <p:nvPr/>
        </p:nvSpPr>
        <p:spPr>
          <a:xfrm>
            <a:off x="841248" y="932688"/>
            <a:ext cx="1049731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一個數字不能代替因果；先確認 state 怎麼變，再對照 service 與 endpoint J。</a:t>
            </a:r>
          </a:p>
        </p:txBody>
      </p:sp>
      <p:sp>
        <p:nvSpPr>
          <p:cNvPr id="4" name="A conclusion node 1"/>
          <p:cNvSpPr/>
          <p:nvPr/>
        </p:nvSpPr>
        <p:spPr>
          <a:xfrm>
            <a:off x="566928" y="1572768"/>
            <a:ext cx="2542032" cy="1335024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 conclusion node 1 heading"/>
          <p:cNvSpPr txBox="1"/>
          <p:nvPr/>
        </p:nvSpPr>
        <p:spPr>
          <a:xfrm>
            <a:off x="713232" y="1682495"/>
            <a:ext cx="224942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條件</a:t>
            </a:r>
          </a:p>
        </p:txBody>
      </p:sp>
      <p:sp>
        <p:nvSpPr>
          <p:cNvPr id="6" name="A conclusion node 1 body"/>
          <p:cNvSpPr txBox="1"/>
          <p:nvPr/>
        </p:nvSpPr>
        <p:spPr>
          <a:xfrm>
            <a:off x="731520" y="2084832"/>
            <a:ext cx="2212848" cy="713231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同一 scenario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A frozen identity</a:t>
            </a:r>
          </a:p>
        </p:txBody>
      </p:sp>
      <p:sp>
        <p:nvSpPr>
          <p:cNvPr id="7" name="A conclusion connector"/>
          <p:cNvSpPr/>
          <p:nvPr/>
        </p:nvSpPr>
        <p:spPr>
          <a:xfrm>
            <a:off x="3200400" y="2057400"/>
            <a:ext cx="310896" cy="384048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 conclusion node 2"/>
          <p:cNvSpPr/>
          <p:nvPr/>
        </p:nvSpPr>
        <p:spPr>
          <a:xfrm>
            <a:off x="3401568" y="1572768"/>
            <a:ext cx="2542032" cy="1335024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 conclusion node 2 heading"/>
          <p:cNvSpPr txBox="1"/>
          <p:nvPr/>
        </p:nvSpPr>
        <p:spPr>
          <a:xfrm>
            <a:off x="3547872" y="1682495"/>
            <a:ext cx="224942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state</a:t>
            </a:r>
          </a:p>
        </p:txBody>
      </p:sp>
      <p:sp>
        <p:nvSpPr>
          <p:cNvPr id="10" name="A conclusion node 2 body"/>
          <p:cNvSpPr txBox="1"/>
          <p:nvPr/>
        </p:nvSpPr>
        <p:spPr>
          <a:xfrm>
            <a:off x="3566160" y="2084832"/>
            <a:ext cx="2212848" cy="713231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0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SLEEP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state interval</a:t>
            </a:r>
          </a:p>
        </p:txBody>
      </p:sp>
      <p:sp>
        <p:nvSpPr>
          <p:cNvPr id="11" name="A conclusion connector"/>
          <p:cNvSpPr/>
          <p:nvPr/>
        </p:nvSpPr>
        <p:spPr>
          <a:xfrm>
            <a:off x="6035040" y="2057400"/>
            <a:ext cx="310896" cy="384048"/>
          </a:xfrm>
          <a:prstGeom prst="chevron">
            <a:avLst/>
          </a:prstGeom>
          <a:solidFill>
            <a:srgbClr val="660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 conclusion node 3"/>
          <p:cNvSpPr/>
          <p:nvPr/>
        </p:nvSpPr>
        <p:spPr>
          <a:xfrm>
            <a:off x="6236208" y="1572768"/>
            <a:ext cx="2542032" cy="1335024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 conclusion node 3 heading"/>
          <p:cNvSpPr txBox="1"/>
          <p:nvPr/>
        </p:nvSpPr>
        <p:spPr>
          <a:xfrm>
            <a:off x="6382512" y="1682495"/>
            <a:ext cx="224942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service</a:t>
            </a:r>
          </a:p>
        </p:txBody>
      </p:sp>
      <p:sp>
        <p:nvSpPr>
          <p:cNvPr id="14" name="A conclusion node 3 body"/>
          <p:cNvSpPr txBox="1"/>
          <p:nvPr/>
        </p:nvSpPr>
        <p:spPr>
          <a:xfrm>
            <a:off x="6400800" y="2084832"/>
            <a:ext cx="2212848" cy="713231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delivery、deadline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與 freshness gate</a:t>
            </a:r>
          </a:p>
        </p:txBody>
      </p:sp>
      <p:sp>
        <p:nvSpPr>
          <p:cNvPr id="15" name="A conclusion connector"/>
          <p:cNvSpPr/>
          <p:nvPr/>
        </p:nvSpPr>
        <p:spPr>
          <a:xfrm>
            <a:off x="8869680" y="2057400"/>
            <a:ext cx="310896" cy="384048"/>
          </a:xfrm>
          <a:prstGeom prst="chevron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 conclusion node 4"/>
          <p:cNvSpPr/>
          <p:nvPr/>
        </p:nvSpPr>
        <p:spPr>
          <a:xfrm>
            <a:off x="9070848" y="1572768"/>
            <a:ext cx="2542032" cy="1335024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A conclusion node 4 heading"/>
          <p:cNvSpPr txBox="1"/>
          <p:nvPr/>
        </p:nvSpPr>
        <p:spPr>
          <a:xfrm>
            <a:off x="9217152" y="1682495"/>
            <a:ext cx="224942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endpoint J</a:t>
            </a:r>
          </a:p>
        </p:txBody>
      </p:sp>
      <p:sp>
        <p:nvSpPr>
          <p:cNvPr id="18" name="A conclusion node 4 body"/>
          <p:cNvSpPr txBox="1"/>
          <p:nvPr/>
        </p:nvSpPr>
        <p:spPr>
          <a:xfrm>
            <a:off x="9235440" y="2084832"/>
            <a:ext cx="2212848" cy="713231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radio／processing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端點能量</a:t>
            </a:r>
          </a:p>
        </p:txBody>
      </p:sp>
      <p:sp>
        <p:nvSpPr>
          <p:cNvPr id="19" name="A conclusion sentence"/>
          <p:cNvSpPr/>
          <p:nvPr/>
        </p:nvSpPr>
        <p:spPr>
          <a:xfrm>
            <a:off x="841248" y="3273552"/>
            <a:ext cx="10497312" cy="1024128"/>
          </a:xfrm>
          <a:prstGeom prst="roundRect">
            <a:avLst/>
          </a:prstGeom>
          <a:solidFill>
            <a:srgbClr val="FFF9E6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A conclusion sentence text"/>
          <p:cNvSpPr txBox="1"/>
          <p:nvPr/>
        </p:nvSpPr>
        <p:spPr>
          <a:xfrm>
            <a:off x="1078992" y="3456432"/>
            <a:ext cx="10040112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tIns="9144" rIns="36576" bIns="9144">
            <a:sp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SLEEP → WAIT</a:t>
            </a: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先改變 state interval，再觀察 packet／service；</a:t>
            </a:r>
          </a:p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endpoint J 的變化只在同一 identity、同一 run pair 下解讀。</a:t>
            </a:r>
          </a:p>
        </p:txBody>
      </p:sp>
      <p:sp>
        <p:nvSpPr>
          <p:cNvPr id="21" name="Field strip state_interval"/>
          <p:cNvSpPr/>
          <p:nvPr/>
        </p:nvSpPr>
        <p:spPr>
          <a:xfrm>
            <a:off x="804672" y="4901184"/>
            <a:ext cx="10588752" cy="47548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rIns="146304" bIns="9144"/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state_interval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（狀態區間）｜來源：result events｜作用：把 action 接到時間｜單位：s｜判讀：對照 packet、service、endpoint J</a:t>
            </a:r>
          </a:p>
        </p:txBody>
      </p:sp>
      <p:sp>
        <p:nvSpPr>
          <p:cNvPr id="22" name="Claim boundary strip"/>
          <p:cNvSpPr/>
          <p:nvPr/>
        </p:nvSpPr>
        <p:spPr>
          <a:xfrm>
            <a:off x="804672" y="5468112"/>
            <a:ext cx="10588752" cy="402336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9144" rIns="27432" bIns="9144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資料界線：固定 scenario 的 simulated teaching data；結果以本次 stdout result_path 與同目錄 replay 為準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9144" tIns="0" rIns="9144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Lab B：一個 hold 參數，連到整條 energy ledger</a:t>
            </a:r>
          </a:p>
        </p:txBody>
      </p:sp>
      <p:sp>
        <p:nvSpPr>
          <p:cNvPr id="3" name="Readable lead"/>
          <p:cNvSpPr txBox="1"/>
          <p:nvPr/>
        </p:nvSpPr>
        <p:spPr>
          <a:xfrm>
            <a:off x="841248" y="932688"/>
            <a:ext cx="1049731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LoRaEnergySim 的價值在於把品質觀測、封包事件與端點 energy 放到同一條可追溯鏈。</a:t>
            </a:r>
          </a:p>
        </p:txBody>
      </p:sp>
      <p:sp>
        <p:nvSpPr>
          <p:cNvPr id="4" name="LoRa ledger node 1"/>
          <p:cNvSpPr/>
          <p:nvPr/>
        </p:nvSpPr>
        <p:spPr>
          <a:xfrm>
            <a:off x="548640" y="1572768"/>
            <a:ext cx="2615184" cy="148132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oRa ledger node 1 heading"/>
          <p:cNvSpPr txBox="1"/>
          <p:nvPr/>
        </p:nvSpPr>
        <p:spPr>
          <a:xfrm>
            <a:off x="694944" y="1682495"/>
            <a:ext cx="2322576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1｜觀測 quality</a:t>
            </a:r>
          </a:p>
        </p:txBody>
      </p:sp>
      <p:sp>
        <p:nvSpPr>
          <p:cNvPr id="6" name="LoRa ledger node 1 body"/>
          <p:cNvSpPr txBox="1"/>
          <p:nvPr/>
        </p:nvSpPr>
        <p:spPr>
          <a:xfrm>
            <a:off x="713232" y="2084832"/>
            <a:ext cx="2286000" cy="85953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quality_band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stable_steps</a:t>
            </a:r>
          </a:p>
        </p:txBody>
      </p:sp>
      <p:sp>
        <p:nvSpPr>
          <p:cNvPr id="7" name="LoRa ledger connector"/>
          <p:cNvSpPr/>
          <p:nvPr/>
        </p:nvSpPr>
        <p:spPr>
          <a:xfrm>
            <a:off x="3246120" y="2084831"/>
            <a:ext cx="310896" cy="384048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oRa ledger node 2"/>
          <p:cNvSpPr/>
          <p:nvPr/>
        </p:nvSpPr>
        <p:spPr>
          <a:xfrm>
            <a:off x="3346704" y="1572768"/>
            <a:ext cx="2615184" cy="1481328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oRa ledger node 2 heading"/>
          <p:cNvSpPr txBox="1"/>
          <p:nvPr/>
        </p:nvSpPr>
        <p:spPr>
          <a:xfrm>
            <a:off x="3493008" y="1682495"/>
            <a:ext cx="2322576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2｜模式事件</a:t>
            </a:r>
          </a:p>
        </p:txBody>
      </p:sp>
      <p:sp>
        <p:nvSpPr>
          <p:cNvPr id="10" name="LoRa ledger node 2 body"/>
          <p:cNvSpPr txBox="1"/>
          <p:nvPr/>
        </p:nvSpPr>
        <p:spPr>
          <a:xfrm>
            <a:off x="3511296" y="2084832"/>
            <a:ext cx="2286000" cy="85953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MODE_CHANGE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何時進入 send-ready</a:t>
            </a:r>
          </a:p>
        </p:txBody>
      </p:sp>
      <p:sp>
        <p:nvSpPr>
          <p:cNvPr id="11" name="LoRa ledger connector"/>
          <p:cNvSpPr/>
          <p:nvPr/>
        </p:nvSpPr>
        <p:spPr>
          <a:xfrm>
            <a:off x="6044184" y="2084831"/>
            <a:ext cx="310896" cy="384048"/>
          </a:xfrm>
          <a:prstGeom prst="chevron">
            <a:avLst/>
          </a:prstGeom>
          <a:solidFill>
            <a:srgbClr val="660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oRa ledger node 3"/>
          <p:cNvSpPr/>
          <p:nvPr/>
        </p:nvSpPr>
        <p:spPr>
          <a:xfrm>
            <a:off x="6144768" y="1572768"/>
            <a:ext cx="2615184" cy="1481328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oRa ledger node 3 heading"/>
          <p:cNvSpPr txBox="1"/>
          <p:nvPr/>
        </p:nvSpPr>
        <p:spPr>
          <a:xfrm>
            <a:off x="6291072" y="1682495"/>
            <a:ext cx="2322576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3｜封包結果</a:t>
            </a:r>
          </a:p>
        </p:txBody>
      </p:sp>
      <p:sp>
        <p:nvSpPr>
          <p:cNvPr id="14" name="LoRa ledger node 3 body"/>
          <p:cNvSpPr txBox="1"/>
          <p:nvPr/>
        </p:nvSpPr>
        <p:spPr>
          <a:xfrm>
            <a:off x="6309360" y="2084832"/>
            <a:ext cx="2286000" cy="85953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attempt／retry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delivery／collision</a:t>
            </a:r>
          </a:p>
        </p:txBody>
      </p:sp>
      <p:sp>
        <p:nvSpPr>
          <p:cNvPr id="15" name="LoRa ledger connector"/>
          <p:cNvSpPr/>
          <p:nvPr/>
        </p:nvSpPr>
        <p:spPr>
          <a:xfrm>
            <a:off x="8842248" y="2084831"/>
            <a:ext cx="310896" cy="384048"/>
          </a:xfrm>
          <a:prstGeom prst="chevron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LoRa ledger node 4"/>
          <p:cNvSpPr/>
          <p:nvPr/>
        </p:nvSpPr>
        <p:spPr>
          <a:xfrm>
            <a:off x="8942832" y="1572768"/>
            <a:ext cx="2615184" cy="148132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oRa ledger node 4 heading"/>
          <p:cNvSpPr txBox="1"/>
          <p:nvPr/>
        </p:nvSpPr>
        <p:spPr>
          <a:xfrm>
            <a:off x="9089136" y="1682495"/>
            <a:ext cx="2322576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4｜端點 energy</a:t>
            </a:r>
          </a:p>
        </p:txBody>
      </p:sp>
      <p:sp>
        <p:nvSpPr>
          <p:cNvPr id="18" name="LoRa ledger node 4 body"/>
          <p:cNvSpPr txBox="1"/>
          <p:nvPr/>
        </p:nvSpPr>
        <p:spPr>
          <a:xfrm>
            <a:off x="9107424" y="2084832"/>
            <a:ext cx="2286000" cy="85953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radio／processing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endpoint_energy_j</a:t>
            </a:r>
          </a:p>
        </p:txBody>
      </p:sp>
      <p:sp>
        <p:nvSpPr>
          <p:cNvPr id="19" name="LEO service input"/>
          <p:cNvSpPr/>
          <p:nvPr/>
        </p:nvSpPr>
        <p:spPr>
          <a:xfrm>
            <a:off x="786384" y="3401568"/>
            <a:ext cx="5084064" cy="1280160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LEO service input heading"/>
          <p:cNvSpPr txBox="1"/>
          <p:nvPr/>
        </p:nvSpPr>
        <p:spPr>
          <a:xfrm>
            <a:off x="932688" y="3511296"/>
            <a:ext cx="4791455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LEO input｜服務窗口</a:t>
            </a:r>
          </a:p>
        </p:txBody>
      </p:sp>
      <p:sp>
        <p:nvSpPr>
          <p:cNvPr id="21" name="LEO service input body"/>
          <p:cNvSpPr txBox="1"/>
          <p:nvPr/>
        </p:nvSpPr>
        <p:spPr>
          <a:xfrm>
            <a:off x="950976" y="3913632"/>
            <a:ext cx="4754879" cy="658367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service_window</a:t>
            </a: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定義合法傳輸機會。</a:t>
            </a:r>
          </a:p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它改變可用條件；policy edit 仍只在 endpoint decision block。</a:t>
            </a:r>
          </a:p>
        </p:txBody>
      </p:sp>
      <p:sp>
        <p:nvSpPr>
          <p:cNvPr id="22" name="Teaching comparison"/>
          <p:cNvSpPr/>
          <p:nvPr/>
        </p:nvSpPr>
        <p:spPr>
          <a:xfrm>
            <a:off x="6272784" y="3401568"/>
            <a:ext cx="5084064" cy="128016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aching comparison heading"/>
          <p:cNvSpPr txBox="1"/>
          <p:nvPr/>
        </p:nvSpPr>
        <p:spPr>
          <a:xfrm>
            <a:off x="6419088" y="3511296"/>
            <a:ext cx="4791455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可解釋的比較</a:t>
            </a:r>
          </a:p>
        </p:txBody>
      </p:sp>
      <p:sp>
        <p:nvSpPr>
          <p:cNvPr id="24" name="Teaching comparison body"/>
          <p:cNvSpPr txBox="1"/>
          <p:nvPr/>
        </p:nvSpPr>
        <p:spPr>
          <a:xfrm>
            <a:off x="6437376" y="3913632"/>
            <a:ext cx="4754879" cy="658367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同一 scenario 比較 baseline／candidate／withheld。</a:t>
            </a:r>
          </a:p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結果仍是 simulated teaching data，不是 live measurement。</a:t>
            </a:r>
          </a:p>
        </p:txBody>
      </p:sp>
      <p:sp>
        <p:nvSpPr>
          <p:cNvPr id="25" name="Field strip endpoint_energy_j"/>
          <p:cNvSpPr/>
          <p:nvPr/>
        </p:nvSpPr>
        <p:spPr>
          <a:xfrm>
            <a:off x="804672" y="4901184"/>
            <a:ext cx="10588752" cy="47548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rIns="146304" bIns="9144"/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endpoint_energy_j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（端點能量）｜來源：result energy breakdown｜作用：讀 radio／processing 成本｜單位：J｜判讀：不可改稱 LEO/system energy</a:t>
            </a:r>
          </a:p>
        </p:txBody>
      </p:sp>
      <p:sp>
        <p:nvSpPr>
          <p:cNvPr id="26" name="Claim boundary strip"/>
          <p:cNvSpPr/>
          <p:nvPr/>
        </p:nvSpPr>
        <p:spPr>
          <a:xfrm>
            <a:off x="804672" y="5468112"/>
            <a:ext cx="10588752" cy="402336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9144" rIns="27432" bIns="9144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資料界線：固定 scenario 的 simulated teaching data；結果以本次 stdout result_path 與同目錄 replay 為準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9144" tIns="0" rIns="9144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Lab B：找到唯一可編輯的決策區塊</a:t>
            </a:r>
          </a:p>
        </p:txBody>
      </p:sp>
      <p:sp>
        <p:nvSpPr>
          <p:cNvPr id="3" name="Readable lead"/>
          <p:cNvSpPr txBox="1"/>
          <p:nvPr/>
        </p:nvSpPr>
        <p:spPr>
          <a:xfrm>
            <a:off x="841248" y="932688"/>
            <a:ext cx="1049731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整份檔案保持原樣；本 lab 只改一個 marked block 內的 </a:t>
            </a:r>
            <a:r>
              <a:rPr sz="22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22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Lab B file location"/>
          <p:cNvSpPr/>
          <p:nvPr/>
        </p:nvSpPr>
        <p:spPr>
          <a:xfrm>
            <a:off x="768096" y="1554480"/>
            <a:ext cx="3218688" cy="267004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ab B file location heading"/>
          <p:cNvSpPr txBox="1"/>
          <p:nvPr/>
        </p:nvSpPr>
        <p:spPr>
          <a:xfrm>
            <a:off x="914400" y="1664207"/>
            <a:ext cx="2926080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檔案位置</a:t>
            </a:r>
          </a:p>
        </p:txBody>
      </p:sp>
      <p:sp>
        <p:nvSpPr>
          <p:cNvPr id="6" name="Lab B file location body"/>
          <p:cNvSpPr txBox="1"/>
          <p:nvPr/>
        </p:nvSpPr>
        <p:spPr>
          <a:xfrm>
            <a:off x="932688" y="2066543"/>
            <a:ext cx="2889504" cy="2048255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runner 每個固定 step 提供 observation；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choose_action()</a:t>
            </a: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依條件回傳 action。</a:t>
            </a:r>
          </a:p>
        </p:txBody>
      </p:sp>
      <p:sp>
        <p:nvSpPr>
          <p:cNvPr id="7" name="Lab B marked block"/>
          <p:cNvSpPr/>
          <p:nvPr/>
        </p:nvSpPr>
        <p:spPr>
          <a:xfrm>
            <a:off x="4224528" y="1554480"/>
            <a:ext cx="7168896" cy="2670048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ab B marked block line 1"/>
          <p:cNvSpPr txBox="1"/>
          <p:nvPr/>
        </p:nvSpPr>
        <p:spPr>
          <a:xfrm>
            <a:off x="4498848" y="1682495"/>
            <a:ext cx="6620256" cy="417576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# === LORA EDITABLE: lab-b-enter-exit-hold ===</a:t>
            </a:r>
          </a:p>
        </p:txBody>
      </p:sp>
      <p:sp>
        <p:nvSpPr>
          <p:cNvPr id="9" name="Lab B marked block line 2"/>
          <p:cNvSpPr txBox="1"/>
          <p:nvPr/>
        </p:nvSpPr>
        <p:spPr>
          <a:xfrm>
            <a:off x="4498848" y="2127504"/>
            <a:ext cx="6620256" cy="417576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ENTER_QUALITY = 2</a:t>
            </a:r>
          </a:p>
        </p:txBody>
      </p:sp>
      <p:sp>
        <p:nvSpPr>
          <p:cNvPr id="10" name="Lab B marked block line 3"/>
          <p:cNvSpPr txBox="1"/>
          <p:nvPr/>
        </p:nvSpPr>
        <p:spPr>
          <a:xfrm>
            <a:off x="4498848" y="2572511"/>
            <a:ext cx="6620256" cy="417576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EXIT_QUALITY = 1</a:t>
            </a:r>
          </a:p>
        </p:txBody>
      </p:sp>
      <p:sp>
        <p:nvSpPr>
          <p:cNvPr id="11" name="Lab B marked block highlighted line"/>
          <p:cNvSpPr/>
          <p:nvPr/>
        </p:nvSpPr>
        <p:spPr>
          <a:xfrm>
            <a:off x="4370832" y="2999232"/>
            <a:ext cx="6876288" cy="417576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ab B marked block target line"/>
          <p:cNvSpPr txBox="1"/>
          <p:nvPr/>
        </p:nvSpPr>
        <p:spPr>
          <a:xfrm>
            <a:off x="4498848" y="3017520"/>
            <a:ext cx="6620256" cy="417576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STABLE_STEPS = 2</a:t>
            </a:r>
          </a:p>
        </p:txBody>
      </p:sp>
      <p:sp>
        <p:nvSpPr>
          <p:cNvPr id="13" name="Lab B marked block line 5"/>
          <p:cNvSpPr txBox="1"/>
          <p:nvPr/>
        </p:nvSpPr>
        <p:spPr>
          <a:xfrm>
            <a:off x="4498848" y="3462527"/>
            <a:ext cx="6620256" cy="417576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# === LORA END EDITABLE: lab-b-enter-exit-hold ===</a:t>
            </a:r>
          </a:p>
        </p:txBody>
      </p:sp>
      <p:sp>
        <p:nvSpPr>
          <p:cNvPr id="14" name="Lab B fixed A"/>
          <p:cNvSpPr/>
          <p:nvPr/>
        </p:nvSpPr>
        <p:spPr>
          <a:xfrm>
            <a:off x="786384" y="4370832"/>
            <a:ext cx="3401568" cy="438912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Lab B fixed A heading"/>
          <p:cNvSpPr txBox="1"/>
          <p:nvPr/>
        </p:nvSpPr>
        <p:spPr>
          <a:xfrm>
            <a:off x="932688" y="4434840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0" rIns="9144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固定 A</a:t>
            </a:r>
          </a:p>
        </p:txBody>
      </p:sp>
      <p:sp>
        <p:nvSpPr>
          <p:cNvPr id="16" name="Lab B fixed A body"/>
          <p:cNvSpPr txBox="1"/>
          <p:nvPr/>
        </p:nvSpPr>
        <p:spPr>
          <a:xfrm>
            <a:off x="950976" y="4709160"/>
            <a:ext cx="3072384" cy="36575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REST_DURING_GAP = WAIT</a:t>
            </a:r>
          </a:p>
        </p:txBody>
      </p:sp>
      <p:sp>
        <p:nvSpPr>
          <p:cNvPr id="17" name="Lab B fixed C"/>
          <p:cNvSpPr/>
          <p:nvPr/>
        </p:nvSpPr>
        <p:spPr>
          <a:xfrm>
            <a:off x="4389120" y="4370832"/>
            <a:ext cx="3401568" cy="438912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Lab B fixed C heading"/>
          <p:cNvSpPr txBox="1"/>
          <p:nvPr/>
        </p:nvSpPr>
        <p:spPr>
          <a:xfrm>
            <a:off x="4535424" y="4434840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0" rIns="9144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固定 C</a:t>
            </a:r>
          </a:p>
        </p:txBody>
      </p:sp>
      <p:sp>
        <p:nvSpPr>
          <p:cNvPr id="19" name="Lab B fixed C body"/>
          <p:cNvSpPr txBox="1"/>
          <p:nvPr/>
        </p:nvSpPr>
        <p:spPr>
          <a:xfrm>
            <a:off x="4553712" y="4709160"/>
            <a:ext cx="3072384" cy="36575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URGENT_MARGIN_S = 20</a:t>
            </a:r>
          </a:p>
        </p:txBody>
      </p:sp>
      <p:sp>
        <p:nvSpPr>
          <p:cNvPr id="20" name="Lab B fixed runner"/>
          <p:cNvSpPr/>
          <p:nvPr/>
        </p:nvSpPr>
        <p:spPr>
          <a:xfrm>
            <a:off x="7991856" y="4370832"/>
            <a:ext cx="3401568" cy="438912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Lab B fixed runner heading"/>
          <p:cNvSpPr txBox="1"/>
          <p:nvPr/>
        </p:nvSpPr>
        <p:spPr>
          <a:xfrm>
            <a:off x="8138160" y="4434840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0" rIns="9144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固定執行器</a:t>
            </a:r>
          </a:p>
        </p:txBody>
      </p:sp>
      <p:sp>
        <p:nvSpPr>
          <p:cNvPr id="22" name="Lab B fixed runner body"/>
          <p:cNvSpPr txBox="1"/>
          <p:nvPr/>
        </p:nvSpPr>
        <p:spPr>
          <a:xfrm>
            <a:off x="8156448" y="4709160"/>
            <a:ext cx="3072384" cy="36575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runner／scenario／schemas</a:t>
            </a:r>
          </a:p>
        </p:txBody>
      </p:sp>
      <p:sp>
        <p:nvSpPr>
          <p:cNvPr id="23" name="Field strip active_block_id"/>
          <p:cNvSpPr/>
          <p:nvPr/>
        </p:nvSpPr>
        <p:spPr>
          <a:xfrm>
            <a:off x="804672" y="4901184"/>
            <a:ext cx="10588752" cy="47548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rIns="146304" bIns="9144"/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active_block_id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（作用區塊）｜來源：policy／freeze receipt｜作用：鎖定可編輯範圍｜單位：block name｜判讀：不是整份檔案都可改</a:t>
            </a:r>
          </a:p>
        </p:txBody>
      </p:sp>
      <p:sp>
        <p:nvSpPr>
          <p:cNvPr id="24" name="Claim boundary strip"/>
          <p:cNvSpPr/>
          <p:nvPr/>
        </p:nvSpPr>
        <p:spPr>
          <a:xfrm>
            <a:off x="804672" y="5468112"/>
            <a:ext cx="10588752" cy="402336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9144" rIns="27432" bIns="9144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資料界線：固定 scenario 的 simulated teaching data；結果以本次 stdout result_path 與同目錄 replay 為準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9144" tIns="0" rIns="9144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Lab B：Before 的 baseline</a:t>
            </a:r>
          </a:p>
        </p:txBody>
      </p:sp>
      <p:sp>
        <p:nvSpPr>
          <p:cNvPr id="3" name="Readable lead"/>
          <p:cNvSpPr txBox="1"/>
          <p:nvPr/>
        </p:nvSpPr>
        <p:spPr>
          <a:xfrm>
            <a:off x="841248" y="932688"/>
            <a:ext cx="1049731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先以原始 </a:t>
            </a:r>
            <a:r>
              <a:rPr sz="22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STABLE_STEPS = 2</a:t>
            </a:r>
            <a:r>
              <a:rPr sz="22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建立 Trace A baseline；這頁只讀 code，不先宣稱結果。</a:t>
            </a:r>
          </a:p>
        </p:txBody>
      </p:sp>
      <p:sp>
        <p:nvSpPr>
          <p:cNvPr id="4" name="Before code excerpt"/>
          <p:cNvSpPr/>
          <p:nvPr/>
        </p:nvSpPr>
        <p:spPr>
          <a:xfrm>
            <a:off x="768096" y="1481328"/>
            <a:ext cx="6931152" cy="2962656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efore code excerpt line 1"/>
          <p:cNvSpPr txBox="1"/>
          <p:nvPr/>
        </p:nvSpPr>
        <p:spPr>
          <a:xfrm>
            <a:off x="1042415" y="1609344"/>
            <a:ext cx="6382512" cy="46634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# === LORA EDITABLE: lab-b-enter-exit-hold ===</a:t>
            </a:r>
          </a:p>
        </p:txBody>
      </p:sp>
      <p:sp>
        <p:nvSpPr>
          <p:cNvPr id="6" name="Before code excerpt line 2"/>
          <p:cNvSpPr txBox="1"/>
          <p:nvPr/>
        </p:nvSpPr>
        <p:spPr>
          <a:xfrm>
            <a:off x="1042415" y="2103120"/>
            <a:ext cx="6382512" cy="46634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ENTER_QUALITY = 2</a:t>
            </a:r>
          </a:p>
        </p:txBody>
      </p:sp>
      <p:sp>
        <p:nvSpPr>
          <p:cNvPr id="7" name="Before code excerpt line 3"/>
          <p:cNvSpPr txBox="1"/>
          <p:nvPr/>
        </p:nvSpPr>
        <p:spPr>
          <a:xfrm>
            <a:off x="1042415" y="2596896"/>
            <a:ext cx="6382512" cy="46634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EXIT_QUALITY = 1</a:t>
            </a:r>
          </a:p>
        </p:txBody>
      </p:sp>
      <p:sp>
        <p:nvSpPr>
          <p:cNvPr id="8" name="Before code excerpt target prefix"/>
          <p:cNvSpPr txBox="1"/>
          <p:nvPr/>
        </p:nvSpPr>
        <p:spPr>
          <a:xfrm>
            <a:off x="1042415" y="3090672"/>
            <a:ext cx="5760720" cy="46634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STABLE_STEPS = </a:t>
            </a:r>
          </a:p>
        </p:txBody>
      </p:sp>
      <p:sp>
        <p:nvSpPr>
          <p:cNvPr id="9" name="Before code excerpt changed value"/>
          <p:cNvSpPr/>
          <p:nvPr/>
        </p:nvSpPr>
        <p:spPr>
          <a:xfrm>
            <a:off x="2688335" y="3099816"/>
            <a:ext cx="402336" cy="438912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efore code excerpt changed value text"/>
          <p:cNvSpPr txBox="1"/>
          <p:nvPr/>
        </p:nvSpPr>
        <p:spPr>
          <a:xfrm>
            <a:off x="2688335" y="3099816"/>
            <a:ext cx="402336" cy="43891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>
            <a:spAutoFit/>
          </a:bodyPr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2</a:t>
            </a:r>
          </a:p>
        </p:txBody>
      </p:sp>
      <p:sp>
        <p:nvSpPr>
          <p:cNvPr id="11" name="Before code excerpt line 5"/>
          <p:cNvSpPr txBox="1"/>
          <p:nvPr/>
        </p:nvSpPr>
        <p:spPr>
          <a:xfrm>
            <a:off x="1042415" y="3584448"/>
            <a:ext cx="6382512" cy="46634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# === LORA END EDITABLE: lab-b-enter-exit-hold ===</a:t>
            </a:r>
          </a:p>
        </p:txBody>
      </p:sp>
      <p:sp>
        <p:nvSpPr>
          <p:cNvPr id="12" name="Before enter threshold"/>
          <p:cNvSpPr/>
          <p:nvPr/>
        </p:nvSpPr>
        <p:spPr>
          <a:xfrm>
            <a:off x="7973568" y="1481328"/>
            <a:ext cx="3383280" cy="1261872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efore enter threshold heading"/>
          <p:cNvSpPr txBox="1"/>
          <p:nvPr/>
        </p:nvSpPr>
        <p:spPr>
          <a:xfrm>
            <a:off x="8119872" y="1591056"/>
            <a:ext cx="3090672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固定門檻</a:t>
            </a:r>
          </a:p>
        </p:txBody>
      </p:sp>
      <p:sp>
        <p:nvSpPr>
          <p:cNvPr id="14" name="Before enter threshold body"/>
          <p:cNvSpPr txBox="1"/>
          <p:nvPr/>
        </p:nvSpPr>
        <p:spPr>
          <a:xfrm>
            <a:off x="8138160" y="1993392"/>
            <a:ext cx="3054096" cy="640079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ENTER_QUALITY = 2</a:t>
            </a:r>
          </a:p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品質達 2 才有進入資格。</a:t>
            </a:r>
          </a:p>
        </p:txBody>
      </p:sp>
      <p:sp>
        <p:nvSpPr>
          <p:cNvPr id="15" name="Before exit threshold"/>
          <p:cNvSpPr/>
          <p:nvPr/>
        </p:nvSpPr>
        <p:spPr>
          <a:xfrm>
            <a:off x="7973568" y="2962656"/>
            <a:ext cx="3383280" cy="1481328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efore exit threshold heading"/>
          <p:cNvSpPr txBox="1"/>
          <p:nvPr/>
        </p:nvSpPr>
        <p:spPr>
          <a:xfrm>
            <a:off x="8119872" y="3072384"/>
            <a:ext cx="3090672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保持門檻</a:t>
            </a:r>
          </a:p>
        </p:txBody>
      </p:sp>
      <p:sp>
        <p:nvSpPr>
          <p:cNvPr id="17" name="Before exit threshold body"/>
          <p:cNvSpPr txBox="1"/>
          <p:nvPr/>
        </p:nvSpPr>
        <p:spPr>
          <a:xfrm>
            <a:off x="8138160" y="3474720"/>
            <a:ext cx="3054096" cy="85953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EXIT_QUALITY = 1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已進入後維持 1 或以上，不因小幅下降立即退出。</a:t>
            </a:r>
          </a:p>
        </p:txBody>
      </p:sp>
      <p:sp>
        <p:nvSpPr>
          <p:cNvPr id="18" name="Field strip STABLE_STEPS"/>
          <p:cNvSpPr/>
          <p:nvPr/>
        </p:nvSpPr>
        <p:spPr>
          <a:xfrm>
            <a:off x="804672" y="4901184"/>
            <a:ext cx="10588752" cy="47548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rIns="146304" bIns="9144"/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（穩定步數）｜來源：student_policy.py B block｜作用：限制進入時機｜單位：step｜判讀：baseline 需要連續 2 次觀測</a:t>
            </a:r>
          </a:p>
        </p:txBody>
      </p:sp>
      <p:sp>
        <p:nvSpPr>
          <p:cNvPr id="19" name="Claim boundary strip"/>
          <p:cNvSpPr/>
          <p:nvPr/>
        </p:nvSpPr>
        <p:spPr>
          <a:xfrm>
            <a:off x="804672" y="5468112"/>
            <a:ext cx="10588752" cy="402336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9144" rIns="27432" bIns="9144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資料界線：固定 scenario 的 simulated teaching data；結果以本次 stdout result_path 與同目錄 replay 為準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9144" tIns="0" rIns="9144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Lab B：After 的 candidate</a:t>
            </a:r>
          </a:p>
        </p:txBody>
      </p:sp>
      <p:sp>
        <p:nvSpPr>
          <p:cNvPr id="3" name="Readable lead"/>
          <p:cNvSpPr txBox="1"/>
          <p:nvPr/>
        </p:nvSpPr>
        <p:spPr>
          <a:xfrm>
            <a:off x="841248" y="932688"/>
            <a:ext cx="1049731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唯一 edit：</a:t>
            </a:r>
            <a:r>
              <a:rPr sz="22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22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從 2 改成 1；其它行、其它 block、其它檔案保持原樣。</a:t>
            </a:r>
          </a:p>
        </p:txBody>
      </p:sp>
      <p:sp>
        <p:nvSpPr>
          <p:cNvPr id="4" name="After code excerpt"/>
          <p:cNvSpPr/>
          <p:nvPr/>
        </p:nvSpPr>
        <p:spPr>
          <a:xfrm>
            <a:off x="768096" y="1481328"/>
            <a:ext cx="6931152" cy="2962656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fter code excerpt line 1"/>
          <p:cNvSpPr txBox="1"/>
          <p:nvPr/>
        </p:nvSpPr>
        <p:spPr>
          <a:xfrm>
            <a:off x="1042415" y="1609344"/>
            <a:ext cx="6382512" cy="46634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# === LORA EDITABLE: lab-b-enter-exit-hold ===</a:t>
            </a:r>
          </a:p>
        </p:txBody>
      </p:sp>
      <p:sp>
        <p:nvSpPr>
          <p:cNvPr id="6" name="After code excerpt line 2"/>
          <p:cNvSpPr txBox="1"/>
          <p:nvPr/>
        </p:nvSpPr>
        <p:spPr>
          <a:xfrm>
            <a:off x="1042415" y="2103120"/>
            <a:ext cx="6382512" cy="46634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ENTER_QUALITY = 2</a:t>
            </a:r>
          </a:p>
        </p:txBody>
      </p:sp>
      <p:sp>
        <p:nvSpPr>
          <p:cNvPr id="7" name="After code excerpt line 3"/>
          <p:cNvSpPr txBox="1"/>
          <p:nvPr/>
        </p:nvSpPr>
        <p:spPr>
          <a:xfrm>
            <a:off x="1042415" y="2596896"/>
            <a:ext cx="6382512" cy="46634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EXIT_QUALITY = 1</a:t>
            </a:r>
          </a:p>
        </p:txBody>
      </p:sp>
      <p:sp>
        <p:nvSpPr>
          <p:cNvPr id="8" name="After code excerpt target prefix"/>
          <p:cNvSpPr txBox="1"/>
          <p:nvPr/>
        </p:nvSpPr>
        <p:spPr>
          <a:xfrm>
            <a:off x="1042415" y="3090672"/>
            <a:ext cx="5760720" cy="46634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STABLE_STEPS = </a:t>
            </a:r>
          </a:p>
        </p:txBody>
      </p:sp>
      <p:sp>
        <p:nvSpPr>
          <p:cNvPr id="9" name="After code excerpt changed value"/>
          <p:cNvSpPr/>
          <p:nvPr/>
        </p:nvSpPr>
        <p:spPr>
          <a:xfrm>
            <a:off x="2688335" y="3099816"/>
            <a:ext cx="402336" cy="438912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After code excerpt changed value text"/>
          <p:cNvSpPr txBox="1"/>
          <p:nvPr/>
        </p:nvSpPr>
        <p:spPr>
          <a:xfrm>
            <a:off x="2688335" y="3099816"/>
            <a:ext cx="402336" cy="43891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>
            <a:spAutoFit/>
          </a:bodyPr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1</a:t>
            </a:r>
          </a:p>
        </p:txBody>
      </p:sp>
      <p:sp>
        <p:nvSpPr>
          <p:cNvPr id="11" name="After code excerpt line 5"/>
          <p:cNvSpPr txBox="1"/>
          <p:nvPr/>
        </p:nvSpPr>
        <p:spPr>
          <a:xfrm>
            <a:off x="1042415" y="3584448"/>
            <a:ext cx="6382512" cy="46634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# === LORA END EDITABLE: lab-b-enter-exit-hold ===</a:t>
            </a:r>
          </a:p>
        </p:txBody>
      </p:sp>
      <p:sp>
        <p:nvSpPr>
          <p:cNvPr id="12" name="After diff"/>
          <p:cNvSpPr/>
          <p:nvPr/>
        </p:nvSpPr>
        <p:spPr>
          <a:xfrm>
            <a:off x="7973568" y="1481328"/>
            <a:ext cx="3383280" cy="1261872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fter diff heading"/>
          <p:cNvSpPr txBox="1"/>
          <p:nvPr/>
        </p:nvSpPr>
        <p:spPr>
          <a:xfrm>
            <a:off x="8119872" y="1591056"/>
            <a:ext cx="3090672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one-line diff</a:t>
            </a:r>
          </a:p>
        </p:txBody>
      </p:sp>
      <p:sp>
        <p:nvSpPr>
          <p:cNvPr id="14" name="After diff body"/>
          <p:cNvSpPr txBox="1"/>
          <p:nvPr/>
        </p:nvSpPr>
        <p:spPr>
          <a:xfrm>
            <a:off x="8138160" y="1993392"/>
            <a:ext cx="3054096" cy="640079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Before：</a:t>
            </a:r>
            <a:r>
              <a:rPr sz="20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STABLE_STEPS = 2</a:t>
            </a:r>
          </a:p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After：</a:t>
            </a:r>
            <a:r>
              <a:rPr sz="20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STABLE_STEPS = 1</a:t>
            </a:r>
          </a:p>
        </p:txBody>
      </p:sp>
      <p:sp>
        <p:nvSpPr>
          <p:cNvPr id="15" name="After unchanged"/>
          <p:cNvSpPr/>
          <p:nvPr/>
        </p:nvSpPr>
        <p:spPr>
          <a:xfrm>
            <a:off x="7973568" y="2962656"/>
            <a:ext cx="3383280" cy="1481328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fter unchanged heading"/>
          <p:cNvSpPr txBox="1"/>
          <p:nvPr/>
        </p:nvSpPr>
        <p:spPr>
          <a:xfrm>
            <a:off x="8119872" y="3072384"/>
            <a:ext cx="3090672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保持不變</a:t>
            </a:r>
          </a:p>
        </p:txBody>
      </p:sp>
      <p:sp>
        <p:nvSpPr>
          <p:cNvPr id="17" name="After unchanged body"/>
          <p:cNvSpPr txBox="1"/>
          <p:nvPr/>
        </p:nvSpPr>
        <p:spPr>
          <a:xfrm>
            <a:off x="8138160" y="3474720"/>
            <a:ext cx="3054096" cy="85953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ENTER=2、EXIT=1、A frozen block、C block、runner、scenario、schemas。</a:t>
            </a:r>
          </a:p>
        </p:txBody>
      </p:sp>
      <p:sp>
        <p:nvSpPr>
          <p:cNvPr id="18" name="Field strip STABLE_STEPS"/>
          <p:cNvSpPr/>
          <p:nvPr/>
        </p:nvSpPr>
        <p:spPr>
          <a:xfrm>
            <a:off x="804672" y="4901184"/>
            <a:ext cx="10588752" cy="47548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rIns="146304" bIns="9144"/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（穩定步數）｜來源：student_policy.py B block｜作用：改變進入 timing｜單位：step｜判讀：candidate 只保留 1 次觀測</a:t>
            </a:r>
          </a:p>
        </p:txBody>
      </p:sp>
      <p:sp>
        <p:nvSpPr>
          <p:cNvPr id="19" name="Claim boundary strip"/>
          <p:cNvSpPr/>
          <p:nvPr/>
        </p:nvSpPr>
        <p:spPr>
          <a:xfrm>
            <a:off x="804672" y="5468112"/>
            <a:ext cx="10588752" cy="402336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9144" rIns="27432" bIns="9144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資料界線：固定 scenario 的 simulated teaching data；結果以本次 stdout result_path 與同目錄 replay 為準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9144" tIns="0" rIns="9144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Lab B：兩個穩定觀測 versus 一個</a:t>
            </a:r>
          </a:p>
        </p:txBody>
      </p:sp>
      <p:sp>
        <p:nvSpPr>
          <p:cNvPr id="3" name="Readable lead"/>
          <p:cNvSpPr txBox="1"/>
          <p:nvPr/>
        </p:nvSpPr>
        <p:spPr>
          <a:xfrm>
            <a:off x="841248" y="932688"/>
            <a:ext cx="1049731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相同 quality trace 下，hold 的差別是進入 send-ready 的時間；不是直接指定封包成功。</a:t>
            </a:r>
          </a:p>
        </p:txBody>
      </p:sp>
      <p:sp>
        <p:nvSpPr>
          <p:cNvPr id="4" name="Two-step timing"/>
          <p:cNvSpPr/>
          <p:nvPr/>
        </p:nvSpPr>
        <p:spPr>
          <a:xfrm>
            <a:off x="768096" y="1481328"/>
            <a:ext cx="5084064" cy="294436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wo-step heading"/>
          <p:cNvSpPr txBox="1"/>
          <p:nvPr/>
        </p:nvSpPr>
        <p:spPr>
          <a:xfrm>
            <a:off x="987552" y="1664208"/>
            <a:ext cx="4645152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0" rIns="9144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baseline：兩次確認</a:t>
            </a:r>
          </a:p>
        </p:txBody>
      </p:sp>
      <p:sp>
        <p:nvSpPr>
          <p:cNvPr id="6" name="Two-step observation"/>
          <p:cNvSpPr/>
          <p:nvPr/>
        </p:nvSpPr>
        <p:spPr>
          <a:xfrm>
            <a:off x="1298448" y="2212848"/>
            <a:ext cx="1170432" cy="7863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wo-step observation text"/>
          <p:cNvSpPr txBox="1"/>
          <p:nvPr/>
        </p:nvSpPr>
        <p:spPr>
          <a:xfrm>
            <a:off x="1344168" y="2340864"/>
            <a:ext cx="1078992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0" rIns="9144" bIns="0">
            <a:spAutoFit/>
          </a:bodyPr>
          <a:lstStyle/>
          <a:p>
            <a:pPr algn="ctr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第 1 次</a:t>
            </a:r>
          </a:p>
          <a:p>
            <a:pPr algn="ctr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品質達 2</a:t>
            </a:r>
          </a:p>
        </p:txBody>
      </p:sp>
      <p:sp>
        <p:nvSpPr>
          <p:cNvPr id="8" name="Two-step observation"/>
          <p:cNvSpPr/>
          <p:nvPr/>
        </p:nvSpPr>
        <p:spPr>
          <a:xfrm>
            <a:off x="2798064" y="2212848"/>
            <a:ext cx="1170432" cy="7863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wo-step observation text"/>
          <p:cNvSpPr txBox="1"/>
          <p:nvPr/>
        </p:nvSpPr>
        <p:spPr>
          <a:xfrm>
            <a:off x="2843784" y="2340864"/>
            <a:ext cx="1078992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0" rIns="9144" bIns="0">
            <a:spAutoFit/>
          </a:bodyPr>
          <a:lstStyle/>
          <a:p>
            <a:pPr algn="ctr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第 2 次</a:t>
            </a:r>
          </a:p>
          <a:p>
            <a:pPr algn="ctr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品質仍穩定</a:t>
            </a:r>
          </a:p>
        </p:txBody>
      </p:sp>
      <p:sp>
        <p:nvSpPr>
          <p:cNvPr id="10" name="Two-step timing connector"/>
          <p:cNvSpPr/>
          <p:nvPr/>
        </p:nvSpPr>
        <p:spPr>
          <a:xfrm>
            <a:off x="2560320" y="2395728"/>
            <a:ext cx="310896" cy="384048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Mechanism label"/>
          <p:cNvSpPr/>
          <p:nvPr/>
        </p:nvSpPr>
        <p:spPr>
          <a:xfrm>
            <a:off x="1389888" y="3401568"/>
            <a:ext cx="3840480" cy="438912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9144" rIns="27432" bIns="9144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第 2 次完成 → MODE_CHANGE</a:t>
            </a:r>
          </a:p>
        </p:txBody>
      </p:sp>
      <p:sp>
        <p:nvSpPr>
          <p:cNvPr id="12" name="Two-step explanation"/>
          <p:cNvSpPr txBox="1"/>
          <p:nvPr/>
        </p:nvSpPr>
        <p:spPr>
          <a:xfrm>
            <a:off x="987552" y="3968496"/>
            <a:ext cx="4645152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0" rIns="9144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短暫 spike 不會立刻進入</a:t>
            </a:r>
          </a:p>
        </p:txBody>
      </p:sp>
      <p:sp>
        <p:nvSpPr>
          <p:cNvPr id="13" name="One-step timing"/>
          <p:cNvSpPr/>
          <p:nvPr/>
        </p:nvSpPr>
        <p:spPr>
          <a:xfrm>
            <a:off x="6272784" y="1481328"/>
            <a:ext cx="5084064" cy="2944368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ne-step heading"/>
          <p:cNvSpPr txBox="1"/>
          <p:nvPr/>
        </p:nvSpPr>
        <p:spPr>
          <a:xfrm>
            <a:off x="6492240" y="1664208"/>
            <a:ext cx="4645152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0" rIns="9144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candidate：一次確認</a:t>
            </a:r>
          </a:p>
        </p:txBody>
      </p:sp>
      <p:sp>
        <p:nvSpPr>
          <p:cNvPr id="15" name="One-step observation"/>
          <p:cNvSpPr/>
          <p:nvPr/>
        </p:nvSpPr>
        <p:spPr>
          <a:xfrm>
            <a:off x="7571231" y="2212848"/>
            <a:ext cx="1554480" cy="7863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ne-step observation text"/>
          <p:cNvSpPr txBox="1"/>
          <p:nvPr/>
        </p:nvSpPr>
        <p:spPr>
          <a:xfrm>
            <a:off x="7644383" y="2340864"/>
            <a:ext cx="1408176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0" rIns="9144" bIns="0">
            <a:spAutoFit/>
          </a:bodyPr>
          <a:lstStyle/>
          <a:p>
            <a:pPr algn="ctr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第 1 次</a:t>
            </a:r>
          </a:p>
          <a:p>
            <a:pPr algn="ctr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品質達 2</a:t>
            </a:r>
          </a:p>
        </p:txBody>
      </p:sp>
      <p:sp>
        <p:nvSpPr>
          <p:cNvPr id="17" name="Mechanism label"/>
          <p:cNvSpPr/>
          <p:nvPr/>
        </p:nvSpPr>
        <p:spPr>
          <a:xfrm>
            <a:off x="6894576" y="3401568"/>
            <a:ext cx="3840480" cy="438912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9144" rIns="27432" bIns="9144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第 1 次完成 → MODE_CHANGE</a:t>
            </a:r>
          </a:p>
        </p:txBody>
      </p:sp>
      <p:sp>
        <p:nvSpPr>
          <p:cNvPr id="18" name="One-step explanation"/>
          <p:cNvSpPr txBox="1"/>
          <p:nvPr/>
        </p:nvSpPr>
        <p:spPr>
          <a:xfrm>
            <a:off x="6492240" y="3968496"/>
            <a:ext cx="4645152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0" rIns="9144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可能提早一個固定 step</a:t>
            </a:r>
          </a:p>
        </p:txBody>
      </p:sp>
      <p:sp>
        <p:nvSpPr>
          <p:cNvPr id="19" name="Field strip MODE_CHANGE"/>
          <p:cNvSpPr/>
          <p:nvPr/>
        </p:nvSpPr>
        <p:spPr>
          <a:xfrm>
            <a:off x="804672" y="4901184"/>
            <a:ext cx="10588752" cy="47548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rIns="146304" bIns="9144"/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MODE_CHANGE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（模式切換事件）｜來源：result events／replay｜作用：確認進入 timing｜單位：event｜判讀：再對照 packet、service、J</a:t>
            </a:r>
          </a:p>
        </p:txBody>
      </p:sp>
      <p:sp>
        <p:nvSpPr>
          <p:cNvPr id="20" name="Claim boundary strip"/>
          <p:cNvSpPr/>
          <p:nvPr/>
        </p:nvSpPr>
        <p:spPr>
          <a:xfrm>
            <a:off x="804672" y="5468112"/>
            <a:ext cx="10588752" cy="402336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9144" rIns="27432" bIns="9144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資料界線：固定 scenario 的 simulated teaching data；結果以本次 stdout result_path 與同目錄 replay 為準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9144" tIns="0" rIns="9144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Trace A：先建立可驗證的比較</a:t>
            </a:r>
          </a:p>
        </p:txBody>
      </p:sp>
      <p:sp>
        <p:nvSpPr>
          <p:cNvPr id="3" name="Readable lead"/>
          <p:cNvSpPr txBox="1"/>
          <p:nvPr/>
        </p:nvSpPr>
        <p:spPr>
          <a:xfrm>
            <a:off x="841248" y="932688"/>
            <a:ext cx="1049731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A frozen predecessor 固定；先跑 baseline，再跑 candidate freeze，最後以同一 policy 做 Trace B。</a:t>
            </a:r>
          </a:p>
        </p:txBody>
      </p:sp>
      <p:sp>
        <p:nvSpPr>
          <p:cNvPr id="4" name="Trace sequence 1"/>
          <p:cNvSpPr/>
          <p:nvPr/>
        </p:nvSpPr>
        <p:spPr>
          <a:xfrm>
            <a:off x="713232" y="1572768"/>
            <a:ext cx="3255264" cy="1554480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race sequence 1 heading"/>
          <p:cNvSpPr txBox="1"/>
          <p:nvPr/>
        </p:nvSpPr>
        <p:spPr>
          <a:xfrm>
            <a:off x="859536" y="1682495"/>
            <a:ext cx="2962656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baseline</a:t>
            </a:r>
          </a:p>
        </p:txBody>
      </p:sp>
      <p:sp>
        <p:nvSpPr>
          <p:cNvPr id="6" name="Trace sequence 1 body"/>
          <p:cNvSpPr txBox="1"/>
          <p:nvPr/>
        </p:nvSpPr>
        <p:spPr>
          <a:xfrm>
            <a:off x="877824" y="2084832"/>
            <a:ext cx="2926080" cy="93268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A frozen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B：STABLE_STEPS=2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不加 freeze</a:t>
            </a:r>
          </a:p>
        </p:txBody>
      </p:sp>
      <p:sp>
        <p:nvSpPr>
          <p:cNvPr id="7" name="Trace sequence connector"/>
          <p:cNvSpPr/>
          <p:nvPr/>
        </p:nvSpPr>
        <p:spPr>
          <a:xfrm>
            <a:off x="4078224" y="2139696"/>
            <a:ext cx="310896" cy="384048"/>
          </a:xfrm>
          <a:prstGeom prst="chevron">
            <a:avLst/>
          </a:prstGeom>
          <a:solidFill>
            <a:srgbClr val="84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race sequence 2"/>
          <p:cNvSpPr/>
          <p:nvPr/>
        </p:nvSpPr>
        <p:spPr>
          <a:xfrm>
            <a:off x="4480560" y="1572768"/>
            <a:ext cx="3255264" cy="1554480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race sequence 2 heading"/>
          <p:cNvSpPr txBox="1"/>
          <p:nvPr/>
        </p:nvSpPr>
        <p:spPr>
          <a:xfrm>
            <a:off x="4626864" y="1682495"/>
            <a:ext cx="2962656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candidate</a:t>
            </a:r>
          </a:p>
        </p:txBody>
      </p:sp>
      <p:sp>
        <p:nvSpPr>
          <p:cNvPr id="10" name="Trace sequence 2 body"/>
          <p:cNvSpPr txBox="1"/>
          <p:nvPr/>
        </p:nvSpPr>
        <p:spPr>
          <a:xfrm>
            <a:off x="4645152" y="2084832"/>
            <a:ext cx="2926080" cy="93268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只改 B：2→1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Trace A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建立 freeze</a:t>
            </a:r>
          </a:p>
        </p:txBody>
      </p:sp>
      <p:sp>
        <p:nvSpPr>
          <p:cNvPr id="11" name="Trace sequence connector"/>
          <p:cNvSpPr/>
          <p:nvPr/>
        </p:nvSpPr>
        <p:spPr>
          <a:xfrm>
            <a:off x="7845552" y="2139696"/>
            <a:ext cx="310896" cy="384048"/>
          </a:xfrm>
          <a:prstGeom prst="chevron">
            <a:avLst/>
          </a:prstGeom>
          <a:solidFill>
            <a:srgbClr val="84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race sequence 3"/>
          <p:cNvSpPr/>
          <p:nvPr/>
        </p:nvSpPr>
        <p:spPr>
          <a:xfrm>
            <a:off x="8247888" y="1572768"/>
            <a:ext cx="3255264" cy="1554480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race sequence 3 heading"/>
          <p:cNvSpPr txBox="1"/>
          <p:nvPr/>
        </p:nvSpPr>
        <p:spPr>
          <a:xfrm>
            <a:off x="8394192" y="1682495"/>
            <a:ext cx="2962656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withheld</a:t>
            </a:r>
          </a:p>
        </p:txBody>
      </p:sp>
      <p:sp>
        <p:nvSpPr>
          <p:cNvPr id="14" name="Trace sequence 3 body"/>
          <p:cNvSpPr txBox="1"/>
          <p:nvPr/>
        </p:nvSpPr>
        <p:spPr>
          <a:xfrm>
            <a:off x="8412480" y="2084832"/>
            <a:ext cx="2926080" cy="93268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保持 B frozen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Trace B 新 case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不再調參</a:t>
            </a:r>
          </a:p>
        </p:txBody>
      </p:sp>
      <p:sp>
        <p:nvSpPr>
          <p:cNvPr id="15" name="Trace prediction baseline"/>
          <p:cNvSpPr/>
          <p:nvPr/>
        </p:nvSpPr>
        <p:spPr>
          <a:xfrm>
            <a:off x="786384" y="3511296"/>
            <a:ext cx="3401568" cy="1078992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race prediction baseline heading"/>
          <p:cNvSpPr txBox="1"/>
          <p:nvPr/>
        </p:nvSpPr>
        <p:spPr>
          <a:xfrm>
            <a:off x="932688" y="3621024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baseline prediction</a:t>
            </a:r>
          </a:p>
        </p:txBody>
      </p:sp>
      <p:sp>
        <p:nvSpPr>
          <p:cNvPr id="17" name="Trace prediction baseline body"/>
          <p:cNvSpPr txBox="1"/>
          <p:nvPr/>
        </p:nvSpPr>
        <p:spPr>
          <a:xfrm>
            <a:off x="950976" y="4023360"/>
            <a:ext cx="3072384" cy="457199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較晚進入；可能少一次早期嘗試。</a:t>
            </a:r>
          </a:p>
        </p:txBody>
      </p:sp>
      <p:sp>
        <p:nvSpPr>
          <p:cNvPr id="18" name="Trace prediction candidate"/>
          <p:cNvSpPr/>
          <p:nvPr/>
        </p:nvSpPr>
        <p:spPr>
          <a:xfrm>
            <a:off x="4389120" y="3511296"/>
            <a:ext cx="3401568" cy="1078992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race prediction candidate heading"/>
          <p:cNvSpPr txBox="1"/>
          <p:nvPr/>
        </p:nvSpPr>
        <p:spPr>
          <a:xfrm>
            <a:off x="4535424" y="3621024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candidate prediction</a:t>
            </a:r>
          </a:p>
        </p:txBody>
      </p:sp>
      <p:sp>
        <p:nvSpPr>
          <p:cNvPr id="20" name="Trace prediction candidate body"/>
          <p:cNvSpPr txBox="1"/>
          <p:nvPr/>
        </p:nvSpPr>
        <p:spPr>
          <a:xfrm>
            <a:off x="4553712" y="4023360"/>
            <a:ext cx="3072384" cy="457199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較早進入；service opportunity 可能增加，也可能付出更多 radio／processing。</a:t>
            </a:r>
          </a:p>
        </p:txBody>
      </p:sp>
      <p:sp>
        <p:nvSpPr>
          <p:cNvPr id="21" name="Trace prediction rule"/>
          <p:cNvSpPr/>
          <p:nvPr/>
        </p:nvSpPr>
        <p:spPr>
          <a:xfrm>
            <a:off x="7991856" y="3511296"/>
            <a:ext cx="3401568" cy="1078992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race prediction rule heading"/>
          <p:cNvSpPr txBox="1"/>
          <p:nvPr/>
        </p:nvSpPr>
        <p:spPr>
          <a:xfrm>
            <a:off x="8138160" y="3621024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判讀規則</a:t>
            </a:r>
          </a:p>
        </p:txBody>
      </p:sp>
      <p:sp>
        <p:nvSpPr>
          <p:cNvPr id="23" name="Trace prediction rule body"/>
          <p:cNvSpPr txBox="1"/>
          <p:nvPr/>
        </p:nvSpPr>
        <p:spPr>
          <a:xfrm>
            <a:off x="8156448" y="4023360"/>
            <a:ext cx="3072384" cy="457199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只有 event → packet → service → J 的配對才支持因果句。</a:t>
            </a:r>
          </a:p>
        </p:txBody>
      </p:sp>
      <p:sp>
        <p:nvSpPr>
          <p:cNvPr id="24" name="Field strip policy lineage"/>
          <p:cNvSpPr/>
          <p:nvPr/>
        </p:nvSpPr>
        <p:spPr>
          <a:xfrm>
            <a:off x="804672" y="4901184"/>
            <a:ext cx="10588752" cy="47548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rIns="146304" bIns="9144"/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policy lineage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（策略脈絡）｜來源：freeze receipt／checkpoint｜作用：固定比較前提｜單位：identity｜判讀：baseline／candidate／withheld 不混 policy</a:t>
            </a:r>
          </a:p>
        </p:txBody>
      </p:sp>
      <p:sp>
        <p:nvSpPr>
          <p:cNvPr id="25" name="Claim boundary strip"/>
          <p:cNvSpPr/>
          <p:nvPr/>
        </p:nvSpPr>
        <p:spPr>
          <a:xfrm>
            <a:off x="804672" y="5468112"/>
            <a:ext cx="10588752" cy="402336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9144" rIns="27432" bIns="9144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資料界線：固定 scenario 的 simulated teaching data；結果以本次 stdout result_path 與同目錄 replay 為準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9144" tIns="0" rIns="9144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Trace A 與 Trace B：Linux／macOS 終端機</a:t>
            </a:r>
          </a:p>
        </p:txBody>
      </p:sp>
      <p:sp>
        <p:nvSpPr>
          <p:cNvPr id="3" name="Readable lead"/>
          <p:cNvSpPr txBox="1"/>
          <p:nvPr/>
        </p:nvSpPr>
        <p:spPr>
          <a:xfrm>
            <a:off x="841248" y="932688"/>
            <a:ext cx="1049731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下列命令在 package 根目錄執行；WSL 也使用這組 Linux 指令，stdout 會印出 result_path。</a:t>
            </a:r>
          </a:p>
        </p:txBody>
      </p:sp>
      <p:sp>
        <p:nvSpPr>
          <p:cNvPr id="4" name="Linux baseline command"/>
          <p:cNvSpPr/>
          <p:nvPr/>
        </p:nvSpPr>
        <p:spPr>
          <a:xfrm>
            <a:off x="768096" y="1481328"/>
            <a:ext cx="10643616" cy="93268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inux baseline command heading"/>
          <p:cNvSpPr txBox="1"/>
          <p:nvPr/>
        </p:nvSpPr>
        <p:spPr>
          <a:xfrm>
            <a:off x="896112" y="1591056"/>
            <a:ext cx="10387584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0" rIns="9144" bIns="0">
            <a:spAutoFit/>
          </a:bodyPr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Trace A baseline｜原始 B policy</a:t>
            </a:r>
          </a:p>
        </p:txBody>
      </p:sp>
      <p:sp>
        <p:nvSpPr>
          <p:cNvPr id="6" name="Linux baseline command command"/>
          <p:cNvSpPr txBox="1"/>
          <p:nvPr/>
        </p:nvSpPr>
        <p:spPr>
          <a:xfrm>
            <a:off x="950976" y="1975104"/>
            <a:ext cx="10277856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l">
              <a:lnSpc>
                <a:spcPct val="7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bash course.sh run --lab B --case trace-a-baseline</a:t>
            </a:r>
          </a:p>
        </p:txBody>
      </p:sp>
      <p:sp>
        <p:nvSpPr>
          <p:cNvPr id="7" name="Linux candidate command"/>
          <p:cNvSpPr/>
          <p:nvPr/>
        </p:nvSpPr>
        <p:spPr>
          <a:xfrm>
            <a:off x="768096" y="2633472"/>
            <a:ext cx="10643616" cy="932688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inux candidate command heading"/>
          <p:cNvSpPr txBox="1"/>
          <p:nvPr/>
        </p:nvSpPr>
        <p:spPr>
          <a:xfrm>
            <a:off x="896112" y="2743200"/>
            <a:ext cx="10387584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0" rIns="9144" bIns="0">
            <a:spAutoFit/>
          </a:bodyPr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Trace A candidate｜2→1 + freeze</a:t>
            </a:r>
          </a:p>
        </p:txBody>
      </p:sp>
      <p:sp>
        <p:nvSpPr>
          <p:cNvPr id="9" name="Linux candidate command command"/>
          <p:cNvSpPr txBox="1"/>
          <p:nvPr/>
        </p:nvSpPr>
        <p:spPr>
          <a:xfrm>
            <a:off x="950976" y="3127248"/>
            <a:ext cx="10277856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l">
              <a:lnSpc>
                <a:spcPct val="7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bash course.sh run --lab B --case trace-a-candidate --freeze</a:t>
            </a:r>
          </a:p>
        </p:txBody>
      </p:sp>
      <p:sp>
        <p:nvSpPr>
          <p:cNvPr id="10" name="Linux Trace B command"/>
          <p:cNvSpPr/>
          <p:nvPr/>
        </p:nvSpPr>
        <p:spPr>
          <a:xfrm>
            <a:off x="768096" y="3785615"/>
            <a:ext cx="10643616" cy="932688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inux Trace B command heading"/>
          <p:cNvSpPr txBox="1"/>
          <p:nvPr/>
        </p:nvSpPr>
        <p:spPr>
          <a:xfrm>
            <a:off x="896112" y="3895344"/>
            <a:ext cx="10387584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0" rIns="9144" bIns="0">
            <a:spAutoFit/>
          </a:bodyPr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Trace B｜保持 B frozen 的 withheld case</a:t>
            </a:r>
          </a:p>
        </p:txBody>
      </p:sp>
      <p:sp>
        <p:nvSpPr>
          <p:cNvPr id="12" name="Linux Trace B command command"/>
          <p:cNvSpPr txBox="1"/>
          <p:nvPr/>
        </p:nvSpPr>
        <p:spPr>
          <a:xfrm>
            <a:off x="950976" y="4279392"/>
            <a:ext cx="10277856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l">
              <a:lnSpc>
                <a:spcPct val="7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bash course.sh run --lab B --case trace-b</a:t>
            </a:r>
          </a:p>
        </p:txBody>
      </p:sp>
      <p:sp>
        <p:nvSpPr>
          <p:cNvPr id="13" name="Field strip result_path"/>
          <p:cNvSpPr/>
          <p:nvPr/>
        </p:nvSpPr>
        <p:spPr>
          <a:xfrm>
            <a:off x="804672" y="4901184"/>
            <a:ext cx="10588752" cy="47548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rIns="146304" bIns="9144"/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（結果路徑）｜來源：command stdout｜作用：選取本次 result.json｜單位：file path｜判讀：不要自行猜 run directory</a:t>
            </a:r>
          </a:p>
        </p:txBody>
      </p:sp>
      <p:sp>
        <p:nvSpPr>
          <p:cNvPr id="14" name="Claim boundary strip"/>
          <p:cNvSpPr/>
          <p:nvPr/>
        </p:nvSpPr>
        <p:spPr>
          <a:xfrm>
            <a:off x="804672" y="5486400"/>
            <a:ext cx="10588752" cy="402336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9144" rIns="27432" bIns="9144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資料界線：固定 scenario 的 simulated teaching data；結果以本次 stdout result_path 與同目錄 replay 為準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9144" tIns="0" rIns="9144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同一流程：Windows PowerShell／Command Prompt</a:t>
            </a:r>
          </a:p>
        </p:txBody>
      </p:sp>
      <p:sp>
        <p:nvSpPr>
          <p:cNvPr id="3" name="Readable lead"/>
          <p:cNvSpPr txBox="1"/>
          <p:nvPr/>
        </p:nvSpPr>
        <p:spPr>
          <a:xfrm>
            <a:off x="841248" y="932688"/>
            <a:ext cx="1049731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Windows 使用相同參數；PowerShell 與 Command Prompt 只替換 launcher 名稱。</a:t>
            </a:r>
          </a:p>
        </p:txBody>
      </p:sp>
      <p:sp>
        <p:nvSpPr>
          <p:cNvPr id="4" name="PowerShell commands"/>
          <p:cNvSpPr/>
          <p:nvPr/>
        </p:nvSpPr>
        <p:spPr>
          <a:xfrm>
            <a:off x="768096" y="1481328"/>
            <a:ext cx="5120640" cy="3273552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owerShell commands heading"/>
          <p:cNvSpPr txBox="1"/>
          <p:nvPr/>
        </p:nvSpPr>
        <p:spPr>
          <a:xfrm>
            <a:off x="896112" y="1591056"/>
            <a:ext cx="4864607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0" rIns="9144" bIns="0">
            <a:spAutoFit/>
          </a:bodyPr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PowerShell｜</a:t>
            </a:r>
            <a:r>
              <a:rPr sz="1900" b="1" i="1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.\course.cmd</a:t>
            </a:r>
          </a:p>
        </p:txBody>
      </p:sp>
      <p:sp>
        <p:nvSpPr>
          <p:cNvPr id="6" name="PowerShell commands command"/>
          <p:cNvSpPr txBox="1"/>
          <p:nvPr/>
        </p:nvSpPr>
        <p:spPr>
          <a:xfrm>
            <a:off x="950976" y="1975104"/>
            <a:ext cx="4754879" cy="2670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l">
              <a:lnSpc>
                <a:spcPct val="7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.\course.cmd run --lab B --case trace-a-baseline</a:t>
            </a:r>
          </a:p>
          <a:p>
            <a:pPr algn="l">
              <a:lnSpc>
                <a:spcPct val="7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.\course.cmd run --lab B --case trace-a-candidate --freeze</a:t>
            </a:r>
          </a:p>
          <a:p>
            <a:pPr algn="l">
              <a:lnSpc>
                <a:spcPct val="7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.\course.cmd run --lab B --case trace-b</a:t>
            </a:r>
          </a:p>
        </p:txBody>
      </p:sp>
      <p:sp>
        <p:nvSpPr>
          <p:cNvPr id="7" name="Command Prompt commands"/>
          <p:cNvSpPr/>
          <p:nvPr/>
        </p:nvSpPr>
        <p:spPr>
          <a:xfrm>
            <a:off x="6254496" y="1481328"/>
            <a:ext cx="5120640" cy="3273552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mmand Prompt commands heading"/>
          <p:cNvSpPr txBox="1"/>
          <p:nvPr/>
        </p:nvSpPr>
        <p:spPr>
          <a:xfrm>
            <a:off x="6382512" y="1591056"/>
            <a:ext cx="4864607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0" rIns="9144" bIns="0">
            <a:spAutoFit/>
          </a:bodyPr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Command Prompt｜</a:t>
            </a:r>
            <a:r>
              <a:rPr sz="19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course.cmd</a:t>
            </a:r>
          </a:p>
        </p:txBody>
      </p:sp>
      <p:sp>
        <p:nvSpPr>
          <p:cNvPr id="9" name="Command Prompt commands command"/>
          <p:cNvSpPr txBox="1"/>
          <p:nvPr/>
        </p:nvSpPr>
        <p:spPr>
          <a:xfrm>
            <a:off x="6437376" y="1975104"/>
            <a:ext cx="4754879" cy="2670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l">
              <a:lnSpc>
                <a:spcPct val="7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course.cmd run --lab B --case trace-a-baseline</a:t>
            </a:r>
          </a:p>
          <a:p>
            <a:pPr algn="l">
              <a:lnSpc>
                <a:spcPct val="7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course.cmd run --lab B --case trace-a-candidate --freeze</a:t>
            </a:r>
          </a:p>
          <a:p>
            <a:pPr algn="l">
              <a:lnSpc>
                <a:spcPct val="7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course.cmd run --lab B --case trace-b</a:t>
            </a:r>
          </a:p>
        </p:txBody>
      </p:sp>
      <p:sp>
        <p:nvSpPr>
          <p:cNvPr id="10" name="Mechanism label"/>
          <p:cNvSpPr/>
          <p:nvPr/>
        </p:nvSpPr>
        <p:spPr>
          <a:xfrm>
            <a:off x="969264" y="4370832"/>
            <a:ext cx="10204704" cy="402336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9144" rIns="27432" bIns="9144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baseline → candidate --freeze → Trace B；每次 stdout 都保存新的 result_path</a:t>
            </a:r>
          </a:p>
        </p:txBody>
      </p:sp>
      <p:sp>
        <p:nvSpPr>
          <p:cNvPr id="11" name="Field strip launcher"/>
          <p:cNvSpPr/>
          <p:nvPr/>
        </p:nvSpPr>
        <p:spPr>
          <a:xfrm>
            <a:off x="804672" y="4901184"/>
            <a:ext cx="10588752" cy="47548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rIns="146304" bIns="9144"/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launcher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（執行器入口）｜來源：Windows shell｜作用：呼叫同一 course contract｜單位：command｜判讀：PowerShell 與 Command Prompt 不混用語法</a:t>
            </a:r>
          </a:p>
        </p:txBody>
      </p:sp>
      <p:sp>
        <p:nvSpPr>
          <p:cNvPr id="12" name="Claim boundary strip"/>
          <p:cNvSpPr/>
          <p:nvPr/>
        </p:nvSpPr>
        <p:spPr>
          <a:xfrm>
            <a:off x="804672" y="5486400"/>
            <a:ext cx="10588752" cy="402336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9144" rIns="27432" bIns="9144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資料界線：固定 scenario 的 simulated teaching data；結果以本次 stdout result_path 與同目錄 replay 為準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9144" tIns="0" rIns="9144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每次 run 都產生一對可追溯檔案</a:t>
            </a:r>
          </a:p>
        </p:txBody>
      </p:sp>
      <p:sp>
        <p:nvSpPr>
          <p:cNvPr id="3" name="Readable lead"/>
          <p:cNvSpPr txBox="1"/>
          <p:nvPr/>
        </p:nvSpPr>
        <p:spPr>
          <a:xfrm>
            <a:off x="841248" y="932688"/>
            <a:ext cx="1049731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runner 的輸出不是一個孤立數字；result 與 replay 共同保留同一 run identity。</a:t>
            </a:r>
          </a:p>
        </p:txBody>
      </p:sp>
      <p:sp>
        <p:nvSpPr>
          <p:cNvPr id="4" name="Artifact pair node 1"/>
          <p:cNvSpPr/>
          <p:nvPr/>
        </p:nvSpPr>
        <p:spPr>
          <a:xfrm>
            <a:off x="731520" y="1572768"/>
            <a:ext cx="3273552" cy="1517904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tifact pair node 1 heading"/>
          <p:cNvSpPr txBox="1"/>
          <p:nvPr/>
        </p:nvSpPr>
        <p:spPr>
          <a:xfrm>
            <a:off x="877824" y="1682495"/>
            <a:ext cx="298094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stdout</a:t>
            </a:r>
          </a:p>
        </p:txBody>
      </p:sp>
      <p:sp>
        <p:nvSpPr>
          <p:cNvPr id="6" name="Artifact pair node 1 body"/>
          <p:cNvSpPr txBox="1"/>
          <p:nvPr/>
        </p:nvSpPr>
        <p:spPr>
          <a:xfrm>
            <a:off x="896112" y="2084832"/>
            <a:ext cx="2944368" cy="896111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命令列印出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result_path</a:t>
            </a:r>
          </a:p>
        </p:txBody>
      </p:sp>
      <p:sp>
        <p:nvSpPr>
          <p:cNvPr id="7" name="Artifact pair connector"/>
          <p:cNvSpPr/>
          <p:nvPr/>
        </p:nvSpPr>
        <p:spPr>
          <a:xfrm>
            <a:off x="4114800" y="2112264"/>
            <a:ext cx="310896" cy="384048"/>
          </a:xfrm>
          <a:prstGeom prst="chevron">
            <a:avLst/>
          </a:prstGeom>
          <a:solidFill>
            <a:srgbClr val="84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rtifact pair node 2"/>
          <p:cNvSpPr/>
          <p:nvPr/>
        </p:nvSpPr>
        <p:spPr>
          <a:xfrm>
            <a:off x="4407407" y="1572768"/>
            <a:ext cx="3273552" cy="1517904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rtifact pair node 2 heading"/>
          <p:cNvSpPr txBox="1"/>
          <p:nvPr/>
        </p:nvSpPr>
        <p:spPr>
          <a:xfrm>
            <a:off x="4553712" y="1682495"/>
            <a:ext cx="298094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result.json</a:t>
            </a:r>
          </a:p>
        </p:txBody>
      </p:sp>
      <p:sp>
        <p:nvSpPr>
          <p:cNvPr id="10" name="Artifact pair node 2 body"/>
          <p:cNvSpPr txBox="1"/>
          <p:nvPr/>
        </p:nvSpPr>
        <p:spPr>
          <a:xfrm>
            <a:off x="4571999" y="2084832"/>
            <a:ext cx="2944368" cy="896111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summary、events、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policy／scenario identity</a:t>
            </a:r>
          </a:p>
        </p:txBody>
      </p:sp>
      <p:sp>
        <p:nvSpPr>
          <p:cNvPr id="11" name="Artifact pair connector"/>
          <p:cNvSpPr/>
          <p:nvPr/>
        </p:nvSpPr>
        <p:spPr>
          <a:xfrm>
            <a:off x="7790688" y="2112264"/>
            <a:ext cx="310896" cy="384048"/>
          </a:xfrm>
          <a:prstGeom prst="chevron">
            <a:avLst/>
          </a:prstGeom>
          <a:solidFill>
            <a:srgbClr val="84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rtifact pair node 3"/>
          <p:cNvSpPr/>
          <p:nvPr/>
        </p:nvSpPr>
        <p:spPr>
          <a:xfrm>
            <a:off x="8083296" y="1572768"/>
            <a:ext cx="3273552" cy="1517904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rtifact pair node 3 heading"/>
          <p:cNvSpPr txBox="1"/>
          <p:nvPr/>
        </p:nvSpPr>
        <p:spPr>
          <a:xfrm>
            <a:off x="8229600" y="1682495"/>
            <a:ext cx="298094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endpoint-replay.json</a:t>
            </a:r>
          </a:p>
        </p:txBody>
      </p:sp>
      <p:sp>
        <p:nvSpPr>
          <p:cNvPr id="14" name="Artifact pair node 3 body"/>
          <p:cNvSpPr txBox="1"/>
          <p:nvPr/>
        </p:nvSpPr>
        <p:spPr>
          <a:xfrm>
            <a:off x="8247888" y="2084832"/>
            <a:ext cx="2944368" cy="896111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同目錄的 state、queue、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packet replay</a:t>
            </a:r>
          </a:p>
        </p:txBody>
      </p:sp>
      <p:sp>
        <p:nvSpPr>
          <p:cNvPr id="15" name="Artifact directory"/>
          <p:cNvSpPr/>
          <p:nvPr/>
        </p:nvSpPr>
        <p:spPr>
          <a:xfrm>
            <a:off x="786384" y="3529584"/>
            <a:ext cx="5084064" cy="1133856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rtifact directory heading"/>
          <p:cNvSpPr txBox="1"/>
          <p:nvPr/>
        </p:nvSpPr>
        <p:spPr>
          <a:xfrm>
            <a:off x="932688" y="3639312"/>
            <a:ext cx="4791455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run directory</a:t>
            </a:r>
          </a:p>
        </p:txBody>
      </p:sp>
      <p:sp>
        <p:nvSpPr>
          <p:cNvPr id="17" name="Artifact directory body"/>
          <p:cNvSpPr txBox="1"/>
          <p:nvPr/>
        </p:nvSpPr>
        <p:spPr>
          <a:xfrm>
            <a:off x="950976" y="4041648"/>
            <a:ext cx="4754879" cy="512063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artifacts/&lt;run_id&gt;/result.json</a:t>
            </a:r>
          </a:p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同目錄的 </a:t>
            </a: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endpoint-replay.json</a:t>
            </a: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必須保留。</a:t>
            </a:r>
          </a:p>
        </p:txBody>
      </p:sp>
      <p:sp>
        <p:nvSpPr>
          <p:cNvPr id="18" name="Artifact freeze"/>
          <p:cNvSpPr/>
          <p:nvPr/>
        </p:nvSpPr>
        <p:spPr>
          <a:xfrm>
            <a:off x="6272784" y="3529584"/>
            <a:ext cx="5084064" cy="1133856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rtifact freeze heading"/>
          <p:cNvSpPr txBox="1"/>
          <p:nvPr/>
        </p:nvSpPr>
        <p:spPr>
          <a:xfrm>
            <a:off x="6419088" y="3639312"/>
            <a:ext cx="4791455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freeze 時多一層 lineage</a:t>
            </a:r>
          </a:p>
        </p:txBody>
      </p:sp>
      <p:sp>
        <p:nvSpPr>
          <p:cNvPr id="20" name="Artifact freeze body"/>
          <p:cNvSpPr txBox="1"/>
          <p:nvPr/>
        </p:nvSpPr>
        <p:spPr>
          <a:xfrm>
            <a:off x="6437376" y="4041648"/>
            <a:ext cx="4754879" cy="512063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--freeze</a:t>
            </a: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另寫 receipt 與 checkpoint。</a:t>
            </a:r>
          </a:p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checkpoint 是 policy source，不是結果檔。</a:t>
            </a:r>
          </a:p>
        </p:txBody>
      </p:sp>
      <p:sp>
        <p:nvSpPr>
          <p:cNvPr id="21" name="Field strip endpoint-replay.json"/>
          <p:cNvSpPr/>
          <p:nvPr/>
        </p:nvSpPr>
        <p:spPr>
          <a:xfrm>
            <a:off x="804672" y="4901184"/>
            <a:ext cx="10588752" cy="47548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rIns="146304" bIns="9144"/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endpoint-replay.json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（端點事件回放）｜來源：same run directory｜作用：重現 state／queue／packet｜單位：JSON artifact｜判讀：不可與另一 run 混配</a:t>
            </a:r>
          </a:p>
        </p:txBody>
      </p:sp>
      <p:sp>
        <p:nvSpPr>
          <p:cNvPr id="22" name="Claim boundary strip"/>
          <p:cNvSpPr/>
          <p:nvPr/>
        </p:nvSpPr>
        <p:spPr>
          <a:xfrm>
            <a:off x="804672" y="5468112"/>
            <a:ext cx="10588752" cy="402336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9144" rIns="27432" bIns="9144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資料界線：固定 scenario 的 simulated teaching data；結果以本次 stdout result_path 與同目錄 replay 為準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9144" tIns="0" rIns="9144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讀取結果：先看 service，再看 packet、state、endpoint J</a:t>
            </a:r>
          </a:p>
        </p:txBody>
      </p:sp>
      <p:sp>
        <p:nvSpPr>
          <p:cNvPr id="3" name="Readable lead"/>
          <p:cNvSpPr txBox="1"/>
          <p:nvPr/>
        </p:nvSpPr>
        <p:spPr>
          <a:xfrm>
            <a:off x="841248" y="932688"/>
            <a:ext cx="1049731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服務是否完成是第一個判斷；後面三層用來解釋成功、失敗與 energy trade-off。</a:t>
            </a:r>
          </a:p>
        </p:txBody>
      </p:sp>
      <p:sp>
        <p:nvSpPr>
          <p:cNvPr id="4" name="Step 1"/>
          <p:cNvSpPr/>
          <p:nvPr/>
        </p:nvSpPr>
        <p:spPr>
          <a:xfrm>
            <a:off x="640080" y="1627632"/>
            <a:ext cx="402336" cy="402336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tep 1 label"/>
          <p:cNvSpPr txBox="1"/>
          <p:nvPr/>
        </p:nvSpPr>
        <p:spPr>
          <a:xfrm>
            <a:off x="640080" y="1636776"/>
            <a:ext cx="40233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1</a:t>
            </a:r>
          </a:p>
        </p:txBody>
      </p:sp>
      <p:sp>
        <p:nvSpPr>
          <p:cNvPr id="6" name="Reading order 1"/>
          <p:cNvSpPr/>
          <p:nvPr/>
        </p:nvSpPr>
        <p:spPr>
          <a:xfrm>
            <a:off x="548640" y="2157984"/>
            <a:ext cx="2633472" cy="1609344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ading order 1 heading"/>
          <p:cNvSpPr txBox="1"/>
          <p:nvPr/>
        </p:nvSpPr>
        <p:spPr>
          <a:xfrm>
            <a:off x="694944" y="2267712"/>
            <a:ext cx="234086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SERVICE</a:t>
            </a:r>
          </a:p>
        </p:txBody>
      </p:sp>
      <p:sp>
        <p:nvSpPr>
          <p:cNvPr id="8" name="Reading order 1 body"/>
          <p:cNvSpPr txBox="1"/>
          <p:nvPr/>
        </p:nvSpPr>
        <p:spPr>
          <a:xfrm>
            <a:off x="713232" y="2670048"/>
            <a:ext cx="2304288" cy="987552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deadline／freshness／delivery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先判斷服務 gate</a:t>
            </a:r>
          </a:p>
        </p:txBody>
      </p:sp>
      <p:sp>
        <p:nvSpPr>
          <p:cNvPr id="9" name="Step 2"/>
          <p:cNvSpPr/>
          <p:nvPr/>
        </p:nvSpPr>
        <p:spPr>
          <a:xfrm>
            <a:off x="3419856" y="1627632"/>
            <a:ext cx="402336" cy="402336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ep 2 label"/>
          <p:cNvSpPr txBox="1"/>
          <p:nvPr/>
        </p:nvSpPr>
        <p:spPr>
          <a:xfrm>
            <a:off x="3419856" y="1636776"/>
            <a:ext cx="40233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2</a:t>
            </a:r>
          </a:p>
        </p:txBody>
      </p:sp>
      <p:sp>
        <p:nvSpPr>
          <p:cNvPr id="11" name="Reading order 2"/>
          <p:cNvSpPr/>
          <p:nvPr/>
        </p:nvSpPr>
        <p:spPr>
          <a:xfrm>
            <a:off x="3328416" y="2157984"/>
            <a:ext cx="2633472" cy="1609344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ading order 2 heading"/>
          <p:cNvSpPr txBox="1"/>
          <p:nvPr/>
        </p:nvSpPr>
        <p:spPr>
          <a:xfrm>
            <a:off x="3474720" y="2267712"/>
            <a:ext cx="234086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PACKET</a:t>
            </a:r>
          </a:p>
        </p:txBody>
      </p:sp>
      <p:sp>
        <p:nvSpPr>
          <p:cNvPr id="13" name="Reading order 2 body"/>
          <p:cNvSpPr txBox="1"/>
          <p:nvPr/>
        </p:nvSpPr>
        <p:spPr>
          <a:xfrm>
            <a:off x="3493008" y="2670048"/>
            <a:ext cx="2304288" cy="987552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attempt／retry／collision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說明交付成本</a:t>
            </a:r>
          </a:p>
        </p:txBody>
      </p:sp>
      <p:sp>
        <p:nvSpPr>
          <p:cNvPr id="14" name="Step 3"/>
          <p:cNvSpPr/>
          <p:nvPr/>
        </p:nvSpPr>
        <p:spPr>
          <a:xfrm>
            <a:off x="6199631" y="1627632"/>
            <a:ext cx="402336" cy="402336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ep 3 label"/>
          <p:cNvSpPr txBox="1"/>
          <p:nvPr/>
        </p:nvSpPr>
        <p:spPr>
          <a:xfrm>
            <a:off x="6199631" y="1636776"/>
            <a:ext cx="40233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3</a:t>
            </a:r>
          </a:p>
        </p:txBody>
      </p:sp>
      <p:sp>
        <p:nvSpPr>
          <p:cNvPr id="16" name="Reading order 3"/>
          <p:cNvSpPr/>
          <p:nvPr/>
        </p:nvSpPr>
        <p:spPr>
          <a:xfrm>
            <a:off x="6108192" y="2157984"/>
            <a:ext cx="2633472" cy="1609344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ading order 3 heading"/>
          <p:cNvSpPr txBox="1"/>
          <p:nvPr/>
        </p:nvSpPr>
        <p:spPr>
          <a:xfrm>
            <a:off x="6254496" y="2267712"/>
            <a:ext cx="234086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STATE</a:t>
            </a:r>
          </a:p>
        </p:txBody>
      </p:sp>
      <p:sp>
        <p:nvSpPr>
          <p:cNvPr id="18" name="Reading order 3 body"/>
          <p:cNvSpPr txBox="1"/>
          <p:nvPr/>
        </p:nvSpPr>
        <p:spPr>
          <a:xfrm>
            <a:off x="6272783" y="2670048"/>
            <a:ext cx="2304288" cy="987552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MODE_CHANGE、WAIT／SLEEP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說明 timing</a:t>
            </a:r>
          </a:p>
        </p:txBody>
      </p:sp>
      <p:sp>
        <p:nvSpPr>
          <p:cNvPr id="19" name="Step 4"/>
          <p:cNvSpPr/>
          <p:nvPr/>
        </p:nvSpPr>
        <p:spPr>
          <a:xfrm>
            <a:off x="8979407" y="1627632"/>
            <a:ext cx="402336" cy="402336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ep 4 label"/>
          <p:cNvSpPr txBox="1"/>
          <p:nvPr/>
        </p:nvSpPr>
        <p:spPr>
          <a:xfrm>
            <a:off x="8979407" y="1636776"/>
            <a:ext cx="40233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4</a:t>
            </a:r>
          </a:p>
        </p:txBody>
      </p:sp>
      <p:sp>
        <p:nvSpPr>
          <p:cNvPr id="21" name="Reading order 4"/>
          <p:cNvSpPr/>
          <p:nvPr/>
        </p:nvSpPr>
        <p:spPr>
          <a:xfrm>
            <a:off x="8887967" y="2157984"/>
            <a:ext cx="2633472" cy="1609344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ading order 4 heading"/>
          <p:cNvSpPr txBox="1"/>
          <p:nvPr/>
        </p:nvSpPr>
        <p:spPr>
          <a:xfrm>
            <a:off x="9034272" y="2267712"/>
            <a:ext cx="234086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ENDPOINT J</a:t>
            </a:r>
          </a:p>
        </p:txBody>
      </p:sp>
      <p:sp>
        <p:nvSpPr>
          <p:cNvPr id="23" name="Reading order 4 body"/>
          <p:cNvSpPr txBox="1"/>
          <p:nvPr/>
        </p:nvSpPr>
        <p:spPr>
          <a:xfrm>
            <a:off x="9052559" y="2670048"/>
            <a:ext cx="2304288" cy="987552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radio／processing J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只代表端點 scope</a:t>
            </a:r>
          </a:p>
        </p:txBody>
      </p:sp>
      <p:sp>
        <p:nvSpPr>
          <p:cNvPr id="24" name="Reading rule"/>
          <p:cNvSpPr/>
          <p:nvPr/>
        </p:nvSpPr>
        <p:spPr>
          <a:xfrm>
            <a:off x="877824" y="4078224"/>
            <a:ext cx="10332720" cy="548640"/>
          </a:xfrm>
          <a:prstGeom prst="roundRect">
            <a:avLst/>
          </a:prstGeom>
          <a:solidFill>
            <a:srgbClr val="FFF9E6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ading rule text"/>
          <p:cNvSpPr txBox="1"/>
          <p:nvPr/>
        </p:nvSpPr>
        <p:spPr>
          <a:xfrm>
            <a:off x="1060704" y="4206240"/>
            <a:ext cx="99669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service FAIL 時，較小的 endpoint J 不能把服務失敗改寫成成功。</a:t>
            </a:r>
          </a:p>
        </p:txBody>
      </p:sp>
      <p:sp>
        <p:nvSpPr>
          <p:cNvPr id="26" name="Field strip service_pass"/>
          <p:cNvSpPr/>
          <p:nvPr/>
        </p:nvSpPr>
        <p:spPr>
          <a:xfrm>
            <a:off x="804672" y="4901184"/>
            <a:ext cx="10588752" cy="47548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rIns="146304" bIns="9144"/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（服務布林狀態）｜來源：result summary／service gate｜作用：先判斷 deadline、freshness、delivery｜單位：true／false｜判讀：PASS 才進入 trade-off 解釋</a:t>
            </a:r>
          </a:p>
        </p:txBody>
      </p:sp>
      <p:sp>
        <p:nvSpPr>
          <p:cNvPr id="27" name="Claim boundary strip"/>
          <p:cNvSpPr/>
          <p:nvPr/>
        </p:nvSpPr>
        <p:spPr>
          <a:xfrm>
            <a:off x="804672" y="5468112"/>
            <a:ext cx="10588752" cy="402336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9144" rIns="27432" bIns="9144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資料界線：固定 scenario 的 simulated teaching data；結果以本次 stdout result_path 與同目錄 replay 為準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9144" tIns="0" rIns="9144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Trace A：candidate 送達增加，但 service 仍未通過</a:t>
            </a:r>
          </a:p>
        </p:txBody>
      </p:sp>
      <p:sp>
        <p:nvSpPr>
          <p:cNvPr id="3" name="Readable lead"/>
          <p:cNvSpPr txBox="1"/>
          <p:nvPr/>
        </p:nvSpPr>
        <p:spPr>
          <a:xfrm>
            <a:off x="841248" y="932688"/>
            <a:ext cx="1049731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current evidence 將 baseline 與 candidate 放在同一條 service → packet → state → J 判讀鏈。</a:t>
            </a:r>
          </a:p>
        </p:txBody>
      </p:sp>
      <p:sp>
        <p:nvSpPr>
          <p:cNvPr id="4" name="Trace A current baseline"/>
          <p:cNvSpPr/>
          <p:nvPr/>
        </p:nvSpPr>
        <p:spPr>
          <a:xfrm>
            <a:off x="768096" y="1481328"/>
            <a:ext cx="5102352" cy="221284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race A current baseline heading"/>
          <p:cNvSpPr txBox="1"/>
          <p:nvPr/>
        </p:nvSpPr>
        <p:spPr>
          <a:xfrm>
            <a:off x="914400" y="1591056"/>
            <a:ext cx="480974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Trace A baseline｜STABLE_STEPS = 2</a:t>
            </a:r>
          </a:p>
        </p:txBody>
      </p:sp>
      <p:sp>
        <p:nvSpPr>
          <p:cNvPr id="6" name="Trace A current baseline body"/>
          <p:cNvSpPr txBox="1"/>
          <p:nvPr/>
        </p:nvSpPr>
        <p:spPr>
          <a:xfrm>
            <a:off x="932688" y="1993392"/>
            <a:ext cx="4773168" cy="1591055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service_pass：false</a:t>
            </a:r>
          </a:p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delivered：1／4　expired：3</a:t>
            </a:r>
          </a:p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retries：1　collisions：1</a:t>
            </a:r>
          </a:p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endpoint_energy_j：8.86 J</a:t>
            </a:r>
          </a:p>
        </p:txBody>
      </p:sp>
      <p:sp>
        <p:nvSpPr>
          <p:cNvPr id="7" name="Trace A current candidate"/>
          <p:cNvSpPr/>
          <p:nvPr/>
        </p:nvSpPr>
        <p:spPr>
          <a:xfrm>
            <a:off x="6272784" y="1481328"/>
            <a:ext cx="5102352" cy="2212848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race A current candidate heading"/>
          <p:cNvSpPr txBox="1"/>
          <p:nvPr/>
        </p:nvSpPr>
        <p:spPr>
          <a:xfrm>
            <a:off x="6419088" y="1591056"/>
            <a:ext cx="480974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Trace A candidate｜STABLE_STEPS = 1</a:t>
            </a:r>
          </a:p>
        </p:txBody>
      </p:sp>
      <p:sp>
        <p:nvSpPr>
          <p:cNvPr id="9" name="Trace A current candidate body"/>
          <p:cNvSpPr txBox="1"/>
          <p:nvPr/>
        </p:nvSpPr>
        <p:spPr>
          <a:xfrm>
            <a:off x="6437376" y="1993392"/>
            <a:ext cx="4773168" cy="1591055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service_pass：false</a:t>
            </a:r>
          </a:p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delivered：3／4　expired：1</a:t>
            </a:r>
          </a:p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retries：1　collisions：1</a:t>
            </a:r>
          </a:p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endpoint_energy_j：10.66 J</a:t>
            </a:r>
          </a:p>
        </p:txBody>
      </p:sp>
      <p:sp>
        <p:nvSpPr>
          <p:cNvPr id="10" name="Trace A current interpretation"/>
          <p:cNvSpPr/>
          <p:nvPr/>
        </p:nvSpPr>
        <p:spPr>
          <a:xfrm>
            <a:off x="877824" y="3913632"/>
            <a:ext cx="10332720" cy="676656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race A current interpretation text"/>
          <p:cNvSpPr txBox="1"/>
          <p:nvPr/>
        </p:nvSpPr>
        <p:spPr>
          <a:xfrm>
            <a:off x="1060704" y="4059936"/>
            <a:ext cx="996696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candidate：送達 1／4 → 3／4、逾時 3 → 1；endpoint J 8.86 → 10.66（+1.80 J），service 仍為 false。</a:t>
            </a:r>
          </a:p>
        </p:txBody>
      </p:sp>
      <p:sp>
        <p:nvSpPr>
          <p:cNvPr id="12" name="Field strip MODE_CHANGE"/>
          <p:cNvSpPr/>
          <p:nvPr/>
        </p:nvSpPr>
        <p:spPr>
          <a:xfrm>
            <a:off x="804672" y="4901184"/>
            <a:ext cx="10588752" cy="47548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rIns="146304" bIns="9144"/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MODE_CHANGE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（模式切換事件）｜來源：result events｜作用：連接 edit 與 service timing｜單位：event time｜判讀：先填事件，再填 packet／service／J</a:t>
            </a:r>
          </a:p>
        </p:txBody>
      </p:sp>
      <p:sp>
        <p:nvSpPr>
          <p:cNvPr id="13" name="Claim boundary strip"/>
          <p:cNvSpPr/>
          <p:nvPr/>
        </p:nvSpPr>
        <p:spPr>
          <a:xfrm>
            <a:off x="804672" y="5468112"/>
            <a:ext cx="10588752" cy="402336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9144" rIns="27432" bIns="9144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資料界線：固定 scenario 的 simulated teaching data；結果以本次 stdout result_path 與同目錄 replay 為準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9144" tIns="0" rIns="9144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Trace B：frozen candidate 仍未通過 service</a:t>
            </a:r>
          </a:p>
        </p:txBody>
      </p:sp>
      <p:sp>
        <p:nvSpPr>
          <p:cNvPr id="3" name="Readable lead"/>
          <p:cNvSpPr txBox="1"/>
          <p:nvPr/>
        </p:nvSpPr>
        <p:spPr>
          <a:xfrm>
            <a:off x="841248" y="932688"/>
            <a:ext cx="1049731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Trace B 使用同一個 frozen candidate；新的 case 顯示條件邊界，而不是整體改善證據。</a:t>
            </a:r>
          </a:p>
        </p:txBody>
      </p:sp>
      <p:sp>
        <p:nvSpPr>
          <p:cNvPr id="4" name="Trace B compare A"/>
          <p:cNvSpPr/>
          <p:nvPr/>
        </p:nvSpPr>
        <p:spPr>
          <a:xfrm>
            <a:off x="768096" y="1554480"/>
            <a:ext cx="5084064" cy="2468880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race B compare A heading"/>
          <p:cNvSpPr txBox="1"/>
          <p:nvPr/>
        </p:nvSpPr>
        <p:spPr>
          <a:xfrm>
            <a:off x="914400" y="1664207"/>
            <a:ext cx="4791455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Trace A candidate｜frozen policy</a:t>
            </a:r>
          </a:p>
        </p:txBody>
      </p:sp>
      <p:sp>
        <p:nvSpPr>
          <p:cNvPr id="6" name="Trace B compare A body"/>
          <p:cNvSpPr txBox="1"/>
          <p:nvPr/>
        </p:nvSpPr>
        <p:spPr>
          <a:xfrm>
            <a:off x="932688" y="2066543"/>
            <a:ext cx="4754879" cy="184708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STABLE_STEPS = 1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delivered：3／4　expired：1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service_pass：false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endpoint_energy_j：10.66 J</a:t>
            </a:r>
          </a:p>
        </p:txBody>
      </p:sp>
      <p:sp>
        <p:nvSpPr>
          <p:cNvPr id="7" name="Trace B compare B"/>
          <p:cNvSpPr/>
          <p:nvPr/>
        </p:nvSpPr>
        <p:spPr>
          <a:xfrm>
            <a:off x="6272784" y="1554480"/>
            <a:ext cx="5084064" cy="24688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race B compare B heading"/>
          <p:cNvSpPr txBox="1"/>
          <p:nvPr/>
        </p:nvSpPr>
        <p:spPr>
          <a:xfrm>
            <a:off x="6419088" y="1664207"/>
            <a:ext cx="4791455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Trace B｜withheld evidence</a:t>
            </a:r>
          </a:p>
        </p:txBody>
      </p:sp>
      <p:sp>
        <p:nvSpPr>
          <p:cNvPr id="9" name="Trace B compare B body"/>
          <p:cNvSpPr txBox="1"/>
          <p:nvPr/>
        </p:nvSpPr>
        <p:spPr>
          <a:xfrm>
            <a:off x="6437376" y="2066543"/>
            <a:ext cx="4754879" cy="184708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同一 frozen policy；case 條件改變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delivered：1／3　expired：2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service_pass：false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endpoint_energy_j：5.43 J</a:t>
            </a:r>
          </a:p>
        </p:txBody>
      </p:sp>
      <p:sp>
        <p:nvSpPr>
          <p:cNvPr id="10" name="Trace B boundary"/>
          <p:cNvSpPr/>
          <p:nvPr/>
        </p:nvSpPr>
        <p:spPr>
          <a:xfrm>
            <a:off x="914400" y="4315968"/>
            <a:ext cx="10369296" cy="713232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race B boundary text"/>
          <p:cNvSpPr txBox="1"/>
          <p:nvPr/>
        </p:nvSpPr>
        <p:spPr>
          <a:xfrm>
            <a:off x="1078992" y="4462272"/>
            <a:ext cx="1004011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Trace B service_pass 仍為 false；不能把單一 J 值 5.43 宣稱為整體改善。</a:t>
            </a:r>
          </a:p>
        </p:txBody>
      </p:sp>
      <p:sp>
        <p:nvSpPr>
          <p:cNvPr id="12" name="Field strip withheld"/>
          <p:cNvSpPr/>
          <p:nvPr/>
        </p:nvSpPr>
        <p:spPr>
          <a:xfrm>
            <a:off x="804672" y="4901184"/>
            <a:ext cx="10588752" cy="47548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rIns="146304" bIns="9144"/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withheld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（保留條件）｜來源：Trace B scenario contract｜作用：檢驗外推邊界｜單位：case role｜判讀：frozen policy 不因結果改寫</a:t>
            </a:r>
          </a:p>
        </p:txBody>
      </p:sp>
      <p:sp>
        <p:nvSpPr>
          <p:cNvPr id="13" name="Claim boundary strip"/>
          <p:cNvSpPr/>
          <p:nvPr/>
        </p:nvSpPr>
        <p:spPr>
          <a:xfrm>
            <a:off x="804672" y="5468112"/>
            <a:ext cx="10588752" cy="402336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9144" rIns="27432" bIns="9144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資料界線：固定 scenario 的 simulated teaching data；結果以本次 stdout result_path 與同目錄 replay 為準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9144" tIns="0" rIns="9144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Lab B 結論：送達增加，service 仍未通過</a:t>
            </a:r>
          </a:p>
        </p:txBody>
      </p:sp>
      <p:sp>
        <p:nvSpPr>
          <p:cNvPr id="3" name="Readable lead"/>
          <p:cNvSpPr txBox="1"/>
          <p:nvPr/>
        </p:nvSpPr>
        <p:spPr>
          <a:xfrm>
            <a:off x="841248" y="932688"/>
            <a:ext cx="1049731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LoRaEnergySim energy ledger 顯示 candidate 的送達收益伴隨端點成本；Trace B 未通過 service。</a:t>
            </a:r>
          </a:p>
        </p:txBody>
      </p:sp>
      <p:sp>
        <p:nvSpPr>
          <p:cNvPr id="4" name="Lab B conclusion delivery"/>
          <p:cNvSpPr/>
          <p:nvPr/>
        </p:nvSpPr>
        <p:spPr>
          <a:xfrm>
            <a:off x="768096" y="1554480"/>
            <a:ext cx="3401568" cy="2505456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ab B conclusion delivery heading"/>
          <p:cNvSpPr txBox="1"/>
          <p:nvPr/>
        </p:nvSpPr>
        <p:spPr>
          <a:xfrm>
            <a:off x="914400" y="1664207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Trace A｜送達變化</a:t>
            </a:r>
          </a:p>
        </p:txBody>
      </p:sp>
      <p:sp>
        <p:nvSpPr>
          <p:cNvPr id="6" name="Lab B conclusion delivery body"/>
          <p:cNvSpPr txBox="1"/>
          <p:nvPr/>
        </p:nvSpPr>
        <p:spPr>
          <a:xfrm>
            <a:off x="932688" y="2066543"/>
            <a:ext cx="3072384" cy="1883664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baseline：delivered 1／4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candidate：delivered 3／4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expired：3 → 1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service_pass：false → false</a:t>
            </a:r>
          </a:p>
        </p:txBody>
      </p:sp>
      <p:sp>
        <p:nvSpPr>
          <p:cNvPr id="7" name="Lab B conclusion energy"/>
          <p:cNvSpPr/>
          <p:nvPr/>
        </p:nvSpPr>
        <p:spPr>
          <a:xfrm>
            <a:off x="4389120" y="1554480"/>
            <a:ext cx="3401568" cy="2505456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ab B conclusion energy heading"/>
          <p:cNvSpPr txBox="1"/>
          <p:nvPr/>
        </p:nvSpPr>
        <p:spPr>
          <a:xfrm>
            <a:off x="4535424" y="1664207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Trace A｜端點成本</a:t>
            </a:r>
          </a:p>
        </p:txBody>
      </p:sp>
      <p:sp>
        <p:nvSpPr>
          <p:cNvPr id="9" name="Lab B conclusion energy body"/>
          <p:cNvSpPr txBox="1"/>
          <p:nvPr/>
        </p:nvSpPr>
        <p:spPr>
          <a:xfrm>
            <a:off x="4553712" y="2066543"/>
            <a:ext cx="3072384" cy="1883664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 J：8.86 → 10.66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增加：+1.80 J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retries：1 → 1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collisions：1 → 1</a:t>
            </a:r>
          </a:p>
        </p:txBody>
      </p:sp>
      <p:sp>
        <p:nvSpPr>
          <p:cNvPr id="10" name="Lab B conclusion boundary"/>
          <p:cNvSpPr/>
          <p:nvPr/>
        </p:nvSpPr>
        <p:spPr>
          <a:xfrm>
            <a:off x="8010144" y="1554480"/>
            <a:ext cx="3401568" cy="2505456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ab B conclusion boundary heading"/>
          <p:cNvSpPr txBox="1"/>
          <p:nvPr/>
        </p:nvSpPr>
        <p:spPr>
          <a:xfrm>
            <a:off x="8156448" y="1664207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Trace B｜主張邊界</a:t>
            </a:r>
          </a:p>
        </p:txBody>
      </p:sp>
      <p:sp>
        <p:nvSpPr>
          <p:cNvPr id="12" name="Lab B conclusion boundary body"/>
          <p:cNvSpPr txBox="1"/>
          <p:nvPr/>
        </p:nvSpPr>
        <p:spPr>
          <a:xfrm>
            <a:off x="8174736" y="2066543"/>
            <a:ext cx="3072384" cy="1883664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frozen candidate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delivered：1／3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expired：2；J：5.43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service_pass：false</a:t>
            </a:r>
          </a:p>
        </p:txBody>
      </p:sp>
      <p:sp>
        <p:nvSpPr>
          <p:cNvPr id="13" name="Lab B qualified conclusion"/>
          <p:cNvSpPr/>
          <p:nvPr/>
        </p:nvSpPr>
        <p:spPr>
          <a:xfrm>
            <a:off x="914400" y="4315968"/>
            <a:ext cx="10369296" cy="713232"/>
          </a:xfrm>
          <a:prstGeom prst="roundRect">
            <a:avLst/>
          </a:prstGeom>
          <a:solidFill>
            <a:srgbClr val="FFF9E6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ab B qualified conclusion text"/>
          <p:cNvSpPr txBox="1"/>
          <p:nvPr/>
        </p:nvSpPr>
        <p:spPr>
          <a:xfrm>
            <a:off x="1078992" y="4462272"/>
            <a:ext cx="1004011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結論句：candidate 增加送達但增加 energy，且仍未 service pass；Trace B 未通過，不能宣稱整體改善。</a:t>
            </a:r>
          </a:p>
        </p:txBody>
      </p:sp>
      <p:sp>
        <p:nvSpPr>
          <p:cNvPr id="15" name="Field strip claim ceiling"/>
          <p:cNvSpPr/>
          <p:nvPr/>
        </p:nvSpPr>
        <p:spPr>
          <a:xfrm>
            <a:off x="804672" y="4901184"/>
            <a:ext cx="10588752" cy="47548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rIns="146304" bIns="9144"/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claim ceiling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（主張上限）｜來源：Trace A／Trace B pairs｜作用：界定可外推範圍｜單位：condition set｜判讀：J 變小不覆蓋 service failure</a:t>
            </a:r>
          </a:p>
        </p:txBody>
      </p:sp>
      <p:sp>
        <p:nvSpPr>
          <p:cNvPr id="16" name="Claim boundary strip"/>
          <p:cNvSpPr/>
          <p:nvPr/>
        </p:nvSpPr>
        <p:spPr>
          <a:xfrm>
            <a:off x="804672" y="5468112"/>
            <a:ext cx="10588752" cy="402336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9144" rIns="27432" bIns="9144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資料界線：固定 scenario 的 simulated teaching data；結果以本次 stdout result_path 與同目錄 replay 為準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9144" tIns="0" rIns="9144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中斷時：先恢復 policy，再重跑 exact case</a:t>
            </a:r>
          </a:p>
        </p:txBody>
      </p:sp>
      <p:sp>
        <p:nvSpPr>
          <p:cNvPr id="3" name="Readable lead"/>
          <p:cNvSpPr txBox="1"/>
          <p:nvPr/>
        </p:nvSpPr>
        <p:spPr>
          <a:xfrm>
            <a:off x="841248" y="932688"/>
            <a:ext cx="1049731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policy checkpoint 只恢復 lineage；compile 後重新 run，才會產生新的 result_path。</a:t>
            </a:r>
          </a:p>
        </p:txBody>
      </p:sp>
      <p:sp>
        <p:nvSpPr>
          <p:cNvPr id="4" name="Recovery step 1"/>
          <p:cNvSpPr/>
          <p:nvPr/>
        </p:nvSpPr>
        <p:spPr>
          <a:xfrm>
            <a:off x="585216" y="1499616"/>
            <a:ext cx="2542032" cy="1426464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overy step 1 heading"/>
          <p:cNvSpPr txBox="1"/>
          <p:nvPr/>
        </p:nvSpPr>
        <p:spPr>
          <a:xfrm>
            <a:off x="731520" y="1609343"/>
            <a:ext cx="224942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01｜copy</a:t>
            </a:r>
          </a:p>
        </p:txBody>
      </p:sp>
      <p:sp>
        <p:nvSpPr>
          <p:cNvPr id="6" name="Recovery step 1 body"/>
          <p:cNvSpPr txBox="1"/>
          <p:nvPr/>
        </p:nvSpPr>
        <p:spPr>
          <a:xfrm>
            <a:off x="749808" y="2011680"/>
            <a:ext cx="2212848" cy="804672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放回最後有效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A／B checkpoint</a:t>
            </a:r>
          </a:p>
        </p:txBody>
      </p:sp>
      <p:sp>
        <p:nvSpPr>
          <p:cNvPr id="7" name="Recovery connector"/>
          <p:cNvSpPr/>
          <p:nvPr/>
        </p:nvSpPr>
        <p:spPr>
          <a:xfrm>
            <a:off x="3218688" y="2029968"/>
            <a:ext cx="310896" cy="384048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overy step 2"/>
          <p:cNvSpPr/>
          <p:nvPr/>
        </p:nvSpPr>
        <p:spPr>
          <a:xfrm>
            <a:off x="3364992" y="1499616"/>
            <a:ext cx="2542032" cy="1426464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overy step 2 heading"/>
          <p:cNvSpPr txBox="1"/>
          <p:nvPr/>
        </p:nvSpPr>
        <p:spPr>
          <a:xfrm>
            <a:off x="3511296" y="1609343"/>
            <a:ext cx="224942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02｜compile</a:t>
            </a:r>
          </a:p>
        </p:txBody>
      </p:sp>
      <p:sp>
        <p:nvSpPr>
          <p:cNvPr id="10" name="Recovery step 2 body"/>
          <p:cNvSpPr txBox="1"/>
          <p:nvPr/>
        </p:nvSpPr>
        <p:spPr>
          <a:xfrm>
            <a:off x="3529584" y="2011680"/>
            <a:ext cx="2212848" cy="804672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確認 policy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語法可載入</a:t>
            </a:r>
          </a:p>
        </p:txBody>
      </p:sp>
      <p:sp>
        <p:nvSpPr>
          <p:cNvPr id="11" name="Recovery connector"/>
          <p:cNvSpPr/>
          <p:nvPr/>
        </p:nvSpPr>
        <p:spPr>
          <a:xfrm>
            <a:off x="5998464" y="2029968"/>
            <a:ext cx="310896" cy="384048"/>
          </a:xfrm>
          <a:prstGeom prst="chevron">
            <a:avLst/>
          </a:prstGeom>
          <a:solidFill>
            <a:srgbClr val="660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overy step 3"/>
          <p:cNvSpPr/>
          <p:nvPr/>
        </p:nvSpPr>
        <p:spPr>
          <a:xfrm>
            <a:off x="6144768" y="1499616"/>
            <a:ext cx="2542032" cy="1426464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overy step 3 heading"/>
          <p:cNvSpPr txBox="1"/>
          <p:nvPr/>
        </p:nvSpPr>
        <p:spPr>
          <a:xfrm>
            <a:off x="6291072" y="1609343"/>
            <a:ext cx="224942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03｜exact rerun</a:t>
            </a:r>
          </a:p>
        </p:txBody>
      </p:sp>
      <p:sp>
        <p:nvSpPr>
          <p:cNvPr id="14" name="Recovery step 3 body"/>
          <p:cNvSpPr txBox="1"/>
          <p:nvPr/>
        </p:nvSpPr>
        <p:spPr>
          <a:xfrm>
            <a:off x="6309360" y="2011680"/>
            <a:ext cx="2212848" cy="804672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同一 case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不改 runner／JSON</a:t>
            </a:r>
          </a:p>
        </p:txBody>
      </p:sp>
      <p:sp>
        <p:nvSpPr>
          <p:cNvPr id="15" name="Recovery connector"/>
          <p:cNvSpPr/>
          <p:nvPr/>
        </p:nvSpPr>
        <p:spPr>
          <a:xfrm>
            <a:off x="8778240" y="2029968"/>
            <a:ext cx="310896" cy="384048"/>
          </a:xfrm>
          <a:prstGeom prst="chevron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overy step 4"/>
          <p:cNvSpPr/>
          <p:nvPr/>
        </p:nvSpPr>
        <p:spPr>
          <a:xfrm>
            <a:off x="8924544" y="1499616"/>
            <a:ext cx="2542032" cy="1426464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overy step 4 heading"/>
          <p:cNvSpPr txBox="1"/>
          <p:nvPr/>
        </p:nvSpPr>
        <p:spPr>
          <a:xfrm>
            <a:off x="9070848" y="1609343"/>
            <a:ext cx="224942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04｜new pair</a:t>
            </a:r>
          </a:p>
        </p:txBody>
      </p:sp>
      <p:sp>
        <p:nvSpPr>
          <p:cNvPr id="18" name="Recovery step 4 body"/>
          <p:cNvSpPr txBox="1"/>
          <p:nvPr/>
        </p:nvSpPr>
        <p:spPr>
          <a:xfrm>
            <a:off x="9089136" y="2011680"/>
            <a:ext cx="2212848" cy="804672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保存新的 path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配對 replay</a:t>
            </a:r>
          </a:p>
        </p:txBody>
      </p:sp>
      <p:sp>
        <p:nvSpPr>
          <p:cNvPr id="19" name="Recovery POSIX commands"/>
          <p:cNvSpPr/>
          <p:nvPr/>
        </p:nvSpPr>
        <p:spPr>
          <a:xfrm>
            <a:off x="749808" y="3291840"/>
            <a:ext cx="5212080" cy="138988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overy POSIX commands heading"/>
          <p:cNvSpPr txBox="1"/>
          <p:nvPr/>
        </p:nvSpPr>
        <p:spPr>
          <a:xfrm>
            <a:off x="877824" y="3401568"/>
            <a:ext cx="4956048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0" rIns="9144" bIns="0">
            <a:spAutoFit/>
          </a:bodyPr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Linux／macOS 終端機／WSL</a:t>
            </a:r>
          </a:p>
        </p:txBody>
      </p:sp>
      <p:sp>
        <p:nvSpPr>
          <p:cNvPr id="21" name="Recovery POSIX commands command"/>
          <p:cNvSpPr txBox="1"/>
          <p:nvPr/>
        </p:nvSpPr>
        <p:spPr>
          <a:xfrm>
            <a:off x="932688" y="3785616"/>
            <a:ext cx="4846320" cy="7863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l">
              <a:lnSpc>
                <a:spcPct val="7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cp artifacts/checkpoints/lab-b-frozen.py student_policy.py</a:t>
            </a:r>
          </a:p>
          <a:p>
            <a:pPr algn="l">
              <a:lnSpc>
                <a:spcPct val="7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.venv/bin/python -m py_compile student_policy.py</a:t>
            </a:r>
          </a:p>
        </p:txBody>
      </p:sp>
      <p:sp>
        <p:nvSpPr>
          <p:cNvPr id="22" name="Recovery Windows commands"/>
          <p:cNvSpPr/>
          <p:nvPr/>
        </p:nvSpPr>
        <p:spPr>
          <a:xfrm>
            <a:off x="6236208" y="3291840"/>
            <a:ext cx="5212080" cy="1389888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overy Windows commands heading"/>
          <p:cNvSpPr txBox="1"/>
          <p:nvPr/>
        </p:nvSpPr>
        <p:spPr>
          <a:xfrm>
            <a:off x="6364224" y="3401568"/>
            <a:ext cx="4956048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0" rIns="9144" bIns="0">
            <a:spAutoFit/>
          </a:bodyPr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Windows Command Prompt</a:t>
            </a:r>
          </a:p>
        </p:txBody>
      </p:sp>
      <p:sp>
        <p:nvSpPr>
          <p:cNvPr id="24" name="Recovery Windows commands command"/>
          <p:cNvSpPr txBox="1"/>
          <p:nvPr/>
        </p:nvSpPr>
        <p:spPr>
          <a:xfrm>
            <a:off x="6419088" y="3785616"/>
            <a:ext cx="4846320" cy="7863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l">
              <a:lnSpc>
                <a:spcPct val="7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copy /Y artifacts\checkpoints\lab-b-frozen.py student_policy.py</a:t>
            </a:r>
          </a:p>
          <a:p>
            <a:pPr algn="l">
              <a:lnSpc>
                <a:spcPct val="7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.venv\Scripts\python.exe -m py_compile student_policy.py</a:t>
            </a:r>
          </a:p>
        </p:txBody>
      </p:sp>
      <p:sp>
        <p:nvSpPr>
          <p:cNvPr id="25" name="Field strip checkpoint"/>
          <p:cNvSpPr/>
          <p:nvPr/>
        </p:nvSpPr>
        <p:spPr>
          <a:xfrm>
            <a:off x="804672" y="4901184"/>
            <a:ext cx="10588752" cy="47548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rIns="146304" bIns="9144"/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checkpoint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（策略快照）｜來源：artifacts/checkpoints｜作用：恢復 policy lineage｜單位：Python source｜判讀：不會復原遺失的 result</a:t>
            </a:r>
          </a:p>
        </p:txBody>
      </p:sp>
      <p:sp>
        <p:nvSpPr>
          <p:cNvPr id="26" name="Claim boundary strip"/>
          <p:cNvSpPr/>
          <p:nvPr/>
        </p:nvSpPr>
        <p:spPr>
          <a:xfrm>
            <a:off x="804672" y="5486400"/>
            <a:ext cx="10588752" cy="402336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9144" rIns="27432" bIns="9144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資料界線：固定 scenario 的 simulated teaching data；結果以本次 stdout result_path 與同目錄 replay 為準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9144" tIns="0" rIns="9144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result.json 匯入 /course：驗證後才進 workbook</a:t>
            </a:r>
          </a:p>
        </p:txBody>
      </p:sp>
      <p:sp>
        <p:nvSpPr>
          <p:cNvPr id="3" name="Readable lead"/>
          <p:cNvSpPr txBox="1"/>
          <p:nvPr/>
        </p:nvSpPr>
        <p:spPr>
          <a:xfrm>
            <a:off x="841248" y="932688"/>
            <a:ext cx="1049731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網站接收 runner 的 </a:t>
            </a:r>
            <a:r>
              <a:rPr sz="22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result.json</a:t>
            </a:r>
            <a:r>
              <a:rPr sz="22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；驗證 identity 後讀取配對 replay，保存可回溯的比較紀錄。</a:t>
            </a:r>
          </a:p>
        </p:txBody>
      </p:sp>
      <p:sp>
        <p:nvSpPr>
          <p:cNvPr id="4" name="Upload flow node 1"/>
          <p:cNvSpPr/>
          <p:nvPr/>
        </p:nvSpPr>
        <p:spPr>
          <a:xfrm>
            <a:off x="530352" y="1536192"/>
            <a:ext cx="2596896" cy="1499616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pload flow node 1 heading"/>
          <p:cNvSpPr txBox="1"/>
          <p:nvPr/>
        </p:nvSpPr>
        <p:spPr>
          <a:xfrm>
            <a:off x="676656" y="1645919"/>
            <a:ext cx="2304288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1｜選檔</a:t>
            </a:r>
          </a:p>
        </p:txBody>
      </p:sp>
      <p:sp>
        <p:nvSpPr>
          <p:cNvPr id="6" name="Upload flow node 1 body"/>
          <p:cNvSpPr txBox="1"/>
          <p:nvPr/>
        </p:nvSpPr>
        <p:spPr>
          <a:xfrm>
            <a:off x="694944" y="2048256"/>
            <a:ext cx="2267712" cy="877823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stdout 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result_path</a:t>
            </a:r>
          </a:p>
          <a:p>
            <a:pPr algn="ctr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選該次 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result.json</a:t>
            </a:r>
          </a:p>
        </p:txBody>
      </p:sp>
      <p:sp>
        <p:nvSpPr>
          <p:cNvPr id="7" name="Upload flow connector"/>
          <p:cNvSpPr/>
          <p:nvPr/>
        </p:nvSpPr>
        <p:spPr>
          <a:xfrm>
            <a:off x="3218688" y="2084831"/>
            <a:ext cx="310896" cy="384048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Upload flow node 2"/>
          <p:cNvSpPr/>
          <p:nvPr/>
        </p:nvSpPr>
        <p:spPr>
          <a:xfrm>
            <a:off x="3328416" y="1536192"/>
            <a:ext cx="2596896" cy="1499616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Upload flow node 2 heading"/>
          <p:cNvSpPr txBox="1"/>
          <p:nvPr/>
        </p:nvSpPr>
        <p:spPr>
          <a:xfrm>
            <a:off x="3474720" y="1645919"/>
            <a:ext cx="2304288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2｜驗證</a:t>
            </a:r>
          </a:p>
        </p:txBody>
      </p:sp>
      <p:sp>
        <p:nvSpPr>
          <p:cNvPr id="10" name="Upload flow node 2 body"/>
          <p:cNvSpPr txBox="1"/>
          <p:nvPr/>
        </p:nvSpPr>
        <p:spPr>
          <a:xfrm>
            <a:off x="3493008" y="2048256"/>
            <a:ext cx="2267712" cy="877823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schema／identity／units</a:t>
            </a:r>
          </a:p>
          <a:p>
            <a:pPr algn="ctr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不符就 fail closed</a:t>
            </a:r>
          </a:p>
        </p:txBody>
      </p:sp>
      <p:sp>
        <p:nvSpPr>
          <p:cNvPr id="11" name="Upload flow connector"/>
          <p:cNvSpPr/>
          <p:nvPr/>
        </p:nvSpPr>
        <p:spPr>
          <a:xfrm>
            <a:off x="6016752" y="2084831"/>
            <a:ext cx="310896" cy="384048"/>
          </a:xfrm>
          <a:prstGeom prst="chevron">
            <a:avLst/>
          </a:prstGeom>
          <a:solidFill>
            <a:srgbClr val="660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Upload flow node 3"/>
          <p:cNvSpPr/>
          <p:nvPr/>
        </p:nvSpPr>
        <p:spPr>
          <a:xfrm>
            <a:off x="6126480" y="1536192"/>
            <a:ext cx="2596896" cy="1499616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Upload flow node 3 heading"/>
          <p:cNvSpPr txBox="1"/>
          <p:nvPr/>
        </p:nvSpPr>
        <p:spPr>
          <a:xfrm>
            <a:off x="6272784" y="1645919"/>
            <a:ext cx="2304288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3｜回放</a:t>
            </a:r>
          </a:p>
        </p:txBody>
      </p:sp>
      <p:sp>
        <p:nvSpPr>
          <p:cNvPr id="14" name="Upload flow node 3 body"/>
          <p:cNvSpPr txBox="1"/>
          <p:nvPr/>
        </p:nvSpPr>
        <p:spPr>
          <a:xfrm>
            <a:off x="6291072" y="2048256"/>
            <a:ext cx="2267712" cy="877823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同目錄 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endpoint-replay.json</a:t>
            </a:r>
          </a:p>
          <a:p>
            <a:pPr algn="ctr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state／queue／packet</a:t>
            </a:r>
          </a:p>
        </p:txBody>
      </p:sp>
      <p:sp>
        <p:nvSpPr>
          <p:cNvPr id="15" name="Upload flow connector"/>
          <p:cNvSpPr/>
          <p:nvPr/>
        </p:nvSpPr>
        <p:spPr>
          <a:xfrm>
            <a:off x="8814816" y="2084831"/>
            <a:ext cx="310896" cy="384048"/>
          </a:xfrm>
          <a:prstGeom prst="chevron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Upload flow node 4"/>
          <p:cNvSpPr/>
          <p:nvPr/>
        </p:nvSpPr>
        <p:spPr>
          <a:xfrm>
            <a:off x="8924544" y="1536192"/>
            <a:ext cx="2596896" cy="1499616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Upload flow node 4 heading"/>
          <p:cNvSpPr txBox="1"/>
          <p:nvPr/>
        </p:nvSpPr>
        <p:spPr>
          <a:xfrm>
            <a:off x="9070848" y="1645919"/>
            <a:ext cx="2304288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4｜保存</a:t>
            </a:r>
          </a:p>
        </p:txBody>
      </p:sp>
      <p:sp>
        <p:nvSpPr>
          <p:cNvPr id="18" name="Upload flow node 4 body"/>
          <p:cNvSpPr txBox="1"/>
          <p:nvPr/>
        </p:nvSpPr>
        <p:spPr>
          <a:xfrm>
            <a:off x="9089136" y="2048256"/>
            <a:ext cx="2267712" cy="877823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service → packet → state → J</a:t>
            </a:r>
          </a:p>
          <a:p>
            <a:pPr algn="ctr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寫入 workbook lineage</a:t>
            </a:r>
          </a:p>
        </p:txBody>
      </p:sp>
      <p:sp>
        <p:nvSpPr>
          <p:cNvPr id="19" name="Upload success"/>
          <p:cNvSpPr/>
          <p:nvPr/>
        </p:nvSpPr>
        <p:spPr>
          <a:xfrm>
            <a:off x="786384" y="3456432"/>
            <a:ext cx="5102352" cy="1261872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Upload success heading"/>
          <p:cNvSpPr txBox="1"/>
          <p:nvPr/>
        </p:nvSpPr>
        <p:spPr>
          <a:xfrm>
            <a:off x="932688" y="3566160"/>
            <a:ext cx="480974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網站讀取／保存</a:t>
            </a:r>
          </a:p>
        </p:txBody>
      </p:sp>
      <p:sp>
        <p:nvSpPr>
          <p:cNvPr id="21" name="Upload success body"/>
          <p:cNvSpPr txBox="1"/>
          <p:nvPr/>
        </p:nvSpPr>
        <p:spPr>
          <a:xfrm>
            <a:off x="950976" y="3968496"/>
            <a:ext cx="4773168" cy="640079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讀 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result.json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並驗證；materialize 同 run replay。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保存 baseline／candidate／withheld lineage。</a:t>
            </a:r>
          </a:p>
        </p:txBody>
      </p:sp>
      <p:sp>
        <p:nvSpPr>
          <p:cNvPr id="22" name="Upload boundary"/>
          <p:cNvSpPr/>
          <p:nvPr/>
        </p:nvSpPr>
        <p:spPr>
          <a:xfrm>
            <a:off x="6272784" y="3456432"/>
            <a:ext cx="5102352" cy="1261872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Upload boundary heading"/>
          <p:cNvSpPr txBox="1"/>
          <p:nvPr/>
        </p:nvSpPr>
        <p:spPr>
          <a:xfrm>
            <a:off x="6419088" y="3566160"/>
            <a:ext cx="480974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網站不做的事</a:t>
            </a:r>
          </a:p>
        </p:txBody>
      </p:sp>
      <p:sp>
        <p:nvSpPr>
          <p:cNvPr id="24" name="Upload boundary body"/>
          <p:cNvSpPr txBox="1"/>
          <p:nvPr/>
        </p:nvSpPr>
        <p:spPr>
          <a:xfrm>
            <a:off x="6437376" y="3968496"/>
            <a:ext cx="4773168" cy="640079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不接收或執行 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；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不把 endpoint J 改稱 LEO／system energy。</a:t>
            </a:r>
          </a:p>
        </p:txBody>
      </p:sp>
      <p:sp>
        <p:nvSpPr>
          <p:cNvPr id="25" name="Field strip result.json"/>
          <p:cNvSpPr/>
          <p:nvPr/>
        </p:nvSpPr>
        <p:spPr>
          <a:xfrm>
            <a:off x="804672" y="4901184"/>
            <a:ext cx="10588752" cy="47548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rIns="146304" bIns="9144"/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result.json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（執行結果）｜來源：runner stdout result_path｜作用：匯入 /course 的 evidence｜單位：JSON artifact｜判讀：與 endpoint replay 同 run 配對</a:t>
            </a:r>
          </a:p>
        </p:txBody>
      </p:sp>
      <p:sp>
        <p:nvSpPr>
          <p:cNvPr id="26" name="Claim boundary strip"/>
          <p:cNvSpPr/>
          <p:nvPr/>
        </p:nvSpPr>
        <p:spPr>
          <a:xfrm>
            <a:off x="804672" y="5486400"/>
            <a:ext cx="10588752" cy="402336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9144" rIns="27432" bIns="9144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資料界線：固定 scenario 的 simulated teaching data；結果以本次 stdout result_path 與同目錄 replay 為準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佈景主題1">
  <a:themeElements>
    <a:clrScheme name="自訂 1">
      <a:dk1>
        <a:srgbClr val="35377F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正式文體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k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8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929F1AC0-EDE5-4E84-B296-76809860B882}" vid="{D422FDD8-D1F8-4744-A7BD-E0F19A28C553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42739</TotalTime>
  <Words>64</Words>
  <Application>Microsoft Office PowerPoint</Application>
  <PresentationFormat>寬螢幕</PresentationFormat>
  <Paragraphs>5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Times-Roman</vt:lpstr>
      <vt:lpstr>Arial</vt:lpstr>
      <vt:lpstr>Calibri</vt:lpstr>
      <vt:lpstr>Symbol</vt:lpstr>
      <vt:lpstr>Times New Roman</vt:lpstr>
      <vt:lpstr>2_佈景主題1</vt:lpstr>
      <vt:lpstr>Energy-Efficiency-Based Joint Uplink Resources Allocation for LEO Satellite Beam-Hopping System</vt:lpstr>
      <vt:lpstr>上行 LEO 衛星 BH 系統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Few-Shot Transfer Learning Approach Using Text-Label Embedding with Legal Attributes for Law Article Prediction</dc:title>
  <dc:creator>Windows 使用者</dc:creator>
  <cp:lastModifiedBy>柏宏 吳</cp:lastModifiedBy>
  <cp:revision>1493</cp:revision>
  <dcterms:created xsi:type="dcterms:W3CDTF">2019-10-21T01:22:34Z</dcterms:created>
  <dcterms:modified xsi:type="dcterms:W3CDTF">2025-12-10T11:42:30Z</dcterms:modified>
</cp:coreProperties>
</file>