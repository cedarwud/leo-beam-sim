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3"/>
    <p:sldId id="257" r:id="rId2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2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本頁建立課程的固定情境。環境感測端點以有限電池運作，服務窗口依固定軌跡開啟、關閉或縮短。情境定義 scenario 來自 course package，作用是固定端點、窗口與資料規則，單位為 identifier；相同輸入應產生可重跑的比較。後續判讀依序確認窗口、策略動作、服務結果與端點能量。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本頁從零定義模擬器。端點是有感測器與有限電池的資料裝置；資料封包是一次要送出的資料；閘道是接收端點封包並留下事件的接收節點。LoRaEnergySim 在本課被當作能源決策的模型參照，把端點狀態、封包事件與能量後果放進可重複的固定執行。這裡的問題不是猜一個漂亮的總分，而是比較同一份工作在等待、休眠或傳送的不同動作下，服務與端點焦耳是否同時改變。模擬器 simulator 的來源是 course package 對 LoRaEnergySim 的參照，作用是在固定時鐘重播課程假設，單位是一次固定執行；判讀時只代表可比較證據，不代表實測。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本頁只列出有來源支持的上游能力。ADR-004 與第三方 provenance 指出，GillesC/LoRaEnergySim 的研究模型可連接端點的休眠、處理、發射、接收，以及封包、碰撞、重傳與能源結果。這些是可重用的模型概念，不是本課已執行上游 repository 的證明。固定 scenario、LEO 服務窗口、bounded policy、JSON 匯入與 Leo replay 是本課需要另外封裝的路徑，不能回寫成上游原生功能。上游模型能力 upstream_model 的來源是指定 commit，作用是提供狀態、封包與能量研究概念，單位是能力集合；判讀時只表示上游能力，不表示本課 runner 已執行上游。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本頁把上游能力與課程封裝拆開。student_policy.py 是課程策略插槽，只開放 marked block；目前 runner 不直接執行上游 LoRaEnergySim，上游僅作能力來源與參照。第一步固定 scenario.json 與 scenario_id，第二步只開放 student_policy.py 的 marked block，第三步由本機 runner 依序產生 baseline、candidate 與 withheld，第四步把配對的 result.json 與 endpoint replay 匯入 Leo 網站，再留在 Workbook 中。這條路徑讓證據可驗證、可重播，也讓伺服器不接收或執行 Python。課程執行器 runner 的來源是 course package，作用是讀固定情境、載入受控策略並輸出結果與重播，單位是 run artifact；判讀時表示一次可追溯執行，不是上游能力或整個系統指標。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本頁回答競賽主題的關聯。智慧節能與物聯網應用需要的是：一次端點決策能否連到封包服務、無線狀態時間與端點焦耳，並能在固定情境下重跑與反駁。課程 package 讓同一 scenario、策略 bytes 與 seed留下可比的事件路徑，再把 result 與 replay 匯入 Leo 讀取。這不是即時資料、典範系統指標或整體 LEO 能量，而是先把端點層的 policy → event → service／J 因果證據做實，再轉移到智慧農業、暖通空調或物流情境，並重新定義它們的窗口、期限與能量邊界。證據 evidence 的來源是 result.json 與 endpoint replay，作用是保存因果路徑，單位是 record；判讀時只能支持 bounded comparison。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本頁先釐清檔案何時出現。setup 與 verify 只檢查 package、scenario 與 policy 的環境條件，不代表已完成一次案例執行，也不會產生此次 run 的結果檔。只有 run case 由本機 runner 依固定輸入做模擬，才會在 artifacts/&lt;run_id&gt;/ 寫入配對的 result.json 與 endpoint-replay.json。在 Linux／macOS 終端機執行時使用 Linux 指令；WSL 也使用 Linux 指令。執行產物 run artifact 的來源是本機 runner，作用是保存一次執行的結果與端點事件重播，單位是同一 run 目錄；判讀時只有 run 產生，setup／verify 不算。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本頁把本機與網站的責任拆開。student_policy.py 是課程策略插槽，不是上游 LoRaEnergySim 的直接執行入口。Linux／macOS 終端機或使用 Linux 指令的 WSL 先由本機 runner 讀取這個插槽並做固定情境模擬，目前不直接執行上游 LoRaEnergySim；上游僅提供能力來源與參照。產出 result.json 與同一 run 目錄的 endpoint-replay.json。/course 課程頁只選 result.json；它不要求、不上傳也不執行 student_policy.py。網站的工作是驗證資料身份與結構、具象化結果、建立端點事件重播並寫入工作簿。課程匯入 course import 的來源是 /course 控制項，作用是驗證 result.json 並建立重播與工作簿，單位是 JSON pair；判讀時選結果檔，並讓 replay 留在同一個 run 目錄配對。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本頁把網站讀取順序固定下來。baseline（基準）、candidate（候選）與 withheld（保留反例）依序匯入，每一次都選該次 result.json，並保留同一個 run 目錄的 endpoint-replay.json 配對。判讀順序固定為 service → packet → state → endpoint J：先確認服務判定，再讀封包事件、狀態時間，最後才讀端點焦耳，避免只用一個總數字宣稱因果。--freeze 是受控案例額外的 receipt／checkpoint，用來保存策略與案例 lineage；它不是一般上傳，也不改變 /course 只選 result.json 的邊界。匯入順序 import order 的來源是 /course 與配對 artifacts，作用是依序比較三次 JSON pair，單位是三次 JSON pair；判讀時沿 service、packet、state、endpoint J，freeze 資料另存。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本頁說明策略動作的三條主要路徑。SLEEP 降低休息功率，但必須支付喚醒延遲與喚醒能量；WAIT 保留反應能力，但會累積清醒閒置能量；SEND 類動作建立服務機會，也會增加處理、發射、接收或重試事件。策略動作 action 來自 policy API，作用是提供每次決策的唯一輸出，單位為 enum；判讀時以其觸發的狀態與封包轉移為準。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本頁建立結果歸因的順序。先確認服務窗口與策略動作，再讀取無線狀態和封包事件，最後判讀服務與端點能量。窗口關閉時，傳輸類動作不進入執行器，安全分支為 SLEEP。無線狀態 radio_state 來自 runner event ledger，作用是表示各狀態區間，單位為 state enum 加 duration；其判讀用途是提供端點能量的時間分段。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本頁定義固定情境中的操作閉環。可編輯面限於 student_policy.py 的 marked block，且一次只修改一個受控常數。執行固定 case 後，依序讀取狀態、封包、服務與能量，再以動作、事件與結果的關係說明差異。結果資料檔 result.json 由 package runner 產生，作用是保存 run identity、狀態、封包、服務與能量，單位為 JSON artifact；其判讀用途是作為 replay 與 import 的輸入。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本頁將因果歸因具體化。基準策略與候選策略必須接收相同觀測，差異由策略動作開始，並經由不同的事件路徑傳到服務與端點能量。若事件路徑沒有差異，最終數值差異不得歸因於策略修改。封包進度 packet_progress 來自 result 或 replay artifact，作用是記錄產生、佇列、嘗試、重試、送達與逾期，單位為 event count 加 time；其判讀用途是連接策略動作與服務結果。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本頁界定執行器可支持的證據範圍。固定 scenario、policy 與 seed 可使事件順序重跑，並支持端點狀態、封包、服務與端點能量的比較。這些結果不等同於 LEO 或 system energy，也不等同於 canonical efficiency、實測或即時 KPI。端點能量 endpoint_energy_j 來自 endpoint radio 與 processing model，作用是累積狀態能量，單位為 J；判讀時只屬於 endpoint evidence layer。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本頁將低地球軌道視為變動服務窗口的工作範例。LEO 的作用是改變服務機會；主要控制仍是端點策略在等待、休息與送出之間做選擇。暖通空調、邊緣閘道與物流追蹤可以沿用相同機制，但各情境必須重新定義窗口、期限與能量邊界。服務窗口 service_window 來自 fixed scenario trace，作用是定義合法傳輸區間，單位為 trace time；判讀時決定動作是否具有服務機會。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本頁把預測、執行與反例放在同一個證據脈絡。執行前先記錄狀態、封包、服務或端點能量的預期方向，再進行一次一個常數的受控修改與固定 case 執行。結果不符合預測時，反例仍須保存。預測 prediction 來自 workbook record，作用是指定可反駁的變化方向，單位為 statement；判讀時作為執行前的比較基準。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本頁把三個實驗的變更面一次說清楚。Lab A 只把 REST_DURING_GAP 從 SLEEP 改成 WAIT，PACE_GAP_STEPS、Lab B/C 區塊、runner、scenario 與 schema 都不變；觀察休眠、清醒閒置、喚醒與端點 J，再連到封包服務。Lab B 只把 STABLE_STEPS 從 2 改成 1，ENTER_QUALITY=2 與 EXIT_QUALITY=1 不變；觀察進入時間、嘗試、重傳、交付、service 與 J。Lab C 只依序把 URGENT_MARGIN_S 從 20 改為 5 再改為 30，BATCH_SIZE=3 不變；觀察急件分支時間、deadline、expired、service 與 J。每次仍只改同一檔案的一個 marked block，先記 prediction，再做 baseline、candidate 與 withheld。受控區塊 marked block 的來源是 student_policy.py，作用是限制最小決策面，單位是 one block；判讀時，其他行與檔案必須保持不動，才能把差異歸因於本次實驗。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有限電池 × 變動服務窗口</a:t>
            </a:r>
          </a:p>
        </p:txBody>
      </p:sp>
      <p:sp>
        <p:nvSpPr>
          <p:cNvPr id="3" name="Finite battery endpoint"/>
          <p:cNvSpPr/>
          <p:nvPr/>
        </p:nvSpPr>
        <p:spPr>
          <a:xfrm>
            <a:off x="841248" y="1261872"/>
            <a:ext cx="2514600" cy="261518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64592" rIns="164592" bIns="164592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有限電池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</a:t>
            </a:r>
          </a:p>
        </p:txBody>
      </p:sp>
      <p:sp>
        <p:nvSpPr>
          <p:cNvPr id="4" name="Battery cell 1"/>
          <p:cNvSpPr/>
          <p:nvPr/>
        </p:nvSpPr>
        <p:spPr>
          <a:xfrm>
            <a:off x="1225296" y="3246120"/>
            <a:ext cx="402336" cy="201168"/>
          </a:xfrm>
          <a:prstGeom prst="rect">
            <a:avLst/>
          </a:prstGeom>
          <a:solidFill>
            <a:srgbClr val="99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Battery cell 2"/>
          <p:cNvSpPr/>
          <p:nvPr/>
        </p:nvSpPr>
        <p:spPr>
          <a:xfrm>
            <a:off x="1773936" y="3246120"/>
            <a:ext cx="402336" cy="201168"/>
          </a:xfrm>
          <a:prstGeom prst="rect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attery cell 3"/>
          <p:cNvSpPr/>
          <p:nvPr/>
        </p:nvSpPr>
        <p:spPr>
          <a:xfrm>
            <a:off x="2322576" y="3246120"/>
            <a:ext cx="402336" cy="201168"/>
          </a:xfrm>
          <a:prstGeom prst="rect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cket label"/>
          <p:cNvSpPr txBox="1"/>
          <p:nvPr/>
        </p:nvSpPr>
        <p:spPr>
          <a:xfrm>
            <a:off x="3685032" y="1481328"/>
            <a:ext cx="1554480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資料封包</a:t>
            </a:r>
          </a:p>
        </p:txBody>
      </p:sp>
      <p:sp>
        <p:nvSpPr>
          <p:cNvPr id="8" name="Oval 7"/>
          <p:cNvSpPr/>
          <p:nvPr/>
        </p:nvSpPr>
        <p:spPr>
          <a:xfrm>
            <a:off x="3767328" y="2130552"/>
            <a:ext cx="292608" cy="292608"/>
          </a:xfrm>
          <a:prstGeom prst="ellipse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242816" y="2130552"/>
            <a:ext cx="292608" cy="292608"/>
          </a:xfrm>
          <a:prstGeom prst="ellipse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718304" y="2130552"/>
            <a:ext cx="292608" cy="292608"/>
          </a:xfrm>
          <a:prstGeom prst="ellipse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5074920" y="2039112"/>
            <a:ext cx="457200" cy="457200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acket path"/>
          <p:cNvSpPr txBox="1"/>
          <p:nvPr/>
        </p:nvSpPr>
        <p:spPr>
          <a:xfrm>
            <a:off x="3611880" y="2688336"/>
            <a:ext cx="1938528" cy="53035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產生 → 佇列 → 送出</a:t>
            </a:r>
          </a:p>
        </p:txBody>
      </p:sp>
      <p:sp>
        <p:nvSpPr>
          <p:cNvPr id="13" name="Changing service window"/>
          <p:cNvSpPr/>
          <p:nvPr/>
        </p:nvSpPr>
        <p:spPr>
          <a:xfrm>
            <a:off x="5870448" y="1225296"/>
            <a:ext cx="5321808" cy="2688336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Window headline"/>
          <p:cNvSpPr txBox="1"/>
          <p:nvPr/>
        </p:nvSpPr>
        <p:spPr>
          <a:xfrm>
            <a:off x="6199632" y="1444752"/>
            <a:ext cx="466344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會開、會關、品質會變</a:t>
            </a:r>
          </a:p>
        </p:txBody>
      </p:sp>
      <p:sp>
        <p:nvSpPr>
          <p:cNvPr id="15" name="Window segment 1"/>
          <p:cNvSpPr/>
          <p:nvPr/>
        </p:nvSpPr>
        <p:spPr>
          <a:xfrm>
            <a:off x="6291072" y="2304288"/>
            <a:ext cx="1243584" cy="658368"/>
          </a:xfrm>
          <a:prstGeom prst="rect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開啟</a:t>
            </a:r>
          </a:p>
        </p:txBody>
      </p:sp>
      <p:sp>
        <p:nvSpPr>
          <p:cNvPr id="16" name="Window segment 2"/>
          <p:cNvSpPr/>
          <p:nvPr/>
        </p:nvSpPr>
        <p:spPr>
          <a:xfrm>
            <a:off x="7598664" y="2304288"/>
            <a:ext cx="950976" cy="65836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關閉</a:t>
            </a:r>
          </a:p>
        </p:txBody>
      </p:sp>
      <p:sp>
        <p:nvSpPr>
          <p:cNvPr id="17" name="Window segment 3"/>
          <p:cNvSpPr/>
          <p:nvPr/>
        </p:nvSpPr>
        <p:spPr>
          <a:xfrm>
            <a:off x="8613648" y="2304288"/>
            <a:ext cx="1353312" cy="658368"/>
          </a:xfrm>
          <a:prstGeom prst="rect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開啟</a:t>
            </a:r>
          </a:p>
        </p:txBody>
      </p:sp>
      <p:sp>
        <p:nvSpPr>
          <p:cNvPr id="18" name="Window segment 4"/>
          <p:cNvSpPr/>
          <p:nvPr/>
        </p:nvSpPr>
        <p:spPr>
          <a:xfrm>
            <a:off x="10030968" y="2304288"/>
            <a:ext cx="1060704" cy="658368"/>
          </a:xfrm>
          <a:prstGeom prst="rect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tIns="9144" rIns="18288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縮短</a:t>
            </a:r>
          </a:p>
        </p:txBody>
      </p:sp>
      <p:sp>
        <p:nvSpPr>
          <p:cNvPr id="19" name="Reading order"/>
          <p:cNvSpPr/>
          <p:nvPr/>
        </p:nvSpPr>
        <p:spPr>
          <a:xfrm>
            <a:off x="1143000" y="4169663"/>
            <a:ext cx="9784080" cy="53035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先看窗口，再看動作；最後讀服務與端點能量</a:t>
            </a:r>
          </a:p>
        </p:txBody>
      </p:sp>
      <p:sp>
        <p:nvSpPr>
          <p:cNvPr id="20" name="Field contract scenario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scenario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（情境定義）｜來源：course package｜作用：固定端點、窗口與資料規則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單位：identifier｜判讀：相同輸入可重跑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LoRaEnergySim 是什麼</a:t>
            </a:r>
          </a:p>
        </p:txBody>
      </p:sp>
      <p:sp>
        <p:nvSpPr>
          <p:cNvPr id="3" name="Simulator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把端點的一次選擇，放進可重複的封包與能量模擬</a:t>
            </a:r>
          </a:p>
        </p:txBody>
      </p:sp>
      <p:sp>
        <p:nvSpPr>
          <p:cNvPr id="4" name="Endpoint concept"/>
          <p:cNvSpPr/>
          <p:nvPr/>
        </p:nvSpPr>
        <p:spPr>
          <a:xfrm>
            <a:off x="841248" y="1664208"/>
            <a:ext cx="2468880" cy="217627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Endpoint heading"/>
          <p:cNvSpPr txBox="1"/>
          <p:nvPr/>
        </p:nvSpPr>
        <p:spPr>
          <a:xfrm>
            <a:off x="1042415" y="1920240"/>
            <a:ext cx="2066543" cy="4937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</a:t>
            </a:r>
          </a:p>
        </p:txBody>
      </p:sp>
      <p:sp>
        <p:nvSpPr>
          <p:cNvPr id="6" name="Endpoint body"/>
          <p:cNvSpPr txBox="1"/>
          <p:nvPr/>
        </p:nvSpPr>
        <p:spPr>
          <a:xfrm>
            <a:off x="1078992" y="2615184"/>
            <a:ext cx="1993392" cy="8961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感測器＋有限電池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產生資料、選擇動作</a:t>
            </a:r>
          </a:p>
        </p:txBody>
      </p:sp>
      <p:sp>
        <p:nvSpPr>
          <p:cNvPr id="7" name="Chevron 6"/>
          <p:cNvSpPr/>
          <p:nvPr/>
        </p:nvSpPr>
        <p:spPr>
          <a:xfrm>
            <a:off x="3493008" y="2468880"/>
            <a:ext cx="420624" cy="493776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cket concept"/>
          <p:cNvSpPr/>
          <p:nvPr/>
        </p:nvSpPr>
        <p:spPr>
          <a:xfrm>
            <a:off x="4041648" y="1664208"/>
            <a:ext cx="3456432" cy="217627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cket heading"/>
          <p:cNvSpPr txBox="1"/>
          <p:nvPr/>
        </p:nvSpPr>
        <p:spPr>
          <a:xfrm>
            <a:off x="4315968" y="1920240"/>
            <a:ext cx="2907792" cy="4937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資料封包</a:t>
            </a:r>
          </a:p>
        </p:txBody>
      </p:sp>
      <p:sp>
        <p:nvSpPr>
          <p:cNvPr id="10" name="Packet body"/>
          <p:cNvSpPr txBox="1"/>
          <p:nvPr/>
        </p:nvSpPr>
        <p:spPr>
          <a:xfrm>
            <a:off x="4352544" y="2615184"/>
            <a:ext cx="2834640" cy="8961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一份待傳資料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產生 → 佇列 → 嘗試傳送</a:t>
            </a:r>
          </a:p>
        </p:txBody>
      </p:sp>
      <p:sp>
        <p:nvSpPr>
          <p:cNvPr id="11" name="Chevron 10"/>
          <p:cNvSpPr/>
          <p:nvPr/>
        </p:nvSpPr>
        <p:spPr>
          <a:xfrm>
            <a:off x="7699248" y="2468880"/>
            <a:ext cx="420624" cy="493776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Gateway concept"/>
          <p:cNvSpPr/>
          <p:nvPr/>
        </p:nvSpPr>
        <p:spPr>
          <a:xfrm>
            <a:off x="8247888" y="1664208"/>
            <a:ext cx="3054096" cy="217627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Gateway heading"/>
          <p:cNvSpPr txBox="1"/>
          <p:nvPr/>
        </p:nvSpPr>
        <p:spPr>
          <a:xfrm>
            <a:off x="8522208" y="1920240"/>
            <a:ext cx="2505456" cy="4937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閘道</a:t>
            </a:r>
          </a:p>
        </p:txBody>
      </p:sp>
      <p:sp>
        <p:nvSpPr>
          <p:cNvPr id="14" name="Gateway body"/>
          <p:cNvSpPr txBox="1"/>
          <p:nvPr/>
        </p:nvSpPr>
        <p:spPr>
          <a:xfrm>
            <a:off x="8540496" y="2615184"/>
            <a:ext cx="2468880" cy="8961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接收資料封包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留下送達、碰撞與重傳事件</a:t>
            </a:r>
          </a:p>
        </p:txBody>
      </p:sp>
      <p:sp>
        <p:nvSpPr>
          <p:cNvPr id="15" name="Simulator question"/>
          <p:cNvSpPr/>
          <p:nvPr/>
        </p:nvSpPr>
        <p:spPr>
          <a:xfrm>
            <a:off x="1133856" y="4169663"/>
            <a:ext cx="9784080" cy="53035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它回答：同一份工作，在等待、休眠或傳送的不同決策下，服務與端點能量（J）如何一起變？</a:t>
            </a:r>
          </a:p>
        </p:txBody>
      </p:sp>
      <p:sp>
        <p:nvSpPr>
          <p:cNvPr id="16" name="Field contract simulator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simulator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（模擬器）｜來源：course package 參照 LoRaEnergySim｜作用：在固定時鐘重播端點、封包與能量假設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單位：一次固定執行｜判讀：產生可比較證據，不是實測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原始上游套件已做什麼</a:t>
            </a:r>
          </a:p>
        </p:txBody>
      </p:sp>
      <p:sp>
        <p:nvSpPr>
          <p:cNvPr id="3" name="Upstream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上游研究模型提供「端點狀態 → 封包事件 → 能量」的可重用能力</a:t>
            </a:r>
          </a:p>
        </p:txBody>
      </p:sp>
      <p:sp>
        <p:nvSpPr>
          <p:cNvPr id="4" name="Upstream capabilities"/>
          <p:cNvSpPr/>
          <p:nvPr/>
        </p:nvSpPr>
        <p:spPr>
          <a:xfrm>
            <a:off x="841248" y="1664208"/>
            <a:ext cx="5084064" cy="25603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pstream heading"/>
          <p:cNvSpPr txBox="1"/>
          <p:nvPr/>
        </p:nvSpPr>
        <p:spPr>
          <a:xfrm>
            <a:off x="1115568" y="1901952"/>
            <a:ext cx="453542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上游已有的研究能力</a:t>
            </a:r>
          </a:p>
        </p:txBody>
      </p:sp>
      <p:sp>
        <p:nvSpPr>
          <p:cNvPr id="6" name="Upstream states"/>
          <p:cNvSpPr/>
          <p:nvPr/>
        </p:nvSpPr>
        <p:spPr>
          <a:xfrm>
            <a:off x="1207008" y="2596896"/>
            <a:ext cx="4334256" cy="5486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休眠／處理／發射／接收狀態</a:t>
            </a:r>
          </a:p>
        </p:txBody>
      </p:sp>
      <p:sp>
        <p:nvSpPr>
          <p:cNvPr id="7" name="Upstream packet energy"/>
          <p:cNvSpPr/>
          <p:nvPr/>
        </p:nvSpPr>
        <p:spPr>
          <a:xfrm>
            <a:off x="1207008" y="3310128"/>
            <a:ext cx="4334256" cy="5486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封包、碰撞、重傳、端點能量</a:t>
            </a:r>
          </a:p>
        </p:txBody>
      </p:sp>
      <p:sp>
        <p:nvSpPr>
          <p:cNvPr id="8" name="Course gap"/>
          <p:cNvSpPr/>
          <p:nvPr/>
        </p:nvSpPr>
        <p:spPr>
          <a:xfrm>
            <a:off x="6263640" y="1664208"/>
            <a:ext cx="5084064" cy="2560320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urse gap heading"/>
          <p:cNvSpPr txBox="1"/>
          <p:nvPr/>
        </p:nvSpPr>
        <p:spPr>
          <a:xfrm>
            <a:off x="6537960" y="1901952"/>
            <a:ext cx="453542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上游沒有替本課固定的部分</a:t>
            </a:r>
          </a:p>
        </p:txBody>
      </p:sp>
      <p:sp>
        <p:nvSpPr>
          <p:cNvPr id="10" name="Missing scenario"/>
          <p:cNvSpPr/>
          <p:nvPr/>
        </p:nvSpPr>
        <p:spPr>
          <a:xfrm>
            <a:off x="6629400" y="2596896"/>
            <a:ext cx="4334256" cy="5486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固定情境、LEO 服務窗口、案例順序</a:t>
            </a:r>
          </a:p>
        </p:txBody>
      </p:sp>
      <p:sp>
        <p:nvSpPr>
          <p:cNvPr id="11" name="Missing course seam"/>
          <p:cNvSpPr/>
          <p:nvPr/>
        </p:nvSpPr>
        <p:spPr>
          <a:xfrm>
            <a:off x="6629400" y="3310128"/>
            <a:ext cx="4334256" cy="54864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受控策略、結構化匯入、Leo 重播</a:t>
            </a:r>
          </a:p>
        </p:txBody>
      </p:sp>
      <p:sp>
        <p:nvSpPr>
          <p:cNvPr id="12" name="Upstream boundary"/>
          <p:cNvSpPr txBox="1"/>
          <p:nvPr/>
        </p:nvSpPr>
        <p:spPr>
          <a:xfrm>
            <a:off x="1005840" y="4425696"/>
            <a:ext cx="10168128" cy="3657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因此：上游能力是參照；課程流程、案例與證據邊界由本課封裝。</a:t>
            </a:r>
          </a:p>
        </p:txBody>
      </p:sp>
      <p:sp>
        <p:nvSpPr>
          <p:cNvPr id="13" name="Field contract upstream_model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upstream_model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（上游模型能力）｜來源：GillesC/LoRaEnergySim@f854462c｜作用：提供端點狀態、封包與能量概念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單位：能力集合｜判讀：僅是上游能力，不是本課 runner 執行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課程封裝補了什麼</a:t>
            </a:r>
          </a:p>
        </p:txBody>
      </p:sp>
      <p:sp>
        <p:nvSpPr>
          <p:cNvPr id="3" name="Wrapper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把研究模型包成一條可教、可驗、可匯入的固定路徑</a:t>
            </a:r>
          </a:p>
        </p:txBody>
      </p:sp>
      <p:sp>
        <p:nvSpPr>
          <p:cNvPr id="4" name="Course wrapper step 1"/>
          <p:cNvSpPr/>
          <p:nvPr/>
        </p:nvSpPr>
        <p:spPr>
          <a:xfrm>
            <a:off x="841248" y="1682496"/>
            <a:ext cx="2249424" cy="239572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Wrapper heading 1"/>
          <p:cNvSpPr txBox="1"/>
          <p:nvPr/>
        </p:nvSpPr>
        <p:spPr>
          <a:xfrm>
            <a:off x="987552" y="1865376"/>
            <a:ext cx="195681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固定情境</a:t>
            </a:r>
          </a:p>
        </p:txBody>
      </p:sp>
      <p:sp>
        <p:nvSpPr>
          <p:cNvPr id="6" name="Wrapper body 1"/>
          <p:cNvSpPr txBox="1"/>
          <p:nvPr/>
        </p:nvSpPr>
        <p:spPr>
          <a:xfrm>
            <a:off x="1005840" y="2578608"/>
            <a:ext cx="1920240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scenario.json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 scenario_id</a:t>
            </a:r>
          </a:p>
        </p:txBody>
      </p:sp>
      <p:sp>
        <p:nvSpPr>
          <p:cNvPr id="7" name="Chevron 6"/>
          <p:cNvSpPr/>
          <p:nvPr/>
        </p:nvSpPr>
        <p:spPr>
          <a:xfrm>
            <a:off x="3200400" y="2615184"/>
            <a:ext cx="292608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urse wrapper step 2"/>
          <p:cNvSpPr/>
          <p:nvPr/>
        </p:nvSpPr>
        <p:spPr>
          <a:xfrm>
            <a:off x="3602736" y="1682496"/>
            <a:ext cx="2249424" cy="239572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Wrapper heading 2"/>
          <p:cNvSpPr txBox="1"/>
          <p:nvPr/>
        </p:nvSpPr>
        <p:spPr>
          <a:xfrm>
            <a:off x="3749039" y="1865376"/>
            <a:ext cx="195681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受控決策</a:t>
            </a:r>
          </a:p>
        </p:txBody>
      </p:sp>
      <p:sp>
        <p:nvSpPr>
          <p:cNvPr id="10" name="Wrapper body 2"/>
          <p:cNvSpPr txBox="1"/>
          <p:nvPr/>
        </p:nvSpPr>
        <p:spPr>
          <a:xfrm>
            <a:off x="3767328" y="2578608"/>
            <a:ext cx="1920240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課程策略插槽；只改 marked block</a:t>
            </a:r>
          </a:p>
        </p:txBody>
      </p:sp>
      <p:sp>
        <p:nvSpPr>
          <p:cNvPr id="11" name="Chevron 10"/>
          <p:cNvSpPr/>
          <p:nvPr/>
        </p:nvSpPr>
        <p:spPr>
          <a:xfrm>
            <a:off x="5961888" y="2615184"/>
            <a:ext cx="292608" cy="420624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urse wrapper step 3"/>
          <p:cNvSpPr/>
          <p:nvPr/>
        </p:nvSpPr>
        <p:spPr>
          <a:xfrm>
            <a:off x="6364224" y="1682496"/>
            <a:ext cx="2249424" cy="239572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Wrapper heading 3"/>
          <p:cNvSpPr txBox="1"/>
          <p:nvPr/>
        </p:nvSpPr>
        <p:spPr>
          <a:xfrm>
            <a:off x="6510528" y="1865376"/>
            <a:ext cx="195681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本機執行</a:t>
            </a:r>
          </a:p>
        </p:txBody>
      </p:sp>
      <p:sp>
        <p:nvSpPr>
          <p:cNvPr id="14" name="Wrapper body 3"/>
          <p:cNvSpPr txBox="1"/>
          <p:nvPr/>
        </p:nvSpPr>
        <p:spPr>
          <a:xfrm>
            <a:off x="6528816" y="2578608"/>
            <a:ext cx="1920240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runner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baseline → candidate → withheld</a:t>
            </a:r>
          </a:p>
        </p:txBody>
      </p:sp>
      <p:sp>
        <p:nvSpPr>
          <p:cNvPr id="15" name="Chevron 14"/>
          <p:cNvSpPr/>
          <p:nvPr/>
        </p:nvSpPr>
        <p:spPr>
          <a:xfrm>
            <a:off x="8723376" y="2615184"/>
            <a:ext cx="292608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urse wrapper step 4"/>
          <p:cNvSpPr/>
          <p:nvPr/>
        </p:nvSpPr>
        <p:spPr>
          <a:xfrm>
            <a:off x="9125712" y="1682496"/>
            <a:ext cx="2249424" cy="2395728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Wrapper heading 4"/>
          <p:cNvSpPr txBox="1"/>
          <p:nvPr/>
        </p:nvSpPr>
        <p:spPr>
          <a:xfrm>
            <a:off x="9272016" y="1865376"/>
            <a:ext cx="195681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匯入證據</a:t>
            </a:r>
          </a:p>
        </p:txBody>
      </p:sp>
      <p:sp>
        <p:nvSpPr>
          <p:cNvPr id="18" name="Wrapper body 4"/>
          <p:cNvSpPr txBox="1"/>
          <p:nvPr/>
        </p:nvSpPr>
        <p:spPr>
          <a:xfrm>
            <a:off x="9290304" y="2578608"/>
            <a:ext cx="1920240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result.json（結果）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replay（端點重播）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Leo 網站匯入／Workbook</a:t>
            </a:r>
          </a:p>
        </p:txBody>
      </p:sp>
      <p:sp>
        <p:nvSpPr>
          <p:cNvPr id="19" name="Wrapper boundary"/>
          <p:cNvSpPr/>
          <p:nvPr/>
        </p:nvSpPr>
        <p:spPr>
          <a:xfrm>
            <a:off x="1097280" y="4279392"/>
            <a:ext cx="9985248" cy="566928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student_policy.py 是課程策略插槽；runner 不直接執行上游 LoRaEnergySim，上游僅能力參照。</a:t>
            </a:r>
          </a:p>
        </p:txBody>
      </p:sp>
      <p:sp>
        <p:nvSpPr>
          <p:cNvPr id="20" name="Field contract runner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runner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（課程執行器）｜來源：course package｜作用：讀固定 scenario、載入 bounded policy、輸出 result／replay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單位：run artifact｜判讀：把一次修改連到可重播證據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為什麼競賽要用它</a:t>
            </a:r>
          </a:p>
        </p:txBody>
      </p:sp>
      <p:sp>
        <p:nvSpPr>
          <p:cNvPr id="3" name="Competition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先得到可重複的因果證據，再回到 LEO 網站解讀</a:t>
            </a:r>
          </a:p>
        </p:txBody>
      </p:sp>
      <p:sp>
        <p:nvSpPr>
          <p:cNvPr id="4" name="Competition reason 1"/>
          <p:cNvSpPr/>
          <p:nvPr/>
        </p:nvSpPr>
        <p:spPr>
          <a:xfrm>
            <a:off x="841248" y="1664208"/>
            <a:ext cx="3236976" cy="252374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ompetition heading 1"/>
          <p:cNvSpPr txBox="1"/>
          <p:nvPr/>
        </p:nvSpPr>
        <p:spPr>
          <a:xfrm>
            <a:off x="1005840" y="1901952"/>
            <a:ext cx="290779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可重複</a:t>
            </a:r>
          </a:p>
        </p:txBody>
      </p:sp>
      <p:sp>
        <p:nvSpPr>
          <p:cNvPr id="6" name="Competition body 1"/>
          <p:cNvSpPr txBox="1"/>
          <p:nvPr/>
        </p:nvSpPr>
        <p:spPr>
          <a:xfrm>
            <a:off x="1060704" y="2633472"/>
            <a:ext cx="2798064" cy="106070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同一情境、相同策略檔與固定種子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重跑同一條事件路徑</a:t>
            </a:r>
          </a:p>
        </p:txBody>
      </p:sp>
      <p:sp>
        <p:nvSpPr>
          <p:cNvPr id="7" name="Competition reason 2"/>
          <p:cNvSpPr/>
          <p:nvPr/>
        </p:nvSpPr>
        <p:spPr>
          <a:xfrm>
            <a:off x="4361688" y="1664208"/>
            <a:ext cx="3236976" cy="252374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mpetition heading 2"/>
          <p:cNvSpPr txBox="1"/>
          <p:nvPr/>
        </p:nvSpPr>
        <p:spPr>
          <a:xfrm>
            <a:off x="4526279" y="1901952"/>
            <a:ext cx="290779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可檢驗</a:t>
            </a:r>
          </a:p>
        </p:txBody>
      </p:sp>
      <p:sp>
        <p:nvSpPr>
          <p:cNvPr id="9" name="Competition body 2"/>
          <p:cNvSpPr txBox="1"/>
          <p:nvPr/>
        </p:nvSpPr>
        <p:spPr>
          <a:xfrm>
            <a:off x="4581144" y="2633472"/>
            <a:ext cx="2798064" cy="106070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改一個受控區塊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檢查封包／服務／狀態／J 是否改變</a:t>
            </a:r>
          </a:p>
        </p:txBody>
      </p:sp>
      <p:sp>
        <p:nvSpPr>
          <p:cNvPr id="10" name="Competition reason 3"/>
          <p:cNvSpPr/>
          <p:nvPr/>
        </p:nvSpPr>
        <p:spPr>
          <a:xfrm>
            <a:off x="7882127" y="1664208"/>
            <a:ext cx="3236976" cy="252374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mpetition heading 3"/>
          <p:cNvSpPr txBox="1"/>
          <p:nvPr/>
        </p:nvSpPr>
        <p:spPr>
          <a:xfrm>
            <a:off x="8046719" y="1901952"/>
            <a:ext cx="290779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可轉移</a:t>
            </a:r>
          </a:p>
        </p:txBody>
      </p:sp>
      <p:sp>
        <p:nvSpPr>
          <p:cNvPr id="12" name="Competition body 3"/>
          <p:cNvSpPr txBox="1"/>
          <p:nvPr/>
        </p:nvSpPr>
        <p:spPr>
          <a:xfrm>
            <a:off x="8101583" y="2633472"/>
            <a:ext cx="2798064" cy="106070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智慧農業、暖通空調、物流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重訂窗口、期限與能量邊界</a:t>
            </a:r>
          </a:p>
        </p:txBody>
      </p:sp>
      <p:sp>
        <p:nvSpPr>
          <p:cNvPr id="13" name="Competition claim boundary"/>
          <p:cNvSpPr/>
          <p:nvPr/>
        </p:nvSpPr>
        <p:spPr>
          <a:xfrm>
            <a:off x="1005840" y="4407408"/>
            <a:ext cx="10168128" cy="42062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本套件不是即時資料、典範系統指標或整體 LEO 能量；它先建立可反駁的端點因果證據。</a:t>
            </a:r>
          </a:p>
        </p:txBody>
      </p:sp>
      <p:sp>
        <p:nvSpPr>
          <p:cNvPr id="14" name="Field contract evidenc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evidence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（證據）｜來源：result.json + endpoint replay｜作用：保存 policy → event → service／J 的路徑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單位：record｜判讀：支持 bounded comparison，不擴大 claim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只有 run case 才產生結果檔</a:t>
            </a:r>
          </a:p>
        </p:txBody>
      </p:sp>
      <p:sp>
        <p:nvSpPr>
          <p:cNvPr id="3" name="Artifact gate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setup／verify 只檢查環境；run case 才會寫入一次執行的產物</a:t>
            </a:r>
          </a:p>
        </p:txBody>
      </p:sp>
      <p:sp>
        <p:nvSpPr>
          <p:cNvPr id="4" name="Artifact gate step 1"/>
          <p:cNvSpPr/>
          <p:nvPr/>
        </p:nvSpPr>
        <p:spPr>
          <a:xfrm>
            <a:off x="841248" y="1664208"/>
            <a:ext cx="2788920" cy="257860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575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rtifact gate heading 1"/>
          <p:cNvSpPr txBox="1"/>
          <p:nvPr/>
        </p:nvSpPr>
        <p:spPr>
          <a:xfrm>
            <a:off x="987552" y="1901952"/>
            <a:ext cx="2496312" cy="6217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setup／verify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5758B"/>
                </a:solidFill>
                <a:latin typeface="Times New Roman"/>
                <a:ea typeface="標楷體"/>
                <a:cs typeface="Times New Roman"/>
              </a:rPr>
              <a:t>環境檢查</a:t>
            </a:r>
          </a:p>
        </p:txBody>
      </p:sp>
      <p:sp>
        <p:nvSpPr>
          <p:cNvPr id="6" name="Artifact gate body 1"/>
          <p:cNvSpPr txBox="1"/>
          <p:nvPr/>
        </p:nvSpPr>
        <p:spPr>
          <a:xfrm>
            <a:off x="1042416" y="2761488"/>
            <a:ext cx="2386584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套件 package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情境 scenario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策略 policy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不產生此次 run 產物</a:t>
            </a:r>
          </a:p>
        </p:txBody>
      </p:sp>
      <p:sp>
        <p:nvSpPr>
          <p:cNvPr id="7" name="Chevron 6"/>
          <p:cNvSpPr/>
          <p:nvPr/>
        </p:nvSpPr>
        <p:spPr>
          <a:xfrm>
            <a:off x="3730752" y="2670048"/>
            <a:ext cx="310896" cy="438912"/>
          </a:xfrm>
          <a:prstGeom prst="chevron">
            <a:avLst/>
          </a:prstGeom>
          <a:solidFill>
            <a:srgbClr val="6575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tifact gate step 2"/>
          <p:cNvSpPr/>
          <p:nvPr/>
        </p:nvSpPr>
        <p:spPr>
          <a:xfrm>
            <a:off x="3995928" y="1664208"/>
            <a:ext cx="2788920" cy="257860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rtifact gate heading 2"/>
          <p:cNvSpPr txBox="1"/>
          <p:nvPr/>
        </p:nvSpPr>
        <p:spPr>
          <a:xfrm>
            <a:off x="4142232" y="1901952"/>
            <a:ext cx="2496312" cy="6217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run case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執行案例</a:t>
            </a:r>
          </a:p>
        </p:txBody>
      </p:sp>
      <p:sp>
        <p:nvSpPr>
          <p:cNvPr id="10" name="Artifact gate body 2"/>
          <p:cNvSpPr txBox="1"/>
          <p:nvPr/>
        </p:nvSpPr>
        <p:spPr>
          <a:xfrm>
            <a:off x="4197096" y="2761488"/>
            <a:ext cx="2386584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本機 runner 依固定輸入模擬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唯一產生結果的動作</a:t>
            </a:r>
          </a:p>
        </p:txBody>
      </p:sp>
      <p:sp>
        <p:nvSpPr>
          <p:cNvPr id="11" name="Chevron 10"/>
          <p:cNvSpPr/>
          <p:nvPr/>
        </p:nvSpPr>
        <p:spPr>
          <a:xfrm>
            <a:off x="6885432" y="2670048"/>
            <a:ext cx="310896" cy="438912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rtifact gate step 3"/>
          <p:cNvSpPr/>
          <p:nvPr/>
        </p:nvSpPr>
        <p:spPr>
          <a:xfrm>
            <a:off x="7150608" y="1664208"/>
            <a:ext cx="2788920" cy="257860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rtifact gate heading 3"/>
          <p:cNvSpPr txBox="1"/>
          <p:nvPr/>
        </p:nvSpPr>
        <p:spPr>
          <a:xfrm>
            <a:off x="7296912" y="1901952"/>
            <a:ext cx="2496312" cy="6217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artifacts/&lt;run_id&gt;/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執行產物目錄</a:t>
            </a:r>
          </a:p>
        </p:txBody>
      </p:sp>
      <p:sp>
        <p:nvSpPr>
          <p:cNvPr id="14" name="Artifact gate body 3"/>
          <p:cNvSpPr txBox="1"/>
          <p:nvPr/>
        </p:nvSpPr>
        <p:spPr>
          <a:xfrm>
            <a:off x="7351776" y="2761488"/>
            <a:ext cx="2386584" cy="95097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result.json（結果）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endpoint-replay.json（端點重播）</a:t>
            </a:r>
          </a:p>
        </p:txBody>
      </p:sp>
      <p:sp>
        <p:nvSpPr>
          <p:cNvPr id="15" name="Artifact gate rule"/>
          <p:cNvSpPr/>
          <p:nvPr/>
        </p:nvSpPr>
        <p:spPr>
          <a:xfrm>
            <a:off x="950976" y="4443984"/>
            <a:ext cx="10241280" cy="43891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只有 run case 會產生 artifacts/&lt;run_id&gt;/result.json 與 endpoint-replay.json；setup／verify 不算。</a:t>
            </a:r>
          </a:p>
        </p:txBody>
      </p:sp>
      <p:sp>
        <p:nvSpPr>
          <p:cNvPr id="16" name="Field contract run artifact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 artifact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（執行產物）｜來源：本機 runner｜作用：保存一次執行的 result 與 endpoint replay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單位：同一 run 目錄｜判讀：只有 run 產生；setup／verify 不算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課程頁 /course 只匯入結果檔</a:t>
            </a:r>
          </a:p>
        </p:txBody>
      </p:sp>
      <p:sp>
        <p:nvSpPr>
          <p:cNvPr id="3" name="Course import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本機 runner 做模擬；網站做驗證、具象化、重播與工作簿</a:t>
            </a:r>
          </a:p>
        </p:txBody>
      </p:sp>
      <p:sp>
        <p:nvSpPr>
          <p:cNvPr id="4" name="Local runner boundary"/>
          <p:cNvSpPr/>
          <p:nvPr/>
        </p:nvSpPr>
        <p:spPr>
          <a:xfrm>
            <a:off x="841248" y="1664208"/>
            <a:ext cx="3657600" cy="257860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cal runner heading"/>
          <p:cNvSpPr txBox="1"/>
          <p:nvPr/>
        </p:nvSpPr>
        <p:spPr>
          <a:xfrm>
            <a:off x="1078992" y="1883664"/>
            <a:ext cx="318211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本機 runner（模擬）</a:t>
            </a:r>
          </a:p>
        </p:txBody>
      </p:sp>
      <p:sp>
        <p:nvSpPr>
          <p:cNvPr id="6" name="Local runner body"/>
          <p:cNvSpPr txBox="1"/>
          <p:nvPr/>
        </p:nvSpPr>
        <p:spPr>
          <a:xfrm>
            <a:off x="1115568" y="2578608"/>
            <a:ext cx="3108960" cy="11887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Linux／macOS 終端機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WSL 也使用 Linux 指令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讀 student_policy.py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（課程策略插槽）</a:t>
            </a:r>
          </a:p>
        </p:txBody>
      </p:sp>
      <p:sp>
        <p:nvSpPr>
          <p:cNvPr id="7" name="Chevron 6"/>
          <p:cNvSpPr/>
          <p:nvPr/>
        </p:nvSpPr>
        <p:spPr>
          <a:xfrm>
            <a:off x="4617720" y="2633472"/>
            <a:ext cx="420624" cy="51206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urse import boundary"/>
          <p:cNvSpPr/>
          <p:nvPr/>
        </p:nvSpPr>
        <p:spPr>
          <a:xfrm>
            <a:off x="5212080" y="1664208"/>
            <a:ext cx="5980176" cy="257860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urse import heading"/>
          <p:cNvSpPr txBox="1"/>
          <p:nvPr/>
        </p:nvSpPr>
        <p:spPr>
          <a:xfrm>
            <a:off x="5468112" y="1883664"/>
            <a:ext cx="5468112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/course（課程頁）只選 result.json</a:t>
            </a:r>
          </a:p>
        </p:txBody>
      </p:sp>
      <p:sp>
        <p:nvSpPr>
          <p:cNvPr id="10" name="Course validation"/>
          <p:cNvSpPr/>
          <p:nvPr/>
        </p:nvSpPr>
        <p:spPr>
          <a:xfrm>
            <a:off x="5577840" y="2578608"/>
            <a:ext cx="1609344" cy="53035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驗證</a:t>
            </a:r>
          </a:p>
        </p:txBody>
      </p:sp>
      <p:sp>
        <p:nvSpPr>
          <p:cNvPr id="11" name="Course materialization"/>
          <p:cNvSpPr/>
          <p:nvPr/>
        </p:nvSpPr>
        <p:spPr>
          <a:xfrm>
            <a:off x="7370064" y="2578608"/>
            <a:ext cx="1609344" cy="53035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具象化</a:t>
            </a:r>
          </a:p>
        </p:txBody>
      </p:sp>
      <p:sp>
        <p:nvSpPr>
          <p:cNvPr id="12" name="Course replay workbook"/>
          <p:cNvSpPr/>
          <p:nvPr/>
        </p:nvSpPr>
        <p:spPr>
          <a:xfrm>
            <a:off x="9162288" y="2578608"/>
            <a:ext cx="1609344" cy="53035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重播／工作簿</a:t>
            </a:r>
          </a:p>
        </p:txBody>
      </p:sp>
      <p:sp>
        <p:nvSpPr>
          <p:cNvPr id="13" name="Course pairing rule"/>
          <p:cNvSpPr txBox="1"/>
          <p:nvPr/>
        </p:nvSpPr>
        <p:spPr>
          <a:xfrm>
            <a:off x="5541264" y="3364992"/>
            <a:ext cx="5321808" cy="56692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endpoint-replay.json 留在同一目錄配對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不選、不上傳 student_policy.py</a:t>
            </a:r>
          </a:p>
        </p:txBody>
      </p:sp>
      <p:sp>
        <p:nvSpPr>
          <p:cNvPr id="14" name="Course upload boundary"/>
          <p:cNvSpPr/>
          <p:nvPr/>
        </p:nvSpPr>
        <p:spPr>
          <a:xfrm>
            <a:off x="969264" y="4443984"/>
            <a:ext cx="10222992" cy="43891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policy 原始檔只在本機 runner 讀取；/course 接收 result.json，不接收 Python。</a:t>
            </a:r>
          </a:p>
        </p:txBody>
      </p:sp>
      <p:sp>
        <p:nvSpPr>
          <p:cNvPr id="15" name="Field contract course import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course import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（課程匯入）｜來源：/course 控制項｜作用：驗證 result.json，建立重播與工作簿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單位：JSON pair｜判讀：選結果檔；replay 留同目錄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三次匯入，沿同一解讀順序</a:t>
            </a:r>
          </a:p>
        </p:txBody>
      </p:sp>
      <p:sp>
        <p:nvSpPr>
          <p:cNvPr id="3" name="Import order lead"/>
          <p:cNvSpPr txBox="1"/>
          <p:nvPr/>
        </p:nvSpPr>
        <p:spPr>
          <a:xfrm>
            <a:off x="914400" y="932688"/>
            <a:ext cx="10332720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baseline → candidate → withheld：每次匯入一對檔案，再按同一順序解讀</a:t>
            </a:r>
          </a:p>
        </p:txBody>
      </p:sp>
      <p:sp>
        <p:nvSpPr>
          <p:cNvPr id="4" name="Import order case 1"/>
          <p:cNvSpPr/>
          <p:nvPr/>
        </p:nvSpPr>
        <p:spPr>
          <a:xfrm>
            <a:off x="841248" y="1664208"/>
            <a:ext cx="2788920" cy="257860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mport order heading 1"/>
          <p:cNvSpPr txBox="1"/>
          <p:nvPr/>
        </p:nvSpPr>
        <p:spPr>
          <a:xfrm>
            <a:off x="987552" y="1865376"/>
            <a:ext cx="2496312" cy="53035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baseline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基準</a:t>
            </a:r>
          </a:p>
        </p:txBody>
      </p:sp>
      <p:sp>
        <p:nvSpPr>
          <p:cNvPr id="6" name="Import order files 1"/>
          <p:cNvSpPr txBox="1"/>
          <p:nvPr/>
        </p:nvSpPr>
        <p:spPr>
          <a:xfrm>
            <a:off x="1097280" y="2615184"/>
            <a:ext cx="2276856" cy="69494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 replay</a:t>
            </a:r>
          </a:p>
        </p:txBody>
      </p:sp>
      <p:sp>
        <p:nvSpPr>
          <p:cNvPr id="7" name="Import order observe 1"/>
          <p:cNvSpPr txBox="1"/>
          <p:nvPr/>
        </p:nvSpPr>
        <p:spPr>
          <a:xfrm>
            <a:off x="1042416" y="3547872"/>
            <a:ext cx="238658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先看 service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服務判定</a:t>
            </a:r>
          </a:p>
        </p:txBody>
      </p:sp>
      <p:sp>
        <p:nvSpPr>
          <p:cNvPr id="8" name="Chevron 7"/>
          <p:cNvSpPr/>
          <p:nvPr/>
        </p:nvSpPr>
        <p:spPr>
          <a:xfrm>
            <a:off x="3730752" y="2670048"/>
            <a:ext cx="310896" cy="438912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mport order case 2"/>
          <p:cNvSpPr/>
          <p:nvPr/>
        </p:nvSpPr>
        <p:spPr>
          <a:xfrm>
            <a:off x="3986784" y="1664208"/>
            <a:ext cx="2788920" cy="257860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mport order heading 2"/>
          <p:cNvSpPr txBox="1"/>
          <p:nvPr/>
        </p:nvSpPr>
        <p:spPr>
          <a:xfrm>
            <a:off x="4133088" y="1865376"/>
            <a:ext cx="2496312" cy="53035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candidate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候選</a:t>
            </a:r>
          </a:p>
        </p:txBody>
      </p:sp>
      <p:sp>
        <p:nvSpPr>
          <p:cNvPr id="11" name="Import order files 2"/>
          <p:cNvSpPr txBox="1"/>
          <p:nvPr/>
        </p:nvSpPr>
        <p:spPr>
          <a:xfrm>
            <a:off x="4242816" y="2615184"/>
            <a:ext cx="2276856" cy="69494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 replay</a:t>
            </a:r>
          </a:p>
        </p:txBody>
      </p:sp>
      <p:sp>
        <p:nvSpPr>
          <p:cNvPr id="12" name="Import order observe 2"/>
          <p:cNvSpPr txBox="1"/>
          <p:nvPr/>
        </p:nvSpPr>
        <p:spPr>
          <a:xfrm>
            <a:off x="4187952" y="3547872"/>
            <a:ext cx="238658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再看 packet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封包事件</a:t>
            </a:r>
          </a:p>
        </p:txBody>
      </p:sp>
      <p:sp>
        <p:nvSpPr>
          <p:cNvPr id="13" name="Chevron 12"/>
          <p:cNvSpPr/>
          <p:nvPr/>
        </p:nvSpPr>
        <p:spPr>
          <a:xfrm>
            <a:off x="6876288" y="2670048"/>
            <a:ext cx="310896" cy="438912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mport order case 3"/>
          <p:cNvSpPr/>
          <p:nvPr/>
        </p:nvSpPr>
        <p:spPr>
          <a:xfrm>
            <a:off x="7132320" y="1664208"/>
            <a:ext cx="2788920" cy="257860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mport order heading 3"/>
          <p:cNvSpPr txBox="1"/>
          <p:nvPr/>
        </p:nvSpPr>
        <p:spPr>
          <a:xfrm>
            <a:off x="7278624" y="1865376"/>
            <a:ext cx="2496312" cy="53035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withheld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保留反例</a:t>
            </a:r>
          </a:p>
        </p:txBody>
      </p:sp>
      <p:sp>
        <p:nvSpPr>
          <p:cNvPr id="16" name="Import order files 3"/>
          <p:cNvSpPr txBox="1"/>
          <p:nvPr/>
        </p:nvSpPr>
        <p:spPr>
          <a:xfrm>
            <a:off x="7388352" y="2615184"/>
            <a:ext cx="2276856" cy="69494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result.json +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同目錄 replay</a:t>
            </a:r>
          </a:p>
        </p:txBody>
      </p:sp>
      <p:sp>
        <p:nvSpPr>
          <p:cNvPr id="17" name="Import order observe 3"/>
          <p:cNvSpPr txBox="1"/>
          <p:nvPr/>
        </p:nvSpPr>
        <p:spPr>
          <a:xfrm>
            <a:off x="7333488" y="3547872"/>
            <a:ext cx="2386584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再看 state → J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狀態 → 端點焦耳</a:t>
            </a:r>
          </a:p>
        </p:txBody>
      </p:sp>
      <p:sp>
        <p:nvSpPr>
          <p:cNvPr id="18" name="Import reading order"/>
          <p:cNvSpPr/>
          <p:nvPr/>
        </p:nvSpPr>
        <p:spPr>
          <a:xfrm>
            <a:off x="896112" y="4425696"/>
            <a:ext cx="7315200" cy="457200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 → packet → state → endpoint J（端點焦耳）</a:t>
            </a:r>
          </a:p>
        </p:txBody>
      </p:sp>
      <p:sp>
        <p:nvSpPr>
          <p:cNvPr id="19" name="Freeze boundary"/>
          <p:cNvSpPr/>
          <p:nvPr/>
        </p:nvSpPr>
        <p:spPr>
          <a:xfrm>
            <a:off x="8412480" y="4297680"/>
            <a:ext cx="2779776" cy="658368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9144" rIns="45720" bIns="9144"/>
          <a:lstStyle/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--freeze（凍結）</a:t>
            </a:r>
          </a:p>
          <a:p>
            <a:pPr algn="ctr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額外 receipt／checkpoint；非一般上傳</a:t>
            </a:r>
          </a:p>
        </p:txBody>
      </p:sp>
      <p:sp>
        <p:nvSpPr>
          <p:cNvPr id="20" name="Field contract import order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import order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（匯入順序）｜來源：/course + 配對 artifacts｜作用：依序比較 baseline、candidate、withheld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單位：三次 JSON pair｜判讀：service→packet→state→endpoint J；freeze 另存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一次動作，同時改變服務與能量</a:t>
            </a:r>
          </a:p>
        </p:txBody>
      </p:sp>
      <p:sp>
        <p:nvSpPr>
          <p:cNvPr id="3" name="Action lead"/>
          <p:cNvSpPr txBox="1"/>
          <p:nvPr/>
        </p:nvSpPr>
        <p:spPr>
          <a:xfrm>
            <a:off x="960120" y="960120"/>
            <a:ext cx="10195560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同一個 </a:t>
            </a:r>
            <a:r>
              <a:rPr sz="24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 會沿不同路徑留下可觀察後果</a:t>
            </a:r>
          </a:p>
        </p:txBody>
      </p:sp>
      <p:sp>
        <p:nvSpPr>
          <p:cNvPr id="4" name="Action card 1"/>
          <p:cNvSpPr/>
          <p:nvPr/>
        </p:nvSpPr>
        <p:spPr>
          <a:xfrm>
            <a:off x="841248" y="1664208"/>
            <a:ext cx="3236976" cy="246888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tion heading 1"/>
          <p:cNvSpPr txBox="1"/>
          <p:nvPr/>
        </p:nvSpPr>
        <p:spPr>
          <a:xfrm>
            <a:off x="1005840" y="1856231"/>
            <a:ext cx="2907792" cy="51206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1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SLEEP</a:t>
            </a: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｜低功耗休息</a:t>
            </a:r>
          </a:p>
        </p:txBody>
      </p:sp>
      <p:sp>
        <p:nvSpPr>
          <p:cNvPr id="6" name="Action body 1"/>
          <p:cNvSpPr txBox="1"/>
          <p:nvPr/>
        </p:nvSpPr>
        <p:spPr>
          <a:xfrm>
            <a:off x="1078992" y="2606040"/>
            <a:ext cx="2761488" cy="10789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休息功率降低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喚醒延遲與能量增加</a:t>
            </a:r>
          </a:p>
        </p:txBody>
      </p:sp>
      <p:sp>
        <p:nvSpPr>
          <p:cNvPr id="7" name="Action card 2"/>
          <p:cNvSpPr/>
          <p:nvPr/>
        </p:nvSpPr>
        <p:spPr>
          <a:xfrm>
            <a:off x="4361688" y="1664208"/>
            <a:ext cx="3236976" cy="246888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ction heading 2"/>
          <p:cNvSpPr txBox="1"/>
          <p:nvPr/>
        </p:nvSpPr>
        <p:spPr>
          <a:xfrm>
            <a:off x="4526279" y="1856231"/>
            <a:ext cx="2907792" cy="51206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WAIT</a:t>
            </a: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｜清醒等待</a:t>
            </a:r>
          </a:p>
        </p:txBody>
      </p:sp>
      <p:sp>
        <p:nvSpPr>
          <p:cNvPr id="9" name="Action body 2"/>
          <p:cNvSpPr txBox="1"/>
          <p:nvPr/>
        </p:nvSpPr>
        <p:spPr>
          <a:xfrm>
            <a:off x="4599431" y="2606040"/>
            <a:ext cx="2761488" cy="10789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反應能力保留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清醒閒置能量累積</a:t>
            </a:r>
          </a:p>
        </p:txBody>
      </p:sp>
      <p:sp>
        <p:nvSpPr>
          <p:cNvPr id="10" name="Action card 3"/>
          <p:cNvSpPr/>
          <p:nvPr/>
        </p:nvSpPr>
        <p:spPr>
          <a:xfrm>
            <a:off x="7882127" y="1664208"/>
            <a:ext cx="3236976" cy="246888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tion heading 3"/>
          <p:cNvSpPr txBox="1"/>
          <p:nvPr/>
        </p:nvSpPr>
        <p:spPr>
          <a:xfrm>
            <a:off x="8046719" y="1856231"/>
            <a:ext cx="2907792" cy="51206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1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SEND</a:t>
            </a: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｜送出封包</a:t>
            </a:r>
          </a:p>
        </p:txBody>
      </p:sp>
      <p:sp>
        <p:nvSpPr>
          <p:cNvPr id="12" name="Action body 3"/>
          <p:cNvSpPr txBox="1"/>
          <p:nvPr/>
        </p:nvSpPr>
        <p:spPr>
          <a:xfrm>
            <a:off x="8119871" y="2606040"/>
            <a:ext cx="2761488" cy="107899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服務機會增加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處理與無線事件增加</a:t>
            </a:r>
          </a:p>
        </p:txBody>
      </p:sp>
      <p:sp>
        <p:nvSpPr>
          <p:cNvPr id="13" name="Service outcome"/>
          <p:cNvSpPr/>
          <p:nvPr/>
        </p:nvSpPr>
        <p:spPr>
          <a:xfrm>
            <a:off x="1847088" y="4325112"/>
            <a:ext cx="3794760" cy="43891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服務結果</a:t>
            </a:r>
          </a:p>
        </p:txBody>
      </p:sp>
      <p:sp>
        <p:nvSpPr>
          <p:cNvPr id="14" name="Energy outcome"/>
          <p:cNvSpPr/>
          <p:nvPr/>
        </p:nvSpPr>
        <p:spPr>
          <a:xfrm>
            <a:off x="6556248" y="4325112"/>
            <a:ext cx="3794760" cy="438912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端點能量（J）</a:t>
            </a:r>
          </a:p>
        </p:txBody>
      </p:sp>
      <p:sp>
        <p:nvSpPr>
          <p:cNvPr id="15" name="Field contract a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action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（策略動作）｜來源：policy API｜作用：每次決策的唯一輸出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單位：enum｜判讀：觸發狀態與封包轉移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先讀中間事件，再讀最終結果</a:t>
            </a:r>
          </a:p>
        </p:txBody>
      </p:sp>
      <p:sp>
        <p:nvSpPr>
          <p:cNvPr id="3" name="Causal lead"/>
          <p:cNvSpPr txBox="1"/>
          <p:nvPr/>
        </p:nvSpPr>
        <p:spPr>
          <a:xfrm>
            <a:off x="987552" y="941832"/>
            <a:ext cx="1014984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能量或服務差異，必須由中間事件支持</a:t>
            </a:r>
          </a:p>
        </p:txBody>
      </p:sp>
      <p:sp>
        <p:nvSpPr>
          <p:cNvPr id="4" name="Causal node 1"/>
          <p:cNvSpPr/>
          <p:nvPr/>
        </p:nvSpPr>
        <p:spPr>
          <a:xfrm>
            <a:off x="768096" y="1755648"/>
            <a:ext cx="1892807" cy="133502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服務窗口</a:t>
            </a:r>
          </a:p>
        </p:txBody>
      </p:sp>
      <p:sp>
        <p:nvSpPr>
          <p:cNvPr id="5" name="Chevron 4"/>
          <p:cNvSpPr/>
          <p:nvPr/>
        </p:nvSpPr>
        <p:spPr>
          <a:xfrm>
            <a:off x="2734056" y="2167128"/>
            <a:ext cx="347472" cy="47548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usal node 2"/>
          <p:cNvSpPr/>
          <p:nvPr/>
        </p:nvSpPr>
        <p:spPr>
          <a:xfrm>
            <a:off x="3044952" y="1755648"/>
            <a:ext cx="1892807" cy="133502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策略動作</a:t>
            </a:r>
          </a:p>
        </p:txBody>
      </p:sp>
      <p:sp>
        <p:nvSpPr>
          <p:cNvPr id="7" name="Chevron 6"/>
          <p:cNvSpPr/>
          <p:nvPr/>
        </p:nvSpPr>
        <p:spPr>
          <a:xfrm>
            <a:off x="5010912" y="2167128"/>
            <a:ext cx="347472" cy="475488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ausal node 3"/>
          <p:cNvSpPr/>
          <p:nvPr/>
        </p:nvSpPr>
        <p:spPr>
          <a:xfrm>
            <a:off x="5321808" y="1755648"/>
            <a:ext cx="1892807" cy="133502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無線狀態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封包事件</a:t>
            </a:r>
          </a:p>
        </p:txBody>
      </p:sp>
      <p:sp>
        <p:nvSpPr>
          <p:cNvPr id="9" name="Chevron 8"/>
          <p:cNvSpPr/>
          <p:nvPr/>
        </p:nvSpPr>
        <p:spPr>
          <a:xfrm>
            <a:off x="7287768" y="2167128"/>
            <a:ext cx="347472" cy="475488"/>
          </a:xfrm>
          <a:prstGeom prst="chevron">
            <a:avLst/>
          </a:prstGeom>
          <a:solidFill>
            <a:srgbClr val="6600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usal node 4"/>
          <p:cNvSpPr/>
          <p:nvPr/>
        </p:nvSpPr>
        <p:spPr>
          <a:xfrm>
            <a:off x="7598664" y="1755648"/>
            <a:ext cx="1892807" cy="1335024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服務判定</a:t>
            </a:r>
          </a:p>
        </p:txBody>
      </p:sp>
      <p:sp>
        <p:nvSpPr>
          <p:cNvPr id="11" name="Chevron 10"/>
          <p:cNvSpPr/>
          <p:nvPr/>
        </p:nvSpPr>
        <p:spPr>
          <a:xfrm>
            <a:off x="9564624" y="2167128"/>
            <a:ext cx="347472" cy="47548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usal node 5"/>
          <p:cNvSpPr/>
          <p:nvPr/>
        </p:nvSpPr>
        <p:spPr>
          <a:xfrm>
            <a:off x="9875520" y="1755648"/>
            <a:ext cx="1892807" cy="1335024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端點能量</a:t>
            </a:r>
          </a:p>
        </p:txBody>
      </p:sp>
      <p:sp>
        <p:nvSpPr>
          <p:cNvPr id="13" name="Closed-window branch"/>
          <p:cNvSpPr/>
          <p:nvPr/>
        </p:nvSpPr>
        <p:spPr>
          <a:xfrm>
            <a:off x="1024128" y="3447288"/>
            <a:ext cx="10104120" cy="65836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窗口關閉 → 傳輸類動作不執行 → 安全分支為 </a:t>
            </a:r>
            <a:r>
              <a:rPr sz="2200" b="1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4" name="Attribution rule"/>
          <p:cNvSpPr txBox="1"/>
          <p:nvPr/>
        </p:nvSpPr>
        <p:spPr>
          <a:xfrm>
            <a:off x="1133856" y="4288536"/>
            <a:ext cx="9893808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若中間事件沒有差異，最後的數值變化不得歸因於本次修改。</a:t>
            </a:r>
          </a:p>
        </p:txBody>
      </p:sp>
      <p:sp>
        <p:nvSpPr>
          <p:cNvPr id="15" name="Field contract radio_state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radio_state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（無線狀態）｜來源：runner event ledger｜作用：表示各狀態區間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單位：state enum + duration｜判讀：提供端點能量的時間分段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固定情境中的四步操作閉環</a:t>
            </a:r>
          </a:p>
        </p:txBody>
      </p:sp>
      <p:sp>
        <p:nvSpPr>
          <p:cNvPr id="3" name="Loop lead"/>
          <p:cNvSpPr txBox="1"/>
          <p:nvPr/>
        </p:nvSpPr>
        <p:spPr>
          <a:xfrm>
            <a:off x="987552" y="932688"/>
            <a:ext cx="10131552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只改一個受控常數，再沿同一條證據路徑比較</a:t>
            </a:r>
          </a:p>
        </p:txBody>
      </p:sp>
      <p:sp>
        <p:nvSpPr>
          <p:cNvPr id="4" name="Loop step 01"/>
          <p:cNvSpPr/>
          <p:nvPr/>
        </p:nvSpPr>
        <p:spPr>
          <a:xfrm>
            <a:off x="841248" y="1664208"/>
            <a:ext cx="2487168" cy="240487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op number 01"/>
          <p:cNvSpPr txBox="1"/>
          <p:nvPr/>
        </p:nvSpPr>
        <p:spPr>
          <a:xfrm>
            <a:off x="1005840" y="1828800"/>
            <a:ext cx="502920" cy="4206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</a:t>
            </a:r>
          </a:p>
        </p:txBody>
      </p:sp>
      <p:sp>
        <p:nvSpPr>
          <p:cNvPr id="6" name="Loop heading 01"/>
          <p:cNvSpPr txBox="1"/>
          <p:nvPr/>
        </p:nvSpPr>
        <p:spPr>
          <a:xfrm>
            <a:off x="1554480" y="1810512"/>
            <a:ext cx="1517904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修改</a:t>
            </a:r>
          </a:p>
        </p:txBody>
      </p:sp>
      <p:sp>
        <p:nvSpPr>
          <p:cNvPr id="7" name="Loop body 01"/>
          <p:cNvSpPr txBox="1"/>
          <p:nvPr/>
        </p:nvSpPr>
        <p:spPr>
          <a:xfrm>
            <a:off x="1042416" y="2542032"/>
            <a:ext cx="2084831" cy="9601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marked block</a:t>
            </a:r>
          </a:p>
        </p:txBody>
      </p:sp>
      <p:sp>
        <p:nvSpPr>
          <p:cNvPr id="8" name="Chevron 7"/>
          <p:cNvSpPr/>
          <p:nvPr/>
        </p:nvSpPr>
        <p:spPr>
          <a:xfrm>
            <a:off x="3429000" y="2615184"/>
            <a:ext cx="329184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op step 02"/>
          <p:cNvSpPr/>
          <p:nvPr/>
        </p:nvSpPr>
        <p:spPr>
          <a:xfrm>
            <a:off x="3639312" y="1664208"/>
            <a:ext cx="2487168" cy="2404872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oop number 02"/>
          <p:cNvSpPr txBox="1"/>
          <p:nvPr/>
        </p:nvSpPr>
        <p:spPr>
          <a:xfrm>
            <a:off x="3803904" y="1828800"/>
            <a:ext cx="502920" cy="4206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02</a:t>
            </a:r>
          </a:p>
        </p:txBody>
      </p:sp>
      <p:sp>
        <p:nvSpPr>
          <p:cNvPr id="11" name="Loop heading 02"/>
          <p:cNvSpPr txBox="1"/>
          <p:nvPr/>
        </p:nvSpPr>
        <p:spPr>
          <a:xfrm>
            <a:off x="4352544" y="1810512"/>
            <a:ext cx="1517904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執行</a:t>
            </a:r>
          </a:p>
        </p:txBody>
      </p:sp>
      <p:sp>
        <p:nvSpPr>
          <p:cNvPr id="12" name="Loop body 02"/>
          <p:cNvSpPr txBox="1"/>
          <p:nvPr/>
        </p:nvSpPr>
        <p:spPr>
          <a:xfrm>
            <a:off x="3840480" y="2542032"/>
            <a:ext cx="2084831" cy="9601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 case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固定輸入</a:t>
            </a:r>
          </a:p>
        </p:txBody>
      </p:sp>
      <p:sp>
        <p:nvSpPr>
          <p:cNvPr id="13" name="Chevron 12"/>
          <p:cNvSpPr/>
          <p:nvPr/>
        </p:nvSpPr>
        <p:spPr>
          <a:xfrm>
            <a:off x="6227064" y="2615184"/>
            <a:ext cx="329184" cy="420624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oop step 03"/>
          <p:cNvSpPr/>
          <p:nvPr/>
        </p:nvSpPr>
        <p:spPr>
          <a:xfrm>
            <a:off x="6437376" y="1664208"/>
            <a:ext cx="2487168" cy="240487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oop number 03"/>
          <p:cNvSpPr txBox="1"/>
          <p:nvPr/>
        </p:nvSpPr>
        <p:spPr>
          <a:xfrm>
            <a:off x="6601968" y="1828800"/>
            <a:ext cx="502920" cy="4206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03</a:t>
            </a:r>
          </a:p>
        </p:txBody>
      </p:sp>
      <p:sp>
        <p:nvSpPr>
          <p:cNvPr id="16" name="Loop heading 03"/>
          <p:cNvSpPr txBox="1"/>
          <p:nvPr/>
        </p:nvSpPr>
        <p:spPr>
          <a:xfrm>
            <a:off x="7150608" y="1810512"/>
            <a:ext cx="1517904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讀取</a:t>
            </a:r>
          </a:p>
        </p:txBody>
      </p:sp>
      <p:sp>
        <p:nvSpPr>
          <p:cNvPr id="17" name="Loop body 03"/>
          <p:cNvSpPr txBox="1"/>
          <p:nvPr/>
        </p:nvSpPr>
        <p:spPr>
          <a:xfrm>
            <a:off x="6638544" y="2542032"/>
            <a:ext cx="2084831" cy="9601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狀態、封包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服務、能量</a:t>
            </a:r>
          </a:p>
        </p:txBody>
      </p:sp>
      <p:sp>
        <p:nvSpPr>
          <p:cNvPr id="18" name="Chevron 17"/>
          <p:cNvSpPr/>
          <p:nvPr/>
        </p:nvSpPr>
        <p:spPr>
          <a:xfrm>
            <a:off x="9025128" y="2615184"/>
            <a:ext cx="329184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Loop step 04"/>
          <p:cNvSpPr/>
          <p:nvPr/>
        </p:nvSpPr>
        <p:spPr>
          <a:xfrm>
            <a:off x="9235440" y="1664208"/>
            <a:ext cx="2487168" cy="2404872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Loop number 04"/>
          <p:cNvSpPr txBox="1"/>
          <p:nvPr/>
        </p:nvSpPr>
        <p:spPr>
          <a:xfrm>
            <a:off x="9400032" y="1828800"/>
            <a:ext cx="502920" cy="4206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04</a:t>
            </a:r>
          </a:p>
        </p:txBody>
      </p:sp>
      <p:sp>
        <p:nvSpPr>
          <p:cNvPr id="21" name="Loop heading 04"/>
          <p:cNvSpPr txBox="1"/>
          <p:nvPr/>
        </p:nvSpPr>
        <p:spPr>
          <a:xfrm>
            <a:off x="9948672" y="1810512"/>
            <a:ext cx="1517904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解釋</a:t>
            </a:r>
          </a:p>
        </p:txBody>
      </p:sp>
      <p:sp>
        <p:nvSpPr>
          <p:cNvPr id="22" name="Loop body 04"/>
          <p:cNvSpPr txBox="1"/>
          <p:nvPr/>
        </p:nvSpPr>
        <p:spPr>
          <a:xfrm>
            <a:off x="9436608" y="2542032"/>
            <a:ext cx="2084831" cy="96012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動作 → 事件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→ 結果</a:t>
            </a:r>
          </a:p>
        </p:txBody>
      </p:sp>
      <p:sp>
        <p:nvSpPr>
          <p:cNvPr id="23" name="Loop evidence rule"/>
          <p:cNvSpPr txBox="1"/>
          <p:nvPr/>
        </p:nvSpPr>
        <p:spPr>
          <a:xfrm>
            <a:off x="1078992" y="4315968"/>
            <a:ext cx="10021824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預測與結果同時保存；反例保留為可檢驗證據。</a:t>
            </a:r>
          </a:p>
        </p:txBody>
      </p:sp>
      <p:sp>
        <p:nvSpPr>
          <p:cNvPr id="24" name="Field contract result.js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result.json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（結果資料檔）｜來源：package runner｜作用：保存 run identity、狀態、封包、服務與能量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單位：JSON artifact｜判讀：作為 replay 與 import 的輸入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中間事件是因果歸因的必要橋樑</a:t>
            </a:r>
          </a:p>
        </p:txBody>
      </p:sp>
      <p:sp>
        <p:nvSpPr>
          <p:cNvPr id="3" name="Comparison lead"/>
          <p:cNvSpPr txBox="1"/>
          <p:nvPr/>
        </p:nvSpPr>
        <p:spPr>
          <a:xfrm>
            <a:off x="896112" y="941832"/>
            <a:ext cx="10405872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同一觀測下，比較基準與候選策略的事件路徑</a:t>
            </a:r>
          </a:p>
        </p:txBody>
      </p:sp>
      <p:sp>
        <p:nvSpPr>
          <p:cNvPr id="4" name="Shared observation top"/>
          <p:cNvSpPr/>
          <p:nvPr/>
        </p:nvSpPr>
        <p:spPr>
          <a:xfrm>
            <a:off x="841248" y="1609344"/>
            <a:ext cx="1572768" cy="93268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同一觀測</a:t>
            </a:r>
          </a:p>
        </p:txBody>
      </p:sp>
      <p:sp>
        <p:nvSpPr>
          <p:cNvPr id="5" name="Shared observation bottom"/>
          <p:cNvSpPr/>
          <p:nvPr/>
        </p:nvSpPr>
        <p:spPr>
          <a:xfrm>
            <a:off x="841248" y="2926080"/>
            <a:ext cx="1572768" cy="932688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2535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同一觀測</a:t>
            </a:r>
          </a:p>
        </p:txBody>
      </p:sp>
      <p:sp>
        <p:nvSpPr>
          <p:cNvPr id="6" name="Chevron 5"/>
          <p:cNvSpPr/>
          <p:nvPr/>
        </p:nvSpPr>
        <p:spPr>
          <a:xfrm>
            <a:off x="2496312" y="1810512"/>
            <a:ext cx="347472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olicy lane 1"/>
          <p:cNvSpPr/>
          <p:nvPr/>
        </p:nvSpPr>
        <p:spPr>
          <a:xfrm>
            <a:off x="2871216" y="1572768"/>
            <a:ext cx="1938528" cy="10058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基準策略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動作 A</a:t>
            </a:r>
          </a:p>
        </p:txBody>
      </p:sp>
      <p:sp>
        <p:nvSpPr>
          <p:cNvPr id="8" name="Chevron 7"/>
          <p:cNvSpPr/>
          <p:nvPr/>
        </p:nvSpPr>
        <p:spPr>
          <a:xfrm>
            <a:off x="4892040" y="1810512"/>
            <a:ext cx="347472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vent lane 1"/>
          <p:cNvSpPr/>
          <p:nvPr/>
        </p:nvSpPr>
        <p:spPr>
          <a:xfrm>
            <a:off x="5285232" y="1572768"/>
            <a:ext cx="2304288" cy="1005840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事件路徑 A</a:t>
            </a:r>
          </a:p>
        </p:txBody>
      </p:sp>
      <p:sp>
        <p:nvSpPr>
          <p:cNvPr id="10" name="Chevron 9"/>
          <p:cNvSpPr/>
          <p:nvPr/>
        </p:nvSpPr>
        <p:spPr>
          <a:xfrm>
            <a:off x="7680960" y="1810512"/>
            <a:ext cx="347472" cy="420624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sult lane 1"/>
          <p:cNvSpPr/>
          <p:nvPr/>
        </p:nvSpPr>
        <p:spPr>
          <a:xfrm>
            <a:off x="8074152" y="1572768"/>
            <a:ext cx="3154680" cy="100584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服務／能量 A</a:t>
            </a:r>
          </a:p>
        </p:txBody>
      </p:sp>
      <p:sp>
        <p:nvSpPr>
          <p:cNvPr id="12" name="Chevron 11"/>
          <p:cNvSpPr/>
          <p:nvPr/>
        </p:nvSpPr>
        <p:spPr>
          <a:xfrm>
            <a:off x="2496312" y="3127248"/>
            <a:ext cx="347472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olicy lane 2"/>
          <p:cNvSpPr/>
          <p:nvPr/>
        </p:nvSpPr>
        <p:spPr>
          <a:xfrm>
            <a:off x="2871216" y="2889504"/>
            <a:ext cx="1938528" cy="100584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候選策略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動作 B</a:t>
            </a:r>
          </a:p>
        </p:txBody>
      </p:sp>
      <p:sp>
        <p:nvSpPr>
          <p:cNvPr id="14" name="Chevron 13"/>
          <p:cNvSpPr/>
          <p:nvPr/>
        </p:nvSpPr>
        <p:spPr>
          <a:xfrm>
            <a:off x="4892040" y="3127248"/>
            <a:ext cx="347472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Event lane 2"/>
          <p:cNvSpPr/>
          <p:nvPr/>
        </p:nvSpPr>
        <p:spPr>
          <a:xfrm>
            <a:off x="5285232" y="2889504"/>
            <a:ext cx="2304288" cy="1005840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事件路徑 B</a:t>
            </a:r>
          </a:p>
        </p:txBody>
      </p:sp>
      <p:sp>
        <p:nvSpPr>
          <p:cNvPr id="16" name="Chevron 15"/>
          <p:cNvSpPr/>
          <p:nvPr/>
        </p:nvSpPr>
        <p:spPr>
          <a:xfrm>
            <a:off x="7680960" y="3127248"/>
            <a:ext cx="347472" cy="420624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sult lane 2"/>
          <p:cNvSpPr/>
          <p:nvPr/>
        </p:nvSpPr>
        <p:spPr>
          <a:xfrm>
            <a:off x="8074152" y="2889504"/>
            <a:ext cx="3154680" cy="100584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服務／能量 B</a:t>
            </a:r>
          </a:p>
        </p:txBody>
      </p:sp>
      <p:sp>
        <p:nvSpPr>
          <p:cNvPr id="18" name="Causal comparison rule"/>
          <p:cNvSpPr txBox="1"/>
          <p:nvPr/>
        </p:nvSpPr>
        <p:spPr>
          <a:xfrm>
            <a:off x="960120" y="4242816"/>
            <a:ext cx="10222992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先確認事件路徑不同，才比較服務與能量。</a:t>
            </a:r>
          </a:p>
        </p:txBody>
      </p:sp>
      <p:sp>
        <p:nvSpPr>
          <p:cNvPr id="19" name="Field contract packet_progress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packet_progress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（封包進度）｜來源：result／replay artifact｜作用：記錄產生、佇列、嘗試、重試、送達與逾期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單位：event count + time｜判讀：連接策略動作與服務結果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Runner 證據有明確邊界</a:t>
            </a:r>
          </a:p>
        </p:txBody>
      </p:sp>
      <p:sp>
        <p:nvSpPr>
          <p:cNvPr id="3" name="Evidence lead"/>
          <p:cNvSpPr txBox="1"/>
          <p:nvPr/>
        </p:nvSpPr>
        <p:spPr>
          <a:xfrm>
            <a:off x="941832" y="932688"/>
            <a:ext cx="10259568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可重跑，不等於可以外推到所有能量層級</a:t>
            </a:r>
          </a:p>
        </p:txBody>
      </p:sp>
      <p:sp>
        <p:nvSpPr>
          <p:cNvPr id="4" name="Supported evidence"/>
          <p:cNvSpPr/>
          <p:nvPr/>
        </p:nvSpPr>
        <p:spPr>
          <a:xfrm>
            <a:off x="841248" y="1627632"/>
            <a:ext cx="5084064" cy="290779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nsupported evidence"/>
          <p:cNvSpPr/>
          <p:nvPr/>
        </p:nvSpPr>
        <p:spPr>
          <a:xfrm>
            <a:off x="6263640" y="1627632"/>
            <a:ext cx="5084064" cy="2907792"/>
          </a:xfrm>
          <a:prstGeom prst="roundRect">
            <a:avLst/>
          </a:prstGeom>
          <a:solidFill>
            <a:srgbClr val="FDEFEF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upported heading"/>
          <p:cNvSpPr txBox="1"/>
          <p:nvPr/>
        </p:nvSpPr>
        <p:spPr>
          <a:xfrm>
            <a:off x="1115568" y="1828800"/>
            <a:ext cx="4535424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本套件可支持</a:t>
            </a:r>
          </a:p>
        </p:txBody>
      </p:sp>
      <p:sp>
        <p:nvSpPr>
          <p:cNvPr id="7" name="Supported body"/>
          <p:cNvSpPr txBox="1"/>
          <p:nvPr/>
        </p:nvSpPr>
        <p:spPr>
          <a:xfrm>
            <a:off x="1243584" y="2496312"/>
            <a:ext cx="4279392" cy="155448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 scenario／seed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端點狀態與封包事件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服務判定與端點 J</a:t>
            </a:r>
          </a:p>
        </p:txBody>
      </p:sp>
      <p:sp>
        <p:nvSpPr>
          <p:cNvPr id="8" name="Unsupported heading"/>
          <p:cNvSpPr txBox="1"/>
          <p:nvPr/>
        </p:nvSpPr>
        <p:spPr>
          <a:xfrm>
            <a:off x="6537960" y="1828800"/>
            <a:ext cx="4535424" cy="47548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992A2A"/>
                </a:solidFill>
                <a:latin typeface="Times New Roman"/>
                <a:ea typeface="標楷體"/>
                <a:cs typeface="Times New Roman"/>
              </a:rPr>
              <a:t>本套件不支持</a:t>
            </a:r>
          </a:p>
        </p:txBody>
      </p:sp>
      <p:sp>
        <p:nvSpPr>
          <p:cNvPr id="9" name="Unsupported body"/>
          <p:cNvSpPr txBox="1"/>
          <p:nvPr/>
        </p:nvSpPr>
        <p:spPr>
          <a:xfrm>
            <a:off x="6711696" y="2496312"/>
            <a:ext cx="4187952" cy="155448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LEO／system energy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canonical efficiency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實測或即時 KPI</a:t>
            </a:r>
          </a:p>
        </p:txBody>
      </p:sp>
      <p:sp>
        <p:nvSpPr>
          <p:cNvPr id="10" name="Field contract endpoint_energy_j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endpoint_energy_j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（端點能量）｜來源：endpoint radio／processing model｜作用：累積狀態能量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單位：J｜判讀：只屬於 endpoint evidence layer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LEO 是變動服務窗口的工作範例</a:t>
            </a:r>
          </a:p>
        </p:txBody>
      </p:sp>
      <p:sp>
        <p:nvSpPr>
          <p:cNvPr id="3" name="LEO lead"/>
          <p:cNvSpPr txBox="1"/>
          <p:nvPr/>
        </p:nvSpPr>
        <p:spPr>
          <a:xfrm>
            <a:off x="950976" y="932688"/>
            <a:ext cx="1024128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LEO 改變可服務機會；主要控制仍在端點策略</a:t>
            </a:r>
          </a:p>
        </p:txBody>
      </p:sp>
      <p:sp>
        <p:nvSpPr>
          <p:cNvPr id="4" name="LEO opportunity"/>
          <p:cNvSpPr/>
          <p:nvPr/>
        </p:nvSpPr>
        <p:spPr>
          <a:xfrm>
            <a:off x="859536" y="1609344"/>
            <a:ext cx="1920240" cy="987552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低地球軌道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服務機會</a:t>
            </a:r>
          </a:p>
        </p:txBody>
      </p:sp>
      <p:sp>
        <p:nvSpPr>
          <p:cNvPr id="5" name="Chevron 4"/>
          <p:cNvSpPr/>
          <p:nvPr/>
        </p:nvSpPr>
        <p:spPr>
          <a:xfrm>
            <a:off x="2907792" y="1865376"/>
            <a:ext cx="384048" cy="475488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O window timeline"/>
          <p:cNvSpPr/>
          <p:nvPr/>
        </p:nvSpPr>
        <p:spPr>
          <a:xfrm>
            <a:off x="3383280" y="1444752"/>
            <a:ext cx="5321808" cy="13167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D7D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O timeline segment 1"/>
          <p:cNvSpPr/>
          <p:nvPr/>
        </p:nvSpPr>
        <p:spPr>
          <a:xfrm>
            <a:off x="3611880" y="1837943"/>
            <a:ext cx="1371600" cy="512064"/>
          </a:xfrm>
          <a:prstGeom prst="rect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9144" r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窗口開啟</a:t>
            </a:r>
          </a:p>
        </p:txBody>
      </p:sp>
      <p:sp>
        <p:nvSpPr>
          <p:cNvPr id="8" name="LEO timeline segment 2"/>
          <p:cNvSpPr/>
          <p:nvPr/>
        </p:nvSpPr>
        <p:spPr>
          <a:xfrm>
            <a:off x="5038344" y="1837943"/>
            <a:ext cx="1207008" cy="512064"/>
          </a:xfrm>
          <a:prstGeom prst="rect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9144" r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品質下降</a:t>
            </a:r>
          </a:p>
        </p:txBody>
      </p:sp>
      <p:sp>
        <p:nvSpPr>
          <p:cNvPr id="9" name="LEO timeline segment 3"/>
          <p:cNvSpPr/>
          <p:nvPr/>
        </p:nvSpPr>
        <p:spPr>
          <a:xfrm>
            <a:off x="6300216" y="1837943"/>
            <a:ext cx="1152144" cy="5120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9144" r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窗口關閉</a:t>
            </a:r>
          </a:p>
        </p:txBody>
      </p:sp>
      <p:sp>
        <p:nvSpPr>
          <p:cNvPr id="10" name="LEO timeline segment 4"/>
          <p:cNvSpPr/>
          <p:nvPr/>
        </p:nvSpPr>
        <p:spPr>
          <a:xfrm>
            <a:off x="7507223" y="1837943"/>
            <a:ext cx="1243584" cy="512064"/>
          </a:xfrm>
          <a:prstGeom prst="rect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144" tIns="9144" r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再度開啟</a:t>
            </a:r>
          </a:p>
        </p:txBody>
      </p:sp>
      <p:sp>
        <p:nvSpPr>
          <p:cNvPr id="11" name="Chevron 10"/>
          <p:cNvSpPr/>
          <p:nvPr/>
        </p:nvSpPr>
        <p:spPr>
          <a:xfrm>
            <a:off x="8833104" y="1865376"/>
            <a:ext cx="384048" cy="475488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ndpoint choice"/>
          <p:cNvSpPr/>
          <p:nvPr/>
        </p:nvSpPr>
        <p:spPr>
          <a:xfrm>
            <a:off x="9326880" y="1609344"/>
            <a:ext cx="1975104" cy="987552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等待／休息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／送出</a:t>
            </a:r>
          </a:p>
        </p:txBody>
      </p:sp>
      <p:sp>
        <p:nvSpPr>
          <p:cNvPr id="13" name="Transfer rule"/>
          <p:cNvSpPr txBox="1"/>
          <p:nvPr/>
        </p:nvSpPr>
        <p:spPr>
          <a:xfrm>
            <a:off x="914400" y="3035808"/>
            <a:ext cx="10314432" cy="38404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相同機制可以轉移；窗口、期限與能量邊界必須重新定義。</a:t>
            </a:r>
          </a:p>
        </p:txBody>
      </p:sp>
      <p:sp>
        <p:nvSpPr>
          <p:cNvPr id="14" name="Transfer example 1"/>
          <p:cNvSpPr/>
          <p:nvPr/>
        </p:nvSpPr>
        <p:spPr>
          <a:xfrm>
            <a:off x="1060704" y="3584448"/>
            <a:ext cx="2788920" cy="786384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暖通空調｜低負載時段</a:t>
            </a:r>
          </a:p>
        </p:txBody>
      </p:sp>
      <p:sp>
        <p:nvSpPr>
          <p:cNvPr id="15" name="Transfer example 2"/>
          <p:cNvSpPr/>
          <p:nvPr/>
        </p:nvSpPr>
        <p:spPr>
          <a:xfrm>
            <a:off x="4297680" y="3584448"/>
            <a:ext cx="2788920" cy="786384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邊緣閘道｜可連線時段</a:t>
            </a:r>
          </a:p>
        </p:txBody>
      </p:sp>
      <p:sp>
        <p:nvSpPr>
          <p:cNvPr id="16" name="Transfer example 3"/>
          <p:cNvSpPr/>
          <p:nvPr/>
        </p:nvSpPr>
        <p:spPr>
          <a:xfrm>
            <a:off x="7534656" y="3584448"/>
            <a:ext cx="2788920" cy="786384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物流追蹤｜回報機會</a:t>
            </a:r>
          </a:p>
        </p:txBody>
      </p:sp>
      <p:sp>
        <p:nvSpPr>
          <p:cNvPr id="17" name="Field contract service_window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service_window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（服務窗口）｜來源：fixed scenario trace｜作用：定義合法傳輸區間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單位：trace time｜判讀：決定動作是否具有服務機會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從預測到結果，保留可反駁路徑</a:t>
            </a:r>
          </a:p>
        </p:txBody>
      </p:sp>
      <p:sp>
        <p:nvSpPr>
          <p:cNvPr id="3" name="Prediction lead"/>
          <p:cNvSpPr txBox="1"/>
          <p:nvPr/>
        </p:nvSpPr>
        <p:spPr>
          <a:xfrm>
            <a:off x="950976" y="932688"/>
            <a:ext cx="1024128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先寫下方向，再執行；結果不符時保留反例</a:t>
            </a:r>
          </a:p>
        </p:txBody>
      </p:sp>
      <p:sp>
        <p:nvSpPr>
          <p:cNvPr id="4" name="Prediction step 01"/>
          <p:cNvSpPr/>
          <p:nvPr/>
        </p:nvSpPr>
        <p:spPr>
          <a:xfrm>
            <a:off x="841248" y="1645920"/>
            <a:ext cx="2286000" cy="2331720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rediction number 01"/>
          <p:cNvSpPr txBox="1"/>
          <p:nvPr/>
        </p:nvSpPr>
        <p:spPr>
          <a:xfrm>
            <a:off x="1005840" y="1847088"/>
            <a:ext cx="475488" cy="40233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01</a:t>
            </a:r>
          </a:p>
        </p:txBody>
      </p:sp>
      <p:sp>
        <p:nvSpPr>
          <p:cNvPr id="6" name="Prediction heading 01"/>
          <p:cNvSpPr txBox="1"/>
          <p:nvPr/>
        </p:nvSpPr>
        <p:spPr>
          <a:xfrm>
            <a:off x="1499616" y="1828800"/>
            <a:ext cx="141732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記錄預測</a:t>
            </a:r>
          </a:p>
        </p:txBody>
      </p:sp>
      <p:sp>
        <p:nvSpPr>
          <p:cNvPr id="7" name="Prediction body 01"/>
          <p:cNvSpPr txBox="1"/>
          <p:nvPr/>
        </p:nvSpPr>
        <p:spPr>
          <a:xfrm>
            <a:off x="1042416" y="2578608"/>
            <a:ext cx="1883664" cy="8778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狀態／封包／服務／J</a:t>
            </a:r>
          </a:p>
        </p:txBody>
      </p:sp>
      <p:sp>
        <p:nvSpPr>
          <p:cNvPr id="8" name="Chevron 7"/>
          <p:cNvSpPr/>
          <p:nvPr/>
        </p:nvSpPr>
        <p:spPr>
          <a:xfrm>
            <a:off x="3200400" y="2532888"/>
            <a:ext cx="292608" cy="402336"/>
          </a:xfrm>
          <a:prstGeom prst="chevron">
            <a:avLst/>
          </a:prstGeom>
          <a:solidFill>
            <a:srgbClr val="4967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rediction step 02"/>
          <p:cNvSpPr/>
          <p:nvPr/>
        </p:nvSpPr>
        <p:spPr>
          <a:xfrm>
            <a:off x="3566160" y="1645920"/>
            <a:ext cx="2286000" cy="2331720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rediction number 02"/>
          <p:cNvSpPr txBox="1"/>
          <p:nvPr/>
        </p:nvSpPr>
        <p:spPr>
          <a:xfrm>
            <a:off x="3730752" y="1847088"/>
            <a:ext cx="475488" cy="40233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02</a:t>
            </a:r>
          </a:p>
        </p:txBody>
      </p:sp>
      <p:sp>
        <p:nvSpPr>
          <p:cNvPr id="11" name="Prediction heading 02"/>
          <p:cNvSpPr txBox="1"/>
          <p:nvPr/>
        </p:nvSpPr>
        <p:spPr>
          <a:xfrm>
            <a:off x="4224528" y="1828800"/>
            <a:ext cx="141732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受控修改</a:t>
            </a:r>
          </a:p>
        </p:txBody>
      </p:sp>
      <p:sp>
        <p:nvSpPr>
          <p:cNvPr id="12" name="Prediction body 02"/>
          <p:cNvSpPr txBox="1"/>
          <p:nvPr/>
        </p:nvSpPr>
        <p:spPr>
          <a:xfrm>
            <a:off x="3767328" y="2578608"/>
            <a:ext cx="1883664" cy="8778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一次一個常數</a:t>
            </a:r>
          </a:p>
        </p:txBody>
      </p:sp>
      <p:sp>
        <p:nvSpPr>
          <p:cNvPr id="13" name="Chevron 12"/>
          <p:cNvSpPr/>
          <p:nvPr/>
        </p:nvSpPr>
        <p:spPr>
          <a:xfrm>
            <a:off x="5925312" y="2532888"/>
            <a:ext cx="292608" cy="402336"/>
          </a:xfrm>
          <a:prstGeom prst="chevron">
            <a:avLst/>
          </a:prstGeom>
          <a:solidFill>
            <a:srgbClr val="846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rediction step 03"/>
          <p:cNvSpPr/>
          <p:nvPr/>
        </p:nvSpPr>
        <p:spPr>
          <a:xfrm>
            <a:off x="6291072" y="1645920"/>
            <a:ext cx="2286000" cy="2331720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rediction number 03"/>
          <p:cNvSpPr txBox="1"/>
          <p:nvPr/>
        </p:nvSpPr>
        <p:spPr>
          <a:xfrm>
            <a:off x="6455664" y="1847088"/>
            <a:ext cx="475488" cy="40233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03</a:t>
            </a:r>
          </a:p>
        </p:txBody>
      </p:sp>
      <p:sp>
        <p:nvSpPr>
          <p:cNvPr id="16" name="Prediction heading 03"/>
          <p:cNvSpPr txBox="1"/>
          <p:nvPr/>
        </p:nvSpPr>
        <p:spPr>
          <a:xfrm>
            <a:off x="6949440" y="1828800"/>
            <a:ext cx="141732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精確執行</a:t>
            </a:r>
          </a:p>
        </p:txBody>
      </p:sp>
      <p:sp>
        <p:nvSpPr>
          <p:cNvPr id="17" name="Prediction body 03"/>
          <p:cNvSpPr txBox="1"/>
          <p:nvPr/>
        </p:nvSpPr>
        <p:spPr>
          <a:xfrm>
            <a:off x="6492240" y="2578608"/>
            <a:ext cx="1883664" cy="8778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固定 case 與輸入</a:t>
            </a:r>
          </a:p>
        </p:txBody>
      </p:sp>
      <p:sp>
        <p:nvSpPr>
          <p:cNvPr id="18" name="Chevron 17"/>
          <p:cNvSpPr/>
          <p:nvPr/>
        </p:nvSpPr>
        <p:spPr>
          <a:xfrm>
            <a:off x="8650224" y="2532888"/>
            <a:ext cx="292608" cy="402336"/>
          </a:xfrm>
          <a:prstGeom prst="chevron">
            <a:avLst/>
          </a:prstGeom>
          <a:solidFill>
            <a:srgbClr val="0073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rediction step 04"/>
          <p:cNvSpPr/>
          <p:nvPr/>
        </p:nvSpPr>
        <p:spPr>
          <a:xfrm>
            <a:off x="9015984" y="1645920"/>
            <a:ext cx="2286000" cy="2331720"/>
          </a:xfrm>
          <a:prstGeom prst="roundRect">
            <a:avLst/>
          </a:prstGeom>
          <a:solidFill>
            <a:srgbClr val="F4EDF7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Prediction number 04"/>
          <p:cNvSpPr txBox="1"/>
          <p:nvPr/>
        </p:nvSpPr>
        <p:spPr>
          <a:xfrm>
            <a:off x="9180576" y="1847088"/>
            <a:ext cx="475488" cy="402336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660066"/>
                </a:solidFill>
                <a:latin typeface="Times New Roman"/>
                <a:ea typeface="標楷體"/>
                <a:cs typeface="Times New Roman"/>
              </a:rPr>
              <a:t>04</a:t>
            </a:r>
          </a:p>
        </p:txBody>
      </p:sp>
      <p:sp>
        <p:nvSpPr>
          <p:cNvPr id="21" name="Prediction heading 04"/>
          <p:cNvSpPr txBox="1"/>
          <p:nvPr/>
        </p:nvSpPr>
        <p:spPr>
          <a:xfrm>
            <a:off x="9674352" y="1828800"/>
            <a:ext cx="1417320" cy="438912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比較與保存</a:t>
            </a:r>
          </a:p>
        </p:txBody>
      </p:sp>
      <p:sp>
        <p:nvSpPr>
          <p:cNvPr id="22" name="Prediction body 04"/>
          <p:cNvSpPr txBox="1"/>
          <p:nvPr/>
        </p:nvSpPr>
        <p:spPr>
          <a:xfrm>
            <a:off x="9217152" y="2578608"/>
            <a:ext cx="1883664" cy="877824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結果、解釋、反例</a:t>
            </a:r>
          </a:p>
        </p:txBody>
      </p:sp>
      <p:sp>
        <p:nvSpPr>
          <p:cNvPr id="23" name="Withheld case"/>
          <p:cNvSpPr/>
          <p:nvPr/>
        </p:nvSpPr>
        <p:spPr>
          <a:xfrm>
            <a:off x="1225296" y="4224528"/>
            <a:ext cx="9747504" cy="512064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9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保留條件案例維持 frozen policy，用來檢查機制是否可轉移。</a:t>
            </a:r>
          </a:p>
        </p:txBody>
      </p:sp>
      <p:sp>
        <p:nvSpPr>
          <p:cNvPr id="24" name="Field contract prediction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prediction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（預測）｜來源：workbook record｜作用：指定可反駁的變化方向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單位：statement｜判讀：作為執行前的比較基準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ative layout2 title"/>
          <p:cNvSpPr>
            <a:spLocks noGrp="1"/>
          </p:cNvSpPr>
          <p:nvPr>
            <p:ph type="title"/>
          </p:nvPr>
        </p:nvSpPr>
        <p:spPr>
          <a:xfrm>
            <a:off x="656591" y="187007"/>
            <a:ext cx="9462768" cy="480060"/>
          </a:xfrm>
        </p:spPr>
        <p:txBody>
          <a:bodyPr wrap="square" anchor="ctr" lIns="18288" tIns="0" rIns="18288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三個實驗到底改什麼</a:t>
            </a:r>
          </a:p>
        </p:txBody>
      </p:sp>
      <p:sp>
        <p:nvSpPr>
          <p:cNvPr id="3" name="Lab map lead"/>
          <p:cNvSpPr txBox="1"/>
          <p:nvPr/>
        </p:nvSpPr>
        <p:spPr>
          <a:xfrm>
            <a:off x="896112" y="932688"/>
            <a:ext cx="10369296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三次都只改 student_policy.py 的一個 marked block；runner、scenario、schema 不動</a:t>
            </a:r>
          </a:p>
        </p:txBody>
      </p:sp>
      <p:sp>
        <p:nvSpPr>
          <p:cNvPr id="4" name="Lab map card 1"/>
          <p:cNvSpPr/>
          <p:nvPr/>
        </p:nvSpPr>
        <p:spPr>
          <a:xfrm>
            <a:off x="749808" y="1627632"/>
            <a:ext cx="3145536" cy="2670048"/>
          </a:xfrm>
          <a:prstGeom prst="roundRect">
            <a:avLst/>
          </a:prstGeom>
          <a:solidFill>
            <a:srgbClr val="ECF1FE"/>
          </a:solidFill>
          <a:ln w="1524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ab map heading 1"/>
          <p:cNvSpPr txBox="1"/>
          <p:nvPr/>
        </p:nvSpPr>
        <p:spPr>
          <a:xfrm>
            <a:off x="896112" y="1847088"/>
            <a:ext cx="2852928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4967C2"/>
                </a:solidFill>
                <a:latin typeface="Times New Roman"/>
                <a:ea typeface="標楷體"/>
                <a:cs typeface="Times New Roman"/>
              </a:rPr>
              <a:t>Lab A｜休息方式</a:t>
            </a:r>
          </a:p>
        </p:txBody>
      </p:sp>
      <p:sp>
        <p:nvSpPr>
          <p:cNvPr id="6" name="Lab map change 1"/>
          <p:cNvSpPr txBox="1"/>
          <p:nvPr/>
        </p:nvSpPr>
        <p:spPr>
          <a:xfrm>
            <a:off x="932688" y="2542032"/>
            <a:ext cx="2779776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SLEEP → WAIT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PACE_GAP_STEPS = 2 不變</a:t>
            </a:r>
          </a:p>
        </p:txBody>
      </p:sp>
      <p:sp>
        <p:nvSpPr>
          <p:cNvPr id="7" name="Lab map observe 1"/>
          <p:cNvSpPr txBox="1"/>
          <p:nvPr/>
        </p:nvSpPr>
        <p:spPr>
          <a:xfrm>
            <a:off x="950976" y="3529584"/>
            <a:ext cx="2743200" cy="56692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觀察：SLEEP／AWAKE_IDLE／WAKE 的時間與 J；封包服務</a:t>
            </a:r>
          </a:p>
        </p:txBody>
      </p:sp>
      <p:sp>
        <p:nvSpPr>
          <p:cNvPr id="8" name="Lab map card 2"/>
          <p:cNvSpPr/>
          <p:nvPr/>
        </p:nvSpPr>
        <p:spPr>
          <a:xfrm>
            <a:off x="4160520" y="1627632"/>
            <a:ext cx="3145536" cy="2670048"/>
          </a:xfrm>
          <a:prstGeom prst="roundRect">
            <a:avLst/>
          </a:prstGeom>
          <a:solidFill>
            <a:srgbClr val="E8F7F4"/>
          </a:solidFill>
          <a:ln w="15240">
            <a:solidFill>
              <a:srgbClr val="007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ab map heading 2"/>
          <p:cNvSpPr txBox="1"/>
          <p:nvPr/>
        </p:nvSpPr>
        <p:spPr>
          <a:xfrm>
            <a:off x="4306824" y="1847088"/>
            <a:ext cx="2852928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07374"/>
                </a:solidFill>
                <a:latin typeface="Times New Roman"/>
                <a:ea typeface="標楷體"/>
                <a:cs typeface="Times New Roman"/>
              </a:rPr>
              <a:t>Lab B｜穩定門檻</a:t>
            </a:r>
          </a:p>
        </p:txBody>
      </p:sp>
      <p:sp>
        <p:nvSpPr>
          <p:cNvPr id="10" name="Lab map change 2"/>
          <p:cNvSpPr txBox="1"/>
          <p:nvPr/>
        </p:nvSpPr>
        <p:spPr>
          <a:xfrm>
            <a:off x="4343400" y="2542032"/>
            <a:ext cx="2779776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STABLE_STEPS：2 →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ENTER_QUALITY=2／EXIT_QUALITY=1 不變</a:t>
            </a:r>
          </a:p>
        </p:txBody>
      </p:sp>
      <p:sp>
        <p:nvSpPr>
          <p:cNvPr id="11" name="Lab map observe 2"/>
          <p:cNvSpPr txBox="1"/>
          <p:nvPr/>
        </p:nvSpPr>
        <p:spPr>
          <a:xfrm>
            <a:off x="4361688" y="3529584"/>
            <a:ext cx="2743200" cy="56692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觀察：進入時機、attempt／retry／delivery、service、J</a:t>
            </a:r>
          </a:p>
        </p:txBody>
      </p:sp>
      <p:sp>
        <p:nvSpPr>
          <p:cNvPr id="12" name="Lab map card 3"/>
          <p:cNvSpPr/>
          <p:nvPr/>
        </p:nvSpPr>
        <p:spPr>
          <a:xfrm>
            <a:off x="7571231" y="1627632"/>
            <a:ext cx="3145536" cy="2670048"/>
          </a:xfrm>
          <a:prstGeom prst="roundRect">
            <a:avLst/>
          </a:prstGeom>
          <a:solidFill>
            <a:srgbClr val="FDF9E2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ab map heading 3"/>
          <p:cNvSpPr txBox="1"/>
          <p:nvPr/>
        </p:nvSpPr>
        <p:spPr>
          <a:xfrm>
            <a:off x="7717536" y="1847088"/>
            <a:ext cx="2852928" cy="45720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Lab C｜急件提前量</a:t>
            </a:r>
          </a:p>
        </p:txBody>
      </p:sp>
      <p:sp>
        <p:nvSpPr>
          <p:cNvPr id="14" name="Lab map change 3"/>
          <p:cNvSpPr txBox="1"/>
          <p:nvPr/>
        </p:nvSpPr>
        <p:spPr>
          <a:xfrm>
            <a:off x="7754111" y="2542032"/>
            <a:ext cx="2779776" cy="822960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URGENT_MARGIN_S：20 → 5 → 30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BATCH_SIZE = 3 不變</a:t>
            </a:r>
          </a:p>
        </p:txBody>
      </p:sp>
      <p:sp>
        <p:nvSpPr>
          <p:cNvPr id="15" name="Lab map observe 3"/>
          <p:cNvSpPr txBox="1"/>
          <p:nvPr/>
        </p:nvSpPr>
        <p:spPr>
          <a:xfrm>
            <a:off x="7772400" y="3529584"/>
            <a:ext cx="2743200" cy="566928"/>
          </a:xfrm>
          <a:prstGeom prst="rect">
            <a:avLst/>
          </a:prstGeom>
          <a:noFill/>
        </p:spPr>
        <p:txBody>
          <a:bodyPr wrap="square" anchor="ctr" lIns="18288" tIns="9144" rIns="18288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25324A"/>
                </a:solidFill>
                <a:latin typeface="Times New Roman"/>
                <a:ea typeface="標楷體"/>
                <a:cs typeface="Times New Roman"/>
              </a:rPr>
              <a:t>觀察：urgent timing、deadline／expired、service、J</a:t>
            </a:r>
          </a:p>
        </p:txBody>
      </p:sp>
      <p:sp>
        <p:nvSpPr>
          <p:cNvPr id="16" name="Lab map causal strip"/>
          <p:cNvSpPr/>
          <p:nvPr/>
        </p:nvSpPr>
        <p:spPr>
          <a:xfrm>
            <a:off x="969264" y="4480560"/>
            <a:ext cx="10241280" cy="402336"/>
          </a:xfrm>
          <a:prstGeom prst="roundRect">
            <a:avLst/>
          </a:prstGeom>
          <a:solidFill>
            <a:srgbClr val="F7F8FC"/>
          </a:solidFill>
          <a:ln w="15240">
            <a:solidFill>
              <a:srgbClr val="6600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同一檔案／同一 scenario／固定 runner → prediction → baseline → candidate → withheld</a:t>
            </a:r>
          </a:p>
        </p:txBody>
      </p:sp>
      <p:sp>
        <p:nvSpPr>
          <p:cNvPr id="17" name="Field contract marked block"/>
          <p:cNvSpPr/>
          <p:nvPr/>
        </p:nvSpPr>
        <p:spPr>
          <a:xfrm>
            <a:off x="804672" y="4956048"/>
            <a:ext cx="10561320" cy="822960"/>
          </a:xfrm>
          <a:prstGeom prst="roundRect">
            <a:avLst/>
          </a:prstGeom>
          <a:solidFill>
            <a:srgbClr val="F7F8FC"/>
          </a:solidFill>
          <a:ln w="12700">
            <a:solidFill>
              <a:srgbClr val="4967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1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marked block</a:t>
            </a: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（受控區塊）｜來源：student_policy.py｜作用：限制可修改的最小決策面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25356B"/>
                </a:solidFill>
                <a:latin typeface="Times New Roman"/>
                <a:ea typeface="標楷體"/>
                <a:cs typeface="Times New Roman"/>
              </a:rPr>
              <a:t>單位：one block｜判讀：其他行與檔案不動，才能歸因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