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本頁先建立教學邊界。套件已完成固定情境、策略介面、啟動器與契約的封裝；這一段只改 student_policy.py 的指定 marked block，使用同一個情境執行，不修改封裝本身。完成後先確認有結果檔，再依序讀取 state、packet、service 與 endpoint energy；只有能說明中間事件如何導向結果，才算完成判讀。provenance 是由 package receipt、scenario、policy identity 與 run artifact 組成的來源鏈，作用是追溯 evidence scope，單位是 structured record；判讀時若 identity 或 source mode 不一致，停止比較。source mode 只保留兩種原值：student-run 與 same-scenario-fallback。兩者都可以進入教學解釋，但來源分類不能互換。本課程的 claim ceiling 是模擬教學資料，明示非 live、非 measured、非 canonical parity；READY 只表示環境與契約 gate 通過，並不等於 energy experiment 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本頁先確認 package identity。release asset 是課程封裝檔，來源是 course package distribution，作用是提供同一組 runner files，單位是 archive file。解開後的唯一 package root 是 lora-energy-lab/，其中包含 README、setup.sh、setup.cmd、course.sh、course.cmd、student_policy.py、schemas 與 fallback_artifacts。先檢查 root inventory，再進入 interpreter gate。若根目錄或必要檔案不完整，問題仍在 artifact identity；保留錯誤並重新取得同一封裝，不從其他 branch 或 checkout 拼接檔案。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本頁是 archive identity gate。先以 release sidecar 與封裝本身確認是同一組 bytes，再做完整性檢查；顯示 OK 且沒有錯誤後，才解開並進入 lora-energy-lab/。archive_identity 是封裝識別，來源是 release sidecar 與 archive bytes，作用是確認交付內容未被替換，單位是 content identity。這個 gate 只回答 package bytes 是否可追溯，不回答 setup、case run 或網站匯入是否成功。若不一致或解開失敗，保留錯誤並重新取得成對封裝，不混用舊檔。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的 CMD、PowerShell 與 WSL 不是同一個 shell。CMD 與 PowerShell 都可以先用 py --list，再用 py -3.11 --version 檢查 exact minor version；看到 Python 3.11.x 才進入 setup。Python 3.11.x 是固定直譯器版本，來源是 runner frozen contract，作用是建立 package-local .venv，單位是 version。版本正確只表示可以進入 setup，還沒有 READY receipt 或 case result。如果 3.11 不在清單，保留版本錯誤，依下一頁的 recovery path 取得精確 interpreter；不要把其他 minor version 當成通過。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py --list 沒有 3.11，先使用 Python 3.11.x 的 64-bit Windows installer，並保留 Python Launcher；安裝後關閉並重新開啟 shell，再重跑 py --list 與 py -3.11 --version。若官方安裝路徑仍找不到 3.11，才改走 uv recovery。畫面上的三步只處理版本來源：uv --version 讀取工具是否可用，不改課程檔案；uv python install 3.11 取得指定直譯器，不建立 package-local .venv；uv python find 3.11 讀取可執行路徑，再把路徑交給後續環境建立。interpreter 是直譯器，來源是 Python 3.11.x installer、Launcher 或 uv recovery，作用是提供環境建立使用的 exact runtime，單位是 executable path。這一頁只修版本檢查；即使版本命令成功，也還沒有 READY 或案例結果。若 installer、uv 或網路失敗，保留錯誤並留在版本邊界，不把 PATH 指到其他 minor version。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uv 是 interpreter recovery tool。Windows 可先安裝 uv，再執行 uv --version、uv python install 3.11 與 uv python find 3.11；Linux、macOS 與 WSL 也使用同一組 uv 命令。uv 的作用是取得並定位 Python 3.11，單位是 tool 或 executable path；find 回傳的 path 交給後面的 setup。uv 不建立 package-local .venv、不寫入 READY receipt，也不產生 case result。若 POSIX／WSL 尚未有 uv，先依官方 installer 完成安裝並重新開 shell；不要把 Windows 的 venv 帶進 WSL。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 package 都要有自己的 .venv，目錄位於 lora-energy-lab/ package root 內。`.venv` 的來源是 Python venv module，作用是隔離 lock、policy、scenario 與 runner，單位是 directory。Windows 使用 .venv\Scripts\python.exe；POSIX、Linux、macOS 與 WSL 使用 .venv/bin/python。兩者都必須顯示 Python 3.11.x，不能互換或共用另一個專案的 venv。正常 launcher 會優先使用 package-local interpreter；若現有 .venv 的 minor version 不符，修正範圍只限目前 package root 內的 .venv，不刪除 package root。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package root 內，CMD 使用 set PYTHON_BIN=py -3.11、setup.cmd 與 course.cmd verify；PowerShell 使用環境變數、.\setup.cmd 與 .\course.cmd verify。setup 建立 package-local .venv 並依 lock 安裝，verify 重新核對 Python、lock、scenario、policy API 與 claim boundary。READY 的來源是 course.cmd verify 與 verify receipt，作用是表示這些環境與契約 gate 通過，單位是 enum。預期輸出包含 status: READY、python_version: 3.11.x，並寫入 artifacts\verify-receipt.json。READY 只允許進入 case，不代表 case 已經執行，也不等同 service_pass 或 energy result。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 不是 Windows shell 的別名，而是另一個 Linux environment。先在 PowerShell 用 wsl -l -v 確認 Ubuntu；只有 distribution 不存在時才使用 wsl --install -d Ubuntu。接著用 wsl -d Ubuntu 進入 Linux shell，以 pwd 確認 Linux home path，以 uname -a 確認 Linux identity。Ubuntu 是 Linux 發行版，來源是 WSL distribution，作用是提供獨立 Linux shell 與 filesystem，單位是 distribution name。看到 Linux path 後，後續才使用 setup.sh、course.sh、apt 與 .venv/bin/python；Windows 的 .cmd 與 .venv\Scripts\python.exe 留在另一條路徑。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在已確認的 Ubuntu shell，先執行 sudo apt update，再執行 sudo apt install -y curl unzip。curl 是命令列傳輸工具，unzip 是封裝解壓工具；兩者先把 release extraction 與 installer 的前置條件準備好。接著依官方 installer 安裝 uv，重新開一個 Ubuntu shell，執行 uv --version、uv python install 3.11 與 uv python find 3.11。toolchain 是工具鏈，來源是 Ubuntu shell，作用是依序建立 extraction 與 runtime prerequisites，單位是 ordered command set。預期 uv --version 有版本字串，find 回傳 Python 3.11 interpreter path。這些命令只準備工具，尚未解壓 release、建立 package-local .venv 或寫入 READY receipt。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P009｜先確認來源，再限制可說的結論</a:t>
            </a:r>
          </a:p>
        </p:txBody>
      </p:sp>
      <p:sp>
        <p:nvSpPr>
          <p:cNvPr id="3" name="P009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先把同一筆證據的來源綁好，再判斷能否比較</a:t>
            </a:r>
          </a:p>
        </p:txBody>
      </p:sp>
      <p:sp>
        <p:nvSpPr>
          <p:cNvPr id="4" name="P009 package card"/>
          <p:cNvSpPr/>
          <p:nvPr/>
        </p:nvSpPr>
        <p:spPr>
          <a:xfrm>
            <a:off x="841248" y="1554480"/>
            <a:ext cx="3246120" cy="20482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09 package card heading"/>
          <p:cNvSpPr txBox="1"/>
          <p:nvPr/>
        </p:nvSpPr>
        <p:spPr>
          <a:xfrm>
            <a:off x="1005840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套件已完成</a:t>
            </a:r>
          </a:p>
        </p:txBody>
      </p:sp>
      <p:sp>
        <p:nvSpPr>
          <p:cNvPr id="6" name="P009 package card body"/>
          <p:cNvSpPr txBox="1"/>
          <p:nvPr/>
        </p:nvSpPr>
        <p:spPr>
          <a:xfrm>
            <a:off x="1042416" y="2359152"/>
            <a:ext cx="284378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固定情境與策略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啟動器、契約已封裝</a:t>
            </a:r>
          </a:p>
        </p:txBody>
      </p:sp>
      <p:sp>
        <p:nvSpPr>
          <p:cNvPr id="7" name="Chevron 6"/>
          <p:cNvSpPr/>
          <p:nvPr/>
        </p:nvSpPr>
        <p:spPr>
          <a:xfrm>
            <a:off x="4261104" y="2359152"/>
            <a:ext cx="420624" cy="49377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09 edit card"/>
          <p:cNvSpPr/>
          <p:nvPr/>
        </p:nvSpPr>
        <p:spPr>
          <a:xfrm>
            <a:off x="4828032" y="1554480"/>
            <a:ext cx="3246120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009 edit card heading"/>
          <p:cNvSpPr txBox="1"/>
          <p:nvPr/>
        </p:nvSpPr>
        <p:spPr>
          <a:xfrm>
            <a:off x="4992624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本次只做</a:t>
            </a:r>
          </a:p>
        </p:txBody>
      </p:sp>
      <p:sp>
        <p:nvSpPr>
          <p:cNvPr id="10" name="P009 edit card body"/>
          <p:cNvSpPr txBox="1"/>
          <p:nvPr/>
        </p:nvSpPr>
        <p:spPr>
          <a:xfrm>
            <a:off x="5029200" y="2359152"/>
            <a:ext cx="284378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指定區塊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只改一處，保留註解</a:t>
            </a:r>
          </a:p>
        </p:txBody>
      </p:sp>
      <p:sp>
        <p:nvSpPr>
          <p:cNvPr id="11" name="Chevron 10"/>
          <p:cNvSpPr/>
          <p:nvPr/>
        </p:nvSpPr>
        <p:spPr>
          <a:xfrm>
            <a:off x="8247888" y="2359152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009 result card"/>
          <p:cNvSpPr/>
          <p:nvPr/>
        </p:nvSpPr>
        <p:spPr>
          <a:xfrm>
            <a:off x="8814816" y="1554480"/>
            <a:ext cx="2450592" cy="204825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09 result card heading"/>
          <p:cNvSpPr txBox="1"/>
          <p:nvPr/>
        </p:nvSpPr>
        <p:spPr>
          <a:xfrm>
            <a:off x="8979408" y="1737360"/>
            <a:ext cx="21214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完成後看什麼</a:t>
            </a:r>
          </a:p>
        </p:txBody>
      </p:sp>
      <p:sp>
        <p:nvSpPr>
          <p:cNvPr id="14" name="P009 result card body"/>
          <p:cNvSpPr txBox="1"/>
          <p:nvPr/>
        </p:nvSpPr>
        <p:spPr>
          <a:xfrm>
            <a:off x="9015984" y="2359152"/>
            <a:ext cx="2048256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先看封包與服務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再判讀端點能量</a:t>
            </a:r>
          </a:p>
        </p:txBody>
      </p:sp>
      <p:sp>
        <p:nvSpPr>
          <p:cNvPr id="15" name="P009 claim ceiling"/>
          <p:cNvSpPr/>
          <p:nvPr/>
        </p:nvSpPr>
        <p:spPr>
          <a:xfrm>
            <a:off x="932688" y="3877056"/>
            <a:ext cx="10314432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完成判斷：有結果檔，且能說明狀態／封包／服務如何導向端點能量；不當成實機量測</a:t>
            </a:r>
          </a:p>
        </p:txBody>
      </p:sp>
      <p:sp>
        <p:nvSpPr>
          <p:cNvPr id="16" name="P009 provenance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provenance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（來源鏈）｜來源：封裝收據、固定情境、策略與結果檔｜作用：綁定同一筆證據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單位：紀錄｜判讀：來源不一致時停止比較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P010｜一份封裝，一個根目錄</a:t>
            </a:r>
          </a:p>
        </p:txBody>
      </p:sp>
      <p:sp>
        <p:nvSpPr>
          <p:cNvPr id="3" name="P010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先確認封裝是同一份，再檢查解開後的根目錄；此步不改程式</a:t>
            </a:r>
          </a:p>
        </p:txBody>
      </p:sp>
      <p:sp>
        <p:nvSpPr>
          <p:cNvPr id="4" name="P010 release card"/>
          <p:cNvSpPr/>
          <p:nvPr/>
        </p:nvSpPr>
        <p:spPr>
          <a:xfrm>
            <a:off x="841248" y="1554480"/>
            <a:ext cx="324612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0 release card heading"/>
          <p:cNvSpPr txBox="1"/>
          <p:nvPr/>
        </p:nvSpPr>
        <p:spPr>
          <a:xfrm>
            <a:off x="1005840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發布封裝</a:t>
            </a:r>
          </a:p>
        </p:txBody>
      </p:sp>
      <p:sp>
        <p:nvSpPr>
          <p:cNvPr id="6" name="P010 release card body"/>
          <p:cNvSpPr txBox="1"/>
          <p:nvPr/>
        </p:nvSpPr>
        <p:spPr>
          <a:xfrm>
            <a:off x="1042416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同一份 ZIP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先確認來源，再解開</a:t>
            </a:r>
          </a:p>
        </p:txBody>
      </p:sp>
      <p:sp>
        <p:nvSpPr>
          <p:cNvPr id="7" name="Chevron 6"/>
          <p:cNvSpPr/>
          <p:nvPr/>
        </p:nvSpPr>
        <p:spPr>
          <a:xfrm>
            <a:off x="4261104" y="2542032"/>
            <a:ext cx="420624" cy="49377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0 root card"/>
          <p:cNvSpPr/>
          <p:nvPr/>
        </p:nvSpPr>
        <p:spPr>
          <a:xfrm>
            <a:off x="4828032" y="1554480"/>
            <a:ext cx="3246120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010 root card heading"/>
          <p:cNvSpPr txBox="1"/>
          <p:nvPr/>
        </p:nvSpPr>
        <p:spPr>
          <a:xfrm>
            <a:off x="4992624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根目錄</a:t>
            </a:r>
          </a:p>
        </p:txBody>
      </p:sp>
      <p:sp>
        <p:nvSpPr>
          <p:cNvPr id="10" name="P010 root card body"/>
          <p:cNvSpPr txBox="1"/>
          <p:nvPr/>
        </p:nvSpPr>
        <p:spPr>
          <a:xfrm>
            <a:off x="5029200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後續命令都在此目錄</a:t>
            </a:r>
          </a:p>
        </p:txBody>
      </p:sp>
      <p:sp>
        <p:nvSpPr>
          <p:cNvPr id="11" name="Chevron 10"/>
          <p:cNvSpPr/>
          <p:nvPr/>
        </p:nvSpPr>
        <p:spPr>
          <a:xfrm>
            <a:off x="8247888" y="2542032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010 inventory card"/>
          <p:cNvSpPr/>
          <p:nvPr/>
        </p:nvSpPr>
        <p:spPr>
          <a:xfrm>
            <a:off x="8814816" y="1554480"/>
            <a:ext cx="2450592" cy="21031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10 inventory card heading"/>
          <p:cNvSpPr txBox="1"/>
          <p:nvPr/>
        </p:nvSpPr>
        <p:spPr>
          <a:xfrm>
            <a:off x="8979408" y="1737360"/>
            <a:ext cx="21214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完整清單</a:t>
            </a:r>
          </a:p>
        </p:txBody>
      </p:sp>
      <p:sp>
        <p:nvSpPr>
          <p:cNvPr id="14" name="P010 inventory card body"/>
          <p:cNvSpPr txBox="1"/>
          <p:nvPr/>
        </p:nvSpPr>
        <p:spPr>
          <a:xfrm>
            <a:off x="9015984" y="2359152"/>
            <a:ext cx="204825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契約／回退資料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缺一項就停</a:t>
            </a:r>
          </a:p>
        </p:txBody>
      </p:sp>
      <p:sp>
        <p:nvSpPr>
          <p:cNvPr id="15" name="P010 recovery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完成判斷：只有一個 </a:t>
            </a:r>
            <a:r>
              <a:rPr sz="19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根目錄，必要內容都在；不完整就停止</a:t>
            </a:r>
          </a:p>
        </p:txBody>
      </p:sp>
      <p:sp>
        <p:nvSpPr>
          <p:cNvPr id="16" name="P010 release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release asset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（發布封裝）｜來源：課程封裝配送｜作用：提供同一組啟動檔與契約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單位：封裝檔｜判讀：解開後只有一個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根目錄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P011｜清單完整，才進入版本檢查</a:t>
            </a:r>
          </a:p>
        </p:txBody>
      </p:sp>
      <p:sp>
        <p:nvSpPr>
          <p:cNvPr id="3" name="P011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先確認必要檔案同屬一份封裝，再查看版本；此步不建立環境</a:t>
            </a:r>
          </a:p>
        </p:txBody>
      </p:sp>
      <p:sp>
        <p:nvSpPr>
          <p:cNvPr id="4" name="P011 identity card"/>
          <p:cNvSpPr/>
          <p:nvPr/>
        </p:nvSpPr>
        <p:spPr>
          <a:xfrm>
            <a:off x="841248" y="1554480"/>
            <a:ext cx="324612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1 identity card heading"/>
          <p:cNvSpPr txBox="1"/>
          <p:nvPr/>
        </p:nvSpPr>
        <p:spPr>
          <a:xfrm>
            <a:off x="1005840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必要檔案</a:t>
            </a:r>
          </a:p>
        </p:txBody>
      </p:sp>
      <p:sp>
        <p:nvSpPr>
          <p:cNvPr id="6" name="P011 identity card body"/>
          <p:cNvSpPr txBox="1"/>
          <p:nvPr/>
        </p:nvSpPr>
        <p:spPr>
          <a:xfrm>
            <a:off x="1042416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說明／啟動器／策略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契約／回退資料都在此</a:t>
            </a:r>
          </a:p>
        </p:txBody>
      </p:sp>
      <p:sp>
        <p:nvSpPr>
          <p:cNvPr id="7" name="Chevron 6"/>
          <p:cNvSpPr/>
          <p:nvPr/>
        </p:nvSpPr>
        <p:spPr>
          <a:xfrm>
            <a:off x="4261104" y="2542032"/>
            <a:ext cx="420624" cy="49377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1 integrity card"/>
          <p:cNvSpPr/>
          <p:nvPr/>
        </p:nvSpPr>
        <p:spPr>
          <a:xfrm>
            <a:off x="4828032" y="1554480"/>
            <a:ext cx="3246120" cy="21031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011 integrity card heading"/>
          <p:cNvSpPr txBox="1"/>
          <p:nvPr/>
        </p:nvSpPr>
        <p:spPr>
          <a:xfrm>
            <a:off x="4992624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不完整</a:t>
            </a:r>
          </a:p>
        </p:txBody>
      </p:sp>
      <p:sp>
        <p:nvSpPr>
          <p:cNvPr id="10" name="P011 integrity card body"/>
          <p:cNvSpPr txBox="1"/>
          <p:nvPr/>
        </p:nvSpPr>
        <p:spPr>
          <a:xfrm>
            <a:off x="5029200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保留錯誤訊息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不補檔、不進下一關</a:t>
            </a:r>
          </a:p>
        </p:txBody>
      </p:sp>
      <p:sp>
        <p:nvSpPr>
          <p:cNvPr id="11" name="Chevron 10"/>
          <p:cNvSpPr/>
          <p:nvPr/>
        </p:nvSpPr>
        <p:spPr>
          <a:xfrm>
            <a:off x="8247888" y="2542032"/>
            <a:ext cx="420624" cy="493776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011 root card"/>
          <p:cNvSpPr/>
          <p:nvPr/>
        </p:nvSpPr>
        <p:spPr>
          <a:xfrm>
            <a:off x="8814816" y="1554480"/>
            <a:ext cx="2450592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11 root card heading"/>
          <p:cNvSpPr txBox="1"/>
          <p:nvPr/>
        </p:nvSpPr>
        <p:spPr>
          <a:xfrm>
            <a:off x="8979408" y="1737360"/>
            <a:ext cx="21214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下一關</a:t>
            </a:r>
          </a:p>
        </p:txBody>
      </p:sp>
      <p:sp>
        <p:nvSpPr>
          <p:cNvPr id="14" name="P011 root card body"/>
          <p:cNvSpPr txBox="1"/>
          <p:nvPr/>
        </p:nvSpPr>
        <p:spPr>
          <a:xfrm>
            <a:off x="9015984" y="2359152"/>
            <a:ext cx="204825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版本檢查可開始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環境仍未建立</a:t>
            </a:r>
          </a:p>
        </p:txBody>
      </p:sp>
      <p:sp>
        <p:nvSpPr>
          <p:cNvPr id="15" name="P011 boundary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完成判斷：必要檔案同屬一份封裝；不完整就停在這一頁</a:t>
            </a:r>
          </a:p>
        </p:txBody>
      </p:sp>
      <p:sp>
        <p:nvSpPr>
          <p:cNvPr id="16" name="P011 archive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identity gate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（封裝身分檢查）｜來源：發布清單與解壓目錄｜作用：確認必要檔案同屬一份封裝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單位：檢查｜判讀：內容不一致時停止，不進入後續環境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P012｜先辨識 Windows 命令殼，再確認版本</a:t>
            </a:r>
          </a:p>
        </p:txBody>
      </p:sp>
      <p:sp>
        <p:nvSpPr>
          <p:cNvPr id="3" name="P012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兩種命令殼的入口不同；這兩行只讀版本，不改程式與環境</a:t>
            </a:r>
          </a:p>
        </p:txBody>
      </p:sp>
      <p:sp>
        <p:nvSpPr>
          <p:cNvPr id="4" name="P012 CMD card"/>
          <p:cNvSpPr/>
          <p:nvPr/>
        </p:nvSpPr>
        <p:spPr>
          <a:xfrm>
            <a:off x="841248" y="1554480"/>
            <a:ext cx="498348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2 CMD card heading"/>
          <p:cNvSpPr txBox="1"/>
          <p:nvPr/>
        </p:nvSpPr>
        <p:spPr>
          <a:xfrm>
            <a:off x="1005840" y="1737360"/>
            <a:ext cx="465429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命令提示字元</a:t>
            </a:r>
          </a:p>
        </p:txBody>
      </p:sp>
      <p:sp>
        <p:nvSpPr>
          <p:cNvPr id="6" name="P012 CMD card body"/>
          <p:cNvSpPr txBox="1"/>
          <p:nvPr/>
        </p:nvSpPr>
        <p:spPr>
          <a:xfrm>
            <a:off x="1042416" y="2359152"/>
            <a:ext cx="458114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先讀清單再讀版本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 --list → py -3.11 --version</a:t>
            </a:r>
          </a:p>
        </p:txBody>
      </p:sp>
      <p:sp>
        <p:nvSpPr>
          <p:cNvPr id="7" name="P012 PowerShell card"/>
          <p:cNvSpPr/>
          <p:nvPr/>
        </p:nvSpPr>
        <p:spPr>
          <a:xfrm>
            <a:off x="6272784" y="1554480"/>
            <a:ext cx="4983480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2 PowerShell card heading"/>
          <p:cNvSpPr txBox="1"/>
          <p:nvPr/>
        </p:nvSpPr>
        <p:spPr>
          <a:xfrm>
            <a:off x="6437376" y="1737360"/>
            <a:ext cx="465429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管理命令殼</a:t>
            </a:r>
          </a:p>
        </p:txBody>
      </p:sp>
      <p:sp>
        <p:nvSpPr>
          <p:cNvPr id="9" name="P012 PowerShell card body"/>
          <p:cNvSpPr txBox="1"/>
          <p:nvPr/>
        </p:nvSpPr>
        <p:spPr>
          <a:xfrm>
            <a:off x="6473952" y="2359152"/>
            <a:ext cx="458114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先讀清單再讀版本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 --list → py -3.11 --version</a:t>
            </a:r>
          </a:p>
        </p:txBody>
      </p:sp>
      <p:sp>
        <p:nvSpPr>
          <p:cNvPr id="10" name="P012 expected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完成判斷：清單有 3.11，版本行顯示 Python 3.11.x；此步不建環境</a:t>
            </a:r>
          </a:p>
        </p:txBody>
      </p:sp>
      <p:sp>
        <p:nvSpPr>
          <p:cNvPr id="11" name="P012 Python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3.11.x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（固定版本）｜來源：課程執行契約｜作用：提供環境建立使用的版本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單位：版本｜判讀：其他小版本不通過版本檢查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P013｜沒有 3.11，就補一個正確版本</a:t>
            </a:r>
          </a:p>
        </p:txBody>
      </p:sp>
      <p:sp>
        <p:nvSpPr>
          <p:cNvPr id="3" name="P013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只修正版本來源；不改課程程式，也不執行案例</a:t>
            </a:r>
          </a:p>
        </p:txBody>
      </p:sp>
      <p:sp>
        <p:nvSpPr>
          <p:cNvPr id="4" name="P013 check card"/>
          <p:cNvSpPr/>
          <p:nvPr/>
        </p:nvSpPr>
        <p:spPr>
          <a:xfrm>
            <a:off x="841248" y="1554480"/>
            <a:ext cx="3246120" cy="21031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3 check card heading"/>
          <p:cNvSpPr txBox="1"/>
          <p:nvPr/>
        </p:nvSpPr>
        <p:spPr>
          <a:xfrm>
            <a:off x="1005840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先取得工具</a:t>
            </a:r>
          </a:p>
        </p:txBody>
      </p:sp>
      <p:sp>
        <p:nvSpPr>
          <p:cNvPr id="6" name="P013 check card body"/>
          <p:cNvSpPr txBox="1"/>
          <p:nvPr/>
        </p:nvSpPr>
        <p:spPr>
          <a:xfrm>
            <a:off x="1042416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先確認工具可用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uv --version</a:t>
            </a:r>
          </a:p>
        </p:txBody>
      </p:sp>
      <p:sp>
        <p:nvSpPr>
          <p:cNvPr id="7" name="Chevron 6"/>
          <p:cNvSpPr/>
          <p:nvPr/>
        </p:nvSpPr>
        <p:spPr>
          <a:xfrm>
            <a:off x="4261104" y="2542032"/>
            <a:ext cx="420624" cy="493776"/>
          </a:xfrm>
          <a:prstGeom prst="chevron">
            <a:avLst/>
          </a:prstGeom>
          <a:solidFill>
            <a:srgbClr val="99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3 installer card"/>
          <p:cNvSpPr/>
          <p:nvPr/>
        </p:nvSpPr>
        <p:spPr>
          <a:xfrm>
            <a:off x="4828032" y="1554480"/>
            <a:ext cx="324612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013 installer card heading"/>
          <p:cNvSpPr txBox="1"/>
          <p:nvPr/>
        </p:nvSpPr>
        <p:spPr>
          <a:xfrm>
            <a:off x="4992624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安裝指定版本</a:t>
            </a:r>
          </a:p>
        </p:txBody>
      </p:sp>
      <p:sp>
        <p:nvSpPr>
          <p:cNvPr id="10" name="P013 installer card body"/>
          <p:cNvSpPr txBox="1"/>
          <p:nvPr/>
        </p:nvSpPr>
        <p:spPr>
          <a:xfrm>
            <a:off x="5029200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取得指定直譯器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1" name="Chevron 10"/>
          <p:cNvSpPr/>
          <p:nvPr/>
        </p:nvSpPr>
        <p:spPr>
          <a:xfrm>
            <a:off x="8247888" y="2542032"/>
            <a:ext cx="420624" cy="49377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013 reopen card"/>
          <p:cNvSpPr/>
          <p:nvPr/>
        </p:nvSpPr>
        <p:spPr>
          <a:xfrm>
            <a:off x="8814816" y="1554480"/>
            <a:ext cx="2450592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13 reopen card heading"/>
          <p:cNvSpPr txBox="1"/>
          <p:nvPr/>
        </p:nvSpPr>
        <p:spPr>
          <a:xfrm>
            <a:off x="8979408" y="1737360"/>
            <a:ext cx="21214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找到可執行路徑</a:t>
            </a:r>
          </a:p>
        </p:txBody>
      </p:sp>
      <p:sp>
        <p:nvSpPr>
          <p:cNvPr id="14" name="P013 reopen card body"/>
          <p:cNvSpPr txBox="1"/>
          <p:nvPr/>
        </p:nvSpPr>
        <p:spPr>
          <a:xfrm>
            <a:off x="9015984" y="2359152"/>
            <a:ext cx="204825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讀取可執行位置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15" name="P013 expected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完成判斷：找到 3.11 路徑；版本工具成功不等於環境成功</a:t>
            </a:r>
          </a:p>
        </p:txBody>
      </p:sp>
      <p:sp>
        <p:nvSpPr>
          <p:cNvPr id="16" name="P013 interpreter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（版本工具）｜來源：主機恢復路徑｜作用：取得並定位 Python 3.11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單位：工具／路徑｜判讀：只處理版本，不產生 READY 或案例結果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P014｜工具相同，平台路徑不同</a:t>
            </a:r>
          </a:p>
        </p:txBody>
      </p:sp>
      <p:sp>
        <p:nvSpPr>
          <p:cNvPr id="3" name="P014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版本工具成功後，Windows 與 Linux 各走自己的路徑；不互換環境</a:t>
            </a:r>
          </a:p>
        </p:txBody>
      </p:sp>
      <p:sp>
        <p:nvSpPr>
          <p:cNvPr id="4" name="P014 Windows card"/>
          <p:cNvSpPr/>
          <p:nvPr/>
        </p:nvSpPr>
        <p:spPr>
          <a:xfrm>
            <a:off x="841248" y="1554480"/>
            <a:ext cx="324612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4 Windows card heading"/>
          <p:cNvSpPr txBox="1"/>
          <p:nvPr/>
        </p:nvSpPr>
        <p:spPr>
          <a:xfrm>
            <a:off x="1005840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Windows 路徑</a:t>
            </a:r>
          </a:p>
        </p:txBody>
      </p:sp>
      <p:sp>
        <p:nvSpPr>
          <p:cNvPr id="6" name="P014 Windows card body"/>
          <p:cNvSpPr txBox="1"/>
          <p:nvPr/>
        </p:nvSpPr>
        <p:spPr>
          <a:xfrm>
            <a:off x="1042416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反斜線路徑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</p:txBody>
      </p:sp>
      <p:sp>
        <p:nvSpPr>
          <p:cNvPr id="7" name="Chevron 6"/>
          <p:cNvSpPr/>
          <p:nvPr/>
        </p:nvSpPr>
        <p:spPr>
          <a:xfrm>
            <a:off x="4261104" y="2542032"/>
            <a:ext cx="420624" cy="49377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4 POSIX card"/>
          <p:cNvSpPr/>
          <p:nvPr/>
        </p:nvSpPr>
        <p:spPr>
          <a:xfrm>
            <a:off x="4828032" y="1554480"/>
            <a:ext cx="3246120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014 POSIX card heading"/>
          <p:cNvSpPr txBox="1"/>
          <p:nvPr/>
        </p:nvSpPr>
        <p:spPr>
          <a:xfrm>
            <a:off x="4992624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Linux／macOS／WSL</a:t>
            </a:r>
          </a:p>
        </p:txBody>
      </p:sp>
      <p:sp>
        <p:nvSpPr>
          <p:cNvPr id="10" name="P014 POSIX card body"/>
          <p:cNvSpPr txBox="1"/>
          <p:nvPr/>
        </p:nvSpPr>
        <p:spPr>
          <a:xfrm>
            <a:off x="5029200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斜線路徑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</p:txBody>
      </p:sp>
      <p:sp>
        <p:nvSpPr>
          <p:cNvPr id="11" name="Chevron 10"/>
          <p:cNvSpPr/>
          <p:nvPr/>
        </p:nvSpPr>
        <p:spPr>
          <a:xfrm>
            <a:off x="8247888" y="2542032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014 find card"/>
          <p:cNvSpPr/>
          <p:nvPr/>
        </p:nvSpPr>
        <p:spPr>
          <a:xfrm>
            <a:off x="8814816" y="1554480"/>
            <a:ext cx="2450592" cy="21031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14 find card heading"/>
          <p:cNvSpPr txBox="1"/>
          <p:nvPr/>
        </p:nvSpPr>
        <p:spPr>
          <a:xfrm>
            <a:off x="8979408" y="1737360"/>
            <a:ext cx="21214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交接</a:t>
            </a:r>
          </a:p>
        </p:txBody>
      </p:sp>
      <p:sp>
        <p:nvSpPr>
          <p:cNvPr id="14" name="P014 find card body"/>
          <p:cNvSpPr txBox="1"/>
          <p:nvPr/>
        </p:nvSpPr>
        <p:spPr>
          <a:xfrm>
            <a:off x="9015984" y="2359152"/>
            <a:ext cx="204825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回傳 3.11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不產生案例結果</a:t>
            </a:r>
          </a:p>
        </p:txBody>
      </p:sp>
      <p:sp>
        <p:nvSpPr>
          <p:cNvPr id="15" name="P014 boundary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完成判斷：各平台只使用自己的環境；版本工具不產生案例結果</a:t>
            </a:r>
          </a:p>
        </p:txBody>
      </p:sp>
      <p:sp>
        <p:nvSpPr>
          <p:cNvPr id="16" name="P014 uv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WSL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（Windows 的 Linux 執行層）｜來源：主機平台｜作用：提供獨立 Linux 命令殼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單位：環境類別｜判讀：WSL 擁有自己的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，不與 Windows 互換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P015｜每個封裝都要有自己的虛擬環境</a:t>
            </a:r>
          </a:p>
        </p:txBody>
      </p:sp>
      <p:sp>
        <p:nvSpPr>
          <p:cNvPr id="3" name="P015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把版本、依賴與策略關在同一個目錄；不共用別的專案</a:t>
            </a:r>
          </a:p>
        </p:txBody>
      </p:sp>
      <p:sp>
        <p:nvSpPr>
          <p:cNvPr id="4" name="P015 root card"/>
          <p:cNvSpPr/>
          <p:nvPr/>
        </p:nvSpPr>
        <p:spPr>
          <a:xfrm>
            <a:off x="841248" y="1554480"/>
            <a:ext cx="324612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5 root card heading"/>
          <p:cNvSpPr txBox="1"/>
          <p:nvPr/>
        </p:nvSpPr>
        <p:spPr>
          <a:xfrm>
            <a:off x="1005840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課程根目錄</a:t>
            </a:r>
          </a:p>
        </p:txBody>
      </p:sp>
      <p:sp>
        <p:nvSpPr>
          <p:cNvPr id="6" name="P015 root card body"/>
          <p:cNvSpPr txBox="1"/>
          <p:nvPr/>
        </p:nvSpPr>
        <p:spPr>
          <a:xfrm>
            <a:off x="1042416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必須留在此</a:t>
            </a:r>
          </a:p>
        </p:txBody>
      </p:sp>
      <p:sp>
        <p:nvSpPr>
          <p:cNvPr id="7" name="Chevron 6"/>
          <p:cNvSpPr/>
          <p:nvPr/>
        </p:nvSpPr>
        <p:spPr>
          <a:xfrm>
            <a:off x="4261104" y="2542032"/>
            <a:ext cx="420624" cy="49377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5 Windows path card"/>
          <p:cNvSpPr/>
          <p:nvPr/>
        </p:nvSpPr>
        <p:spPr>
          <a:xfrm>
            <a:off x="4828032" y="1554480"/>
            <a:ext cx="3246120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015 Windows path card heading"/>
          <p:cNvSpPr txBox="1"/>
          <p:nvPr/>
        </p:nvSpPr>
        <p:spPr>
          <a:xfrm>
            <a:off x="4992624" y="1737360"/>
            <a:ext cx="291693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Windows 路徑</a:t>
            </a:r>
          </a:p>
        </p:txBody>
      </p:sp>
      <p:sp>
        <p:nvSpPr>
          <p:cNvPr id="10" name="P015 Windows path card body"/>
          <p:cNvSpPr txBox="1"/>
          <p:nvPr/>
        </p:nvSpPr>
        <p:spPr>
          <a:xfrm>
            <a:off x="5029200" y="2359152"/>
            <a:ext cx="284378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顯示 Python 3.11.x</a:t>
            </a:r>
          </a:p>
        </p:txBody>
      </p:sp>
      <p:sp>
        <p:nvSpPr>
          <p:cNvPr id="11" name="Chevron 10"/>
          <p:cNvSpPr/>
          <p:nvPr/>
        </p:nvSpPr>
        <p:spPr>
          <a:xfrm>
            <a:off x="8247888" y="2542032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015 POSIX path card"/>
          <p:cNvSpPr/>
          <p:nvPr/>
        </p:nvSpPr>
        <p:spPr>
          <a:xfrm>
            <a:off x="8814816" y="1554480"/>
            <a:ext cx="2450592" cy="21031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15 POSIX path card heading"/>
          <p:cNvSpPr txBox="1"/>
          <p:nvPr/>
        </p:nvSpPr>
        <p:spPr>
          <a:xfrm>
            <a:off x="8979408" y="1737360"/>
            <a:ext cx="21214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Linux 路徑</a:t>
            </a:r>
          </a:p>
        </p:txBody>
      </p:sp>
      <p:sp>
        <p:nvSpPr>
          <p:cNvPr id="14" name="P015 POSIX path card body"/>
          <p:cNvSpPr txBox="1"/>
          <p:nvPr/>
        </p:nvSpPr>
        <p:spPr>
          <a:xfrm>
            <a:off x="9015984" y="2359152"/>
            <a:ext cx="204825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版本 3.11.x</a:t>
            </a:r>
          </a:p>
        </p:txBody>
      </p:sp>
      <p:sp>
        <p:nvSpPr>
          <p:cNvPr id="15" name="P015 isolation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完成判斷：兩個路徑都顯示 3.11.x；不互換，也不共用別的專案</a:t>
            </a:r>
          </a:p>
        </p:txBody>
      </p:sp>
      <p:sp>
        <p:nvSpPr>
          <p:cNvPr id="16" name="P015 venv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（套件本地虛擬環境）｜來源：Python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venv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模組｜作用：隔離版本、依賴、策略與啟動器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單位：目錄｜判讀：啟動器只使用目前封裝內的版本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P016｜Windows：建立環境，驗證後才進案例</a:t>
            </a:r>
          </a:p>
        </p:txBody>
      </p:sp>
      <p:sp>
        <p:nvSpPr>
          <p:cNvPr id="3" name="P016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下面兩組命令會建立隔離環境並讀取驗證結果；不修改案例程式</a:t>
            </a:r>
          </a:p>
        </p:txBody>
      </p:sp>
      <p:sp>
        <p:nvSpPr>
          <p:cNvPr id="4" name="P016 CMD card"/>
          <p:cNvSpPr/>
          <p:nvPr/>
        </p:nvSpPr>
        <p:spPr>
          <a:xfrm>
            <a:off x="841248" y="1554480"/>
            <a:ext cx="498348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6 CMD card heading"/>
          <p:cNvSpPr txBox="1"/>
          <p:nvPr/>
        </p:nvSpPr>
        <p:spPr>
          <a:xfrm>
            <a:off x="1005840" y="1737360"/>
            <a:ext cx="465429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6" name="P016 CMD card body"/>
          <p:cNvSpPr txBox="1"/>
          <p:nvPr/>
        </p:nvSpPr>
        <p:spPr>
          <a:xfrm>
            <a:off x="1042416" y="2359152"/>
            <a:ext cx="458114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先固定 3.11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set PYTHON_BIN=py -3.11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setup.cmd → course.cmd verify</a:t>
            </a:r>
          </a:p>
        </p:txBody>
      </p:sp>
      <p:sp>
        <p:nvSpPr>
          <p:cNvPr id="7" name="P016 PowerShell card"/>
          <p:cNvSpPr/>
          <p:nvPr/>
        </p:nvSpPr>
        <p:spPr>
          <a:xfrm>
            <a:off x="6272784" y="1554480"/>
            <a:ext cx="4983480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6 PowerShell card heading"/>
          <p:cNvSpPr txBox="1"/>
          <p:nvPr/>
        </p:nvSpPr>
        <p:spPr>
          <a:xfrm>
            <a:off x="6437376" y="1737360"/>
            <a:ext cx="4654296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9" name="P016 PowerShell card body"/>
          <p:cNvSpPr txBox="1"/>
          <p:nvPr/>
        </p:nvSpPr>
        <p:spPr>
          <a:xfrm>
            <a:off x="6473952" y="2359152"/>
            <a:ext cx="4581144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先固定 3.11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.\setup.cmd → .\course.cmd verify</a:t>
            </a:r>
          </a:p>
        </p:txBody>
      </p:sp>
      <p:sp>
        <p:nvSpPr>
          <p:cNvPr id="10" name="P016 READY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完成判斷：狀態為 READY，並寫入驗證收據；這不是案例結果</a:t>
            </a:r>
          </a:p>
        </p:txBody>
      </p:sp>
      <p:sp>
        <p:nvSpPr>
          <p:cNvPr id="11" name="P016 READY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（環境就緒狀態）｜來源：驗證收據｜作用：表示版本、依賴、情境與策略介面通過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單位：狀態值｜判讀：READY 才能進案例，仍不代表案例已執行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P017｜WSL：先進入 Ubuntu，再用 Linux 命令</a:t>
            </a:r>
          </a:p>
        </p:txBody>
      </p:sp>
      <p:sp>
        <p:nvSpPr>
          <p:cNvPr id="3" name="P017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先確認命令殼身分；看到 Linux 路徑後才執行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.sh</a:t>
            </a:r>
          </a:p>
        </p:txBody>
      </p:sp>
      <p:sp>
        <p:nvSpPr>
          <p:cNvPr id="4" name="P017 step 1"/>
          <p:cNvSpPr/>
          <p:nvPr/>
        </p:nvSpPr>
        <p:spPr>
          <a:xfrm>
            <a:off x="841248" y="1554480"/>
            <a:ext cx="2176272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7 step 1 heading"/>
          <p:cNvSpPr txBox="1"/>
          <p:nvPr/>
        </p:nvSpPr>
        <p:spPr>
          <a:xfrm>
            <a:off x="1005840" y="1737360"/>
            <a:ext cx="184708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先看清單</a:t>
            </a:r>
          </a:p>
        </p:txBody>
      </p:sp>
      <p:sp>
        <p:nvSpPr>
          <p:cNvPr id="6" name="P017 step 1 body"/>
          <p:cNvSpPr txBox="1"/>
          <p:nvPr/>
        </p:nvSpPr>
        <p:spPr>
          <a:xfrm>
            <a:off x="1042416" y="2359152"/>
            <a:ext cx="177393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清單確認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</p:txBody>
      </p:sp>
      <p:sp>
        <p:nvSpPr>
          <p:cNvPr id="7" name="Chevron 6"/>
          <p:cNvSpPr/>
          <p:nvPr/>
        </p:nvSpPr>
        <p:spPr>
          <a:xfrm>
            <a:off x="3108960" y="2542032"/>
            <a:ext cx="320040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7 step 2"/>
          <p:cNvSpPr/>
          <p:nvPr/>
        </p:nvSpPr>
        <p:spPr>
          <a:xfrm>
            <a:off x="3602736" y="1554480"/>
            <a:ext cx="2176272" cy="21031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017 step 2 heading"/>
          <p:cNvSpPr txBox="1"/>
          <p:nvPr/>
        </p:nvSpPr>
        <p:spPr>
          <a:xfrm>
            <a:off x="3767328" y="1737360"/>
            <a:ext cx="184708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進入 Ubuntu</a:t>
            </a:r>
          </a:p>
        </p:txBody>
      </p:sp>
      <p:sp>
        <p:nvSpPr>
          <p:cNvPr id="10" name="P017 step 2 body"/>
          <p:cNvSpPr txBox="1"/>
          <p:nvPr/>
        </p:nvSpPr>
        <p:spPr>
          <a:xfrm>
            <a:off x="3803904" y="2359152"/>
            <a:ext cx="177393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-d Ubuntu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進入 Linux</a:t>
            </a:r>
          </a:p>
        </p:txBody>
      </p:sp>
      <p:sp>
        <p:nvSpPr>
          <p:cNvPr id="11" name="Chevron 10"/>
          <p:cNvSpPr/>
          <p:nvPr/>
        </p:nvSpPr>
        <p:spPr>
          <a:xfrm>
            <a:off x="5870448" y="2542032"/>
            <a:ext cx="320040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017 step 3"/>
          <p:cNvSpPr/>
          <p:nvPr/>
        </p:nvSpPr>
        <p:spPr>
          <a:xfrm>
            <a:off x="6364224" y="1554480"/>
            <a:ext cx="2176272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17 step 3 heading"/>
          <p:cNvSpPr txBox="1"/>
          <p:nvPr/>
        </p:nvSpPr>
        <p:spPr>
          <a:xfrm>
            <a:off x="6528816" y="1737360"/>
            <a:ext cx="184708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確認路徑</a:t>
            </a:r>
          </a:p>
        </p:txBody>
      </p:sp>
      <p:sp>
        <p:nvSpPr>
          <p:cNvPr id="14" name="P017 step 3 body"/>
          <p:cNvSpPr txBox="1"/>
          <p:nvPr/>
        </p:nvSpPr>
        <p:spPr>
          <a:xfrm>
            <a:off x="6565392" y="2359152"/>
            <a:ext cx="177393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uname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看到 Linux path</a:t>
            </a:r>
          </a:p>
        </p:txBody>
      </p:sp>
      <p:sp>
        <p:nvSpPr>
          <p:cNvPr id="15" name="Chevron 14"/>
          <p:cNvSpPr/>
          <p:nvPr/>
        </p:nvSpPr>
        <p:spPr>
          <a:xfrm>
            <a:off x="8631936" y="2542032"/>
            <a:ext cx="320040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017 step 4"/>
          <p:cNvSpPr/>
          <p:nvPr/>
        </p:nvSpPr>
        <p:spPr>
          <a:xfrm>
            <a:off x="9125712" y="1554480"/>
            <a:ext cx="2176272" cy="21031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017 step 4 heading"/>
          <p:cNvSpPr txBox="1"/>
          <p:nvPr/>
        </p:nvSpPr>
        <p:spPr>
          <a:xfrm>
            <a:off x="9290304" y="1737360"/>
            <a:ext cx="184708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後續路徑</a:t>
            </a:r>
          </a:p>
        </p:txBody>
      </p:sp>
      <p:sp>
        <p:nvSpPr>
          <p:cNvPr id="18" name="P017 step 4 body"/>
          <p:cNvSpPr txBox="1"/>
          <p:nvPr/>
        </p:nvSpPr>
        <p:spPr>
          <a:xfrm>
            <a:off x="9326880" y="2359152"/>
            <a:ext cx="177393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.sh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apt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不使用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.cmd</a:t>
            </a:r>
          </a:p>
        </p:txBody>
      </p:sp>
      <p:sp>
        <p:nvSpPr>
          <p:cNvPr id="19" name="P017 shell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完成判斷：看到 Linux 路徑後才用 </a:t>
            </a:r>
            <a:r>
              <a:rPr sz="19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.sh</a:t>
            </a: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；不要重複安裝，也不執行 Windows 命令</a:t>
            </a:r>
          </a:p>
        </p:txBody>
      </p:sp>
      <p:sp>
        <p:nvSpPr>
          <p:cNvPr id="20" name="P017 Ubuntu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Ubuntu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（Linux 發行版）｜來源：WSL 執行層｜作用：提供獨立 Linux 命令殼與檔案系統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單位：發行版名稱｜判讀：看到 Linux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後才使用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setup.sh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P018｜在 Ubuntu 依序備妥工具與 Python</a:t>
            </a:r>
          </a:p>
        </p:txBody>
      </p:sp>
      <p:sp>
        <p:nvSpPr>
          <p:cNvPr id="3" name="P018 lead"/>
          <p:cNvSpPr txBox="1"/>
          <p:nvPr/>
        </p:nvSpPr>
        <p:spPr>
          <a:xfrm>
            <a:off x="932688" y="932688"/>
            <a:ext cx="10314432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先準備解壓工具，再取得 Python 3.11；尚未解壓封裝</a:t>
            </a:r>
          </a:p>
        </p:txBody>
      </p:sp>
      <p:sp>
        <p:nvSpPr>
          <p:cNvPr id="4" name="P018 step 1"/>
          <p:cNvSpPr/>
          <p:nvPr/>
        </p:nvSpPr>
        <p:spPr>
          <a:xfrm>
            <a:off x="841248" y="1554480"/>
            <a:ext cx="2176272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018 step 1 heading"/>
          <p:cNvSpPr txBox="1"/>
          <p:nvPr/>
        </p:nvSpPr>
        <p:spPr>
          <a:xfrm>
            <a:off x="1005840" y="1737360"/>
            <a:ext cx="184708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更新清單</a:t>
            </a:r>
          </a:p>
        </p:txBody>
      </p:sp>
      <p:sp>
        <p:nvSpPr>
          <p:cNvPr id="6" name="P018 step 1 body"/>
          <p:cNvSpPr txBox="1"/>
          <p:nvPr/>
        </p:nvSpPr>
        <p:spPr>
          <a:xfrm>
            <a:off x="1042416" y="2359152"/>
            <a:ext cx="177393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只更新套件清單</a:t>
            </a:r>
          </a:p>
        </p:txBody>
      </p:sp>
      <p:sp>
        <p:nvSpPr>
          <p:cNvPr id="7" name="Chevron 6"/>
          <p:cNvSpPr/>
          <p:nvPr/>
        </p:nvSpPr>
        <p:spPr>
          <a:xfrm>
            <a:off x="3108960" y="2542032"/>
            <a:ext cx="320040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018 step 2"/>
          <p:cNvSpPr/>
          <p:nvPr/>
        </p:nvSpPr>
        <p:spPr>
          <a:xfrm>
            <a:off x="3602736" y="1554480"/>
            <a:ext cx="2176272" cy="21031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018 step 2 heading"/>
          <p:cNvSpPr txBox="1"/>
          <p:nvPr/>
        </p:nvSpPr>
        <p:spPr>
          <a:xfrm>
            <a:off x="3767328" y="1737360"/>
            <a:ext cx="184708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準備解壓工具</a:t>
            </a:r>
          </a:p>
        </p:txBody>
      </p:sp>
      <p:sp>
        <p:nvSpPr>
          <p:cNvPr id="10" name="P018 step 2 body"/>
          <p:cNvSpPr txBox="1"/>
          <p:nvPr/>
        </p:nvSpPr>
        <p:spPr>
          <a:xfrm>
            <a:off x="3803904" y="2359152"/>
            <a:ext cx="177393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取得傳輸與解壓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不進案例</a:t>
            </a:r>
          </a:p>
        </p:txBody>
      </p:sp>
      <p:sp>
        <p:nvSpPr>
          <p:cNvPr id="11" name="Chevron 10"/>
          <p:cNvSpPr/>
          <p:nvPr/>
        </p:nvSpPr>
        <p:spPr>
          <a:xfrm>
            <a:off x="5870448" y="2542032"/>
            <a:ext cx="320040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018 step 3"/>
          <p:cNvSpPr/>
          <p:nvPr/>
        </p:nvSpPr>
        <p:spPr>
          <a:xfrm>
            <a:off x="6364224" y="1554480"/>
            <a:ext cx="2176272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18 step 3 heading"/>
          <p:cNvSpPr txBox="1"/>
          <p:nvPr/>
        </p:nvSpPr>
        <p:spPr>
          <a:xfrm>
            <a:off x="6528816" y="1737360"/>
            <a:ext cx="184708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安裝版本工具</a:t>
            </a:r>
          </a:p>
        </p:txBody>
      </p:sp>
      <p:sp>
        <p:nvSpPr>
          <p:cNvPr id="14" name="P018 step 3 body"/>
          <p:cNvSpPr txBox="1"/>
          <p:nvPr/>
        </p:nvSpPr>
        <p:spPr>
          <a:xfrm>
            <a:off x="6565392" y="2359152"/>
            <a:ext cx="177393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安裝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再開新命令殼</a:t>
            </a:r>
          </a:p>
        </p:txBody>
      </p:sp>
      <p:sp>
        <p:nvSpPr>
          <p:cNvPr id="15" name="Chevron 14"/>
          <p:cNvSpPr/>
          <p:nvPr/>
        </p:nvSpPr>
        <p:spPr>
          <a:xfrm>
            <a:off x="8631936" y="2542032"/>
            <a:ext cx="320040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018 step 4"/>
          <p:cNvSpPr/>
          <p:nvPr/>
        </p:nvSpPr>
        <p:spPr>
          <a:xfrm>
            <a:off x="9125712" y="1554480"/>
            <a:ext cx="2176272" cy="21031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018 step 4 heading"/>
          <p:cNvSpPr txBox="1"/>
          <p:nvPr/>
        </p:nvSpPr>
        <p:spPr>
          <a:xfrm>
            <a:off x="9290304" y="1737360"/>
            <a:ext cx="184708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確認 Python</a:t>
            </a:r>
          </a:p>
        </p:txBody>
      </p:sp>
      <p:sp>
        <p:nvSpPr>
          <p:cNvPr id="18" name="P018 step 4 body"/>
          <p:cNvSpPr txBox="1"/>
          <p:nvPr/>
        </p:nvSpPr>
        <p:spPr>
          <a:xfrm>
            <a:off x="9326880" y="2359152"/>
            <a:ext cx="1773936" cy="1115567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find 3.11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回傳版本路徑</a:t>
            </a:r>
          </a:p>
        </p:txBody>
      </p:sp>
      <p:sp>
        <p:nvSpPr>
          <p:cNvPr id="19" name="P018 boundary strip"/>
          <p:cNvSpPr/>
          <p:nvPr/>
        </p:nvSpPr>
        <p:spPr>
          <a:xfrm>
            <a:off x="932688" y="3968496"/>
            <a:ext cx="10314432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完成判斷：工具可用、找到 3.11 路徑；尚未建立環境與就緒收據</a:t>
            </a:r>
          </a:p>
        </p:txBody>
      </p:sp>
      <p:sp>
        <p:nvSpPr>
          <p:cNvPr id="20" name="P018 toolchain field"/>
          <p:cNvSpPr/>
          <p:nvPr/>
        </p:nvSpPr>
        <p:spPr>
          <a:xfrm>
            <a:off x="804672" y="5120640"/>
            <a:ext cx="10561320" cy="7680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（版本工具）｜來源：Ubuntu 命令殼｜作用：取得 Python 3.11 路徑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單位：工具／路徑｜判讀：找到路徑後才進入環境建立，不當成案例結果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