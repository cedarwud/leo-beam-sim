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ns0:presentation xmlns:ns0="http://schemas.openxmlformats.org/presentationml/2006/main" xmlns:ns1="http://schemas.openxmlformats.org/officeDocument/2006/relationships" xmlns:ns2="http://schemas.openxmlformats.org/drawingml/2006/main" saveSubsetFonts="1" autoCompressPictures="0">
  <ns0:sldMasterIdLst>
    <ns0:sldMasterId id="2147483648" ns1:id="rId1"/>
  </ns0:sldMasterIdLst>
  <ns0:notesMasterIdLst>
    <ns0:notesMasterId ns1:id="rId19"/>
  </ns0:notesMasterIdLst>
  <ns0:sldIdLst>
    <ns0:sldId id="256" ns1:id="rId2"/>
    <ns0:sldId id="257" ns1:id="rId3"/>
    <ns0:sldId id="258" ns1:id="rId4"/>
    <ns0:sldId id="259" ns1:id="rId5"/>
    <ns0:sldId id="260" ns1:id="rId6"/>
    <ns0:sldId id="261" ns1:id="rId7"/>
    <ns0:sldId id="262" ns1:id="rId8"/>
    <ns0:sldId id="263" ns1:id="rId9"/>
    <ns0:sldId id="264" ns1:id="rId10"/>
    <ns0:sldId id="265" ns1:id="rId11"/>
    <ns0:sldId id="266" ns1:id="rId12"/>
    <ns0:sldId id="267" ns1:id="rId13"/>
    <ns0:sldId id="268" ns1:id="rId14"/>
    <ns0:sldId id="269" ns1:id="rId15"/>
    <ns0:sldId id="270" ns1:id="rId16"/>
    <ns0:sldId id="271" ns1:id="rId17"/>
    <ns0:sldId id="272" ns1:id="rId18"/>
  </ns0:sldIdLst>
  <ns0:sldSz cx="12191970" cy="6858000"/>
  <ns0:notesSz cx="6858000" cy="12191970"/>
  <ns0:defaultTextStyle>
    <ns2:lvl1pPr marL="0" algn="l" defTabSz="914400" rtl="0" eaLnBrk="1" latinLnBrk="0" hangingPunct="1">
      <ns2:defRPr sz="1800" kern="1200">
        <ns2:solidFill>
          <ns2:schemeClr val="tx1"/>
        </ns2:solidFill>
        <ns2:latin typeface="+mn-lt"/>
        <ns2:ea typeface="+mn-ea"/>
        <ns2:cs typeface="+mn-cs"/>
      </ns2:defRPr>
    </ns2:lvl1pPr>
    <ns2:lvl2pPr marL="457200" algn="l" defTabSz="914400" rtl="0" eaLnBrk="1" latinLnBrk="0" hangingPunct="1">
      <ns2:defRPr sz="1800" kern="1200">
        <ns2:solidFill>
          <ns2:schemeClr val="tx1"/>
        </ns2:solidFill>
        <ns2:latin typeface="+mn-lt"/>
        <ns2:ea typeface="+mn-ea"/>
        <ns2:cs typeface="+mn-cs"/>
      </ns2:defRPr>
    </ns2:lvl2pPr>
    <ns2:lvl3pPr marL="914400" algn="l" defTabSz="914400" rtl="0" eaLnBrk="1" latinLnBrk="0" hangingPunct="1">
      <ns2:defRPr sz="1800" kern="1200">
        <ns2:solidFill>
          <ns2:schemeClr val="tx1"/>
        </ns2:solidFill>
        <ns2:latin typeface="+mn-lt"/>
        <ns2:ea typeface="+mn-ea"/>
        <ns2:cs typeface="+mn-cs"/>
      </ns2:defRPr>
    </ns2:lvl3pPr>
    <ns2:lvl4pPr marL="1371600" algn="l" defTabSz="914400" rtl="0" eaLnBrk="1" latinLnBrk="0" hangingPunct="1">
      <ns2:defRPr sz="1800" kern="1200">
        <ns2:solidFill>
          <ns2:schemeClr val="tx1"/>
        </ns2:solidFill>
        <ns2:latin typeface="+mn-lt"/>
        <ns2:ea typeface="+mn-ea"/>
        <ns2:cs typeface="+mn-cs"/>
      </ns2:defRPr>
    </ns2:lvl4pPr>
    <ns2:lvl5pPr marL="1828800" algn="l" defTabSz="914400" rtl="0" eaLnBrk="1" latinLnBrk="0" hangingPunct="1">
      <ns2:defRPr sz="1800" kern="1200">
        <ns2:solidFill>
          <ns2:schemeClr val="tx1"/>
        </ns2:solidFill>
        <ns2:latin typeface="+mn-lt"/>
        <ns2:ea typeface="+mn-ea"/>
        <ns2:cs typeface="+mn-cs"/>
      </ns2:defRPr>
    </ns2:lvl5pPr>
    <ns2:lvl6pPr marL="2286000" algn="l" defTabSz="914400" rtl="0" eaLnBrk="1" latinLnBrk="0" hangingPunct="1">
      <ns2:defRPr sz="1800" kern="1200">
        <ns2:solidFill>
          <ns2:schemeClr val="tx1"/>
        </ns2:solidFill>
        <ns2:latin typeface="+mn-lt"/>
        <ns2:ea typeface="+mn-ea"/>
        <ns2:cs typeface="+mn-cs"/>
      </ns2:defRPr>
    </ns2:lvl6pPr>
    <ns2:lvl7pPr marL="2743200" algn="l" defTabSz="914400" rtl="0" eaLnBrk="1" latinLnBrk="0" hangingPunct="1">
      <ns2:defRPr sz="1800" kern="1200">
        <ns2:solidFill>
          <ns2:schemeClr val="tx1"/>
        </ns2:solidFill>
        <ns2:latin typeface="+mn-lt"/>
        <ns2:ea typeface="+mn-ea"/>
        <ns2:cs typeface="+mn-cs"/>
      </ns2:defRPr>
    </ns2:lvl7pPr>
    <ns2:lvl8pPr marL="3200400" algn="l" defTabSz="914400" rtl="0" eaLnBrk="1" latinLnBrk="0" hangingPunct="1">
      <ns2:defRPr sz="1800" kern="1200">
        <ns2:solidFill>
          <ns2:schemeClr val="tx1"/>
        </ns2:solidFill>
        <ns2:latin typeface="+mn-lt"/>
        <ns2:ea typeface="+mn-ea"/>
        <ns2:cs typeface="+mn-cs"/>
      </ns2:defRPr>
    </ns2:lvl8pPr>
    <ns2:lvl9pPr marL="3657600" algn="l" defTabSz="914400" rtl="0" eaLnBrk="1" latinLnBrk="0" hangingPunct="1">
      <ns2:defRPr sz="1800" kern="1200">
        <ns2:solidFill>
          <ns2:schemeClr val="tx1"/>
        </ns2:solidFill>
        <ns2:latin typeface="+mn-lt"/>
        <ns2:ea typeface="+mn-ea"/>
        <ns2:cs typeface="+mn-cs"/>
      </ns2:defRPr>
    </ns2:lvl9pPr>
  </ns0:defaultTextStyle>
</ns0: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1" y="0"/>
            <a:ext cx="3078427" cy="513508"/>
          </a:xfrm>
          <a:prstGeom prst="rect">
            <a:avLst/>
          </a:prstGeom>
        </p:spPr>
        <p:txBody>
          <a:bodyPr vert="horz" lIns="94787" tIns="47393" rIns="94787" bIns="47393" rtlCol="0"/>
          <a:lstStyle>
            <a:lvl1pPr algn="l">
              <a:defRPr sz="1200"/>
            </a:lvl1pPr>
          </a:lstStyle>
          <a:p>
            <a:endParaRPr lang="zh-TW" altLang="en-US"/>
          </a:p>
        </p:txBody>
      </p:sp>
      <p:sp>
        <p:nvSpPr>
          <p:cNvPr id="3" name="日期版面配置區 2"/>
          <p:cNvSpPr>
            <a:spLocks noGrp="1"/>
          </p:cNvSpPr>
          <p:nvPr>
            <p:ph type="dt" idx="1"/>
          </p:nvPr>
        </p:nvSpPr>
        <p:spPr>
          <a:xfrm>
            <a:off x="4023993" y="0"/>
            <a:ext cx="3078427" cy="513508"/>
          </a:xfrm>
          <a:prstGeom prst="rect">
            <a:avLst/>
          </a:prstGeom>
        </p:spPr>
        <p:txBody>
          <a:bodyPr vert="horz" lIns="94787" tIns="47393" rIns="94787" bIns="47393" rtlCol="0"/>
          <a:lstStyle>
            <a:lvl1pPr algn="r">
              <a:defRPr sz="1200"/>
            </a:lvl1pPr>
          </a:lstStyle>
          <a:p>
            <a:fld id="{6E184DA3-7456-445E-B789-C4A3C11A868B}" type="datetimeFigureOut">
              <a:rPr lang="zh-TW" altLang="en-US" smtClean="0"/>
              <a:t>2025/12/10</a:t>
            </a:fld>
            <a:endParaRPr lang="zh-TW" altLang="en-US"/>
          </a:p>
        </p:txBody>
      </p:sp>
      <p:sp>
        <p:nvSpPr>
          <p:cNvPr id="4" name="投影片圖像版面配置區 3"/>
          <p:cNvSpPr>
            <a:spLocks noGrp="1" noRot="1" noChangeAspect="1"/>
          </p:cNvSpPr>
          <p:nvPr>
            <p:ph type="sldImg" idx="2"/>
          </p:nvPr>
        </p:nvSpPr>
        <p:spPr>
          <a:xfrm>
            <a:off x="482600" y="1279525"/>
            <a:ext cx="6138863" cy="3452813"/>
          </a:xfrm>
          <a:prstGeom prst="rect">
            <a:avLst/>
          </a:prstGeom>
          <a:noFill/>
          <a:ln w="12700">
            <a:solidFill>
              <a:prstClr val="black"/>
            </a:solidFill>
          </a:ln>
        </p:spPr>
        <p:txBody>
          <a:bodyPr vert="horz" lIns="94787" tIns="47393" rIns="94787" bIns="47393" rtlCol="0" anchor="ctr"/>
          <a:lstStyle/>
          <a:p>
            <a:endParaRPr lang="zh-TW" altLang="en-US"/>
          </a:p>
        </p:txBody>
      </p:sp>
      <p:sp>
        <p:nvSpPr>
          <p:cNvPr id="5" name="備忘稿版面配置區 4"/>
          <p:cNvSpPr>
            <a:spLocks noGrp="1"/>
          </p:cNvSpPr>
          <p:nvPr>
            <p:ph type="body" sz="quarter" idx="3"/>
          </p:nvPr>
        </p:nvSpPr>
        <p:spPr>
          <a:xfrm>
            <a:off x="710407" y="4925408"/>
            <a:ext cx="5683250" cy="4029879"/>
          </a:xfrm>
          <a:prstGeom prst="rect">
            <a:avLst/>
          </a:prstGeom>
        </p:spPr>
        <p:txBody>
          <a:bodyPr vert="horz" lIns="94787" tIns="47393" rIns="94787" bIns="47393"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1" y="9721106"/>
            <a:ext cx="3078427" cy="513507"/>
          </a:xfrm>
          <a:prstGeom prst="rect">
            <a:avLst/>
          </a:prstGeom>
        </p:spPr>
        <p:txBody>
          <a:bodyPr vert="horz" lIns="94787" tIns="47393" rIns="94787" bIns="47393"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4023993" y="9721106"/>
            <a:ext cx="3078427" cy="513507"/>
          </a:xfrm>
          <a:prstGeom prst="rect">
            <a:avLst/>
          </a:prstGeom>
        </p:spPr>
        <p:txBody>
          <a:bodyPr vert="horz" lIns="94787" tIns="47393" rIns="94787" bIns="47393" rtlCol="0" anchor="b"/>
          <a:lstStyle>
            <a:lvl1pPr algn="r">
              <a:defRPr sz="1200"/>
            </a:lvl1pPr>
          </a:lstStyle>
          <a:p>
            <a:fld id="{E0BAEFB6-4136-4525-B476-790D9DDC5129}" type="slidenum">
              <a:rPr lang="zh-TW" altLang="en-US" smtClean="0"/>
              <a:t>‹#›</a:t>
            </a:fld>
            <a:endParaRPr lang="zh-TW" altLang="en-US"/>
          </a:p>
        </p:txBody>
      </p:sp>
    </p:spTree>
    <p:extLst>
      <p:ext uri="{BB962C8B-B14F-4D97-AF65-F5344CB8AC3E}">
        <p14:creationId xmlns:p14="http://schemas.microsoft.com/office/powerpoint/2010/main" val="2820600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智慧農場把 LEO 的 changing-service-window trace 映射成閘道可用時段。queue age 來自排隊事件，單位是 elapsed time；它用來判讀批次等待與資料新鮮度。urgent margin 來自 policy constant，單位是秒；它決定告警何時取得優先送出機會。service gate 讀取 required delivery 與 freshness，endpoint J 只描述宣告的端點邊界。農場現場 KPI 待補，這裡保存的是可檢驗的 transfer hypothesis。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ns2:creationId val="3000000001"/>
      </p:ext>
    </p:extLst>
  </p:cSld>
  <p:clrMapOvr>
    <a:masterClrMapping/>
  </p:clrMapOvr>
</p:notes>
</file>

<file path=ppt/notesSlides/notesSlide2.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HVAC 的低負載或可連線時段可作為 changing-service-window trace。normal telemetry 進入 queue 後可以等待 batch flush；urgent alarm 以 deadline 與 freshness 取得較早的 SEND_URGENT 機會。endpoint ledger 分解 awake idle、wake、process、TX、RX 與 sleep，單位是 J；service gate 先描述告警完成與 freshness，再描述能量取捨。HVAC 現場資料待補，畫面只保留機制映射。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ns2:creationId val="3000000010"/>
      </p:ext>
    </p:extLst>
  </p:cSld>
  <p:clrMapOvr>
    <a:masterClrMapping/>
  </p:clrMapOvr>
</p:notes>
</file>

<file path=ppt/notesSlides/notesSlide3.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edge device 的 observation 讀取 queue、deadline、quality 與可用窗口，來源是 endpoint trace。policy action 是 enum，作用是選擇 WAIT、SLEEP、SEND_URGENT 或 FLUSH_BATCH。event ledger 以 state、packet 與 service event 連接 action 與 endpoint J；J 的單位是焦耳，只屬於宣告的 endpoint scope。轉移假說必須保留一個 held-out condition，例如窗口縮短或 traffic 增加，作為可推翻條件。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ns2:creationId val="3000000011"/>
      </p:ext>
    </p:extLst>
  </p:cSld>
  <p:clrMapOvr>
    <a:masterClrMapping/>
  </p:clrMapOvr>
</p:notes>
</file>

<file path=ppt/notesSlides/notesSlide4.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離開 Lab C 時保存的是可重跑、可回放、可比較的 policy hypothesis。workbook record 連結 condition、policy branch、event evidence、service gate、endpoint scope 與 claim boundary；每個欄位的來源與 identity 都要保留。transfer 的現場能量與服務 KPI 待補，不能把模擬結果外推成 live measurement。若需要 fresh run，先保存目前 lineage，再依核准流程建立新的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ns2:creationId val="3000000012"/>
      </p:ext>
    </p:extLst>
  </p:cSld>
  <p:clrMapOvr>
    <a:masterClrMapping/>
  </p:clrMapOvr>
</p:notes>
</file>

<file path=ppt/notesSlides/notesSlide5.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browser session 的 identifier-free metrics crop 可用來讀取 endpoint summary；source header crop 目前待補，因此來源身份以文字 record 明示。actual upload 與 same-scenario fallback 分開保存，case、role、service 與 source 是比較前的 identity 欄位。匯入 gate 讀取 schema、scenario identity、units、policy lineage 與 provenance；通過後才更新 replay 與 workbook。fallback 只作同情境教學資料，不能改寫本機 runner receipt。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ns2:creationId val="3000000013"/>
      </p:ext>
    </p:extLst>
  </p:cSld>
  <p:clrMapOvr>
    <a:masterClrMapping/>
  </p:clrMapOvr>
</p:notes>
</file>

<file path=ppt/notesSlides/notesSlide6.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這張 identifier-free metrics crop 目前顯示 service FAIL、endpoint energy 6.92 J、delivered data 4800 bit 與 endpoint bit/J 693.641618。服務欄位來自 accepted endpoint teaching record，FAIL 是 gate verdict；delivered data 的單位是 bit，描述資料完成量；endpoint energy 的單位是 J，描述端點邊界累積能量；bit/J 是 efficiency ratio。閱讀順序是 service、delivery、endpoint J、bit/J，因此較高的效率數字不能改寫服務失敗。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ns2:creationId val="3000000014"/>
      </p:ext>
    </p:extLst>
  </p:cSld>
  <p:clrMapOvr>
    <a:masterClrMapping/>
  </p:clrMapOvr>
</p:notes>
</file>

<file path=ppt/notesSlides/notesSlide7.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identifier-free replay-frame crop 顯示 endpoint frame selector 與八個欄位。Radio 來自 endpoint state ledger，值是 state enum；Action 來自 policy API，值是 action enum；queue count 來自 frame queue，單位是 packet count；累積 endpoint energy 來自 endpoint ledger，單位是 J。Elapsed 來自 endpoint trace，單位是時間；Contact ID 是 contact trace 的字串識別碼；Contact 是 contact event 的開啟或關閉狀態；Quality 來自 runner quality trace，是 ordinal quality_band 分類，不換算成 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ns2:creationId val="3000000015"/>
      </p:ext>
    </p:extLst>
  </p:cSld>
  <p:clrMapOvr>
    <a:masterClrMapping/>
  </p:clrMapOvr>
</p:notes>
</file>

<file path=ppt/notesSlides/notesSlide8.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queue item 來自目前 endpoint frame，描述仍待處理的工作；packet event 來自 event ledger，描述該 frame 的事件類型與 identity。current clean crop 沒有包含 queue/event 區塊，因此該 panel 標示待補，事件讀法以可編輯 trace 呈現。沿生成、入列、attempt、retry、delivered 或 expired 的順序回到 service 與 deadline。queue 變空只是狀態變化，delivery 必須由 delivered event 或相應 service record 支持。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ns2:creationId val="3000000016"/>
      </p:ext>
    </p:extLst>
  </p:cSld>
  <p:clrMapOvr>
    <a:masterClrMapping/>
  </p:clrMapOvr>
</p:notes>
</file>

<file path=ppt/notesSlides/notesSlide9.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radio/contact timeline 的來源是 endpoint frame sequence；它用 elapsed、contact、quality、radio state 與 action 排列 transition。timeline 的格子描述事件順序，不描述連續功率。每個 transition 對回 student_policy.py 的 contact、urgent、pacing、batch 或 wait branch；Action 顯示當前 policy decision，Radio 顯示 state interval。current timeline crop 待補，畫面以可編輯 transition strip 與 branch map 保存判讀方法。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ns2:creationId val="3000000017"/>
      </p:ext>
    </p:extLst>
  </p:cSld>
  <p:clrMapOvr>
    <a:masterClrMapping/>
  </p:clrMapOvr>
</p:notes>
</file>

<file path=ppt/notesSlides/notesSlide10.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identifier-free ledger crop 顯示 experiment/case、display、role、service、endpoint energy J 與 source 六欄。experiment/case 來自 workbook record，role 是 baseline、candidate、revision 或 withheld 的分類；display 只表示目前選取狀態。service 是 gate verdict，endpoint energy 的單位是 J，source 區分 browser record 與 same-scenario fallback。公平比較要核對這些欄位與 run identity，best strategy 由 matched source 與 service gate 定義。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ns2:creationId val="3000000002"/>
      </p:ext>
    </p:extLst>
  </p:cSld>
  <p:clrMapOvr>
    <a:masterClrMapping/>
  </p:clrMapOvr>
</p:notes>
</file>

<file path=ppt/notesSlides/notesSlide11.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provider layer 的來源是 LEO scenario context，欄位包括 TLE source、provider time、contact status、cell、frequency 與 dB；它說明 service opportunity。endpoint layer 的來源是 imported result.json 與 endpoint-replay.json，欄位包括 source、run identity、summary、replay、ledger 與 endpoint scope。兩層各自保留 frame identity 與 provenance；provider context 不會重新計算 endpoint result，endpoint J 也不升格為 system 或 canonical energy。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ns2:creationId val="3000000003"/>
      </p:ext>
    </p:extLst>
  </p:cSld>
  <p:clrMapOvr>
    <a:masterClrMapping/>
  </p:clrMapOvr>
</p:notes>
</file>

<file path=ppt/notesSlides/notesSlide12.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workbook controls 的作用是保存與重開 evidence chain。建立 checkpoint 讀取 prediction、result/replay lineage、source 與 role，寫入可恢復狀態；restore 讀取已保存 checkpoint，成功後更新目前 record。reset/undo 讀寫 browser-local progress；export/reopen 讀寫 workbook lineage 與檔案狀態。驗證失敗時原 workbook 與 progress 維持；0/10 是完成段落計數，不是 service、J 或 bit/J。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ns2:creationId val="3000000004"/>
      </p:ext>
    </p:extLst>
  </p:cSld>
  <p:clrMapOvr>
    <a:masterClrMapping/>
  </p:clrMapOvr>
</p:notes>
</file>

<file path=ppt/notesSlides/notesSlide13.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rejection gate 依序處理 format/schema、identity/lineage 與 immutable duplicate。每個 gate 的來源是 import validator，失敗時原 session、workbook 與既有 record 保持。recovery 只回 matching artifact、release backup 或明示 same-scenario fallback，並保存 recovery note 與新的 result_path。current rejection screenshot 待補；畫面使用可編輯 fork 表達狀態邊界，不手改 JSON、不替換 case identity。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ns2:creationId val="3000000005"/>
      </p:ext>
    </p:extLst>
  </p:cSld>
  <p:clrMapOvr>
    <a:masterClrMapping/>
  </p:clrMapOvr>
</p:notes>
</file>

<file path=ppt/notesSlides/notesSlide14.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READY control 讀取 terminal 的 machine-readable receipt，寫入 browser-local setup status；成功後顯示已就緒，失敗時原 status 保持。記錄備用環境讀取 fallback choice，寫入 browser-local source。terminal runner 負責 setup、verify、run 與 result artifact；browser route 負責記錄狀態與匯入。current Prepare crop 待補，這裡以 editable state split 說明控制項的 read/write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ns2:creationId val="3000000006"/>
      </p:ext>
    </p:extLst>
  </p:cSld>
  <p:clrMapOvr>
    <a:masterClrMapping/>
  </p:clrMapOvr>
</p:notes>
</file>

<file path=ppt/notesSlides/notesSlide15.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導覽控制讀取 navigation state，寫入 focus、language 或 route。直接前往操作區與返回首頁只改 focus；繁中/EN 只改畫面語言；準備、實驗 A/B/C、證據與學習單只切換工作台。fallback loader 讀取 experiment order，寫入 selected fallback；成功後更新 selected source，identity 不符時原 result 保持。current navigation crop 待補，畫面用 editable navigation map 說明責任邊界。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ns2:creationId val="3000000007"/>
      </p:ext>
    </p:extLst>
  </p:cSld>
  <p:clrMapOvr>
    <a:masterClrMapping/>
  </p:clrMapOvr>
</p:notes>
</file>

<file path=ppt/notesSlides/notesSlide16.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controls 讀取目前段落 evidence，寫入 completion 與 lock。Task 1–10 的勾選表示保存完成；檢查證據並繼續檢查該段要求，成功後保存並解鎖下一段；證據已鎖定顯示保存狀態。條件不足時原 task、原 evidence 與原 workbook 保持。current task-control crop 待補，editable staircase 保留可見的段落狀態與控制語義。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ns2:creationId val="3000000008"/>
      </p:ext>
    </p:extLst>
  </p:cSld>
  <p:clrMapOvr>
    <a:masterClrMapping/>
  </p:clrMapOvr>
</p:notes>
</file>

<file path=ppt/notesSlides/notesSlide17.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provider replay controls 讀取 provider frame sequence，寫入 playback cursor；播放、暫停、slider、上一畫面與下一個畫面只改 provider cursor。endpoint selector 讀取 endpoint frame sequence，寫入 selected frame，成功後更新八個欄位、queue 與 event。兩層 frame identity 各自保存；provider frame 移動不會自動改寫 endpoint Action。current provider control crop 待補，identifier-free endpoint frame crop 用來示範獨立 selector。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ns2:creationId val="300000000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pic>
        <p:nvPicPr>
          <p:cNvPr id="13" name="圖片 12">
            <a:extLst>
              <a:ext uri="{FF2B5EF4-FFF2-40B4-BE49-F238E27FC236}">
                <a16:creationId xmlns:a16="http://schemas.microsoft.com/office/drawing/2014/main" id="{805DCD4E-0403-46F3-858B-5BF02EA5CC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Line 12">
            <a:extLst>
              <a:ext uri="{FF2B5EF4-FFF2-40B4-BE49-F238E27FC236}">
                <a16:creationId xmlns:a16="http://schemas.microsoft.com/office/drawing/2014/main" id="{C41B0D54-DF44-4127-9A39-B15ADA472D5D}"/>
              </a:ext>
            </a:extLst>
          </p:cNvPr>
          <p:cNvSpPr>
            <a:spLocks noChangeShapeType="1"/>
          </p:cNvSpPr>
          <p:nvPr/>
        </p:nvSpPr>
        <p:spPr bwMode="auto">
          <a:xfrm>
            <a:off x="1001184" y="2312353"/>
            <a:ext cx="0" cy="7620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TW" altLang="en-US" sz="2000" baseline="0">
              <a:latin typeface="Times New Roman" panose="02020603050405020304" pitchFamily="18" charset="0"/>
              <a:ea typeface="標楷體" panose="03000509000000000000" pitchFamily="65" charset="-120"/>
            </a:endParaRPr>
          </a:p>
        </p:txBody>
      </p:sp>
      <p:sp>
        <p:nvSpPr>
          <p:cNvPr id="5" name="Line 13">
            <a:extLst>
              <a:ext uri="{FF2B5EF4-FFF2-40B4-BE49-F238E27FC236}">
                <a16:creationId xmlns:a16="http://schemas.microsoft.com/office/drawing/2014/main" id="{B2658828-45E5-4D11-9E76-B8625DD6F827}"/>
              </a:ext>
            </a:extLst>
          </p:cNvPr>
          <p:cNvSpPr>
            <a:spLocks noChangeShapeType="1"/>
          </p:cNvSpPr>
          <p:nvPr/>
        </p:nvSpPr>
        <p:spPr bwMode="auto">
          <a:xfrm>
            <a:off x="683685" y="2844165"/>
            <a:ext cx="10943167" cy="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TW" altLang="en-US" sz="2000" baseline="0">
              <a:latin typeface="Times New Roman" panose="02020603050405020304" pitchFamily="18" charset="0"/>
              <a:ea typeface="標楷體" panose="03000509000000000000" pitchFamily="65" charset="-120"/>
            </a:endParaRPr>
          </a:p>
        </p:txBody>
      </p:sp>
      <p:sp>
        <p:nvSpPr>
          <p:cNvPr id="149508" name="Rectangle 4"/>
          <p:cNvSpPr>
            <a:spLocks noGrp="1" noChangeArrowheads="1"/>
          </p:cNvSpPr>
          <p:nvPr>
            <p:ph type="ctrTitle"/>
          </p:nvPr>
        </p:nvSpPr>
        <p:spPr>
          <a:xfrm>
            <a:off x="1132417" y="1581209"/>
            <a:ext cx="10363200" cy="1143000"/>
          </a:xfrm>
        </p:spPr>
        <p:txBody>
          <a:bodyPr/>
          <a:lstStyle>
            <a:lvl1pPr>
              <a:defRPr sz="3200" b="0" baseline="0">
                <a:solidFill>
                  <a:schemeClr val="tx1"/>
                </a:solidFill>
                <a:latin typeface="Times New Roman" panose="02020603050405020304" pitchFamily="18" charset="0"/>
                <a:ea typeface="標楷體" panose="03000509000000000000" pitchFamily="65" charset="-120"/>
              </a:defRPr>
            </a:lvl1pPr>
          </a:lstStyle>
          <a:p>
            <a:r>
              <a:rPr lang="zh-TW" altLang="en-US"/>
              <a:t>按一下以編輯母片標題樣式</a:t>
            </a:r>
            <a:endParaRPr lang="de-DE"/>
          </a:p>
        </p:txBody>
      </p:sp>
      <p:sp>
        <p:nvSpPr>
          <p:cNvPr id="149509" name="Rectangle 5"/>
          <p:cNvSpPr>
            <a:spLocks noGrp="1" noChangeArrowheads="1"/>
          </p:cNvSpPr>
          <p:nvPr>
            <p:ph type="subTitle" idx="1"/>
          </p:nvPr>
        </p:nvSpPr>
        <p:spPr>
          <a:xfrm>
            <a:off x="1780117" y="2935777"/>
            <a:ext cx="8534400" cy="1438103"/>
          </a:xfrm>
        </p:spPr>
        <p:txBody>
          <a:bodyPr/>
          <a:lstStyle>
            <a:lvl1pPr marL="0" indent="0" algn="ctr">
              <a:buFont typeface="Symbol" pitchFamily="18" charset="2"/>
              <a:buNone/>
              <a:defRPr sz="2800" baseline="0">
                <a:latin typeface="Times New Roman" panose="02020603050405020304" pitchFamily="18" charset="0"/>
                <a:ea typeface="標楷體" panose="03000509000000000000" pitchFamily="65" charset="-120"/>
              </a:defRPr>
            </a:lvl1pPr>
          </a:lstStyle>
          <a:p>
            <a:r>
              <a:rPr lang="zh-TW" altLang="en-US"/>
              <a:t>按一下以編輯母片副標題樣式</a:t>
            </a:r>
            <a:endParaRPr lang="de-DE" dirty="0"/>
          </a:p>
        </p:txBody>
      </p:sp>
      <p:sp>
        <p:nvSpPr>
          <p:cNvPr id="10" name="Rectangle 28">
            <a:extLst>
              <a:ext uri="{FF2B5EF4-FFF2-40B4-BE49-F238E27FC236}">
                <a16:creationId xmlns:a16="http://schemas.microsoft.com/office/drawing/2014/main" id="{8B435778-36B6-470A-939D-7E55FA1407F8}"/>
              </a:ext>
            </a:extLst>
          </p:cNvPr>
          <p:cNvSpPr txBox="1">
            <a:spLocks noChangeArrowheads="1"/>
          </p:cNvSpPr>
          <p:nvPr/>
        </p:nvSpPr>
        <p:spPr bwMode="auto">
          <a:xfrm>
            <a:off x="10934700" y="6340475"/>
            <a:ext cx="889000" cy="47625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kumimoji="0" sz="1400" kern="1200">
                <a:solidFill>
                  <a:schemeClr val="tx1"/>
                </a:solidFill>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umimoji="1" sz="2000" kern="1200">
                <a:solidFill>
                  <a:schemeClr val="tx1"/>
                </a:solidFill>
                <a:latin typeface="Arial" panose="020B0604020202020204" pitchFamily="34" charset="0"/>
                <a:ea typeface="新細明體" panose="02020500000000000000" pitchFamily="18" charset="-120"/>
                <a:cs typeface="+mn-cs"/>
              </a:defRPr>
            </a:lvl2pPr>
            <a:lvl3pPr marL="914400" algn="l" rtl="0" eaLnBrk="0" fontAlgn="base" hangingPunct="0">
              <a:spcBef>
                <a:spcPct val="0"/>
              </a:spcBef>
              <a:spcAft>
                <a:spcPct val="0"/>
              </a:spcAft>
              <a:defRPr kumimoji="1" sz="2000" kern="1200">
                <a:solidFill>
                  <a:schemeClr val="tx1"/>
                </a:solidFill>
                <a:latin typeface="Arial" panose="020B0604020202020204" pitchFamily="34" charset="0"/>
                <a:ea typeface="新細明體" panose="02020500000000000000" pitchFamily="18" charset="-120"/>
                <a:cs typeface="+mn-cs"/>
              </a:defRPr>
            </a:lvl3pPr>
            <a:lvl4pPr marL="1371600" algn="l" rtl="0" eaLnBrk="0" fontAlgn="base" hangingPunct="0">
              <a:spcBef>
                <a:spcPct val="0"/>
              </a:spcBef>
              <a:spcAft>
                <a:spcPct val="0"/>
              </a:spcAft>
              <a:defRPr kumimoji="1" sz="2000" kern="1200">
                <a:solidFill>
                  <a:schemeClr val="tx1"/>
                </a:solidFill>
                <a:latin typeface="Arial" panose="020B0604020202020204" pitchFamily="34" charset="0"/>
                <a:ea typeface="新細明體" panose="02020500000000000000" pitchFamily="18" charset="-120"/>
                <a:cs typeface="+mn-cs"/>
              </a:defRPr>
            </a:lvl4pPr>
            <a:lvl5pPr marL="1828800" algn="l" rtl="0" eaLnBrk="0" fontAlgn="base" hangingPunct="0">
              <a:spcBef>
                <a:spcPct val="0"/>
              </a:spcBef>
              <a:spcAft>
                <a:spcPct val="0"/>
              </a:spcAft>
              <a:defRPr kumimoji="1" sz="2000" kern="1200">
                <a:solidFill>
                  <a:schemeClr val="tx1"/>
                </a:solidFill>
                <a:latin typeface="Arial" panose="020B0604020202020204" pitchFamily="34" charset="0"/>
                <a:ea typeface="新細明體" panose="02020500000000000000" pitchFamily="18" charset="-120"/>
                <a:cs typeface="+mn-cs"/>
              </a:defRPr>
            </a:lvl5pPr>
            <a:lvl6pPr marL="2286000" algn="l" defTabSz="914400" rtl="0" eaLnBrk="1" latinLnBrk="0" hangingPunct="1">
              <a:defRPr kumimoji="1" sz="2000" kern="1200">
                <a:solidFill>
                  <a:schemeClr val="tx1"/>
                </a:solidFill>
                <a:latin typeface="Arial" panose="020B0604020202020204" pitchFamily="34" charset="0"/>
                <a:ea typeface="新細明體" panose="02020500000000000000" pitchFamily="18" charset="-120"/>
                <a:cs typeface="+mn-cs"/>
              </a:defRPr>
            </a:lvl6pPr>
            <a:lvl7pPr marL="2743200" algn="l" defTabSz="914400" rtl="0" eaLnBrk="1" latinLnBrk="0" hangingPunct="1">
              <a:defRPr kumimoji="1" sz="2000" kern="1200">
                <a:solidFill>
                  <a:schemeClr val="tx1"/>
                </a:solidFill>
                <a:latin typeface="Arial" panose="020B0604020202020204" pitchFamily="34" charset="0"/>
                <a:ea typeface="新細明體" panose="02020500000000000000" pitchFamily="18" charset="-120"/>
                <a:cs typeface="+mn-cs"/>
              </a:defRPr>
            </a:lvl7pPr>
            <a:lvl8pPr marL="3200400" algn="l" defTabSz="914400" rtl="0" eaLnBrk="1" latinLnBrk="0" hangingPunct="1">
              <a:defRPr kumimoji="1" sz="2000" kern="1200">
                <a:solidFill>
                  <a:schemeClr val="tx1"/>
                </a:solidFill>
                <a:latin typeface="Arial" panose="020B0604020202020204" pitchFamily="34" charset="0"/>
                <a:ea typeface="新細明體" panose="02020500000000000000" pitchFamily="18" charset="-120"/>
                <a:cs typeface="+mn-cs"/>
              </a:defRPr>
            </a:lvl8pPr>
            <a:lvl9pPr marL="3657600" algn="l" defTabSz="914400" rtl="0" eaLnBrk="1" latinLnBrk="0" hangingPunct="1">
              <a:defRPr kumimoji="1" sz="2000" kern="1200">
                <a:solidFill>
                  <a:schemeClr val="tx1"/>
                </a:solidFill>
                <a:latin typeface="Arial" panose="020B0604020202020204" pitchFamily="34" charset="0"/>
                <a:ea typeface="新細明體" panose="02020500000000000000" pitchFamily="18" charset="-120"/>
                <a:cs typeface="+mn-cs"/>
              </a:defRPr>
            </a:lvl9pPr>
          </a:lstStyle>
          <a:p>
            <a:pPr>
              <a:defRPr/>
            </a:pPr>
            <a:fld id="{69B0E891-B98C-44D2-AD8F-C733BD4A6D71}" type="slidenum">
              <a:rPr lang="zh-TW" altLang="en-US" sz="1400" baseline="0" smtClean="0">
                <a:latin typeface="Times New Roman" panose="02020603050405020304" pitchFamily="18" charset="0"/>
                <a:ea typeface="標楷體" panose="03000509000000000000" pitchFamily="65" charset="-120"/>
              </a:rPr>
              <a:pPr>
                <a:defRPr/>
              </a:pPr>
              <a:t>‹#›</a:t>
            </a:fld>
            <a:endParaRPr lang="en-US" altLang="zh-TW" sz="1400" baseline="0" dirty="0">
              <a:latin typeface="Times New Roman" panose="02020603050405020304" pitchFamily="18" charset="0"/>
              <a:ea typeface="標楷體" panose="03000509000000000000" pitchFamily="65" charset="-120"/>
            </a:endParaRPr>
          </a:p>
        </p:txBody>
      </p:sp>
      <p:pic>
        <p:nvPicPr>
          <p:cNvPr id="11" name="圖片 10">
            <a:extLst>
              <a:ext uri="{FF2B5EF4-FFF2-40B4-BE49-F238E27FC236}">
                <a16:creationId xmlns:a16="http://schemas.microsoft.com/office/drawing/2014/main" id="{7F80F928-0BFD-43F3-B309-F20FD4B2E042}"/>
              </a:ext>
            </a:extLst>
          </p:cNvPr>
          <p:cNvPicPr>
            <a:picLocks noChangeAspect="1"/>
          </p:cNvPicPr>
          <p:nvPr userDrawn="1"/>
        </p:nvPicPr>
        <p:blipFill>
          <a:blip r:embed="rId3"/>
          <a:stretch>
            <a:fillRect/>
          </a:stretch>
        </p:blipFill>
        <p:spPr>
          <a:xfrm>
            <a:off x="0" y="6113509"/>
            <a:ext cx="12192000" cy="216208"/>
          </a:xfrm>
          <a:prstGeom prst="rect">
            <a:avLst/>
          </a:prstGeom>
        </p:spPr>
      </p:pic>
      <p:pic>
        <p:nvPicPr>
          <p:cNvPr id="12" name="圖片 11">
            <a:extLst>
              <a:ext uri="{FF2B5EF4-FFF2-40B4-BE49-F238E27FC236}">
                <a16:creationId xmlns:a16="http://schemas.microsoft.com/office/drawing/2014/main" id="{4DFD7906-056A-47BA-A5D9-39A4EA473B57}"/>
              </a:ext>
            </a:extLst>
          </p:cNvPr>
          <p:cNvPicPr>
            <a:picLocks noChangeAspect="1"/>
          </p:cNvPicPr>
          <p:nvPr userDrawn="1"/>
        </p:nvPicPr>
        <p:blipFill>
          <a:blip r:embed="rId4"/>
          <a:stretch>
            <a:fillRect/>
          </a:stretch>
        </p:blipFill>
        <p:spPr>
          <a:xfrm>
            <a:off x="9875182" y="0"/>
            <a:ext cx="2265448" cy="323636"/>
          </a:xfrm>
          <a:prstGeom prst="rect">
            <a:avLst/>
          </a:prstGeom>
        </p:spPr>
      </p:pic>
    </p:spTree>
    <p:extLst>
      <p:ext uri="{BB962C8B-B14F-4D97-AF65-F5344CB8AC3E}">
        <p14:creationId xmlns:p14="http://schemas.microsoft.com/office/powerpoint/2010/main" val="37332835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5" name="Rectangle 28">
            <a:extLst>
              <a:ext uri="{FF2B5EF4-FFF2-40B4-BE49-F238E27FC236}">
                <a16:creationId xmlns:a16="http://schemas.microsoft.com/office/drawing/2014/main" id="{46B19FCD-9041-49CE-B2A7-94FA63606CE8}"/>
              </a:ext>
            </a:extLst>
          </p:cNvPr>
          <p:cNvSpPr txBox="1">
            <a:spLocks noChangeArrowheads="1"/>
          </p:cNvSpPr>
          <p:nvPr/>
        </p:nvSpPr>
        <p:spPr bwMode="auto">
          <a:xfrm>
            <a:off x="10934700" y="6340475"/>
            <a:ext cx="889000" cy="47625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kumimoji="0" sz="1400" kern="1200">
                <a:solidFill>
                  <a:schemeClr val="tx1"/>
                </a:solidFill>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umimoji="1" sz="2000" kern="1200">
                <a:solidFill>
                  <a:schemeClr val="tx1"/>
                </a:solidFill>
                <a:latin typeface="Arial" panose="020B0604020202020204" pitchFamily="34" charset="0"/>
                <a:ea typeface="新細明體" panose="02020500000000000000" pitchFamily="18" charset="-120"/>
                <a:cs typeface="+mn-cs"/>
              </a:defRPr>
            </a:lvl2pPr>
            <a:lvl3pPr marL="914400" algn="l" rtl="0" eaLnBrk="0" fontAlgn="base" hangingPunct="0">
              <a:spcBef>
                <a:spcPct val="0"/>
              </a:spcBef>
              <a:spcAft>
                <a:spcPct val="0"/>
              </a:spcAft>
              <a:defRPr kumimoji="1" sz="2000" kern="1200">
                <a:solidFill>
                  <a:schemeClr val="tx1"/>
                </a:solidFill>
                <a:latin typeface="Arial" panose="020B0604020202020204" pitchFamily="34" charset="0"/>
                <a:ea typeface="新細明體" panose="02020500000000000000" pitchFamily="18" charset="-120"/>
                <a:cs typeface="+mn-cs"/>
              </a:defRPr>
            </a:lvl3pPr>
            <a:lvl4pPr marL="1371600" algn="l" rtl="0" eaLnBrk="0" fontAlgn="base" hangingPunct="0">
              <a:spcBef>
                <a:spcPct val="0"/>
              </a:spcBef>
              <a:spcAft>
                <a:spcPct val="0"/>
              </a:spcAft>
              <a:defRPr kumimoji="1" sz="2000" kern="1200">
                <a:solidFill>
                  <a:schemeClr val="tx1"/>
                </a:solidFill>
                <a:latin typeface="Arial" panose="020B0604020202020204" pitchFamily="34" charset="0"/>
                <a:ea typeface="新細明體" panose="02020500000000000000" pitchFamily="18" charset="-120"/>
                <a:cs typeface="+mn-cs"/>
              </a:defRPr>
            </a:lvl4pPr>
            <a:lvl5pPr marL="1828800" algn="l" rtl="0" eaLnBrk="0" fontAlgn="base" hangingPunct="0">
              <a:spcBef>
                <a:spcPct val="0"/>
              </a:spcBef>
              <a:spcAft>
                <a:spcPct val="0"/>
              </a:spcAft>
              <a:defRPr kumimoji="1" sz="2000" kern="1200">
                <a:solidFill>
                  <a:schemeClr val="tx1"/>
                </a:solidFill>
                <a:latin typeface="Arial" panose="020B0604020202020204" pitchFamily="34" charset="0"/>
                <a:ea typeface="新細明體" panose="02020500000000000000" pitchFamily="18" charset="-120"/>
                <a:cs typeface="+mn-cs"/>
              </a:defRPr>
            </a:lvl5pPr>
            <a:lvl6pPr marL="2286000" algn="l" defTabSz="914400" rtl="0" eaLnBrk="1" latinLnBrk="0" hangingPunct="1">
              <a:defRPr kumimoji="1" sz="2000" kern="1200">
                <a:solidFill>
                  <a:schemeClr val="tx1"/>
                </a:solidFill>
                <a:latin typeface="Arial" panose="020B0604020202020204" pitchFamily="34" charset="0"/>
                <a:ea typeface="新細明體" panose="02020500000000000000" pitchFamily="18" charset="-120"/>
                <a:cs typeface="+mn-cs"/>
              </a:defRPr>
            </a:lvl6pPr>
            <a:lvl7pPr marL="2743200" algn="l" defTabSz="914400" rtl="0" eaLnBrk="1" latinLnBrk="0" hangingPunct="1">
              <a:defRPr kumimoji="1" sz="2000" kern="1200">
                <a:solidFill>
                  <a:schemeClr val="tx1"/>
                </a:solidFill>
                <a:latin typeface="Arial" panose="020B0604020202020204" pitchFamily="34" charset="0"/>
                <a:ea typeface="新細明體" panose="02020500000000000000" pitchFamily="18" charset="-120"/>
                <a:cs typeface="+mn-cs"/>
              </a:defRPr>
            </a:lvl7pPr>
            <a:lvl8pPr marL="3200400" algn="l" defTabSz="914400" rtl="0" eaLnBrk="1" latinLnBrk="0" hangingPunct="1">
              <a:defRPr kumimoji="1" sz="2000" kern="1200">
                <a:solidFill>
                  <a:schemeClr val="tx1"/>
                </a:solidFill>
                <a:latin typeface="Arial" panose="020B0604020202020204" pitchFamily="34" charset="0"/>
                <a:ea typeface="新細明體" panose="02020500000000000000" pitchFamily="18" charset="-120"/>
                <a:cs typeface="+mn-cs"/>
              </a:defRPr>
            </a:lvl8pPr>
            <a:lvl9pPr marL="3657600" algn="l" defTabSz="914400" rtl="0" eaLnBrk="1" latinLnBrk="0" hangingPunct="1">
              <a:defRPr kumimoji="1" sz="2000" kern="1200">
                <a:solidFill>
                  <a:schemeClr val="tx1"/>
                </a:solidFill>
                <a:latin typeface="Arial" panose="020B0604020202020204" pitchFamily="34" charset="0"/>
                <a:ea typeface="新細明體" panose="02020500000000000000" pitchFamily="18" charset="-120"/>
                <a:cs typeface="+mn-cs"/>
              </a:defRPr>
            </a:lvl9pPr>
          </a:lstStyle>
          <a:p>
            <a:pPr>
              <a:defRPr/>
            </a:pPr>
            <a:fld id="{69B0E891-B98C-44D2-AD8F-C733BD4A6D71}" type="slidenum">
              <a:rPr lang="zh-TW" altLang="en-US" sz="1400" baseline="0" smtClean="0">
                <a:latin typeface="Times New Roman" panose="02020603050405020304" pitchFamily="18" charset="0"/>
                <a:ea typeface="標楷體" panose="03000509000000000000" pitchFamily="65" charset="-120"/>
              </a:rPr>
              <a:pPr>
                <a:defRPr/>
              </a:pPr>
              <a:t>‹#›</a:t>
            </a:fld>
            <a:endParaRPr lang="en-US" altLang="zh-TW" sz="1400" baseline="0" dirty="0">
              <a:latin typeface="Times New Roman" panose="02020603050405020304" pitchFamily="18" charset="0"/>
              <a:ea typeface="標楷體" panose="03000509000000000000" pitchFamily="65" charset="-120"/>
            </a:endParaRPr>
          </a:p>
        </p:txBody>
      </p:sp>
      <p:sp>
        <p:nvSpPr>
          <p:cNvPr id="2" name="標題 1"/>
          <p:cNvSpPr>
            <a:spLocks noGrp="1"/>
          </p:cNvSpPr>
          <p:nvPr>
            <p:ph type="title"/>
          </p:nvPr>
        </p:nvSpPr>
        <p:spPr/>
        <p:txBody>
          <a:bodyPr/>
          <a:lstStyle>
            <a:lvl1pPr>
              <a:defRPr sz="3200" baseline="0">
                <a:latin typeface="Times New Roman" panose="02020603050405020304" pitchFamily="18" charset="0"/>
                <a:ea typeface="標楷體" panose="03000509000000000000" pitchFamily="65" charset="-120"/>
              </a:defRPr>
            </a:lvl1pPr>
          </a:lstStyle>
          <a:p>
            <a:r>
              <a:rPr lang="zh-TW" altLang="en-US" dirty="0"/>
              <a:t>按一下以編輯母片標題樣式</a:t>
            </a:r>
          </a:p>
        </p:txBody>
      </p:sp>
      <p:sp>
        <p:nvSpPr>
          <p:cNvPr id="3" name="內容版面配置區 2"/>
          <p:cNvSpPr>
            <a:spLocks noGrp="1"/>
          </p:cNvSpPr>
          <p:nvPr>
            <p:ph idx="1"/>
          </p:nvPr>
        </p:nvSpPr>
        <p:spPr/>
        <p:txBody>
          <a:bodyPr/>
          <a:lstStyle>
            <a:lvl1pPr>
              <a:defRPr sz="2800" baseline="0">
                <a:latin typeface="Times New Roman" panose="02020603050405020304" pitchFamily="18" charset="0"/>
                <a:ea typeface="標楷體" panose="03000509000000000000" pitchFamily="65" charset="-120"/>
              </a:defRPr>
            </a:lvl1pPr>
            <a:lvl2pPr>
              <a:defRPr sz="2400" baseline="0">
                <a:latin typeface="Times New Roman" panose="02020603050405020304" pitchFamily="18" charset="0"/>
                <a:ea typeface="標楷體" panose="03000509000000000000" pitchFamily="65" charset="-120"/>
              </a:defRPr>
            </a:lvl2pPr>
            <a:lvl3pPr>
              <a:defRPr sz="2200" baseline="0">
                <a:latin typeface="Times New Roman" panose="02020603050405020304" pitchFamily="18" charset="0"/>
                <a:ea typeface="標楷體" panose="03000509000000000000" pitchFamily="65" charset="-120"/>
              </a:defRPr>
            </a:lvl3pPr>
            <a:lvl4pPr>
              <a:defRPr sz="2000" baseline="0">
                <a:latin typeface="Times New Roman" panose="02020603050405020304" pitchFamily="18" charset="0"/>
                <a:ea typeface="標楷體" panose="03000509000000000000" pitchFamily="65" charset="-120"/>
              </a:defRPr>
            </a:lvl4pPr>
            <a:lvl5pPr>
              <a:defRPr sz="2000" baseline="0">
                <a:latin typeface="Times New Roman" panose="02020603050405020304" pitchFamily="18" charset="0"/>
                <a:ea typeface="標楷體" panose="03000509000000000000" pitchFamily="65" charset="-120"/>
              </a:defRPr>
            </a:lvl5p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pic>
        <p:nvPicPr>
          <p:cNvPr id="6" name="圖片 5">
            <a:extLst>
              <a:ext uri="{FF2B5EF4-FFF2-40B4-BE49-F238E27FC236}">
                <a16:creationId xmlns:a16="http://schemas.microsoft.com/office/drawing/2014/main" id="{CB7FDDD4-34FF-4C30-A3FA-0C9DE9C65A82}"/>
              </a:ext>
            </a:extLst>
          </p:cNvPr>
          <p:cNvPicPr>
            <a:picLocks noChangeAspect="1"/>
          </p:cNvPicPr>
          <p:nvPr userDrawn="1"/>
        </p:nvPicPr>
        <p:blipFill>
          <a:blip r:embed="rId2"/>
          <a:stretch>
            <a:fillRect/>
          </a:stretch>
        </p:blipFill>
        <p:spPr>
          <a:xfrm>
            <a:off x="0" y="6121662"/>
            <a:ext cx="12192000" cy="216208"/>
          </a:xfrm>
          <a:prstGeom prst="rect">
            <a:avLst/>
          </a:prstGeom>
        </p:spPr>
      </p:pic>
      <p:pic>
        <p:nvPicPr>
          <p:cNvPr id="8" name="圖片 7">
            <a:extLst>
              <a:ext uri="{FF2B5EF4-FFF2-40B4-BE49-F238E27FC236}">
                <a16:creationId xmlns:a16="http://schemas.microsoft.com/office/drawing/2014/main" id="{7BBD6104-E76A-4DD4-96A1-B5DFE36EE11D}"/>
              </a:ext>
            </a:extLst>
          </p:cNvPr>
          <p:cNvPicPr>
            <a:picLocks noChangeAspect="1"/>
          </p:cNvPicPr>
          <p:nvPr userDrawn="1"/>
        </p:nvPicPr>
        <p:blipFill>
          <a:blip r:embed="rId3"/>
          <a:stretch>
            <a:fillRect/>
          </a:stretch>
        </p:blipFill>
        <p:spPr>
          <a:xfrm>
            <a:off x="10210800" y="0"/>
            <a:ext cx="1981200" cy="283029"/>
          </a:xfrm>
          <a:prstGeom prst="rect">
            <a:avLst/>
          </a:prstGeom>
        </p:spPr>
      </p:pic>
      <p:sp>
        <p:nvSpPr>
          <p:cNvPr id="9" name="內容版面配置區 2">
            <a:extLst>
              <a:ext uri="{FF2B5EF4-FFF2-40B4-BE49-F238E27FC236}">
                <a16:creationId xmlns:a16="http://schemas.microsoft.com/office/drawing/2014/main" id="{6537E7AB-D74C-4DDB-911A-5E4E55C8C56F}"/>
              </a:ext>
            </a:extLst>
          </p:cNvPr>
          <p:cNvSpPr>
            <a:spLocks noGrp="1"/>
          </p:cNvSpPr>
          <p:nvPr>
            <p:ph idx="10" hasCustomPrompt="1"/>
          </p:nvPr>
        </p:nvSpPr>
        <p:spPr>
          <a:xfrm>
            <a:off x="495728" y="6340475"/>
            <a:ext cx="10705672" cy="350555"/>
          </a:xfrm>
        </p:spPr>
        <p:txBody>
          <a:bodyPr/>
          <a:lstStyle>
            <a:lvl1pPr marL="0" indent="0">
              <a:buFontTx/>
              <a:buNone/>
              <a:defRPr sz="1400" baseline="0">
                <a:latin typeface="Times New Roman" panose="02020603050405020304" pitchFamily="18" charset="0"/>
                <a:ea typeface="標楷體" panose="03000509000000000000" pitchFamily="65" charset="-120"/>
              </a:defRPr>
            </a:lvl1pPr>
            <a:lvl2pPr>
              <a:defRPr sz="2400" baseline="0">
                <a:latin typeface="Times New Roman" panose="02020603050405020304" pitchFamily="18" charset="0"/>
                <a:ea typeface="標楷體" panose="03000509000000000000" pitchFamily="65" charset="-120"/>
              </a:defRPr>
            </a:lvl2pPr>
          </a:lstStyle>
          <a:p>
            <a:pPr lvl="0"/>
            <a:r>
              <a:rPr lang="zh-TW" altLang="en-US" dirty="0"/>
              <a:t>編輯母片文字樣式</a:t>
            </a:r>
          </a:p>
        </p:txBody>
      </p:sp>
    </p:spTree>
    <p:extLst>
      <p:ext uri="{BB962C8B-B14F-4D97-AF65-F5344CB8AC3E}">
        <p14:creationId xmlns:p14="http://schemas.microsoft.com/office/powerpoint/2010/main" val="37873401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baseline="0"/>
            </a:lvl1pPr>
          </a:lstStyle>
          <a:p>
            <a:r>
              <a:rPr lang="zh-TW" altLang="en-US"/>
              <a:t>按一下以編輯母片標題樣式</a:t>
            </a:r>
          </a:p>
        </p:txBody>
      </p:sp>
      <p:sp>
        <p:nvSpPr>
          <p:cNvPr id="3" name="內容版面配置區 2"/>
          <p:cNvSpPr>
            <a:spLocks noGrp="1"/>
          </p:cNvSpPr>
          <p:nvPr>
            <p:ph sz="half" idx="1"/>
          </p:nvPr>
        </p:nvSpPr>
        <p:spPr>
          <a:xfrm>
            <a:off x="565152" y="914400"/>
            <a:ext cx="5556249" cy="5191125"/>
          </a:xfrm>
        </p:spPr>
        <p:txBody>
          <a:bodyPr/>
          <a:lstStyle>
            <a:lvl1pPr>
              <a:defRPr sz="2800" baseline="0"/>
            </a:lvl1pPr>
            <a:lvl2pPr>
              <a:defRPr sz="2400" baseline="0"/>
            </a:lvl2pPr>
            <a:lvl3pPr>
              <a:defRPr sz="2000" baseline="0"/>
            </a:lvl3pPr>
            <a:lvl4pPr>
              <a:defRPr sz="1800" baseline="0"/>
            </a:lvl4pPr>
            <a:lvl5pPr>
              <a:defRPr sz="1800" baseline="0"/>
            </a:lvl5pPr>
            <a:lvl6pPr>
              <a:defRPr sz="1800"/>
            </a:lvl6pPr>
            <a:lvl7pPr>
              <a:defRPr sz="1800"/>
            </a:lvl7pPr>
            <a:lvl8pPr>
              <a:defRPr sz="1800"/>
            </a:lvl8pPr>
            <a:lvl9pPr>
              <a:defRPr sz="18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324601" y="914400"/>
            <a:ext cx="5558367" cy="5191125"/>
          </a:xfrm>
        </p:spPr>
        <p:txBody>
          <a:bodyPr/>
          <a:lstStyle>
            <a:lvl1pPr>
              <a:defRPr sz="2800" baseline="0"/>
            </a:lvl1pPr>
            <a:lvl2pPr>
              <a:defRPr sz="2400" baseline="0"/>
            </a:lvl2pPr>
            <a:lvl3pPr>
              <a:defRPr sz="2000" baseline="0"/>
            </a:lvl3pPr>
            <a:lvl4pPr>
              <a:defRPr sz="1800" baseline="0"/>
            </a:lvl4pPr>
            <a:lvl5pPr>
              <a:defRPr sz="1800" baseline="0"/>
            </a:lvl5pPr>
            <a:lvl6pPr>
              <a:defRPr sz="1800"/>
            </a:lvl6pPr>
            <a:lvl7pPr>
              <a:defRPr sz="1800"/>
            </a:lvl7pPr>
            <a:lvl8pPr>
              <a:defRPr sz="1800"/>
            </a:lvl8pPr>
            <a:lvl9pPr>
              <a:defRPr sz="18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Rectangle 28">
            <a:extLst>
              <a:ext uri="{FF2B5EF4-FFF2-40B4-BE49-F238E27FC236}">
                <a16:creationId xmlns:a16="http://schemas.microsoft.com/office/drawing/2014/main" id="{C777D388-01C3-486D-A87C-B924DC57D28F}"/>
              </a:ext>
            </a:extLst>
          </p:cNvPr>
          <p:cNvSpPr>
            <a:spLocks noGrp="1" noChangeArrowheads="1"/>
          </p:cNvSpPr>
          <p:nvPr>
            <p:ph type="sldNum" sz="quarter" idx="10"/>
          </p:nvPr>
        </p:nvSpPr>
        <p:spPr>
          <a:ln/>
        </p:spPr>
        <p:txBody>
          <a:bodyPr/>
          <a:lstStyle>
            <a:lvl1pPr>
              <a:defRPr baseline="0"/>
            </a:lvl1pPr>
          </a:lstStyle>
          <a:p>
            <a:fld id="{45D5892C-9710-48A3-8372-2122A7AD32EA}" type="slidenum">
              <a:rPr lang="zh-TW" altLang="en-US" smtClean="0"/>
              <a:pPr/>
              <a:t>‹#›</a:t>
            </a:fld>
            <a:endParaRPr lang="zh-TW" altLang="en-US"/>
          </a:p>
        </p:txBody>
      </p:sp>
      <p:pic>
        <p:nvPicPr>
          <p:cNvPr id="6" name="圖片 5">
            <a:extLst>
              <a:ext uri="{FF2B5EF4-FFF2-40B4-BE49-F238E27FC236}">
                <a16:creationId xmlns:a16="http://schemas.microsoft.com/office/drawing/2014/main" id="{4D893B48-16BE-E45D-6372-999419BFA527}"/>
              </a:ext>
            </a:extLst>
          </p:cNvPr>
          <p:cNvPicPr>
            <a:picLocks noChangeAspect="1"/>
          </p:cNvPicPr>
          <p:nvPr userDrawn="1"/>
        </p:nvPicPr>
        <p:blipFill>
          <a:blip r:embed="rId2"/>
          <a:stretch>
            <a:fillRect/>
          </a:stretch>
        </p:blipFill>
        <p:spPr>
          <a:xfrm>
            <a:off x="0" y="6116283"/>
            <a:ext cx="12192000" cy="216208"/>
          </a:xfrm>
          <a:prstGeom prst="rect">
            <a:avLst/>
          </a:prstGeom>
        </p:spPr>
      </p:pic>
    </p:spTree>
    <p:extLst>
      <p:ext uri="{BB962C8B-B14F-4D97-AF65-F5344CB8AC3E}">
        <p14:creationId xmlns:p14="http://schemas.microsoft.com/office/powerpoint/2010/main" val="17673081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609600" y="177801"/>
            <a:ext cx="10972800" cy="575732"/>
          </a:xfrm>
        </p:spPr>
        <p:txBody>
          <a:bodyPr/>
          <a:lstStyle>
            <a:lvl1pPr>
              <a:defRPr baseline="0"/>
            </a:lvl1pPr>
          </a:lstStyle>
          <a:p>
            <a:r>
              <a:rPr lang="zh-TW" altLang="en-US"/>
              <a:t>按一下以編輯母片標題樣式</a:t>
            </a:r>
          </a:p>
        </p:txBody>
      </p:sp>
      <p:sp>
        <p:nvSpPr>
          <p:cNvPr id="3" name="文字版面配置區 2"/>
          <p:cNvSpPr>
            <a:spLocks noGrp="1"/>
          </p:cNvSpPr>
          <p:nvPr>
            <p:ph type="body" idx="1"/>
          </p:nvPr>
        </p:nvSpPr>
        <p:spPr>
          <a:xfrm>
            <a:off x="609600" y="1535113"/>
            <a:ext cx="5386917" cy="639762"/>
          </a:xfrm>
        </p:spPr>
        <p:txBody>
          <a:bodyPr anchor="b"/>
          <a:lstStyle>
            <a:lvl1pPr marL="0" indent="0">
              <a:buNone/>
              <a:defRPr sz="2400" b="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609600" y="2174875"/>
            <a:ext cx="5386917" cy="3951288"/>
          </a:xfrm>
        </p:spPr>
        <p:txBody>
          <a:bodyPr/>
          <a:lstStyle>
            <a:lvl1pPr>
              <a:defRPr sz="2400" baseline="0"/>
            </a:lvl1pPr>
            <a:lvl2pPr>
              <a:defRPr sz="2000" baseline="0"/>
            </a:lvl2pPr>
            <a:lvl3pPr>
              <a:defRPr sz="1800" baseline="0"/>
            </a:lvl3pPr>
            <a:lvl4pPr>
              <a:defRPr sz="1600" baseline="0"/>
            </a:lvl4pPr>
            <a:lvl5pPr>
              <a:defRPr sz="1600" baseline="0"/>
            </a:lvl5pPr>
            <a:lvl6pPr>
              <a:defRPr sz="1600"/>
            </a:lvl6pPr>
            <a:lvl7pPr>
              <a:defRPr sz="1600"/>
            </a:lvl7pPr>
            <a:lvl8pPr>
              <a:defRPr sz="1600"/>
            </a:lvl8pPr>
            <a:lvl9pPr>
              <a:defRPr sz="16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93368" y="1535113"/>
            <a:ext cx="5389033" cy="639762"/>
          </a:xfrm>
        </p:spPr>
        <p:txBody>
          <a:bodyPr anchor="b"/>
          <a:lstStyle>
            <a:lvl1pPr marL="0" indent="0">
              <a:buNone/>
              <a:defRPr sz="2400" b="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93368" y="2174875"/>
            <a:ext cx="5389033" cy="3951288"/>
          </a:xfrm>
        </p:spPr>
        <p:txBody>
          <a:bodyPr/>
          <a:lstStyle>
            <a:lvl1pPr>
              <a:defRPr sz="2400" baseline="0"/>
            </a:lvl1pPr>
            <a:lvl2pPr>
              <a:defRPr sz="2000" baseline="0"/>
            </a:lvl2pPr>
            <a:lvl3pPr>
              <a:defRPr sz="1800" baseline="0"/>
            </a:lvl3pPr>
            <a:lvl4pPr>
              <a:defRPr sz="1600" baseline="0"/>
            </a:lvl4pPr>
            <a:lvl5pPr>
              <a:defRPr sz="1600" baseline="0"/>
            </a:lvl5pPr>
            <a:lvl6pPr>
              <a:defRPr sz="1600"/>
            </a:lvl6pPr>
            <a:lvl7pPr>
              <a:defRPr sz="1600"/>
            </a:lvl7pPr>
            <a:lvl8pPr>
              <a:defRPr sz="1600"/>
            </a:lvl8pPr>
            <a:lvl9pPr>
              <a:defRPr sz="16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Rectangle 28">
            <a:extLst>
              <a:ext uri="{FF2B5EF4-FFF2-40B4-BE49-F238E27FC236}">
                <a16:creationId xmlns:a16="http://schemas.microsoft.com/office/drawing/2014/main" id="{B243DEEE-11C0-45AB-B44D-DA0457D58046}"/>
              </a:ext>
            </a:extLst>
          </p:cNvPr>
          <p:cNvSpPr>
            <a:spLocks noGrp="1" noChangeArrowheads="1"/>
          </p:cNvSpPr>
          <p:nvPr>
            <p:ph type="sldNum" sz="quarter" idx="10"/>
          </p:nvPr>
        </p:nvSpPr>
        <p:spPr>
          <a:ln/>
        </p:spPr>
        <p:txBody>
          <a:bodyPr/>
          <a:lstStyle>
            <a:lvl1pPr>
              <a:defRPr baseline="0"/>
            </a:lvl1pPr>
          </a:lstStyle>
          <a:p>
            <a:fld id="{45D5892C-9710-48A3-8372-2122A7AD32EA}" type="slidenum">
              <a:rPr lang="zh-TW" altLang="en-US" smtClean="0"/>
              <a:pPr/>
              <a:t>‹#›</a:t>
            </a:fld>
            <a:endParaRPr lang="zh-TW" altLang="en-US"/>
          </a:p>
        </p:txBody>
      </p:sp>
      <p:pic>
        <p:nvPicPr>
          <p:cNvPr id="8" name="圖片 7">
            <a:extLst>
              <a:ext uri="{FF2B5EF4-FFF2-40B4-BE49-F238E27FC236}">
                <a16:creationId xmlns:a16="http://schemas.microsoft.com/office/drawing/2014/main" id="{B112EF57-5A2F-97E4-31F4-6B2593170BE7}"/>
              </a:ext>
            </a:extLst>
          </p:cNvPr>
          <p:cNvPicPr>
            <a:picLocks noChangeAspect="1"/>
          </p:cNvPicPr>
          <p:nvPr userDrawn="1"/>
        </p:nvPicPr>
        <p:blipFill>
          <a:blip r:embed="rId2"/>
          <a:stretch>
            <a:fillRect/>
          </a:stretch>
        </p:blipFill>
        <p:spPr>
          <a:xfrm>
            <a:off x="0" y="6116283"/>
            <a:ext cx="12192000" cy="216208"/>
          </a:xfrm>
          <a:prstGeom prst="rect">
            <a:avLst/>
          </a:prstGeom>
        </p:spPr>
      </p:pic>
    </p:spTree>
    <p:extLst>
      <p:ext uri="{BB962C8B-B14F-4D97-AF65-F5344CB8AC3E}">
        <p14:creationId xmlns:p14="http://schemas.microsoft.com/office/powerpoint/2010/main" val="19884284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550333" y="150813"/>
            <a:ext cx="11438467" cy="571500"/>
          </a:xfrm>
        </p:spPr>
        <p:txBody>
          <a:bodyPr/>
          <a:lstStyle/>
          <a:p>
            <a:r>
              <a:rPr lang="zh-TW" altLang="en-US"/>
              <a:t>按一下以編輯母片標題樣式</a:t>
            </a:r>
          </a:p>
        </p:txBody>
      </p:sp>
      <p:sp>
        <p:nvSpPr>
          <p:cNvPr id="3" name="Rectangle 28">
            <a:extLst>
              <a:ext uri="{FF2B5EF4-FFF2-40B4-BE49-F238E27FC236}">
                <a16:creationId xmlns:a16="http://schemas.microsoft.com/office/drawing/2014/main" id="{C39D7682-F964-461A-AAAE-372642E0A382}"/>
              </a:ext>
            </a:extLst>
          </p:cNvPr>
          <p:cNvSpPr>
            <a:spLocks noGrp="1" noChangeArrowheads="1"/>
          </p:cNvSpPr>
          <p:nvPr>
            <p:ph type="sldNum" sz="quarter" idx="10"/>
          </p:nvPr>
        </p:nvSpPr>
        <p:spPr>
          <a:ln/>
        </p:spPr>
        <p:txBody>
          <a:bodyPr/>
          <a:lstStyle>
            <a:lvl1pPr>
              <a:defRPr/>
            </a:lvl1pPr>
          </a:lstStyle>
          <a:p>
            <a:fld id="{45D5892C-9710-48A3-8372-2122A7AD32EA}" type="slidenum">
              <a:rPr lang="zh-TW" altLang="en-US" smtClean="0"/>
              <a:t>‹#›</a:t>
            </a:fld>
            <a:endParaRPr lang="zh-TW" altLang="en-US"/>
          </a:p>
        </p:txBody>
      </p:sp>
      <p:pic>
        <p:nvPicPr>
          <p:cNvPr id="4" name="圖片 3">
            <a:extLst>
              <a:ext uri="{FF2B5EF4-FFF2-40B4-BE49-F238E27FC236}">
                <a16:creationId xmlns:a16="http://schemas.microsoft.com/office/drawing/2014/main" id="{20D15BFF-517B-3F62-F57C-7D32F1722A22}"/>
              </a:ext>
            </a:extLst>
          </p:cNvPr>
          <p:cNvPicPr>
            <a:picLocks noChangeAspect="1"/>
          </p:cNvPicPr>
          <p:nvPr userDrawn="1"/>
        </p:nvPicPr>
        <p:blipFill>
          <a:blip r:embed="rId2"/>
          <a:stretch>
            <a:fillRect/>
          </a:stretch>
        </p:blipFill>
        <p:spPr>
          <a:xfrm>
            <a:off x="0" y="6116283"/>
            <a:ext cx="12192000" cy="216208"/>
          </a:xfrm>
          <a:prstGeom prst="rect">
            <a:avLst/>
          </a:prstGeom>
        </p:spPr>
      </p:pic>
    </p:spTree>
    <p:extLst>
      <p:ext uri="{BB962C8B-B14F-4D97-AF65-F5344CB8AC3E}">
        <p14:creationId xmlns:p14="http://schemas.microsoft.com/office/powerpoint/2010/main" val="2104015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8">
            <a:extLst>
              <a:ext uri="{FF2B5EF4-FFF2-40B4-BE49-F238E27FC236}">
                <a16:creationId xmlns:a16="http://schemas.microsoft.com/office/drawing/2014/main" id="{F27029BD-E6AF-407F-ACA5-95E13AE34ACC}"/>
              </a:ext>
            </a:extLst>
          </p:cNvPr>
          <p:cNvSpPr>
            <a:spLocks noGrp="1" noChangeArrowheads="1"/>
          </p:cNvSpPr>
          <p:nvPr>
            <p:ph type="sldNum" sz="quarter" idx="10"/>
          </p:nvPr>
        </p:nvSpPr>
        <p:spPr>
          <a:ln/>
        </p:spPr>
        <p:txBody>
          <a:bodyPr/>
          <a:lstStyle>
            <a:lvl1pPr>
              <a:defRPr/>
            </a:lvl1pPr>
          </a:lstStyle>
          <a:p>
            <a:fld id="{45D5892C-9710-48A3-8372-2122A7AD32EA}" type="slidenum">
              <a:rPr lang="zh-TW" altLang="en-US" smtClean="0"/>
              <a:t>‹#›</a:t>
            </a:fld>
            <a:endParaRPr lang="zh-TW" altLang="en-US"/>
          </a:p>
        </p:txBody>
      </p:sp>
      <p:pic>
        <p:nvPicPr>
          <p:cNvPr id="3" name="圖片 2">
            <a:extLst>
              <a:ext uri="{FF2B5EF4-FFF2-40B4-BE49-F238E27FC236}">
                <a16:creationId xmlns:a16="http://schemas.microsoft.com/office/drawing/2014/main" id="{76503788-F803-DC83-ED63-88E8F575E8A2}"/>
              </a:ext>
            </a:extLst>
          </p:cNvPr>
          <p:cNvPicPr>
            <a:picLocks noChangeAspect="1"/>
          </p:cNvPicPr>
          <p:nvPr userDrawn="1"/>
        </p:nvPicPr>
        <p:blipFill>
          <a:blip r:embed="rId2"/>
          <a:stretch>
            <a:fillRect/>
          </a:stretch>
        </p:blipFill>
        <p:spPr>
          <a:xfrm>
            <a:off x="0" y="6116283"/>
            <a:ext cx="12192000" cy="216208"/>
          </a:xfrm>
          <a:prstGeom prst="rect">
            <a:avLst/>
          </a:prstGeom>
        </p:spPr>
      </p:pic>
    </p:spTree>
    <p:extLst>
      <p:ext uri="{BB962C8B-B14F-4D97-AF65-F5344CB8AC3E}">
        <p14:creationId xmlns:p14="http://schemas.microsoft.com/office/powerpoint/2010/main" val="19841512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599" y="228601"/>
            <a:ext cx="11356623" cy="505355"/>
          </a:xfrm>
        </p:spPr>
        <p:txBody>
          <a:bodyPr/>
          <a:lstStyle>
            <a:lvl1pPr algn="l">
              <a:defRPr sz="2000" b="1"/>
            </a:lvl1pPr>
          </a:lstStyle>
          <a:p>
            <a:r>
              <a:rPr lang="zh-TW" altLang="en-US"/>
              <a:t>按一下以編輯母片標題樣式</a:t>
            </a:r>
            <a:endParaRPr lang="zh-TW" altLang="en-US" dirty="0"/>
          </a:p>
        </p:txBody>
      </p:sp>
      <p:sp>
        <p:nvSpPr>
          <p:cNvPr id="3" name="內容版面配置區 2"/>
          <p:cNvSpPr>
            <a:spLocks noGrp="1"/>
          </p:cNvSpPr>
          <p:nvPr>
            <p:ph idx="1"/>
          </p:nvPr>
        </p:nvSpPr>
        <p:spPr>
          <a:xfrm>
            <a:off x="4766733" y="948267"/>
            <a:ext cx="7199488" cy="517789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609601" y="948268"/>
            <a:ext cx="4011084" cy="517789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5" name="Rectangle 28">
            <a:extLst>
              <a:ext uri="{FF2B5EF4-FFF2-40B4-BE49-F238E27FC236}">
                <a16:creationId xmlns:a16="http://schemas.microsoft.com/office/drawing/2014/main" id="{E618970D-DD05-4ECF-8733-3A668C35F980}"/>
              </a:ext>
            </a:extLst>
          </p:cNvPr>
          <p:cNvSpPr>
            <a:spLocks noGrp="1" noChangeArrowheads="1"/>
          </p:cNvSpPr>
          <p:nvPr>
            <p:ph type="sldNum" sz="quarter" idx="10"/>
          </p:nvPr>
        </p:nvSpPr>
        <p:spPr>
          <a:ln/>
        </p:spPr>
        <p:txBody>
          <a:bodyPr/>
          <a:lstStyle>
            <a:lvl1pPr>
              <a:defRPr/>
            </a:lvl1pPr>
          </a:lstStyle>
          <a:p>
            <a:fld id="{45D5892C-9710-48A3-8372-2122A7AD32EA}" type="slidenum">
              <a:rPr lang="zh-TW" altLang="en-US" smtClean="0"/>
              <a:t>‹#›</a:t>
            </a:fld>
            <a:endParaRPr lang="zh-TW" altLang="en-US"/>
          </a:p>
        </p:txBody>
      </p:sp>
      <p:pic>
        <p:nvPicPr>
          <p:cNvPr id="6" name="圖片 5">
            <a:extLst>
              <a:ext uri="{FF2B5EF4-FFF2-40B4-BE49-F238E27FC236}">
                <a16:creationId xmlns:a16="http://schemas.microsoft.com/office/drawing/2014/main" id="{50F9C425-8EE6-52EC-F828-4140E6EFA47A}"/>
              </a:ext>
            </a:extLst>
          </p:cNvPr>
          <p:cNvPicPr>
            <a:picLocks noChangeAspect="1"/>
          </p:cNvPicPr>
          <p:nvPr userDrawn="1"/>
        </p:nvPicPr>
        <p:blipFill>
          <a:blip r:embed="rId2"/>
          <a:stretch>
            <a:fillRect/>
          </a:stretch>
        </p:blipFill>
        <p:spPr>
          <a:xfrm>
            <a:off x="0" y="6116283"/>
            <a:ext cx="12192000" cy="216208"/>
          </a:xfrm>
          <a:prstGeom prst="rect">
            <a:avLst/>
          </a:prstGeom>
        </p:spPr>
      </p:pic>
    </p:spTree>
    <p:extLst>
      <p:ext uri="{BB962C8B-B14F-4D97-AF65-F5344CB8AC3E}">
        <p14:creationId xmlns:p14="http://schemas.microsoft.com/office/powerpoint/2010/main" val="14053242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594783" y="135466"/>
            <a:ext cx="11360151" cy="566738"/>
          </a:xfrm>
        </p:spPr>
        <p:txBody>
          <a:bodyPr/>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2389717" y="939800"/>
            <a:ext cx="7315200" cy="37877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TW" altLang="en-US" noProof="0"/>
              <a:t>按一下圖示以新增圖片</a:t>
            </a:r>
          </a:p>
        </p:txBody>
      </p:sp>
      <p:sp>
        <p:nvSpPr>
          <p:cNvPr id="4" name="文字版面配置區 3"/>
          <p:cNvSpPr>
            <a:spLocks noGrp="1"/>
          </p:cNvSpPr>
          <p:nvPr>
            <p:ph type="body" sz="half" idx="2"/>
          </p:nvPr>
        </p:nvSpPr>
        <p:spPr>
          <a:xfrm>
            <a:off x="2389717" y="5028672"/>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5" name="Rectangle 28">
            <a:extLst>
              <a:ext uri="{FF2B5EF4-FFF2-40B4-BE49-F238E27FC236}">
                <a16:creationId xmlns:a16="http://schemas.microsoft.com/office/drawing/2014/main" id="{C45A8477-25E2-4F3E-A2CA-70F6EA99A4A9}"/>
              </a:ext>
            </a:extLst>
          </p:cNvPr>
          <p:cNvSpPr>
            <a:spLocks noGrp="1" noChangeArrowheads="1"/>
          </p:cNvSpPr>
          <p:nvPr>
            <p:ph type="sldNum" sz="quarter" idx="10"/>
          </p:nvPr>
        </p:nvSpPr>
        <p:spPr>
          <a:ln/>
        </p:spPr>
        <p:txBody>
          <a:bodyPr/>
          <a:lstStyle>
            <a:lvl1pPr>
              <a:defRPr/>
            </a:lvl1pPr>
          </a:lstStyle>
          <a:p>
            <a:fld id="{45D5892C-9710-48A3-8372-2122A7AD32EA}" type="slidenum">
              <a:rPr lang="zh-TW" altLang="en-US" smtClean="0"/>
              <a:t>‹#›</a:t>
            </a:fld>
            <a:endParaRPr lang="zh-TW" altLang="en-US"/>
          </a:p>
        </p:txBody>
      </p:sp>
      <p:pic>
        <p:nvPicPr>
          <p:cNvPr id="6" name="圖片 5">
            <a:extLst>
              <a:ext uri="{FF2B5EF4-FFF2-40B4-BE49-F238E27FC236}">
                <a16:creationId xmlns:a16="http://schemas.microsoft.com/office/drawing/2014/main" id="{302888C7-1B6B-55CD-3260-A183B3AD7E30}"/>
              </a:ext>
            </a:extLst>
          </p:cNvPr>
          <p:cNvPicPr>
            <a:picLocks noChangeAspect="1"/>
          </p:cNvPicPr>
          <p:nvPr userDrawn="1"/>
        </p:nvPicPr>
        <p:blipFill>
          <a:blip r:embed="rId2"/>
          <a:stretch>
            <a:fillRect/>
          </a:stretch>
        </p:blipFill>
        <p:spPr>
          <a:xfrm>
            <a:off x="0" y="6116283"/>
            <a:ext cx="12192000" cy="216208"/>
          </a:xfrm>
          <a:prstGeom prst="rect">
            <a:avLst/>
          </a:prstGeom>
        </p:spPr>
      </p:pic>
    </p:spTree>
    <p:extLst>
      <p:ext uri="{BB962C8B-B14F-4D97-AF65-F5344CB8AC3E}">
        <p14:creationId xmlns:p14="http://schemas.microsoft.com/office/powerpoint/2010/main" val="777360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28">
            <a:extLst>
              <a:ext uri="{FF2B5EF4-FFF2-40B4-BE49-F238E27FC236}">
                <a16:creationId xmlns:a16="http://schemas.microsoft.com/office/drawing/2014/main" id="{A425C922-DC02-4EB7-87C5-86932890B28B}"/>
              </a:ext>
            </a:extLst>
          </p:cNvPr>
          <p:cNvSpPr>
            <a:spLocks noGrp="1" noChangeArrowheads="1"/>
          </p:cNvSpPr>
          <p:nvPr>
            <p:ph type="sldNum" sz="quarter" idx="10"/>
          </p:nvPr>
        </p:nvSpPr>
        <p:spPr>
          <a:ln/>
        </p:spPr>
        <p:txBody>
          <a:bodyPr/>
          <a:lstStyle>
            <a:lvl1pPr>
              <a:defRPr/>
            </a:lvl1pPr>
          </a:lstStyle>
          <a:p>
            <a:fld id="{45D5892C-9710-48A3-8372-2122A7AD32EA}" type="slidenum">
              <a:rPr lang="zh-TW" altLang="en-US" smtClean="0"/>
              <a:t>‹#›</a:t>
            </a:fld>
            <a:endParaRPr lang="zh-TW" altLang="en-US"/>
          </a:p>
        </p:txBody>
      </p:sp>
      <p:pic>
        <p:nvPicPr>
          <p:cNvPr id="5" name="圖片 4">
            <a:extLst>
              <a:ext uri="{FF2B5EF4-FFF2-40B4-BE49-F238E27FC236}">
                <a16:creationId xmlns:a16="http://schemas.microsoft.com/office/drawing/2014/main" id="{BE837BF0-9322-459D-EC50-1D7F6B46FE5A}"/>
              </a:ext>
            </a:extLst>
          </p:cNvPr>
          <p:cNvPicPr>
            <a:picLocks noChangeAspect="1"/>
          </p:cNvPicPr>
          <p:nvPr userDrawn="1"/>
        </p:nvPicPr>
        <p:blipFill>
          <a:blip r:embed="rId2"/>
          <a:stretch>
            <a:fillRect/>
          </a:stretch>
        </p:blipFill>
        <p:spPr>
          <a:xfrm>
            <a:off x="0" y="6116283"/>
            <a:ext cx="12192000" cy="216208"/>
          </a:xfrm>
          <a:prstGeom prst="rect">
            <a:avLst/>
          </a:prstGeom>
        </p:spPr>
      </p:pic>
    </p:spTree>
    <p:extLst>
      <p:ext uri="{BB962C8B-B14F-4D97-AF65-F5344CB8AC3E}">
        <p14:creationId xmlns:p14="http://schemas.microsoft.com/office/powerpoint/2010/main" val="2068848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9139063" y="931333"/>
            <a:ext cx="2842683" cy="5174192"/>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550334" y="931333"/>
            <a:ext cx="8329084" cy="5174192"/>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4" name="Rectangle 28">
            <a:extLst>
              <a:ext uri="{FF2B5EF4-FFF2-40B4-BE49-F238E27FC236}">
                <a16:creationId xmlns:a16="http://schemas.microsoft.com/office/drawing/2014/main" id="{42F45190-893E-4A4D-AC70-724C5AF4D211}"/>
              </a:ext>
            </a:extLst>
          </p:cNvPr>
          <p:cNvSpPr>
            <a:spLocks noGrp="1" noChangeArrowheads="1"/>
          </p:cNvSpPr>
          <p:nvPr>
            <p:ph type="sldNum" sz="quarter" idx="10"/>
          </p:nvPr>
        </p:nvSpPr>
        <p:spPr>
          <a:ln/>
        </p:spPr>
        <p:txBody>
          <a:bodyPr/>
          <a:lstStyle>
            <a:lvl1pPr>
              <a:defRPr/>
            </a:lvl1pPr>
          </a:lstStyle>
          <a:p>
            <a:fld id="{45D5892C-9710-48A3-8372-2122A7AD32EA}" type="slidenum">
              <a:rPr lang="zh-TW" altLang="en-US" smtClean="0"/>
              <a:t>‹#›</a:t>
            </a:fld>
            <a:endParaRPr lang="zh-TW" altLang="en-US"/>
          </a:p>
        </p:txBody>
      </p:sp>
      <p:pic>
        <p:nvPicPr>
          <p:cNvPr id="5" name="圖片 4">
            <a:extLst>
              <a:ext uri="{FF2B5EF4-FFF2-40B4-BE49-F238E27FC236}">
                <a16:creationId xmlns:a16="http://schemas.microsoft.com/office/drawing/2014/main" id="{5B2D1CF3-7FC4-BA66-E0BC-42D6639BC533}"/>
              </a:ext>
            </a:extLst>
          </p:cNvPr>
          <p:cNvPicPr>
            <a:picLocks noChangeAspect="1"/>
          </p:cNvPicPr>
          <p:nvPr userDrawn="1"/>
        </p:nvPicPr>
        <p:blipFill>
          <a:blip r:embed="rId2"/>
          <a:stretch>
            <a:fillRect/>
          </a:stretch>
        </p:blipFill>
        <p:spPr>
          <a:xfrm>
            <a:off x="0" y="6116283"/>
            <a:ext cx="12192000" cy="216208"/>
          </a:xfrm>
          <a:prstGeom prst="rect">
            <a:avLst/>
          </a:prstGeom>
        </p:spPr>
      </p:pic>
    </p:spTree>
    <p:extLst>
      <p:ext uri="{BB962C8B-B14F-4D97-AF65-F5344CB8AC3E}">
        <p14:creationId xmlns:p14="http://schemas.microsoft.com/office/powerpoint/2010/main" val="2318473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A9ABF8AB-B0B8-4681-BD44-8CF5E845AA7F}"/>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26" name="Rectangle 4">
            <a:extLst>
              <a:ext uri="{FF2B5EF4-FFF2-40B4-BE49-F238E27FC236}">
                <a16:creationId xmlns:a16="http://schemas.microsoft.com/office/drawing/2014/main" id="{E37310E9-2521-4BB7-B15D-959B68467A8B}"/>
              </a:ext>
            </a:extLst>
          </p:cNvPr>
          <p:cNvSpPr>
            <a:spLocks noGrp="1" noChangeArrowheads="1"/>
          </p:cNvSpPr>
          <p:nvPr>
            <p:ph type="title"/>
          </p:nvPr>
        </p:nvSpPr>
        <p:spPr bwMode="auto">
          <a:xfrm>
            <a:off x="565151" y="141288"/>
            <a:ext cx="114173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endParaRPr lang="en-US" altLang="zh-TW" dirty="0"/>
          </a:p>
        </p:txBody>
      </p:sp>
      <p:sp>
        <p:nvSpPr>
          <p:cNvPr id="1027" name="Rectangle 5">
            <a:extLst>
              <a:ext uri="{FF2B5EF4-FFF2-40B4-BE49-F238E27FC236}">
                <a16:creationId xmlns:a16="http://schemas.microsoft.com/office/drawing/2014/main" id="{794864E5-9918-4FF7-9866-35661BF2624E}"/>
              </a:ext>
            </a:extLst>
          </p:cNvPr>
          <p:cNvSpPr>
            <a:spLocks noGrp="1" noChangeArrowheads="1"/>
          </p:cNvSpPr>
          <p:nvPr>
            <p:ph type="body" idx="1"/>
          </p:nvPr>
        </p:nvSpPr>
        <p:spPr bwMode="auto">
          <a:xfrm>
            <a:off x="565151" y="914400"/>
            <a:ext cx="11417300" cy="519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TW" dirty="0" err="1"/>
              <a:t>Klicken</a:t>
            </a:r>
            <a:r>
              <a:rPr lang="en-US" altLang="zh-TW" dirty="0"/>
              <a:t> Sie, um die </a:t>
            </a:r>
            <a:r>
              <a:rPr lang="en-US" altLang="zh-TW" dirty="0" err="1"/>
              <a:t>Formate</a:t>
            </a:r>
            <a:r>
              <a:rPr lang="en-US" altLang="zh-TW" dirty="0"/>
              <a:t> des </a:t>
            </a:r>
            <a:r>
              <a:rPr lang="en-US" altLang="zh-TW" dirty="0" err="1"/>
              <a:t>Vorlagentextes</a:t>
            </a:r>
            <a:r>
              <a:rPr lang="en-US" altLang="zh-TW" dirty="0"/>
              <a:t> </a:t>
            </a:r>
            <a:r>
              <a:rPr lang="en-US" altLang="zh-TW" dirty="0" err="1"/>
              <a:t>zu</a:t>
            </a:r>
            <a:r>
              <a:rPr lang="en-US" altLang="zh-TW" dirty="0"/>
              <a:t> </a:t>
            </a:r>
            <a:r>
              <a:rPr lang="en-US" altLang="zh-TW" dirty="0" err="1"/>
              <a:t>bearbeiten</a:t>
            </a:r>
            <a:endParaRPr lang="en-US" altLang="zh-TW" dirty="0"/>
          </a:p>
          <a:p>
            <a:pPr lvl="1"/>
            <a:r>
              <a:rPr lang="en-US" altLang="zh-TW" dirty="0" err="1"/>
              <a:t>Zweite</a:t>
            </a:r>
            <a:r>
              <a:rPr lang="en-US" altLang="zh-TW" dirty="0"/>
              <a:t> </a:t>
            </a:r>
            <a:r>
              <a:rPr lang="en-US" altLang="zh-TW" dirty="0" err="1"/>
              <a:t>Ebene</a:t>
            </a:r>
            <a:endParaRPr lang="en-US" altLang="zh-TW" dirty="0"/>
          </a:p>
          <a:p>
            <a:pPr lvl="2"/>
            <a:r>
              <a:rPr lang="en-US" altLang="zh-TW" dirty="0" err="1"/>
              <a:t>Dritte</a:t>
            </a:r>
            <a:r>
              <a:rPr lang="en-US" altLang="zh-TW" dirty="0"/>
              <a:t> </a:t>
            </a:r>
            <a:r>
              <a:rPr lang="en-US" altLang="zh-TW" dirty="0" err="1"/>
              <a:t>Ebene</a:t>
            </a:r>
            <a:endParaRPr lang="en-US" altLang="zh-TW" dirty="0"/>
          </a:p>
          <a:p>
            <a:pPr lvl="3"/>
            <a:r>
              <a:rPr lang="en-US" altLang="zh-TW" dirty="0" err="1"/>
              <a:t>Vierte</a:t>
            </a:r>
            <a:r>
              <a:rPr lang="en-US" altLang="zh-TW" dirty="0"/>
              <a:t> </a:t>
            </a:r>
            <a:r>
              <a:rPr lang="en-US" altLang="zh-TW" dirty="0" err="1"/>
              <a:t>Ebene</a:t>
            </a:r>
            <a:endParaRPr lang="en-US" altLang="zh-TW" dirty="0"/>
          </a:p>
          <a:p>
            <a:pPr lvl="4"/>
            <a:r>
              <a:rPr lang="en-US" altLang="zh-TW" dirty="0" err="1"/>
              <a:t>Fünfte</a:t>
            </a:r>
            <a:r>
              <a:rPr lang="en-US" altLang="zh-TW" dirty="0"/>
              <a:t> </a:t>
            </a:r>
            <a:r>
              <a:rPr lang="en-US" altLang="zh-TW" dirty="0" err="1"/>
              <a:t>Ebene</a:t>
            </a:r>
            <a:endParaRPr lang="en-US" altLang="zh-TW" dirty="0"/>
          </a:p>
        </p:txBody>
      </p:sp>
      <p:sp>
        <p:nvSpPr>
          <p:cNvPr id="1028" name="Line 22">
            <a:extLst>
              <a:ext uri="{FF2B5EF4-FFF2-40B4-BE49-F238E27FC236}">
                <a16:creationId xmlns:a16="http://schemas.microsoft.com/office/drawing/2014/main" id="{AB7F6124-04C7-45E8-AA65-7F9F759D65F9}"/>
              </a:ext>
            </a:extLst>
          </p:cNvPr>
          <p:cNvSpPr>
            <a:spLocks noChangeShapeType="1"/>
          </p:cNvSpPr>
          <p:nvPr/>
        </p:nvSpPr>
        <p:spPr bwMode="auto">
          <a:xfrm>
            <a:off x="425451" y="252413"/>
            <a:ext cx="0" cy="69215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TW" altLang="en-US" sz="2000" baseline="0">
              <a:latin typeface="Times New Roman" panose="02020603050405020304" pitchFamily="18" charset="0"/>
              <a:ea typeface="標楷體" panose="03000509000000000000" pitchFamily="65" charset="-120"/>
            </a:endParaRPr>
          </a:p>
        </p:txBody>
      </p:sp>
      <p:sp>
        <p:nvSpPr>
          <p:cNvPr id="1029" name="Line 24">
            <a:extLst>
              <a:ext uri="{FF2B5EF4-FFF2-40B4-BE49-F238E27FC236}">
                <a16:creationId xmlns:a16="http://schemas.microsoft.com/office/drawing/2014/main" id="{C8074568-B491-4B67-9A93-41BE6E79B626}"/>
              </a:ext>
            </a:extLst>
          </p:cNvPr>
          <p:cNvSpPr>
            <a:spLocks noChangeShapeType="1"/>
          </p:cNvSpPr>
          <p:nvPr/>
        </p:nvSpPr>
        <p:spPr bwMode="auto">
          <a:xfrm>
            <a:off x="209551" y="784225"/>
            <a:ext cx="11772900" cy="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TW" altLang="en-US" sz="2000" baseline="0">
              <a:latin typeface="Times New Roman" panose="02020603050405020304" pitchFamily="18" charset="0"/>
              <a:ea typeface="標楷體" panose="03000509000000000000" pitchFamily="65" charset="-120"/>
            </a:endParaRPr>
          </a:p>
        </p:txBody>
      </p:sp>
      <p:sp>
        <p:nvSpPr>
          <p:cNvPr id="1030" name="Line 25">
            <a:extLst>
              <a:ext uri="{FF2B5EF4-FFF2-40B4-BE49-F238E27FC236}">
                <a16:creationId xmlns:a16="http://schemas.microsoft.com/office/drawing/2014/main" id="{311CE126-5E96-48EA-A8E4-423F29F2B71C}"/>
              </a:ext>
            </a:extLst>
          </p:cNvPr>
          <p:cNvSpPr>
            <a:spLocks noChangeShapeType="1"/>
          </p:cNvSpPr>
          <p:nvPr/>
        </p:nvSpPr>
        <p:spPr bwMode="auto">
          <a:xfrm>
            <a:off x="209551" y="6240463"/>
            <a:ext cx="11772900" cy="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TW" altLang="en-US" sz="2000" baseline="0">
              <a:latin typeface="Times New Roman" panose="02020603050405020304" pitchFamily="18" charset="0"/>
              <a:ea typeface="標楷體" panose="03000509000000000000" pitchFamily="65" charset="-120"/>
            </a:endParaRPr>
          </a:p>
        </p:txBody>
      </p:sp>
      <p:sp>
        <p:nvSpPr>
          <p:cNvPr id="148508" name="Rectangle 28">
            <a:extLst>
              <a:ext uri="{FF2B5EF4-FFF2-40B4-BE49-F238E27FC236}">
                <a16:creationId xmlns:a16="http://schemas.microsoft.com/office/drawing/2014/main" id="{87C75FDA-A8B1-4916-8A2B-A105EA9C4F4B}"/>
              </a:ext>
            </a:extLst>
          </p:cNvPr>
          <p:cNvSpPr>
            <a:spLocks noGrp="1" noChangeArrowheads="1"/>
          </p:cNvSpPr>
          <p:nvPr>
            <p:ph type="sldNum" sz="quarter" idx="4"/>
          </p:nvPr>
        </p:nvSpPr>
        <p:spPr bwMode="auto">
          <a:xfrm>
            <a:off x="10934700" y="6340475"/>
            <a:ext cx="889000" cy="47625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eaLnBrk="1" hangingPunct="1">
              <a:defRPr kumimoji="0" sz="1400" baseline="0">
                <a:latin typeface="Times New Roman" panose="02020603050405020304" pitchFamily="18" charset="0"/>
                <a:ea typeface="標楷體" panose="03000509000000000000" pitchFamily="65" charset="-120"/>
              </a:defRPr>
            </a:lvl1pPr>
          </a:lstStyle>
          <a:p>
            <a:fld id="{45D5892C-9710-48A3-8372-2122A7AD32EA}" type="slidenum">
              <a:rPr lang="zh-TW" altLang="en-US" smtClean="0"/>
              <a:pPr/>
              <a:t>‹#›</a:t>
            </a:fld>
            <a:endParaRPr lang="zh-TW" altLang="en-US"/>
          </a:p>
        </p:txBody>
      </p:sp>
      <p:pic>
        <p:nvPicPr>
          <p:cNvPr id="2" name="圖片 1">
            <a:extLst>
              <a:ext uri="{FF2B5EF4-FFF2-40B4-BE49-F238E27FC236}">
                <a16:creationId xmlns:a16="http://schemas.microsoft.com/office/drawing/2014/main" id="{70913959-438C-19FB-F2F8-1592E452ADC8}"/>
              </a:ext>
            </a:extLst>
          </p:cNvPr>
          <p:cNvPicPr>
            <a:picLocks noChangeAspect="1"/>
          </p:cNvPicPr>
          <p:nvPr userDrawn="1"/>
        </p:nvPicPr>
        <p:blipFill>
          <a:blip r:embed="rId13"/>
          <a:stretch>
            <a:fillRect/>
          </a:stretch>
        </p:blipFill>
        <p:spPr>
          <a:xfrm>
            <a:off x="0" y="6116283"/>
            <a:ext cx="12192000" cy="216208"/>
          </a:xfrm>
          <a:prstGeom prst="rect">
            <a:avLst/>
          </a:prstGeom>
        </p:spPr>
      </p:pic>
      <p:pic>
        <p:nvPicPr>
          <p:cNvPr id="4" name="圖片 3">
            <a:extLst>
              <a:ext uri="{FF2B5EF4-FFF2-40B4-BE49-F238E27FC236}">
                <a16:creationId xmlns:a16="http://schemas.microsoft.com/office/drawing/2014/main" id="{D03BE1FC-A522-6621-C15D-29238ADFB2C5}"/>
              </a:ext>
            </a:extLst>
          </p:cNvPr>
          <p:cNvPicPr>
            <a:picLocks noChangeAspect="1"/>
          </p:cNvPicPr>
          <p:nvPr userDrawn="1"/>
        </p:nvPicPr>
        <p:blipFill>
          <a:blip r:embed="rId14"/>
          <a:stretch>
            <a:fillRect/>
          </a:stretch>
        </p:blipFill>
        <p:spPr>
          <a:xfrm>
            <a:off x="10210800" y="0"/>
            <a:ext cx="1981200" cy="283029"/>
          </a:xfrm>
          <a:prstGeom prst="rect">
            <a:avLst/>
          </a:prstGeom>
        </p:spPr>
      </p:pic>
    </p:spTree>
    <p:extLst>
      <p:ext uri="{BB962C8B-B14F-4D97-AF65-F5344CB8AC3E}">
        <p14:creationId xmlns:p14="http://schemas.microsoft.com/office/powerpoint/2010/main" val="2030889740"/>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Lst>
  <p:txStyles>
    <p:titleStyle>
      <a:lvl1pPr algn="l" rtl="0" eaLnBrk="1" fontAlgn="base" hangingPunct="1">
        <a:spcBef>
          <a:spcPct val="0"/>
        </a:spcBef>
        <a:spcAft>
          <a:spcPct val="0"/>
        </a:spcAft>
        <a:defRPr sz="2800" b="1" baseline="0">
          <a:solidFill>
            <a:schemeClr val="tx1"/>
          </a:solidFill>
          <a:latin typeface="Times New Roman" panose="02020603050405020304" pitchFamily="18" charset="0"/>
          <a:ea typeface="標楷體" panose="03000509000000000000" pitchFamily="65" charset="-120"/>
          <a:cs typeface="+mj-cs"/>
        </a:defRPr>
      </a:lvl1pPr>
      <a:lvl2pPr algn="l" rtl="0" eaLnBrk="1" fontAlgn="base" hangingPunct="1">
        <a:spcBef>
          <a:spcPct val="0"/>
        </a:spcBef>
        <a:spcAft>
          <a:spcPct val="0"/>
        </a:spcAft>
        <a:defRPr sz="2800">
          <a:solidFill>
            <a:schemeClr val="tx1"/>
          </a:solidFill>
          <a:latin typeface="Arial" pitchFamily="34" charset="0"/>
        </a:defRPr>
      </a:lvl2pPr>
      <a:lvl3pPr algn="l" rtl="0" eaLnBrk="1" fontAlgn="base" hangingPunct="1">
        <a:spcBef>
          <a:spcPct val="0"/>
        </a:spcBef>
        <a:spcAft>
          <a:spcPct val="0"/>
        </a:spcAft>
        <a:defRPr sz="2800">
          <a:solidFill>
            <a:schemeClr val="tx1"/>
          </a:solidFill>
          <a:latin typeface="Arial" pitchFamily="34" charset="0"/>
        </a:defRPr>
      </a:lvl3pPr>
      <a:lvl4pPr algn="l" rtl="0" eaLnBrk="1" fontAlgn="base" hangingPunct="1">
        <a:spcBef>
          <a:spcPct val="0"/>
        </a:spcBef>
        <a:spcAft>
          <a:spcPct val="0"/>
        </a:spcAft>
        <a:defRPr sz="2800">
          <a:solidFill>
            <a:schemeClr val="tx1"/>
          </a:solidFill>
          <a:latin typeface="Arial" pitchFamily="34" charset="0"/>
        </a:defRPr>
      </a:lvl4pPr>
      <a:lvl5pPr algn="l" rtl="0" eaLnBrk="1" fontAlgn="base" hangingPunct="1">
        <a:spcBef>
          <a:spcPct val="0"/>
        </a:spcBef>
        <a:spcAft>
          <a:spcPct val="0"/>
        </a:spcAft>
        <a:defRPr sz="2800">
          <a:solidFill>
            <a:schemeClr val="tx1"/>
          </a:solidFill>
          <a:latin typeface="Arial" pitchFamily="34" charset="0"/>
        </a:defRPr>
      </a:lvl5pPr>
      <a:lvl6pPr marL="457200" algn="l" rtl="0" eaLnBrk="1" fontAlgn="base" hangingPunct="1">
        <a:spcBef>
          <a:spcPct val="0"/>
        </a:spcBef>
        <a:spcAft>
          <a:spcPct val="0"/>
        </a:spcAft>
        <a:defRPr sz="2800">
          <a:solidFill>
            <a:schemeClr val="tx1"/>
          </a:solidFill>
          <a:latin typeface="Arial" pitchFamily="34" charset="0"/>
        </a:defRPr>
      </a:lvl6pPr>
      <a:lvl7pPr marL="914400" algn="l" rtl="0" eaLnBrk="1" fontAlgn="base" hangingPunct="1">
        <a:spcBef>
          <a:spcPct val="0"/>
        </a:spcBef>
        <a:spcAft>
          <a:spcPct val="0"/>
        </a:spcAft>
        <a:defRPr sz="2800">
          <a:solidFill>
            <a:schemeClr val="tx1"/>
          </a:solidFill>
          <a:latin typeface="Arial" pitchFamily="34" charset="0"/>
        </a:defRPr>
      </a:lvl7pPr>
      <a:lvl8pPr marL="1371600" algn="l" rtl="0" eaLnBrk="1" fontAlgn="base" hangingPunct="1">
        <a:spcBef>
          <a:spcPct val="0"/>
        </a:spcBef>
        <a:spcAft>
          <a:spcPct val="0"/>
        </a:spcAft>
        <a:defRPr sz="2800">
          <a:solidFill>
            <a:schemeClr val="tx1"/>
          </a:solidFill>
          <a:latin typeface="Arial" pitchFamily="34" charset="0"/>
        </a:defRPr>
      </a:lvl8pPr>
      <a:lvl9pPr marL="1828800" algn="l" rtl="0" eaLnBrk="1" fontAlgn="base" hangingPunct="1">
        <a:spcBef>
          <a:spcPct val="0"/>
        </a:spcBef>
        <a:spcAft>
          <a:spcPct val="0"/>
        </a:spcAft>
        <a:defRPr sz="2800">
          <a:solidFill>
            <a:schemeClr val="tx1"/>
          </a:solidFill>
          <a:latin typeface="Arial" pitchFamily="34" charset="0"/>
        </a:defRPr>
      </a:lvl9pPr>
    </p:titleStyle>
    <p:bodyStyle>
      <a:lvl1pPr marL="285750" indent="-285750" algn="l" rtl="0" eaLnBrk="1" fontAlgn="base" hangingPunct="1">
        <a:spcBef>
          <a:spcPct val="20000"/>
        </a:spcBef>
        <a:spcAft>
          <a:spcPct val="0"/>
        </a:spcAft>
        <a:buClr>
          <a:schemeClr val="tx1"/>
        </a:buClr>
        <a:buFont typeface="Symbol" panose="05050102010706020507" pitchFamily="18" charset="2"/>
        <a:buChar char="·"/>
        <a:defRPr sz="2400" baseline="0">
          <a:solidFill>
            <a:srgbClr val="000000"/>
          </a:solidFill>
          <a:latin typeface="Times New Roman" panose="02020603050405020304" pitchFamily="18" charset="0"/>
          <a:ea typeface="標楷體" panose="03000509000000000000" pitchFamily="65" charset="-120"/>
          <a:cs typeface="+mn-cs"/>
        </a:defRPr>
      </a:lvl1pPr>
      <a:lvl2pPr marL="762000" indent="-285750" algn="l" rtl="0" eaLnBrk="1" fontAlgn="base" hangingPunct="1">
        <a:spcBef>
          <a:spcPct val="20000"/>
        </a:spcBef>
        <a:spcAft>
          <a:spcPct val="0"/>
        </a:spcAft>
        <a:buClr>
          <a:schemeClr val="tx1"/>
        </a:buClr>
        <a:buFont typeface="Symbol" panose="05050102010706020507" pitchFamily="18" charset="2"/>
        <a:buChar char="·"/>
        <a:defRPr sz="2000" baseline="0">
          <a:solidFill>
            <a:srgbClr val="000000"/>
          </a:solidFill>
          <a:latin typeface="Times New Roman" panose="02020603050405020304" pitchFamily="18" charset="0"/>
          <a:ea typeface="標楷體" panose="03000509000000000000" pitchFamily="65" charset="-120"/>
        </a:defRPr>
      </a:lvl2pPr>
      <a:lvl3pPr marL="1238250" indent="-285750" algn="l" rtl="0" eaLnBrk="1" fontAlgn="base" hangingPunct="1">
        <a:spcBef>
          <a:spcPct val="20000"/>
        </a:spcBef>
        <a:spcAft>
          <a:spcPct val="0"/>
        </a:spcAft>
        <a:buClr>
          <a:schemeClr val="tx1"/>
        </a:buClr>
        <a:buFont typeface="Symbol" panose="05050102010706020507" pitchFamily="18" charset="2"/>
        <a:buChar char="·"/>
        <a:defRPr sz="2400" baseline="0">
          <a:solidFill>
            <a:srgbClr val="000000"/>
          </a:solidFill>
          <a:latin typeface="Times New Roman" panose="02020603050405020304" pitchFamily="18" charset="0"/>
          <a:ea typeface="標楷體" panose="03000509000000000000" pitchFamily="65" charset="-120"/>
        </a:defRPr>
      </a:lvl3pPr>
      <a:lvl4pPr marL="1619250" indent="-190500" algn="l" rtl="0" eaLnBrk="1" fontAlgn="base" hangingPunct="1">
        <a:spcBef>
          <a:spcPct val="20000"/>
        </a:spcBef>
        <a:spcAft>
          <a:spcPct val="0"/>
        </a:spcAft>
        <a:buClr>
          <a:schemeClr val="tx1"/>
        </a:buClr>
        <a:buFont typeface="Symbol" panose="05050102010706020507" pitchFamily="18" charset="2"/>
        <a:buChar char="·"/>
        <a:defRPr sz="1600" baseline="0">
          <a:solidFill>
            <a:srgbClr val="000000"/>
          </a:solidFill>
          <a:latin typeface="Times New Roman" panose="02020603050405020304" pitchFamily="18" charset="0"/>
          <a:ea typeface="標楷體" panose="03000509000000000000" pitchFamily="65" charset="-120"/>
        </a:defRPr>
      </a:lvl4pPr>
      <a:lvl5pPr marL="2000250" indent="-190500" algn="l" rtl="0" eaLnBrk="1" fontAlgn="base" hangingPunct="1">
        <a:spcBef>
          <a:spcPct val="20000"/>
        </a:spcBef>
        <a:spcAft>
          <a:spcPct val="0"/>
        </a:spcAft>
        <a:buClr>
          <a:schemeClr val="tx1"/>
        </a:buClr>
        <a:buFont typeface="Symbol" panose="05050102010706020507" pitchFamily="18" charset="2"/>
        <a:buChar char="·"/>
        <a:defRPr sz="1600" baseline="0">
          <a:solidFill>
            <a:srgbClr val="000000"/>
          </a:solidFill>
          <a:latin typeface="Times New Roman" panose="02020603050405020304" pitchFamily="18" charset="0"/>
          <a:ea typeface="標楷體" panose="03000509000000000000" pitchFamily="65" charset="-120"/>
        </a:defRPr>
      </a:lvl5pPr>
      <a:lvl6pPr marL="2457450" indent="-190500" algn="l" rtl="0" eaLnBrk="1" fontAlgn="base" hangingPunct="1">
        <a:spcBef>
          <a:spcPct val="20000"/>
        </a:spcBef>
        <a:spcAft>
          <a:spcPct val="0"/>
        </a:spcAft>
        <a:buClr>
          <a:schemeClr val="tx1"/>
        </a:buClr>
        <a:buFont typeface="Symbol" pitchFamily="18" charset="2"/>
        <a:buChar char="·"/>
        <a:defRPr sz="1600">
          <a:solidFill>
            <a:srgbClr val="000000"/>
          </a:solidFill>
          <a:latin typeface="+mn-lt"/>
        </a:defRPr>
      </a:lvl6pPr>
      <a:lvl7pPr marL="2914650" indent="-190500" algn="l" rtl="0" eaLnBrk="1" fontAlgn="base" hangingPunct="1">
        <a:spcBef>
          <a:spcPct val="20000"/>
        </a:spcBef>
        <a:spcAft>
          <a:spcPct val="0"/>
        </a:spcAft>
        <a:buClr>
          <a:schemeClr val="tx1"/>
        </a:buClr>
        <a:buFont typeface="Symbol" pitchFamily="18" charset="2"/>
        <a:buChar char="·"/>
        <a:defRPr sz="1600">
          <a:solidFill>
            <a:srgbClr val="000000"/>
          </a:solidFill>
          <a:latin typeface="+mn-lt"/>
        </a:defRPr>
      </a:lvl7pPr>
      <a:lvl8pPr marL="3371850" indent="-190500" algn="l" rtl="0" eaLnBrk="1" fontAlgn="base" hangingPunct="1">
        <a:spcBef>
          <a:spcPct val="20000"/>
        </a:spcBef>
        <a:spcAft>
          <a:spcPct val="0"/>
        </a:spcAft>
        <a:buClr>
          <a:schemeClr val="tx1"/>
        </a:buClr>
        <a:buFont typeface="Symbol" pitchFamily="18" charset="2"/>
        <a:buChar char="·"/>
        <a:defRPr sz="1600">
          <a:solidFill>
            <a:srgbClr val="000000"/>
          </a:solidFill>
          <a:latin typeface="+mn-lt"/>
        </a:defRPr>
      </a:lvl8pPr>
      <a:lvl9pPr marL="3829050" indent="-190500" algn="l" rtl="0" eaLnBrk="1" fontAlgn="base" hangingPunct="1">
        <a:spcBef>
          <a:spcPct val="20000"/>
        </a:spcBef>
        <a:spcAft>
          <a:spcPct val="0"/>
        </a:spcAft>
        <a:buClr>
          <a:schemeClr val="tx1"/>
        </a:buClr>
        <a:buFont typeface="Symbol" pitchFamily="18" charset="2"/>
        <a:buChar char="·"/>
        <a:defRPr sz="1600">
          <a:solidFill>
            <a:srgbClr val="000000"/>
          </a:solidFill>
          <a:latin typeface="+mn-lt"/>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ns0:Relationships xmlns:ns0="http://schemas.openxmlformats.org/package/2006/relationships"><ns0:Relationship Id="rId1" Type="http://schemas.openxmlformats.org/officeDocument/2006/relationships/slideLayout" Target="../slideLayouts/slideLayout2.xml" /><ns0:Relationship Id="rId2" Type="http://schemas.openxmlformats.org/officeDocument/2006/relationships/notesSlide" Target="../notesSlides/notesSlide1.xml" /></ns0:Relationships>
</file>

<file path=ppt/slides/_rels/slide2.xml.rels><?xml version='1.0' encoding='utf-8'?>
<ns0:Relationships xmlns:ns0="http://schemas.openxmlformats.org/package/2006/relationships"><ns0:Relationship Id="rId1" Type="http://schemas.openxmlformats.org/officeDocument/2006/relationships/slideLayout" Target="../slideLayouts/slideLayout2.xml" /><ns0:Relationship Id="rId2" Type="http://schemas.openxmlformats.org/officeDocument/2006/relationships/notesSlide" Target="../notesSlides/notesSlide2.xml" /></ns0:Relationships>
</file>

<file path=ppt/slides/_rels/slide3.xml.rels><?xml version='1.0' encoding='utf-8'?>
<ns0:Relationships xmlns:ns0="http://schemas.openxmlformats.org/package/2006/relationships"><ns0:Relationship Id="rId1" Type="http://schemas.openxmlformats.org/officeDocument/2006/relationships/slideLayout" Target="../slideLayouts/slideLayout2.xml" /><ns0:Relationship Id="rId2" Type="http://schemas.openxmlformats.org/officeDocument/2006/relationships/notesSlide" Target="../notesSlides/notesSlide3.xml" /></ns0:Relationships>
</file>

<file path=ppt/slides/_rels/slide4.xml.rels><?xml version='1.0' encoding='utf-8'?>
<ns0:Relationships xmlns:ns0="http://schemas.openxmlformats.org/package/2006/relationships"><ns0:Relationship Id="rId1" Type="http://schemas.openxmlformats.org/officeDocument/2006/relationships/slideLayout" Target="../slideLayouts/slideLayout2.xml" /><ns0:Relationship Id="rId2" Type="http://schemas.openxmlformats.org/officeDocument/2006/relationships/notesSlide" Target="../notesSlides/notesSlide4.xml" /></ns0:Relationships>
</file>

<file path=ppt/slides/_rels/slide5.xml.rels><?xml version='1.0' encoding='utf-8'?>
<ns0:Relationships xmlns:ns0="http://schemas.openxmlformats.org/package/2006/relationships"><ns0:Relationship Id="rId1" Type="http://schemas.openxmlformats.org/officeDocument/2006/relationships/image" Target="../media/image-5-1.png" /><ns0:Relationship Id="rId2" Type="http://schemas.openxmlformats.org/officeDocument/2006/relationships/slideLayout" Target="../slideLayouts/slideLayout2.xml" /><ns0:Relationship Id="rId3" Type="http://schemas.openxmlformats.org/officeDocument/2006/relationships/notesSlide" Target="../notesSlides/notesSlide5.xml" /></ns0:Relationships>
</file>

<file path=ppt/slides/_rels/slide6.xml.rels><?xml version='1.0' encoding='utf-8'?>
<ns0:Relationships xmlns:ns0="http://schemas.openxmlformats.org/package/2006/relationships"><ns0:Relationship Id="rId1" Type="http://schemas.openxmlformats.org/officeDocument/2006/relationships/image" Target="../media/image-6-1.png" /><ns0:Relationship Id="rId2" Type="http://schemas.openxmlformats.org/officeDocument/2006/relationships/slideLayout" Target="../slideLayouts/slideLayout2.xml" /><ns0:Relationship Id="rId3" Type="http://schemas.openxmlformats.org/officeDocument/2006/relationships/notesSlide" Target="../notesSlides/notesSlide6.xml" /></ns0:Relationships>
</file>

<file path=ppt/slides/_rels/slide7.xml.rels><?xml version='1.0' encoding='utf-8'?>
<ns0:Relationships xmlns:ns0="http://schemas.openxmlformats.org/package/2006/relationships"><ns0:Relationship Id="rId1" Type="http://schemas.openxmlformats.org/officeDocument/2006/relationships/image" Target="../media/image-7-1.png" /><ns0:Relationship Id="rId2" Type="http://schemas.openxmlformats.org/officeDocument/2006/relationships/slideLayout" Target="../slideLayouts/slideLayout2.xml" /><ns0:Relationship Id="rId3" Type="http://schemas.openxmlformats.org/officeDocument/2006/relationships/notesSlide" Target="../notesSlides/notesSlide7.xml" /></ns0:Relationships>
</file>

<file path=ppt/slides/_rels/slide8.xml.rels><?xml version='1.0' encoding='utf-8'?>
<ns0:Relationships xmlns:ns0="http://schemas.openxmlformats.org/package/2006/relationships"><ns0:Relationship Id="rId1" Type="http://schemas.openxmlformats.org/officeDocument/2006/relationships/image" Target="../media/image-8-1.png" /><ns0:Relationship Id="rId2" Type="http://schemas.openxmlformats.org/officeDocument/2006/relationships/slideLayout" Target="../slideLayouts/slideLayout2.xml" /><ns0:Relationship Id="rId3" Type="http://schemas.openxmlformats.org/officeDocument/2006/relationships/notesSlide" Target="../notesSlides/notesSlide8.xml" /></ns0:Relationships>
</file>

<file path=ppt/slides/_rels/slide9.xml.rels><?xml version='1.0' encoding='utf-8'?>
<ns0:Relationships xmlns:ns0="http://schemas.openxmlformats.org/package/2006/relationships"><ns0:Relationship Id="rId1" Type="http://schemas.openxmlformats.org/officeDocument/2006/relationships/slideLayout" Target="../slideLayouts/slideLayout2.xml" /><ns0:Relationship Id="rId2" Type="http://schemas.openxmlformats.org/officeDocument/2006/relationships/notesSlide" Target="../notesSlides/notesSlide9.xml" /></ns0:Relationships>
</file>

<file path=ppt/slides/_rels/slide10.xml.rels><?xml version='1.0' encoding='utf-8'?>
<ns0:Relationships xmlns:ns0="http://schemas.openxmlformats.org/package/2006/relationships"><ns0:Relationship Id="rId1" Type="http://schemas.openxmlformats.org/officeDocument/2006/relationships/image" Target="../media/image-10-1.png" /><ns0:Relationship Id="rId2" Type="http://schemas.openxmlformats.org/officeDocument/2006/relationships/slideLayout" Target="../slideLayouts/slideLayout2.xml" /><ns0:Relationship Id="rId3" Type="http://schemas.openxmlformats.org/officeDocument/2006/relationships/notesSlide" Target="../notesSlides/notesSlide10.xml" /></ns0:Relationships>
</file>

<file path=ppt/slides/_rels/slide11.xml.rels><?xml version='1.0' encoding='utf-8'?>
<ns0:Relationships xmlns:ns0="http://schemas.openxmlformats.org/package/2006/relationships"><ns0:Relationship Id="rId1" Type="http://schemas.openxmlformats.org/officeDocument/2006/relationships/image" Target="../media/image-11-1.png" /><ns0:Relationship Id="rId2" Type="http://schemas.openxmlformats.org/officeDocument/2006/relationships/slideLayout" Target="../slideLayouts/slideLayout2.xml" /><ns0:Relationship Id="rId3" Type="http://schemas.openxmlformats.org/officeDocument/2006/relationships/notesSlide" Target="../notesSlides/notesSlide11.xml" /></ns0:Relationships>
</file>

<file path=ppt/slides/_rels/slide12.xml.rels><?xml version='1.0' encoding='utf-8'?>
<ns0:Relationships xmlns:ns0="http://schemas.openxmlformats.org/package/2006/relationships"><ns0:Relationship Id="rId1" Type="http://schemas.openxmlformats.org/officeDocument/2006/relationships/slideLayout" Target="../slideLayouts/slideLayout2.xml" /><ns0:Relationship Id="rId2" Type="http://schemas.openxmlformats.org/officeDocument/2006/relationships/notesSlide" Target="../notesSlides/notesSlide12.xml" /></ns0:Relationships>
</file>

<file path=ppt/slides/_rels/slide13.xml.rels><?xml version='1.0' encoding='utf-8'?>
<ns0:Relationships xmlns:ns0="http://schemas.openxmlformats.org/package/2006/relationships"><ns0:Relationship Id="rId1" Type="http://schemas.openxmlformats.org/officeDocument/2006/relationships/slideLayout" Target="../slideLayouts/slideLayout2.xml" /><ns0:Relationship Id="rId2" Type="http://schemas.openxmlformats.org/officeDocument/2006/relationships/notesSlide" Target="../notesSlides/notesSlide13.xml" /></ns0:Relationships>
</file>

<file path=ppt/slides/_rels/slide14.xml.rels><?xml version='1.0' encoding='utf-8'?>
<ns0:Relationships xmlns:ns0="http://schemas.openxmlformats.org/package/2006/relationships"><ns0:Relationship Id="rId1" Type="http://schemas.openxmlformats.org/officeDocument/2006/relationships/slideLayout" Target="../slideLayouts/slideLayout2.xml" /><ns0:Relationship Id="rId2" Type="http://schemas.openxmlformats.org/officeDocument/2006/relationships/notesSlide" Target="../notesSlides/notesSlide14.xml" /></ns0:Relationships>
</file>

<file path=ppt/slides/_rels/slide15.xml.rels><?xml version='1.0' encoding='utf-8'?>
<ns0:Relationships xmlns:ns0="http://schemas.openxmlformats.org/package/2006/relationships"><ns0:Relationship Id="rId1" Type="http://schemas.openxmlformats.org/officeDocument/2006/relationships/slideLayout" Target="../slideLayouts/slideLayout2.xml" /><ns0:Relationship Id="rId2" Type="http://schemas.openxmlformats.org/officeDocument/2006/relationships/notesSlide" Target="../notesSlides/notesSlide15.xml" /></ns0:Relationships>
</file>

<file path=ppt/slides/_rels/slide16.xml.rels><?xml version='1.0' encoding='utf-8'?>
<ns0:Relationships xmlns:ns0="http://schemas.openxmlformats.org/package/2006/relationships"><ns0:Relationship Id="rId1" Type="http://schemas.openxmlformats.org/officeDocument/2006/relationships/slideLayout" Target="../slideLayouts/slideLayout2.xml" /><ns0:Relationship Id="rId2" Type="http://schemas.openxmlformats.org/officeDocument/2006/relationships/notesSlide" Target="../notesSlides/notesSlide16.xml" /></ns0:Relationships>
</file>

<file path=ppt/slides/_rels/slide17.xml.rels><?xml version='1.0' encoding='utf-8'?>
<ns0:Relationships xmlns:ns0="http://schemas.openxmlformats.org/package/2006/relationships"><ns0:Relationship Id="rId1" Type="http://schemas.openxmlformats.org/officeDocument/2006/relationships/image" Target="../media/image-17-1.png" /><ns0:Relationship Id="rId2" Type="http://schemas.openxmlformats.org/officeDocument/2006/relationships/slideLayout" Target="../slideLayouts/slideLayout2.xml" /><ns0:Relationship Id="rId3" Type="http://schemas.openxmlformats.org/officeDocument/2006/relationships/notesSlide" Target="../notesSlides/notesSlide17.xml" /></ns0:Relationships>
</file>

<file path=ppt/slides/slide1.xml><?xml version="1.0" encoding="utf-8"?>
<p:sld xmlns:a="http://schemas.openxmlformats.org/drawingml/2006/main"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56591" y="187008"/>
            <a:ext cx="9462769" cy="480060"/>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P081</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Transfer</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：智慧農場的 </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gate-first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讀法</a:t>
            </a:r>
            <a:endParaRPr lang="en-US" sz="2800" dirty="0"/>
          </a:p>
        </p:txBody>
      </p:sp>
      <p:sp>
        <p:nvSpPr>
          <p:cNvPr id="3" name="Text 1"/>
          <p:cNvSpPr/>
          <p:nvPr/>
        </p:nvSpPr>
        <p:spPr>
          <a:xfrm>
            <a:off x="822960" y="932688"/>
            <a:ext cx="10561320" cy="438912"/>
          </a:xfrm>
          <a:prstGeom prst="rect">
            <a:avLst/>
          </a:prstGeom>
          <a:noFill/>
          <a:ln/>
        </p:spPr>
        <p:txBody>
          <a:bodyPr wrap="square" lIns="635" tIns="635" rIns="635" bIns="635" rtlCol="0" anchor="ctr">
            <a:normAutofit/>
          </a:bodyPr>
          <a:lstStyle/>
          <a:p>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changing-service-window</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trace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 閘道可用時段；</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service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gate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先讀，</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endpoint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J</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後讀</a:t>
            </a:r>
            <a:endParaRPr lang="en-US" sz="2400" dirty="0"/>
          </a:p>
        </p:txBody>
      </p:sp>
      <p:sp>
        <p:nvSpPr>
          <p:cNvPr id="4" name="Shape 2"/>
          <p:cNvSpPr/>
          <p:nvPr/>
        </p:nvSpPr>
        <p:spPr>
          <a:xfrm>
            <a:off x="822960" y="1572768"/>
            <a:ext cx="3383280" cy="621792"/>
          </a:xfrm>
          <a:prstGeom prst="roundRect">
            <a:avLst/>
          </a:prstGeom>
          <a:solidFill>
            <a:srgbClr val="ECF1FE"/>
          </a:solidFill>
          <a:ln w="15240">
            <a:solidFill>
              <a:srgbClr val="4967C2"/>
            </a:solidFill>
            <a:prstDash val="solid"/>
          </a:ln>
        </p:spPr>
      </p:sp>
      <p:sp>
        <p:nvSpPr>
          <p:cNvPr id="5" name="Text 3"/>
          <p:cNvSpPr/>
          <p:nvPr/>
        </p:nvSpPr>
        <p:spPr>
          <a:xfrm>
            <a:off x="950976" y="1682496"/>
            <a:ext cx="3127248" cy="402336"/>
          </a:xfrm>
          <a:prstGeom prst="rect">
            <a:avLst/>
          </a:prstGeom>
          <a:noFill/>
          <a:ln/>
        </p:spPr>
        <p:txBody>
          <a:bodyPr wrap="square" lIns="635" tIns="635" rIns="635" bIns="635" rtlCol="0" anchor="ctr">
            <a:normAutofit/>
          </a:bodyPr>
          <a:lstStyle/>
          <a:p>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資料等待 </a:t>
            </a:r>
            <a:pPr algn="ctr" indent="0" marL="0">
              <a:lnSpc>
                <a:spcPct val="100000"/>
              </a:lnSpc>
              <a:buNone/>
            </a:pPr>
            <a:r>
              <a:rPr lang="en-US" sz="2000" b="1" i="1" dirty="0">
                <a:solidFill>
                  <a:srgbClr val="25324A"/>
                </a:solidFill>
                <a:latin typeface="Times New Roman" pitchFamily="34" charset="0"/>
                <a:ea typeface="標楷體" pitchFamily="34" charset="-122"/>
                <a:cs typeface="Times New Roman" pitchFamily="34" charset="-120"/>
              </a:rPr>
              <a:t>queue</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age</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：來源：</a:t>
            </a:r>
            <a:pPr algn="ctr" indent="0" marL="0">
              <a:lnSpc>
                <a:spcPct val="100000"/>
              </a:lnSpc>
              <a:buNone/>
            </a:pPr>
            <a:r>
              <a:rPr lang="en-US" sz="2000" b="1" i="1" dirty="0">
                <a:solidFill>
                  <a:srgbClr val="25324A"/>
                </a:solidFill>
                <a:latin typeface="Times New Roman" pitchFamily="34" charset="0"/>
                <a:ea typeface="標楷體" pitchFamily="34" charset="-122"/>
                <a:cs typeface="Times New Roman" pitchFamily="34" charset="-120"/>
              </a:rPr>
              <a:t>queue</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event</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；單位：時間；作用：判讀批次等待</a:t>
            </a:r>
            <a:endParaRPr lang="en-US" sz="2000" dirty="0"/>
          </a:p>
        </p:txBody>
      </p:sp>
      <p:sp>
        <p:nvSpPr>
          <p:cNvPr id="6" name="Shape 4"/>
          <p:cNvSpPr/>
          <p:nvPr/>
        </p:nvSpPr>
        <p:spPr>
          <a:xfrm>
            <a:off x="822960" y="2340864"/>
            <a:ext cx="3383280" cy="621792"/>
          </a:xfrm>
          <a:prstGeom prst="roundRect">
            <a:avLst/>
          </a:prstGeom>
          <a:solidFill>
            <a:srgbClr val="FDF9E2"/>
          </a:solidFill>
          <a:ln w="15240">
            <a:solidFill>
              <a:srgbClr val="846826"/>
            </a:solidFill>
            <a:prstDash val="solid"/>
          </a:ln>
        </p:spPr>
      </p:sp>
      <p:sp>
        <p:nvSpPr>
          <p:cNvPr id="7" name="Text 5"/>
          <p:cNvSpPr/>
          <p:nvPr/>
        </p:nvSpPr>
        <p:spPr>
          <a:xfrm>
            <a:off x="950976" y="2450592"/>
            <a:ext cx="3127248" cy="402336"/>
          </a:xfrm>
          <a:prstGeom prst="rect">
            <a:avLst/>
          </a:prstGeom>
          <a:noFill/>
          <a:ln/>
        </p:spPr>
        <p:txBody>
          <a:bodyPr wrap="square" lIns="635" tIns="635" rIns="635" bIns="635" rtlCol="0" anchor="ctr">
            <a:normAutofit/>
          </a:bodyPr>
          <a:lstStyle/>
          <a:p>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批次大小 </a:t>
            </a:r>
            <a:pPr algn="ctr" indent="0" marL="0">
              <a:lnSpc>
                <a:spcPct val="100000"/>
              </a:lnSpc>
              <a:buNone/>
            </a:pPr>
            <a:r>
              <a:rPr lang="en-US" sz="2000" b="1" i="1" dirty="0">
                <a:solidFill>
                  <a:srgbClr val="25324A"/>
                </a:solidFill>
                <a:latin typeface="Times New Roman" pitchFamily="34" charset="0"/>
                <a:ea typeface="標楷體" pitchFamily="34" charset="-122"/>
                <a:cs typeface="Times New Roman" pitchFamily="34" charset="-120"/>
              </a:rPr>
              <a:t>BATCH_SIZE</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：來源：</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policy</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constant</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；單位：</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packet</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count</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；作用：決定 </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flush</a:t>
            </a:r>
            <a:endParaRPr lang="en-US" sz="2000" dirty="0"/>
          </a:p>
        </p:txBody>
      </p:sp>
      <p:sp>
        <p:nvSpPr>
          <p:cNvPr id="8" name="Shape 6"/>
          <p:cNvSpPr/>
          <p:nvPr/>
        </p:nvSpPr>
        <p:spPr>
          <a:xfrm>
            <a:off x="822960" y="3108960"/>
            <a:ext cx="3383280" cy="621792"/>
          </a:xfrm>
          <a:prstGeom prst="roundRect">
            <a:avLst/>
          </a:prstGeom>
          <a:solidFill>
            <a:srgbClr val="F4EDF7"/>
          </a:solidFill>
          <a:ln w="15240">
            <a:solidFill>
              <a:srgbClr val="660066"/>
            </a:solidFill>
            <a:prstDash val="solid"/>
          </a:ln>
        </p:spPr>
      </p:sp>
      <p:sp>
        <p:nvSpPr>
          <p:cNvPr id="9" name="Text 7"/>
          <p:cNvSpPr/>
          <p:nvPr/>
        </p:nvSpPr>
        <p:spPr>
          <a:xfrm>
            <a:off x="950976" y="3218688"/>
            <a:ext cx="3127248" cy="402336"/>
          </a:xfrm>
          <a:prstGeom prst="rect">
            <a:avLst/>
          </a:prstGeom>
          <a:noFill/>
          <a:ln/>
        </p:spPr>
        <p:txBody>
          <a:bodyPr wrap="square" lIns="635" tIns="635" rIns="635" bIns="635" rtlCol="0" anchor="ctr">
            <a:normAutofit/>
          </a:bodyPr>
          <a:lstStyle/>
          <a:p>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告警門檻 </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urgent</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margin</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：來源：</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policy</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；單位：秒；作用：決定優先送出時機</a:t>
            </a:r>
            <a:endParaRPr lang="en-US" sz="2000" dirty="0"/>
          </a:p>
        </p:txBody>
      </p:sp>
      <p:sp>
        <p:nvSpPr>
          <p:cNvPr id="10" name="Shape 8"/>
          <p:cNvSpPr/>
          <p:nvPr/>
        </p:nvSpPr>
        <p:spPr>
          <a:xfrm>
            <a:off x="822960" y="3877056"/>
            <a:ext cx="3383280" cy="621792"/>
          </a:xfrm>
          <a:prstGeom prst="roundRect">
            <a:avLst/>
          </a:prstGeom>
          <a:solidFill>
            <a:srgbClr val="E8F7F4"/>
          </a:solidFill>
          <a:ln w="15240">
            <a:solidFill>
              <a:srgbClr val="007374"/>
            </a:solidFill>
            <a:prstDash val="solid"/>
          </a:ln>
        </p:spPr>
      </p:sp>
      <p:sp>
        <p:nvSpPr>
          <p:cNvPr id="11" name="Text 9"/>
          <p:cNvSpPr/>
          <p:nvPr/>
        </p:nvSpPr>
        <p:spPr>
          <a:xfrm>
            <a:off x="950976" y="3986784"/>
            <a:ext cx="3127248" cy="402336"/>
          </a:xfrm>
          <a:prstGeom prst="rect">
            <a:avLst/>
          </a:prstGeom>
          <a:noFill/>
          <a:ln/>
        </p:spPr>
        <p:txBody>
          <a:bodyPr wrap="square" lIns="635" tIns="635" rIns="635" bIns="635" rtlCol="0" anchor="ctr">
            <a:normAutofit/>
          </a:bodyPr>
          <a:lstStyle/>
          <a:p>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服務閘門 </a:t>
            </a:r>
            <a:pPr algn="ctr" indent="0" marL="0">
              <a:lnSpc>
                <a:spcPct val="100000"/>
              </a:lnSpc>
              <a:buNone/>
            </a:pPr>
            <a:r>
              <a:rPr lang="en-US" sz="2000" b="1" i="1" dirty="0">
                <a:solidFill>
                  <a:srgbClr val="25324A"/>
                </a:solidFill>
                <a:latin typeface="Times New Roman" pitchFamily="34" charset="0"/>
                <a:ea typeface="標楷體" pitchFamily="34" charset="-122"/>
                <a:cs typeface="Times New Roman" pitchFamily="34" charset="-120"/>
              </a:rPr>
              <a:t>service</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gate</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：來源：</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result</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；單位：</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verdict</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；作用：核對 </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delivery</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 + </a:t>
            </a:r>
            <a:pPr algn="ctr" indent="0" marL="0">
              <a:lnSpc>
                <a:spcPct val="100000"/>
              </a:lnSpc>
              <a:buNone/>
            </a:pPr>
            <a:r>
              <a:rPr lang="en-US" sz="2000" b="1" i="1" dirty="0">
                <a:solidFill>
                  <a:srgbClr val="25324A"/>
                </a:solidFill>
                <a:latin typeface="Times New Roman" pitchFamily="34" charset="0"/>
                <a:ea typeface="標楷體" pitchFamily="34" charset="-122"/>
                <a:cs typeface="Times New Roman" pitchFamily="34" charset="-120"/>
              </a:rPr>
              <a:t>freshness</a:t>
            </a:r>
            <a:endParaRPr lang="en-US" sz="2000" dirty="0"/>
          </a:p>
        </p:txBody>
      </p:sp>
      <p:sp>
        <p:nvSpPr>
          <p:cNvPr id="12" name="Shape 10"/>
          <p:cNvSpPr/>
          <p:nvPr/>
        </p:nvSpPr>
        <p:spPr>
          <a:xfrm>
            <a:off x="4736592" y="1481328"/>
            <a:ext cx="6629400" cy="2139696"/>
          </a:xfrm>
          <a:prstGeom prst="rect">
            <a:avLst/>
          </a:prstGeom>
          <a:solidFill>
            <a:srgbClr val="F7F8FC"/>
          </a:solidFill>
          <a:ln w="15240">
            <a:solidFill>
              <a:srgbClr val="D7DEEA"/>
            </a:solidFill>
            <a:prstDash val="solid"/>
          </a:ln>
        </p:spPr>
      </p:sp>
      <p:sp>
        <p:nvSpPr>
          <p:cNvPr id="13" name="Text 11"/>
          <p:cNvSpPr/>
          <p:nvPr/>
        </p:nvSpPr>
        <p:spPr>
          <a:xfrm>
            <a:off x="4992624" y="1645920"/>
            <a:ext cx="6108192" cy="347472"/>
          </a:xfrm>
          <a:prstGeom prst="rect">
            <a:avLst/>
          </a:prstGeom>
          <a:noFill/>
          <a:ln/>
        </p:spPr>
        <p:txBody>
          <a:bodyPr wrap="square" lIns="635" tIns="635" rIns="635" bIns="635" rtlCol="0" anchor="ctr">
            <a:normAutofit/>
          </a:bodyPr>
          <a:lstStyle/>
          <a:p>
            <a:pPr algn="ctr" indent="0" marL="0">
              <a:lnSpc>
                <a:spcPct val="100000"/>
              </a:lnSpc>
              <a:buNone/>
            </a:pPr>
            <a:r>
              <a:rPr lang="en-US" sz="2000" b="1" dirty="0">
                <a:solidFill>
                  <a:srgbClr val="25356B"/>
                </a:solidFill>
                <a:latin typeface="Times New Roman" pitchFamily="34" charset="0"/>
                <a:ea typeface="標楷體" pitchFamily="34" charset="-122"/>
                <a:cs typeface="Times New Roman" pitchFamily="34" charset="-120"/>
              </a:rPr>
              <a:t>閘道可用時段的 </a:t>
            </a:r>
            <a:pPr algn="ctr" indent="0" marL="0">
              <a:lnSpc>
                <a:spcPct val="100000"/>
              </a:lnSpc>
              <a:buNone/>
            </a:pPr>
            <a:r>
              <a:rPr lang="en-US" sz="2000" b="1" dirty="0">
                <a:solidFill>
                  <a:srgbClr val="25356B"/>
                </a:solidFill>
                <a:latin typeface="Times New Roman" pitchFamily="34" charset="0"/>
                <a:ea typeface="標楷體" pitchFamily="34" charset="-122"/>
                <a:cs typeface="Times New Roman" pitchFamily="34" charset="-120"/>
              </a:rPr>
              <a:t>transfer</a:t>
            </a:r>
            <a:pPr algn="ctr" indent="0" marL="0">
              <a:lnSpc>
                <a:spcPct val="100000"/>
              </a:lnSpc>
              <a:buNone/>
            </a:pPr>
            <a:r>
              <a:rPr lang="en-US" sz="20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000" b="1" dirty="0">
                <a:solidFill>
                  <a:srgbClr val="25356B"/>
                </a:solidFill>
                <a:latin typeface="Times New Roman" pitchFamily="34" charset="0"/>
                <a:ea typeface="標楷體" pitchFamily="34" charset="-122"/>
                <a:cs typeface="Times New Roman" pitchFamily="34" charset="-120"/>
              </a:rPr>
              <a:t>map</a:t>
            </a:r>
            <a:endParaRPr lang="en-US" sz="2000" dirty="0"/>
          </a:p>
        </p:txBody>
      </p:sp>
      <p:sp>
        <p:nvSpPr>
          <p:cNvPr id="14" name="Shape 12"/>
          <p:cNvSpPr/>
          <p:nvPr/>
        </p:nvSpPr>
        <p:spPr>
          <a:xfrm>
            <a:off x="5010912" y="2267712"/>
            <a:ext cx="1225296" cy="566928"/>
          </a:xfrm>
          <a:prstGeom prst="rect">
            <a:avLst/>
          </a:prstGeom>
          <a:solidFill>
            <a:srgbClr val="4967C2"/>
          </a:solidFill>
          <a:ln w="15240">
            <a:solidFill>
              <a:srgbClr val="4967C2"/>
            </a:solidFill>
            <a:prstDash val="solid"/>
          </a:ln>
        </p:spPr>
      </p:sp>
      <p:sp>
        <p:nvSpPr>
          <p:cNvPr id="15" name="Text 13"/>
          <p:cNvSpPr/>
          <p:nvPr/>
        </p:nvSpPr>
        <p:spPr>
          <a:xfrm>
            <a:off x="5038344" y="2350008"/>
            <a:ext cx="1170432" cy="310896"/>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FFFFFF"/>
                </a:solidFill>
                <a:latin typeface="Times New Roman" pitchFamily="34" charset="0"/>
                <a:ea typeface="標楷體" pitchFamily="34" charset="-122"/>
                <a:cs typeface="Times New Roman" pitchFamily="34" charset="-120"/>
              </a:rPr>
              <a:t>資料排隊</a:t>
            </a:r>
            <a:endParaRPr lang="en-US" sz="1800" dirty="0"/>
          </a:p>
        </p:txBody>
      </p:sp>
      <p:sp>
        <p:nvSpPr>
          <p:cNvPr id="16" name="Shape 14"/>
          <p:cNvSpPr/>
          <p:nvPr/>
        </p:nvSpPr>
        <p:spPr>
          <a:xfrm>
            <a:off x="6309360" y="2331720"/>
            <a:ext cx="384048" cy="438912"/>
          </a:xfrm>
          <a:prstGeom prst="chevron">
            <a:avLst/>
          </a:prstGeom>
          <a:solidFill>
            <a:srgbClr val="25356B"/>
          </a:solidFill>
          <a:ln w="12700">
            <a:solidFill>
              <a:srgbClr val="25356B">
                <a:alpha val="0"/>
              </a:srgbClr>
            </a:solidFill>
            <a:prstDash val="solid"/>
          </a:ln>
        </p:spPr>
      </p:sp>
      <p:sp>
        <p:nvSpPr>
          <p:cNvPr id="17" name="Shape 15"/>
          <p:cNvSpPr/>
          <p:nvPr/>
        </p:nvSpPr>
        <p:spPr>
          <a:xfrm>
            <a:off x="6766560" y="2267712"/>
            <a:ext cx="1060704" cy="566928"/>
          </a:xfrm>
          <a:prstGeom prst="rect">
            <a:avLst/>
          </a:prstGeom>
          <a:solidFill>
            <a:srgbClr val="CBD5E1"/>
          </a:solidFill>
          <a:ln w="15240">
            <a:solidFill>
              <a:srgbClr val="CBD5E1"/>
            </a:solidFill>
            <a:prstDash val="solid"/>
          </a:ln>
        </p:spPr>
      </p:sp>
      <p:sp>
        <p:nvSpPr>
          <p:cNvPr id="18" name="Text 16"/>
          <p:cNvSpPr/>
          <p:nvPr/>
        </p:nvSpPr>
        <p:spPr>
          <a:xfrm>
            <a:off x="6793992" y="2350008"/>
            <a:ext cx="1005840" cy="310896"/>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25324A"/>
                </a:solidFill>
                <a:latin typeface="Times New Roman" pitchFamily="34" charset="0"/>
                <a:ea typeface="標楷體" pitchFamily="34" charset="-122"/>
                <a:cs typeface="Times New Roman" pitchFamily="34" charset="-120"/>
              </a:rPr>
              <a:t>閘道關閉</a:t>
            </a:r>
            <a:endParaRPr lang="en-US" sz="1800" dirty="0"/>
          </a:p>
        </p:txBody>
      </p:sp>
      <p:sp>
        <p:nvSpPr>
          <p:cNvPr id="19" name="Shape 17"/>
          <p:cNvSpPr/>
          <p:nvPr/>
        </p:nvSpPr>
        <p:spPr>
          <a:xfrm>
            <a:off x="7900416" y="2331720"/>
            <a:ext cx="384048" cy="438912"/>
          </a:xfrm>
          <a:prstGeom prst="chevron">
            <a:avLst/>
          </a:prstGeom>
          <a:solidFill>
            <a:srgbClr val="25356B"/>
          </a:solidFill>
          <a:ln w="12700">
            <a:solidFill>
              <a:srgbClr val="25356B">
                <a:alpha val="0"/>
              </a:srgbClr>
            </a:solidFill>
            <a:prstDash val="solid"/>
          </a:ln>
        </p:spPr>
      </p:sp>
      <p:sp>
        <p:nvSpPr>
          <p:cNvPr id="20" name="Shape 18"/>
          <p:cNvSpPr/>
          <p:nvPr/>
        </p:nvSpPr>
        <p:spPr>
          <a:xfrm>
            <a:off x="8357616" y="2267712"/>
            <a:ext cx="1133856" cy="566928"/>
          </a:xfrm>
          <a:prstGeom prst="rect">
            <a:avLst/>
          </a:prstGeom>
          <a:solidFill>
            <a:srgbClr val="660066"/>
          </a:solidFill>
          <a:ln w="15240">
            <a:solidFill>
              <a:srgbClr val="660066"/>
            </a:solidFill>
            <a:prstDash val="solid"/>
          </a:ln>
        </p:spPr>
      </p:sp>
      <p:sp>
        <p:nvSpPr>
          <p:cNvPr id="21" name="Text 19"/>
          <p:cNvSpPr/>
          <p:nvPr/>
        </p:nvSpPr>
        <p:spPr>
          <a:xfrm>
            <a:off x="8385048" y="2350008"/>
            <a:ext cx="1078992" cy="310896"/>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FFFFFF"/>
                </a:solidFill>
                <a:latin typeface="Times New Roman" pitchFamily="34" charset="0"/>
                <a:ea typeface="標楷體" pitchFamily="34" charset="-122"/>
                <a:cs typeface="Times New Roman" pitchFamily="34" charset="-120"/>
              </a:rPr>
              <a:t>告警可用</a:t>
            </a:r>
            <a:endParaRPr lang="en-US" sz="1800" dirty="0"/>
          </a:p>
        </p:txBody>
      </p:sp>
      <p:sp>
        <p:nvSpPr>
          <p:cNvPr id="22" name="Shape 20"/>
          <p:cNvSpPr/>
          <p:nvPr/>
        </p:nvSpPr>
        <p:spPr>
          <a:xfrm>
            <a:off x="9564624" y="2331720"/>
            <a:ext cx="384048" cy="438912"/>
          </a:xfrm>
          <a:prstGeom prst="chevron">
            <a:avLst/>
          </a:prstGeom>
          <a:solidFill>
            <a:srgbClr val="25356B"/>
          </a:solidFill>
          <a:ln w="12700">
            <a:solidFill>
              <a:srgbClr val="25356B">
                <a:alpha val="0"/>
              </a:srgbClr>
            </a:solidFill>
            <a:prstDash val="solid"/>
          </a:ln>
        </p:spPr>
      </p:sp>
      <p:sp>
        <p:nvSpPr>
          <p:cNvPr id="23" name="Shape 21"/>
          <p:cNvSpPr/>
          <p:nvPr/>
        </p:nvSpPr>
        <p:spPr>
          <a:xfrm>
            <a:off x="10021824" y="2267712"/>
            <a:ext cx="1243584" cy="566928"/>
          </a:xfrm>
          <a:prstGeom prst="rect">
            <a:avLst/>
          </a:prstGeom>
          <a:solidFill>
            <a:srgbClr val="007374"/>
          </a:solidFill>
          <a:ln w="15240">
            <a:solidFill>
              <a:srgbClr val="007374"/>
            </a:solidFill>
            <a:prstDash val="solid"/>
          </a:ln>
        </p:spPr>
      </p:sp>
      <p:sp>
        <p:nvSpPr>
          <p:cNvPr id="24" name="Text 22"/>
          <p:cNvSpPr/>
          <p:nvPr/>
        </p:nvSpPr>
        <p:spPr>
          <a:xfrm>
            <a:off x="10049256" y="2350008"/>
            <a:ext cx="1188720" cy="310896"/>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FFFFFF"/>
                </a:solidFill>
                <a:latin typeface="Times New Roman" pitchFamily="34" charset="0"/>
                <a:ea typeface="標楷體" pitchFamily="34" charset="-122"/>
                <a:cs typeface="Times New Roman" pitchFamily="34" charset="-120"/>
              </a:rPr>
              <a:t>批次上傳</a:t>
            </a:r>
            <a:endParaRPr lang="en-US" sz="1800" dirty="0"/>
          </a:p>
        </p:txBody>
      </p:sp>
      <p:sp>
        <p:nvSpPr>
          <p:cNvPr id="25" name="Text 23"/>
          <p:cNvSpPr/>
          <p:nvPr/>
        </p:nvSpPr>
        <p:spPr>
          <a:xfrm>
            <a:off x="5010912" y="2999232"/>
            <a:ext cx="6053328" cy="365760"/>
          </a:xfrm>
          <a:prstGeom prst="rect">
            <a:avLst/>
          </a:prstGeom>
          <a:noFill/>
          <a:ln/>
        </p:spPr>
        <p:txBody>
          <a:bodyPr wrap="square" lIns="635" tIns="635" rIns="635" bIns="635" rtlCol="0" anchor="ctr">
            <a:normAutofit/>
          </a:bodyPr>
          <a:lstStyle/>
          <a:p>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灌溉告警：期限接近 → </a:t>
            </a:r>
            <a:pPr algn="ctr" indent="0" marL="0">
              <a:lnSpc>
                <a:spcPct val="100000"/>
              </a:lnSpc>
              <a:buNone/>
            </a:pPr>
            <a:r>
              <a:rPr lang="en-US" sz="2000" i="1" dirty="0">
                <a:solidFill>
                  <a:srgbClr val="25324A"/>
                </a:solidFill>
                <a:latin typeface="Times New Roman" pitchFamily="34" charset="0"/>
                <a:ea typeface="標楷體" pitchFamily="34" charset="-122"/>
                <a:cs typeface="Times New Roman" pitchFamily="34" charset="-120"/>
              </a:rPr>
              <a:t>SEND_URGENT</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；一般資料：</a:t>
            </a:r>
            <a:pPr algn="ctr" indent="0" marL="0">
              <a:lnSpc>
                <a:spcPct val="100000"/>
              </a:lnSpc>
              <a:buNone/>
            </a:pPr>
            <a:r>
              <a:rPr lang="en-US" sz="2000" i="1" dirty="0">
                <a:solidFill>
                  <a:srgbClr val="25324A"/>
                </a:solidFill>
                <a:latin typeface="Times New Roman" pitchFamily="34" charset="0"/>
                <a:ea typeface="標楷體" pitchFamily="34" charset="-122"/>
                <a:cs typeface="Times New Roman" pitchFamily="34" charset="-120"/>
              </a:rPr>
              <a:t>queue</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 </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batch</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 </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flush</a:t>
            </a:r>
            <a:endParaRPr lang="en-US" sz="2000" dirty="0"/>
          </a:p>
        </p:txBody>
      </p:sp>
      <p:sp>
        <p:nvSpPr>
          <p:cNvPr id="26" name="Shape 24"/>
          <p:cNvSpPr/>
          <p:nvPr/>
        </p:nvSpPr>
        <p:spPr>
          <a:xfrm>
            <a:off x="4736592" y="3931920"/>
            <a:ext cx="6629400" cy="1078992"/>
          </a:xfrm>
          <a:prstGeom prst="roundRect">
            <a:avLst/>
          </a:prstGeom>
          <a:solidFill>
            <a:srgbClr val="FDEFEF"/>
          </a:solidFill>
          <a:ln w="15240">
            <a:solidFill>
              <a:srgbClr val="992A2A"/>
            </a:solidFill>
            <a:prstDash val="solid"/>
          </a:ln>
        </p:spPr>
      </p:sp>
      <p:sp>
        <p:nvSpPr>
          <p:cNvPr id="27" name="Text 25"/>
          <p:cNvSpPr/>
          <p:nvPr/>
        </p:nvSpPr>
        <p:spPr>
          <a:xfrm>
            <a:off x="4882896" y="4041648"/>
            <a:ext cx="6336792" cy="329184"/>
          </a:xfrm>
          <a:prstGeom prst="rect">
            <a:avLst/>
          </a:prstGeom>
          <a:noFill/>
          <a:ln/>
        </p:spPr>
        <p:txBody>
          <a:bodyPr wrap="square" lIns="635" tIns="635" rIns="635" bIns="635" rtlCol="0" anchor="ctr">
            <a:normAutofit/>
          </a:bodyPr>
          <a:lstStyle/>
          <a:p>
            <a:pPr algn="l"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可推翻條件 </a:t>
            </a:r>
            <a:pPr algn="l"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Falsifier</a:t>
            </a:r>
            <a:endParaRPr lang="en-US" sz="1800" dirty="0"/>
          </a:p>
        </p:txBody>
      </p:sp>
      <p:sp>
        <p:nvSpPr>
          <p:cNvPr id="28" name="Text 26"/>
          <p:cNvSpPr/>
          <p:nvPr/>
        </p:nvSpPr>
        <p:spPr>
          <a:xfrm>
            <a:off x="4882896" y="4434840"/>
            <a:ext cx="6336792" cy="466344"/>
          </a:xfrm>
          <a:prstGeom prst="rect">
            <a:avLst/>
          </a:prstGeom>
          <a:noFill/>
          <a:ln/>
        </p:spPr>
        <p:txBody>
          <a:bodyPr wrap="square" lIns="635" tIns="635" rIns="635" bIns="635" rtlCol="0" anchor="t">
            <a:normAutofit/>
          </a:bodyPr>
          <a:lstStyle/>
          <a:p>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告警 </a:t>
            </a:r>
            <a:pPr algn="l"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freshness</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過期時，</a:t>
            </a:r>
            <a:pPr algn="l"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service</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gate</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失敗；較低 </a:t>
            </a:r>
            <a:pPr algn="l"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endpoint</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l"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J</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不足以保留成功判定。</a:t>
            </a:r>
            <a:endParaRPr lang="en-US" sz="2400" dirty="0"/>
          </a:p>
        </p:txBody>
      </p:sp>
      <p:sp>
        <p:nvSpPr>
          <p:cNvPr id="29" name="Shape 27"/>
          <p:cNvSpPr/>
          <p:nvPr/>
        </p:nvSpPr>
        <p:spPr>
          <a:xfrm>
            <a:off x="2212848" y="5376672"/>
            <a:ext cx="7754112" cy="420624"/>
          </a:xfrm>
          <a:prstGeom prst="roundRect">
            <a:avLst/>
          </a:prstGeom>
          <a:solidFill>
            <a:srgbClr val="F4EDF7"/>
          </a:solidFill>
          <a:ln w="15240">
            <a:solidFill>
              <a:srgbClr val="660066"/>
            </a:solidFill>
            <a:prstDash val="solid"/>
          </a:ln>
        </p:spPr>
      </p:sp>
      <p:sp>
        <p:nvSpPr>
          <p:cNvPr id="30" name="Text 28"/>
          <p:cNvSpPr/>
          <p:nvPr/>
        </p:nvSpPr>
        <p:spPr>
          <a:xfrm>
            <a:off x="2286000" y="5413248"/>
            <a:ext cx="7607808" cy="310896"/>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Transfer</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hypothesis</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farm</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field</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KPI</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 待補</a:t>
            </a:r>
            <a:endParaRPr lang="en-US" sz="1800" dirty="0"/>
          </a:p>
        </p:txBody>
      </p:sp>
      <p:sp>
        <p:nvSpPr>
          <p:cNvPr id="32" name="Text 3"/>
          <p:cNvSpPr/>
          <p:nvPr>
            <p:ph idx="105" type="title" hasCustomPrompt="1"/>
          </p:nvPr>
        </p:nvSpPr>
        <p:spPr>
          <a:xfrm>
            <a:off x="656591" y="187008"/>
            <a:ext cx="9462769" cy="480060"/>
          </a:xfrm>
          <a:prstGeom prst="rect">
            <a:avLst/>
          </a:prstGeom>
          <a:noFill/>
          <a:ln/>
        </p:spPr>
        <p:txBody>
          <a:bodyPr wrap="square" lIns="0" tIns="0" rIns="0" bIns="0" rtlCol="0" anchor="b"/>
          <a:lstStyle/>
          <a:p>
            <a:pPr algn="l" indent="0" marL="0">
              <a:buNone/>
            </a:pPr>
            <a:endParaRPr lang="en-US" sz="2800" dirty="0"/>
          </a:p>
        </p:txBody>
      </p:sp>
    </p:spTree>
  </p:cSld>
  <p:clrMapOvr>
    <a:masterClrMapping/>
  </p:clrMapOvr>
</p:sld>
</file>

<file path=ppt/slides/slide2.xml><?xml version="1.0" encoding="utf-8"?>
<p:sld xmlns:a="http://schemas.openxmlformats.org/drawingml/2006/main"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56591" y="187008"/>
            <a:ext cx="9462769" cy="480060"/>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P082</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Transfer</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HVAC</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的 </a:t>
            </a:r>
            <a:pPr algn="l" indent="0" marL="0">
              <a:lnSpc>
                <a:spcPct val="100000"/>
              </a:lnSpc>
              <a:buNone/>
            </a:pPr>
            <a:r>
              <a:rPr lang="en-US" sz="2800" b="1" i="1" dirty="0">
                <a:solidFill>
                  <a:srgbClr val="35377F"/>
                </a:solidFill>
                <a:latin typeface="Times New Roman" pitchFamily="34" charset="0"/>
                <a:ea typeface="標楷體" pitchFamily="34" charset="-122"/>
                <a:cs typeface="Times New Roman" pitchFamily="34" charset="-120"/>
              </a:rPr>
              <a:t>deadline</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與批次</a:t>
            </a:r>
            <a:endParaRPr lang="en-US" sz="2800" dirty="0"/>
          </a:p>
        </p:txBody>
      </p:sp>
      <p:sp>
        <p:nvSpPr>
          <p:cNvPr id="3" name="Text 1"/>
          <p:cNvSpPr/>
          <p:nvPr/>
        </p:nvSpPr>
        <p:spPr>
          <a:xfrm>
            <a:off x="822960" y="932688"/>
            <a:ext cx="10561320" cy="438912"/>
          </a:xfrm>
          <a:prstGeom prst="rect">
            <a:avLst/>
          </a:prstGeom>
          <a:noFill/>
          <a:ln/>
        </p:spPr>
        <p:txBody>
          <a:bodyPr wrap="square" lIns="635" tIns="635" rIns="635" bIns="635" rtlCol="0" anchor="ctr">
            <a:normAutofit/>
          </a:bodyPr>
          <a:lstStyle/>
          <a:p>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HVAC</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的低負載時段可批次；設備告警的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deadline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需要更早取得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action</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機會</a:t>
            </a:r>
            <a:endParaRPr lang="en-US" sz="2400" dirty="0"/>
          </a:p>
        </p:txBody>
      </p:sp>
      <p:sp>
        <p:nvSpPr>
          <p:cNvPr id="4" name="Shape 2"/>
          <p:cNvSpPr/>
          <p:nvPr/>
        </p:nvSpPr>
        <p:spPr>
          <a:xfrm>
            <a:off x="822960" y="1481328"/>
            <a:ext cx="10552176" cy="1060704"/>
          </a:xfrm>
          <a:prstGeom prst="rect">
            <a:avLst/>
          </a:prstGeom>
          <a:solidFill>
            <a:srgbClr val="F7F8FC"/>
          </a:solidFill>
          <a:ln w="15240">
            <a:solidFill>
              <a:srgbClr val="D7DEEA"/>
            </a:solidFill>
            <a:prstDash val="solid"/>
          </a:ln>
        </p:spPr>
      </p:sp>
      <p:sp>
        <p:nvSpPr>
          <p:cNvPr id="5" name="Text 3"/>
          <p:cNvSpPr/>
          <p:nvPr/>
        </p:nvSpPr>
        <p:spPr>
          <a:xfrm>
            <a:off x="1060704" y="1645920"/>
            <a:ext cx="3090672" cy="329184"/>
          </a:xfrm>
          <a:prstGeom prst="rect">
            <a:avLst/>
          </a:prstGeom>
          <a:noFill/>
          <a:ln/>
        </p:spPr>
        <p:txBody>
          <a:bodyPr wrap="square" lIns="635" tIns="635" rIns="635" bIns="635" rtlCol="0" anchor="ctr">
            <a:normAutofit/>
          </a:bodyPr>
          <a:lstStyle/>
          <a:p>
            <a:pPr algn="l" indent="0" marL="0">
              <a:lnSpc>
                <a:spcPct val="100000"/>
              </a:lnSpc>
              <a:buNone/>
            </a:pPr>
            <a:r>
              <a:rPr lang="en-US" sz="1800" b="1" dirty="0">
                <a:solidFill>
                  <a:srgbClr val="25356B"/>
                </a:solidFill>
                <a:latin typeface="Times New Roman" pitchFamily="34" charset="0"/>
                <a:ea typeface="標楷體" pitchFamily="34" charset="-122"/>
                <a:cs typeface="Times New Roman" pitchFamily="34" charset="-120"/>
              </a:rPr>
              <a:t>HVAC</a:t>
            </a:r>
            <a:pPr algn="l" indent="0" marL="0">
              <a:lnSpc>
                <a:spcPct val="100000"/>
              </a:lnSpc>
              <a:buNone/>
            </a:pPr>
            <a:r>
              <a:rPr lang="en-US" sz="1800" b="1" dirty="0">
                <a:solidFill>
                  <a:srgbClr val="25356B"/>
                </a:solidFill>
                <a:latin typeface="Times New Roman" pitchFamily="34" charset="0"/>
                <a:ea typeface="標楷體" pitchFamily="34" charset="-122"/>
                <a:cs typeface="Times New Roman" pitchFamily="34" charset="-120"/>
              </a:rPr>
              <a:t> </a:t>
            </a:r>
            <a:pPr algn="l" indent="0" marL="0">
              <a:lnSpc>
                <a:spcPct val="100000"/>
              </a:lnSpc>
              <a:buNone/>
            </a:pPr>
            <a:r>
              <a:rPr lang="en-US" sz="1800" b="1" dirty="0">
                <a:solidFill>
                  <a:srgbClr val="25356B"/>
                </a:solidFill>
                <a:latin typeface="Times New Roman" pitchFamily="34" charset="0"/>
                <a:ea typeface="標楷體" pitchFamily="34" charset="-122"/>
                <a:cs typeface="Times New Roman" pitchFamily="34" charset="-120"/>
              </a:rPr>
              <a:t>cycle</a:t>
            </a:r>
            <a:pPr algn="l" indent="0" marL="0">
              <a:lnSpc>
                <a:spcPct val="100000"/>
              </a:lnSpc>
              <a:buNone/>
            </a:pPr>
            <a:r>
              <a:rPr lang="en-US" sz="1800" b="1" dirty="0">
                <a:solidFill>
                  <a:srgbClr val="25356B"/>
                </a:solidFill>
                <a:latin typeface="Times New Roman" pitchFamily="34" charset="0"/>
                <a:ea typeface="標楷體" pitchFamily="34" charset="-122"/>
                <a:cs typeface="Times New Roman" pitchFamily="34" charset="-120"/>
              </a:rPr>
              <a:t>：低負載／可連線窗口</a:t>
            </a:r>
            <a:endParaRPr lang="en-US" sz="1800" dirty="0"/>
          </a:p>
        </p:txBody>
      </p:sp>
      <p:sp>
        <p:nvSpPr>
          <p:cNvPr id="6" name="Shape 4"/>
          <p:cNvSpPr/>
          <p:nvPr/>
        </p:nvSpPr>
        <p:spPr>
          <a:xfrm>
            <a:off x="4242816" y="1719072"/>
            <a:ext cx="1280160" cy="475488"/>
          </a:xfrm>
          <a:prstGeom prst="rect">
            <a:avLst/>
          </a:prstGeom>
          <a:solidFill>
            <a:srgbClr val="CBD5E1"/>
          </a:solidFill>
          <a:ln w="15240">
            <a:solidFill>
              <a:srgbClr val="CBD5E1"/>
            </a:solidFill>
            <a:prstDash val="solid"/>
          </a:ln>
        </p:spPr>
      </p:sp>
      <p:sp>
        <p:nvSpPr>
          <p:cNvPr id="7" name="Text 5"/>
          <p:cNvSpPr/>
          <p:nvPr/>
        </p:nvSpPr>
        <p:spPr>
          <a:xfrm>
            <a:off x="4270248" y="1773936"/>
            <a:ext cx="1225296" cy="274320"/>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25324A"/>
                </a:solidFill>
                <a:latin typeface="Times New Roman" pitchFamily="34" charset="0"/>
                <a:ea typeface="標楷體" pitchFamily="34" charset="-122"/>
                <a:cs typeface="Times New Roman" pitchFamily="34" charset="-120"/>
              </a:rPr>
              <a:t>高負載</a:t>
            </a:r>
            <a:endParaRPr lang="en-US" sz="1600" dirty="0"/>
          </a:p>
        </p:txBody>
      </p:sp>
      <p:sp>
        <p:nvSpPr>
          <p:cNvPr id="8" name="Shape 6"/>
          <p:cNvSpPr/>
          <p:nvPr/>
        </p:nvSpPr>
        <p:spPr>
          <a:xfrm>
            <a:off x="5596128" y="1719072"/>
            <a:ext cx="1298448" cy="475488"/>
          </a:xfrm>
          <a:prstGeom prst="rect">
            <a:avLst/>
          </a:prstGeom>
          <a:solidFill>
            <a:srgbClr val="007374"/>
          </a:solidFill>
          <a:ln w="15240">
            <a:solidFill>
              <a:srgbClr val="007374"/>
            </a:solidFill>
            <a:prstDash val="solid"/>
          </a:ln>
        </p:spPr>
      </p:sp>
      <p:sp>
        <p:nvSpPr>
          <p:cNvPr id="9" name="Text 7"/>
          <p:cNvSpPr/>
          <p:nvPr/>
        </p:nvSpPr>
        <p:spPr>
          <a:xfrm>
            <a:off x="5623560" y="1773936"/>
            <a:ext cx="1243584" cy="274320"/>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FFFFFF"/>
                </a:solidFill>
                <a:latin typeface="Times New Roman" pitchFamily="34" charset="0"/>
                <a:ea typeface="標楷體" pitchFamily="34" charset="-122"/>
                <a:cs typeface="Times New Roman" pitchFamily="34" charset="-120"/>
              </a:rPr>
              <a:t>低負載</a:t>
            </a:r>
            <a:endParaRPr lang="en-US" sz="1600" dirty="0"/>
          </a:p>
        </p:txBody>
      </p:sp>
      <p:sp>
        <p:nvSpPr>
          <p:cNvPr id="10" name="Shape 8"/>
          <p:cNvSpPr/>
          <p:nvPr/>
        </p:nvSpPr>
        <p:spPr>
          <a:xfrm>
            <a:off x="6967728" y="1719072"/>
            <a:ext cx="1627632" cy="475488"/>
          </a:xfrm>
          <a:prstGeom prst="rect">
            <a:avLst/>
          </a:prstGeom>
          <a:solidFill>
            <a:srgbClr val="4967C2"/>
          </a:solidFill>
          <a:ln w="15240">
            <a:solidFill>
              <a:srgbClr val="4967C2"/>
            </a:solidFill>
            <a:prstDash val="solid"/>
          </a:ln>
        </p:spPr>
      </p:sp>
      <p:sp>
        <p:nvSpPr>
          <p:cNvPr id="11" name="Text 9"/>
          <p:cNvSpPr/>
          <p:nvPr/>
        </p:nvSpPr>
        <p:spPr>
          <a:xfrm>
            <a:off x="6995160" y="1773936"/>
            <a:ext cx="1572768" cy="274320"/>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FFFFFF"/>
                </a:solidFill>
                <a:latin typeface="Times New Roman" pitchFamily="34" charset="0"/>
                <a:ea typeface="標楷體" pitchFamily="34" charset="-122"/>
                <a:cs typeface="Times New Roman" pitchFamily="34" charset="-120"/>
              </a:rPr>
              <a:t>品質穩定 </a:t>
            </a:r>
            <a:pPr algn="ctr" indent="0" marL="0">
              <a:lnSpc>
                <a:spcPct val="100000"/>
              </a:lnSpc>
              <a:buNone/>
            </a:pPr>
            <a:r>
              <a:rPr lang="en-US" sz="1600" b="1" i="1" dirty="0">
                <a:solidFill>
                  <a:srgbClr val="FFFFFF"/>
                </a:solidFill>
                <a:latin typeface="Times New Roman" pitchFamily="34" charset="0"/>
                <a:ea typeface="標楷體" pitchFamily="34" charset="-122"/>
                <a:cs typeface="Times New Roman" pitchFamily="34" charset="-120"/>
              </a:rPr>
              <a:t>quality</a:t>
            </a:r>
            <a:pPr algn="ctr" indent="0" marL="0">
              <a:lnSpc>
                <a:spcPct val="100000"/>
              </a:lnSpc>
              <a:buNone/>
            </a:pPr>
            <a:r>
              <a:rPr lang="en-US" sz="1600" b="1" dirty="0">
                <a:solidFill>
                  <a:srgbClr val="FFFFFF"/>
                </a:solidFill>
                <a:latin typeface="Times New Roman" pitchFamily="34" charset="0"/>
                <a:ea typeface="標楷體" pitchFamily="34" charset="-122"/>
                <a:cs typeface="Times New Roman" pitchFamily="34" charset="-120"/>
              </a:rPr>
              <a:t> </a:t>
            </a:r>
            <a:pPr algn="ctr" indent="0" marL="0">
              <a:lnSpc>
                <a:spcPct val="100000"/>
              </a:lnSpc>
              <a:buNone/>
            </a:pPr>
            <a:r>
              <a:rPr lang="en-US" sz="1600" b="1" dirty="0">
                <a:solidFill>
                  <a:srgbClr val="FFFFFF"/>
                </a:solidFill>
                <a:latin typeface="Times New Roman" pitchFamily="34" charset="0"/>
                <a:ea typeface="標楷體" pitchFamily="34" charset="-122"/>
                <a:cs typeface="Times New Roman" pitchFamily="34" charset="-120"/>
              </a:rPr>
              <a:t>stable</a:t>
            </a:r>
            <a:endParaRPr lang="en-US" sz="1600" dirty="0"/>
          </a:p>
        </p:txBody>
      </p:sp>
      <p:sp>
        <p:nvSpPr>
          <p:cNvPr id="12" name="Shape 10"/>
          <p:cNvSpPr/>
          <p:nvPr/>
        </p:nvSpPr>
        <p:spPr>
          <a:xfrm>
            <a:off x="8668512" y="1719072"/>
            <a:ext cx="1353312" cy="475488"/>
          </a:xfrm>
          <a:prstGeom prst="rect">
            <a:avLst/>
          </a:prstGeom>
          <a:solidFill>
            <a:srgbClr val="660066"/>
          </a:solidFill>
          <a:ln w="15240">
            <a:solidFill>
              <a:srgbClr val="660066"/>
            </a:solidFill>
            <a:prstDash val="solid"/>
          </a:ln>
        </p:spPr>
      </p:sp>
      <p:sp>
        <p:nvSpPr>
          <p:cNvPr id="13" name="Text 11"/>
          <p:cNvSpPr/>
          <p:nvPr/>
        </p:nvSpPr>
        <p:spPr>
          <a:xfrm>
            <a:off x="8695944" y="1773936"/>
            <a:ext cx="1298448" cy="274320"/>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FFFFFF"/>
                </a:solidFill>
                <a:latin typeface="Times New Roman" pitchFamily="34" charset="0"/>
                <a:ea typeface="標楷體" pitchFamily="34" charset="-122"/>
                <a:cs typeface="Times New Roman" pitchFamily="34" charset="-120"/>
              </a:rPr>
              <a:t>告警窗口</a:t>
            </a:r>
            <a:endParaRPr lang="en-US" sz="1600" dirty="0"/>
          </a:p>
        </p:txBody>
      </p:sp>
      <p:sp>
        <p:nvSpPr>
          <p:cNvPr id="14" name="Shape 12"/>
          <p:cNvSpPr/>
          <p:nvPr/>
        </p:nvSpPr>
        <p:spPr>
          <a:xfrm>
            <a:off x="822960" y="2889504"/>
            <a:ext cx="4974336" cy="1463040"/>
          </a:xfrm>
          <a:prstGeom prst="roundRect">
            <a:avLst/>
          </a:prstGeom>
          <a:solidFill>
            <a:srgbClr val="ECF1FE"/>
          </a:solidFill>
          <a:ln w="15240">
            <a:solidFill>
              <a:srgbClr val="4967C2"/>
            </a:solidFill>
            <a:prstDash val="solid"/>
          </a:ln>
        </p:spPr>
      </p:sp>
      <p:sp>
        <p:nvSpPr>
          <p:cNvPr id="15" name="Text 13"/>
          <p:cNvSpPr/>
          <p:nvPr/>
        </p:nvSpPr>
        <p:spPr>
          <a:xfrm>
            <a:off x="950976" y="2999232"/>
            <a:ext cx="4718304" cy="1243584"/>
          </a:xfrm>
          <a:prstGeom prst="rect">
            <a:avLst/>
          </a:prstGeom>
          <a:noFill/>
          <a:ln/>
        </p:spPr>
        <p:txBody>
          <a:bodyPr wrap="square" lIns="635" tIns="635" rIns="635" bIns="635" rtlCol="0" anchor="ctr">
            <a:normAutofit/>
          </a:bodyPr>
          <a:lstStyle/>
          <a:p>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一般遙測 </a:t>
            </a:r>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normal</a:t>
            </a:r>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telemetry</a:t>
            </a:r>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b="1" i="1" dirty="0">
                <a:solidFill>
                  <a:srgbClr val="25324A"/>
                </a:solidFill>
                <a:latin typeface="Times New Roman" pitchFamily="34" charset="0"/>
                <a:ea typeface="標楷體" pitchFamily="34" charset="-122"/>
                <a:cs typeface="Times New Roman" pitchFamily="34" charset="-120"/>
              </a:rPr>
              <a:t>queue</a:t>
            </a:r>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 → </a:t>
            </a:r>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batch</a:t>
            </a:r>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 → </a:t>
            </a:r>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flush</a:t>
            </a:r>
            <a:pPr algn="ctr" indent="0" marL="0">
              <a:lnSpc>
                <a:spcPct val="100000"/>
              </a:lnSpc>
              <a:buNone/>
            </a:pPr>
            <a:endParaRPr lang="en-US" sz="2400" dirty="0"/>
          </a:p>
          <a:p>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作用：減少啟用次數；判讀：</a:t>
            </a:r>
            <a:endParaRPr lang="en-US" sz="2400" dirty="0"/>
          </a:p>
          <a:p>
            <a:pPr algn="ctr" indent="0" marL="0">
              <a:lnSpc>
                <a:spcPct val="100000"/>
              </a:lnSpc>
              <a:buNone/>
            </a:pPr>
            <a:r>
              <a:rPr lang="en-US" sz="2400" b="1" i="1" dirty="0">
                <a:solidFill>
                  <a:srgbClr val="25324A"/>
                </a:solidFill>
                <a:latin typeface="Times New Roman" pitchFamily="34" charset="0"/>
                <a:ea typeface="標楷體" pitchFamily="34" charset="-122"/>
                <a:cs typeface="Times New Roman" pitchFamily="34" charset="-120"/>
              </a:rPr>
              <a:t>queue</a:t>
            </a:r>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age</a:t>
            </a:r>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 與 </a:t>
            </a:r>
            <a:pPr algn="ctr" indent="0" marL="0">
              <a:lnSpc>
                <a:spcPct val="100000"/>
              </a:lnSpc>
              <a:buNone/>
            </a:pPr>
            <a:r>
              <a:rPr lang="en-US" sz="2400" b="1" i="1" dirty="0">
                <a:solidFill>
                  <a:srgbClr val="25324A"/>
                </a:solidFill>
                <a:latin typeface="Times New Roman" pitchFamily="34" charset="0"/>
                <a:ea typeface="標楷體" pitchFamily="34" charset="-122"/>
                <a:cs typeface="Times New Roman" pitchFamily="34" charset="-120"/>
              </a:rPr>
              <a:t>freshness</a:t>
            </a:r>
            <a:endParaRPr lang="en-US" sz="2400" dirty="0"/>
          </a:p>
        </p:txBody>
      </p:sp>
      <p:sp>
        <p:nvSpPr>
          <p:cNvPr id="16" name="Shape 14"/>
          <p:cNvSpPr/>
          <p:nvPr/>
        </p:nvSpPr>
        <p:spPr>
          <a:xfrm>
            <a:off x="6126480" y="2889504"/>
            <a:ext cx="5248656" cy="1463040"/>
          </a:xfrm>
          <a:prstGeom prst="roundRect">
            <a:avLst/>
          </a:prstGeom>
          <a:solidFill>
            <a:srgbClr val="F4EDF7"/>
          </a:solidFill>
          <a:ln w="15240">
            <a:solidFill>
              <a:srgbClr val="660066"/>
            </a:solidFill>
            <a:prstDash val="solid"/>
          </a:ln>
        </p:spPr>
      </p:sp>
      <p:sp>
        <p:nvSpPr>
          <p:cNvPr id="17" name="Text 15"/>
          <p:cNvSpPr/>
          <p:nvPr/>
        </p:nvSpPr>
        <p:spPr>
          <a:xfrm>
            <a:off x="6254496" y="2999232"/>
            <a:ext cx="4992624" cy="1243584"/>
          </a:xfrm>
          <a:prstGeom prst="rect">
            <a:avLst/>
          </a:prstGeom>
          <a:noFill/>
          <a:ln/>
        </p:spPr>
        <p:txBody>
          <a:bodyPr wrap="square" lIns="635" tIns="635" rIns="635" bIns="635" rtlCol="0" anchor="ctr">
            <a:normAutofit/>
          </a:bodyPr>
          <a:lstStyle/>
          <a:p>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急件告警 </a:t>
            </a:r>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urgent</a:t>
            </a:r>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alarm</a:t>
            </a:r>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b="1" i="1" dirty="0">
                <a:solidFill>
                  <a:srgbClr val="25324A"/>
                </a:solidFill>
                <a:latin typeface="Times New Roman" pitchFamily="34" charset="0"/>
                <a:ea typeface="標楷體" pitchFamily="34" charset="-122"/>
                <a:cs typeface="Times New Roman" pitchFamily="34" charset="-120"/>
              </a:rPr>
              <a:t>deadline</a:t>
            </a:r>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 接近 → </a:t>
            </a:r>
            <a:pPr algn="ctr" indent="0" marL="0">
              <a:lnSpc>
                <a:spcPct val="100000"/>
              </a:lnSpc>
              <a:buNone/>
            </a:pPr>
            <a:r>
              <a:rPr lang="en-US" sz="2400" b="1" i="1" dirty="0">
                <a:solidFill>
                  <a:srgbClr val="25324A"/>
                </a:solidFill>
                <a:latin typeface="Times New Roman" pitchFamily="34" charset="0"/>
                <a:ea typeface="標楷體" pitchFamily="34" charset="-122"/>
                <a:cs typeface="Times New Roman" pitchFamily="34" charset="-120"/>
              </a:rPr>
              <a:t>SEND_URGENT</a:t>
            </a:r>
            <a:pPr algn="ctr" indent="0" marL="0">
              <a:lnSpc>
                <a:spcPct val="100000"/>
              </a:lnSpc>
              <a:buNone/>
            </a:pPr>
            <a:endParaRPr lang="en-US" sz="2400" dirty="0"/>
          </a:p>
          <a:p>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作用：保住告警服務；判讀：</a:t>
            </a:r>
            <a:endParaRPr lang="en-US" sz="2400" dirty="0"/>
          </a:p>
          <a:p>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delivery</a:t>
            </a:r>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 與 </a:t>
            </a:r>
            <a:pPr algn="ctr" indent="0" marL="0">
              <a:lnSpc>
                <a:spcPct val="100000"/>
              </a:lnSpc>
              <a:buNone/>
            </a:pPr>
            <a:r>
              <a:rPr lang="en-US" sz="2400" b="1" i="1" dirty="0">
                <a:solidFill>
                  <a:srgbClr val="25324A"/>
                </a:solidFill>
                <a:latin typeface="Times New Roman" pitchFamily="34" charset="0"/>
                <a:ea typeface="標楷體" pitchFamily="34" charset="-122"/>
                <a:cs typeface="Times New Roman" pitchFamily="34" charset="-120"/>
              </a:rPr>
              <a:t>deadline</a:t>
            </a:r>
            <a:endParaRPr lang="en-US" sz="2400" dirty="0"/>
          </a:p>
        </p:txBody>
      </p:sp>
      <p:sp>
        <p:nvSpPr>
          <p:cNvPr id="18" name="Shape 16"/>
          <p:cNvSpPr/>
          <p:nvPr/>
        </p:nvSpPr>
        <p:spPr>
          <a:xfrm>
            <a:off x="822960" y="4590288"/>
            <a:ext cx="10552176" cy="896112"/>
          </a:xfrm>
          <a:prstGeom prst="roundRect">
            <a:avLst/>
          </a:prstGeom>
          <a:solidFill>
            <a:srgbClr val="E8F7F4"/>
          </a:solidFill>
          <a:ln w="15240">
            <a:solidFill>
              <a:srgbClr val="007374"/>
            </a:solidFill>
            <a:prstDash val="solid"/>
          </a:ln>
        </p:spPr>
      </p:sp>
      <p:sp>
        <p:nvSpPr>
          <p:cNvPr id="19" name="Text 17"/>
          <p:cNvSpPr/>
          <p:nvPr/>
        </p:nvSpPr>
        <p:spPr>
          <a:xfrm>
            <a:off x="969264" y="4700016"/>
            <a:ext cx="10259568"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端點能量帳本 </a:t>
            </a:r>
            <a:pPr algn="ctr" indent="0" marL="0">
              <a:lnSpc>
                <a:spcPct val="100000"/>
              </a:lnSpc>
              <a:buNone/>
            </a:pPr>
            <a:r>
              <a:rPr lang="en-US" sz="1800" b="1" i="1" dirty="0">
                <a:solidFill>
                  <a:srgbClr val="007374"/>
                </a:solidFill>
                <a:latin typeface="Times New Roman" pitchFamily="34" charset="0"/>
                <a:ea typeface="標楷體" pitchFamily="34" charset="-122"/>
                <a:cs typeface="Times New Roman" pitchFamily="34" charset="-120"/>
              </a:rPr>
              <a:t>endpoint</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ledger</a:t>
            </a:r>
            <a:endParaRPr lang="en-US" sz="1800" dirty="0"/>
          </a:p>
        </p:txBody>
      </p:sp>
      <p:sp>
        <p:nvSpPr>
          <p:cNvPr id="20" name="Text 18"/>
          <p:cNvSpPr/>
          <p:nvPr/>
        </p:nvSpPr>
        <p:spPr>
          <a:xfrm>
            <a:off x="969264" y="5074920"/>
            <a:ext cx="10259568" cy="301752"/>
          </a:xfrm>
          <a:prstGeom prst="rect">
            <a:avLst/>
          </a:prstGeom>
          <a:noFill/>
          <a:ln/>
        </p:spPr>
        <p:txBody>
          <a:bodyPr wrap="square" lIns="635" tIns="635" rIns="635" bIns="635" rtlCol="0" anchor="t">
            <a:normAutofit/>
          </a:bodyPr>
          <a:lstStyle/>
          <a:p>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來源：</a:t>
            </a:r>
            <a:pPr algn="ctr" indent="0" marL="0">
              <a:lnSpc>
                <a:spcPct val="100000"/>
              </a:lnSpc>
              <a:buNone/>
            </a:pPr>
            <a:r>
              <a:rPr lang="en-US" sz="1800" i="1" dirty="0">
                <a:solidFill>
                  <a:srgbClr val="25324A"/>
                </a:solidFill>
                <a:latin typeface="Times New Roman" pitchFamily="34" charset="0"/>
                <a:ea typeface="標楷體" pitchFamily="34" charset="-122"/>
                <a:cs typeface="Times New Roman" pitchFamily="34" charset="-120"/>
              </a:rPr>
              <a:t>endpoint</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model</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；單位：</a:t>
            </a:r>
            <a:pPr algn="ctr" indent="0" marL="0">
              <a:lnSpc>
                <a:spcPct val="100000"/>
              </a:lnSpc>
              <a:buNone/>
            </a:pPr>
            <a:r>
              <a:rPr lang="en-US" sz="1800" i="1" dirty="0">
                <a:solidFill>
                  <a:srgbClr val="25324A"/>
                </a:solidFill>
                <a:latin typeface="Times New Roman" pitchFamily="34" charset="0"/>
                <a:ea typeface="標楷體" pitchFamily="34" charset="-122"/>
                <a:cs typeface="Times New Roman" pitchFamily="34" charset="-120"/>
              </a:rPr>
              <a:t>J</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；欄位：</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awake</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idle</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wake</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process</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TX</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RX</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1800" i="1" dirty="0">
                <a:solidFill>
                  <a:srgbClr val="25324A"/>
                </a:solidFill>
                <a:latin typeface="Times New Roman" pitchFamily="34" charset="0"/>
                <a:ea typeface="標楷體" pitchFamily="34" charset="-122"/>
                <a:cs typeface="Times New Roman" pitchFamily="34" charset="-120"/>
              </a:rPr>
              <a:t>sleep</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a:t>
            </a:r>
            <a:endParaRPr lang="en-US" sz="1800" dirty="0"/>
          </a:p>
        </p:txBody>
      </p:sp>
      <p:sp>
        <p:nvSpPr>
          <p:cNvPr id="21" name="Shape 19"/>
          <p:cNvSpPr/>
          <p:nvPr/>
        </p:nvSpPr>
        <p:spPr>
          <a:xfrm>
            <a:off x="2121408" y="5577840"/>
            <a:ext cx="7955280" cy="420624"/>
          </a:xfrm>
          <a:prstGeom prst="roundRect">
            <a:avLst/>
          </a:prstGeom>
          <a:solidFill>
            <a:srgbClr val="E8F7F4"/>
          </a:solidFill>
          <a:ln w="15240">
            <a:solidFill>
              <a:srgbClr val="007374"/>
            </a:solidFill>
            <a:prstDash val="solid"/>
          </a:ln>
        </p:spPr>
      </p:sp>
      <p:sp>
        <p:nvSpPr>
          <p:cNvPr id="22" name="Text 20"/>
          <p:cNvSpPr/>
          <p:nvPr/>
        </p:nvSpPr>
        <p:spPr>
          <a:xfrm>
            <a:off x="2194560" y="5614416"/>
            <a:ext cx="7808976" cy="310896"/>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Transfer</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mechanism</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only</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HVAC</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measured</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KPI</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待補</a:t>
            </a:r>
            <a:endParaRPr lang="en-US" sz="1800" dirty="0"/>
          </a:p>
        </p:txBody>
      </p:sp>
      <p:sp>
        <p:nvSpPr>
          <p:cNvPr id="24" name="Text 3"/>
          <p:cNvSpPr/>
          <p:nvPr>
            <p:ph idx="105" type="title" hasCustomPrompt="1"/>
          </p:nvPr>
        </p:nvSpPr>
        <p:spPr>
          <a:xfrm>
            <a:off x="656591" y="187008"/>
            <a:ext cx="9462769" cy="480060"/>
          </a:xfrm>
          <a:prstGeom prst="rect">
            <a:avLst/>
          </a:prstGeom>
          <a:noFill/>
          <a:ln/>
        </p:spPr>
        <p:txBody>
          <a:bodyPr wrap="square" lIns="0" tIns="0" rIns="0" bIns="0" rtlCol="0" anchor="b"/>
          <a:lstStyle/>
          <a:p>
            <a:pPr algn="l" indent="0" marL="0">
              <a:buNone/>
            </a:pPr>
            <a:endParaRPr lang="en-US" sz="2800" dirty="0"/>
          </a:p>
        </p:txBody>
      </p:sp>
    </p:spTree>
  </p:cSld>
  <p:clrMapOvr>
    <a:masterClrMapping/>
  </p:clrMapOvr>
</p:sld>
</file>

<file path=ppt/slides/slide3.xml><?xml version="1.0" encoding="utf-8"?>
<p:sld xmlns:a="http://schemas.openxmlformats.org/drawingml/2006/main"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56591" y="187008"/>
            <a:ext cx="9462769" cy="480060"/>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P083</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Transfer</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edge</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inference</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的 </a:t>
            </a:r>
            <a:pPr algn="l" indent="0" marL="0">
              <a:lnSpc>
                <a:spcPct val="100000"/>
              </a:lnSpc>
              <a:buNone/>
            </a:pPr>
            <a:r>
              <a:rPr lang="en-US" sz="2800" b="1" i="1" dirty="0">
                <a:solidFill>
                  <a:srgbClr val="35377F"/>
                </a:solidFill>
                <a:latin typeface="Times New Roman" pitchFamily="34" charset="0"/>
                <a:ea typeface="標楷體" pitchFamily="34" charset="-122"/>
                <a:cs typeface="Times New Roman" pitchFamily="34" charset="-120"/>
              </a:rPr>
              <a:t>freshness</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gate</a:t>
            </a:r>
            <a:endParaRPr lang="en-US" sz="2800" dirty="0"/>
          </a:p>
        </p:txBody>
      </p:sp>
      <p:sp>
        <p:nvSpPr>
          <p:cNvPr id="3" name="Text 1"/>
          <p:cNvSpPr/>
          <p:nvPr/>
        </p:nvSpPr>
        <p:spPr>
          <a:xfrm>
            <a:off x="822960" y="932688"/>
            <a:ext cx="10561320" cy="438912"/>
          </a:xfrm>
          <a:prstGeom prst="rect">
            <a:avLst/>
          </a:prstGeom>
          <a:noFill/>
          <a:ln/>
        </p:spPr>
        <p:txBody>
          <a:bodyPr wrap="square" lIns="635" tIns="635" rIns="635" bIns="635" rtlCol="0" anchor="ctr">
            <a:normAutofit/>
          </a:bodyPr>
          <a:lstStyle/>
          <a:p>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可移植因果句：</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observation</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policy</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action</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event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ledger</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service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gate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endpoint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J</a:t>
            </a:r>
            <a:endParaRPr lang="en-US" sz="2400" dirty="0"/>
          </a:p>
        </p:txBody>
      </p:sp>
      <p:sp>
        <p:nvSpPr>
          <p:cNvPr id="4" name="Shape 2"/>
          <p:cNvSpPr/>
          <p:nvPr/>
        </p:nvSpPr>
        <p:spPr>
          <a:xfrm>
            <a:off x="713232" y="1682496"/>
            <a:ext cx="1993392" cy="1298448"/>
          </a:xfrm>
          <a:prstGeom prst="roundRect">
            <a:avLst/>
          </a:prstGeom>
          <a:solidFill>
            <a:srgbClr val="ECF1FE"/>
          </a:solidFill>
          <a:ln w="15240">
            <a:solidFill>
              <a:srgbClr val="4967C2"/>
            </a:solidFill>
            <a:prstDash val="solid"/>
          </a:ln>
        </p:spPr>
      </p:sp>
      <p:sp>
        <p:nvSpPr>
          <p:cNvPr id="5" name="Text 3"/>
          <p:cNvSpPr/>
          <p:nvPr/>
        </p:nvSpPr>
        <p:spPr>
          <a:xfrm>
            <a:off x="859536" y="1792224"/>
            <a:ext cx="1700784"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觀測 </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Observation</a:t>
            </a:r>
            <a:endParaRPr lang="en-US" sz="1800" dirty="0"/>
          </a:p>
        </p:txBody>
      </p:sp>
      <p:sp>
        <p:nvSpPr>
          <p:cNvPr id="6" name="Text 4"/>
          <p:cNvSpPr/>
          <p:nvPr/>
        </p:nvSpPr>
        <p:spPr>
          <a:xfrm>
            <a:off x="859536" y="2249424"/>
            <a:ext cx="1700784" cy="621792"/>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來源：</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endpoint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trace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；欄位：</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queue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deadline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quality</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window</a:t>
            </a:r>
            <a:endParaRPr lang="en-US" sz="2400" dirty="0"/>
          </a:p>
        </p:txBody>
      </p:sp>
      <p:sp>
        <p:nvSpPr>
          <p:cNvPr id="7" name="Shape 5"/>
          <p:cNvSpPr/>
          <p:nvPr/>
        </p:nvSpPr>
        <p:spPr>
          <a:xfrm>
            <a:off x="2779776" y="2121408"/>
            <a:ext cx="384048" cy="438912"/>
          </a:xfrm>
          <a:prstGeom prst="chevron">
            <a:avLst/>
          </a:prstGeom>
          <a:solidFill>
            <a:srgbClr val="4967C2"/>
          </a:solidFill>
          <a:ln w="12700">
            <a:solidFill>
              <a:srgbClr val="4967C2">
                <a:alpha val="0"/>
              </a:srgbClr>
            </a:solidFill>
            <a:prstDash val="solid"/>
          </a:ln>
        </p:spPr>
      </p:sp>
      <p:sp>
        <p:nvSpPr>
          <p:cNvPr id="8" name="Shape 6"/>
          <p:cNvSpPr/>
          <p:nvPr/>
        </p:nvSpPr>
        <p:spPr>
          <a:xfrm>
            <a:off x="2990088" y="1682496"/>
            <a:ext cx="1993392" cy="1298448"/>
          </a:xfrm>
          <a:prstGeom prst="roundRect">
            <a:avLst/>
          </a:prstGeom>
          <a:solidFill>
            <a:srgbClr val="FDF9E2"/>
          </a:solidFill>
          <a:ln w="15240">
            <a:solidFill>
              <a:srgbClr val="846826"/>
            </a:solidFill>
            <a:prstDash val="solid"/>
          </a:ln>
        </p:spPr>
      </p:sp>
      <p:sp>
        <p:nvSpPr>
          <p:cNvPr id="9" name="Text 7"/>
          <p:cNvSpPr/>
          <p:nvPr/>
        </p:nvSpPr>
        <p:spPr>
          <a:xfrm>
            <a:off x="3136392" y="1792224"/>
            <a:ext cx="1700784"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策略動作 </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Policy</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 </a:t>
            </a:r>
            <a:pPr algn="ctr" indent="0" marL="0">
              <a:lnSpc>
                <a:spcPct val="100000"/>
              </a:lnSpc>
              <a:buNone/>
            </a:pPr>
            <a:r>
              <a:rPr lang="en-US" sz="1800" b="1" i="1" dirty="0">
                <a:solidFill>
                  <a:srgbClr val="846826"/>
                </a:solidFill>
                <a:latin typeface="Times New Roman" pitchFamily="34" charset="0"/>
                <a:ea typeface="標楷體" pitchFamily="34" charset="-122"/>
                <a:cs typeface="Times New Roman" pitchFamily="34" charset="-120"/>
              </a:rPr>
              <a:t>action</a:t>
            </a:r>
            <a:endParaRPr lang="en-US" sz="1800" dirty="0"/>
          </a:p>
        </p:txBody>
      </p:sp>
      <p:sp>
        <p:nvSpPr>
          <p:cNvPr id="10" name="Text 8"/>
          <p:cNvSpPr/>
          <p:nvPr/>
        </p:nvSpPr>
        <p:spPr>
          <a:xfrm>
            <a:off x="3136392" y="2249424"/>
            <a:ext cx="1700784" cy="621792"/>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來源：</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policy</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API</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；值：</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enum</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；作用：選擇 </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action</a:t>
            </a:r>
            <a:endParaRPr lang="en-US" sz="2400" dirty="0"/>
          </a:p>
        </p:txBody>
      </p:sp>
      <p:sp>
        <p:nvSpPr>
          <p:cNvPr id="11" name="Shape 9"/>
          <p:cNvSpPr/>
          <p:nvPr/>
        </p:nvSpPr>
        <p:spPr>
          <a:xfrm>
            <a:off x="5056632" y="2121408"/>
            <a:ext cx="384048" cy="438912"/>
          </a:xfrm>
          <a:prstGeom prst="chevron">
            <a:avLst/>
          </a:prstGeom>
          <a:solidFill>
            <a:srgbClr val="846826"/>
          </a:solidFill>
          <a:ln w="12700">
            <a:solidFill>
              <a:srgbClr val="846826">
                <a:alpha val="0"/>
              </a:srgbClr>
            </a:solidFill>
            <a:prstDash val="solid"/>
          </a:ln>
        </p:spPr>
      </p:sp>
      <p:sp>
        <p:nvSpPr>
          <p:cNvPr id="12" name="Shape 10"/>
          <p:cNvSpPr/>
          <p:nvPr/>
        </p:nvSpPr>
        <p:spPr>
          <a:xfrm>
            <a:off x="5266944" y="1682496"/>
            <a:ext cx="1993392" cy="1298448"/>
          </a:xfrm>
          <a:prstGeom prst="roundRect">
            <a:avLst/>
          </a:prstGeom>
          <a:solidFill>
            <a:srgbClr val="F4EDF7"/>
          </a:solidFill>
          <a:ln w="15240">
            <a:solidFill>
              <a:srgbClr val="660066"/>
            </a:solidFill>
            <a:prstDash val="solid"/>
          </a:ln>
        </p:spPr>
      </p:sp>
      <p:sp>
        <p:nvSpPr>
          <p:cNvPr id="13" name="Text 11"/>
          <p:cNvSpPr/>
          <p:nvPr/>
        </p:nvSpPr>
        <p:spPr>
          <a:xfrm>
            <a:off x="5413248" y="1792224"/>
            <a:ext cx="1700784"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事件帳本 </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Event</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ledger</a:t>
            </a:r>
            <a:endParaRPr lang="en-US" sz="1800" dirty="0"/>
          </a:p>
        </p:txBody>
      </p:sp>
      <p:sp>
        <p:nvSpPr>
          <p:cNvPr id="14" name="Text 12"/>
          <p:cNvSpPr/>
          <p:nvPr/>
        </p:nvSpPr>
        <p:spPr>
          <a:xfrm>
            <a:off x="5413248" y="2249424"/>
            <a:ext cx="1700784" cy="621792"/>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來源：</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replay</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；欄位：</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state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packet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retry</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delivery</a:t>
            </a:r>
            <a:endParaRPr lang="en-US" sz="2400" dirty="0"/>
          </a:p>
        </p:txBody>
      </p:sp>
      <p:sp>
        <p:nvSpPr>
          <p:cNvPr id="15" name="Shape 13"/>
          <p:cNvSpPr/>
          <p:nvPr/>
        </p:nvSpPr>
        <p:spPr>
          <a:xfrm>
            <a:off x="7333488" y="2121408"/>
            <a:ext cx="384048" cy="438912"/>
          </a:xfrm>
          <a:prstGeom prst="chevron">
            <a:avLst/>
          </a:prstGeom>
          <a:solidFill>
            <a:srgbClr val="660066"/>
          </a:solidFill>
          <a:ln w="12700">
            <a:solidFill>
              <a:srgbClr val="660066">
                <a:alpha val="0"/>
              </a:srgbClr>
            </a:solidFill>
            <a:prstDash val="solid"/>
          </a:ln>
        </p:spPr>
      </p:sp>
      <p:sp>
        <p:nvSpPr>
          <p:cNvPr id="16" name="Shape 14"/>
          <p:cNvSpPr/>
          <p:nvPr/>
        </p:nvSpPr>
        <p:spPr>
          <a:xfrm>
            <a:off x="7543800" y="1682496"/>
            <a:ext cx="1993392" cy="1298448"/>
          </a:xfrm>
          <a:prstGeom prst="roundRect">
            <a:avLst/>
          </a:prstGeom>
          <a:solidFill>
            <a:srgbClr val="E8F7F4"/>
          </a:solidFill>
          <a:ln w="15240">
            <a:solidFill>
              <a:srgbClr val="007374"/>
            </a:solidFill>
            <a:prstDash val="solid"/>
          </a:ln>
        </p:spPr>
      </p:sp>
      <p:sp>
        <p:nvSpPr>
          <p:cNvPr id="17" name="Text 15"/>
          <p:cNvSpPr/>
          <p:nvPr/>
        </p:nvSpPr>
        <p:spPr>
          <a:xfrm>
            <a:off x="7690104" y="1792224"/>
            <a:ext cx="1700784"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服務閘門 </a:t>
            </a:r>
            <a:pPr algn="ctr" indent="0" marL="0">
              <a:lnSpc>
                <a:spcPct val="100000"/>
              </a:lnSpc>
              <a:buNone/>
            </a:pPr>
            <a:r>
              <a:rPr lang="en-US" sz="1800" b="1" i="1" dirty="0">
                <a:solidFill>
                  <a:srgbClr val="007374"/>
                </a:solidFill>
                <a:latin typeface="Times New Roman" pitchFamily="34" charset="0"/>
                <a:ea typeface="標楷體" pitchFamily="34" charset="-122"/>
                <a:cs typeface="Times New Roman" pitchFamily="34" charset="-120"/>
              </a:rPr>
              <a:t>Service</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gate</a:t>
            </a:r>
            <a:endParaRPr lang="en-US" sz="1800" dirty="0"/>
          </a:p>
        </p:txBody>
      </p:sp>
      <p:sp>
        <p:nvSpPr>
          <p:cNvPr id="18" name="Text 16"/>
          <p:cNvSpPr/>
          <p:nvPr/>
        </p:nvSpPr>
        <p:spPr>
          <a:xfrm>
            <a:off x="7690104" y="2249424"/>
            <a:ext cx="1700784" cy="621792"/>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來源：</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result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；值：</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verdict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；作用：核對 </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freshness</a:t>
            </a:r>
            <a:endParaRPr lang="en-US" sz="2400" dirty="0"/>
          </a:p>
        </p:txBody>
      </p:sp>
      <p:sp>
        <p:nvSpPr>
          <p:cNvPr id="19" name="Shape 17"/>
          <p:cNvSpPr/>
          <p:nvPr/>
        </p:nvSpPr>
        <p:spPr>
          <a:xfrm>
            <a:off x="9610344" y="2121408"/>
            <a:ext cx="384048" cy="438912"/>
          </a:xfrm>
          <a:prstGeom prst="chevron">
            <a:avLst/>
          </a:prstGeom>
          <a:solidFill>
            <a:srgbClr val="007374"/>
          </a:solidFill>
          <a:ln w="12700">
            <a:solidFill>
              <a:srgbClr val="007374">
                <a:alpha val="0"/>
              </a:srgbClr>
            </a:solidFill>
            <a:prstDash val="solid"/>
          </a:ln>
        </p:spPr>
      </p:sp>
      <p:sp>
        <p:nvSpPr>
          <p:cNvPr id="20" name="Shape 18"/>
          <p:cNvSpPr/>
          <p:nvPr/>
        </p:nvSpPr>
        <p:spPr>
          <a:xfrm>
            <a:off x="9820656" y="1682496"/>
            <a:ext cx="1993392" cy="1298448"/>
          </a:xfrm>
          <a:prstGeom prst="roundRect">
            <a:avLst/>
          </a:prstGeom>
          <a:solidFill>
            <a:srgbClr val="FDEFEF"/>
          </a:solidFill>
          <a:ln w="15240">
            <a:solidFill>
              <a:srgbClr val="992A2A"/>
            </a:solidFill>
            <a:prstDash val="solid"/>
          </a:ln>
        </p:spPr>
      </p:sp>
      <p:sp>
        <p:nvSpPr>
          <p:cNvPr id="21" name="Text 19"/>
          <p:cNvSpPr/>
          <p:nvPr/>
        </p:nvSpPr>
        <p:spPr>
          <a:xfrm>
            <a:off x="9966960" y="1792224"/>
            <a:ext cx="1700784"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端點能量 </a:t>
            </a:r>
            <a:pPr algn="ctr" indent="0" marL="0">
              <a:lnSpc>
                <a:spcPct val="100000"/>
              </a:lnSpc>
              <a:buNone/>
            </a:pPr>
            <a:r>
              <a:rPr lang="en-US" sz="1800" b="1" i="1" dirty="0">
                <a:solidFill>
                  <a:srgbClr val="992A2A"/>
                </a:solidFill>
                <a:latin typeface="Times New Roman" pitchFamily="34" charset="0"/>
                <a:ea typeface="標楷體" pitchFamily="34" charset="-122"/>
                <a:cs typeface="Times New Roman" pitchFamily="34" charset="-120"/>
              </a:rPr>
              <a:t>Endpoint</a:t>
            </a:r>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 </a:t>
            </a:r>
            <a:pPr algn="ctr" indent="0" marL="0">
              <a:lnSpc>
                <a:spcPct val="100000"/>
              </a:lnSpc>
              <a:buNone/>
            </a:pPr>
            <a:r>
              <a:rPr lang="en-US" sz="1800" b="1" i="1" dirty="0">
                <a:solidFill>
                  <a:srgbClr val="992A2A"/>
                </a:solidFill>
                <a:latin typeface="Times New Roman" pitchFamily="34" charset="0"/>
                <a:ea typeface="標楷體" pitchFamily="34" charset="-122"/>
                <a:cs typeface="Times New Roman" pitchFamily="34" charset="-120"/>
              </a:rPr>
              <a:t>J</a:t>
            </a:r>
            <a:endParaRPr lang="en-US" sz="1800" dirty="0"/>
          </a:p>
        </p:txBody>
      </p:sp>
      <p:sp>
        <p:nvSpPr>
          <p:cNvPr id="22" name="Text 20"/>
          <p:cNvSpPr/>
          <p:nvPr/>
        </p:nvSpPr>
        <p:spPr>
          <a:xfrm>
            <a:off x="9966960" y="2249424"/>
            <a:ext cx="1700784" cy="621792"/>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來源：</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endpoint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model</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；單位：</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J</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；作用：累積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scope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能量</a:t>
            </a:r>
            <a:endParaRPr lang="en-US" sz="2400" dirty="0"/>
          </a:p>
        </p:txBody>
      </p:sp>
      <p:sp>
        <p:nvSpPr>
          <p:cNvPr id="23" name="Shape 21"/>
          <p:cNvSpPr/>
          <p:nvPr/>
        </p:nvSpPr>
        <p:spPr>
          <a:xfrm>
            <a:off x="822960" y="3401568"/>
            <a:ext cx="4956048" cy="1371600"/>
          </a:xfrm>
          <a:prstGeom prst="roundRect">
            <a:avLst/>
          </a:prstGeom>
          <a:solidFill>
            <a:srgbClr val="ECF1FE"/>
          </a:solidFill>
          <a:ln w="15240">
            <a:solidFill>
              <a:srgbClr val="4967C2"/>
            </a:solidFill>
            <a:prstDash val="solid"/>
          </a:ln>
        </p:spPr>
      </p:sp>
      <p:sp>
        <p:nvSpPr>
          <p:cNvPr id="24" name="Text 22"/>
          <p:cNvSpPr/>
          <p:nvPr/>
        </p:nvSpPr>
        <p:spPr>
          <a:xfrm>
            <a:off x="969264" y="3511296"/>
            <a:ext cx="4663440" cy="329184"/>
          </a:xfrm>
          <a:prstGeom prst="rect">
            <a:avLst/>
          </a:prstGeom>
          <a:noFill/>
          <a:ln/>
        </p:spPr>
        <p:txBody>
          <a:bodyPr wrap="square" lIns="635" tIns="635" rIns="635" bIns="635" rtlCol="0" anchor="ctr">
            <a:normAutofit/>
          </a:bodyPr>
          <a:lstStyle/>
          <a:p>
            <a:pPr algn="l"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可轉移場景</a:t>
            </a:r>
            <a:endParaRPr lang="en-US" sz="1800" dirty="0"/>
          </a:p>
        </p:txBody>
      </p:sp>
      <p:sp>
        <p:nvSpPr>
          <p:cNvPr id="25" name="Text 23"/>
          <p:cNvSpPr/>
          <p:nvPr/>
        </p:nvSpPr>
        <p:spPr>
          <a:xfrm>
            <a:off x="969264" y="3931920"/>
            <a:ext cx="4663440" cy="731520"/>
          </a:xfrm>
          <a:prstGeom prst="rect">
            <a:avLst/>
          </a:prstGeom>
          <a:noFill/>
          <a:ln/>
        </p:spPr>
        <p:txBody>
          <a:bodyPr wrap="square" lIns="635" tIns="635" rIns="635" bIns="635" rtlCol="0" anchor="t">
            <a:normAutofit/>
          </a:bodyPr>
          <a:lstStyle/>
          <a:p>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邊緣影像摘要：一般摘要可 </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batch</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；安全告警走 </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urgent</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endParaRPr lang="en-US" sz="2400" dirty="0"/>
          </a:p>
          <a:p>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物流追蹤：位置卡可等待連線窗口。</a:t>
            </a:r>
            <a:endParaRPr lang="en-US" sz="2400" dirty="0"/>
          </a:p>
        </p:txBody>
      </p:sp>
      <p:sp>
        <p:nvSpPr>
          <p:cNvPr id="26" name="Shape 24"/>
          <p:cNvSpPr/>
          <p:nvPr/>
        </p:nvSpPr>
        <p:spPr>
          <a:xfrm>
            <a:off x="6126480" y="3401568"/>
            <a:ext cx="5248656" cy="1371600"/>
          </a:xfrm>
          <a:prstGeom prst="roundRect">
            <a:avLst/>
          </a:prstGeom>
          <a:solidFill>
            <a:srgbClr val="FDF9E2"/>
          </a:solidFill>
          <a:ln w="15240">
            <a:solidFill>
              <a:srgbClr val="846826"/>
            </a:solidFill>
            <a:prstDash val="solid"/>
          </a:ln>
        </p:spPr>
      </p:sp>
      <p:sp>
        <p:nvSpPr>
          <p:cNvPr id="27" name="Text 25"/>
          <p:cNvSpPr/>
          <p:nvPr/>
        </p:nvSpPr>
        <p:spPr>
          <a:xfrm>
            <a:off x="6272784" y="3511296"/>
            <a:ext cx="4956048" cy="329184"/>
          </a:xfrm>
          <a:prstGeom prst="rect">
            <a:avLst/>
          </a:prstGeom>
          <a:noFill/>
          <a:ln/>
        </p:spPr>
        <p:txBody>
          <a:bodyPr wrap="square" lIns="635" tIns="635" rIns="635" bIns="635" rtlCol="0" anchor="ctr">
            <a:normAutofit/>
          </a:bodyPr>
          <a:lstStyle/>
          <a:p>
            <a:pPr algn="l"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可推翻條件</a:t>
            </a:r>
            <a:endParaRPr lang="en-US" sz="1800" dirty="0"/>
          </a:p>
        </p:txBody>
      </p:sp>
      <p:sp>
        <p:nvSpPr>
          <p:cNvPr id="28" name="Text 26"/>
          <p:cNvSpPr/>
          <p:nvPr/>
        </p:nvSpPr>
        <p:spPr>
          <a:xfrm>
            <a:off x="6272784" y="3931920"/>
            <a:ext cx="4956048" cy="731520"/>
          </a:xfrm>
          <a:prstGeom prst="rect">
            <a:avLst/>
          </a:prstGeom>
          <a:noFill/>
          <a:ln/>
        </p:spPr>
        <p:txBody>
          <a:bodyPr wrap="square" lIns="635" tIns="635" rIns="635" bIns="635" rtlCol="0" anchor="t">
            <a:normAutofit/>
          </a:bodyPr>
          <a:lstStyle/>
          <a:p>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窗口縮短、</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traffic</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增加或 </a:t>
            </a:r>
            <a:pPr algn="l"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deadline</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提前時，重新檢驗較大 </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urgent</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margin</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的 </a:t>
            </a:r>
            <a:pPr algn="l"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service</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gate</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endParaRPr lang="en-US" sz="2400" dirty="0"/>
          </a:p>
        </p:txBody>
      </p:sp>
      <p:sp>
        <p:nvSpPr>
          <p:cNvPr id="29" name="Text 27"/>
          <p:cNvSpPr/>
          <p:nvPr/>
        </p:nvSpPr>
        <p:spPr>
          <a:xfrm>
            <a:off x="960120" y="5266944"/>
            <a:ext cx="10259568" cy="384048"/>
          </a:xfrm>
          <a:prstGeom prst="rect">
            <a:avLst/>
          </a:prstGeom>
          <a:noFill/>
          <a:ln/>
        </p:spPr>
        <p:txBody>
          <a:bodyPr wrap="square" lIns="635" tIns="635" rIns="635" bIns="635" rtlCol="0" anchor="ctr">
            <a:normAutofit/>
          </a:bodyPr>
          <a:lstStyle/>
          <a:p>
            <a:pPr algn="ctr" indent="0" marL="0">
              <a:lnSpc>
                <a:spcPct val="100000"/>
              </a:lnSpc>
              <a:buNone/>
            </a:pPr>
            <a:r>
              <a:rPr lang="en-US" sz="2000" dirty="0">
                <a:solidFill>
                  <a:srgbClr val="660066"/>
                </a:solidFill>
                <a:latin typeface="Times New Roman" pitchFamily="34" charset="0"/>
                <a:ea typeface="標楷體" pitchFamily="34" charset="-122"/>
                <a:cs typeface="Times New Roman" pitchFamily="34" charset="-120"/>
              </a:rPr>
              <a:t>transfer</a:t>
            </a:r>
            <a:pPr algn="ctr" indent="0" marL="0">
              <a:lnSpc>
                <a:spcPct val="100000"/>
              </a:lnSpc>
              <a:buNone/>
            </a:pPr>
            <a:r>
              <a:rPr lang="en-US" sz="2000" dirty="0">
                <a:solidFill>
                  <a:srgbClr val="660066"/>
                </a:solidFill>
                <a:latin typeface="Times New Roman" pitchFamily="34" charset="0"/>
                <a:ea typeface="標楷體" pitchFamily="34" charset="-122"/>
                <a:cs typeface="Times New Roman" pitchFamily="34" charset="-120"/>
              </a:rPr>
              <a:t> 數值待補；保留 </a:t>
            </a:r>
            <a:pPr algn="ctr" indent="0" marL="0">
              <a:lnSpc>
                <a:spcPct val="100000"/>
              </a:lnSpc>
              <a:buNone/>
            </a:pPr>
            <a:r>
              <a:rPr lang="en-US" sz="2000" dirty="0">
                <a:solidFill>
                  <a:srgbClr val="660066"/>
                </a:solidFill>
                <a:latin typeface="Times New Roman" pitchFamily="34" charset="0"/>
                <a:ea typeface="標楷體" pitchFamily="34" charset="-122"/>
                <a:cs typeface="Times New Roman" pitchFamily="34" charset="-120"/>
              </a:rPr>
              <a:t>condition</a:t>
            </a:r>
            <a:pPr algn="ctr" indent="0" marL="0">
              <a:lnSpc>
                <a:spcPct val="100000"/>
              </a:lnSpc>
              <a:buNone/>
            </a:pPr>
            <a:r>
              <a:rPr lang="en-US" sz="2000" dirty="0">
                <a:solidFill>
                  <a:srgbClr val="660066"/>
                </a:solidFill>
                <a:latin typeface="Times New Roman" pitchFamily="34" charset="0"/>
                <a:ea typeface="標楷體" pitchFamily="34" charset="-122"/>
                <a:cs typeface="Times New Roman" pitchFamily="34" charset="-120"/>
              </a:rPr>
              <a:t>、</a:t>
            </a:r>
            <a:pPr algn="ctr" indent="0" marL="0">
              <a:lnSpc>
                <a:spcPct val="100000"/>
              </a:lnSpc>
              <a:buNone/>
            </a:pPr>
            <a:r>
              <a:rPr lang="en-US" sz="2000" i="1" dirty="0">
                <a:solidFill>
                  <a:srgbClr val="660066"/>
                </a:solidFill>
                <a:latin typeface="Times New Roman" pitchFamily="34" charset="0"/>
                <a:ea typeface="標楷體" pitchFamily="34" charset="-122"/>
                <a:cs typeface="Times New Roman" pitchFamily="34" charset="-120"/>
              </a:rPr>
              <a:t>action</a:t>
            </a:r>
            <a:pPr algn="ctr" indent="0" marL="0">
              <a:lnSpc>
                <a:spcPct val="100000"/>
              </a:lnSpc>
              <a:buNone/>
            </a:pPr>
            <a:r>
              <a:rPr lang="en-US" sz="2000" dirty="0">
                <a:solidFill>
                  <a:srgbClr val="660066"/>
                </a:solidFill>
                <a:latin typeface="Times New Roman" pitchFamily="34" charset="0"/>
                <a:ea typeface="標楷體" pitchFamily="34" charset="-122"/>
                <a:cs typeface="Times New Roman" pitchFamily="34" charset="-120"/>
              </a:rPr>
              <a:t>、</a:t>
            </a:r>
            <a:pPr algn="ctr" indent="0" marL="0">
              <a:lnSpc>
                <a:spcPct val="100000"/>
              </a:lnSpc>
              <a:buNone/>
            </a:pPr>
            <a:r>
              <a:rPr lang="en-US" sz="2000" dirty="0">
                <a:solidFill>
                  <a:srgbClr val="660066"/>
                </a:solidFill>
                <a:latin typeface="Times New Roman" pitchFamily="34" charset="0"/>
                <a:ea typeface="標楷體" pitchFamily="34" charset="-122"/>
                <a:cs typeface="Times New Roman" pitchFamily="34" charset="-120"/>
              </a:rPr>
              <a:t>event</a:t>
            </a:r>
            <a:pPr algn="ctr" indent="0" marL="0">
              <a:lnSpc>
                <a:spcPct val="100000"/>
              </a:lnSpc>
              <a:buNone/>
            </a:pPr>
            <a:r>
              <a:rPr lang="en-US" sz="2000" dirty="0">
                <a:solidFill>
                  <a:srgbClr val="660066"/>
                </a:solidFill>
                <a:latin typeface="Times New Roman" pitchFamily="34" charset="0"/>
                <a:ea typeface="標楷體" pitchFamily="34" charset="-122"/>
                <a:cs typeface="Times New Roman" pitchFamily="34" charset="-120"/>
              </a:rPr>
              <a:t> 與 </a:t>
            </a:r>
            <a:pPr algn="ctr" indent="0" marL="0">
              <a:lnSpc>
                <a:spcPct val="100000"/>
              </a:lnSpc>
              <a:buNone/>
            </a:pPr>
            <a:r>
              <a:rPr lang="en-US" sz="2000" dirty="0">
                <a:solidFill>
                  <a:srgbClr val="660066"/>
                </a:solidFill>
                <a:latin typeface="Times New Roman" pitchFamily="34" charset="0"/>
                <a:ea typeface="標楷體" pitchFamily="34" charset="-122"/>
                <a:cs typeface="Times New Roman" pitchFamily="34" charset="-120"/>
              </a:rPr>
              <a:t>gate</a:t>
            </a:r>
            <a:pPr algn="ctr" indent="0" marL="0">
              <a:lnSpc>
                <a:spcPct val="100000"/>
              </a:lnSpc>
              <a:buNone/>
            </a:pPr>
            <a:r>
              <a:rPr lang="en-US" sz="2000" dirty="0">
                <a:solidFill>
                  <a:srgbClr val="660066"/>
                </a:solidFill>
                <a:latin typeface="Times New Roman" pitchFamily="34" charset="0"/>
                <a:ea typeface="標楷體" pitchFamily="34" charset="-122"/>
                <a:cs typeface="Times New Roman" pitchFamily="34" charset="-120"/>
              </a:rPr>
              <a:t> 的可檢驗關係</a:t>
            </a:r>
            <a:endParaRPr lang="en-US" sz="2000" dirty="0"/>
          </a:p>
        </p:txBody>
      </p:sp>
      <p:sp>
        <p:nvSpPr>
          <p:cNvPr id="31" name="Text 3"/>
          <p:cNvSpPr/>
          <p:nvPr>
            <p:ph idx="105" type="title" hasCustomPrompt="1"/>
          </p:nvPr>
        </p:nvSpPr>
        <p:spPr>
          <a:xfrm>
            <a:off x="656591" y="187008"/>
            <a:ext cx="9462769" cy="480060"/>
          </a:xfrm>
          <a:prstGeom prst="rect">
            <a:avLst/>
          </a:prstGeom>
          <a:noFill/>
          <a:ln/>
        </p:spPr>
        <p:txBody>
          <a:bodyPr wrap="square" lIns="0" tIns="0" rIns="0" bIns="0" rtlCol="0" anchor="b"/>
          <a:lstStyle/>
          <a:p>
            <a:pPr algn="l" indent="0" marL="0">
              <a:buNone/>
            </a:pPr>
            <a:endParaRPr lang="en-US" sz="2800" dirty="0"/>
          </a:p>
        </p:txBody>
      </p:sp>
    </p:spTree>
  </p:cSld>
  <p:clrMapOvr>
    <a:masterClrMapping/>
  </p:clrMapOvr>
</p:sld>
</file>

<file path=ppt/slides/slide4.xml><?xml version="1.0" encoding="utf-8"?>
<p:sld xmlns:a="http://schemas.openxmlformats.org/drawingml/2006/main"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56591" y="187008"/>
            <a:ext cx="9462769" cy="480060"/>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P084</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Transfer</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exit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：把因果句帶回 </a:t>
            </a:r>
            <a:pPr algn="l" indent="0" marL="0">
              <a:lnSpc>
                <a:spcPct val="100000"/>
              </a:lnSpc>
              <a:buNone/>
            </a:pPr>
            <a:r>
              <a:rPr lang="en-US" sz="2800" b="1" i="1" dirty="0">
                <a:solidFill>
                  <a:srgbClr val="35377F"/>
                </a:solidFill>
                <a:latin typeface="Times New Roman" pitchFamily="34" charset="0"/>
                <a:ea typeface="標楷體" pitchFamily="34" charset="-122"/>
                <a:cs typeface="Times New Roman" pitchFamily="34" charset="-120"/>
              </a:rPr>
              <a:t>workbook</a:t>
            </a:r>
            <a:endParaRPr lang="en-US" sz="2800" dirty="0"/>
          </a:p>
        </p:txBody>
      </p:sp>
      <p:sp>
        <p:nvSpPr>
          <p:cNvPr id="3" name="Text 1"/>
          <p:cNvSpPr/>
          <p:nvPr/>
        </p:nvSpPr>
        <p:spPr>
          <a:xfrm>
            <a:off x="822960" y="932688"/>
            <a:ext cx="10561320" cy="438912"/>
          </a:xfrm>
          <a:prstGeom prst="rect">
            <a:avLst/>
          </a:prstGeom>
          <a:noFill/>
          <a:ln/>
        </p:spPr>
        <p:txBody>
          <a:bodyPr wrap="square" lIns="635" tIns="635" rIns="635" bIns="635" rtlCol="0" anchor="ctr">
            <a:normAutofit/>
          </a:bodyPr>
          <a:lstStyle/>
          <a:p>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離場保存：假說、</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lineage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falsifier</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；現場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KPI</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仍以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evidence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gate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定義</a:t>
            </a:r>
            <a:endParaRPr lang="en-US" sz="2400" dirty="0"/>
          </a:p>
        </p:txBody>
      </p:sp>
      <p:sp>
        <p:nvSpPr>
          <p:cNvPr id="4" name="Shape 2"/>
          <p:cNvSpPr/>
          <p:nvPr/>
        </p:nvSpPr>
        <p:spPr>
          <a:xfrm>
            <a:off x="822960" y="1645920"/>
            <a:ext cx="2834640" cy="1572768"/>
          </a:xfrm>
          <a:prstGeom prst="roundRect">
            <a:avLst/>
          </a:prstGeom>
          <a:solidFill>
            <a:srgbClr val="ECF1FE"/>
          </a:solidFill>
          <a:ln w="15240">
            <a:solidFill>
              <a:srgbClr val="4967C2"/>
            </a:solidFill>
            <a:prstDash val="solid"/>
          </a:ln>
        </p:spPr>
      </p:sp>
      <p:sp>
        <p:nvSpPr>
          <p:cNvPr id="5" name="Text 3"/>
          <p:cNvSpPr/>
          <p:nvPr/>
        </p:nvSpPr>
        <p:spPr>
          <a:xfrm>
            <a:off x="969264" y="1755648"/>
            <a:ext cx="2542032"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可移植假說 </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hypothesis</a:t>
            </a:r>
            <a:endParaRPr lang="en-US" sz="1800" dirty="0"/>
          </a:p>
        </p:txBody>
      </p:sp>
      <p:sp>
        <p:nvSpPr>
          <p:cNvPr id="6" name="Text 4"/>
          <p:cNvSpPr/>
          <p:nvPr/>
        </p:nvSpPr>
        <p:spPr>
          <a:xfrm>
            <a:off x="969264" y="2231136"/>
            <a:ext cx="2542032" cy="877824"/>
          </a:xfrm>
          <a:prstGeom prst="rect">
            <a:avLst/>
          </a:prstGeom>
          <a:noFill/>
          <a:ln/>
        </p:spPr>
        <p:txBody>
          <a:bodyPr wrap="square" lIns="635" tIns="635" rIns="635" bIns="635" rtlCol="0" anchor="t">
            <a:normAutofit/>
          </a:bodyPr>
          <a:lstStyle/>
          <a:p>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urgent</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margin</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會改變 </a:t>
            </a:r>
            <a:pPr algn="ctr" indent="0" marL="0">
              <a:lnSpc>
                <a:spcPct val="100000"/>
              </a:lnSpc>
              <a:buNone/>
            </a:pPr>
            <a:r>
              <a:rPr lang="en-US" sz="2000" i="1" dirty="0">
                <a:solidFill>
                  <a:srgbClr val="25324A"/>
                </a:solidFill>
                <a:latin typeface="Times New Roman" pitchFamily="34" charset="0"/>
                <a:ea typeface="標楷體" pitchFamily="34" charset="-122"/>
                <a:cs typeface="Times New Roman" pitchFamily="34" charset="-120"/>
              </a:rPr>
              <a:t>service</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000" i="1" dirty="0">
                <a:solidFill>
                  <a:srgbClr val="25324A"/>
                </a:solidFill>
                <a:latin typeface="Times New Roman" pitchFamily="34" charset="0"/>
                <a:ea typeface="標楷體" pitchFamily="34" charset="-122"/>
                <a:cs typeface="Times New Roman" pitchFamily="34" charset="-120"/>
              </a:rPr>
              <a:t>endpoint</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energy</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trade-off</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a:t>
            </a:r>
            <a:endParaRPr lang="en-US" sz="2000" dirty="0"/>
          </a:p>
        </p:txBody>
      </p:sp>
      <p:sp>
        <p:nvSpPr>
          <p:cNvPr id="7" name="Shape 5"/>
          <p:cNvSpPr/>
          <p:nvPr/>
        </p:nvSpPr>
        <p:spPr>
          <a:xfrm>
            <a:off x="4041648" y="1645920"/>
            <a:ext cx="2834640" cy="1572768"/>
          </a:xfrm>
          <a:prstGeom prst="roundRect">
            <a:avLst/>
          </a:prstGeom>
          <a:solidFill>
            <a:srgbClr val="E8F7F4"/>
          </a:solidFill>
          <a:ln w="15240">
            <a:solidFill>
              <a:srgbClr val="007374"/>
            </a:solidFill>
            <a:prstDash val="solid"/>
          </a:ln>
        </p:spPr>
      </p:sp>
      <p:sp>
        <p:nvSpPr>
          <p:cNvPr id="8" name="Text 6"/>
          <p:cNvSpPr/>
          <p:nvPr/>
        </p:nvSpPr>
        <p:spPr>
          <a:xfrm>
            <a:off x="4187952" y="1755648"/>
            <a:ext cx="2542032"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工作簿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lineage</a:t>
            </a:r>
            <a:endParaRPr lang="en-US" sz="1800" dirty="0"/>
          </a:p>
        </p:txBody>
      </p:sp>
      <p:sp>
        <p:nvSpPr>
          <p:cNvPr id="9" name="Text 7"/>
          <p:cNvSpPr/>
          <p:nvPr/>
        </p:nvSpPr>
        <p:spPr>
          <a:xfrm>
            <a:off x="4187952" y="2231136"/>
            <a:ext cx="2542032" cy="877824"/>
          </a:xfrm>
          <a:prstGeom prst="rect">
            <a:avLst/>
          </a:prstGeom>
          <a:noFill/>
          <a:ln/>
        </p:spPr>
        <p:txBody>
          <a:bodyPr wrap="square" lIns="635" tIns="635" rIns="635" bIns="635" rtlCol="0" anchor="t">
            <a:normAutofit/>
          </a:bodyPr>
          <a:lstStyle/>
          <a:p>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baseline</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candidate</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revision</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surprise</a:t>
            </a:r>
            <a:pPr algn="ctr" indent="0" marL="0">
              <a:lnSpc>
                <a:spcPct val="100000"/>
              </a:lnSpc>
              <a:buNone/>
            </a:pPr>
            <a:endParaRPr lang="en-US" sz="2000" dirty="0"/>
          </a:p>
          <a:p>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保留 </a:t>
            </a:r>
            <a:endParaRPr lang="en-US" sz="2000" dirty="0"/>
          </a:p>
          <a:p>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result</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000" i="1" dirty="0">
                <a:solidFill>
                  <a:srgbClr val="25324A"/>
                </a:solidFill>
                <a:latin typeface="Times New Roman" pitchFamily="34" charset="0"/>
                <a:ea typeface="標楷體" pitchFamily="34" charset="-122"/>
                <a:cs typeface="Times New Roman" pitchFamily="34" charset="-120"/>
              </a:rPr>
              <a:t>replay</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000" i="1" dirty="0">
                <a:solidFill>
                  <a:srgbClr val="25324A"/>
                </a:solidFill>
                <a:latin typeface="Times New Roman" pitchFamily="34" charset="0"/>
                <a:ea typeface="標楷體" pitchFamily="34" charset="-122"/>
                <a:cs typeface="Times New Roman" pitchFamily="34" charset="-120"/>
              </a:rPr>
              <a:t>identity</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a:t>
            </a:r>
            <a:endParaRPr lang="en-US" sz="2000" dirty="0"/>
          </a:p>
        </p:txBody>
      </p:sp>
      <p:sp>
        <p:nvSpPr>
          <p:cNvPr id="10" name="Shape 8"/>
          <p:cNvSpPr/>
          <p:nvPr/>
        </p:nvSpPr>
        <p:spPr>
          <a:xfrm>
            <a:off x="7260336" y="1645920"/>
            <a:ext cx="2834640" cy="1572768"/>
          </a:xfrm>
          <a:prstGeom prst="roundRect">
            <a:avLst/>
          </a:prstGeom>
          <a:solidFill>
            <a:srgbClr val="F4EDF7"/>
          </a:solidFill>
          <a:ln w="15240">
            <a:solidFill>
              <a:srgbClr val="660066"/>
            </a:solidFill>
            <a:prstDash val="solid"/>
          </a:ln>
        </p:spPr>
      </p:sp>
      <p:sp>
        <p:nvSpPr>
          <p:cNvPr id="11" name="Text 9"/>
          <p:cNvSpPr/>
          <p:nvPr/>
        </p:nvSpPr>
        <p:spPr>
          <a:xfrm>
            <a:off x="7406640" y="1755648"/>
            <a:ext cx="2542032"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可推翻條件 </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falsifier</a:t>
            </a:r>
            <a:endParaRPr lang="en-US" sz="1800" dirty="0"/>
          </a:p>
        </p:txBody>
      </p:sp>
      <p:sp>
        <p:nvSpPr>
          <p:cNvPr id="12" name="Text 10"/>
          <p:cNvSpPr/>
          <p:nvPr/>
        </p:nvSpPr>
        <p:spPr>
          <a:xfrm>
            <a:off x="7406640" y="2231136"/>
            <a:ext cx="2542032" cy="877824"/>
          </a:xfrm>
          <a:prstGeom prst="rect">
            <a:avLst/>
          </a:prstGeom>
          <a:noFill/>
          <a:ln/>
        </p:spPr>
        <p:txBody>
          <a:bodyPr wrap="square" lIns="635" tIns="635" rIns="635" bIns="635" rtlCol="0" anchor="t">
            <a:normAutofit/>
          </a:bodyPr>
          <a:lstStyle/>
          <a:p>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窗口、</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traffic</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或 </a:t>
            </a:r>
            <a:pPr algn="ctr" indent="0" marL="0">
              <a:lnSpc>
                <a:spcPct val="100000"/>
              </a:lnSpc>
              <a:buNone/>
            </a:pPr>
            <a:r>
              <a:rPr lang="en-US" sz="2000" i="1" dirty="0">
                <a:solidFill>
                  <a:srgbClr val="25324A"/>
                </a:solidFill>
                <a:latin typeface="Times New Roman" pitchFamily="34" charset="0"/>
                <a:ea typeface="標楷體" pitchFamily="34" charset="-122"/>
                <a:cs typeface="Times New Roman" pitchFamily="34" charset="-120"/>
              </a:rPr>
              <a:t>deadline</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改變時，</a:t>
            </a:r>
            <a:pPr algn="ctr" indent="0" marL="0">
              <a:lnSpc>
                <a:spcPct val="100000"/>
              </a:lnSpc>
              <a:buNone/>
            </a:pPr>
            <a:r>
              <a:rPr lang="en-US" sz="2000" i="1" dirty="0">
                <a:solidFill>
                  <a:srgbClr val="25324A"/>
                </a:solidFill>
                <a:latin typeface="Times New Roman" pitchFamily="34" charset="0"/>
                <a:ea typeface="標楷體" pitchFamily="34" charset="-122"/>
                <a:cs typeface="Times New Roman" pitchFamily="34" charset="-120"/>
              </a:rPr>
              <a:t>service</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gate</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重新裁決。</a:t>
            </a:r>
            <a:endParaRPr lang="en-US" sz="2000" dirty="0"/>
          </a:p>
        </p:txBody>
      </p:sp>
      <p:sp>
        <p:nvSpPr>
          <p:cNvPr id="13" name="Shape 11"/>
          <p:cNvSpPr/>
          <p:nvPr/>
        </p:nvSpPr>
        <p:spPr>
          <a:xfrm>
            <a:off x="2194560" y="3858768"/>
            <a:ext cx="7168896" cy="0"/>
          </a:xfrm>
          <a:prstGeom prst="line">
            <a:avLst/>
          </a:prstGeom>
          <a:noFill/>
          <a:ln w="30480">
            <a:solidFill>
              <a:srgbClr val="25356B"/>
            </a:solidFill>
            <a:prstDash val="solid"/>
          </a:ln>
        </p:spPr>
      </p:sp>
      <p:sp>
        <p:nvSpPr>
          <p:cNvPr id="14" name="Shape 12"/>
          <p:cNvSpPr/>
          <p:nvPr/>
        </p:nvSpPr>
        <p:spPr>
          <a:xfrm>
            <a:off x="2194560" y="3767328"/>
            <a:ext cx="182880" cy="182880"/>
          </a:xfrm>
          <a:prstGeom prst="ellipse">
            <a:avLst/>
          </a:prstGeom>
          <a:solidFill>
            <a:srgbClr val="4967C2"/>
          </a:solidFill>
          <a:ln w="12700">
            <a:solidFill>
              <a:srgbClr val="4967C2"/>
            </a:solidFill>
            <a:prstDash val="solid"/>
          </a:ln>
        </p:spPr>
      </p:sp>
      <p:sp>
        <p:nvSpPr>
          <p:cNvPr id="15" name="Shape 13"/>
          <p:cNvSpPr/>
          <p:nvPr/>
        </p:nvSpPr>
        <p:spPr>
          <a:xfrm>
            <a:off x="5742432" y="3767328"/>
            <a:ext cx="182880" cy="182880"/>
          </a:xfrm>
          <a:prstGeom prst="ellipse">
            <a:avLst/>
          </a:prstGeom>
          <a:solidFill>
            <a:srgbClr val="007374"/>
          </a:solidFill>
          <a:ln w="12700">
            <a:solidFill>
              <a:srgbClr val="007374"/>
            </a:solidFill>
            <a:prstDash val="solid"/>
          </a:ln>
        </p:spPr>
      </p:sp>
      <p:sp>
        <p:nvSpPr>
          <p:cNvPr id="16" name="Shape 14"/>
          <p:cNvSpPr/>
          <p:nvPr/>
        </p:nvSpPr>
        <p:spPr>
          <a:xfrm>
            <a:off x="9290304" y="3767328"/>
            <a:ext cx="182880" cy="182880"/>
          </a:xfrm>
          <a:prstGeom prst="ellipse">
            <a:avLst/>
          </a:prstGeom>
          <a:solidFill>
            <a:srgbClr val="660066"/>
          </a:solidFill>
          <a:ln w="12700">
            <a:solidFill>
              <a:srgbClr val="660066"/>
            </a:solidFill>
            <a:prstDash val="solid"/>
          </a:ln>
        </p:spPr>
      </p:sp>
      <p:sp>
        <p:nvSpPr>
          <p:cNvPr id="17" name="Text 15"/>
          <p:cNvSpPr/>
          <p:nvPr/>
        </p:nvSpPr>
        <p:spPr>
          <a:xfrm>
            <a:off x="1664208" y="4041648"/>
            <a:ext cx="1298448" cy="310896"/>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prediction</a:t>
            </a:r>
            <a:endParaRPr lang="en-US" sz="1800" dirty="0"/>
          </a:p>
        </p:txBody>
      </p:sp>
      <p:sp>
        <p:nvSpPr>
          <p:cNvPr id="18" name="Text 16"/>
          <p:cNvSpPr/>
          <p:nvPr/>
        </p:nvSpPr>
        <p:spPr>
          <a:xfrm>
            <a:off x="4882896" y="4041648"/>
            <a:ext cx="1737360" cy="310896"/>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result</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a:t>
            </a:r>
            <a:pPr algn="ctr" indent="0" marL="0">
              <a:lnSpc>
                <a:spcPct val="100000"/>
              </a:lnSpc>
              <a:buNone/>
            </a:pPr>
            <a:r>
              <a:rPr lang="en-US" sz="1800" b="1" i="1" dirty="0">
                <a:solidFill>
                  <a:srgbClr val="007374"/>
                </a:solidFill>
                <a:latin typeface="Times New Roman" pitchFamily="34" charset="0"/>
                <a:ea typeface="標楷體" pitchFamily="34" charset="-122"/>
                <a:cs typeface="Times New Roman" pitchFamily="34" charset="-120"/>
              </a:rPr>
              <a:t>replay</a:t>
            </a:r>
            <a:endParaRPr lang="en-US" sz="1800" dirty="0"/>
          </a:p>
        </p:txBody>
      </p:sp>
      <p:sp>
        <p:nvSpPr>
          <p:cNvPr id="19" name="Text 17"/>
          <p:cNvSpPr/>
          <p:nvPr/>
        </p:nvSpPr>
        <p:spPr>
          <a:xfrm>
            <a:off x="8558784" y="4041648"/>
            <a:ext cx="1664208" cy="310896"/>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interpretation</a:t>
            </a:r>
            <a:endParaRPr lang="en-US" sz="1800" dirty="0"/>
          </a:p>
        </p:txBody>
      </p:sp>
      <p:sp>
        <p:nvSpPr>
          <p:cNvPr id="20" name="Shape 18"/>
          <p:cNvSpPr/>
          <p:nvPr/>
        </p:nvSpPr>
        <p:spPr>
          <a:xfrm>
            <a:off x="1005840" y="4645152"/>
            <a:ext cx="10131552" cy="859536"/>
          </a:xfrm>
          <a:prstGeom prst="roundRect">
            <a:avLst/>
          </a:prstGeom>
          <a:solidFill>
            <a:srgbClr val="FDEFEF"/>
          </a:solidFill>
          <a:ln w="15240">
            <a:solidFill>
              <a:srgbClr val="992A2A"/>
            </a:solidFill>
            <a:prstDash val="solid"/>
          </a:ln>
        </p:spPr>
      </p:sp>
      <p:sp>
        <p:nvSpPr>
          <p:cNvPr id="21" name="Text 19"/>
          <p:cNvSpPr/>
          <p:nvPr/>
        </p:nvSpPr>
        <p:spPr>
          <a:xfrm>
            <a:off x="1152144" y="4754880"/>
            <a:ext cx="9838944"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主張邊界 </a:t>
            </a:r>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claim</a:t>
            </a:r>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boundary</a:t>
            </a:r>
            <a:endParaRPr lang="en-US" sz="1800" dirty="0"/>
          </a:p>
        </p:txBody>
      </p:sp>
      <p:sp>
        <p:nvSpPr>
          <p:cNvPr id="22" name="Text 20"/>
          <p:cNvSpPr/>
          <p:nvPr/>
        </p:nvSpPr>
        <p:spPr>
          <a:xfrm>
            <a:off x="1152144" y="5129784"/>
            <a:ext cx="9838944" cy="265176"/>
          </a:xfrm>
          <a:prstGeom prst="rect">
            <a:avLst/>
          </a:prstGeom>
          <a:noFill/>
          <a:ln/>
        </p:spPr>
        <p:txBody>
          <a:bodyPr wrap="square" lIns="635" tIns="635" rIns="635" bIns="635" rtlCol="0" anchor="t">
            <a:normAutofit/>
          </a:bodyPr>
          <a:lstStyle/>
          <a:p>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coherent</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simulated</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result</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live</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field</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measurement</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與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canonical/system</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energy</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待補。</a:t>
            </a:r>
            <a:endParaRPr lang="en-US" sz="1600" dirty="0"/>
          </a:p>
        </p:txBody>
      </p:sp>
      <p:sp>
        <p:nvSpPr>
          <p:cNvPr id="24" name="Text 3"/>
          <p:cNvSpPr/>
          <p:nvPr>
            <p:ph idx="105" type="title" hasCustomPrompt="1"/>
          </p:nvPr>
        </p:nvSpPr>
        <p:spPr>
          <a:xfrm>
            <a:off x="656591" y="187008"/>
            <a:ext cx="9462769" cy="480060"/>
          </a:xfrm>
          <a:prstGeom prst="rect">
            <a:avLst/>
          </a:prstGeom>
          <a:noFill/>
          <a:ln/>
        </p:spPr>
        <p:txBody>
          <a:bodyPr wrap="square" lIns="0" tIns="0" rIns="0" bIns="0" rtlCol="0" anchor="b"/>
          <a:lstStyle/>
          <a:p>
            <a:pPr algn="l" indent="0" marL="0">
              <a:buNone/>
            </a:pPr>
            <a:endParaRPr lang="en-US" sz="2800" dirty="0"/>
          </a:p>
        </p:txBody>
      </p:sp>
    </p:spTree>
  </p:cSld>
  <p:clrMapOvr>
    <a:masterClrMapping/>
  </p:clrMapOvr>
</p:sld>
</file>

<file path=ppt/slides/slide5.xml><?xml version="1.0" encoding="utf-8"?>
<p:sld xmlns:a="http://schemas.openxmlformats.org/drawingml/2006/main" xmlns:ns2="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56591" y="187008"/>
            <a:ext cx="9462769" cy="480060"/>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P085</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course</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：來源與匯入 </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gate</a:t>
            </a:r>
            <a:endParaRPr lang="en-US" sz="2800" dirty="0"/>
          </a:p>
        </p:txBody>
      </p:sp>
      <p:sp>
        <p:nvSpPr>
          <p:cNvPr id="3" name="Text 1"/>
          <p:cNvSpPr/>
          <p:nvPr/>
        </p:nvSpPr>
        <p:spPr>
          <a:xfrm>
            <a:off x="822960" y="932688"/>
            <a:ext cx="10561320" cy="438912"/>
          </a:xfrm>
          <a:prstGeom prst="rect">
            <a:avLst/>
          </a:prstGeom>
          <a:noFill/>
          <a:ln/>
        </p:spPr>
        <p:txBody>
          <a:bodyPr wrap="square" lIns="635" tIns="635" rIns="635" bIns="635" rtlCol="0" anchor="ctr">
            <a:normAutofit/>
          </a:bodyPr>
          <a:lstStyle/>
          <a:p>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source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case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identity</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import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state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：匯入前後分開保存</a:t>
            </a:r>
            <a:endParaRPr lang="en-US" sz="2400" dirty="0"/>
          </a:p>
        </p:txBody>
      </p:sp>
      <p:sp>
        <p:nvSpPr>
          <p:cNvPr id="4" name="Shape 2"/>
          <p:cNvSpPr/>
          <p:nvPr/>
        </p:nvSpPr>
        <p:spPr>
          <a:xfrm>
            <a:off x="877824" y="1353312"/>
            <a:ext cx="5065776" cy="420624"/>
          </a:xfrm>
          <a:prstGeom prst="roundRect">
            <a:avLst/>
          </a:prstGeom>
          <a:solidFill>
            <a:srgbClr val="E8F7F4"/>
          </a:solidFill>
          <a:ln w="15240">
            <a:solidFill>
              <a:srgbClr val="007374"/>
            </a:solidFill>
            <a:prstDash val="solid"/>
          </a:ln>
        </p:spPr>
      </p:sp>
      <p:sp>
        <p:nvSpPr>
          <p:cNvPr id="5" name="Text 3"/>
          <p:cNvSpPr/>
          <p:nvPr/>
        </p:nvSpPr>
        <p:spPr>
          <a:xfrm>
            <a:off x="950976" y="1389888"/>
            <a:ext cx="4919472" cy="310896"/>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current</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metrics</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crop</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a:t>
            </a:r>
            <a:pPr algn="ctr" indent="0" marL="0">
              <a:lnSpc>
                <a:spcPct val="100000"/>
              </a:lnSpc>
              <a:buNone/>
            </a:pPr>
            <a:r>
              <a:rPr lang="en-US" sz="1800" b="1" i="1" dirty="0">
                <a:solidFill>
                  <a:srgbClr val="007374"/>
                </a:solidFill>
                <a:latin typeface="Times New Roman" pitchFamily="34" charset="0"/>
                <a:ea typeface="標楷體" pitchFamily="34" charset="-122"/>
                <a:cs typeface="Times New Roman" pitchFamily="34" charset="-120"/>
              </a:rPr>
              <a:t>source</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待補</a:t>
            </a:r>
            <a:endParaRPr lang="en-US" sz="1800" dirty="0"/>
          </a:p>
        </p:txBody>
      </p:sp>
      <p:pic>
        <p:nvPicPr>
          <p:cNvPr id="6" name="Image 0" descr="identifier-free A metrics crop">    </p:cNvPr>
          <p:cNvPicPr>
            <a:picLocks noChangeAspect="1"/>
          </p:cNvPicPr>
          <p:nvPr/>
        </p:nvPicPr>
        <p:blipFill>
          <a:blip ns2:embed="rId1"/>
          <a:stretch>
            <a:fillRect/>
          </a:stretch>
        </p:blipFill>
        <p:spPr>
          <a:xfrm>
            <a:off x="877824" y="1847088"/>
            <a:ext cx="5065776" cy="347472"/>
          </a:xfrm>
          <a:prstGeom prst="rect">
            <a:avLst/>
          </a:prstGeom>
        </p:spPr>
      </p:pic>
      <p:sp>
        <p:nvSpPr>
          <p:cNvPr id="7" name="Shape 4"/>
          <p:cNvSpPr/>
          <p:nvPr/>
        </p:nvSpPr>
        <p:spPr>
          <a:xfrm>
            <a:off x="877824" y="1847088"/>
            <a:ext cx="5065776" cy="347472"/>
          </a:xfrm>
          <a:prstGeom prst="rect">
            <a:avLst/>
          </a:prstGeom>
          <a:solidFill>
            <a:srgbClr val="FFFFFF">
              <a:alpha val="0"/>
            </a:srgbClr>
          </a:solidFill>
          <a:ln w="12700">
            <a:solidFill>
              <a:srgbClr val="D7DEEA"/>
            </a:solidFill>
            <a:prstDash val="solid"/>
          </a:ln>
        </p:spPr>
      </p:sp>
      <p:sp>
        <p:nvSpPr>
          <p:cNvPr id="8" name="Shape 5"/>
          <p:cNvSpPr/>
          <p:nvPr/>
        </p:nvSpPr>
        <p:spPr>
          <a:xfrm>
            <a:off x="877824" y="2578608"/>
            <a:ext cx="5065776" cy="1188720"/>
          </a:xfrm>
          <a:prstGeom prst="roundRect">
            <a:avLst/>
          </a:prstGeom>
          <a:solidFill>
            <a:srgbClr val="ECF1FE"/>
          </a:solidFill>
          <a:ln w="15240">
            <a:solidFill>
              <a:srgbClr val="4967C2"/>
            </a:solidFill>
            <a:prstDash val="solid"/>
          </a:ln>
        </p:spPr>
      </p:sp>
      <p:sp>
        <p:nvSpPr>
          <p:cNvPr id="9" name="Text 6"/>
          <p:cNvSpPr/>
          <p:nvPr/>
        </p:nvSpPr>
        <p:spPr>
          <a:xfrm>
            <a:off x="1024128" y="2688336"/>
            <a:ext cx="4773168"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browser</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record</a:t>
            </a:r>
            <a:endParaRPr lang="en-US" sz="1800" dirty="0"/>
          </a:p>
        </p:txBody>
      </p:sp>
      <p:sp>
        <p:nvSpPr>
          <p:cNvPr id="10" name="Text 7"/>
          <p:cNvSpPr/>
          <p:nvPr/>
        </p:nvSpPr>
        <p:spPr>
          <a:xfrm>
            <a:off x="1024128" y="3090672"/>
            <a:ext cx="4773168" cy="566928"/>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可讀取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summary</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source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header</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的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current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identifier-free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crop</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待補。</a:t>
            </a:r>
            <a:endParaRPr lang="en-US" sz="2400" dirty="0"/>
          </a:p>
        </p:txBody>
      </p:sp>
      <p:sp>
        <p:nvSpPr>
          <p:cNvPr id="11" name="Shape 8"/>
          <p:cNvSpPr/>
          <p:nvPr/>
        </p:nvSpPr>
        <p:spPr>
          <a:xfrm>
            <a:off x="6272784" y="1353312"/>
            <a:ext cx="4956048" cy="420624"/>
          </a:xfrm>
          <a:prstGeom prst="roundRect">
            <a:avLst/>
          </a:prstGeom>
          <a:solidFill>
            <a:srgbClr val="F4EDF7"/>
          </a:solidFill>
          <a:ln w="15240">
            <a:solidFill>
              <a:srgbClr val="660066"/>
            </a:solidFill>
            <a:prstDash val="solid"/>
          </a:ln>
        </p:spPr>
      </p:sp>
      <p:sp>
        <p:nvSpPr>
          <p:cNvPr id="12" name="Text 9"/>
          <p:cNvSpPr/>
          <p:nvPr/>
        </p:nvSpPr>
        <p:spPr>
          <a:xfrm>
            <a:off x="6345936" y="1389888"/>
            <a:ext cx="4809744" cy="310896"/>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fallback</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 </a:t>
            </a:r>
            <a:pPr algn="ctr" indent="0" marL="0">
              <a:lnSpc>
                <a:spcPct val="100000"/>
              </a:lnSpc>
              <a:buNone/>
            </a:pPr>
            <a:r>
              <a:rPr lang="en-US" sz="1800" b="1" i="1" dirty="0">
                <a:solidFill>
                  <a:srgbClr val="660066"/>
                </a:solidFill>
                <a:latin typeface="Times New Roman" pitchFamily="34" charset="0"/>
                <a:ea typeface="標楷體" pitchFamily="34" charset="-122"/>
                <a:cs typeface="Times New Roman" pitchFamily="34" charset="-120"/>
              </a:rPr>
              <a:t>source</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｜明示備用</a:t>
            </a:r>
            <a:endParaRPr lang="en-US" sz="1800" dirty="0"/>
          </a:p>
        </p:txBody>
      </p:sp>
      <p:sp>
        <p:nvSpPr>
          <p:cNvPr id="13" name="Shape 10"/>
          <p:cNvSpPr/>
          <p:nvPr/>
        </p:nvSpPr>
        <p:spPr>
          <a:xfrm>
            <a:off x="6272784" y="1847088"/>
            <a:ext cx="4956048" cy="1920240"/>
          </a:xfrm>
          <a:prstGeom prst="roundRect">
            <a:avLst/>
          </a:prstGeom>
          <a:solidFill>
            <a:srgbClr val="F4EDF7"/>
          </a:solidFill>
          <a:ln w="15240">
            <a:solidFill>
              <a:srgbClr val="660066"/>
            </a:solidFill>
            <a:prstDash val="solid"/>
          </a:ln>
        </p:spPr>
      </p:sp>
      <p:sp>
        <p:nvSpPr>
          <p:cNvPr id="14" name="Text 11"/>
          <p:cNvSpPr/>
          <p:nvPr/>
        </p:nvSpPr>
        <p:spPr>
          <a:xfrm>
            <a:off x="6419088" y="1956816"/>
            <a:ext cx="4663440"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同情境備用資料 </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fallback</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record</a:t>
            </a:r>
            <a:endParaRPr lang="en-US" sz="1800" dirty="0"/>
          </a:p>
        </p:txBody>
      </p:sp>
      <p:sp>
        <p:nvSpPr>
          <p:cNvPr id="15" name="Text 12"/>
          <p:cNvSpPr/>
          <p:nvPr/>
        </p:nvSpPr>
        <p:spPr>
          <a:xfrm>
            <a:off x="6419088" y="2414016"/>
            <a:ext cx="4663440" cy="1243584"/>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Lab</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C</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surprise</a:t>
            </a:r>
            <a:pPr algn="ctr" indent="0" marL="0">
              <a:lnSpc>
                <a:spcPct val="100000"/>
              </a:lnSpc>
              <a:buNone/>
            </a:pP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來源：</a:t>
            </a: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same-scenario</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fallback</a:t>
            </a:r>
            <a:pPr algn="ctr" indent="0" marL="0">
              <a:lnSpc>
                <a:spcPct val="100000"/>
              </a:lnSpc>
              <a:buNone/>
            </a:pP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用途：練習 </a:t>
            </a:r>
            <a:endParaRPr lang="en-US" sz="2400" dirty="0"/>
          </a:p>
          <a:p>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replay</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與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claim</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boundary</a:t>
            </a:r>
            <a:endParaRPr lang="en-US" sz="2400" dirty="0"/>
          </a:p>
        </p:txBody>
      </p:sp>
      <p:sp>
        <p:nvSpPr>
          <p:cNvPr id="16" name="Shape 13"/>
          <p:cNvSpPr/>
          <p:nvPr/>
        </p:nvSpPr>
        <p:spPr>
          <a:xfrm>
            <a:off x="3493008" y="4078224"/>
            <a:ext cx="5212080" cy="658368"/>
          </a:xfrm>
          <a:prstGeom prst="roundRect">
            <a:avLst/>
          </a:prstGeom>
          <a:solidFill>
            <a:srgbClr val="FDF9E2"/>
          </a:solidFill>
          <a:ln w="15240">
            <a:solidFill>
              <a:srgbClr val="846826"/>
            </a:solidFill>
            <a:prstDash val="solid"/>
          </a:ln>
        </p:spPr>
      </p:sp>
      <p:sp>
        <p:nvSpPr>
          <p:cNvPr id="17" name="Text 14"/>
          <p:cNvSpPr/>
          <p:nvPr/>
        </p:nvSpPr>
        <p:spPr>
          <a:xfrm>
            <a:off x="3657600" y="4224528"/>
            <a:ext cx="4882896"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來源 </a:t>
            </a:r>
            <a:pPr algn="ctr" indent="0" marL="0">
              <a:lnSpc>
                <a:spcPct val="100000"/>
              </a:lnSpc>
              <a:buNone/>
            </a:pPr>
            <a:r>
              <a:rPr lang="en-US" sz="1800" b="1" i="1" dirty="0">
                <a:solidFill>
                  <a:srgbClr val="846826"/>
                </a:solidFill>
                <a:latin typeface="Times New Roman" pitchFamily="34" charset="0"/>
                <a:ea typeface="標楷體" pitchFamily="34" charset="-122"/>
                <a:cs typeface="Times New Roman" pitchFamily="34" charset="-120"/>
              </a:rPr>
              <a:t>source</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＋案例 </a:t>
            </a:r>
            <a:pPr algn="ctr" indent="0" marL="0">
              <a:lnSpc>
                <a:spcPct val="100000"/>
              </a:lnSpc>
              <a:buNone/>
            </a:pPr>
            <a:r>
              <a:rPr lang="en-US" sz="1800" b="1" i="1" dirty="0">
                <a:solidFill>
                  <a:srgbClr val="846826"/>
                </a:solidFill>
                <a:latin typeface="Times New Roman" pitchFamily="34" charset="0"/>
                <a:ea typeface="標楷體" pitchFamily="34" charset="-122"/>
                <a:cs typeface="Times New Roman" pitchFamily="34" charset="-120"/>
              </a:rPr>
              <a:t>case</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＋角色 </a:t>
            </a:r>
            <a:pPr algn="ctr" indent="0" marL="0">
              <a:lnSpc>
                <a:spcPct val="100000"/>
              </a:lnSpc>
              <a:buNone/>
            </a:pPr>
            <a:r>
              <a:rPr lang="en-US" sz="1800" b="1" i="1" dirty="0">
                <a:solidFill>
                  <a:srgbClr val="846826"/>
                </a:solidFill>
                <a:latin typeface="Times New Roman" pitchFamily="34" charset="0"/>
                <a:ea typeface="標楷體" pitchFamily="34" charset="-122"/>
                <a:cs typeface="Times New Roman" pitchFamily="34" charset="-120"/>
              </a:rPr>
              <a:t>role</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＋服務 </a:t>
            </a:r>
            <a:pPr algn="ctr" indent="0" marL="0">
              <a:lnSpc>
                <a:spcPct val="100000"/>
              </a:lnSpc>
              <a:buNone/>
            </a:pPr>
            <a:r>
              <a:rPr lang="en-US" sz="1800" b="1" i="1" dirty="0">
                <a:solidFill>
                  <a:srgbClr val="846826"/>
                </a:solidFill>
                <a:latin typeface="Times New Roman" pitchFamily="34" charset="0"/>
                <a:ea typeface="標楷體" pitchFamily="34" charset="-122"/>
                <a:cs typeface="Times New Roman" pitchFamily="34" charset="-120"/>
              </a:rPr>
              <a:t>service</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 → 匯入狀態 </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import</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state</a:t>
            </a:r>
            <a:endParaRPr lang="en-US" sz="1800" dirty="0"/>
          </a:p>
        </p:txBody>
      </p:sp>
      <p:sp>
        <p:nvSpPr>
          <p:cNvPr id="18" name="Shape 15"/>
          <p:cNvSpPr/>
          <p:nvPr/>
        </p:nvSpPr>
        <p:spPr>
          <a:xfrm>
            <a:off x="3401568" y="3767328"/>
            <a:ext cx="1280160" cy="274320"/>
          </a:xfrm>
          <a:prstGeom prst="line">
            <a:avLst/>
          </a:prstGeom>
          <a:noFill/>
          <a:ln w="22860">
            <a:solidFill>
              <a:srgbClr val="4967C2"/>
            </a:solidFill>
            <a:prstDash val="solid"/>
          </a:ln>
        </p:spPr>
      </p:sp>
      <p:sp>
        <p:nvSpPr>
          <p:cNvPr id="19" name="Shape 16"/>
          <p:cNvSpPr/>
          <p:nvPr/>
        </p:nvSpPr>
        <p:spPr>
          <a:xfrm>
            <a:off x="7461504" y="3767328"/>
            <a:ext cx="1280160" cy="274320"/>
          </a:xfrm>
          <a:prstGeom prst="line">
            <a:avLst/>
          </a:prstGeom>
          <a:noFill/>
          <a:ln w="22860">
            <a:solidFill>
              <a:srgbClr val="660066"/>
            </a:solidFill>
            <a:prstDash val="solid"/>
          </a:ln>
        </p:spPr>
      </p:sp>
      <p:sp>
        <p:nvSpPr>
          <p:cNvPr id="20" name="Text 17"/>
          <p:cNvSpPr/>
          <p:nvPr/>
        </p:nvSpPr>
        <p:spPr>
          <a:xfrm>
            <a:off x="1060704" y="5230368"/>
            <a:ext cx="10058400" cy="384048"/>
          </a:xfrm>
          <a:prstGeom prst="rect">
            <a:avLst/>
          </a:prstGeom>
          <a:noFill/>
          <a:ln/>
        </p:spPr>
        <p:txBody>
          <a:bodyPr wrap="square" lIns="635" tIns="635" rIns="635" bIns="635" rtlCol="0" anchor="ctr">
            <a:normAutofit/>
          </a:bodyPr>
          <a:lstStyle/>
          <a:p>
            <a:pPr algn="ctr" indent="0" marL="0">
              <a:lnSpc>
                <a:spcPct val="100000"/>
              </a:lnSpc>
              <a:buNone/>
            </a:pPr>
            <a:r>
              <a:rPr lang="en-US" sz="2000" dirty="0">
                <a:solidFill>
                  <a:srgbClr val="25356B"/>
                </a:solidFill>
                <a:latin typeface="Times New Roman" pitchFamily="34" charset="0"/>
                <a:ea typeface="標楷體" pitchFamily="34" charset="-122"/>
                <a:cs typeface="Times New Roman" pitchFamily="34" charset="-120"/>
              </a:rPr>
              <a:t>匯入通過後才更新 </a:t>
            </a:r>
            <a:pPr algn="ctr" indent="0" marL="0">
              <a:lnSpc>
                <a:spcPct val="100000"/>
              </a:lnSpc>
              <a:buNone/>
            </a:pPr>
            <a:r>
              <a:rPr lang="en-US" sz="2000" i="1" dirty="0">
                <a:solidFill>
                  <a:srgbClr val="25356B"/>
                </a:solidFill>
                <a:latin typeface="Times New Roman" pitchFamily="34" charset="0"/>
                <a:ea typeface="標楷體" pitchFamily="34" charset="-122"/>
                <a:cs typeface="Times New Roman" pitchFamily="34" charset="-120"/>
              </a:rPr>
              <a:t>replay</a:t>
            </a:r>
            <a:pPr algn="ctr" indent="0" marL="0">
              <a:lnSpc>
                <a:spcPct val="100000"/>
              </a:lnSpc>
              <a:buNone/>
            </a:pPr>
            <a:r>
              <a:rPr lang="en-US" sz="2000" dirty="0">
                <a:solidFill>
                  <a:srgbClr val="25356B"/>
                </a:solidFill>
                <a:latin typeface="Times New Roman" pitchFamily="34" charset="0"/>
                <a:ea typeface="標楷體" pitchFamily="34" charset="-122"/>
                <a:cs typeface="Times New Roman" pitchFamily="34" charset="-120"/>
              </a:rPr>
              <a:t> 與 </a:t>
            </a:r>
            <a:pPr algn="ctr" indent="0" marL="0">
              <a:lnSpc>
                <a:spcPct val="100000"/>
              </a:lnSpc>
              <a:buNone/>
            </a:pPr>
            <a:r>
              <a:rPr lang="en-US" sz="2000" i="1" dirty="0">
                <a:solidFill>
                  <a:srgbClr val="25356B"/>
                </a:solidFill>
                <a:latin typeface="Times New Roman" pitchFamily="34" charset="0"/>
                <a:ea typeface="標楷體" pitchFamily="34" charset="-122"/>
                <a:cs typeface="Times New Roman" pitchFamily="34" charset="-120"/>
              </a:rPr>
              <a:t>workbook</a:t>
            </a:r>
            <a:pPr algn="ctr" indent="0" marL="0">
              <a:lnSpc>
                <a:spcPct val="100000"/>
              </a:lnSpc>
              <a:buNone/>
            </a:pPr>
            <a:r>
              <a:rPr lang="en-US" sz="2000" dirty="0">
                <a:solidFill>
                  <a:srgbClr val="25356B"/>
                </a:solidFill>
                <a:latin typeface="Times New Roman" pitchFamily="34" charset="0"/>
                <a:ea typeface="標楷體" pitchFamily="34" charset="-122"/>
                <a:cs typeface="Times New Roman" pitchFamily="34" charset="-120"/>
              </a:rPr>
              <a:t>；來源缺件保持待補</a:t>
            </a:r>
            <a:endParaRPr lang="en-US" sz="2000" dirty="0"/>
          </a:p>
        </p:txBody>
      </p:sp>
      <p:sp>
        <p:nvSpPr>
          <p:cNvPr id="22" name="Text 3"/>
          <p:cNvSpPr/>
          <p:nvPr>
            <p:ph idx="105" type="title" hasCustomPrompt="1"/>
          </p:nvPr>
        </p:nvSpPr>
        <p:spPr>
          <a:xfrm>
            <a:off x="656591" y="187008"/>
            <a:ext cx="9462769" cy="480060"/>
          </a:xfrm>
          <a:prstGeom prst="rect">
            <a:avLst/>
          </a:prstGeom>
          <a:noFill/>
          <a:ln/>
        </p:spPr>
        <p:txBody>
          <a:bodyPr wrap="square" lIns="0" tIns="0" rIns="0" bIns="0" rtlCol="0" anchor="b"/>
          <a:lstStyle/>
          <a:p>
            <a:pPr algn="l" indent="0" marL="0">
              <a:buNone/>
            </a:pPr>
            <a:endParaRPr lang="en-US" sz="2800" dirty="0"/>
          </a:p>
        </p:txBody>
      </p:sp>
    </p:spTree>
  </p:cSld>
  <p:clrMapOvr>
    <a:masterClrMapping/>
  </p:clrMapOvr>
</p:sld>
</file>

<file path=ppt/slides/slide6.xml><?xml version="1.0" encoding="utf-8"?>
<p:sld xmlns:a="http://schemas.openxmlformats.org/drawingml/2006/main" xmlns:ns2="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56591" y="187008"/>
            <a:ext cx="9462769" cy="480060"/>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P086</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course</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service-first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summary</a:t>
            </a:r>
            <a:endParaRPr lang="en-US" sz="2800" dirty="0"/>
          </a:p>
        </p:txBody>
      </p:sp>
      <p:sp>
        <p:nvSpPr>
          <p:cNvPr id="3" name="Text 1"/>
          <p:cNvSpPr/>
          <p:nvPr/>
        </p:nvSpPr>
        <p:spPr>
          <a:xfrm>
            <a:off x="822960" y="932688"/>
            <a:ext cx="10561320" cy="438912"/>
          </a:xfrm>
          <a:prstGeom prst="rect">
            <a:avLst/>
          </a:prstGeom>
          <a:noFill/>
          <a:ln/>
        </p:spPr>
        <p:txBody>
          <a:bodyPr wrap="square" lIns="635" tIns="635" rIns="635" bIns="635" rtlCol="0" anchor="ctr">
            <a:normAutofit/>
          </a:bodyPr>
          <a:lstStyle/>
          <a:p>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service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delivered</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data</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endpoint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J</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endpoint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bit/J</a:t>
            </a:r>
            <a:endParaRPr lang="en-US" sz="2400" dirty="0"/>
          </a:p>
        </p:txBody>
      </p:sp>
      <p:pic>
        <p:nvPicPr>
          <p:cNvPr id="4" name="Image 0" descr="identifier-free A metrics crop">    </p:cNvPr>
          <p:cNvPicPr>
            <a:picLocks noChangeAspect="1"/>
          </p:cNvPicPr>
          <p:nvPr/>
        </p:nvPicPr>
        <p:blipFill>
          <a:blip ns2:embed="rId1"/>
          <a:stretch>
            <a:fillRect/>
          </a:stretch>
        </p:blipFill>
        <p:spPr>
          <a:xfrm>
            <a:off x="822960" y="1389888"/>
            <a:ext cx="5577840" cy="384048"/>
          </a:xfrm>
          <a:prstGeom prst="rect">
            <a:avLst/>
          </a:prstGeom>
        </p:spPr>
      </p:pic>
      <p:sp>
        <p:nvSpPr>
          <p:cNvPr id="5" name="Shape 2"/>
          <p:cNvSpPr/>
          <p:nvPr/>
        </p:nvSpPr>
        <p:spPr>
          <a:xfrm>
            <a:off x="822960" y="1389888"/>
            <a:ext cx="5577840" cy="384048"/>
          </a:xfrm>
          <a:prstGeom prst="rect">
            <a:avLst/>
          </a:prstGeom>
          <a:solidFill>
            <a:srgbClr val="FFFFFF">
              <a:alpha val="0"/>
            </a:srgbClr>
          </a:solidFill>
          <a:ln w="12700">
            <a:solidFill>
              <a:srgbClr val="D7DEEA"/>
            </a:solidFill>
            <a:prstDash val="solid"/>
          </a:ln>
        </p:spPr>
      </p:sp>
      <p:sp>
        <p:nvSpPr>
          <p:cNvPr id="6" name="Shape 3"/>
          <p:cNvSpPr/>
          <p:nvPr/>
        </p:nvSpPr>
        <p:spPr>
          <a:xfrm>
            <a:off x="1664208" y="2103120"/>
            <a:ext cx="3895344" cy="420624"/>
          </a:xfrm>
          <a:prstGeom prst="roundRect">
            <a:avLst/>
          </a:prstGeom>
          <a:solidFill>
            <a:srgbClr val="E8F7F4"/>
          </a:solidFill>
          <a:ln w="15240">
            <a:solidFill>
              <a:srgbClr val="007374"/>
            </a:solidFill>
            <a:prstDash val="solid"/>
          </a:ln>
        </p:spPr>
      </p:sp>
      <p:sp>
        <p:nvSpPr>
          <p:cNvPr id="7" name="Text 4"/>
          <p:cNvSpPr/>
          <p:nvPr/>
        </p:nvSpPr>
        <p:spPr>
          <a:xfrm>
            <a:off x="1737360" y="2139696"/>
            <a:ext cx="3749040" cy="310896"/>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current</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metrics</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crop</a:t>
            </a:r>
            <a:endParaRPr lang="en-US" sz="1800" dirty="0"/>
          </a:p>
        </p:txBody>
      </p:sp>
      <p:sp>
        <p:nvSpPr>
          <p:cNvPr id="8" name="Shape 5"/>
          <p:cNvSpPr/>
          <p:nvPr/>
        </p:nvSpPr>
        <p:spPr>
          <a:xfrm>
            <a:off x="6894576" y="1353312"/>
            <a:ext cx="4297680" cy="713232"/>
          </a:xfrm>
          <a:prstGeom prst="roundRect">
            <a:avLst/>
          </a:prstGeom>
          <a:solidFill>
            <a:srgbClr val="FDEFEF"/>
          </a:solidFill>
          <a:ln w="15240">
            <a:solidFill>
              <a:srgbClr val="992A2A"/>
            </a:solidFill>
            <a:prstDash val="solid"/>
          </a:ln>
        </p:spPr>
      </p:sp>
      <p:sp>
        <p:nvSpPr>
          <p:cNvPr id="9" name="Text 6"/>
          <p:cNvSpPr/>
          <p:nvPr/>
        </p:nvSpPr>
        <p:spPr>
          <a:xfrm>
            <a:off x="7095744" y="1463040"/>
            <a:ext cx="2048256" cy="438912"/>
          </a:xfrm>
          <a:prstGeom prst="rect">
            <a:avLst/>
          </a:prstGeom>
          <a:noFill/>
          <a:ln/>
        </p:spPr>
        <p:txBody>
          <a:bodyPr wrap="square" lIns="635" tIns="635" rIns="635" bIns="635" rtlCol="0" anchor="ctr">
            <a:normAutofit/>
          </a:bodyPr>
          <a:lstStyle/>
          <a:p>
            <a:pPr algn="l" indent="0" marL="0">
              <a:lnSpc>
                <a:spcPct val="100000"/>
              </a:lnSpc>
              <a:buNone/>
            </a:pPr>
            <a:r>
              <a:rPr lang="en-US" sz="2400" b="1" dirty="0">
                <a:solidFill>
                  <a:srgbClr val="992A2A"/>
                </a:solidFill>
                <a:latin typeface="Times New Roman" pitchFamily="34" charset="0"/>
                <a:ea typeface="標楷體" pitchFamily="34" charset="-122"/>
                <a:cs typeface="Times New Roman" pitchFamily="34" charset="-120"/>
              </a:rPr>
              <a:t>服務 </a:t>
            </a:r>
            <a:pPr algn="l" indent="0" marL="0">
              <a:lnSpc>
                <a:spcPct val="100000"/>
              </a:lnSpc>
              <a:buNone/>
            </a:pPr>
            <a:r>
              <a:rPr lang="en-US" sz="2400" b="1" dirty="0">
                <a:solidFill>
                  <a:srgbClr val="992A2A"/>
                </a:solidFill>
                <a:latin typeface="Times New Roman" pitchFamily="34" charset="0"/>
                <a:ea typeface="標楷體" pitchFamily="34" charset="-122"/>
                <a:cs typeface="Times New Roman" pitchFamily="34" charset="-120"/>
              </a:rPr>
              <a:t>gate</a:t>
            </a:r>
            <a:endParaRPr lang="en-US" sz="2400" dirty="0"/>
          </a:p>
        </p:txBody>
      </p:sp>
      <p:sp>
        <p:nvSpPr>
          <p:cNvPr id="10" name="Text 7"/>
          <p:cNvSpPr/>
          <p:nvPr/>
        </p:nvSpPr>
        <p:spPr>
          <a:xfrm>
            <a:off x="9253728" y="1463040"/>
            <a:ext cx="1664208" cy="438912"/>
          </a:xfrm>
          <a:prstGeom prst="rect">
            <a:avLst/>
          </a:prstGeom>
          <a:noFill/>
          <a:ln/>
        </p:spPr>
        <p:txBody>
          <a:bodyPr wrap="square" lIns="635" tIns="635" rIns="635" bIns="635" rtlCol="0" anchor="ctr">
            <a:normAutofit/>
          </a:bodyPr>
          <a:lstStyle/>
          <a:p>
            <a:pPr algn="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FAIL</a:t>
            </a:r>
            <a:endParaRPr lang="en-US" sz="2400" dirty="0"/>
          </a:p>
        </p:txBody>
      </p:sp>
      <p:sp>
        <p:nvSpPr>
          <p:cNvPr id="11" name="Shape 8"/>
          <p:cNvSpPr/>
          <p:nvPr/>
        </p:nvSpPr>
        <p:spPr>
          <a:xfrm>
            <a:off x="8796528" y="2121408"/>
            <a:ext cx="384048" cy="438912"/>
          </a:xfrm>
          <a:prstGeom prst="chevron">
            <a:avLst/>
          </a:prstGeom>
          <a:solidFill>
            <a:srgbClr val="992A2A"/>
          </a:solidFill>
          <a:ln w="12700">
            <a:solidFill>
              <a:srgbClr val="992A2A">
                <a:alpha val="0"/>
              </a:srgbClr>
            </a:solidFill>
            <a:prstDash val="solid"/>
          </a:ln>
        </p:spPr>
      </p:sp>
      <p:sp>
        <p:nvSpPr>
          <p:cNvPr id="12" name="Shape 9"/>
          <p:cNvSpPr/>
          <p:nvPr/>
        </p:nvSpPr>
        <p:spPr>
          <a:xfrm>
            <a:off x="6894576" y="2249424"/>
            <a:ext cx="4297680" cy="713232"/>
          </a:xfrm>
          <a:prstGeom prst="roundRect">
            <a:avLst/>
          </a:prstGeom>
          <a:solidFill>
            <a:srgbClr val="ECF1FE"/>
          </a:solidFill>
          <a:ln w="15240">
            <a:solidFill>
              <a:srgbClr val="4967C2"/>
            </a:solidFill>
            <a:prstDash val="solid"/>
          </a:ln>
        </p:spPr>
      </p:sp>
      <p:sp>
        <p:nvSpPr>
          <p:cNvPr id="13" name="Text 10"/>
          <p:cNvSpPr/>
          <p:nvPr/>
        </p:nvSpPr>
        <p:spPr>
          <a:xfrm>
            <a:off x="7095744" y="2359152"/>
            <a:ext cx="2048256" cy="438912"/>
          </a:xfrm>
          <a:prstGeom prst="rect">
            <a:avLst/>
          </a:prstGeom>
          <a:noFill/>
          <a:ln/>
        </p:spPr>
        <p:txBody>
          <a:bodyPr wrap="square" lIns="635" tIns="635" rIns="635" bIns="635" rtlCol="0" anchor="ctr">
            <a:normAutofit/>
          </a:bodyPr>
          <a:lstStyle/>
          <a:p>
            <a:pPr algn="l" indent="0" marL="0">
              <a:lnSpc>
                <a:spcPct val="100000"/>
              </a:lnSpc>
              <a:buNone/>
            </a:pPr>
            <a:r>
              <a:rPr lang="en-US" sz="2400" b="1" dirty="0">
                <a:solidFill>
                  <a:srgbClr val="4967C2"/>
                </a:solidFill>
                <a:latin typeface="Times New Roman" pitchFamily="34" charset="0"/>
                <a:ea typeface="標楷體" pitchFamily="34" charset="-122"/>
                <a:cs typeface="Times New Roman" pitchFamily="34" charset="-120"/>
              </a:rPr>
              <a:t>已送達資料</a:t>
            </a:r>
            <a:endParaRPr lang="en-US" sz="2400" dirty="0"/>
          </a:p>
        </p:txBody>
      </p:sp>
      <p:sp>
        <p:nvSpPr>
          <p:cNvPr id="14" name="Text 11"/>
          <p:cNvSpPr/>
          <p:nvPr/>
        </p:nvSpPr>
        <p:spPr>
          <a:xfrm>
            <a:off x="9253728" y="2359152"/>
            <a:ext cx="1664208" cy="438912"/>
          </a:xfrm>
          <a:prstGeom prst="rect">
            <a:avLst/>
          </a:prstGeom>
          <a:noFill/>
          <a:ln/>
        </p:spPr>
        <p:txBody>
          <a:bodyPr wrap="square" lIns="635" tIns="635" rIns="635" bIns="635" rtlCol="0" anchor="ctr">
            <a:normAutofit/>
          </a:bodyPr>
          <a:lstStyle/>
          <a:p>
            <a:pPr algn="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4800</a:t>
            </a:r>
            <a:pPr algn="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 </a:t>
            </a:r>
            <a:pPr algn="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bit</a:t>
            </a:r>
            <a:endParaRPr lang="en-US" sz="2400" dirty="0"/>
          </a:p>
        </p:txBody>
      </p:sp>
      <p:sp>
        <p:nvSpPr>
          <p:cNvPr id="15" name="Shape 12"/>
          <p:cNvSpPr/>
          <p:nvPr/>
        </p:nvSpPr>
        <p:spPr>
          <a:xfrm>
            <a:off x="8796528" y="3017520"/>
            <a:ext cx="384048" cy="438912"/>
          </a:xfrm>
          <a:prstGeom prst="chevron">
            <a:avLst/>
          </a:prstGeom>
          <a:solidFill>
            <a:srgbClr val="4967C2"/>
          </a:solidFill>
          <a:ln w="12700">
            <a:solidFill>
              <a:srgbClr val="4967C2">
                <a:alpha val="0"/>
              </a:srgbClr>
            </a:solidFill>
            <a:prstDash val="solid"/>
          </a:ln>
        </p:spPr>
      </p:sp>
      <p:sp>
        <p:nvSpPr>
          <p:cNvPr id="16" name="Shape 13"/>
          <p:cNvSpPr/>
          <p:nvPr/>
        </p:nvSpPr>
        <p:spPr>
          <a:xfrm>
            <a:off x="6894576" y="3145536"/>
            <a:ext cx="4297680" cy="713232"/>
          </a:xfrm>
          <a:prstGeom prst="roundRect">
            <a:avLst/>
          </a:prstGeom>
          <a:solidFill>
            <a:srgbClr val="E8F7F4"/>
          </a:solidFill>
          <a:ln w="15240">
            <a:solidFill>
              <a:srgbClr val="007374"/>
            </a:solidFill>
            <a:prstDash val="solid"/>
          </a:ln>
        </p:spPr>
      </p:sp>
      <p:sp>
        <p:nvSpPr>
          <p:cNvPr id="17" name="Text 14"/>
          <p:cNvSpPr/>
          <p:nvPr/>
        </p:nvSpPr>
        <p:spPr>
          <a:xfrm>
            <a:off x="7095744" y="3255264"/>
            <a:ext cx="2048256" cy="438912"/>
          </a:xfrm>
          <a:prstGeom prst="rect">
            <a:avLst/>
          </a:prstGeom>
          <a:noFill/>
          <a:ln/>
        </p:spPr>
        <p:txBody>
          <a:bodyPr wrap="square" lIns="635" tIns="635" rIns="635" bIns="635" rtlCol="0" anchor="ctr">
            <a:normAutofit/>
          </a:bodyPr>
          <a:lstStyle/>
          <a:p>
            <a:pPr algn="l" indent="0" marL="0">
              <a:lnSpc>
                <a:spcPct val="100000"/>
              </a:lnSpc>
              <a:buNone/>
            </a:pPr>
            <a:r>
              <a:rPr lang="en-US" sz="2400" b="1" dirty="0">
                <a:solidFill>
                  <a:srgbClr val="007374"/>
                </a:solidFill>
                <a:latin typeface="Times New Roman" pitchFamily="34" charset="0"/>
                <a:ea typeface="標楷體" pitchFamily="34" charset="-122"/>
                <a:cs typeface="Times New Roman" pitchFamily="34" charset="-120"/>
              </a:rPr>
              <a:t>端點能量</a:t>
            </a:r>
            <a:endParaRPr lang="en-US" sz="2400" dirty="0"/>
          </a:p>
        </p:txBody>
      </p:sp>
      <p:sp>
        <p:nvSpPr>
          <p:cNvPr id="18" name="Text 15"/>
          <p:cNvSpPr/>
          <p:nvPr/>
        </p:nvSpPr>
        <p:spPr>
          <a:xfrm>
            <a:off x="9253728" y="3255264"/>
            <a:ext cx="1664208" cy="438912"/>
          </a:xfrm>
          <a:prstGeom prst="rect">
            <a:avLst/>
          </a:prstGeom>
          <a:noFill/>
          <a:ln/>
        </p:spPr>
        <p:txBody>
          <a:bodyPr wrap="square" lIns="635" tIns="635" rIns="635" bIns="635" rtlCol="0" anchor="ctr">
            <a:normAutofit/>
          </a:bodyPr>
          <a:lstStyle/>
          <a:p>
            <a:pPr algn="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6.92</a:t>
            </a:r>
            <a:pPr algn="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 </a:t>
            </a:r>
            <a:pPr algn="r" indent="0" marL="0">
              <a:lnSpc>
                <a:spcPct val="100000"/>
              </a:lnSpc>
              <a:buNone/>
            </a:pPr>
            <a:r>
              <a:rPr lang="en-US" sz="2400" b="1" i="1" dirty="0">
                <a:solidFill>
                  <a:srgbClr val="25324A"/>
                </a:solidFill>
                <a:latin typeface="Times New Roman" pitchFamily="34" charset="0"/>
                <a:ea typeface="標楷體" pitchFamily="34" charset="-122"/>
                <a:cs typeface="Times New Roman" pitchFamily="34" charset="-120"/>
              </a:rPr>
              <a:t>J</a:t>
            </a:r>
            <a:endParaRPr lang="en-US" sz="2400" dirty="0"/>
          </a:p>
        </p:txBody>
      </p:sp>
      <p:sp>
        <p:nvSpPr>
          <p:cNvPr id="19" name="Shape 16"/>
          <p:cNvSpPr/>
          <p:nvPr/>
        </p:nvSpPr>
        <p:spPr>
          <a:xfrm>
            <a:off x="8796528" y="3913632"/>
            <a:ext cx="384048" cy="438912"/>
          </a:xfrm>
          <a:prstGeom prst="chevron">
            <a:avLst/>
          </a:prstGeom>
          <a:solidFill>
            <a:srgbClr val="007374"/>
          </a:solidFill>
          <a:ln w="12700">
            <a:solidFill>
              <a:srgbClr val="007374">
                <a:alpha val="0"/>
              </a:srgbClr>
            </a:solidFill>
            <a:prstDash val="solid"/>
          </a:ln>
        </p:spPr>
      </p:sp>
      <p:sp>
        <p:nvSpPr>
          <p:cNvPr id="20" name="Shape 17"/>
          <p:cNvSpPr/>
          <p:nvPr/>
        </p:nvSpPr>
        <p:spPr>
          <a:xfrm>
            <a:off x="6894576" y="4041648"/>
            <a:ext cx="4297680" cy="713232"/>
          </a:xfrm>
          <a:prstGeom prst="roundRect">
            <a:avLst/>
          </a:prstGeom>
          <a:solidFill>
            <a:srgbClr val="FDF9E2"/>
          </a:solidFill>
          <a:ln w="15240">
            <a:solidFill>
              <a:srgbClr val="846826"/>
            </a:solidFill>
            <a:prstDash val="solid"/>
          </a:ln>
        </p:spPr>
      </p:sp>
      <p:sp>
        <p:nvSpPr>
          <p:cNvPr id="21" name="Text 18"/>
          <p:cNvSpPr/>
          <p:nvPr/>
        </p:nvSpPr>
        <p:spPr>
          <a:xfrm>
            <a:off x="7095744" y="4151376"/>
            <a:ext cx="2048256" cy="438912"/>
          </a:xfrm>
          <a:prstGeom prst="rect">
            <a:avLst/>
          </a:prstGeom>
          <a:noFill/>
          <a:ln/>
        </p:spPr>
        <p:txBody>
          <a:bodyPr wrap="square" lIns="635" tIns="635" rIns="635" bIns="635" rtlCol="0" anchor="ctr">
            <a:normAutofit/>
          </a:bodyPr>
          <a:lstStyle/>
          <a:p>
            <a:pPr algn="l" indent="0" marL="0">
              <a:lnSpc>
                <a:spcPct val="100000"/>
              </a:lnSpc>
              <a:buNone/>
            </a:pPr>
            <a:r>
              <a:rPr lang="en-US" sz="2400" b="1" dirty="0">
                <a:solidFill>
                  <a:srgbClr val="846826"/>
                </a:solidFill>
                <a:latin typeface="Times New Roman" pitchFamily="34" charset="0"/>
                <a:ea typeface="標楷體" pitchFamily="34" charset="-122"/>
                <a:cs typeface="Times New Roman" pitchFamily="34" charset="-120"/>
              </a:rPr>
              <a:t>端點 </a:t>
            </a:r>
            <a:pPr algn="l" indent="0" marL="0">
              <a:lnSpc>
                <a:spcPct val="100000"/>
              </a:lnSpc>
              <a:buNone/>
            </a:pPr>
            <a:r>
              <a:rPr lang="en-US" sz="2400" b="1" i="1" dirty="0">
                <a:solidFill>
                  <a:srgbClr val="846826"/>
                </a:solidFill>
                <a:latin typeface="Times New Roman" pitchFamily="34" charset="0"/>
                <a:ea typeface="標楷體" pitchFamily="34" charset="-122"/>
                <a:cs typeface="Times New Roman" pitchFamily="34" charset="-120"/>
              </a:rPr>
              <a:t>bit/J</a:t>
            </a:r>
            <a:endParaRPr lang="en-US" sz="2400" dirty="0"/>
          </a:p>
        </p:txBody>
      </p:sp>
      <p:sp>
        <p:nvSpPr>
          <p:cNvPr id="22" name="Text 19"/>
          <p:cNvSpPr/>
          <p:nvPr/>
        </p:nvSpPr>
        <p:spPr>
          <a:xfrm>
            <a:off x="9253728" y="4151376"/>
            <a:ext cx="1664208" cy="438912"/>
          </a:xfrm>
          <a:prstGeom prst="rect">
            <a:avLst/>
          </a:prstGeom>
          <a:noFill/>
          <a:ln/>
        </p:spPr>
        <p:txBody>
          <a:bodyPr wrap="square" lIns="635" tIns="635" rIns="635" bIns="635" rtlCol="0" anchor="ctr">
            <a:normAutofit/>
          </a:bodyPr>
          <a:lstStyle/>
          <a:p>
            <a:pPr algn="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693.641618</a:t>
            </a:r>
            <a:endParaRPr lang="en-US" sz="2400" dirty="0"/>
          </a:p>
        </p:txBody>
      </p:sp>
      <p:sp>
        <p:nvSpPr>
          <p:cNvPr id="23" name="Shape 20"/>
          <p:cNvSpPr/>
          <p:nvPr/>
        </p:nvSpPr>
        <p:spPr>
          <a:xfrm>
            <a:off x="822960" y="2944368"/>
            <a:ext cx="5577840" cy="1517904"/>
          </a:xfrm>
          <a:prstGeom prst="roundRect">
            <a:avLst/>
          </a:prstGeom>
          <a:solidFill>
            <a:srgbClr val="FDEFEF"/>
          </a:solidFill>
          <a:ln w="15240">
            <a:solidFill>
              <a:srgbClr val="992A2A"/>
            </a:solidFill>
            <a:prstDash val="solid"/>
          </a:ln>
        </p:spPr>
      </p:sp>
      <p:sp>
        <p:nvSpPr>
          <p:cNvPr id="24" name="Text 21"/>
          <p:cNvSpPr/>
          <p:nvPr/>
        </p:nvSpPr>
        <p:spPr>
          <a:xfrm>
            <a:off x="969264" y="3054096"/>
            <a:ext cx="5285232" cy="329184"/>
          </a:xfrm>
          <a:prstGeom prst="rect">
            <a:avLst/>
          </a:prstGeom>
          <a:noFill/>
          <a:ln/>
        </p:spPr>
        <p:txBody>
          <a:bodyPr wrap="square" lIns="635" tIns="635" rIns="635" bIns="635" rtlCol="0" anchor="ctr">
            <a:normAutofit/>
          </a:bodyPr>
          <a:lstStyle/>
          <a:p>
            <a:pPr algn="l"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第一判讀</a:t>
            </a:r>
            <a:endParaRPr lang="en-US" sz="1800" dirty="0"/>
          </a:p>
        </p:txBody>
      </p:sp>
      <p:sp>
        <p:nvSpPr>
          <p:cNvPr id="25" name="Text 22"/>
          <p:cNvSpPr/>
          <p:nvPr/>
        </p:nvSpPr>
        <p:spPr>
          <a:xfrm>
            <a:off x="969264" y="3493008"/>
            <a:ext cx="5285232" cy="859536"/>
          </a:xfrm>
          <a:prstGeom prst="rect">
            <a:avLst/>
          </a:prstGeom>
          <a:noFill/>
          <a:ln/>
        </p:spPr>
        <p:txBody>
          <a:bodyPr wrap="square" lIns="635" tIns="635" rIns="635" bIns="635" rtlCol="0" anchor="t">
            <a:normAutofit/>
          </a:bodyPr>
          <a:lstStyle/>
          <a:p>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FAIL</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先界定服務邊界；</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4800</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bit</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描述完成量。
</a:t>
            </a:r>
            <a:pPr algn="l"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J</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與 </a:t>
            </a:r>
            <a:pPr algn="l"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bit/J</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的意義在 </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gate</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之後說明。</a:t>
            </a:r>
            <a:endParaRPr lang="en-US" sz="2400" dirty="0"/>
          </a:p>
        </p:txBody>
      </p:sp>
      <p:sp>
        <p:nvSpPr>
          <p:cNvPr id="26" name="Shape 23"/>
          <p:cNvSpPr/>
          <p:nvPr/>
        </p:nvSpPr>
        <p:spPr>
          <a:xfrm>
            <a:off x="822960" y="4608576"/>
            <a:ext cx="10369296" cy="914400"/>
          </a:xfrm>
          <a:prstGeom prst="roundRect">
            <a:avLst/>
          </a:prstGeom>
          <a:solidFill>
            <a:srgbClr val="FDF9E2"/>
          </a:solidFill>
          <a:ln w="15240">
            <a:solidFill>
              <a:srgbClr val="846826"/>
            </a:solidFill>
            <a:prstDash val="solid"/>
          </a:ln>
        </p:spPr>
      </p:sp>
      <p:sp>
        <p:nvSpPr>
          <p:cNvPr id="27" name="Text 24"/>
          <p:cNvSpPr/>
          <p:nvPr/>
        </p:nvSpPr>
        <p:spPr>
          <a:xfrm>
            <a:off x="969264" y="4718304"/>
            <a:ext cx="10076688"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欄位契約 </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field</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contract</a:t>
            </a:r>
            <a:endParaRPr lang="en-US" sz="1800" dirty="0"/>
          </a:p>
        </p:txBody>
      </p:sp>
      <p:sp>
        <p:nvSpPr>
          <p:cNvPr id="28" name="Text 25"/>
          <p:cNvSpPr/>
          <p:nvPr/>
        </p:nvSpPr>
        <p:spPr>
          <a:xfrm>
            <a:off x="969264" y="5102352"/>
            <a:ext cx="10076688" cy="310896"/>
          </a:xfrm>
          <a:prstGeom prst="rect">
            <a:avLst/>
          </a:prstGeom>
          <a:noFill/>
          <a:ln/>
        </p:spPr>
        <p:txBody>
          <a:bodyPr wrap="square" lIns="635" tIns="635" rIns="635" bIns="635" rtlCol="0" anchor="t">
            <a:normAutofit/>
          </a:bodyPr>
          <a:lstStyle/>
          <a:p>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來源：</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accepted</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800" i="1" dirty="0">
                <a:solidFill>
                  <a:srgbClr val="25324A"/>
                </a:solidFill>
                <a:latin typeface="Times New Roman" pitchFamily="34" charset="0"/>
                <a:ea typeface="標楷體" pitchFamily="34" charset="-122"/>
                <a:cs typeface="Times New Roman" pitchFamily="34" charset="-120"/>
              </a:rPr>
              <a:t>endpoint</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teaching</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record</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｜單位：</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bit</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1800" i="1" dirty="0">
                <a:solidFill>
                  <a:srgbClr val="25324A"/>
                </a:solidFill>
                <a:latin typeface="Times New Roman" pitchFamily="34" charset="0"/>
                <a:ea typeface="標楷體" pitchFamily="34" charset="-122"/>
                <a:cs typeface="Times New Roman" pitchFamily="34" charset="-120"/>
              </a:rPr>
              <a:t>J</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1800" i="1" dirty="0">
                <a:solidFill>
                  <a:srgbClr val="25324A"/>
                </a:solidFill>
                <a:latin typeface="Times New Roman" pitchFamily="34" charset="0"/>
                <a:ea typeface="標楷體" pitchFamily="34" charset="-122"/>
                <a:cs typeface="Times New Roman" pitchFamily="34" charset="-120"/>
              </a:rPr>
              <a:t>bit/J</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｜解釋：效率數字描述 </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run</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，不改寫 </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FAIL</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a:t>
            </a:r>
            <a:endParaRPr lang="en-US" sz="1800" dirty="0"/>
          </a:p>
        </p:txBody>
      </p:sp>
      <p:sp>
        <p:nvSpPr>
          <p:cNvPr id="30" name="Text 3"/>
          <p:cNvSpPr/>
          <p:nvPr>
            <p:ph idx="105" type="title" hasCustomPrompt="1"/>
          </p:nvPr>
        </p:nvSpPr>
        <p:spPr>
          <a:xfrm>
            <a:off x="656591" y="187008"/>
            <a:ext cx="9462769" cy="480060"/>
          </a:xfrm>
          <a:prstGeom prst="rect">
            <a:avLst/>
          </a:prstGeom>
          <a:noFill/>
          <a:ln/>
        </p:spPr>
        <p:txBody>
          <a:bodyPr wrap="square" lIns="0" tIns="0" rIns="0" bIns="0" rtlCol="0" anchor="b"/>
          <a:lstStyle/>
          <a:p>
            <a:pPr algn="l" indent="0" marL="0">
              <a:buNone/>
            </a:pPr>
            <a:endParaRPr lang="en-US" sz="2800" dirty="0"/>
          </a:p>
        </p:txBody>
      </p:sp>
    </p:spTree>
  </p:cSld>
  <p:clrMapOvr>
    <a:masterClrMapping/>
  </p:clrMapOvr>
</p:sld>
</file>

<file path=ppt/slides/slide7.xml><?xml version="1.0" encoding="utf-8"?>
<p:sld xmlns:a="http://schemas.openxmlformats.org/drawingml/2006/main" xmlns:ns2="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56591" y="187008"/>
            <a:ext cx="9462769" cy="480060"/>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P087</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course</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i="1" dirty="0">
                <a:solidFill>
                  <a:srgbClr val="35377F"/>
                </a:solidFill>
                <a:latin typeface="Times New Roman" pitchFamily="34" charset="0"/>
                <a:ea typeface="標楷體" pitchFamily="34" charset="-122"/>
                <a:cs typeface="Times New Roman" pitchFamily="34" charset="-120"/>
              </a:rPr>
              <a:t>frame</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selector</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與八欄 </a:t>
            </a:r>
            <a:pPr algn="l" indent="0" marL="0">
              <a:lnSpc>
                <a:spcPct val="100000"/>
              </a:lnSpc>
              <a:buNone/>
            </a:pPr>
            <a:r>
              <a:rPr lang="en-US" sz="2800" b="1" i="1" dirty="0">
                <a:solidFill>
                  <a:srgbClr val="35377F"/>
                </a:solidFill>
                <a:latin typeface="Times New Roman" pitchFamily="34" charset="0"/>
                <a:ea typeface="標楷體" pitchFamily="34" charset="-122"/>
                <a:cs typeface="Times New Roman" pitchFamily="34" charset="-120"/>
              </a:rPr>
              <a:t>replay</a:t>
            </a:r>
            <a:endParaRPr lang="en-US" sz="2800" dirty="0"/>
          </a:p>
        </p:txBody>
      </p:sp>
      <p:sp>
        <p:nvSpPr>
          <p:cNvPr id="3" name="Text 1"/>
          <p:cNvSpPr/>
          <p:nvPr/>
        </p:nvSpPr>
        <p:spPr>
          <a:xfrm>
            <a:off x="822960" y="932688"/>
            <a:ext cx="10561320" cy="438912"/>
          </a:xfrm>
          <a:prstGeom prst="rect">
            <a:avLst/>
          </a:prstGeom>
          <a:noFill/>
          <a:ln/>
        </p:spPr>
        <p:txBody>
          <a:bodyPr wrap="square" lIns="635" tIns="635" rIns="635" bIns="635" rtlCol="0" anchor="ctr">
            <a:normAutofit/>
          </a:bodyPr>
          <a:lstStyle/>
          <a:p>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同一個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endpoint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frame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：八個欄位共同定義事件脈絡</a:t>
            </a:r>
            <a:endParaRPr lang="en-US" sz="2400" dirty="0"/>
          </a:p>
        </p:txBody>
      </p:sp>
      <p:pic>
        <p:nvPicPr>
          <p:cNvPr id="4" name="Image 0" descr="identifier-free replay frame crop">    </p:cNvPr>
          <p:cNvPicPr>
            <a:picLocks noChangeAspect="1"/>
          </p:cNvPicPr>
          <p:nvPr/>
        </p:nvPicPr>
        <p:blipFill>
          <a:blip ns2:embed="rId1"/>
          <a:stretch>
            <a:fillRect/>
          </a:stretch>
        </p:blipFill>
        <p:spPr>
          <a:xfrm>
            <a:off x="822960" y="1353312"/>
            <a:ext cx="7333488" cy="1609344"/>
          </a:xfrm>
          <a:prstGeom prst="rect">
            <a:avLst/>
          </a:prstGeom>
        </p:spPr>
      </p:pic>
      <p:sp>
        <p:nvSpPr>
          <p:cNvPr id="5" name="Shape 2"/>
          <p:cNvSpPr/>
          <p:nvPr/>
        </p:nvSpPr>
        <p:spPr>
          <a:xfrm>
            <a:off x="822960" y="1353312"/>
            <a:ext cx="7333488" cy="1609344"/>
          </a:xfrm>
          <a:prstGeom prst="rect">
            <a:avLst/>
          </a:prstGeom>
          <a:solidFill>
            <a:srgbClr val="FFFFFF">
              <a:alpha val="0"/>
            </a:srgbClr>
          </a:solidFill>
          <a:ln w="12700">
            <a:solidFill>
              <a:srgbClr val="D7DEEA"/>
            </a:solidFill>
            <a:prstDash val="solid"/>
          </a:ln>
        </p:spPr>
      </p:sp>
      <p:sp>
        <p:nvSpPr>
          <p:cNvPr id="6" name="Shape 3"/>
          <p:cNvSpPr/>
          <p:nvPr/>
        </p:nvSpPr>
        <p:spPr>
          <a:xfrm>
            <a:off x="8485632" y="1371600"/>
            <a:ext cx="2761488" cy="420624"/>
          </a:xfrm>
          <a:prstGeom prst="roundRect">
            <a:avLst/>
          </a:prstGeom>
          <a:solidFill>
            <a:srgbClr val="E8F7F4"/>
          </a:solidFill>
          <a:ln w="15240">
            <a:solidFill>
              <a:srgbClr val="007374"/>
            </a:solidFill>
            <a:prstDash val="solid"/>
          </a:ln>
        </p:spPr>
      </p:sp>
      <p:sp>
        <p:nvSpPr>
          <p:cNvPr id="7" name="Text 4"/>
          <p:cNvSpPr/>
          <p:nvPr/>
        </p:nvSpPr>
        <p:spPr>
          <a:xfrm>
            <a:off x="8558784" y="1408176"/>
            <a:ext cx="2615184" cy="310896"/>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current</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i="1" dirty="0">
                <a:solidFill>
                  <a:srgbClr val="007374"/>
                </a:solidFill>
                <a:latin typeface="Times New Roman" pitchFamily="34" charset="0"/>
                <a:ea typeface="標楷體" pitchFamily="34" charset="-122"/>
                <a:cs typeface="Times New Roman" pitchFamily="34" charset="-120"/>
              </a:rPr>
              <a:t>replay</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crop</a:t>
            </a:r>
            <a:endParaRPr lang="en-US" sz="1800" dirty="0"/>
          </a:p>
        </p:txBody>
      </p:sp>
      <p:sp>
        <p:nvSpPr>
          <p:cNvPr id="8" name="Shape 5"/>
          <p:cNvSpPr/>
          <p:nvPr/>
        </p:nvSpPr>
        <p:spPr>
          <a:xfrm>
            <a:off x="8485632" y="1938528"/>
            <a:ext cx="2761488" cy="1024128"/>
          </a:xfrm>
          <a:prstGeom prst="roundRect">
            <a:avLst/>
          </a:prstGeom>
          <a:solidFill>
            <a:srgbClr val="FDF9E2"/>
          </a:solidFill>
          <a:ln w="15240">
            <a:solidFill>
              <a:srgbClr val="846826"/>
            </a:solidFill>
            <a:prstDash val="solid"/>
          </a:ln>
        </p:spPr>
      </p:sp>
      <p:sp>
        <p:nvSpPr>
          <p:cNvPr id="9" name="Text 6"/>
          <p:cNvSpPr/>
          <p:nvPr/>
        </p:nvSpPr>
        <p:spPr>
          <a:xfrm>
            <a:off x="8631936" y="2048256"/>
            <a:ext cx="2468880"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i="1" dirty="0">
                <a:solidFill>
                  <a:srgbClr val="846826"/>
                </a:solidFill>
                <a:latin typeface="Times New Roman" pitchFamily="34" charset="0"/>
                <a:ea typeface="標楷體" pitchFamily="34" charset="-122"/>
                <a:cs typeface="Times New Roman" pitchFamily="34" charset="-120"/>
              </a:rPr>
              <a:t>Frame</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selector</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 選擇器</a:t>
            </a:r>
            <a:endParaRPr lang="en-US" sz="1800" dirty="0"/>
          </a:p>
        </p:txBody>
      </p:sp>
      <p:sp>
        <p:nvSpPr>
          <p:cNvPr id="10" name="Text 7"/>
          <p:cNvSpPr/>
          <p:nvPr/>
        </p:nvSpPr>
        <p:spPr>
          <a:xfrm>
            <a:off x="8631936" y="2432304"/>
            <a:ext cx="2468880" cy="420624"/>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1</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56</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0</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s</a:t>
            </a:r>
            <a:pPr algn="ctr" indent="0" marL="0">
              <a:lnSpc>
                <a:spcPct val="100000"/>
              </a:lnSpc>
              <a:buNone/>
            </a:pP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成功切 </a:t>
            </a:r>
            <a:endParaRPr lang="en-US" sz="2400" dirty="0"/>
          </a:p>
          <a:p>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frame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；欄位同步更新。</a:t>
            </a:r>
            <a:endParaRPr lang="en-US" sz="2400" dirty="0"/>
          </a:p>
        </p:txBody>
      </p:sp>
      <p:sp>
        <p:nvSpPr>
          <p:cNvPr id="11" name="Shape 8"/>
          <p:cNvSpPr/>
          <p:nvPr/>
        </p:nvSpPr>
        <p:spPr>
          <a:xfrm>
            <a:off x="822960" y="3310128"/>
            <a:ext cx="2578608" cy="841248"/>
          </a:xfrm>
          <a:prstGeom prst="roundRect">
            <a:avLst/>
          </a:prstGeom>
          <a:solidFill>
            <a:srgbClr val="ECF1FE"/>
          </a:solidFill>
          <a:ln w="15240">
            <a:solidFill>
              <a:srgbClr val="4967C2"/>
            </a:solidFill>
            <a:prstDash val="solid"/>
          </a:ln>
        </p:spPr>
      </p:sp>
      <p:sp>
        <p:nvSpPr>
          <p:cNvPr id="12" name="Text 9"/>
          <p:cNvSpPr/>
          <p:nvPr/>
        </p:nvSpPr>
        <p:spPr>
          <a:xfrm>
            <a:off x="914400" y="3401568"/>
            <a:ext cx="2395728" cy="292608"/>
          </a:xfrm>
          <a:prstGeom prst="rect">
            <a:avLst/>
          </a:prstGeom>
          <a:noFill/>
          <a:ln/>
        </p:spPr>
        <p:txBody>
          <a:bodyPr wrap="square" lIns="635" tIns="635" rIns="635" bIns="635" rtlCol="0" anchor="ctr">
            <a:normAutofit/>
          </a:bodyPr>
          <a:lstStyle/>
          <a:p>
            <a:pPr algn="ctr" indent="0" marL="0">
              <a:lnSpc>
                <a:spcPct val="100000"/>
              </a:lnSpc>
              <a:buNone/>
            </a:pPr>
            <a:r>
              <a:rPr lang="en-US" sz="1800" b="1" i="1" dirty="0">
                <a:solidFill>
                  <a:srgbClr val="4967C2"/>
                </a:solidFill>
                <a:latin typeface="Times New Roman" pitchFamily="34" charset="0"/>
                <a:ea typeface="標楷體" pitchFamily="34" charset="-122"/>
                <a:cs typeface="Times New Roman" pitchFamily="34" charset="-120"/>
              </a:rPr>
              <a:t>Radio</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 無線電</a:t>
            </a:r>
            <a:endParaRPr lang="en-US" sz="1800" dirty="0"/>
          </a:p>
        </p:txBody>
      </p:sp>
      <p:sp>
        <p:nvSpPr>
          <p:cNvPr id="13" name="Text 10"/>
          <p:cNvSpPr/>
          <p:nvPr/>
        </p:nvSpPr>
        <p:spPr>
          <a:xfrm>
            <a:off x="914400" y="3739896"/>
            <a:ext cx="2395728" cy="256032"/>
          </a:xfrm>
          <a:prstGeom prst="rect">
            <a:avLst/>
          </a:prstGeom>
          <a:noFill/>
          <a:ln/>
        </p:spPr>
        <p:txBody>
          <a:bodyPr wrap="square" lIns="635" tIns="635" rIns="635" bIns="635" rtlCol="0" anchor="ctr">
            <a:normAutofit/>
          </a:bodyPr>
          <a:lstStyle/>
          <a:p>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state</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enum</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1600" i="1" dirty="0">
                <a:solidFill>
                  <a:srgbClr val="25324A"/>
                </a:solidFill>
                <a:latin typeface="Times New Roman" pitchFamily="34" charset="0"/>
                <a:ea typeface="標楷體" pitchFamily="34" charset="-122"/>
                <a:cs typeface="Times New Roman" pitchFamily="34" charset="-120"/>
              </a:rPr>
              <a:t>endpoint</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ledger</a:t>
            </a:r>
            <a:endParaRPr lang="en-US" sz="1600" dirty="0"/>
          </a:p>
        </p:txBody>
      </p:sp>
      <p:sp>
        <p:nvSpPr>
          <p:cNvPr id="14" name="Shape 11"/>
          <p:cNvSpPr/>
          <p:nvPr/>
        </p:nvSpPr>
        <p:spPr>
          <a:xfrm>
            <a:off x="3593592" y="3310128"/>
            <a:ext cx="2578608" cy="841248"/>
          </a:xfrm>
          <a:prstGeom prst="roundRect">
            <a:avLst/>
          </a:prstGeom>
          <a:solidFill>
            <a:srgbClr val="FDF9E2"/>
          </a:solidFill>
          <a:ln w="15240">
            <a:solidFill>
              <a:srgbClr val="846826"/>
            </a:solidFill>
            <a:prstDash val="solid"/>
          </a:ln>
        </p:spPr>
      </p:sp>
      <p:sp>
        <p:nvSpPr>
          <p:cNvPr id="15" name="Text 12"/>
          <p:cNvSpPr/>
          <p:nvPr/>
        </p:nvSpPr>
        <p:spPr>
          <a:xfrm>
            <a:off x="3685032" y="3401568"/>
            <a:ext cx="2395728" cy="292608"/>
          </a:xfrm>
          <a:prstGeom prst="rect">
            <a:avLst/>
          </a:prstGeom>
          <a:noFill/>
          <a:ln/>
        </p:spPr>
        <p:txBody>
          <a:bodyPr wrap="square" lIns="635" tIns="635" rIns="635" bIns="635" rtlCol="0" anchor="ctr">
            <a:normAutofit/>
          </a:bodyPr>
          <a:lstStyle/>
          <a:p>
            <a:pPr algn="ctr" indent="0" marL="0">
              <a:lnSpc>
                <a:spcPct val="100000"/>
              </a:lnSpc>
              <a:buNone/>
            </a:pPr>
            <a:r>
              <a:rPr lang="en-US" sz="1800" b="1" i="1" dirty="0">
                <a:solidFill>
                  <a:srgbClr val="846826"/>
                </a:solidFill>
                <a:latin typeface="Times New Roman" pitchFamily="34" charset="0"/>
                <a:ea typeface="標楷體" pitchFamily="34" charset="-122"/>
                <a:cs typeface="Times New Roman" pitchFamily="34" charset="-120"/>
              </a:rPr>
              <a:t>Action</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 動作</a:t>
            </a:r>
            <a:endParaRPr lang="en-US" sz="1800" dirty="0"/>
          </a:p>
        </p:txBody>
      </p:sp>
      <p:sp>
        <p:nvSpPr>
          <p:cNvPr id="16" name="Text 13"/>
          <p:cNvSpPr/>
          <p:nvPr/>
        </p:nvSpPr>
        <p:spPr>
          <a:xfrm>
            <a:off x="3685032" y="3739896"/>
            <a:ext cx="2395728" cy="256032"/>
          </a:xfrm>
          <a:prstGeom prst="rect">
            <a:avLst/>
          </a:prstGeom>
          <a:noFill/>
          <a:ln/>
        </p:spPr>
        <p:txBody>
          <a:bodyPr wrap="square" lIns="635" tIns="635" rIns="635" bIns="635" rtlCol="0" anchor="ctr">
            <a:normAutofit/>
          </a:bodyPr>
          <a:lstStyle/>
          <a:p>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enum</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policy</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API</a:t>
            </a:r>
            <a:endParaRPr lang="en-US" sz="1600" dirty="0"/>
          </a:p>
        </p:txBody>
      </p:sp>
      <p:sp>
        <p:nvSpPr>
          <p:cNvPr id="17" name="Shape 14"/>
          <p:cNvSpPr/>
          <p:nvPr/>
        </p:nvSpPr>
        <p:spPr>
          <a:xfrm>
            <a:off x="6364224" y="3310128"/>
            <a:ext cx="2578608" cy="841248"/>
          </a:xfrm>
          <a:prstGeom prst="roundRect">
            <a:avLst/>
          </a:prstGeom>
          <a:solidFill>
            <a:srgbClr val="F4EDF7"/>
          </a:solidFill>
          <a:ln w="15240">
            <a:solidFill>
              <a:srgbClr val="660066"/>
            </a:solidFill>
            <a:prstDash val="solid"/>
          </a:ln>
        </p:spPr>
      </p:sp>
      <p:sp>
        <p:nvSpPr>
          <p:cNvPr id="18" name="Text 15"/>
          <p:cNvSpPr/>
          <p:nvPr/>
        </p:nvSpPr>
        <p:spPr>
          <a:xfrm>
            <a:off x="6455664" y="3401568"/>
            <a:ext cx="2395728" cy="292608"/>
          </a:xfrm>
          <a:prstGeom prst="rect">
            <a:avLst/>
          </a:prstGeom>
          <a:noFill/>
          <a:ln/>
        </p:spPr>
        <p:txBody>
          <a:bodyPr wrap="square" lIns="635" tIns="635" rIns="635" bIns="635" rtlCol="0" anchor="ctr">
            <a:normAutofit/>
          </a:bodyPr>
          <a:lstStyle/>
          <a:p>
            <a:pPr algn="ctr" indent="0" marL="0">
              <a:lnSpc>
                <a:spcPct val="100000"/>
              </a:lnSpc>
              <a:buNone/>
            </a:pPr>
            <a:r>
              <a:rPr lang="en-US" sz="1800" b="1" i="1" dirty="0">
                <a:solidFill>
                  <a:srgbClr val="660066"/>
                </a:solidFill>
                <a:latin typeface="Times New Roman" pitchFamily="34" charset="0"/>
                <a:ea typeface="標楷體" pitchFamily="34" charset="-122"/>
                <a:cs typeface="Times New Roman" pitchFamily="34" charset="-120"/>
              </a:rPr>
              <a:t>queue</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count</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 佇列數</a:t>
            </a:r>
            <a:endParaRPr lang="en-US" sz="1800" dirty="0"/>
          </a:p>
        </p:txBody>
      </p:sp>
      <p:sp>
        <p:nvSpPr>
          <p:cNvPr id="19" name="Text 16"/>
          <p:cNvSpPr/>
          <p:nvPr/>
        </p:nvSpPr>
        <p:spPr>
          <a:xfrm>
            <a:off x="6455664" y="3739896"/>
            <a:ext cx="2395728" cy="256032"/>
          </a:xfrm>
          <a:prstGeom prst="rect">
            <a:avLst/>
          </a:prstGeom>
          <a:noFill/>
          <a:ln/>
        </p:spPr>
        <p:txBody>
          <a:bodyPr wrap="square" lIns="635" tIns="635" rIns="635" bIns="635" rtlCol="0" anchor="ctr">
            <a:normAutofit/>
          </a:bodyPr>
          <a:lstStyle/>
          <a:p>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packet</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count</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1600" i="1" dirty="0">
                <a:solidFill>
                  <a:srgbClr val="25324A"/>
                </a:solidFill>
                <a:latin typeface="Times New Roman" pitchFamily="34" charset="0"/>
                <a:ea typeface="標楷體" pitchFamily="34" charset="-122"/>
                <a:cs typeface="Times New Roman" pitchFamily="34" charset="-120"/>
              </a:rPr>
              <a:t>frame</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i="1" dirty="0">
                <a:solidFill>
                  <a:srgbClr val="25324A"/>
                </a:solidFill>
                <a:latin typeface="Times New Roman" pitchFamily="34" charset="0"/>
                <a:ea typeface="標楷體" pitchFamily="34" charset="-122"/>
                <a:cs typeface="Times New Roman" pitchFamily="34" charset="-120"/>
              </a:rPr>
              <a:t>queue</a:t>
            </a:r>
            <a:endParaRPr lang="en-US" sz="1600" dirty="0"/>
          </a:p>
        </p:txBody>
      </p:sp>
      <p:sp>
        <p:nvSpPr>
          <p:cNvPr id="20" name="Shape 17"/>
          <p:cNvSpPr/>
          <p:nvPr/>
        </p:nvSpPr>
        <p:spPr>
          <a:xfrm>
            <a:off x="9134856" y="3310128"/>
            <a:ext cx="2578608" cy="841248"/>
          </a:xfrm>
          <a:prstGeom prst="roundRect">
            <a:avLst/>
          </a:prstGeom>
          <a:solidFill>
            <a:srgbClr val="E8F7F4"/>
          </a:solidFill>
          <a:ln w="15240">
            <a:solidFill>
              <a:srgbClr val="007374"/>
            </a:solidFill>
            <a:prstDash val="solid"/>
          </a:ln>
        </p:spPr>
      </p:sp>
      <p:sp>
        <p:nvSpPr>
          <p:cNvPr id="21" name="Text 18"/>
          <p:cNvSpPr/>
          <p:nvPr/>
        </p:nvSpPr>
        <p:spPr>
          <a:xfrm>
            <a:off x="9226296" y="3401568"/>
            <a:ext cx="2395728" cy="292608"/>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累積 </a:t>
            </a:r>
            <a:pPr algn="ctr" indent="0" marL="0">
              <a:lnSpc>
                <a:spcPct val="100000"/>
              </a:lnSpc>
              <a:buNone/>
            </a:pPr>
            <a:r>
              <a:rPr lang="en-US" sz="1800" b="1" i="1" dirty="0">
                <a:solidFill>
                  <a:srgbClr val="007374"/>
                </a:solidFill>
                <a:latin typeface="Times New Roman" pitchFamily="34" charset="0"/>
                <a:ea typeface="標楷體" pitchFamily="34" charset="-122"/>
                <a:cs typeface="Times New Roman" pitchFamily="34" charset="-120"/>
              </a:rPr>
              <a:t>endpoint</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i="1" dirty="0">
                <a:solidFill>
                  <a:srgbClr val="007374"/>
                </a:solidFill>
                <a:latin typeface="Times New Roman" pitchFamily="34" charset="0"/>
                <a:ea typeface="標楷體" pitchFamily="34" charset="-122"/>
                <a:cs typeface="Times New Roman" pitchFamily="34" charset="-120"/>
              </a:rPr>
              <a:t>J</a:t>
            </a:r>
            <a:endParaRPr lang="en-US" sz="1800" dirty="0"/>
          </a:p>
        </p:txBody>
      </p:sp>
      <p:sp>
        <p:nvSpPr>
          <p:cNvPr id="22" name="Text 19"/>
          <p:cNvSpPr/>
          <p:nvPr/>
        </p:nvSpPr>
        <p:spPr>
          <a:xfrm>
            <a:off x="9226296" y="3739896"/>
            <a:ext cx="2395728" cy="256032"/>
          </a:xfrm>
          <a:prstGeom prst="rect">
            <a:avLst/>
          </a:prstGeom>
          <a:noFill/>
          <a:ln/>
        </p:spPr>
        <p:txBody>
          <a:bodyPr wrap="square" lIns="635" tIns="635" rIns="635" bIns="635" rtlCol="0" anchor="ctr">
            <a:normAutofit/>
          </a:bodyPr>
          <a:lstStyle/>
          <a:p>
            <a:pPr algn="ctr" indent="0" marL="0">
              <a:lnSpc>
                <a:spcPct val="100000"/>
              </a:lnSpc>
              <a:buNone/>
            </a:pPr>
            <a:r>
              <a:rPr lang="en-US" sz="1600" i="1" dirty="0">
                <a:solidFill>
                  <a:srgbClr val="25324A"/>
                </a:solidFill>
                <a:latin typeface="Times New Roman" pitchFamily="34" charset="0"/>
                <a:ea typeface="標楷體" pitchFamily="34" charset="-122"/>
                <a:cs typeface="Times New Roman" pitchFamily="34" charset="-120"/>
              </a:rPr>
              <a:t>J</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1600" i="1" dirty="0">
                <a:solidFill>
                  <a:srgbClr val="25324A"/>
                </a:solidFill>
                <a:latin typeface="Times New Roman" pitchFamily="34" charset="0"/>
                <a:ea typeface="標楷體" pitchFamily="34" charset="-122"/>
                <a:cs typeface="Times New Roman" pitchFamily="34" charset="-120"/>
              </a:rPr>
              <a:t>endpoint</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ledger</a:t>
            </a:r>
            <a:endParaRPr lang="en-US" sz="1600" dirty="0"/>
          </a:p>
        </p:txBody>
      </p:sp>
      <p:sp>
        <p:nvSpPr>
          <p:cNvPr id="23" name="Shape 20"/>
          <p:cNvSpPr/>
          <p:nvPr/>
        </p:nvSpPr>
        <p:spPr>
          <a:xfrm>
            <a:off x="822960" y="4361688"/>
            <a:ext cx="2578608" cy="841248"/>
          </a:xfrm>
          <a:prstGeom prst="roundRect">
            <a:avLst/>
          </a:prstGeom>
          <a:solidFill>
            <a:srgbClr val="ECF1FE"/>
          </a:solidFill>
          <a:ln w="15240">
            <a:solidFill>
              <a:srgbClr val="4967C2"/>
            </a:solidFill>
            <a:prstDash val="solid"/>
          </a:ln>
        </p:spPr>
      </p:sp>
      <p:sp>
        <p:nvSpPr>
          <p:cNvPr id="24" name="Text 21"/>
          <p:cNvSpPr/>
          <p:nvPr/>
        </p:nvSpPr>
        <p:spPr>
          <a:xfrm>
            <a:off x="914400" y="4453128"/>
            <a:ext cx="2395728" cy="292608"/>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Elapsed</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 經過時間</a:t>
            </a:r>
            <a:endParaRPr lang="en-US" sz="1800" dirty="0"/>
          </a:p>
        </p:txBody>
      </p:sp>
      <p:sp>
        <p:nvSpPr>
          <p:cNvPr id="25" name="Text 22"/>
          <p:cNvSpPr/>
          <p:nvPr/>
        </p:nvSpPr>
        <p:spPr>
          <a:xfrm>
            <a:off x="914400" y="4791456"/>
            <a:ext cx="2395728" cy="256032"/>
          </a:xfrm>
          <a:prstGeom prst="rect">
            <a:avLst/>
          </a:prstGeom>
          <a:noFill/>
          <a:ln/>
        </p:spPr>
        <p:txBody>
          <a:bodyPr wrap="square" lIns="635" tIns="635" rIns="635" bIns="635" rtlCol="0" anchor="ctr">
            <a:normAutofit/>
          </a:bodyPr>
          <a:lstStyle/>
          <a:p>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時間｜</a:t>
            </a:r>
            <a:pPr algn="ctr" indent="0" marL="0">
              <a:lnSpc>
                <a:spcPct val="100000"/>
              </a:lnSpc>
              <a:buNone/>
            </a:pPr>
            <a:r>
              <a:rPr lang="en-US" sz="1600" i="1" dirty="0">
                <a:solidFill>
                  <a:srgbClr val="25324A"/>
                </a:solidFill>
                <a:latin typeface="Times New Roman" pitchFamily="34" charset="0"/>
                <a:ea typeface="標楷體" pitchFamily="34" charset="-122"/>
                <a:cs typeface="Times New Roman" pitchFamily="34" charset="-120"/>
              </a:rPr>
              <a:t>endpoint</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trace</a:t>
            </a:r>
            <a:endParaRPr lang="en-US" sz="1600" dirty="0"/>
          </a:p>
        </p:txBody>
      </p:sp>
      <p:sp>
        <p:nvSpPr>
          <p:cNvPr id="26" name="Shape 23"/>
          <p:cNvSpPr/>
          <p:nvPr/>
        </p:nvSpPr>
        <p:spPr>
          <a:xfrm>
            <a:off x="3593592" y="4361688"/>
            <a:ext cx="2578608" cy="841248"/>
          </a:xfrm>
          <a:prstGeom prst="roundRect">
            <a:avLst/>
          </a:prstGeom>
          <a:solidFill>
            <a:srgbClr val="FDF9E2"/>
          </a:solidFill>
          <a:ln w="15240">
            <a:solidFill>
              <a:srgbClr val="846826"/>
            </a:solidFill>
            <a:prstDash val="solid"/>
          </a:ln>
        </p:spPr>
      </p:sp>
      <p:sp>
        <p:nvSpPr>
          <p:cNvPr id="27" name="Text 24"/>
          <p:cNvSpPr/>
          <p:nvPr/>
        </p:nvSpPr>
        <p:spPr>
          <a:xfrm>
            <a:off x="3685032" y="4453128"/>
            <a:ext cx="2395728" cy="292608"/>
          </a:xfrm>
          <a:prstGeom prst="rect">
            <a:avLst/>
          </a:prstGeom>
          <a:noFill/>
          <a:ln/>
        </p:spPr>
        <p:txBody>
          <a:bodyPr wrap="square" lIns="635" tIns="635" rIns="635" bIns="635" rtlCol="0" anchor="ctr">
            <a:normAutofit/>
          </a:bodyPr>
          <a:lstStyle/>
          <a:p>
            <a:pPr algn="ctr" indent="0" marL="0">
              <a:lnSpc>
                <a:spcPct val="100000"/>
              </a:lnSpc>
              <a:buNone/>
            </a:pPr>
            <a:r>
              <a:rPr lang="en-US" sz="1800" b="1" i="1" dirty="0">
                <a:solidFill>
                  <a:srgbClr val="846826"/>
                </a:solidFill>
                <a:latin typeface="Times New Roman" pitchFamily="34" charset="0"/>
                <a:ea typeface="標楷體" pitchFamily="34" charset="-122"/>
                <a:cs typeface="Times New Roman" pitchFamily="34" charset="-120"/>
              </a:rPr>
              <a:t>Contact</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ID</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 接觸識別碼</a:t>
            </a:r>
            <a:endParaRPr lang="en-US" sz="1800" dirty="0"/>
          </a:p>
        </p:txBody>
      </p:sp>
      <p:sp>
        <p:nvSpPr>
          <p:cNvPr id="28" name="Text 25"/>
          <p:cNvSpPr/>
          <p:nvPr/>
        </p:nvSpPr>
        <p:spPr>
          <a:xfrm>
            <a:off x="3685032" y="4791456"/>
            <a:ext cx="2395728" cy="256032"/>
          </a:xfrm>
          <a:prstGeom prst="rect">
            <a:avLst/>
          </a:prstGeom>
          <a:noFill/>
          <a:ln/>
        </p:spPr>
        <p:txBody>
          <a:bodyPr wrap="square" lIns="635" tIns="635" rIns="635" bIns="635" rtlCol="0" anchor="ctr">
            <a:normAutofit/>
          </a:bodyPr>
          <a:lstStyle/>
          <a:p>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identifier</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1600" i="1" dirty="0">
                <a:solidFill>
                  <a:srgbClr val="25324A"/>
                </a:solidFill>
                <a:latin typeface="Times New Roman" pitchFamily="34" charset="0"/>
                <a:ea typeface="標楷體" pitchFamily="34" charset="-122"/>
                <a:cs typeface="Times New Roman" pitchFamily="34" charset="-120"/>
              </a:rPr>
              <a:t>contact</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trace</a:t>
            </a:r>
            <a:endParaRPr lang="en-US" sz="1600" dirty="0"/>
          </a:p>
        </p:txBody>
      </p:sp>
      <p:sp>
        <p:nvSpPr>
          <p:cNvPr id="29" name="Shape 26"/>
          <p:cNvSpPr/>
          <p:nvPr/>
        </p:nvSpPr>
        <p:spPr>
          <a:xfrm>
            <a:off x="6364224" y="4361688"/>
            <a:ext cx="2578608" cy="841248"/>
          </a:xfrm>
          <a:prstGeom prst="roundRect">
            <a:avLst/>
          </a:prstGeom>
          <a:solidFill>
            <a:srgbClr val="F4EDF7"/>
          </a:solidFill>
          <a:ln w="15240">
            <a:solidFill>
              <a:srgbClr val="660066"/>
            </a:solidFill>
            <a:prstDash val="solid"/>
          </a:ln>
        </p:spPr>
      </p:sp>
      <p:sp>
        <p:nvSpPr>
          <p:cNvPr id="30" name="Text 27"/>
          <p:cNvSpPr/>
          <p:nvPr/>
        </p:nvSpPr>
        <p:spPr>
          <a:xfrm>
            <a:off x="6455664" y="4453128"/>
            <a:ext cx="2395728" cy="292608"/>
          </a:xfrm>
          <a:prstGeom prst="rect">
            <a:avLst/>
          </a:prstGeom>
          <a:noFill/>
          <a:ln/>
        </p:spPr>
        <p:txBody>
          <a:bodyPr wrap="square" lIns="635" tIns="635" rIns="635" bIns="635" rtlCol="0" anchor="ctr">
            <a:normAutofit/>
          </a:bodyPr>
          <a:lstStyle/>
          <a:p>
            <a:pPr algn="ctr" indent="0" marL="0">
              <a:lnSpc>
                <a:spcPct val="100000"/>
              </a:lnSpc>
              <a:buNone/>
            </a:pPr>
            <a:r>
              <a:rPr lang="en-US" sz="1800" b="1" i="1" dirty="0">
                <a:solidFill>
                  <a:srgbClr val="660066"/>
                </a:solidFill>
                <a:latin typeface="Times New Roman" pitchFamily="34" charset="0"/>
                <a:ea typeface="標楷體" pitchFamily="34" charset="-122"/>
                <a:cs typeface="Times New Roman" pitchFamily="34" charset="-120"/>
              </a:rPr>
              <a:t>Contact</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 接觸狀態</a:t>
            </a:r>
            <a:endParaRPr lang="en-US" sz="1800" dirty="0"/>
          </a:p>
        </p:txBody>
      </p:sp>
      <p:sp>
        <p:nvSpPr>
          <p:cNvPr id="31" name="Text 28"/>
          <p:cNvSpPr/>
          <p:nvPr/>
        </p:nvSpPr>
        <p:spPr>
          <a:xfrm>
            <a:off x="6455664" y="4791456"/>
            <a:ext cx="2395728" cy="256032"/>
          </a:xfrm>
          <a:prstGeom prst="rect">
            <a:avLst/>
          </a:prstGeom>
          <a:noFill/>
          <a:ln/>
        </p:spPr>
        <p:txBody>
          <a:bodyPr wrap="square" lIns="635" tIns="635" rIns="635" bIns="635" rtlCol="0" anchor="ctr">
            <a:normAutofit/>
          </a:bodyPr>
          <a:lstStyle/>
          <a:p>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開啟／關閉｜</a:t>
            </a:r>
            <a:pPr algn="ctr" indent="0" marL="0">
              <a:lnSpc>
                <a:spcPct val="100000"/>
              </a:lnSpc>
              <a:buNone/>
            </a:pPr>
            <a:r>
              <a:rPr lang="en-US" sz="1600" i="1" dirty="0">
                <a:solidFill>
                  <a:srgbClr val="25324A"/>
                </a:solidFill>
                <a:latin typeface="Times New Roman" pitchFamily="34" charset="0"/>
                <a:ea typeface="標楷體" pitchFamily="34" charset="-122"/>
                <a:cs typeface="Times New Roman" pitchFamily="34" charset="-120"/>
              </a:rPr>
              <a:t>contact</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event</a:t>
            </a:r>
            <a:endParaRPr lang="en-US" sz="1600" dirty="0"/>
          </a:p>
        </p:txBody>
      </p:sp>
      <p:sp>
        <p:nvSpPr>
          <p:cNvPr id="32" name="Shape 29"/>
          <p:cNvSpPr/>
          <p:nvPr/>
        </p:nvSpPr>
        <p:spPr>
          <a:xfrm>
            <a:off x="9134856" y="4361688"/>
            <a:ext cx="2578608" cy="841248"/>
          </a:xfrm>
          <a:prstGeom prst="roundRect">
            <a:avLst/>
          </a:prstGeom>
          <a:solidFill>
            <a:srgbClr val="E8F7F4"/>
          </a:solidFill>
          <a:ln w="15240">
            <a:solidFill>
              <a:srgbClr val="007374"/>
            </a:solidFill>
            <a:prstDash val="solid"/>
          </a:ln>
        </p:spPr>
      </p:sp>
      <p:sp>
        <p:nvSpPr>
          <p:cNvPr id="33" name="Text 30"/>
          <p:cNvSpPr/>
          <p:nvPr/>
        </p:nvSpPr>
        <p:spPr>
          <a:xfrm>
            <a:off x="9226296" y="4453128"/>
            <a:ext cx="2395728" cy="292608"/>
          </a:xfrm>
          <a:prstGeom prst="rect">
            <a:avLst/>
          </a:prstGeom>
          <a:noFill/>
          <a:ln/>
        </p:spPr>
        <p:txBody>
          <a:bodyPr wrap="square" lIns="635" tIns="635" rIns="635" bIns="635" rtlCol="0" anchor="ctr">
            <a:normAutofit/>
          </a:bodyPr>
          <a:lstStyle/>
          <a:p>
            <a:pPr algn="ctr" indent="0" marL="0">
              <a:lnSpc>
                <a:spcPct val="100000"/>
              </a:lnSpc>
              <a:buNone/>
            </a:pPr>
            <a:r>
              <a:rPr lang="en-US" sz="1800" b="1" i="1" dirty="0">
                <a:solidFill>
                  <a:srgbClr val="007374"/>
                </a:solidFill>
                <a:latin typeface="Times New Roman" pitchFamily="34" charset="0"/>
                <a:ea typeface="標楷體" pitchFamily="34" charset="-122"/>
                <a:cs typeface="Times New Roman" pitchFamily="34" charset="-120"/>
              </a:rPr>
              <a:t>Quality</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連線品質</a:t>
            </a:r>
            <a:endParaRPr lang="en-US" sz="1800" dirty="0"/>
          </a:p>
        </p:txBody>
      </p:sp>
      <p:sp>
        <p:nvSpPr>
          <p:cNvPr id="34" name="Text 31"/>
          <p:cNvSpPr/>
          <p:nvPr/>
        </p:nvSpPr>
        <p:spPr>
          <a:xfrm>
            <a:off x="9226296" y="4791456"/>
            <a:ext cx="2395728" cy="256032"/>
          </a:xfrm>
          <a:prstGeom prst="rect">
            <a:avLst/>
          </a:prstGeom>
          <a:noFill/>
          <a:ln/>
        </p:spPr>
        <p:txBody>
          <a:bodyPr wrap="square" lIns="635" tIns="635" rIns="635" bIns="635" rtlCol="0" anchor="ctr">
            <a:normAutofit/>
          </a:bodyPr>
          <a:lstStyle/>
          <a:p>
            <a:pPr algn="ctr" indent="0" marL="0">
              <a:lnSpc>
                <a:spcPct val="100000"/>
              </a:lnSpc>
              <a:buNone/>
            </a:pPr>
            <a:r>
              <a:rPr lang="en-US" sz="1600" i="1" dirty="0">
                <a:solidFill>
                  <a:srgbClr val="25324A"/>
                </a:solidFill>
                <a:latin typeface="Times New Roman" pitchFamily="34" charset="0"/>
                <a:ea typeface="標楷體" pitchFamily="34" charset="-122"/>
                <a:cs typeface="Times New Roman" pitchFamily="34" charset="-120"/>
              </a:rPr>
              <a:t>ordinal</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band</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runner</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trace</a:t>
            </a:r>
            <a:endParaRPr lang="en-US" sz="1600" dirty="0"/>
          </a:p>
        </p:txBody>
      </p:sp>
      <p:sp>
        <p:nvSpPr>
          <p:cNvPr id="36" name="Text 3"/>
          <p:cNvSpPr/>
          <p:nvPr>
            <p:ph idx="105" type="title" hasCustomPrompt="1"/>
          </p:nvPr>
        </p:nvSpPr>
        <p:spPr>
          <a:xfrm>
            <a:off x="656591" y="187008"/>
            <a:ext cx="9462769" cy="480060"/>
          </a:xfrm>
          <a:prstGeom prst="rect">
            <a:avLst/>
          </a:prstGeom>
          <a:noFill/>
          <a:ln/>
        </p:spPr>
        <p:txBody>
          <a:bodyPr wrap="square" lIns="0" tIns="0" rIns="0" bIns="0" rtlCol="0" anchor="b"/>
          <a:lstStyle/>
          <a:p>
            <a:pPr algn="l" indent="0" marL="0">
              <a:buNone/>
            </a:pPr>
            <a:endParaRPr lang="en-US" sz="2800" dirty="0"/>
          </a:p>
        </p:txBody>
      </p:sp>
    </p:spTree>
  </p:cSld>
  <p:clrMapOvr>
    <a:masterClrMapping/>
  </p:clrMapOvr>
</p:sld>
</file>

<file path=ppt/slides/slide8.xml><?xml version="1.0" encoding="utf-8"?>
<p:sld xmlns:a="http://schemas.openxmlformats.org/drawingml/2006/main" xmlns:ns2="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56591" y="187008"/>
            <a:ext cx="9462769" cy="480060"/>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P088</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course</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i="1" dirty="0">
                <a:solidFill>
                  <a:srgbClr val="35377F"/>
                </a:solidFill>
                <a:latin typeface="Times New Roman" pitchFamily="34" charset="0"/>
                <a:ea typeface="標楷體" pitchFamily="34" charset="-122"/>
                <a:cs typeface="Times New Roman" pitchFamily="34" charset="-120"/>
              </a:rPr>
              <a:t>queue</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與 </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packet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event</a:t>
            </a:r>
            <a:endParaRPr lang="en-US" sz="2800" dirty="0"/>
          </a:p>
        </p:txBody>
      </p:sp>
      <p:sp>
        <p:nvSpPr>
          <p:cNvPr id="3" name="Text 1"/>
          <p:cNvSpPr/>
          <p:nvPr/>
        </p:nvSpPr>
        <p:spPr>
          <a:xfrm>
            <a:off x="822960" y="932688"/>
            <a:ext cx="10561320" cy="438912"/>
          </a:xfrm>
          <a:prstGeom prst="rect">
            <a:avLst/>
          </a:prstGeom>
          <a:noFill/>
          <a:ln/>
        </p:spPr>
        <p:txBody>
          <a:bodyPr wrap="square" lIns="635" tIns="635" rIns="635" bIns="635" rtlCol="0" anchor="ctr">
            <a:normAutofit/>
          </a:bodyPr>
          <a:lstStyle/>
          <a:p>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queue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告訴當下仍有什麼工作；</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packet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event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才確認結果如何形成</a:t>
            </a:r>
            <a:endParaRPr lang="en-US" sz="2400" dirty="0"/>
          </a:p>
        </p:txBody>
      </p:sp>
      <p:pic>
        <p:nvPicPr>
          <p:cNvPr id="4" name="Image 0" descr="identifier-free replay frame crop">    </p:cNvPr>
          <p:cNvPicPr>
            <a:picLocks noChangeAspect="1"/>
          </p:cNvPicPr>
          <p:nvPr/>
        </p:nvPicPr>
        <p:blipFill>
          <a:blip ns2:embed="rId1"/>
          <a:stretch>
            <a:fillRect/>
          </a:stretch>
        </p:blipFill>
        <p:spPr>
          <a:xfrm>
            <a:off x="822960" y="1353312"/>
            <a:ext cx="4992624" cy="1078992"/>
          </a:xfrm>
          <a:prstGeom prst="rect">
            <a:avLst/>
          </a:prstGeom>
        </p:spPr>
      </p:pic>
      <p:sp>
        <p:nvSpPr>
          <p:cNvPr id="5" name="Shape 2"/>
          <p:cNvSpPr/>
          <p:nvPr/>
        </p:nvSpPr>
        <p:spPr>
          <a:xfrm>
            <a:off x="822960" y="1353312"/>
            <a:ext cx="4992624" cy="1078992"/>
          </a:xfrm>
          <a:prstGeom prst="rect">
            <a:avLst/>
          </a:prstGeom>
          <a:solidFill>
            <a:srgbClr val="FFFFFF">
              <a:alpha val="0"/>
            </a:srgbClr>
          </a:solidFill>
          <a:ln w="12700">
            <a:solidFill>
              <a:srgbClr val="D7DEEA"/>
            </a:solidFill>
            <a:prstDash val="solid"/>
          </a:ln>
        </p:spPr>
      </p:sp>
      <p:sp>
        <p:nvSpPr>
          <p:cNvPr id="6" name="Shape 3"/>
          <p:cNvSpPr/>
          <p:nvPr/>
        </p:nvSpPr>
        <p:spPr>
          <a:xfrm>
            <a:off x="1078992" y="2542032"/>
            <a:ext cx="4480560" cy="420624"/>
          </a:xfrm>
          <a:prstGeom prst="roundRect">
            <a:avLst/>
          </a:prstGeom>
          <a:solidFill>
            <a:srgbClr val="E8F7F4"/>
          </a:solidFill>
          <a:ln w="15240">
            <a:solidFill>
              <a:srgbClr val="007374"/>
            </a:solidFill>
            <a:prstDash val="solid"/>
          </a:ln>
        </p:spPr>
      </p:sp>
      <p:sp>
        <p:nvSpPr>
          <p:cNvPr id="7" name="Text 4"/>
          <p:cNvSpPr/>
          <p:nvPr/>
        </p:nvSpPr>
        <p:spPr>
          <a:xfrm>
            <a:off x="1152144" y="2578608"/>
            <a:ext cx="4334256" cy="310896"/>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current</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i="1" dirty="0">
                <a:solidFill>
                  <a:srgbClr val="007374"/>
                </a:solidFill>
                <a:latin typeface="Times New Roman" pitchFamily="34" charset="0"/>
                <a:ea typeface="標楷體" pitchFamily="34" charset="-122"/>
                <a:cs typeface="Times New Roman" pitchFamily="34" charset="-120"/>
              </a:rPr>
              <a:t>frame</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crop</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queue/event</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panel</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待補</a:t>
            </a:r>
            <a:endParaRPr lang="en-US" sz="1800" dirty="0"/>
          </a:p>
        </p:txBody>
      </p:sp>
      <p:sp>
        <p:nvSpPr>
          <p:cNvPr id="8" name="Shape 5"/>
          <p:cNvSpPr/>
          <p:nvPr/>
        </p:nvSpPr>
        <p:spPr>
          <a:xfrm>
            <a:off x="6217920" y="1353312"/>
            <a:ext cx="2249424" cy="1078992"/>
          </a:xfrm>
          <a:prstGeom prst="roundRect">
            <a:avLst/>
          </a:prstGeom>
          <a:solidFill>
            <a:srgbClr val="ECF1FE"/>
          </a:solidFill>
          <a:ln w="15240">
            <a:solidFill>
              <a:srgbClr val="4967C2"/>
            </a:solidFill>
            <a:prstDash val="solid"/>
          </a:ln>
        </p:spPr>
      </p:sp>
      <p:sp>
        <p:nvSpPr>
          <p:cNvPr id="9" name="Text 6"/>
          <p:cNvSpPr/>
          <p:nvPr/>
        </p:nvSpPr>
        <p:spPr>
          <a:xfrm>
            <a:off x="6364224" y="1463040"/>
            <a:ext cx="1956816"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目前佇列</a:t>
            </a:r>
            <a:endParaRPr lang="en-US" sz="1800" dirty="0"/>
          </a:p>
        </p:txBody>
      </p:sp>
      <p:sp>
        <p:nvSpPr>
          <p:cNvPr id="10" name="Text 7"/>
          <p:cNvSpPr/>
          <p:nvPr/>
        </p:nvSpPr>
        <p:spPr>
          <a:xfrm>
            <a:off x="6364224" y="1865376"/>
            <a:ext cx="1956816" cy="457200"/>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normal-1</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queue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item</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packet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count</a:t>
            </a:r>
            <a:endParaRPr lang="en-US" sz="2400" dirty="0"/>
          </a:p>
        </p:txBody>
      </p:sp>
      <p:sp>
        <p:nvSpPr>
          <p:cNvPr id="11" name="Shape 8"/>
          <p:cNvSpPr/>
          <p:nvPr/>
        </p:nvSpPr>
        <p:spPr>
          <a:xfrm>
            <a:off x="8759952" y="1353312"/>
            <a:ext cx="2249424" cy="1078992"/>
          </a:xfrm>
          <a:prstGeom prst="roundRect">
            <a:avLst/>
          </a:prstGeom>
          <a:solidFill>
            <a:srgbClr val="F4EDF7"/>
          </a:solidFill>
          <a:ln w="15240">
            <a:solidFill>
              <a:srgbClr val="660066"/>
            </a:solidFill>
            <a:prstDash val="solid"/>
          </a:ln>
        </p:spPr>
      </p:sp>
      <p:sp>
        <p:nvSpPr>
          <p:cNvPr id="12" name="Text 9"/>
          <p:cNvSpPr/>
          <p:nvPr/>
        </p:nvSpPr>
        <p:spPr>
          <a:xfrm>
            <a:off x="8906256" y="1463040"/>
            <a:ext cx="1956816"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目前事件</a:t>
            </a:r>
            <a:endParaRPr lang="en-US" sz="1800" dirty="0"/>
          </a:p>
        </p:txBody>
      </p:sp>
      <p:sp>
        <p:nvSpPr>
          <p:cNvPr id="13" name="Text 10"/>
          <p:cNvSpPr/>
          <p:nvPr/>
        </p:nvSpPr>
        <p:spPr>
          <a:xfrm>
            <a:off x="8906256" y="1865376"/>
            <a:ext cx="1956816" cy="457200"/>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evt-0000</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event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identity</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frame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anchor</a:t>
            </a:r>
            <a:endParaRPr lang="en-US" sz="2400" dirty="0"/>
          </a:p>
        </p:txBody>
      </p:sp>
      <p:sp>
        <p:nvSpPr>
          <p:cNvPr id="14" name="Shape 11"/>
          <p:cNvSpPr/>
          <p:nvPr/>
        </p:nvSpPr>
        <p:spPr>
          <a:xfrm>
            <a:off x="822960" y="3401568"/>
            <a:ext cx="1938528" cy="713232"/>
          </a:xfrm>
          <a:prstGeom prst="roundRect">
            <a:avLst/>
          </a:prstGeom>
          <a:solidFill>
            <a:srgbClr val="ECF1FE"/>
          </a:solidFill>
          <a:ln w="15240">
            <a:solidFill>
              <a:srgbClr val="4967C2"/>
            </a:solidFill>
            <a:prstDash val="solid"/>
          </a:ln>
        </p:spPr>
      </p:sp>
      <p:sp>
        <p:nvSpPr>
          <p:cNvPr id="15" name="Text 12"/>
          <p:cNvSpPr/>
          <p:nvPr/>
        </p:nvSpPr>
        <p:spPr>
          <a:xfrm>
            <a:off x="896112" y="3602736"/>
            <a:ext cx="1792224" cy="292608"/>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生成／入列</a:t>
            </a:r>
            <a:endParaRPr lang="en-US" sz="1800" dirty="0"/>
          </a:p>
        </p:txBody>
      </p:sp>
      <p:sp>
        <p:nvSpPr>
          <p:cNvPr id="16" name="Shape 13"/>
          <p:cNvSpPr/>
          <p:nvPr/>
        </p:nvSpPr>
        <p:spPr>
          <a:xfrm>
            <a:off x="2816352" y="3547872"/>
            <a:ext cx="384048" cy="438912"/>
          </a:xfrm>
          <a:prstGeom prst="chevron">
            <a:avLst/>
          </a:prstGeom>
          <a:solidFill>
            <a:srgbClr val="4967C2"/>
          </a:solidFill>
          <a:ln w="12700">
            <a:solidFill>
              <a:srgbClr val="4967C2">
                <a:alpha val="0"/>
              </a:srgbClr>
            </a:solidFill>
            <a:prstDash val="solid"/>
          </a:ln>
        </p:spPr>
      </p:sp>
      <p:sp>
        <p:nvSpPr>
          <p:cNvPr id="17" name="Shape 14"/>
          <p:cNvSpPr/>
          <p:nvPr/>
        </p:nvSpPr>
        <p:spPr>
          <a:xfrm>
            <a:off x="3044952" y="3401568"/>
            <a:ext cx="1938528" cy="713232"/>
          </a:xfrm>
          <a:prstGeom prst="roundRect">
            <a:avLst/>
          </a:prstGeom>
          <a:solidFill>
            <a:srgbClr val="FDF9E2"/>
          </a:solidFill>
          <a:ln w="15240">
            <a:solidFill>
              <a:srgbClr val="846826"/>
            </a:solidFill>
            <a:prstDash val="solid"/>
          </a:ln>
        </p:spPr>
      </p:sp>
      <p:sp>
        <p:nvSpPr>
          <p:cNvPr id="18" name="Text 15"/>
          <p:cNvSpPr/>
          <p:nvPr/>
        </p:nvSpPr>
        <p:spPr>
          <a:xfrm>
            <a:off x="3118104" y="3602736"/>
            <a:ext cx="1792224" cy="292608"/>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嘗試 </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attempt</a:t>
            </a:r>
            <a:endParaRPr lang="en-US" sz="1800" dirty="0"/>
          </a:p>
        </p:txBody>
      </p:sp>
      <p:sp>
        <p:nvSpPr>
          <p:cNvPr id="19" name="Shape 16"/>
          <p:cNvSpPr/>
          <p:nvPr/>
        </p:nvSpPr>
        <p:spPr>
          <a:xfrm>
            <a:off x="5038344" y="3547872"/>
            <a:ext cx="384048" cy="438912"/>
          </a:xfrm>
          <a:prstGeom prst="chevron">
            <a:avLst/>
          </a:prstGeom>
          <a:solidFill>
            <a:srgbClr val="846826"/>
          </a:solidFill>
          <a:ln w="12700">
            <a:solidFill>
              <a:srgbClr val="846826">
                <a:alpha val="0"/>
              </a:srgbClr>
            </a:solidFill>
            <a:prstDash val="solid"/>
          </a:ln>
        </p:spPr>
      </p:sp>
      <p:sp>
        <p:nvSpPr>
          <p:cNvPr id="20" name="Shape 17"/>
          <p:cNvSpPr/>
          <p:nvPr/>
        </p:nvSpPr>
        <p:spPr>
          <a:xfrm>
            <a:off x="5266944" y="3401568"/>
            <a:ext cx="1938528" cy="713232"/>
          </a:xfrm>
          <a:prstGeom prst="roundRect">
            <a:avLst/>
          </a:prstGeom>
          <a:solidFill>
            <a:srgbClr val="F4EDF7"/>
          </a:solidFill>
          <a:ln w="15240">
            <a:solidFill>
              <a:srgbClr val="660066"/>
            </a:solidFill>
            <a:prstDash val="solid"/>
          </a:ln>
        </p:spPr>
      </p:sp>
      <p:sp>
        <p:nvSpPr>
          <p:cNvPr id="21" name="Text 18"/>
          <p:cNvSpPr/>
          <p:nvPr/>
        </p:nvSpPr>
        <p:spPr>
          <a:xfrm>
            <a:off x="5340096" y="3602736"/>
            <a:ext cx="1792224" cy="292608"/>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重試／碰撞 </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retry</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collision</a:t>
            </a:r>
            <a:endParaRPr lang="en-US" sz="1800" dirty="0"/>
          </a:p>
        </p:txBody>
      </p:sp>
      <p:sp>
        <p:nvSpPr>
          <p:cNvPr id="22" name="Shape 19"/>
          <p:cNvSpPr/>
          <p:nvPr/>
        </p:nvSpPr>
        <p:spPr>
          <a:xfrm>
            <a:off x="7260336" y="3547872"/>
            <a:ext cx="384048" cy="438912"/>
          </a:xfrm>
          <a:prstGeom prst="chevron">
            <a:avLst/>
          </a:prstGeom>
          <a:solidFill>
            <a:srgbClr val="660066"/>
          </a:solidFill>
          <a:ln w="12700">
            <a:solidFill>
              <a:srgbClr val="660066">
                <a:alpha val="0"/>
              </a:srgbClr>
            </a:solidFill>
            <a:prstDash val="solid"/>
          </a:ln>
        </p:spPr>
      </p:sp>
      <p:sp>
        <p:nvSpPr>
          <p:cNvPr id="23" name="Shape 20"/>
          <p:cNvSpPr/>
          <p:nvPr/>
        </p:nvSpPr>
        <p:spPr>
          <a:xfrm>
            <a:off x="7488936" y="3401568"/>
            <a:ext cx="1938528" cy="713232"/>
          </a:xfrm>
          <a:prstGeom prst="roundRect">
            <a:avLst/>
          </a:prstGeom>
          <a:solidFill>
            <a:srgbClr val="E8F7F4"/>
          </a:solidFill>
          <a:ln w="15240">
            <a:solidFill>
              <a:srgbClr val="007374"/>
            </a:solidFill>
            <a:prstDash val="solid"/>
          </a:ln>
        </p:spPr>
      </p:sp>
      <p:sp>
        <p:nvSpPr>
          <p:cNvPr id="24" name="Text 21"/>
          <p:cNvSpPr/>
          <p:nvPr/>
        </p:nvSpPr>
        <p:spPr>
          <a:xfrm>
            <a:off x="7562088" y="3602736"/>
            <a:ext cx="1792224" cy="292608"/>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已送達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delivered</a:t>
            </a:r>
            <a:endParaRPr lang="en-US" sz="1800" dirty="0"/>
          </a:p>
        </p:txBody>
      </p:sp>
      <p:sp>
        <p:nvSpPr>
          <p:cNvPr id="25" name="Shape 22"/>
          <p:cNvSpPr/>
          <p:nvPr/>
        </p:nvSpPr>
        <p:spPr>
          <a:xfrm>
            <a:off x="9482328" y="3547872"/>
            <a:ext cx="384048" cy="438912"/>
          </a:xfrm>
          <a:prstGeom prst="chevron">
            <a:avLst/>
          </a:prstGeom>
          <a:solidFill>
            <a:srgbClr val="007374"/>
          </a:solidFill>
          <a:ln w="12700">
            <a:solidFill>
              <a:srgbClr val="007374">
                <a:alpha val="0"/>
              </a:srgbClr>
            </a:solidFill>
            <a:prstDash val="solid"/>
          </a:ln>
        </p:spPr>
      </p:sp>
      <p:sp>
        <p:nvSpPr>
          <p:cNvPr id="26" name="Shape 23"/>
          <p:cNvSpPr/>
          <p:nvPr/>
        </p:nvSpPr>
        <p:spPr>
          <a:xfrm>
            <a:off x="9710928" y="3401568"/>
            <a:ext cx="1938528" cy="713232"/>
          </a:xfrm>
          <a:prstGeom prst="roundRect">
            <a:avLst/>
          </a:prstGeom>
          <a:solidFill>
            <a:srgbClr val="FDEFEF"/>
          </a:solidFill>
          <a:ln w="15240">
            <a:solidFill>
              <a:srgbClr val="992A2A"/>
            </a:solidFill>
            <a:prstDash val="solid"/>
          </a:ln>
        </p:spPr>
      </p:sp>
      <p:sp>
        <p:nvSpPr>
          <p:cNvPr id="27" name="Text 24"/>
          <p:cNvSpPr/>
          <p:nvPr/>
        </p:nvSpPr>
        <p:spPr>
          <a:xfrm>
            <a:off x="9784080" y="3602736"/>
            <a:ext cx="1792224" cy="292608"/>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過期／服務 </a:t>
            </a:r>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expired</a:t>
            </a:r>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a:t>
            </a:r>
            <a:pPr algn="ctr" indent="0" marL="0">
              <a:lnSpc>
                <a:spcPct val="100000"/>
              </a:lnSpc>
              <a:buNone/>
            </a:pPr>
            <a:r>
              <a:rPr lang="en-US" sz="1800" b="1" i="1" dirty="0">
                <a:solidFill>
                  <a:srgbClr val="992A2A"/>
                </a:solidFill>
                <a:latin typeface="Times New Roman" pitchFamily="34" charset="0"/>
                <a:ea typeface="標楷體" pitchFamily="34" charset="-122"/>
                <a:cs typeface="Times New Roman" pitchFamily="34" charset="-120"/>
              </a:rPr>
              <a:t>service</a:t>
            </a:r>
            <a:endParaRPr lang="en-US" sz="1800" dirty="0"/>
          </a:p>
        </p:txBody>
      </p:sp>
      <p:sp>
        <p:nvSpPr>
          <p:cNvPr id="28" name="Shape 25"/>
          <p:cNvSpPr/>
          <p:nvPr/>
        </p:nvSpPr>
        <p:spPr>
          <a:xfrm>
            <a:off x="987552" y="4608576"/>
            <a:ext cx="10131552" cy="914400"/>
          </a:xfrm>
          <a:prstGeom prst="roundRect">
            <a:avLst/>
          </a:prstGeom>
          <a:solidFill>
            <a:srgbClr val="FDF9E2"/>
          </a:solidFill>
          <a:ln w="15240">
            <a:solidFill>
              <a:srgbClr val="846826"/>
            </a:solidFill>
            <a:prstDash val="solid"/>
          </a:ln>
        </p:spPr>
      </p:sp>
      <p:sp>
        <p:nvSpPr>
          <p:cNvPr id="29" name="Text 26"/>
          <p:cNvSpPr/>
          <p:nvPr/>
        </p:nvSpPr>
        <p:spPr>
          <a:xfrm>
            <a:off x="1133856" y="4718304"/>
            <a:ext cx="9838944"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判讀</a:t>
            </a:r>
            <a:endParaRPr lang="en-US" sz="1800" dirty="0"/>
          </a:p>
        </p:txBody>
      </p:sp>
      <p:sp>
        <p:nvSpPr>
          <p:cNvPr id="30" name="Text 27"/>
          <p:cNvSpPr/>
          <p:nvPr/>
        </p:nvSpPr>
        <p:spPr>
          <a:xfrm>
            <a:off x="1133856" y="5102352"/>
            <a:ext cx="9838944" cy="310896"/>
          </a:xfrm>
          <a:prstGeom prst="rect">
            <a:avLst/>
          </a:prstGeom>
          <a:noFill/>
          <a:ln/>
        </p:spPr>
        <p:txBody>
          <a:bodyPr wrap="square" lIns="635" tIns="635" rIns="635" bIns="635" rtlCol="0" anchor="t">
            <a:normAutofit/>
          </a:bodyPr>
          <a:lstStyle/>
          <a:p>
            <a:pPr algn="ctr" indent="0" marL="0">
              <a:lnSpc>
                <a:spcPct val="100000"/>
              </a:lnSpc>
              <a:buNone/>
            </a:pPr>
            <a:r>
              <a:rPr lang="en-US" sz="1800" i="1" dirty="0">
                <a:solidFill>
                  <a:srgbClr val="25324A"/>
                </a:solidFill>
                <a:latin typeface="Times New Roman" pitchFamily="34" charset="0"/>
                <a:ea typeface="標楷體" pitchFamily="34" charset="-122"/>
                <a:cs typeface="Times New Roman" pitchFamily="34" charset="-120"/>
              </a:rPr>
              <a:t>queue</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變空是狀態變化；</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delivered</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或 </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expired</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event</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才能支持 </a:t>
            </a:r>
            <a:pPr algn="ctr" indent="0" marL="0">
              <a:lnSpc>
                <a:spcPct val="100000"/>
              </a:lnSpc>
              <a:buNone/>
            </a:pPr>
            <a:r>
              <a:rPr lang="en-US" sz="1800" i="1" dirty="0">
                <a:solidFill>
                  <a:srgbClr val="25324A"/>
                </a:solidFill>
                <a:latin typeface="Times New Roman" pitchFamily="34" charset="0"/>
                <a:ea typeface="標楷體" pitchFamily="34" charset="-122"/>
                <a:cs typeface="Times New Roman" pitchFamily="34" charset="-120"/>
              </a:rPr>
              <a:t>service</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1800" i="1" dirty="0">
                <a:solidFill>
                  <a:srgbClr val="25324A"/>
                </a:solidFill>
                <a:latin typeface="Times New Roman" pitchFamily="34" charset="0"/>
                <a:ea typeface="標楷體" pitchFamily="34" charset="-122"/>
                <a:cs typeface="Times New Roman" pitchFamily="34" charset="-120"/>
              </a:rPr>
              <a:t>deadline</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結果。</a:t>
            </a:r>
            <a:endParaRPr lang="en-US" sz="1800" dirty="0"/>
          </a:p>
        </p:txBody>
      </p:sp>
      <p:sp>
        <p:nvSpPr>
          <p:cNvPr id="32" name="Text 3"/>
          <p:cNvSpPr/>
          <p:nvPr>
            <p:ph idx="105" type="title" hasCustomPrompt="1"/>
          </p:nvPr>
        </p:nvSpPr>
        <p:spPr>
          <a:xfrm>
            <a:off x="656591" y="187008"/>
            <a:ext cx="9462769" cy="480060"/>
          </a:xfrm>
          <a:prstGeom prst="rect">
            <a:avLst/>
          </a:prstGeom>
          <a:noFill/>
          <a:ln/>
        </p:spPr>
        <p:txBody>
          <a:bodyPr wrap="square" lIns="0" tIns="0" rIns="0" bIns="0" rtlCol="0" anchor="b"/>
          <a:lstStyle/>
          <a:p>
            <a:pPr algn="l" indent="0" marL="0">
              <a:buNone/>
            </a:pPr>
            <a:endParaRPr lang="en-US" sz="2800" dirty="0"/>
          </a:p>
        </p:txBody>
      </p:sp>
    </p:spTree>
  </p:cSld>
  <p:clrMapOvr>
    <a:masterClrMapping/>
  </p:clrMapOvr>
</p:sld>
</file>

<file path=ppt/slides/slide9.xml><?xml version="1.0" encoding="utf-8"?>
<p:sld xmlns:a="http://schemas.openxmlformats.org/drawingml/2006/main"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56591" y="187008"/>
            <a:ext cx="9462769" cy="480060"/>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P089</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course</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timeline</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對回 </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policy</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branch</a:t>
            </a:r>
            <a:endParaRPr lang="en-US" sz="2800" dirty="0"/>
          </a:p>
        </p:txBody>
      </p:sp>
      <p:sp>
        <p:nvSpPr>
          <p:cNvPr id="3" name="Text 1"/>
          <p:cNvSpPr/>
          <p:nvPr/>
        </p:nvSpPr>
        <p:spPr>
          <a:xfrm>
            <a:off x="822960" y="932688"/>
            <a:ext cx="10561320" cy="438912"/>
          </a:xfrm>
          <a:prstGeom prst="rect">
            <a:avLst/>
          </a:prstGeom>
          <a:noFill/>
          <a:ln/>
        </p:spPr>
        <p:txBody>
          <a:bodyPr wrap="square" lIns="635" tIns="635" rIns="635" bIns="635" rtlCol="0" anchor="ctr">
            <a:normAutofit/>
          </a:bodyPr>
          <a:lstStyle/>
          <a:p>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timeline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描述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transition</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policy</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branch</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說明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action</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為何出現</a:t>
            </a:r>
            <a:endParaRPr lang="en-US" sz="2400" dirty="0"/>
          </a:p>
        </p:txBody>
      </p:sp>
      <p:sp>
        <p:nvSpPr>
          <p:cNvPr id="4" name="Shape 2"/>
          <p:cNvSpPr/>
          <p:nvPr/>
        </p:nvSpPr>
        <p:spPr>
          <a:xfrm>
            <a:off x="822960" y="1335024"/>
            <a:ext cx="4151376" cy="1078992"/>
          </a:xfrm>
          <a:prstGeom prst="rect">
            <a:avLst/>
          </a:prstGeom>
          <a:solidFill>
            <a:srgbClr val="F7F8FC"/>
          </a:solidFill>
          <a:ln w="15240">
            <a:solidFill>
              <a:srgbClr val="D7DEEA"/>
            </a:solidFill>
            <a:prstDash val="solid"/>
          </a:ln>
        </p:spPr>
      </p:sp>
      <p:sp>
        <p:nvSpPr>
          <p:cNvPr id="5" name="Text 3"/>
          <p:cNvSpPr/>
          <p:nvPr/>
        </p:nvSpPr>
        <p:spPr>
          <a:xfrm>
            <a:off x="969264" y="1444752"/>
            <a:ext cx="3858768" cy="859536"/>
          </a:xfrm>
          <a:prstGeom prst="rect">
            <a:avLst/>
          </a:prstGeom>
          <a:noFill/>
          <a:ln/>
        </p:spPr>
        <p:txBody>
          <a:bodyPr wrap="square" lIns="635" tIns="635" rIns="635" bIns="635" rtlCol="0" anchor="ctr">
            <a:normAutofit/>
          </a:bodyPr>
          <a:lstStyle/>
          <a:p>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待補：</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current</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i="1" dirty="0">
                <a:solidFill>
                  <a:srgbClr val="65758B"/>
                </a:solidFill>
                <a:latin typeface="Times New Roman" pitchFamily="34" charset="0"/>
                <a:ea typeface="標楷體" pitchFamily="34" charset="-122"/>
                <a:cs typeface="Times New Roman" pitchFamily="34" charset="-120"/>
              </a:rPr>
              <a:t>radio</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a:t>
            </a:r>
            <a:pPr algn="ctr" indent="0" marL="0">
              <a:lnSpc>
                <a:spcPct val="100000"/>
              </a:lnSpc>
              <a:buNone/>
            </a:pPr>
            <a:r>
              <a:rPr lang="en-US" sz="2400" b="1" i="1" dirty="0">
                <a:solidFill>
                  <a:srgbClr val="65758B"/>
                </a:solidFill>
                <a:latin typeface="Times New Roman" pitchFamily="34" charset="0"/>
                <a:ea typeface="標楷體" pitchFamily="34" charset="-122"/>
                <a:cs typeface="Times New Roman" pitchFamily="34" charset="-120"/>
              </a:rPr>
              <a:t>contact</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timeline</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crop</a:t>
            </a:r>
            <a:endParaRPr lang="en-US" sz="2400" dirty="0"/>
          </a:p>
        </p:txBody>
      </p:sp>
      <p:sp>
        <p:nvSpPr>
          <p:cNvPr id="6" name="Shape 4"/>
          <p:cNvSpPr/>
          <p:nvPr/>
        </p:nvSpPr>
        <p:spPr>
          <a:xfrm>
            <a:off x="5285232" y="1335024"/>
            <a:ext cx="6089904" cy="1078992"/>
          </a:xfrm>
          <a:prstGeom prst="rect">
            <a:avLst/>
          </a:prstGeom>
          <a:solidFill>
            <a:srgbClr val="F7F8FC"/>
          </a:solidFill>
          <a:ln w="15240">
            <a:solidFill>
              <a:srgbClr val="D7DEEA"/>
            </a:solidFill>
            <a:prstDash val="solid"/>
          </a:ln>
        </p:spPr>
      </p:sp>
      <p:sp>
        <p:nvSpPr>
          <p:cNvPr id="7" name="Text 5"/>
          <p:cNvSpPr/>
          <p:nvPr/>
        </p:nvSpPr>
        <p:spPr>
          <a:xfrm>
            <a:off x="5504688" y="1481328"/>
            <a:ext cx="2304288" cy="292608"/>
          </a:xfrm>
          <a:prstGeom prst="rect">
            <a:avLst/>
          </a:prstGeom>
          <a:noFill/>
          <a:ln/>
        </p:spPr>
        <p:txBody>
          <a:bodyPr wrap="square" lIns="635" tIns="635" rIns="635" bIns="635" rtlCol="0" anchor="ctr">
            <a:normAutofit/>
          </a:bodyPr>
          <a:lstStyle/>
          <a:p>
            <a:pPr algn="l" indent="0" marL="0">
              <a:lnSpc>
                <a:spcPct val="100000"/>
              </a:lnSpc>
              <a:buNone/>
            </a:pPr>
            <a:r>
              <a:rPr lang="en-US" sz="1800" b="1" dirty="0">
                <a:solidFill>
                  <a:srgbClr val="25356B"/>
                </a:solidFill>
                <a:latin typeface="Times New Roman" pitchFamily="34" charset="0"/>
                <a:ea typeface="標楷體" pitchFamily="34" charset="-122"/>
                <a:cs typeface="Times New Roman" pitchFamily="34" charset="-120"/>
              </a:rPr>
              <a:t>可編輯 </a:t>
            </a:r>
            <a:pPr algn="l" indent="0" marL="0">
              <a:lnSpc>
                <a:spcPct val="100000"/>
              </a:lnSpc>
              <a:buNone/>
            </a:pPr>
            <a:r>
              <a:rPr lang="en-US" sz="1800" b="1" dirty="0">
                <a:solidFill>
                  <a:srgbClr val="25356B"/>
                </a:solidFill>
                <a:latin typeface="Times New Roman" pitchFamily="34" charset="0"/>
                <a:ea typeface="標楷體" pitchFamily="34" charset="-122"/>
                <a:cs typeface="Times New Roman" pitchFamily="34" charset="-120"/>
              </a:rPr>
              <a:t>transition</a:t>
            </a:r>
            <a:pPr algn="l" indent="0" marL="0">
              <a:lnSpc>
                <a:spcPct val="100000"/>
              </a:lnSpc>
              <a:buNone/>
            </a:pPr>
            <a:r>
              <a:rPr lang="en-US" sz="1800" b="1" dirty="0">
                <a:solidFill>
                  <a:srgbClr val="25356B"/>
                </a:solidFill>
                <a:latin typeface="Times New Roman" pitchFamily="34" charset="0"/>
                <a:ea typeface="標楷體" pitchFamily="34" charset="-122"/>
                <a:cs typeface="Times New Roman" pitchFamily="34" charset="-120"/>
              </a:rPr>
              <a:t> </a:t>
            </a:r>
            <a:pPr algn="l" indent="0" marL="0">
              <a:lnSpc>
                <a:spcPct val="100000"/>
              </a:lnSpc>
              <a:buNone/>
            </a:pPr>
            <a:r>
              <a:rPr lang="en-US" sz="1800" b="1" dirty="0">
                <a:solidFill>
                  <a:srgbClr val="25356B"/>
                </a:solidFill>
                <a:latin typeface="Times New Roman" pitchFamily="34" charset="0"/>
                <a:ea typeface="標楷體" pitchFamily="34" charset="-122"/>
                <a:cs typeface="Times New Roman" pitchFamily="34" charset="-120"/>
              </a:rPr>
              <a:t>strip</a:t>
            </a:r>
            <a:endParaRPr lang="en-US" sz="1800" dirty="0"/>
          </a:p>
        </p:txBody>
      </p:sp>
      <p:sp>
        <p:nvSpPr>
          <p:cNvPr id="8" name="Shape 6"/>
          <p:cNvSpPr/>
          <p:nvPr/>
        </p:nvSpPr>
        <p:spPr>
          <a:xfrm>
            <a:off x="7991856" y="1664208"/>
            <a:ext cx="658368" cy="438912"/>
          </a:xfrm>
          <a:prstGeom prst="rect">
            <a:avLst/>
          </a:prstGeom>
          <a:solidFill>
            <a:srgbClr val="CBD5E1"/>
          </a:solidFill>
          <a:ln w="15240">
            <a:solidFill>
              <a:srgbClr val="CBD5E1"/>
            </a:solidFill>
            <a:prstDash val="solid"/>
          </a:ln>
        </p:spPr>
      </p:sp>
      <p:sp>
        <p:nvSpPr>
          <p:cNvPr id="9" name="Text 7"/>
          <p:cNvSpPr/>
          <p:nvPr/>
        </p:nvSpPr>
        <p:spPr>
          <a:xfrm>
            <a:off x="8010144" y="1737360"/>
            <a:ext cx="621792"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25324A"/>
                </a:solidFill>
                <a:latin typeface="Times New Roman" pitchFamily="34" charset="0"/>
                <a:ea typeface="標楷體" pitchFamily="34" charset="-122"/>
                <a:cs typeface="Times New Roman" pitchFamily="34" charset="-120"/>
              </a:rPr>
              <a:t>關閉</a:t>
            </a:r>
            <a:endParaRPr lang="en-US" sz="1600" dirty="0"/>
          </a:p>
        </p:txBody>
      </p:sp>
      <p:sp>
        <p:nvSpPr>
          <p:cNvPr id="10" name="Shape 8"/>
          <p:cNvSpPr/>
          <p:nvPr/>
        </p:nvSpPr>
        <p:spPr>
          <a:xfrm>
            <a:off x="8695944" y="1664208"/>
            <a:ext cx="658368" cy="438912"/>
          </a:xfrm>
          <a:prstGeom prst="rect">
            <a:avLst/>
          </a:prstGeom>
          <a:solidFill>
            <a:srgbClr val="007374"/>
          </a:solidFill>
          <a:ln w="15240">
            <a:solidFill>
              <a:srgbClr val="007374"/>
            </a:solidFill>
            <a:prstDash val="solid"/>
          </a:ln>
        </p:spPr>
      </p:sp>
      <p:sp>
        <p:nvSpPr>
          <p:cNvPr id="11" name="Text 9"/>
          <p:cNvSpPr/>
          <p:nvPr/>
        </p:nvSpPr>
        <p:spPr>
          <a:xfrm>
            <a:off x="8714232" y="1737360"/>
            <a:ext cx="621792"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FFFFFF"/>
                </a:solidFill>
                <a:latin typeface="Times New Roman" pitchFamily="34" charset="0"/>
                <a:ea typeface="標楷體" pitchFamily="34" charset="-122"/>
                <a:cs typeface="Times New Roman" pitchFamily="34" charset="-120"/>
              </a:rPr>
              <a:t>開啟</a:t>
            </a:r>
            <a:endParaRPr lang="en-US" sz="1600" dirty="0"/>
          </a:p>
        </p:txBody>
      </p:sp>
      <p:sp>
        <p:nvSpPr>
          <p:cNvPr id="12" name="Shape 10"/>
          <p:cNvSpPr/>
          <p:nvPr/>
        </p:nvSpPr>
        <p:spPr>
          <a:xfrm>
            <a:off x="9400032" y="1664208"/>
            <a:ext cx="786384" cy="438912"/>
          </a:xfrm>
          <a:prstGeom prst="rect">
            <a:avLst/>
          </a:prstGeom>
          <a:solidFill>
            <a:srgbClr val="4967C2"/>
          </a:solidFill>
          <a:ln w="15240">
            <a:solidFill>
              <a:srgbClr val="4967C2"/>
            </a:solidFill>
            <a:prstDash val="solid"/>
          </a:ln>
        </p:spPr>
      </p:sp>
      <p:sp>
        <p:nvSpPr>
          <p:cNvPr id="13" name="Text 11"/>
          <p:cNvSpPr/>
          <p:nvPr/>
        </p:nvSpPr>
        <p:spPr>
          <a:xfrm>
            <a:off x="9418320" y="1737360"/>
            <a:ext cx="749808"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FFFFFF"/>
                </a:solidFill>
                <a:latin typeface="Times New Roman" pitchFamily="34" charset="0"/>
                <a:ea typeface="標楷體" pitchFamily="34" charset="-122"/>
                <a:cs typeface="Times New Roman" pitchFamily="34" charset="-120"/>
              </a:rPr>
              <a:t>品質穩定 </a:t>
            </a:r>
            <a:pPr algn="ctr" indent="0" marL="0">
              <a:lnSpc>
                <a:spcPct val="100000"/>
              </a:lnSpc>
              <a:buNone/>
            </a:pPr>
            <a:r>
              <a:rPr lang="en-US" sz="1600" b="1" i="1" dirty="0">
                <a:solidFill>
                  <a:srgbClr val="FFFFFF"/>
                </a:solidFill>
                <a:latin typeface="Times New Roman" pitchFamily="34" charset="0"/>
                <a:ea typeface="標楷體" pitchFamily="34" charset="-122"/>
                <a:cs typeface="Times New Roman" pitchFamily="34" charset="-120"/>
              </a:rPr>
              <a:t>quality</a:t>
            </a:r>
            <a:pPr algn="ctr" indent="0" marL="0">
              <a:lnSpc>
                <a:spcPct val="100000"/>
              </a:lnSpc>
              <a:buNone/>
            </a:pPr>
            <a:r>
              <a:rPr lang="en-US" sz="1600" b="1" dirty="0">
                <a:solidFill>
                  <a:srgbClr val="FFFFFF"/>
                </a:solidFill>
                <a:latin typeface="Times New Roman" pitchFamily="34" charset="0"/>
                <a:ea typeface="標楷體" pitchFamily="34" charset="-122"/>
                <a:cs typeface="Times New Roman" pitchFamily="34" charset="-120"/>
              </a:rPr>
              <a:t> </a:t>
            </a:r>
            <a:pPr algn="ctr" indent="0" marL="0">
              <a:lnSpc>
                <a:spcPct val="100000"/>
              </a:lnSpc>
              <a:buNone/>
            </a:pPr>
            <a:r>
              <a:rPr lang="en-US" sz="1600" b="1" dirty="0">
                <a:solidFill>
                  <a:srgbClr val="FFFFFF"/>
                </a:solidFill>
                <a:latin typeface="Times New Roman" pitchFamily="34" charset="0"/>
                <a:ea typeface="標楷體" pitchFamily="34" charset="-122"/>
                <a:cs typeface="Times New Roman" pitchFamily="34" charset="-120"/>
              </a:rPr>
              <a:t>stable</a:t>
            </a:r>
            <a:endParaRPr lang="en-US" sz="1600" dirty="0"/>
          </a:p>
        </p:txBody>
      </p:sp>
      <p:sp>
        <p:nvSpPr>
          <p:cNvPr id="14" name="Shape 12"/>
          <p:cNvSpPr/>
          <p:nvPr/>
        </p:nvSpPr>
        <p:spPr>
          <a:xfrm>
            <a:off x="10232136" y="1664208"/>
            <a:ext cx="841248" cy="438912"/>
          </a:xfrm>
          <a:prstGeom prst="rect">
            <a:avLst/>
          </a:prstGeom>
          <a:solidFill>
            <a:srgbClr val="846826"/>
          </a:solidFill>
          <a:ln w="15240">
            <a:solidFill>
              <a:srgbClr val="846826"/>
            </a:solidFill>
            <a:prstDash val="solid"/>
          </a:ln>
        </p:spPr>
      </p:sp>
      <p:sp>
        <p:nvSpPr>
          <p:cNvPr id="15" name="Text 13"/>
          <p:cNvSpPr/>
          <p:nvPr/>
        </p:nvSpPr>
        <p:spPr>
          <a:xfrm>
            <a:off x="10250424" y="1737360"/>
            <a:ext cx="804672"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FFFFFF"/>
                </a:solidFill>
                <a:latin typeface="Times New Roman" pitchFamily="34" charset="0"/>
                <a:ea typeface="標楷體" pitchFamily="34" charset="-122"/>
                <a:cs typeface="Times New Roman" pitchFamily="34" charset="-120"/>
              </a:rPr>
              <a:t>喚醒 </a:t>
            </a:r>
            <a:pPr algn="ctr" indent="0" marL="0">
              <a:lnSpc>
                <a:spcPct val="100000"/>
              </a:lnSpc>
              <a:buNone/>
            </a:pPr>
            <a:r>
              <a:rPr lang="en-US" sz="1600" b="1" dirty="0">
                <a:solidFill>
                  <a:srgbClr val="FFFFFF"/>
                </a:solidFill>
                <a:latin typeface="Times New Roman" pitchFamily="34" charset="0"/>
                <a:ea typeface="標楷體" pitchFamily="34" charset="-122"/>
                <a:cs typeface="Times New Roman" pitchFamily="34" charset="-120"/>
              </a:rPr>
              <a:t>AWAKE</a:t>
            </a:r>
            <a:endParaRPr lang="en-US" sz="1600" dirty="0"/>
          </a:p>
        </p:txBody>
      </p:sp>
      <p:sp>
        <p:nvSpPr>
          <p:cNvPr id="16" name="Shape 14"/>
          <p:cNvSpPr/>
          <p:nvPr/>
        </p:nvSpPr>
        <p:spPr>
          <a:xfrm>
            <a:off x="3438144" y="2487168"/>
            <a:ext cx="6382512" cy="420624"/>
          </a:xfrm>
          <a:prstGeom prst="roundRect">
            <a:avLst/>
          </a:prstGeom>
          <a:solidFill>
            <a:srgbClr val="F7F8FC"/>
          </a:solidFill>
          <a:ln w="15240">
            <a:solidFill>
              <a:srgbClr val="25356B"/>
            </a:solidFill>
            <a:prstDash val="solid"/>
          </a:ln>
        </p:spPr>
      </p:sp>
      <p:sp>
        <p:nvSpPr>
          <p:cNvPr id="17" name="Text 15"/>
          <p:cNvSpPr/>
          <p:nvPr/>
        </p:nvSpPr>
        <p:spPr>
          <a:xfrm>
            <a:off x="3511296" y="2523744"/>
            <a:ext cx="6236208" cy="310896"/>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25356B"/>
                </a:solidFill>
                <a:latin typeface="Times New Roman" pitchFamily="34" charset="0"/>
                <a:ea typeface="標楷體" pitchFamily="34" charset="-122"/>
                <a:cs typeface="Times New Roman" pitchFamily="34" charset="-120"/>
              </a:rPr>
              <a:t>來源：</a:t>
            </a:r>
            <a:pPr algn="ctr" indent="0" marL="0">
              <a:lnSpc>
                <a:spcPct val="100000"/>
              </a:lnSpc>
              <a:buNone/>
            </a:pPr>
            <a:r>
              <a:rPr lang="en-US" sz="1800" b="1" i="1" dirty="0">
                <a:solidFill>
                  <a:srgbClr val="25356B"/>
                </a:solidFill>
                <a:latin typeface="Times New Roman" pitchFamily="34" charset="0"/>
                <a:ea typeface="標楷體" pitchFamily="34" charset="-122"/>
                <a:cs typeface="Times New Roman" pitchFamily="34" charset="-120"/>
              </a:rPr>
              <a:t>endpoint</a:t>
            </a:r>
            <a:pPr algn="ctr" indent="0" marL="0">
              <a:lnSpc>
                <a:spcPct val="100000"/>
              </a:lnSpc>
              <a:buNone/>
            </a:pPr>
            <a:r>
              <a:rPr lang="en-US" sz="18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1800" b="1" i="1" dirty="0">
                <a:solidFill>
                  <a:srgbClr val="25356B"/>
                </a:solidFill>
                <a:latin typeface="Times New Roman" pitchFamily="34" charset="0"/>
                <a:ea typeface="標楷體" pitchFamily="34" charset="-122"/>
                <a:cs typeface="Times New Roman" pitchFamily="34" charset="-120"/>
              </a:rPr>
              <a:t>frame</a:t>
            </a:r>
            <a:pPr algn="ctr" indent="0" marL="0">
              <a:lnSpc>
                <a:spcPct val="100000"/>
              </a:lnSpc>
              <a:buNone/>
            </a:pPr>
            <a:r>
              <a:rPr lang="en-US" sz="1800" b="1" dirty="0">
                <a:solidFill>
                  <a:srgbClr val="25356B"/>
                </a:solidFill>
                <a:latin typeface="Times New Roman" pitchFamily="34" charset="0"/>
                <a:ea typeface="標楷體" pitchFamily="34" charset="-122"/>
                <a:cs typeface="Times New Roman" pitchFamily="34" charset="-120"/>
              </a:rPr>
              <a:t> + </a:t>
            </a:r>
            <a:pPr algn="ctr" indent="0" marL="0">
              <a:lnSpc>
                <a:spcPct val="100000"/>
              </a:lnSpc>
              <a:buNone/>
            </a:pPr>
            <a:r>
              <a:rPr lang="en-US" sz="1800" b="1" dirty="0">
                <a:solidFill>
                  <a:srgbClr val="25356B"/>
                </a:solidFill>
                <a:latin typeface="Times New Roman" pitchFamily="34" charset="0"/>
                <a:ea typeface="標楷體" pitchFamily="34" charset="-122"/>
                <a:cs typeface="Times New Roman" pitchFamily="34" charset="-120"/>
              </a:rPr>
              <a:t>policy</a:t>
            </a:r>
            <a:pPr algn="ctr" indent="0" marL="0">
              <a:lnSpc>
                <a:spcPct val="100000"/>
              </a:lnSpc>
              <a:buNone/>
            </a:pPr>
            <a:r>
              <a:rPr lang="en-US" sz="1800" b="1" dirty="0">
                <a:solidFill>
                  <a:srgbClr val="25356B"/>
                </a:solidFill>
                <a:latin typeface="Times New Roman" pitchFamily="34" charset="0"/>
                <a:ea typeface="標楷體" pitchFamily="34" charset="-122"/>
                <a:cs typeface="Times New Roman" pitchFamily="34" charset="-120"/>
              </a:rPr>
              <a:t>｜單位：</a:t>
            </a:r>
            <a:pPr algn="ctr" indent="0" marL="0">
              <a:lnSpc>
                <a:spcPct val="100000"/>
              </a:lnSpc>
              <a:buNone/>
            </a:pPr>
            <a:r>
              <a:rPr lang="en-US" sz="1800" b="1" dirty="0">
                <a:solidFill>
                  <a:srgbClr val="25356B"/>
                </a:solidFill>
                <a:latin typeface="Times New Roman" pitchFamily="34" charset="0"/>
                <a:ea typeface="標楷體" pitchFamily="34" charset="-122"/>
                <a:cs typeface="Times New Roman" pitchFamily="34" charset="-120"/>
              </a:rPr>
              <a:t>bool</a:t>
            </a:r>
            <a:pPr algn="ctr" indent="0" marL="0">
              <a:lnSpc>
                <a:spcPct val="100000"/>
              </a:lnSpc>
              <a:buNone/>
            </a:pPr>
            <a:r>
              <a:rPr lang="en-US" sz="1800" b="1" dirty="0">
                <a:solidFill>
                  <a:srgbClr val="25356B"/>
                </a:solidFill>
                <a:latin typeface="Times New Roman" pitchFamily="34" charset="0"/>
                <a:ea typeface="標楷體" pitchFamily="34" charset="-122"/>
                <a:cs typeface="Times New Roman" pitchFamily="34" charset="-120"/>
              </a:rPr>
              <a:t>、秒、</a:t>
            </a:r>
            <a:pPr algn="ctr" indent="0" marL="0">
              <a:lnSpc>
                <a:spcPct val="100000"/>
              </a:lnSpc>
              <a:buNone/>
            </a:pPr>
            <a:r>
              <a:rPr lang="en-US" sz="1800" b="1" dirty="0">
                <a:solidFill>
                  <a:srgbClr val="25356B"/>
                </a:solidFill>
                <a:latin typeface="Times New Roman" pitchFamily="34" charset="0"/>
                <a:ea typeface="標楷體" pitchFamily="34" charset="-122"/>
                <a:cs typeface="Times New Roman" pitchFamily="34" charset="-120"/>
              </a:rPr>
              <a:t>packet</a:t>
            </a:r>
            <a:pPr algn="ctr" indent="0" marL="0">
              <a:lnSpc>
                <a:spcPct val="100000"/>
              </a:lnSpc>
              <a:buNone/>
            </a:pPr>
            <a:r>
              <a:rPr lang="en-US" sz="18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25356B"/>
                </a:solidFill>
                <a:latin typeface="Times New Roman" pitchFamily="34" charset="0"/>
                <a:ea typeface="標楷體" pitchFamily="34" charset="-122"/>
                <a:cs typeface="Times New Roman" pitchFamily="34" charset="-120"/>
              </a:rPr>
              <a:t>count</a:t>
            </a:r>
            <a:endParaRPr lang="en-US" sz="1800" dirty="0"/>
          </a:p>
        </p:txBody>
      </p:sp>
      <p:sp>
        <p:nvSpPr>
          <p:cNvPr id="18" name="Shape 16"/>
          <p:cNvSpPr/>
          <p:nvPr/>
        </p:nvSpPr>
        <p:spPr>
          <a:xfrm>
            <a:off x="822960" y="2962656"/>
            <a:ext cx="3145536" cy="457200"/>
          </a:xfrm>
          <a:prstGeom prst="roundRect">
            <a:avLst/>
          </a:prstGeom>
          <a:solidFill>
            <a:srgbClr val="ECF1FE"/>
          </a:solidFill>
          <a:ln w="15240">
            <a:solidFill>
              <a:srgbClr val="4967C2"/>
            </a:solidFill>
            <a:prstDash val="solid"/>
          </a:ln>
        </p:spPr>
      </p:sp>
      <p:sp>
        <p:nvSpPr>
          <p:cNvPr id="19" name="Text 17"/>
          <p:cNvSpPr/>
          <p:nvPr/>
        </p:nvSpPr>
        <p:spPr>
          <a:xfrm>
            <a:off x="932688" y="3054096"/>
            <a:ext cx="2926080"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4967C2"/>
                </a:solidFill>
                <a:latin typeface="Times New Roman" pitchFamily="34" charset="0"/>
                <a:ea typeface="標楷體" pitchFamily="34" charset="-122"/>
                <a:cs typeface="Times New Roman" pitchFamily="34" charset="-120"/>
              </a:rPr>
              <a:t>窗口關閉 </a:t>
            </a:r>
            <a:pPr algn="ctr" indent="0" marL="0">
              <a:lnSpc>
                <a:spcPct val="100000"/>
              </a:lnSpc>
              <a:buNone/>
            </a:pPr>
            <a:r>
              <a:rPr lang="en-US" sz="1600" b="1" dirty="0">
                <a:solidFill>
                  <a:srgbClr val="4967C2"/>
                </a:solidFill>
                <a:latin typeface="Times New Roman" pitchFamily="34" charset="0"/>
                <a:ea typeface="標楷體" pitchFamily="34" charset="-122"/>
                <a:cs typeface="Times New Roman" pitchFamily="34" charset="-120"/>
              </a:rPr>
              <a:t>contact_open</a:t>
            </a:r>
            <a:endParaRPr lang="en-US" sz="1600" dirty="0"/>
          </a:p>
        </p:txBody>
      </p:sp>
      <p:sp>
        <p:nvSpPr>
          <p:cNvPr id="20" name="Shape 18"/>
          <p:cNvSpPr/>
          <p:nvPr/>
        </p:nvSpPr>
        <p:spPr>
          <a:xfrm>
            <a:off x="4133088" y="2980944"/>
            <a:ext cx="384048" cy="438912"/>
          </a:xfrm>
          <a:prstGeom prst="chevron">
            <a:avLst/>
          </a:prstGeom>
          <a:solidFill>
            <a:srgbClr val="4967C2"/>
          </a:solidFill>
          <a:ln w="12700">
            <a:solidFill>
              <a:srgbClr val="4967C2">
                <a:alpha val="0"/>
              </a:srgbClr>
            </a:solidFill>
            <a:prstDash val="solid"/>
          </a:ln>
        </p:spPr>
      </p:sp>
      <p:sp>
        <p:nvSpPr>
          <p:cNvPr id="21" name="Shape 19"/>
          <p:cNvSpPr/>
          <p:nvPr/>
        </p:nvSpPr>
        <p:spPr>
          <a:xfrm>
            <a:off x="4681728" y="2962656"/>
            <a:ext cx="2322576" cy="457200"/>
          </a:xfrm>
          <a:prstGeom prst="roundRect">
            <a:avLst/>
          </a:prstGeom>
          <a:solidFill>
            <a:srgbClr val="ECF1FE"/>
          </a:solidFill>
          <a:ln w="15240">
            <a:solidFill>
              <a:srgbClr val="4967C2"/>
            </a:solidFill>
            <a:prstDash val="solid"/>
          </a:ln>
        </p:spPr>
      </p:sp>
      <p:sp>
        <p:nvSpPr>
          <p:cNvPr id="22" name="Text 20"/>
          <p:cNvSpPr/>
          <p:nvPr/>
        </p:nvSpPr>
        <p:spPr>
          <a:xfrm>
            <a:off x="4791456" y="3054096"/>
            <a:ext cx="2103120"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4967C2"/>
                </a:solidFill>
                <a:latin typeface="Times New Roman" pitchFamily="34" charset="0"/>
                <a:ea typeface="標楷體" pitchFamily="34" charset="-122"/>
                <a:cs typeface="Times New Roman" pitchFamily="34" charset="-120"/>
              </a:rPr>
              <a:t>休眠 </a:t>
            </a:r>
            <a:pPr algn="ctr" indent="0" marL="0">
              <a:lnSpc>
                <a:spcPct val="100000"/>
              </a:lnSpc>
              <a:buNone/>
            </a:pPr>
            <a:r>
              <a:rPr lang="en-US" sz="1600" b="1" i="1" dirty="0">
                <a:solidFill>
                  <a:srgbClr val="4967C2"/>
                </a:solidFill>
                <a:latin typeface="Times New Roman" pitchFamily="34" charset="0"/>
                <a:ea typeface="標楷體" pitchFamily="34" charset="-122"/>
                <a:cs typeface="Times New Roman" pitchFamily="34" charset="-120"/>
              </a:rPr>
              <a:t>SLEEP</a:t>
            </a:r>
            <a:endParaRPr lang="en-US" sz="1600" dirty="0"/>
          </a:p>
        </p:txBody>
      </p:sp>
      <p:sp>
        <p:nvSpPr>
          <p:cNvPr id="23" name="Text 21"/>
          <p:cNvSpPr/>
          <p:nvPr/>
        </p:nvSpPr>
        <p:spPr>
          <a:xfrm>
            <a:off x="7278624" y="3054096"/>
            <a:ext cx="3931920" cy="256032"/>
          </a:xfrm>
          <a:prstGeom prst="rect">
            <a:avLst/>
          </a:prstGeom>
          <a:noFill/>
          <a:ln/>
        </p:spPr>
        <p:txBody>
          <a:bodyPr wrap="square" lIns="635" tIns="635" rIns="635" bIns="635" rtlCol="0" anchor="ctr">
            <a:normAutofit/>
          </a:bodyPr>
          <a:lstStyle/>
          <a:p>
            <a:pPr algn="l"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窗口布林為 </a:t>
            </a:r>
            <a:pPr algn="l"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false</a:t>
            </a:r>
            <a:pPr algn="l"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 安全 </a:t>
            </a:r>
            <a:pPr algn="l"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state</a:t>
            </a:r>
            <a:endParaRPr lang="en-US" sz="1600" dirty="0"/>
          </a:p>
        </p:txBody>
      </p:sp>
      <p:sp>
        <p:nvSpPr>
          <p:cNvPr id="24" name="Shape 22"/>
          <p:cNvSpPr/>
          <p:nvPr/>
        </p:nvSpPr>
        <p:spPr>
          <a:xfrm>
            <a:off x="822960" y="3511296"/>
            <a:ext cx="3145536" cy="457200"/>
          </a:xfrm>
          <a:prstGeom prst="roundRect">
            <a:avLst/>
          </a:prstGeom>
          <a:solidFill>
            <a:srgbClr val="F4EDF7"/>
          </a:solidFill>
          <a:ln w="15240">
            <a:solidFill>
              <a:srgbClr val="660066"/>
            </a:solidFill>
            <a:prstDash val="solid"/>
          </a:ln>
        </p:spPr>
      </p:sp>
      <p:sp>
        <p:nvSpPr>
          <p:cNvPr id="25" name="Text 23"/>
          <p:cNvSpPr/>
          <p:nvPr/>
        </p:nvSpPr>
        <p:spPr>
          <a:xfrm>
            <a:off x="932688" y="3602736"/>
            <a:ext cx="2926080"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660066"/>
                </a:solidFill>
                <a:latin typeface="Times New Roman" pitchFamily="34" charset="0"/>
                <a:ea typeface="標楷體" pitchFamily="34" charset="-122"/>
                <a:cs typeface="Times New Roman" pitchFamily="34" charset="-120"/>
              </a:rPr>
              <a:t>急件待送 </a:t>
            </a:r>
            <a:pPr algn="ctr" indent="0" marL="0">
              <a:lnSpc>
                <a:spcPct val="100000"/>
              </a:lnSpc>
              <a:buNone/>
            </a:pPr>
            <a:r>
              <a:rPr lang="en-US" sz="1600" b="1" dirty="0">
                <a:solidFill>
                  <a:srgbClr val="660066"/>
                </a:solidFill>
                <a:latin typeface="Times New Roman" pitchFamily="34" charset="0"/>
                <a:ea typeface="標楷體" pitchFamily="34" charset="-122"/>
                <a:cs typeface="Times New Roman" pitchFamily="34" charset="-120"/>
              </a:rPr>
              <a:t>urgent</a:t>
            </a:r>
            <a:pPr algn="ctr" indent="0" marL="0">
              <a:lnSpc>
                <a:spcPct val="100000"/>
              </a:lnSpc>
              <a:buNone/>
            </a:pPr>
            <a:r>
              <a:rPr lang="en-US" sz="1600" b="1" dirty="0">
                <a:solidFill>
                  <a:srgbClr val="660066"/>
                </a:solidFill>
                <a:latin typeface="Times New Roman" pitchFamily="34" charset="0"/>
                <a:ea typeface="標楷體" pitchFamily="34" charset="-122"/>
                <a:cs typeface="Times New Roman" pitchFamily="34" charset="-120"/>
              </a:rPr>
              <a:t> </a:t>
            </a:r>
            <a:pPr algn="ctr" indent="0" marL="0">
              <a:lnSpc>
                <a:spcPct val="100000"/>
              </a:lnSpc>
              <a:buNone/>
            </a:pPr>
            <a:r>
              <a:rPr lang="en-US" sz="1600" b="1" dirty="0">
                <a:solidFill>
                  <a:srgbClr val="660066"/>
                </a:solidFill>
                <a:latin typeface="Times New Roman" pitchFamily="34" charset="0"/>
                <a:ea typeface="標楷體" pitchFamily="34" charset="-122"/>
                <a:cs typeface="Times New Roman" pitchFamily="34" charset="-120"/>
              </a:rPr>
              <a:t>pending</a:t>
            </a:r>
            <a:pPr algn="ctr" indent="0" marL="0">
              <a:lnSpc>
                <a:spcPct val="100000"/>
              </a:lnSpc>
              <a:buNone/>
            </a:pPr>
            <a:r>
              <a:rPr lang="en-US" sz="1600" b="1" dirty="0">
                <a:solidFill>
                  <a:srgbClr val="660066"/>
                </a:solidFill>
                <a:latin typeface="Times New Roman" pitchFamily="34" charset="0"/>
                <a:ea typeface="標楷體" pitchFamily="34" charset="-122"/>
                <a:cs typeface="Times New Roman" pitchFamily="34" charset="-120"/>
              </a:rPr>
              <a:t> + </a:t>
            </a:r>
            <a:pPr algn="ctr" indent="0" marL="0">
              <a:lnSpc>
                <a:spcPct val="100000"/>
              </a:lnSpc>
              <a:buNone/>
            </a:pPr>
            <a:r>
              <a:rPr lang="en-US" sz="1600" b="1" dirty="0">
                <a:solidFill>
                  <a:srgbClr val="660066"/>
                </a:solidFill>
                <a:latin typeface="Times New Roman" pitchFamily="34" charset="0"/>
                <a:ea typeface="標楷體" pitchFamily="34" charset="-122"/>
                <a:cs typeface="Times New Roman" pitchFamily="34" charset="-120"/>
              </a:rPr>
              <a:t>due</a:t>
            </a:r>
            <a:endParaRPr lang="en-US" sz="1600" dirty="0"/>
          </a:p>
        </p:txBody>
      </p:sp>
      <p:sp>
        <p:nvSpPr>
          <p:cNvPr id="26" name="Shape 24"/>
          <p:cNvSpPr/>
          <p:nvPr/>
        </p:nvSpPr>
        <p:spPr>
          <a:xfrm>
            <a:off x="4133088" y="3529584"/>
            <a:ext cx="384048" cy="438912"/>
          </a:xfrm>
          <a:prstGeom prst="chevron">
            <a:avLst/>
          </a:prstGeom>
          <a:solidFill>
            <a:srgbClr val="660066"/>
          </a:solidFill>
          <a:ln w="12700">
            <a:solidFill>
              <a:srgbClr val="660066">
                <a:alpha val="0"/>
              </a:srgbClr>
            </a:solidFill>
            <a:prstDash val="solid"/>
          </a:ln>
        </p:spPr>
      </p:sp>
      <p:sp>
        <p:nvSpPr>
          <p:cNvPr id="27" name="Shape 25"/>
          <p:cNvSpPr/>
          <p:nvPr/>
        </p:nvSpPr>
        <p:spPr>
          <a:xfrm>
            <a:off x="4681728" y="3511296"/>
            <a:ext cx="2322576" cy="457200"/>
          </a:xfrm>
          <a:prstGeom prst="roundRect">
            <a:avLst/>
          </a:prstGeom>
          <a:solidFill>
            <a:srgbClr val="F4EDF7"/>
          </a:solidFill>
          <a:ln w="15240">
            <a:solidFill>
              <a:srgbClr val="660066"/>
            </a:solidFill>
            <a:prstDash val="solid"/>
          </a:ln>
        </p:spPr>
      </p:sp>
      <p:sp>
        <p:nvSpPr>
          <p:cNvPr id="28" name="Text 26"/>
          <p:cNvSpPr/>
          <p:nvPr/>
        </p:nvSpPr>
        <p:spPr>
          <a:xfrm>
            <a:off x="4791456" y="3602736"/>
            <a:ext cx="2103120"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660066"/>
                </a:solidFill>
                <a:latin typeface="Times New Roman" pitchFamily="34" charset="0"/>
                <a:ea typeface="標楷體" pitchFamily="34" charset="-122"/>
                <a:cs typeface="Times New Roman" pitchFamily="34" charset="-120"/>
              </a:rPr>
              <a:t>緊急送出 </a:t>
            </a:r>
            <a:pPr algn="ctr" indent="0" marL="0">
              <a:lnSpc>
                <a:spcPct val="100000"/>
              </a:lnSpc>
              <a:buNone/>
            </a:pPr>
            <a:r>
              <a:rPr lang="en-US" sz="1600" b="1" i="1" dirty="0">
                <a:solidFill>
                  <a:srgbClr val="660066"/>
                </a:solidFill>
                <a:latin typeface="Times New Roman" pitchFamily="34" charset="0"/>
                <a:ea typeface="標楷體" pitchFamily="34" charset="-122"/>
                <a:cs typeface="Times New Roman" pitchFamily="34" charset="-120"/>
              </a:rPr>
              <a:t>SEND_URGENT</a:t>
            </a:r>
            <a:endParaRPr lang="en-US" sz="1600" dirty="0"/>
          </a:p>
        </p:txBody>
      </p:sp>
      <p:sp>
        <p:nvSpPr>
          <p:cNvPr id="29" name="Text 27"/>
          <p:cNvSpPr/>
          <p:nvPr/>
        </p:nvSpPr>
        <p:spPr>
          <a:xfrm>
            <a:off x="7278624" y="3602736"/>
            <a:ext cx="3931920" cy="256032"/>
          </a:xfrm>
          <a:prstGeom prst="rect">
            <a:avLst/>
          </a:prstGeom>
          <a:noFill/>
          <a:ln/>
        </p:spPr>
        <p:txBody>
          <a:bodyPr wrap="square" lIns="635" tIns="635" rIns="635" bIns="635" rtlCol="0" anchor="ctr">
            <a:normAutofit/>
          </a:bodyPr>
          <a:lstStyle/>
          <a:p>
            <a:pPr algn="l"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due</a:t>
            </a:r>
            <a:pPr algn="l"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是剩餘秒數；期限條件優先</a:t>
            </a:r>
            <a:endParaRPr lang="en-US" sz="1600" dirty="0"/>
          </a:p>
        </p:txBody>
      </p:sp>
      <p:sp>
        <p:nvSpPr>
          <p:cNvPr id="30" name="Shape 28"/>
          <p:cNvSpPr/>
          <p:nvPr/>
        </p:nvSpPr>
        <p:spPr>
          <a:xfrm>
            <a:off x="822960" y="4059936"/>
            <a:ext cx="3145536" cy="457200"/>
          </a:xfrm>
          <a:prstGeom prst="roundRect">
            <a:avLst/>
          </a:prstGeom>
          <a:solidFill>
            <a:srgbClr val="FDF9E2"/>
          </a:solidFill>
          <a:ln w="15240">
            <a:solidFill>
              <a:srgbClr val="846826"/>
            </a:solidFill>
            <a:prstDash val="solid"/>
          </a:ln>
        </p:spPr>
      </p:sp>
      <p:sp>
        <p:nvSpPr>
          <p:cNvPr id="31" name="Text 29"/>
          <p:cNvSpPr/>
          <p:nvPr/>
        </p:nvSpPr>
        <p:spPr>
          <a:xfrm>
            <a:off x="932688" y="4151376"/>
            <a:ext cx="2926080"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846826"/>
                </a:solidFill>
                <a:latin typeface="Times New Roman" pitchFamily="34" charset="0"/>
                <a:ea typeface="標楷體" pitchFamily="34" charset="-122"/>
                <a:cs typeface="Times New Roman" pitchFamily="34" charset="-120"/>
              </a:rPr>
              <a:t>節奏間隔 </a:t>
            </a:r>
            <a:pPr algn="ctr" indent="0" marL="0">
              <a:lnSpc>
                <a:spcPct val="100000"/>
              </a:lnSpc>
              <a:buNone/>
            </a:pPr>
            <a:r>
              <a:rPr lang="en-US" sz="1600" b="1" dirty="0">
                <a:solidFill>
                  <a:srgbClr val="846826"/>
                </a:solidFill>
                <a:latin typeface="Times New Roman" pitchFamily="34" charset="0"/>
                <a:ea typeface="標楷體" pitchFamily="34" charset="-122"/>
                <a:cs typeface="Times New Roman" pitchFamily="34" charset="-120"/>
              </a:rPr>
              <a:t>pacing</a:t>
            </a:r>
            <a:pPr algn="ctr" indent="0" marL="0">
              <a:lnSpc>
                <a:spcPct val="100000"/>
              </a:lnSpc>
              <a:buNone/>
            </a:pPr>
            <a:r>
              <a:rPr lang="en-US" sz="1600" b="1" dirty="0">
                <a:solidFill>
                  <a:srgbClr val="846826"/>
                </a:solidFill>
                <a:latin typeface="Times New Roman" pitchFamily="34" charset="0"/>
                <a:ea typeface="標楷體" pitchFamily="34" charset="-122"/>
                <a:cs typeface="Times New Roman" pitchFamily="34" charset="-120"/>
              </a:rPr>
              <a:t> </a:t>
            </a:r>
            <a:pPr algn="ctr" indent="0" marL="0">
              <a:lnSpc>
                <a:spcPct val="100000"/>
              </a:lnSpc>
              <a:buNone/>
            </a:pPr>
            <a:r>
              <a:rPr lang="en-US" sz="1600" b="1" dirty="0">
                <a:solidFill>
                  <a:srgbClr val="846826"/>
                </a:solidFill>
                <a:latin typeface="Times New Roman" pitchFamily="34" charset="0"/>
                <a:ea typeface="標楷體" pitchFamily="34" charset="-122"/>
                <a:cs typeface="Times New Roman" pitchFamily="34" charset="-120"/>
              </a:rPr>
              <a:t>gap</a:t>
            </a:r>
            <a:endParaRPr lang="en-US" sz="1600" dirty="0"/>
          </a:p>
        </p:txBody>
      </p:sp>
      <p:sp>
        <p:nvSpPr>
          <p:cNvPr id="32" name="Shape 30"/>
          <p:cNvSpPr/>
          <p:nvPr/>
        </p:nvSpPr>
        <p:spPr>
          <a:xfrm>
            <a:off x="4133088" y="4078224"/>
            <a:ext cx="384048" cy="438912"/>
          </a:xfrm>
          <a:prstGeom prst="chevron">
            <a:avLst/>
          </a:prstGeom>
          <a:solidFill>
            <a:srgbClr val="846826"/>
          </a:solidFill>
          <a:ln w="12700">
            <a:solidFill>
              <a:srgbClr val="846826">
                <a:alpha val="0"/>
              </a:srgbClr>
            </a:solidFill>
            <a:prstDash val="solid"/>
          </a:ln>
        </p:spPr>
      </p:sp>
      <p:sp>
        <p:nvSpPr>
          <p:cNvPr id="33" name="Shape 31"/>
          <p:cNvSpPr/>
          <p:nvPr/>
        </p:nvSpPr>
        <p:spPr>
          <a:xfrm>
            <a:off x="4681728" y="4059936"/>
            <a:ext cx="2322576" cy="457200"/>
          </a:xfrm>
          <a:prstGeom prst="roundRect">
            <a:avLst/>
          </a:prstGeom>
          <a:solidFill>
            <a:srgbClr val="FDF9E2"/>
          </a:solidFill>
          <a:ln w="15240">
            <a:solidFill>
              <a:srgbClr val="846826"/>
            </a:solidFill>
            <a:prstDash val="solid"/>
          </a:ln>
        </p:spPr>
      </p:sp>
      <p:sp>
        <p:nvSpPr>
          <p:cNvPr id="34" name="Text 32"/>
          <p:cNvSpPr/>
          <p:nvPr/>
        </p:nvSpPr>
        <p:spPr>
          <a:xfrm>
            <a:off x="4791456" y="4151376"/>
            <a:ext cx="2103120"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846826"/>
                </a:solidFill>
                <a:latin typeface="Times New Roman" pitchFamily="34" charset="0"/>
                <a:ea typeface="標楷體" pitchFamily="34" charset="-122"/>
                <a:cs typeface="Times New Roman" pitchFamily="34" charset="-120"/>
              </a:rPr>
              <a:t>間隔休息 </a:t>
            </a:r>
            <a:pPr algn="ctr" indent="0" marL="0">
              <a:lnSpc>
                <a:spcPct val="100000"/>
              </a:lnSpc>
              <a:buNone/>
            </a:pPr>
            <a:r>
              <a:rPr lang="en-US" sz="1600" b="1" i="1" dirty="0">
                <a:solidFill>
                  <a:srgbClr val="846826"/>
                </a:solidFill>
                <a:latin typeface="Times New Roman" pitchFamily="34" charset="0"/>
                <a:ea typeface="標楷體" pitchFamily="34" charset="-122"/>
                <a:cs typeface="Times New Roman" pitchFamily="34" charset="-120"/>
              </a:rPr>
              <a:t>REST_DURING_GAP</a:t>
            </a:r>
            <a:endParaRPr lang="en-US" sz="1600" dirty="0"/>
          </a:p>
        </p:txBody>
      </p:sp>
      <p:sp>
        <p:nvSpPr>
          <p:cNvPr id="35" name="Text 33"/>
          <p:cNvSpPr/>
          <p:nvPr/>
        </p:nvSpPr>
        <p:spPr>
          <a:xfrm>
            <a:off x="7278624" y="4151376"/>
            <a:ext cx="3931920" cy="256032"/>
          </a:xfrm>
          <a:prstGeom prst="rect">
            <a:avLst/>
          </a:prstGeom>
          <a:noFill/>
          <a:ln/>
        </p:spPr>
        <p:txBody>
          <a:bodyPr wrap="square" lIns="635" tIns="635" rIns="635" bIns="635" rtlCol="0" anchor="ctr">
            <a:normAutofit/>
          </a:bodyPr>
          <a:lstStyle/>
          <a:p>
            <a:pPr algn="l"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steps_since_send</a:t>
            </a:r>
            <a:pPr algn="l"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仍在 </a:t>
            </a:r>
            <a:pPr algn="l"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gap</a:t>
            </a:r>
            <a:endParaRPr lang="en-US" sz="1600" dirty="0"/>
          </a:p>
        </p:txBody>
      </p:sp>
      <p:sp>
        <p:nvSpPr>
          <p:cNvPr id="36" name="Shape 34"/>
          <p:cNvSpPr/>
          <p:nvPr/>
        </p:nvSpPr>
        <p:spPr>
          <a:xfrm>
            <a:off x="822960" y="4608576"/>
            <a:ext cx="3145536" cy="457200"/>
          </a:xfrm>
          <a:prstGeom prst="roundRect">
            <a:avLst/>
          </a:prstGeom>
          <a:solidFill>
            <a:srgbClr val="E8F7F4"/>
          </a:solidFill>
          <a:ln w="15240">
            <a:solidFill>
              <a:srgbClr val="007374"/>
            </a:solidFill>
            <a:prstDash val="solid"/>
          </a:ln>
        </p:spPr>
      </p:sp>
      <p:sp>
        <p:nvSpPr>
          <p:cNvPr id="37" name="Text 35"/>
          <p:cNvSpPr/>
          <p:nvPr/>
        </p:nvSpPr>
        <p:spPr>
          <a:xfrm>
            <a:off x="932688" y="4700016"/>
            <a:ext cx="2926080"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007374"/>
                </a:solidFill>
                <a:latin typeface="Times New Roman" pitchFamily="34" charset="0"/>
                <a:ea typeface="標楷體" pitchFamily="34" charset="-122"/>
                <a:cs typeface="Times New Roman" pitchFamily="34" charset="-120"/>
              </a:rPr>
              <a:t>品質就緒 + </a:t>
            </a:r>
            <a:pPr algn="ctr" indent="0" marL="0">
              <a:lnSpc>
                <a:spcPct val="100000"/>
              </a:lnSpc>
              <a:buNone/>
            </a:pPr>
            <a:r>
              <a:rPr lang="en-US" sz="1600" b="1" i="1" dirty="0">
                <a:solidFill>
                  <a:srgbClr val="007374"/>
                </a:solidFill>
                <a:latin typeface="Times New Roman" pitchFamily="34" charset="0"/>
                <a:ea typeface="標楷體" pitchFamily="34" charset="-122"/>
                <a:cs typeface="Times New Roman" pitchFamily="34" charset="-120"/>
              </a:rPr>
              <a:t>queue</a:t>
            </a:r>
            <a:endParaRPr lang="en-US" sz="1600" dirty="0"/>
          </a:p>
        </p:txBody>
      </p:sp>
      <p:sp>
        <p:nvSpPr>
          <p:cNvPr id="38" name="Shape 36"/>
          <p:cNvSpPr/>
          <p:nvPr/>
        </p:nvSpPr>
        <p:spPr>
          <a:xfrm>
            <a:off x="4133088" y="4626864"/>
            <a:ext cx="384048" cy="438912"/>
          </a:xfrm>
          <a:prstGeom prst="chevron">
            <a:avLst/>
          </a:prstGeom>
          <a:solidFill>
            <a:srgbClr val="007374"/>
          </a:solidFill>
          <a:ln w="12700">
            <a:solidFill>
              <a:srgbClr val="007374">
                <a:alpha val="0"/>
              </a:srgbClr>
            </a:solidFill>
            <a:prstDash val="solid"/>
          </a:ln>
        </p:spPr>
      </p:sp>
      <p:sp>
        <p:nvSpPr>
          <p:cNvPr id="39" name="Shape 37"/>
          <p:cNvSpPr/>
          <p:nvPr/>
        </p:nvSpPr>
        <p:spPr>
          <a:xfrm>
            <a:off x="4681728" y="4608576"/>
            <a:ext cx="2322576" cy="457200"/>
          </a:xfrm>
          <a:prstGeom prst="roundRect">
            <a:avLst/>
          </a:prstGeom>
          <a:solidFill>
            <a:srgbClr val="E8F7F4"/>
          </a:solidFill>
          <a:ln w="15240">
            <a:solidFill>
              <a:srgbClr val="007374"/>
            </a:solidFill>
            <a:prstDash val="solid"/>
          </a:ln>
        </p:spPr>
      </p:sp>
      <p:sp>
        <p:nvSpPr>
          <p:cNvPr id="40" name="Text 38"/>
          <p:cNvSpPr/>
          <p:nvPr/>
        </p:nvSpPr>
        <p:spPr>
          <a:xfrm>
            <a:off x="4791456" y="4700016"/>
            <a:ext cx="2103120"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007374"/>
                </a:solidFill>
                <a:latin typeface="Times New Roman" pitchFamily="34" charset="0"/>
                <a:ea typeface="標楷體" pitchFamily="34" charset="-122"/>
                <a:cs typeface="Times New Roman" pitchFamily="34" charset="-120"/>
              </a:rPr>
              <a:t>批次送出 </a:t>
            </a:r>
            <a:pPr algn="ctr" indent="0" marL="0">
              <a:lnSpc>
                <a:spcPct val="100000"/>
              </a:lnSpc>
              <a:buNone/>
            </a:pPr>
            <a:r>
              <a:rPr lang="en-US" sz="1600" b="1" i="1" dirty="0">
                <a:solidFill>
                  <a:srgbClr val="007374"/>
                </a:solidFill>
                <a:latin typeface="Times New Roman" pitchFamily="34" charset="0"/>
                <a:ea typeface="標楷體" pitchFamily="34" charset="-122"/>
                <a:cs typeface="Times New Roman" pitchFamily="34" charset="-120"/>
              </a:rPr>
              <a:t>FLUSH_BATCH</a:t>
            </a:r>
            <a:endParaRPr lang="en-US" sz="1600" dirty="0"/>
          </a:p>
        </p:txBody>
      </p:sp>
      <p:sp>
        <p:nvSpPr>
          <p:cNvPr id="41" name="Text 39"/>
          <p:cNvSpPr/>
          <p:nvPr/>
        </p:nvSpPr>
        <p:spPr>
          <a:xfrm>
            <a:off x="7278624" y="4700016"/>
            <a:ext cx="3931920" cy="256032"/>
          </a:xfrm>
          <a:prstGeom prst="rect">
            <a:avLst/>
          </a:prstGeom>
          <a:noFill/>
          <a:ln/>
        </p:spPr>
        <p:txBody>
          <a:bodyPr wrap="square" lIns="635" tIns="635" rIns="635" bIns="635" rtlCol="0" anchor="ctr">
            <a:normAutofit/>
          </a:bodyPr>
          <a:lstStyle/>
          <a:p>
            <a:pPr algn="l" indent="0" marL="0">
              <a:lnSpc>
                <a:spcPct val="100000"/>
              </a:lnSpc>
              <a:buNone/>
            </a:pPr>
            <a:r>
              <a:rPr lang="en-US" sz="1600" i="1" dirty="0">
                <a:solidFill>
                  <a:srgbClr val="25324A"/>
                </a:solidFill>
                <a:latin typeface="Times New Roman" pitchFamily="34" charset="0"/>
                <a:ea typeface="標楷體" pitchFamily="34" charset="-122"/>
                <a:cs typeface="Times New Roman" pitchFamily="34" charset="-120"/>
              </a:rPr>
              <a:t>queue</a:t>
            </a:r>
            <a:pPr algn="l"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l"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count</a:t>
            </a:r>
            <a:pPr algn="l"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達到 </a:t>
            </a:r>
            <a:pPr algn="l"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batch</a:t>
            </a:r>
            <a:pPr algn="l"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l"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size</a:t>
            </a:r>
            <a:endParaRPr lang="en-US" sz="1600" dirty="0"/>
          </a:p>
        </p:txBody>
      </p:sp>
      <p:sp>
        <p:nvSpPr>
          <p:cNvPr id="42" name="Shape 40"/>
          <p:cNvSpPr/>
          <p:nvPr/>
        </p:nvSpPr>
        <p:spPr>
          <a:xfrm>
            <a:off x="822960" y="5157216"/>
            <a:ext cx="3145536" cy="457200"/>
          </a:xfrm>
          <a:prstGeom prst="roundRect">
            <a:avLst/>
          </a:prstGeom>
          <a:solidFill>
            <a:srgbClr val="FDEFEF"/>
          </a:solidFill>
          <a:ln w="15240">
            <a:solidFill>
              <a:srgbClr val="992A2A"/>
            </a:solidFill>
            <a:prstDash val="solid"/>
          </a:ln>
        </p:spPr>
      </p:sp>
      <p:sp>
        <p:nvSpPr>
          <p:cNvPr id="43" name="Text 41"/>
          <p:cNvSpPr/>
          <p:nvPr/>
        </p:nvSpPr>
        <p:spPr>
          <a:xfrm>
            <a:off x="932688" y="5248656"/>
            <a:ext cx="2926080"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992A2A"/>
                </a:solidFill>
                <a:latin typeface="Times New Roman" pitchFamily="34" charset="0"/>
                <a:ea typeface="標楷體" pitchFamily="34" charset="-122"/>
                <a:cs typeface="Times New Roman" pitchFamily="34" charset="-120"/>
              </a:rPr>
              <a:t>其他觀測 </a:t>
            </a:r>
            <a:pPr algn="ctr" indent="0" marL="0">
              <a:lnSpc>
                <a:spcPct val="100000"/>
              </a:lnSpc>
              <a:buNone/>
            </a:pPr>
            <a:r>
              <a:rPr lang="en-US" sz="1600" b="1" dirty="0">
                <a:solidFill>
                  <a:srgbClr val="992A2A"/>
                </a:solidFill>
                <a:latin typeface="Times New Roman" pitchFamily="34" charset="0"/>
                <a:ea typeface="標楷體" pitchFamily="34" charset="-122"/>
                <a:cs typeface="Times New Roman" pitchFamily="34" charset="-120"/>
              </a:rPr>
              <a:t>observation</a:t>
            </a:r>
            <a:endParaRPr lang="en-US" sz="1600" dirty="0"/>
          </a:p>
        </p:txBody>
      </p:sp>
      <p:sp>
        <p:nvSpPr>
          <p:cNvPr id="44" name="Shape 42"/>
          <p:cNvSpPr/>
          <p:nvPr/>
        </p:nvSpPr>
        <p:spPr>
          <a:xfrm>
            <a:off x="4133088" y="5175504"/>
            <a:ext cx="384048" cy="438912"/>
          </a:xfrm>
          <a:prstGeom prst="chevron">
            <a:avLst/>
          </a:prstGeom>
          <a:solidFill>
            <a:srgbClr val="992A2A"/>
          </a:solidFill>
          <a:ln w="12700">
            <a:solidFill>
              <a:srgbClr val="992A2A">
                <a:alpha val="0"/>
              </a:srgbClr>
            </a:solidFill>
            <a:prstDash val="solid"/>
          </a:ln>
        </p:spPr>
      </p:sp>
      <p:sp>
        <p:nvSpPr>
          <p:cNvPr id="45" name="Shape 43"/>
          <p:cNvSpPr/>
          <p:nvPr/>
        </p:nvSpPr>
        <p:spPr>
          <a:xfrm>
            <a:off x="4681728" y="5157216"/>
            <a:ext cx="2322576" cy="457200"/>
          </a:xfrm>
          <a:prstGeom prst="roundRect">
            <a:avLst/>
          </a:prstGeom>
          <a:solidFill>
            <a:srgbClr val="FDEFEF"/>
          </a:solidFill>
          <a:ln w="15240">
            <a:solidFill>
              <a:srgbClr val="992A2A"/>
            </a:solidFill>
            <a:prstDash val="solid"/>
          </a:ln>
        </p:spPr>
      </p:sp>
      <p:sp>
        <p:nvSpPr>
          <p:cNvPr id="46" name="Text 44"/>
          <p:cNvSpPr/>
          <p:nvPr/>
        </p:nvSpPr>
        <p:spPr>
          <a:xfrm>
            <a:off x="4791456" y="5248656"/>
            <a:ext cx="2103120"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992A2A"/>
                </a:solidFill>
                <a:latin typeface="Times New Roman" pitchFamily="34" charset="0"/>
                <a:ea typeface="標楷體" pitchFamily="34" charset="-122"/>
                <a:cs typeface="Times New Roman" pitchFamily="34" charset="-120"/>
              </a:rPr>
              <a:t>等待 </a:t>
            </a:r>
            <a:pPr algn="ctr" indent="0" marL="0">
              <a:lnSpc>
                <a:spcPct val="100000"/>
              </a:lnSpc>
              <a:buNone/>
            </a:pPr>
            <a:r>
              <a:rPr lang="en-US" sz="1600" b="1" i="1" dirty="0">
                <a:solidFill>
                  <a:srgbClr val="992A2A"/>
                </a:solidFill>
                <a:latin typeface="Times New Roman" pitchFamily="34" charset="0"/>
                <a:ea typeface="標楷體" pitchFamily="34" charset="-122"/>
                <a:cs typeface="Times New Roman" pitchFamily="34" charset="-120"/>
              </a:rPr>
              <a:t>WAIT</a:t>
            </a:r>
            <a:pPr algn="ctr" indent="0" marL="0">
              <a:lnSpc>
                <a:spcPct val="100000"/>
              </a:lnSpc>
              <a:buNone/>
            </a:pPr>
            <a:r>
              <a:rPr lang="en-US" sz="1600" b="1" dirty="0">
                <a:solidFill>
                  <a:srgbClr val="992A2A"/>
                </a:solidFill>
                <a:latin typeface="Times New Roman" pitchFamily="34" charset="0"/>
                <a:ea typeface="標楷體" pitchFamily="34" charset="-122"/>
                <a:cs typeface="Times New Roman" pitchFamily="34" charset="-120"/>
              </a:rPr>
              <a:t>／單筆送出 </a:t>
            </a:r>
            <a:pPr algn="ctr" indent="0" marL="0">
              <a:lnSpc>
                <a:spcPct val="100000"/>
              </a:lnSpc>
              <a:buNone/>
            </a:pPr>
            <a:r>
              <a:rPr lang="en-US" sz="1600" b="1" i="1" dirty="0">
                <a:solidFill>
                  <a:srgbClr val="992A2A"/>
                </a:solidFill>
                <a:latin typeface="Times New Roman" pitchFamily="34" charset="0"/>
                <a:ea typeface="標楷體" pitchFamily="34" charset="-122"/>
                <a:cs typeface="Times New Roman" pitchFamily="34" charset="-120"/>
              </a:rPr>
              <a:t>SEND_ONE</a:t>
            </a:r>
            <a:endParaRPr lang="en-US" sz="1600" dirty="0"/>
          </a:p>
        </p:txBody>
      </p:sp>
      <p:sp>
        <p:nvSpPr>
          <p:cNvPr id="47" name="Text 45"/>
          <p:cNvSpPr/>
          <p:nvPr/>
        </p:nvSpPr>
        <p:spPr>
          <a:xfrm>
            <a:off x="7278624" y="5248656"/>
            <a:ext cx="3931920" cy="256032"/>
          </a:xfrm>
          <a:prstGeom prst="rect">
            <a:avLst/>
          </a:prstGeom>
          <a:noFill/>
          <a:ln/>
        </p:spPr>
        <p:txBody>
          <a:bodyPr wrap="square" lIns="635" tIns="635" rIns="635" bIns="635" rtlCol="0" anchor="ctr">
            <a:normAutofit/>
          </a:bodyPr>
          <a:lstStyle/>
          <a:p>
            <a:pPr algn="l" indent="0" marL="0">
              <a:lnSpc>
                <a:spcPct val="100000"/>
              </a:lnSpc>
              <a:buNone/>
            </a:pPr>
            <a:r>
              <a:rPr lang="en-US" sz="1600" i="1" dirty="0">
                <a:solidFill>
                  <a:srgbClr val="25324A"/>
                </a:solidFill>
                <a:latin typeface="Times New Roman" pitchFamily="34" charset="0"/>
                <a:ea typeface="標楷體" pitchFamily="34" charset="-122"/>
                <a:cs typeface="Times New Roman" pitchFamily="34" charset="-120"/>
              </a:rPr>
              <a:t>queue</a:t>
            </a:r>
            <a:pPr algn="l"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l"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count</a:t>
            </a:r>
            <a:pPr algn="l"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決定一般 </a:t>
            </a:r>
            <a:pPr algn="l" indent="0" marL="0">
              <a:lnSpc>
                <a:spcPct val="100000"/>
              </a:lnSpc>
              <a:buNone/>
            </a:pPr>
            <a:r>
              <a:rPr lang="en-US" sz="1600" i="1" dirty="0">
                <a:solidFill>
                  <a:srgbClr val="25324A"/>
                </a:solidFill>
                <a:latin typeface="Times New Roman" pitchFamily="34" charset="0"/>
                <a:ea typeface="標楷體" pitchFamily="34" charset="-122"/>
                <a:cs typeface="Times New Roman" pitchFamily="34" charset="-120"/>
              </a:rPr>
              <a:t>action</a:t>
            </a:r>
            <a:endParaRPr lang="en-US" sz="1600" dirty="0"/>
          </a:p>
        </p:txBody>
      </p:sp>
      <p:sp>
        <p:nvSpPr>
          <p:cNvPr id="48" name="Text 46"/>
          <p:cNvSpPr/>
          <p:nvPr/>
        </p:nvSpPr>
        <p:spPr>
          <a:xfrm>
            <a:off x="950976" y="5650992"/>
            <a:ext cx="10222992" cy="384048"/>
          </a:xfrm>
          <a:prstGeom prst="rect">
            <a:avLst/>
          </a:prstGeom>
          <a:noFill/>
          <a:ln/>
        </p:spPr>
        <p:txBody>
          <a:bodyPr wrap="square" lIns="635" tIns="635" rIns="635" bIns="635" rtlCol="0" anchor="ctr">
            <a:normAutofit/>
          </a:bodyPr>
          <a:lstStyle/>
          <a:p>
            <a:pPr algn="ctr" indent="0" marL="0">
              <a:lnSpc>
                <a:spcPct val="100000"/>
              </a:lnSpc>
              <a:buNone/>
            </a:pPr>
            <a:r>
              <a:rPr lang="en-US" sz="2000" dirty="0">
                <a:solidFill>
                  <a:srgbClr val="65758B"/>
                </a:solidFill>
                <a:latin typeface="Times New Roman" pitchFamily="34" charset="0"/>
                <a:ea typeface="標楷體" pitchFamily="34" charset="-122"/>
                <a:cs typeface="Times New Roman" pitchFamily="34" charset="-120"/>
              </a:rPr>
              <a:t>current</a:t>
            </a:r>
            <a:pPr algn="ctr" indent="0" marL="0">
              <a:lnSpc>
                <a:spcPct val="100000"/>
              </a:lnSpc>
              <a:buNone/>
            </a:pPr>
            <a:r>
              <a:rPr lang="en-US" sz="2000"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000" dirty="0">
                <a:solidFill>
                  <a:srgbClr val="65758B"/>
                </a:solidFill>
                <a:latin typeface="Times New Roman" pitchFamily="34" charset="0"/>
                <a:ea typeface="標楷體" pitchFamily="34" charset="-122"/>
                <a:cs typeface="Times New Roman" pitchFamily="34" charset="-120"/>
              </a:rPr>
              <a:t>timeline</a:t>
            </a:r>
            <a:pPr algn="ctr" indent="0" marL="0">
              <a:lnSpc>
                <a:spcPct val="100000"/>
              </a:lnSpc>
              <a:buNone/>
            </a:pPr>
            <a:r>
              <a:rPr lang="en-US" sz="2000"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000" dirty="0">
                <a:solidFill>
                  <a:srgbClr val="65758B"/>
                </a:solidFill>
                <a:latin typeface="Times New Roman" pitchFamily="34" charset="0"/>
                <a:ea typeface="標楷體" pitchFamily="34" charset="-122"/>
                <a:cs typeface="Times New Roman" pitchFamily="34" charset="-120"/>
              </a:rPr>
              <a:t>crop</a:t>
            </a:r>
            <a:pPr algn="ctr" indent="0" marL="0">
              <a:lnSpc>
                <a:spcPct val="100000"/>
              </a:lnSpc>
              <a:buNone/>
            </a:pPr>
            <a:r>
              <a:rPr lang="en-US" sz="2000" dirty="0">
                <a:solidFill>
                  <a:srgbClr val="65758B"/>
                </a:solidFill>
                <a:latin typeface="Times New Roman" pitchFamily="34" charset="0"/>
                <a:ea typeface="標楷體" pitchFamily="34" charset="-122"/>
                <a:cs typeface="Times New Roman" pitchFamily="34" charset="-120"/>
              </a:rPr>
              <a:t> 待補；</a:t>
            </a:r>
            <a:pPr algn="ctr" indent="0" marL="0">
              <a:lnSpc>
                <a:spcPct val="100000"/>
              </a:lnSpc>
              <a:buNone/>
            </a:pPr>
            <a:r>
              <a:rPr lang="en-US" sz="2000" dirty="0">
                <a:solidFill>
                  <a:srgbClr val="65758B"/>
                </a:solidFill>
                <a:latin typeface="Times New Roman" pitchFamily="34" charset="0"/>
                <a:ea typeface="標楷體" pitchFamily="34" charset="-122"/>
                <a:cs typeface="Times New Roman" pitchFamily="34" charset="-120"/>
              </a:rPr>
              <a:t>transition</a:t>
            </a:r>
            <a:pPr algn="ctr" indent="0" marL="0">
              <a:lnSpc>
                <a:spcPct val="100000"/>
              </a:lnSpc>
              <a:buNone/>
            </a:pPr>
            <a:r>
              <a:rPr lang="en-US" sz="2000"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000" dirty="0">
                <a:solidFill>
                  <a:srgbClr val="65758B"/>
                </a:solidFill>
                <a:latin typeface="Times New Roman" pitchFamily="34" charset="0"/>
                <a:ea typeface="標楷體" pitchFamily="34" charset="-122"/>
                <a:cs typeface="Times New Roman" pitchFamily="34" charset="-120"/>
              </a:rPr>
              <a:t>strip</a:t>
            </a:r>
            <a:pPr algn="ctr" indent="0" marL="0">
              <a:lnSpc>
                <a:spcPct val="100000"/>
              </a:lnSpc>
              <a:buNone/>
            </a:pPr>
            <a:r>
              <a:rPr lang="en-US" sz="2000" dirty="0">
                <a:solidFill>
                  <a:srgbClr val="65758B"/>
                </a:solidFill>
                <a:latin typeface="Times New Roman" pitchFamily="34" charset="0"/>
                <a:ea typeface="標楷體" pitchFamily="34" charset="-122"/>
                <a:cs typeface="Times New Roman" pitchFamily="34" charset="-120"/>
              </a:rPr>
              <a:t> 只表達事件順序，不表達連續功率</a:t>
            </a:r>
            <a:endParaRPr lang="en-US" sz="2000" dirty="0"/>
          </a:p>
        </p:txBody>
      </p:sp>
      <p:sp>
        <p:nvSpPr>
          <p:cNvPr id="50" name="Text 3"/>
          <p:cNvSpPr/>
          <p:nvPr>
            <p:ph idx="105" type="title" hasCustomPrompt="1"/>
          </p:nvPr>
        </p:nvSpPr>
        <p:spPr>
          <a:xfrm>
            <a:off x="656591" y="187008"/>
            <a:ext cx="9462769" cy="480060"/>
          </a:xfrm>
          <a:prstGeom prst="rect">
            <a:avLst/>
          </a:prstGeom>
          <a:noFill/>
          <a:ln/>
        </p:spPr>
        <p:txBody>
          <a:bodyPr wrap="square" lIns="0" tIns="0" rIns="0" bIns="0" rtlCol="0" anchor="b"/>
          <a:lstStyle/>
          <a:p>
            <a:pPr algn="l" indent="0" marL="0">
              <a:buNone/>
            </a:pPr>
            <a:endParaRPr lang="en-US" sz="2800" dirty="0"/>
          </a:p>
        </p:txBody>
      </p:sp>
    </p:spTree>
  </p:cSld>
  <p:clrMapOvr>
    <a:masterClrMapping/>
  </p:clrMapOvr>
</p:sld>
</file>

<file path=ppt/slides/slide10.xml><?xml version="1.0" encoding="utf-8"?>
<p:sld xmlns:a="http://schemas.openxmlformats.org/drawingml/2006/main" xmlns:ns2="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56591" y="187008"/>
            <a:ext cx="9462769" cy="480060"/>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P090</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course</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ledger</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與 </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strategy</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gate</a:t>
            </a:r>
            <a:endParaRPr lang="en-US" sz="2800" dirty="0"/>
          </a:p>
        </p:txBody>
      </p:sp>
      <p:sp>
        <p:nvSpPr>
          <p:cNvPr id="3" name="Text 1"/>
          <p:cNvSpPr/>
          <p:nvPr/>
        </p:nvSpPr>
        <p:spPr>
          <a:xfrm>
            <a:off x="822960" y="932688"/>
            <a:ext cx="10561320" cy="438912"/>
          </a:xfrm>
          <a:prstGeom prst="rect">
            <a:avLst/>
          </a:prstGeom>
          <a:noFill/>
          <a:ln/>
        </p:spPr>
        <p:txBody>
          <a:bodyPr wrap="square" lIns="635" tIns="635" rIns="635" bIns="635" rtlCol="0" anchor="ctr">
            <a:normAutofit/>
          </a:bodyPr>
          <a:lstStyle/>
          <a:p>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execution</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ledger</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：目前選取是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display</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state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strategy</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verdict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由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gate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與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matched</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source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定義</a:t>
            </a:r>
            <a:endParaRPr lang="en-US" sz="2400" dirty="0"/>
          </a:p>
        </p:txBody>
      </p:sp>
      <p:pic>
        <p:nvPicPr>
          <p:cNvPr id="4" name="Image 0" descr="identifier-free execution ledger crop">    </p:cNvPr>
          <p:cNvPicPr>
            <a:picLocks noChangeAspect="1"/>
          </p:cNvPicPr>
          <p:nvPr/>
        </p:nvPicPr>
        <p:blipFill>
          <a:blip ns2:embed="rId1"/>
          <a:stretch>
            <a:fillRect/>
          </a:stretch>
        </p:blipFill>
        <p:spPr>
          <a:xfrm>
            <a:off x="822960" y="1353312"/>
            <a:ext cx="7388352" cy="603504"/>
          </a:xfrm>
          <a:prstGeom prst="rect">
            <a:avLst/>
          </a:prstGeom>
        </p:spPr>
      </p:pic>
      <p:sp>
        <p:nvSpPr>
          <p:cNvPr id="5" name="Shape 2"/>
          <p:cNvSpPr/>
          <p:nvPr/>
        </p:nvSpPr>
        <p:spPr>
          <a:xfrm>
            <a:off x="822960" y="1353312"/>
            <a:ext cx="7388352" cy="603504"/>
          </a:xfrm>
          <a:prstGeom prst="rect">
            <a:avLst/>
          </a:prstGeom>
          <a:solidFill>
            <a:srgbClr val="FFFFFF">
              <a:alpha val="0"/>
            </a:srgbClr>
          </a:solidFill>
          <a:ln w="12700">
            <a:solidFill>
              <a:srgbClr val="D7DEEA"/>
            </a:solidFill>
            <a:prstDash val="solid"/>
          </a:ln>
        </p:spPr>
      </p:sp>
      <p:sp>
        <p:nvSpPr>
          <p:cNvPr id="6" name="Shape 3"/>
          <p:cNvSpPr/>
          <p:nvPr/>
        </p:nvSpPr>
        <p:spPr>
          <a:xfrm>
            <a:off x="8485632" y="1426464"/>
            <a:ext cx="2724912" cy="420624"/>
          </a:xfrm>
          <a:prstGeom prst="roundRect">
            <a:avLst/>
          </a:prstGeom>
          <a:solidFill>
            <a:srgbClr val="E8F7F4"/>
          </a:solidFill>
          <a:ln w="15240">
            <a:solidFill>
              <a:srgbClr val="007374"/>
            </a:solidFill>
            <a:prstDash val="solid"/>
          </a:ln>
        </p:spPr>
      </p:sp>
      <p:sp>
        <p:nvSpPr>
          <p:cNvPr id="7" name="Text 4"/>
          <p:cNvSpPr/>
          <p:nvPr/>
        </p:nvSpPr>
        <p:spPr>
          <a:xfrm>
            <a:off x="8558784" y="1463040"/>
            <a:ext cx="2578608" cy="310896"/>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current</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ledger</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crop</a:t>
            </a:r>
            <a:endParaRPr lang="en-US" sz="1800" dirty="0"/>
          </a:p>
        </p:txBody>
      </p:sp>
      <p:sp>
        <p:nvSpPr>
          <p:cNvPr id="8" name="Shape 5"/>
          <p:cNvSpPr/>
          <p:nvPr/>
        </p:nvSpPr>
        <p:spPr>
          <a:xfrm>
            <a:off x="822960" y="2395728"/>
            <a:ext cx="3236976" cy="749808"/>
          </a:xfrm>
          <a:prstGeom prst="roundRect">
            <a:avLst/>
          </a:prstGeom>
          <a:solidFill>
            <a:srgbClr val="ECF1FE"/>
          </a:solidFill>
          <a:ln w="15240">
            <a:solidFill>
              <a:srgbClr val="4967C2"/>
            </a:solidFill>
            <a:prstDash val="solid"/>
          </a:ln>
        </p:spPr>
      </p:sp>
      <p:sp>
        <p:nvSpPr>
          <p:cNvPr id="9" name="Text 6"/>
          <p:cNvSpPr/>
          <p:nvPr/>
        </p:nvSpPr>
        <p:spPr>
          <a:xfrm>
            <a:off x="932688" y="2487168"/>
            <a:ext cx="3017520"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4967C2"/>
                </a:solidFill>
                <a:latin typeface="Times New Roman" pitchFamily="34" charset="0"/>
                <a:ea typeface="標楷體" pitchFamily="34" charset="-122"/>
                <a:cs typeface="Times New Roman" pitchFamily="34" charset="-120"/>
              </a:rPr>
              <a:t>實驗／案例 </a:t>
            </a:r>
            <a:pPr algn="ctr" indent="0" marL="0">
              <a:lnSpc>
                <a:spcPct val="100000"/>
              </a:lnSpc>
              <a:buNone/>
            </a:pPr>
            <a:r>
              <a:rPr lang="en-US" sz="1600" b="1" dirty="0">
                <a:solidFill>
                  <a:srgbClr val="4967C2"/>
                </a:solidFill>
                <a:latin typeface="Times New Roman" pitchFamily="34" charset="0"/>
                <a:ea typeface="標楷體" pitchFamily="34" charset="-122"/>
                <a:cs typeface="Times New Roman" pitchFamily="34" charset="-120"/>
              </a:rPr>
              <a:t>experiment</a:t>
            </a:r>
            <a:pPr algn="ctr" indent="0" marL="0">
              <a:lnSpc>
                <a:spcPct val="100000"/>
              </a:lnSpc>
              <a:buNone/>
            </a:pPr>
            <a:r>
              <a:rPr lang="en-US" sz="1600" b="1" dirty="0">
                <a:solidFill>
                  <a:srgbClr val="4967C2"/>
                </a:solidFill>
                <a:latin typeface="Times New Roman" pitchFamily="34" charset="0"/>
                <a:ea typeface="標楷體" pitchFamily="34" charset="-122"/>
                <a:cs typeface="Times New Roman" pitchFamily="34" charset="-120"/>
              </a:rPr>
              <a:t>／</a:t>
            </a:r>
            <a:pPr algn="ctr" indent="0" marL="0">
              <a:lnSpc>
                <a:spcPct val="100000"/>
              </a:lnSpc>
              <a:buNone/>
            </a:pPr>
            <a:r>
              <a:rPr lang="en-US" sz="1600" b="1" i="1" dirty="0">
                <a:solidFill>
                  <a:srgbClr val="4967C2"/>
                </a:solidFill>
                <a:latin typeface="Times New Roman" pitchFamily="34" charset="0"/>
                <a:ea typeface="標楷體" pitchFamily="34" charset="-122"/>
                <a:cs typeface="Times New Roman" pitchFamily="34" charset="-120"/>
              </a:rPr>
              <a:t>case</a:t>
            </a:r>
            <a:endParaRPr lang="en-US" sz="1600" dirty="0"/>
          </a:p>
        </p:txBody>
      </p:sp>
      <p:sp>
        <p:nvSpPr>
          <p:cNvPr id="10" name="Text 7"/>
          <p:cNvSpPr/>
          <p:nvPr/>
        </p:nvSpPr>
        <p:spPr>
          <a:xfrm>
            <a:off x="932688" y="2816352"/>
            <a:ext cx="3017520" cy="219456"/>
          </a:xfrm>
          <a:prstGeom prst="rect">
            <a:avLst/>
          </a:prstGeom>
          <a:noFill/>
          <a:ln/>
        </p:spPr>
        <p:txBody>
          <a:bodyPr wrap="square" lIns="635" tIns="635" rIns="635" bIns="635" rtlCol="0" anchor="ctr">
            <a:normAutofit/>
          </a:bodyPr>
          <a:lstStyle/>
          <a:p>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A</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baseline</a:t>
            </a:r>
            <a:endParaRPr lang="en-US" sz="1600" dirty="0"/>
          </a:p>
        </p:txBody>
      </p:sp>
      <p:sp>
        <p:nvSpPr>
          <p:cNvPr id="11" name="Shape 8"/>
          <p:cNvSpPr/>
          <p:nvPr/>
        </p:nvSpPr>
        <p:spPr>
          <a:xfrm>
            <a:off x="4315968" y="2395728"/>
            <a:ext cx="3236976" cy="749808"/>
          </a:xfrm>
          <a:prstGeom prst="roundRect">
            <a:avLst/>
          </a:prstGeom>
          <a:solidFill>
            <a:srgbClr val="FDF9E2"/>
          </a:solidFill>
          <a:ln w="15240">
            <a:solidFill>
              <a:srgbClr val="846826"/>
            </a:solidFill>
            <a:prstDash val="solid"/>
          </a:ln>
        </p:spPr>
      </p:sp>
      <p:sp>
        <p:nvSpPr>
          <p:cNvPr id="12" name="Text 9"/>
          <p:cNvSpPr/>
          <p:nvPr/>
        </p:nvSpPr>
        <p:spPr>
          <a:xfrm>
            <a:off x="4425696" y="2487168"/>
            <a:ext cx="3017520"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846826"/>
                </a:solidFill>
                <a:latin typeface="Times New Roman" pitchFamily="34" charset="0"/>
                <a:ea typeface="標楷體" pitchFamily="34" charset="-122"/>
                <a:cs typeface="Times New Roman" pitchFamily="34" charset="-120"/>
              </a:rPr>
              <a:t>目前顯示 </a:t>
            </a:r>
            <a:pPr algn="ctr" indent="0" marL="0">
              <a:lnSpc>
                <a:spcPct val="100000"/>
              </a:lnSpc>
              <a:buNone/>
            </a:pPr>
            <a:r>
              <a:rPr lang="en-US" sz="1600" b="1" dirty="0">
                <a:solidFill>
                  <a:srgbClr val="846826"/>
                </a:solidFill>
                <a:latin typeface="Times New Roman" pitchFamily="34" charset="0"/>
                <a:ea typeface="標楷體" pitchFamily="34" charset="-122"/>
                <a:cs typeface="Times New Roman" pitchFamily="34" charset="-120"/>
              </a:rPr>
              <a:t>display</a:t>
            </a:r>
            <a:endParaRPr lang="en-US" sz="1600" dirty="0"/>
          </a:p>
        </p:txBody>
      </p:sp>
      <p:sp>
        <p:nvSpPr>
          <p:cNvPr id="13" name="Text 10"/>
          <p:cNvSpPr/>
          <p:nvPr/>
        </p:nvSpPr>
        <p:spPr>
          <a:xfrm>
            <a:off x="4425696" y="2816352"/>
            <a:ext cx="3017520" cy="219456"/>
          </a:xfrm>
          <a:prstGeom prst="rect">
            <a:avLst/>
          </a:prstGeom>
          <a:noFill/>
          <a:ln/>
        </p:spPr>
        <p:txBody>
          <a:bodyPr wrap="square" lIns="635" tIns="635" rIns="635" bIns="635" rtlCol="0" anchor="ctr">
            <a:normAutofit/>
          </a:bodyPr>
          <a:lstStyle/>
          <a:p>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目前</a:t>
            </a:r>
            <a:endParaRPr lang="en-US" sz="1600" dirty="0"/>
          </a:p>
        </p:txBody>
      </p:sp>
      <p:sp>
        <p:nvSpPr>
          <p:cNvPr id="14" name="Shape 11"/>
          <p:cNvSpPr/>
          <p:nvPr/>
        </p:nvSpPr>
        <p:spPr>
          <a:xfrm>
            <a:off x="7808976" y="2395728"/>
            <a:ext cx="3236976" cy="749808"/>
          </a:xfrm>
          <a:prstGeom prst="roundRect">
            <a:avLst/>
          </a:prstGeom>
          <a:solidFill>
            <a:srgbClr val="F4EDF7"/>
          </a:solidFill>
          <a:ln w="15240">
            <a:solidFill>
              <a:srgbClr val="660066"/>
            </a:solidFill>
            <a:prstDash val="solid"/>
          </a:ln>
        </p:spPr>
      </p:sp>
      <p:sp>
        <p:nvSpPr>
          <p:cNvPr id="15" name="Text 12"/>
          <p:cNvSpPr/>
          <p:nvPr/>
        </p:nvSpPr>
        <p:spPr>
          <a:xfrm>
            <a:off x="7918704" y="2487168"/>
            <a:ext cx="3017520"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660066"/>
                </a:solidFill>
                <a:latin typeface="Times New Roman" pitchFamily="34" charset="0"/>
                <a:ea typeface="標楷體" pitchFamily="34" charset="-122"/>
                <a:cs typeface="Times New Roman" pitchFamily="34" charset="-120"/>
              </a:rPr>
              <a:t>角色 </a:t>
            </a:r>
            <a:pPr algn="ctr" indent="0" marL="0">
              <a:lnSpc>
                <a:spcPct val="100000"/>
              </a:lnSpc>
              <a:buNone/>
            </a:pPr>
            <a:r>
              <a:rPr lang="en-US" sz="1600" b="1" i="1" dirty="0">
                <a:solidFill>
                  <a:srgbClr val="660066"/>
                </a:solidFill>
                <a:latin typeface="Times New Roman" pitchFamily="34" charset="0"/>
                <a:ea typeface="標楷體" pitchFamily="34" charset="-122"/>
                <a:cs typeface="Times New Roman" pitchFamily="34" charset="-120"/>
              </a:rPr>
              <a:t>role</a:t>
            </a:r>
            <a:endParaRPr lang="en-US" sz="1600" dirty="0"/>
          </a:p>
        </p:txBody>
      </p:sp>
      <p:sp>
        <p:nvSpPr>
          <p:cNvPr id="16" name="Text 13"/>
          <p:cNvSpPr/>
          <p:nvPr/>
        </p:nvSpPr>
        <p:spPr>
          <a:xfrm>
            <a:off x="7918704" y="2816352"/>
            <a:ext cx="3017520" cy="219456"/>
          </a:xfrm>
          <a:prstGeom prst="rect">
            <a:avLst/>
          </a:prstGeom>
          <a:noFill/>
          <a:ln/>
        </p:spPr>
        <p:txBody>
          <a:bodyPr wrap="square" lIns="635" tIns="635" rIns="635" bIns="635" rtlCol="0" anchor="ctr">
            <a:normAutofit/>
          </a:bodyPr>
          <a:lstStyle/>
          <a:p>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基準</a:t>
            </a:r>
            <a:endParaRPr lang="en-US" sz="1600" dirty="0"/>
          </a:p>
        </p:txBody>
      </p:sp>
      <p:sp>
        <p:nvSpPr>
          <p:cNvPr id="17" name="Shape 14"/>
          <p:cNvSpPr/>
          <p:nvPr/>
        </p:nvSpPr>
        <p:spPr>
          <a:xfrm>
            <a:off x="822960" y="3328416"/>
            <a:ext cx="3236976" cy="749808"/>
          </a:xfrm>
          <a:prstGeom prst="roundRect">
            <a:avLst/>
          </a:prstGeom>
          <a:solidFill>
            <a:srgbClr val="FDEFEF"/>
          </a:solidFill>
          <a:ln w="15240">
            <a:solidFill>
              <a:srgbClr val="992A2A"/>
            </a:solidFill>
            <a:prstDash val="solid"/>
          </a:ln>
        </p:spPr>
      </p:sp>
      <p:sp>
        <p:nvSpPr>
          <p:cNvPr id="18" name="Text 15"/>
          <p:cNvSpPr/>
          <p:nvPr/>
        </p:nvSpPr>
        <p:spPr>
          <a:xfrm>
            <a:off x="932688" y="3419856"/>
            <a:ext cx="3017520"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992A2A"/>
                </a:solidFill>
                <a:latin typeface="Times New Roman" pitchFamily="34" charset="0"/>
                <a:ea typeface="標楷體" pitchFamily="34" charset="-122"/>
                <a:cs typeface="Times New Roman" pitchFamily="34" charset="-120"/>
              </a:rPr>
              <a:t>服務 </a:t>
            </a:r>
            <a:pPr algn="ctr" indent="0" marL="0">
              <a:lnSpc>
                <a:spcPct val="100000"/>
              </a:lnSpc>
              <a:buNone/>
            </a:pPr>
            <a:r>
              <a:rPr lang="en-US" sz="1600" b="1" i="1" dirty="0">
                <a:solidFill>
                  <a:srgbClr val="992A2A"/>
                </a:solidFill>
                <a:latin typeface="Times New Roman" pitchFamily="34" charset="0"/>
                <a:ea typeface="標楷體" pitchFamily="34" charset="-122"/>
                <a:cs typeface="Times New Roman" pitchFamily="34" charset="-120"/>
              </a:rPr>
              <a:t>service</a:t>
            </a:r>
            <a:endParaRPr lang="en-US" sz="1600" dirty="0"/>
          </a:p>
        </p:txBody>
      </p:sp>
      <p:sp>
        <p:nvSpPr>
          <p:cNvPr id="19" name="Text 16"/>
          <p:cNvSpPr/>
          <p:nvPr/>
        </p:nvSpPr>
        <p:spPr>
          <a:xfrm>
            <a:off x="932688" y="3749040"/>
            <a:ext cx="3017520" cy="219456"/>
          </a:xfrm>
          <a:prstGeom prst="rect">
            <a:avLst/>
          </a:prstGeom>
          <a:noFill/>
          <a:ln/>
        </p:spPr>
        <p:txBody>
          <a:bodyPr wrap="square" lIns="635" tIns="635" rIns="635" bIns="635" rtlCol="0" anchor="ctr">
            <a:normAutofit/>
          </a:bodyPr>
          <a:lstStyle/>
          <a:p>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FAIL</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gate</a:t>
            </a:r>
            <a:endParaRPr lang="en-US" sz="1600" dirty="0"/>
          </a:p>
        </p:txBody>
      </p:sp>
      <p:sp>
        <p:nvSpPr>
          <p:cNvPr id="20" name="Shape 17"/>
          <p:cNvSpPr/>
          <p:nvPr/>
        </p:nvSpPr>
        <p:spPr>
          <a:xfrm>
            <a:off x="4315968" y="3328416"/>
            <a:ext cx="3236976" cy="749808"/>
          </a:xfrm>
          <a:prstGeom prst="roundRect">
            <a:avLst/>
          </a:prstGeom>
          <a:solidFill>
            <a:srgbClr val="E8F7F4"/>
          </a:solidFill>
          <a:ln w="15240">
            <a:solidFill>
              <a:srgbClr val="007374"/>
            </a:solidFill>
            <a:prstDash val="solid"/>
          </a:ln>
        </p:spPr>
      </p:sp>
      <p:sp>
        <p:nvSpPr>
          <p:cNvPr id="21" name="Text 18"/>
          <p:cNvSpPr/>
          <p:nvPr/>
        </p:nvSpPr>
        <p:spPr>
          <a:xfrm>
            <a:off x="4425696" y="3419856"/>
            <a:ext cx="3017520"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007374"/>
                </a:solidFill>
                <a:latin typeface="Times New Roman" pitchFamily="34" charset="0"/>
                <a:ea typeface="標楷體" pitchFamily="34" charset="-122"/>
                <a:cs typeface="Times New Roman" pitchFamily="34" charset="-120"/>
              </a:rPr>
              <a:t>端點能量 </a:t>
            </a:r>
            <a:pPr algn="ctr" indent="0" marL="0">
              <a:lnSpc>
                <a:spcPct val="100000"/>
              </a:lnSpc>
              <a:buNone/>
            </a:pPr>
            <a:r>
              <a:rPr lang="en-US" sz="1600" b="1" i="1" dirty="0">
                <a:solidFill>
                  <a:srgbClr val="007374"/>
                </a:solidFill>
                <a:latin typeface="Times New Roman" pitchFamily="34" charset="0"/>
                <a:ea typeface="標楷體" pitchFamily="34" charset="-122"/>
                <a:cs typeface="Times New Roman" pitchFamily="34" charset="-120"/>
              </a:rPr>
              <a:t>endpoint</a:t>
            </a:r>
            <a:pPr algn="ctr" indent="0" marL="0">
              <a:lnSpc>
                <a:spcPct val="100000"/>
              </a:lnSpc>
              <a:buNone/>
            </a:pPr>
            <a:r>
              <a:rPr lang="en-US" sz="16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600" b="1" i="1" dirty="0">
                <a:solidFill>
                  <a:srgbClr val="007374"/>
                </a:solidFill>
                <a:latin typeface="Times New Roman" pitchFamily="34" charset="0"/>
                <a:ea typeface="標楷體" pitchFamily="34" charset="-122"/>
                <a:cs typeface="Times New Roman" pitchFamily="34" charset="-120"/>
              </a:rPr>
              <a:t>J</a:t>
            </a:r>
            <a:endParaRPr lang="en-US" sz="1600" dirty="0"/>
          </a:p>
        </p:txBody>
      </p:sp>
      <p:sp>
        <p:nvSpPr>
          <p:cNvPr id="22" name="Text 19"/>
          <p:cNvSpPr/>
          <p:nvPr/>
        </p:nvSpPr>
        <p:spPr>
          <a:xfrm>
            <a:off x="4425696" y="3749040"/>
            <a:ext cx="3017520" cy="219456"/>
          </a:xfrm>
          <a:prstGeom prst="rect">
            <a:avLst/>
          </a:prstGeom>
          <a:noFill/>
          <a:ln/>
        </p:spPr>
        <p:txBody>
          <a:bodyPr wrap="square" lIns="635" tIns="635" rIns="635" bIns="635" rtlCol="0" anchor="ctr">
            <a:normAutofit/>
          </a:bodyPr>
          <a:lstStyle/>
          <a:p>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6.92</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i="1" dirty="0">
                <a:solidFill>
                  <a:srgbClr val="25324A"/>
                </a:solidFill>
                <a:latin typeface="Times New Roman" pitchFamily="34" charset="0"/>
                <a:ea typeface="標楷體" pitchFamily="34" charset="-122"/>
                <a:cs typeface="Times New Roman" pitchFamily="34" charset="-120"/>
              </a:rPr>
              <a:t>J</a:t>
            </a:r>
            <a:endParaRPr lang="en-US" sz="1600" dirty="0"/>
          </a:p>
        </p:txBody>
      </p:sp>
      <p:sp>
        <p:nvSpPr>
          <p:cNvPr id="23" name="Shape 20"/>
          <p:cNvSpPr/>
          <p:nvPr/>
        </p:nvSpPr>
        <p:spPr>
          <a:xfrm>
            <a:off x="7808976" y="3328416"/>
            <a:ext cx="3236976" cy="749808"/>
          </a:xfrm>
          <a:prstGeom prst="roundRect">
            <a:avLst/>
          </a:prstGeom>
          <a:solidFill>
            <a:srgbClr val="F2F3F8"/>
          </a:solidFill>
          <a:ln w="15240">
            <a:solidFill>
              <a:srgbClr val="25356B"/>
            </a:solidFill>
            <a:prstDash val="solid"/>
          </a:ln>
        </p:spPr>
      </p:sp>
      <p:sp>
        <p:nvSpPr>
          <p:cNvPr id="24" name="Text 21"/>
          <p:cNvSpPr/>
          <p:nvPr/>
        </p:nvSpPr>
        <p:spPr>
          <a:xfrm>
            <a:off x="7918704" y="3419856"/>
            <a:ext cx="3017520"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25356B"/>
                </a:solidFill>
                <a:latin typeface="Times New Roman" pitchFamily="34" charset="0"/>
                <a:ea typeface="標楷體" pitchFamily="34" charset="-122"/>
                <a:cs typeface="Times New Roman" pitchFamily="34" charset="-120"/>
              </a:rPr>
              <a:t>來源 </a:t>
            </a:r>
            <a:pPr algn="ctr" indent="0" marL="0">
              <a:lnSpc>
                <a:spcPct val="100000"/>
              </a:lnSpc>
              <a:buNone/>
            </a:pPr>
            <a:r>
              <a:rPr lang="en-US" sz="1600" b="1" i="1" dirty="0">
                <a:solidFill>
                  <a:srgbClr val="25356B"/>
                </a:solidFill>
                <a:latin typeface="Times New Roman" pitchFamily="34" charset="0"/>
                <a:ea typeface="標楷體" pitchFamily="34" charset="-122"/>
                <a:cs typeface="Times New Roman" pitchFamily="34" charset="-120"/>
              </a:rPr>
              <a:t>source</a:t>
            </a:r>
            <a:endParaRPr lang="en-US" sz="1600" dirty="0"/>
          </a:p>
        </p:txBody>
      </p:sp>
      <p:sp>
        <p:nvSpPr>
          <p:cNvPr id="25" name="Text 22"/>
          <p:cNvSpPr/>
          <p:nvPr/>
        </p:nvSpPr>
        <p:spPr>
          <a:xfrm>
            <a:off x="7918704" y="3749040"/>
            <a:ext cx="3017520" cy="219456"/>
          </a:xfrm>
          <a:prstGeom prst="rect">
            <a:avLst/>
          </a:prstGeom>
          <a:noFill/>
          <a:ln/>
        </p:spPr>
        <p:txBody>
          <a:bodyPr wrap="square" lIns="635" tIns="635" rIns="635" bIns="635" rtlCol="0" anchor="ctr">
            <a:normAutofit/>
          </a:bodyPr>
          <a:lstStyle/>
          <a:p>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同情境備用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same-scenario</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fallback</a:t>
            </a:r>
            <a:endParaRPr lang="en-US" sz="1600" dirty="0"/>
          </a:p>
        </p:txBody>
      </p:sp>
      <p:sp>
        <p:nvSpPr>
          <p:cNvPr id="26" name="Shape 23"/>
          <p:cNvSpPr/>
          <p:nvPr/>
        </p:nvSpPr>
        <p:spPr>
          <a:xfrm>
            <a:off x="822960" y="4498848"/>
            <a:ext cx="10369296" cy="1024128"/>
          </a:xfrm>
          <a:prstGeom prst="roundRect">
            <a:avLst/>
          </a:prstGeom>
          <a:solidFill>
            <a:srgbClr val="FDF9E2"/>
          </a:solidFill>
          <a:ln w="15240">
            <a:solidFill>
              <a:srgbClr val="846826"/>
            </a:solidFill>
            <a:prstDash val="solid"/>
          </a:ln>
        </p:spPr>
      </p:sp>
      <p:sp>
        <p:nvSpPr>
          <p:cNvPr id="27" name="Text 24"/>
          <p:cNvSpPr/>
          <p:nvPr/>
        </p:nvSpPr>
        <p:spPr>
          <a:xfrm>
            <a:off x="969264" y="4608576"/>
            <a:ext cx="10076688"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公平比較</a:t>
            </a:r>
            <a:endParaRPr lang="en-US" sz="1800" dirty="0"/>
          </a:p>
        </p:txBody>
      </p:sp>
      <p:sp>
        <p:nvSpPr>
          <p:cNvPr id="28" name="Text 25"/>
          <p:cNvSpPr/>
          <p:nvPr/>
        </p:nvSpPr>
        <p:spPr>
          <a:xfrm>
            <a:off x="969264" y="4992624"/>
            <a:ext cx="10076688" cy="420624"/>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核對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experiment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case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role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service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source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與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run</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identity</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；目前列的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selected</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狀態不直接定義最佳策略。</a:t>
            </a:r>
            <a:endParaRPr lang="en-US" sz="2400" dirty="0"/>
          </a:p>
        </p:txBody>
      </p:sp>
      <p:sp>
        <p:nvSpPr>
          <p:cNvPr id="30" name="Text 3"/>
          <p:cNvSpPr/>
          <p:nvPr>
            <p:ph idx="105" type="title" hasCustomPrompt="1"/>
          </p:nvPr>
        </p:nvSpPr>
        <p:spPr>
          <a:xfrm>
            <a:off x="656591" y="187008"/>
            <a:ext cx="9462769" cy="480060"/>
          </a:xfrm>
          <a:prstGeom prst="rect">
            <a:avLst/>
          </a:prstGeom>
          <a:noFill/>
          <a:ln/>
        </p:spPr>
        <p:txBody>
          <a:bodyPr wrap="square" lIns="0" tIns="0" rIns="0" bIns="0" rtlCol="0" anchor="b"/>
          <a:lstStyle/>
          <a:p>
            <a:pPr algn="l" indent="0" marL="0">
              <a:buNone/>
            </a:pPr>
            <a:endParaRPr lang="en-US" sz="2800" dirty="0"/>
          </a:p>
        </p:txBody>
      </p:sp>
    </p:spTree>
  </p:cSld>
  <p:clrMapOvr>
    <a:masterClrMapping/>
  </p:clrMapOvr>
</p:sld>
</file>

<file path=ppt/slides/slide11.xml><?xml version="1.0" encoding="utf-8"?>
<p:sld xmlns:a="http://schemas.openxmlformats.org/drawingml/2006/main" xmlns:ns2="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56591" y="187008"/>
            <a:ext cx="9462769" cy="480060"/>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P091</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course</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i="1" dirty="0">
                <a:solidFill>
                  <a:srgbClr val="35377F"/>
                </a:solidFill>
                <a:latin typeface="Times New Roman" pitchFamily="34" charset="0"/>
                <a:ea typeface="標楷體" pitchFamily="34" charset="-122"/>
                <a:cs typeface="Times New Roman" pitchFamily="34" charset="-120"/>
              </a:rPr>
              <a:t>provider</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i="1" dirty="0">
                <a:solidFill>
                  <a:srgbClr val="35377F"/>
                </a:solidFill>
                <a:latin typeface="Times New Roman" pitchFamily="34" charset="0"/>
                <a:ea typeface="標楷體" pitchFamily="34" charset="-122"/>
                <a:cs typeface="Times New Roman" pitchFamily="34" charset="-120"/>
              </a:rPr>
              <a:t>endpoint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證據邊界</a:t>
            </a:r>
            <a:endParaRPr lang="en-US" sz="2800" dirty="0"/>
          </a:p>
        </p:txBody>
      </p:sp>
      <p:sp>
        <p:nvSpPr>
          <p:cNvPr id="3" name="Text 1"/>
          <p:cNvSpPr/>
          <p:nvPr/>
        </p:nvSpPr>
        <p:spPr>
          <a:xfrm>
            <a:off x="822960" y="932688"/>
            <a:ext cx="10561320" cy="438912"/>
          </a:xfrm>
          <a:prstGeom prst="rect">
            <a:avLst/>
          </a:prstGeom>
          <a:noFill/>
          <a:ln/>
        </p:spPr>
        <p:txBody>
          <a:bodyPr wrap="square" lIns="635" tIns="635" rIns="635" bIns="635" rtlCol="0" anchor="ctr">
            <a:normAutofit/>
          </a:bodyPr>
          <a:lstStyle/>
          <a:p>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provider</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說明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opportunity</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endpoint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result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說明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imported</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artifact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；兩層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evidence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各自保留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identity</a:t>
            </a:r>
            <a:endParaRPr lang="en-US" sz="2400" dirty="0"/>
          </a:p>
        </p:txBody>
      </p:sp>
      <p:sp>
        <p:nvSpPr>
          <p:cNvPr id="4" name="Shape 2"/>
          <p:cNvSpPr/>
          <p:nvPr/>
        </p:nvSpPr>
        <p:spPr>
          <a:xfrm>
            <a:off x="822960" y="1389888"/>
            <a:ext cx="4956048" cy="2048256"/>
          </a:xfrm>
          <a:prstGeom prst="rect">
            <a:avLst/>
          </a:prstGeom>
          <a:solidFill>
            <a:srgbClr val="F7F8FC"/>
          </a:solidFill>
          <a:ln w="15240">
            <a:solidFill>
              <a:srgbClr val="D7DEEA"/>
            </a:solidFill>
            <a:prstDash val="solid"/>
          </a:ln>
        </p:spPr>
      </p:sp>
      <p:sp>
        <p:nvSpPr>
          <p:cNvPr id="5" name="Text 3"/>
          <p:cNvSpPr/>
          <p:nvPr/>
        </p:nvSpPr>
        <p:spPr>
          <a:xfrm>
            <a:off x="969264" y="1499616"/>
            <a:ext cx="4663440" cy="1828800"/>
          </a:xfrm>
          <a:prstGeom prst="rect">
            <a:avLst/>
          </a:prstGeom>
          <a:noFill/>
          <a:ln/>
        </p:spPr>
        <p:txBody>
          <a:bodyPr wrap="square" lIns="635" tIns="635" rIns="635" bIns="635" rtlCol="0" anchor="ctr">
            <a:normAutofit/>
          </a:bodyPr>
          <a:lstStyle/>
          <a:p>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待補：</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current</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i="1" dirty="0">
                <a:solidFill>
                  <a:srgbClr val="65758B"/>
                </a:solidFill>
                <a:latin typeface="Times New Roman" pitchFamily="34" charset="0"/>
                <a:ea typeface="標楷體" pitchFamily="34" charset="-122"/>
                <a:cs typeface="Times New Roman" pitchFamily="34" charset="-120"/>
              </a:rPr>
              <a:t>provider</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context</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crop</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LEO</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i="1" dirty="0">
                <a:solidFill>
                  <a:srgbClr val="65758B"/>
                </a:solidFill>
                <a:latin typeface="Times New Roman" pitchFamily="34" charset="0"/>
                <a:ea typeface="標楷體" pitchFamily="34" charset="-122"/>
                <a:cs typeface="Times New Roman" pitchFamily="34" charset="-120"/>
              </a:rPr>
              <a:t>scenario</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TLE</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a:t>
            </a:r>
            <a:pPr algn="ctr" indent="0" marL="0">
              <a:lnSpc>
                <a:spcPct val="100000"/>
              </a:lnSpc>
              <a:buNone/>
            </a:pPr>
            <a:r>
              <a:rPr lang="en-US" sz="2400" b="1" i="1" dirty="0">
                <a:solidFill>
                  <a:srgbClr val="65758B"/>
                </a:solidFill>
                <a:latin typeface="Times New Roman" pitchFamily="34" charset="0"/>
                <a:ea typeface="標楷體" pitchFamily="34" charset="-122"/>
                <a:cs typeface="Times New Roman" pitchFamily="34" charset="-120"/>
              </a:rPr>
              <a:t>contact</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cell</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frequency</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dB</a:t>
            </a:r>
            <a:endParaRPr lang="en-US" sz="2400" dirty="0"/>
          </a:p>
        </p:txBody>
      </p:sp>
      <p:sp>
        <p:nvSpPr>
          <p:cNvPr id="6" name="Shape 4"/>
          <p:cNvSpPr/>
          <p:nvPr/>
        </p:nvSpPr>
        <p:spPr>
          <a:xfrm>
            <a:off x="822960" y="3675888"/>
            <a:ext cx="4956048" cy="1152144"/>
          </a:xfrm>
          <a:prstGeom prst="roundRect">
            <a:avLst/>
          </a:prstGeom>
          <a:solidFill>
            <a:srgbClr val="ECF1FE"/>
          </a:solidFill>
          <a:ln w="15240">
            <a:solidFill>
              <a:srgbClr val="4967C2"/>
            </a:solidFill>
            <a:prstDash val="solid"/>
          </a:ln>
        </p:spPr>
      </p:sp>
      <p:sp>
        <p:nvSpPr>
          <p:cNvPr id="7" name="Text 5"/>
          <p:cNvSpPr/>
          <p:nvPr/>
        </p:nvSpPr>
        <p:spPr>
          <a:xfrm>
            <a:off x="969264" y="3785616"/>
            <a:ext cx="4663440"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i="1" dirty="0">
                <a:solidFill>
                  <a:srgbClr val="4967C2"/>
                </a:solidFill>
                <a:latin typeface="Times New Roman" pitchFamily="34" charset="0"/>
                <a:ea typeface="標楷體" pitchFamily="34" charset="-122"/>
                <a:cs typeface="Times New Roman" pitchFamily="34" charset="-120"/>
              </a:rPr>
              <a:t>provider</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 層</a:t>
            </a:r>
            <a:endParaRPr lang="en-US" sz="1800" dirty="0"/>
          </a:p>
        </p:txBody>
      </p:sp>
      <p:sp>
        <p:nvSpPr>
          <p:cNvPr id="8" name="Text 6"/>
          <p:cNvSpPr/>
          <p:nvPr/>
        </p:nvSpPr>
        <p:spPr>
          <a:xfrm>
            <a:off x="969264" y="4206240"/>
            <a:ext cx="4663440" cy="512064"/>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來源：</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LEO</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scenario</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context</a:t>
            </a:r>
            <a:pPr algn="ctr" indent="0" marL="0">
              <a:lnSpc>
                <a:spcPct val="100000"/>
              </a:lnSpc>
              <a:buNone/>
            </a:pP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作用：描述 </a:t>
            </a:r>
            <a:endParaRPr lang="en-US" sz="2400" dirty="0"/>
          </a:p>
          <a:p>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service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opportunity</a:t>
            </a:r>
            <a:endParaRPr lang="en-US" sz="2400" dirty="0"/>
          </a:p>
        </p:txBody>
      </p:sp>
      <p:pic>
        <p:nvPicPr>
          <p:cNvPr id="9" name="Image 0" descr="identifier-free endpoint replay crop">    </p:cNvPr>
          <p:cNvPicPr>
            <a:picLocks noChangeAspect="1"/>
          </p:cNvPicPr>
          <p:nvPr/>
        </p:nvPicPr>
        <p:blipFill>
          <a:blip ns2:embed="rId1"/>
          <a:stretch>
            <a:fillRect/>
          </a:stretch>
        </p:blipFill>
        <p:spPr>
          <a:xfrm>
            <a:off x="6126480" y="1389888"/>
            <a:ext cx="5065776" cy="1115568"/>
          </a:xfrm>
          <a:prstGeom prst="rect">
            <a:avLst/>
          </a:prstGeom>
        </p:spPr>
      </p:pic>
      <p:sp>
        <p:nvSpPr>
          <p:cNvPr id="10" name="Shape 7"/>
          <p:cNvSpPr/>
          <p:nvPr/>
        </p:nvSpPr>
        <p:spPr>
          <a:xfrm>
            <a:off x="6126480" y="1389888"/>
            <a:ext cx="5065776" cy="1115568"/>
          </a:xfrm>
          <a:prstGeom prst="rect">
            <a:avLst/>
          </a:prstGeom>
          <a:solidFill>
            <a:srgbClr val="FFFFFF">
              <a:alpha val="0"/>
            </a:srgbClr>
          </a:solidFill>
          <a:ln w="12700">
            <a:solidFill>
              <a:srgbClr val="D7DEEA"/>
            </a:solidFill>
            <a:prstDash val="solid"/>
          </a:ln>
        </p:spPr>
      </p:sp>
      <p:sp>
        <p:nvSpPr>
          <p:cNvPr id="11" name="Shape 8"/>
          <p:cNvSpPr/>
          <p:nvPr/>
        </p:nvSpPr>
        <p:spPr>
          <a:xfrm>
            <a:off x="7406640" y="2633472"/>
            <a:ext cx="2487168" cy="420624"/>
          </a:xfrm>
          <a:prstGeom prst="roundRect">
            <a:avLst/>
          </a:prstGeom>
          <a:solidFill>
            <a:srgbClr val="E8F7F4"/>
          </a:solidFill>
          <a:ln w="15240">
            <a:solidFill>
              <a:srgbClr val="007374"/>
            </a:solidFill>
            <a:prstDash val="solid"/>
          </a:ln>
        </p:spPr>
      </p:sp>
      <p:sp>
        <p:nvSpPr>
          <p:cNvPr id="12" name="Text 9"/>
          <p:cNvSpPr/>
          <p:nvPr/>
        </p:nvSpPr>
        <p:spPr>
          <a:xfrm>
            <a:off x="7479792" y="2670048"/>
            <a:ext cx="2340864" cy="310896"/>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current</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i="1" dirty="0">
                <a:solidFill>
                  <a:srgbClr val="007374"/>
                </a:solidFill>
                <a:latin typeface="Times New Roman" pitchFamily="34" charset="0"/>
                <a:ea typeface="標楷體" pitchFamily="34" charset="-122"/>
                <a:cs typeface="Times New Roman" pitchFamily="34" charset="-120"/>
              </a:rPr>
              <a:t>endpoint</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crop</a:t>
            </a:r>
            <a:endParaRPr lang="en-US" sz="1800" dirty="0"/>
          </a:p>
        </p:txBody>
      </p:sp>
      <p:sp>
        <p:nvSpPr>
          <p:cNvPr id="13" name="Shape 10"/>
          <p:cNvSpPr/>
          <p:nvPr/>
        </p:nvSpPr>
        <p:spPr>
          <a:xfrm>
            <a:off x="6126480" y="3273552"/>
            <a:ext cx="5065776" cy="1554480"/>
          </a:xfrm>
          <a:prstGeom prst="roundRect">
            <a:avLst/>
          </a:prstGeom>
          <a:solidFill>
            <a:srgbClr val="E8F7F4"/>
          </a:solidFill>
          <a:ln w="15240">
            <a:solidFill>
              <a:srgbClr val="007374"/>
            </a:solidFill>
            <a:prstDash val="solid"/>
          </a:ln>
        </p:spPr>
      </p:sp>
      <p:sp>
        <p:nvSpPr>
          <p:cNvPr id="14" name="Text 11"/>
          <p:cNvSpPr/>
          <p:nvPr/>
        </p:nvSpPr>
        <p:spPr>
          <a:xfrm>
            <a:off x="6272784" y="3383280"/>
            <a:ext cx="4773168"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i="1" dirty="0">
                <a:solidFill>
                  <a:srgbClr val="007374"/>
                </a:solidFill>
                <a:latin typeface="Times New Roman" pitchFamily="34" charset="0"/>
                <a:ea typeface="標楷體" pitchFamily="34" charset="-122"/>
                <a:cs typeface="Times New Roman" pitchFamily="34" charset="-120"/>
              </a:rPr>
              <a:t>endpoint</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層</a:t>
            </a:r>
            <a:endParaRPr lang="en-US" sz="1800" dirty="0"/>
          </a:p>
        </p:txBody>
      </p:sp>
      <p:sp>
        <p:nvSpPr>
          <p:cNvPr id="15" name="Text 12"/>
          <p:cNvSpPr/>
          <p:nvPr/>
        </p:nvSpPr>
        <p:spPr>
          <a:xfrm>
            <a:off x="6272784" y="3822192"/>
            <a:ext cx="4773168" cy="896112"/>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來源：</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result.json</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 </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endpoint-replay.json</a:t>
            </a:r>
            <a:pPr algn="ctr" indent="0" marL="0">
              <a:lnSpc>
                <a:spcPct val="100000"/>
              </a:lnSpc>
              <a:buNone/>
            </a:pP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作用：</a:t>
            </a: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summary</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replay</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ledger</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endpoint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scope</a:t>
            </a:r>
            <a:endParaRPr lang="en-US" sz="2400" dirty="0"/>
          </a:p>
        </p:txBody>
      </p:sp>
      <p:sp>
        <p:nvSpPr>
          <p:cNvPr id="16" name="Shape 13"/>
          <p:cNvSpPr/>
          <p:nvPr/>
        </p:nvSpPr>
        <p:spPr>
          <a:xfrm>
            <a:off x="1133856" y="4919472"/>
            <a:ext cx="9674352" cy="841248"/>
          </a:xfrm>
          <a:prstGeom prst="roundRect">
            <a:avLst/>
          </a:prstGeom>
          <a:solidFill>
            <a:srgbClr val="FDEFEF"/>
          </a:solidFill>
          <a:ln w="15240">
            <a:solidFill>
              <a:srgbClr val="992A2A"/>
            </a:solidFill>
            <a:prstDash val="solid"/>
          </a:ln>
        </p:spPr>
      </p:sp>
      <p:sp>
        <p:nvSpPr>
          <p:cNvPr id="17" name="Text 14"/>
          <p:cNvSpPr/>
          <p:nvPr/>
        </p:nvSpPr>
        <p:spPr>
          <a:xfrm>
            <a:off x="1280160" y="5029200"/>
            <a:ext cx="9381744"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證據邊界 </a:t>
            </a:r>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boundary</a:t>
            </a:r>
            <a:endParaRPr lang="en-US" sz="1800" dirty="0"/>
          </a:p>
        </p:txBody>
      </p:sp>
      <p:sp>
        <p:nvSpPr>
          <p:cNvPr id="18" name="Text 15"/>
          <p:cNvSpPr/>
          <p:nvPr/>
        </p:nvSpPr>
        <p:spPr>
          <a:xfrm>
            <a:off x="1280160" y="5376672"/>
            <a:ext cx="9381744" cy="274320"/>
          </a:xfrm>
          <a:prstGeom prst="rect">
            <a:avLst/>
          </a:prstGeom>
          <a:noFill/>
          <a:ln/>
        </p:spPr>
        <p:txBody>
          <a:bodyPr wrap="square" lIns="635" tIns="635" rIns="635" bIns="635" rtlCol="0" anchor="t">
            <a:normAutofit/>
          </a:bodyPr>
          <a:lstStyle/>
          <a:p>
            <a:pPr algn="ctr" indent="0" marL="0">
              <a:lnSpc>
                <a:spcPct val="100000"/>
              </a:lnSpc>
              <a:buNone/>
            </a:pPr>
            <a:r>
              <a:rPr lang="en-US" sz="1800" i="1" dirty="0">
                <a:solidFill>
                  <a:srgbClr val="25324A"/>
                </a:solidFill>
                <a:latin typeface="Times New Roman" pitchFamily="34" charset="0"/>
                <a:ea typeface="標楷體" pitchFamily="34" charset="-122"/>
                <a:cs typeface="Times New Roman" pitchFamily="34" charset="-120"/>
              </a:rPr>
              <a:t>provider</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800" i="1" dirty="0">
                <a:solidFill>
                  <a:srgbClr val="25324A"/>
                </a:solidFill>
                <a:latin typeface="Times New Roman" pitchFamily="34" charset="0"/>
                <a:ea typeface="標楷體" pitchFamily="34" charset="-122"/>
                <a:cs typeface="Times New Roman" pitchFamily="34" charset="-120"/>
              </a:rPr>
              <a:t>frame</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與 </a:t>
            </a:r>
            <a:pPr algn="ctr" indent="0" marL="0">
              <a:lnSpc>
                <a:spcPct val="100000"/>
              </a:lnSpc>
              <a:buNone/>
            </a:pPr>
            <a:r>
              <a:rPr lang="en-US" sz="1800" i="1" dirty="0">
                <a:solidFill>
                  <a:srgbClr val="25324A"/>
                </a:solidFill>
                <a:latin typeface="Times New Roman" pitchFamily="34" charset="0"/>
                <a:ea typeface="標楷體" pitchFamily="34" charset="-122"/>
                <a:cs typeface="Times New Roman" pitchFamily="34" charset="-120"/>
              </a:rPr>
              <a:t>endpoint</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800" i="1" dirty="0">
                <a:solidFill>
                  <a:srgbClr val="25324A"/>
                </a:solidFill>
                <a:latin typeface="Times New Roman" pitchFamily="34" charset="0"/>
                <a:ea typeface="標楷體" pitchFamily="34" charset="-122"/>
                <a:cs typeface="Times New Roman" pitchFamily="34" charset="-120"/>
              </a:rPr>
              <a:t>frame</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各自核對；</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system</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canonical</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energy</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claim</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待補。</a:t>
            </a:r>
            <a:endParaRPr lang="en-US" sz="1800" dirty="0"/>
          </a:p>
        </p:txBody>
      </p:sp>
      <p:sp>
        <p:nvSpPr>
          <p:cNvPr id="20" name="Text 3"/>
          <p:cNvSpPr/>
          <p:nvPr>
            <p:ph idx="105" type="title" hasCustomPrompt="1"/>
          </p:nvPr>
        </p:nvSpPr>
        <p:spPr>
          <a:xfrm>
            <a:off x="656591" y="187008"/>
            <a:ext cx="9462769" cy="480060"/>
          </a:xfrm>
          <a:prstGeom prst="rect">
            <a:avLst/>
          </a:prstGeom>
          <a:noFill/>
          <a:ln/>
        </p:spPr>
        <p:txBody>
          <a:bodyPr wrap="square" lIns="0" tIns="0" rIns="0" bIns="0" rtlCol="0" anchor="b"/>
          <a:lstStyle/>
          <a:p>
            <a:pPr algn="l" indent="0" marL="0">
              <a:buNone/>
            </a:pPr>
            <a:endParaRPr lang="en-US" sz="2800" dirty="0"/>
          </a:p>
        </p:txBody>
      </p:sp>
    </p:spTree>
  </p:cSld>
  <p:clrMapOvr>
    <a:masterClrMapping/>
  </p:clrMapOvr>
</p:sld>
</file>

<file path=ppt/slides/slide12.xml><?xml version="1.0" encoding="utf-8"?>
<p:sld xmlns:a="http://schemas.openxmlformats.org/drawingml/2006/main"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56591" y="187008"/>
            <a:ext cx="9462769" cy="480060"/>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P092</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course</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i="1" dirty="0">
                <a:solidFill>
                  <a:srgbClr val="35377F"/>
                </a:solidFill>
                <a:latin typeface="Times New Roman" pitchFamily="34" charset="0"/>
                <a:ea typeface="標楷體" pitchFamily="34" charset="-122"/>
                <a:cs typeface="Times New Roman" pitchFamily="34" charset="-120"/>
              </a:rPr>
              <a:t>Workbook</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controls</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的保存與重開</a:t>
            </a:r>
            <a:endParaRPr lang="en-US" sz="2800" dirty="0"/>
          </a:p>
        </p:txBody>
      </p:sp>
      <p:sp>
        <p:nvSpPr>
          <p:cNvPr id="3" name="Text 1"/>
          <p:cNvSpPr/>
          <p:nvPr/>
        </p:nvSpPr>
        <p:spPr>
          <a:xfrm>
            <a:off x="822960" y="932688"/>
            <a:ext cx="10561320" cy="438912"/>
          </a:xfrm>
          <a:prstGeom prst="rect">
            <a:avLst/>
          </a:prstGeom>
          <a:noFill/>
          <a:ln/>
        </p:spPr>
        <p:txBody>
          <a:bodyPr wrap="square" lIns="635" tIns="635" rIns="635" bIns="635" rtlCol="0" anchor="ctr">
            <a:normAutofit/>
          </a:bodyPr>
          <a:lstStyle/>
          <a:p>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Workbook</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controls</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：保存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prediction</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result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replay</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lineage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source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與恢復狀態</a:t>
            </a:r>
            <a:endParaRPr lang="en-US" sz="2400" dirty="0"/>
          </a:p>
        </p:txBody>
      </p:sp>
      <p:sp>
        <p:nvSpPr>
          <p:cNvPr id="4" name="Shape 2"/>
          <p:cNvSpPr/>
          <p:nvPr/>
        </p:nvSpPr>
        <p:spPr>
          <a:xfrm>
            <a:off x="822960" y="1353312"/>
            <a:ext cx="3986784" cy="1975104"/>
          </a:xfrm>
          <a:prstGeom prst="rect">
            <a:avLst/>
          </a:prstGeom>
          <a:solidFill>
            <a:srgbClr val="F7F8FC"/>
          </a:solidFill>
          <a:ln w="15240">
            <a:solidFill>
              <a:srgbClr val="D7DEEA"/>
            </a:solidFill>
            <a:prstDash val="solid"/>
          </a:ln>
        </p:spPr>
      </p:sp>
      <p:sp>
        <p:nvSpPr>
          <p:cNvPr id="5" name="Text 3"/>
          <p:cNvSpPr/>
          <p:nvPr/>
        </p:nvSpPr>
        <p:spPr>
          <a:xfrm>
            <a:off x="969264" y="1463040"/>
            <a:ext cx="3694176" cy="1755648"/>
          </a:xfrm>
          <a:prstGeom prst="rect">
            <a:avLst/>
          </a:prstGeom>
          <a:noFill/>
          <a:ln/>
        </p:spPr>
        <p:txBody>
          <a:bodyPr wrap="square" lIns="635" tIns="635" rIns="635" bIns="635" rtlCol="0" anchor="ctr">
            <a:normAutofit/>
          </a:bodyPr>
          <a:lstStyle/>
          <a:p>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待補：</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current</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i="1" dirty="0">
                <a:solidFill>
                  <a:srgbClr val="65758B"/>
                </a:solidFill>
                <a:latin typeface="Times New Roman" pitchFamily="34" charset="0"/>
                <a:ea typeface="標楷體" pitchFamily="34" charset="-122"/>
                <a:cs typeface="Times New Roman" pitchFamily="34" charset="-120"/>
              </a:rPr>
              <a:t>Workbook</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controls</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crop</a:t>
            </a:r>
            <a:endParaRPr lang="en-US" sz="2400" dirty="0"/>
          </a:p>
        </p:txBody>
      </p:sp>
      <p:sp>
        <p:nvSpPr>
          <p:cNvPr id="6" name="Shape 4"/>
          <p:cNvSpPr/>
          <p:nvPr/>
        </p:nvSpPr>
        <p:spPr>
          <a:xfrm>
            <a:off x="5157216" y="1353312"/>
            <a:ext cx="2834640" cy="896112"/>
          </a:xfrm>
          <a:prstGeom prst="roundRect">
            <a:avLst/>
          </a:prstGeom>
          <a:solidFill>
            <a:srgbClr val="ECF1FE"/>
          </a:solidFill>
          <a:ln w="15240">
            <a:solidFill>
              <a:srgbClr val="4967C2"/>
            </a:solidFill>
            <a:prstDash val="solid"/>
          </a:ln>
        </p:spPr>
      </p:sp>
      <p:sp>
        <p:nvSpPr>
          <p:cNvPr id="7" name="Text 5"/>
          <p:cNvSpPr/>
          <p:nvPr/>
        </p:nvSpPr>
        <p:spPr>
          <a:xfrm>
            <a:off x="5303520" y="1463040"/>
            <a:ext cx="2542032"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建立 </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checkpoint</a:t>
            </a:r>
            <a:endParaRPr lang="en-US" sz="1800" dirty="0"/>
          </a:p>
        </p:txBody>
      </p:sp>
      <p:sp>
        <p:nvSpPr>
          <p:cNvPr id="8" name="Text 6"/>
          <p:cNvSpPr/>
          <p:nvPr/>
        </p:nvSpPr>
        <p:spPr>
          <a:xfrm>
            <a:off x="5303520" y="1828800"/>
            <a:ext cx="2542032" cy="310896"/>
          </a:xfrm>
          <a:prstGeom prst="rect">
            <a:avLst/>
          </a:prstGeom>
          <a:noFill/>
          <a:ln/>
        </p:spPr>
        <p:txBody>
          <a:bodyPr wrap="square" lIns="635" tIns="635" rIns="635" bIns="635" rtlCol="0" anchor="t">
            <a:normAutofit/>
          </a:bodyPr>
          <a:lstStyle/>
          <a:p>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讀 </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prediction</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lineage</a:t>
            </a:r>
            <a:pPr algn="ctr" indent="0" marL="0">
              <a:lnSpc>
                <a:spcPct val="100000"/>
              </a:lnSpc>
              <a:buNone/>
            </a:pPr>
            <a:endParaRPr lang="en-US" sz="1800" dirty="0"/>
          </a:p>
          <a:p>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寫可恢復狀態</a:t>
            </a:r>
            <a:endParaRPr lang="en-US" sz="1800" dirty="0"/>
          </a:p>
        </p:txBody>
      </p:sp>
      <p:sp>
        <p:nvSpPr>
          <p:cNvPr id="9" name="Shape 7"/>
          <p:cNvSpPr/>
          <p:nvPr/>
        </p:nvSpPr>
        <p:spPr>
          <a:xfrm>
            <a:off x="8284464" y="1353312"/>
            <a:ext cx="2834640" cy="896112"/>
          </a:xfrm>
          <a:prstGeom prst="roundRect">
            <a:avLst/>
          </a:prstGeom>
          <a:solidFill>
            <a:srgbClr val="E8F7F4"/>
          </a:solidFill>
          <a:ln w="15240">
            <a:solidFill>
              <a:srgbClr val="007374"/>
            </a:solidFill>
            <a:prstDash val="solid"/>
          </a:ln>
        </p:spPr>
      </p:sp>
      <p:sp>
        <p:nvSpPr>
          <p:cNvPr id="10" name="Text 8"/>
          <p:cNvSpPr/>
          <p:nvPr/>
        </p:nvSpPr>
        <p:spPr>
          <a:xfrm>
            <a:off x="8430768" y="1463040"/>
            <a:ext cx="2542032"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恢復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restore</a:t>
            </a:r>
            <a:endParaRPr lang="en-US" sz="1800" dirty="0"/>
          </a:p>
        </p:txBody>
      </p:sp>
      <p:sp>
        <p:nvSpPr>
          <p:cNvPr id="11" name="Text 9"/>
          <p:cNvSpPr/>
          <p:nvPr/>
        </p:nvSpPr>
        <p:spPr>
          <a:xfrm>
            <a:off x="8430768" y="1828800"/>
            <a:ext cx="2542032" cy="310896"/>
          </a:xfrm>
          <a:prstGeom prst="rect">
            <a:avLst/>
          </a:prstGeom>
          <a:noFill/>
          <a:ln/>
        </p:spPr>
        <p:txBody>
          <a:bodyPr wrap="square" lIns="635" tIns="635" rIns="635" bIns="635" rtlCol="0" anchor="t">
            <a:normAutofit/>
          </a:bodyPr>
          <a:lstStyle/>
          <a:p>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讀 </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checkpoint</a:t>
            </a:r>
            <a:pPr algn="ctr" indent="0" marL="0">
              <a:lnSpc>
                <a:spcPct val="100000"/>
              </a:lnSpc>
              <a:buNone/>
            </a:pPr>
            <a:endParaRPr lang="en-US" sz="1800" dirty="0"/>
          </a:p>
          <a:p>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更新目前 </a:t>
            </a:r>
            <a:endParaRPr lang="en-US" sz="1800" dirty="0"/>
          </a:p>
          <a:p>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record</a:t>
            </a:r>
            <a:endParaRPr lang="en-US" sz="1800" dirty="0"/>
          </a:p>
        </p:txBody>
      </p:sp>
      <p:sp>
        <p:nvSpPr>
          <p:cNvPr id="12" name="Shape 10"/>
          <p:cNvSpPr/>
          <p:nvPr/>
        </p:nvSpPr>
        <p:spPr>
          <a:xfrm>
            <a:off x="5157216" y="2450592"/>
            <a:ext cx="2834640" cy="896112"/>
          </a:xfrm>
          <a:prstGeom prst="roundRect">
            <a:avLst/>
          </a:prstGeom>
          <a:solidFill>
            <a:srgbClr val="F4EDF7"/>
          </a:solidFill>
          <a:ln w="15240">
            <a:solidFill>
              <a:srgbClr val="660066"/>
            </a:solidFill>
            <a:prstDash val="solid"/>
          </a:ln>
        </p:spPr>
      </p:sp>
      <p:sp>
        <p:nvSpPr>
          <p:cNvPr id="13" name="Text 11"/>
          <p:cNvSpPr/>
          <p:nvPr/>
        </p:nvSpPr>
        <p:spPr>
          <a:xfrm>
            <a:off x="5303520" y="2560320"/>
            <a:ext cx="2542032"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重設／復原 </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reset</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undo</a:t>
            </a:r>
            <a:endParaRPr lang="en-US" sz="1800" dirty="0"/>
          </a:p>
        </p:txBody>
      </p:sp>
      <p:sp>
        <p:nvSpPr>
          <p:cNvPr id="14" name="Text 12"/>
          <p:cNvSpPr/>
          <p:nvPr/>
        </p:nvSpPr>
        <p:spPr>
          <a:xfrm>
            <a:off x="5303520" y="2926080"/>
            <a:ext cx="2542032" cy="310896"/>
          </a:xfrm>
          <a:prstGeom prst="rect">
            <a:avLst/>
          </a:prstGeom>
          <a:noFill/>
          <a:ln/>
        </p:spPr>
        <p:txBody>
          <a:bodyPr wrap="square" lIns="635" tIns="635" rIns="635" bIns="635" rtlCol="0" anchor="t">
            <a:normAutofit/>
          </a:bodyPr>
          <a:lstStyle/>
          <a:p>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讀 </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local</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progress</a:t>
            </a:r>
            <a:pPr algn="ctr" indent="0" marL="0">
              <a:lnSpc>
                <a:spcPct val="100000"/>
              </a:lnSpc>
              <a:buNone/>
            </a:pPr>
            <a:endParaRPr lang="en-US" sz="1800" dirty="0"/>
          </a:p>
          <a:p>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寫 </a:t>
            </a:r>
            <a:endParaRPr lang="en-US" sz="1800" dirty="0"/>
          </a:p>
          <a:p>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reset</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state</a:t>
            </a:r>
            <a:endParaRPr lang="en-US" sz="1800" dirty="0"/>
          </a:p>
        </p:txBody>
      </p:sp>
      <p:sp>
        <p:nvSpPr>
          <p:cNvPr id="15" name="Shape 13"/>
          <p:cNvSpPr/>
          <p:nvPr/>
        </p:nvSpPr>
        <p:spPr>
          <a:xfrm>
            <a:off x="8284464" y="2450592"/>
            <a:ext cx="2834640" cy="896112"/>
          </a:xfrm>
          <a:prstGeom prst="roundRect">
            <a:avLst/>
          </a:prstGeom>
          <a:solidFill>
            <a:srgbClr val="FDF9E2"/>
          </a:solidFill>
          <a:ln w="15240">
            <a:solidFill>
              <a:srgbClr val="846826"/>
            </a:solidFill>
            <a:prstDash val="solid"/>
          </a:ln>
        </p:spPr>
      </p:sp>
      <p:sp>
        <p:nvSpPr>
          <p:cNvPr id="16" name="Text 14"/>
          <p:cNvSpPr/>
          <p:nvPr/>
        </p:nvSpPr>
        <p:spPr>
          <a:xfrm>
            <a:off x="8430768" y="2560320"/>
            <a:ext cx="2542032"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匯出／重開 </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export</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reopen</a:t>
            </a:r>
            <a:endParaRPr lang="en-US" sz="1800" dirty="0"/>
          </a:p>
        </p:txBody>
      </p:sp>
      <p:sp>
        <p:nvSpPr>
          <p:cNvPr id="17" name="Text 15"/>
          <p:cNvSpPr/>
          <p:nvPr/>
        </p:nvSpPr>
        <p:spPr>
          <a:xfrm>
            <a:off x="8430768" y="2926080"/>
            <a:ext cx="2542032" cy="310896"/>
          </a:xfrm>
          <a:prstGeom prst="rect">
            <a:avLst/>
          </a:prstGeom>
          <a:noFill/>
          <a:ln/>
        </p:spPr>
        <p:txBody>
          <a:bodyPr wrap="square" lIns="635" tIns="635" rIns="635" bIns="635" rtlCol="0" anchor="t">
            <a:normAutofit/>
          </a:bodyPr>
          <a:lstStyle/>
          <a:p>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讀 </a:t>
            </a:r>
            <a:pPr algn="ctr" indent="0" marL="0">
              <a:lnSpc>
                <a:spcPct val="100000"/>
              </a:lnSpc>
              <a:buNone/>
            </a:pPr>
            <a:r>
              <a:rPr lang="en-US" sz="1800" i="1" dirty="0">
                <a:solidFill>
                  <a:srgbClr val="25324A"/>
                </a:solidFill>
                <a:latin typeface="Times New Roman" pitchFamily="34" charset="0"/>
                <a:ea typeface="標楷體" pitchFamily="34" charset="-122"/>
                <a:cs typeface="Times New Roman" pitchFamily="34" charset="-120"/>
              </a:rPr>
              <a:t>workbook</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lineage</a:t>
            </a:r>
            <a:pPr algn="ctr" indent="0" marL="0">
              <a:lnSpc>
                <a:spcPct val="100000"/>
              </a:lnSpc>
              <a:buNone/>
            </a:pPr>
            <a:endParaRPr lang="en-US" sz="1800" dirty="0"/>
          </a:p>
          <a:p>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更新檔案狀態</a:t>
            </a:r>
            <a:endParaRPr lang="en-US" sz="1800" dirty="0"/>
          </a:p>
        </p:txBody>
      </p:sp>
      <p:sp>
        <p:nvSpPr>
          <p:cNvPr id="18" name="Shape 16"/>
          <p:cNvSpPr/>
          <p:nvPr/>
        </p:nvSpPr>
        <p:spPr>
          <a:xfrm>
            <a:off x="5157216" y="3639312"/>
            <a:ext cx="5961888" cy="1005840"/>
          </a:xfrm>
          <a:prstGeom prst="roundRect">
            <a:avLst/>
          </a:prstGeom>
          <a:solidFill>
            <a:srgbClr val="FDEFEF"/>
          </a:solidFill>
          <a:ln w="15240">
            <a:solidFill>
              <a:srgbClr val="992A2A"/>
            </a:solidFill>
            <a:prstDash val="solid"/>
          </a:ln>
        </p:spPr>
      </p:sp>
      <p:sp>
        <p:nvSpPr>
          <p:cNvPr id="19" name="Text 17"/>
          <p:cNvSpPr/>
          <p:nvPr/>
        </p:nvSpPr>
        <p:spPr>
          <a:xfrm>
            <a:off x="5303520" y="3749040"/>
            <a:ext cx="5669280"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驗證失敗</a:t>
            </a:r>
            <a:endParaRPr lang="en-US" sz="1800" dirty="0"/>
          </a:p>
        </p:txBody>
      </p:sp>
      <p:sp>
        <p:nvSpPr>
          <p:cNvPr id="20" name="Text 18"/>
          <p:cNvSpPr/>
          <p:nvPr/>
        </p:nvSpPr>
        <p:spPr>
          <a:xfrm>
            <a:off x="5303520" y="4133088"/>
            <a:ext cx="5669280" cy="402336"/>
          </a:xfrm>
          <a:prstGeom prst="rect">
            <a:avLst/>
          </a:prstGeom>
          <a:noFill/>
          <a:ln/>
        </p:spPr>
        <p:txBody>
          <a:bodyPr wrap="square" lIns="635" tIns="635" rIns="635" bIns="635" rtlCol="0" anchor="t">
            <a:normAutofit/>
          </a:bodyPr>
          <a:lstStyle/>
          <a:p>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原 </a:t>
            </a:r>
            <a:pPr algn="ctr" indent="0" marL="0">
              <a:lnSpc>
                <a:spcPct val="100000"/>
              </a:lnSpc>
              <a:buNone/>
            </a:pPr>
            <a:r>
              <a:rPr lang="en-US" sz="2000" i="1" dirty="0">
                <a:solidFill>
                  <a:srgbClr val="25324A"/>
                </a:solidFill>
                <a:latin typeface="Times New Roman" pitchFamily="34" charset="0"/>
                <a:ea typeface="標楷體" pitchFamily="34" charset="-122"/>
                <a:cs typeface="Times New Roman" pitchFamily="34" charset="-120"/>
              </a:rPr>
              <a:t>workbook</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與 </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local</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progress</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保持；</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0</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10</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是完成段落計數。</a:t>
            </a:r>
            <a:endParaRPr lang="en-US" sz="2000" dirty="0"/>
          </a:p>
        </p:txBody>
      </p:sp>
      <p:sp>
        <p:nvSpPr>
          <p:cNvPr id="21" name="Shape 19"/>
          <p:cNvSpPr/>
          <p:nvPr/>
        </p:nvSpPr>
        <p:spPr>
          <a:xfrm>
            <a:off x="3401568" y="4517136"/>
            <a:ext cx="1261872" cy="0"/>
          </a:xfrm>
          <a:prstGeom prst="line">
            <a:avLst/>
          </a:prstGeom>
          <a:noFill/>
          <a:ln w="25400">
            <a:solidFill>
              <a:srgbClr val="25356B"/>
            </a:solidFill>
            <a:prstDash val="solid"/>
          </a:ln>
        </p:spPr>
      </p:sp>
      <p:sp>
        <p:nvSpPr>
          <p:cNvPr id="22" name="Shape 20"/>
          <p:cNvSpPr/>
          <p:nvPr/>
        </p:nvSpPr>
        <p:spPr>
          <a:xfrm>
            <a:off x="822960" y="4334256"/>
            <a:ext cx="3986784" cy="1042416"/>
          </a:xfrm>
          <a:prstGeom prst="roundRect">
            <a:avLst/>
          </a:prstGeom>
          <a:solidFill>
            <a:srgbClr val="FDF9E2"/>
          </a:solidFill>
          <a:ln w="15240">
            <a:solidFill>
              <a:srgbClr val="846826"/>
            </a:solidFill>
            <a:prstDash val="solid"/>
          </a:ln>
        </p:spPr>
      </p:sp>
      <p:sp>
        <p:nvSpPr>
          <p:cNvPr id="23" name="Text 21"/>
          <p:cNvSpPr/>
          <p:nvPr/>
        </p:nvSpPr>
        <p:spPr>
          <a:xfrm>
            <a:off x="969264" y="4443984"/>
            <a:ext cx="3694176"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完成度 </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gate</a:t>
            </a:r>
            <a:endParaRPr lang="en-US" sz="1800" dirty="0"/>
          </a:p>
        </p:txBody>
      </p:sp>
      <p:sp>
        <p:nvSpPr>
          <p:cNvPr id="24" name="Text 22"/>
          <p:cNvSpPr/>
          <p:nvPr/>
        </p:nvSpPr>
        <p:spPr>
          <a:xfrm>
            <a:off x="969264" y="4828032"/>
            <a:ext cx="3694176" cy="438912"/>
          </a:xfrm>
          <a:prstGeom prst="rect">
            <a:avLst/>
          </a:prstGeom>
          <a:noFill/>
          <a:ln/>
        </p:spPr>
        <p:txBody>
          <a:bodyPr wrap="square" lIns="635" tIns="635" rIns="635" bIns="635" rtlCol="0" anchor="t">
            <a:normAutofit/>
          </a:bodyPr>
          <a:lstStyle/>
          <a:p>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service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result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replay</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interpretation</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齊全後，才可記錄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COMPLETE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endParaRPr lang="en-US" sz="2400" dirty="0"/>
          </a:p>
        </p:txBody>
      </p:sp>
      <p:sp>
        <p:nvSpPr>
          <p:cNvPr id="26" name="Text 3"/>
          <p:cNvSpPr/>
          <p:nvPr>
            <p:ph idx="105" type="title" hasCustomPrompt="1"/>
          </p:nvPr>
        </p:nvSpPr>
        <p:spPr>
          <a:xfrm>
            <a:off x="656591" y="187008"/>
            <a:ext cx="9462769" cy="480060"/>
          </a:xfrm>
          <a:prstGeom prst="rect">
            <a:avLst/>
          </a:prstGeom>
          <a:noFill/>
          <a:ln/>
        </p:spPr>
        <p:txBody>
          <a:bodyPr wrap="square" lIns="0" tIns="0" rIns="0" bIns="0" rtlCol="0" anchor="b"/>
          <a:lstStyle/>
          <a:p>
            <a:pPr algn="l" indent="0" marL="0">
              <a:buNone/>
            </a:pPr>
            <a:endParaRPr lang="en-US" sz="2800" dirty="0"/>
          </a:p>
        </p:txBody>
      </p:sp>
    </p:spTree>
  </p:cSld>
  <p:clrMapOvr>
    <a:masterClrMapping/>
  </p:clrMapOvr>
</p:sld>
</file>

<file path=ppt/slides/slide13.xml><?xml version="1.0" encoding="utf-8"?>
<p:sld xmlns:a="http://schemas.openxmlformats.org/drawingml/2006/main"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56591" y="187008"/>
            <a:ext cx="9462769" cy="480060"/>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P093</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course</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rejection</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與 </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recovery</a:t>
            </a:r>
            <a:endParaRPr lang="en-US" sz="2800" dirty="0"/>
          </a:p>
        </p:txBody>
      </p:sp>
      <p:sp>
        <p:nvSpPr>
          <p:cNvPr id="3" name="Text 1"/>
          <p:cNvSpPr/>
          <p:nvPr/>
        </p:nvSpPr>
        <p:spPr>
          <a:xfrm>
            <a:off x="822960" y="932688"/>
            <a:ext cx="10561320" cy="438912"/>
          </a:xfrm>
          <a:prstGeom prst="rect">
            <a:avLst/>
          </a:prstGeom>
          <a:noFill/>
          <a:ln/>
        </p:spPr>
        <p:txBody>
          <a:bodyPr wrap="square" lIns="635" tIns="635" rIns="635" bIns="635" rtlCol="0" anchor="ctr">
            <a:normAutofit/>
          </a:bodyPr>
          <a:lstStyle/>
          <a:p>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fail</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closed</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：既有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session</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不被改寫；</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recovery</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回到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matching</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evidence</a:t>
            </a:r>
            <a:endParaRPr lang="en-US" sz="2400" dirty="0"/>
          </a:p>
        </p:txBody>
      </p:sp>
      <p:sp>
        <p:nvSpPr>
          <p:cNvPr id="4" name="Shape 2"/>
          <p:cNvSpPr/>
          <p:nvPr/>
        </p:nvSpPr>
        <p:spPr>
          <a:xfrm>
            <a:off x="822960" y="1426464"/>
            <a:ext cx="2139696" cy="1078992"/>
          </a:xfrm>
          <a:prstGeom prst="roundRect">
            <a:avLst/>
          </a:prstGeom>
          <a:solidFill>
            <a:srgbClr val="ECF1FE"/>
          </a:solidFill>
          <a:ln w="15240">
            <a:solidFill>
              <a:srgbClr val="4967C2"/>
            </a:solidFill>
            <a:prstDash val="solid"/>
          </a:ln>
        </p:spPr>
      </p:sp>
      <p:sp>
        <p:nvSpPr>
          <p:cNvPr id="5" name="Text 3"/>
          <p:cNvSpPr/>
          <p:nvPr/>
        </p:nvSpPr>
        <p:spPr>
          <a:xfrm>
            <a:off x="969264" y="1536192"/>
            <a:ext cx="1847088"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格式 </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format</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schema</a:t>
            </a:r>
            <a:endParaRPr lang="en-US" sz="1800" dirty="0"/>
          </a:p>
        </p:txBody>
      </p:sp>
      <p:sp>
        <p:nvSpPr>
          <p:cNvPr id="6" name="Text 4"/>
          <p:cNvSpPr/>
          <p:nvPr/>
        </p:nvSpPr>
        <p:spPr>
          <a:xfrm>
            <a:off x="969264" y="1938528"/>
            <a:ext cx="1847088" cy="457200"/>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檔案結構或欄位不合約</a:t>
            </a:r>
            <a:endParaRPr lang="en-US" sz="2400" dirty="0"/>
          </a:p>
        </p:txBody>
      </p:sp>
      <p:sp>
        <p:nvSpPr>
          <p:cNvPr id="7" name="Shape 5"/>
          <p:cNvSpPr/>
          <p:nvPr/>
        </p:nvSpPr>
        <p:spPr>
          <a:xfrm>
            <a:off x="3236976" y="1426464"/>
            <a:ext cx="2139696" cy="1078992"/>
          </a:xfrm>
          <a:prstGeom prst="roundRect">
            <a:avLst/>
          </a:prstGeom>
          <a:solidFill>
            <a:srgbClr val="F4EDF7"/>
          </a:solidFill>
          <a:ln w="15240">
            <a:solidFill>
              <a:srgbClr val="660066"/>
            </a:solidFill>
            <a:prstDash val="solid"/>
          </a:ln>
        </p:spPr>
      </p:sp>
      <p:sp>
        <p:nvSpPr>
          <p:cNvPr id="8" name="Text 6"/>
          <p:cNvSpPr/>
          <p:nvPr/>
        </p:nvSpPr>
        <p:spPr>
          <a:xfrm>
            <a:off x="3383280" y="1536192"/>
            <a:ext cx="1847088"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身份 </a:t>
            </a:r>
            <a:pPr algn="ctr" indent="0" marL="0">
              <a:lnSpc>
                <a:spcPct val="100000"/>
              </a:lnSpc>
              <a:buNone/>
            </a:pPr>
            <a:r>
              <a:rPr lang="en-US" sz="1800" b="1" i="1" dirty="0">
                <a:solidFill>
                  <a:srgbClr val="660066"/>
                </a:solidFill>
                <a:latin typeface="Times New Roman" pitchFamily="34" charset="0"/>
                <a:ea typeface="標楷體" pitchFamily="34" charset="-122"/>
                <a:cs typeface="Times New Roman" pitchFamily="34" charset="-120"/>
              </a:rPr>
              <a:t>identity</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lineage</a:t>
            </a:r>
            <a:endParaRPr lang="en-US" sz="1800" dirty="0"/>
          </a:p>
        </p:txBody>
      </p:sp>
      <p:sp>
        <p:nvSpPr>
          <p:cNvPr id="9" name="Text 7"/>
          <p:cNvSpPr/>
          <p:nvPr/>
        </p:nvSpPr>
        <p:spPr>
          <a:xfrm>
            <a:off x="3383280" y="1938528"/>
            <a:ext cx="1847088" cy="457200"/>
          </a:xfrm>
          <a:prstGeom prst="rect">
            <a:avLst/>
          </a:prstGeom>
          <a:noFill/>
          <a:ln/>
        </p:spPr>
        <p:txBody>
          <a:bodyPr wrap="square" lIns="635" tIns="635" rIns="635" bIns="635" rtlCol="0" anchor="t">
            <a:normAutofit/>
          </a:bodyPr>
          <a:lstStyle/>
          <a:p>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scenario</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case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或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policy</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不匹配</a:t>
            </a:r>
            <a:endParaRPr lang="en-US" sz="2400" dirty="0"/>
          </a:p>
        </p:txBody>
      </p:sp>
      <p:sp>
        <p:nvSpPr>
          <p:cNvPr id="10" name="Shape 8"/>
          <p:cNvSpPr/>
          <p:nvPr/>
        </p:nvSpPr>
        <p:spPr>
          <a:xfrm>
            <a:off x="5650992" y="1426464"/>
            <a:ext cx="2139696" cy="1078992"/>
          </a:xfrm>
          <a:prstGeom prst="roundRect">
            <a:avLst/>
          </a:prstGeom>
          <a:solidFill>
            <a:srgbClr val="FDEFEF"/>
          </a:solidFill>
          <a:ln w="15240">
            <a:solidFill>
              <a:srgbClr val="992A2A"/>
            </a:solidFill>
            <a:prstDash val="solid"/>
          </a:ln>
        </p:spPr>
      </p:sp>
      <p:sp>
        <p:nvSpPr>
          <p:cNvPr id="11" name="Text 9"/>
          <p:cNvSpPr/>
          <p:nvPr/>
        </p:nvSpPr>
        <p:spPr>
          <a:xfrm>
            <a:off x="5797296" y="1536192"/>
            <a:ext cx="1847088"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不可變重複 </a:t>
            </a:r>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immutable</a:t>
            </a:r>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duplicate</a:t>
            </a:r>
            <a:endParaRPr lang="en-US" sz="1800" dirty="0"/>
          </a:p>
        </p:txBody>
      </p:sp>
      <p:sp>
        <p:nvSpPr>
          <p:cNvPr id="12" name="Text 10"/>
          <p:cNvSpPr/>
          <p:nvPr/>
        </p:nvSpPr>
        <p:spPr>
          <a:xfrm>
            <a:off x="5797296" y="1938528"/>
            <a:ext cx="1847088" cy="457200"/>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同一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session</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重複匯入</a:t>
            </a:r>
            <a:endParaRPr lang="en-US" sz="2400" dirty="0"/>
          </a:p>
        </p:txBody>
      </p:sp>
      <p:sp>
        <p:nvSpPr>
          <p:cNvPr id="13" name="Shape 11"/>
          <p:cNvSpPr/>
          <p:nvPr/>
        </p:nvSpPr>
        <p:spPr>
          <a:xfrm>
            <a:off x="1810512" y="2615184"/>
            <a:ext cx="4425696" cy="475488"/>
          </a:xfrm>
          <a:prstGeom prst="line">
            <a:avLst/>
          </a:prstGeom>
          <a:noFill/>
          <a:ln w="22860">
            <a:solidFill>
              <a:srgbClr val="25356B"/>
            </a:solidFill>
            <a:prstDash val="solid"/>
          </a:ln>
        </p:spPr>
      </p:sp>
      <p:sp>
        <p:nvSpPr>
          <p:cNvPr id="14" name="Shape 12"/>
          <p:cNvSpPr/>
          <p:nvPr/>
        </p:nvSpPr>
        <p:spPr>
          <a:xfrm>
            <a:off x="4663440" y="2944368"/>
            <a:ext cx="2761488" cy="713232"/>
          </a:xfrm>
          <a:prstGeom prst="roundRect">
            <a:avLst/>
          </a:prstGeom>
          <a:solidFill>
            <a:srgbClr val="FDEFEF"/>
          </a:solidFill>
          <a:ln w="15240">
            <a:solidFill>
              <a:srgbClr val="992A2A"/>
            </a:solidFill>
            <a:prstDash val="solid"/>
          </a:ln>
        </p:spPr>
      </p:sp>
      <p:sp>
        <p:nvSpPr>
          <p:cNvPr id="15" name="Text 13"/>
          <p:cNvSpPr/>
          <p:nvPr/>
        </p:nvSpPr>
        <p:spPr>
          <a:xfrm>
            <a:off x="4828032" y="3145536"/>
            <a:ext cx="2432304" cy="274320"/>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992A2A"/>
                </a:solidFill>
                <a:latin typeface="Times New Roman" pitchFamily="34" charset="0"/>
                <a:ea typeface="標楷體" pitchFamily="34" charset="-122"/>
                <a:cs typeface="Times New Roman" pitchFamily="34" charset="-120"/>
              </a:rPr>
              <a:t>原 </a:t>
            </a:r>
            <a:pPr algn="ctr" indent="0" marL="0">
              <a:lnSpc>
                <a:spcPct val="100000"/>
              </a:lnSpc>
              <a:buNone/>
            </a:pPr>
            <a:r>
              <a:rPr lang="en-US" sz="1600" b="1" dirty="0">
                <a:solidFill>
                  <a:srgbClr val="992A2A"/>
                </a:solidFill>
                <a:latin typeface="Times New Roman" pitchFamily="34" charset="0"/>
                <a:ea typeface="標楷體" pitchFamily="34" charset="-122"/>
                <a:cs typeface="Times New Roman" pitchFamily="34" charset="-120"/>
              </a:rPr>
              <a:t>session</a:t>
            </a:r>
            <a:pPr algn="ctr" indent="0" marL="0">
              <a:lnSpc>
                <a:spcPct val="100000"/>
              </a:lnSpc>
              <a:buNone/>
            </a:pPr>
            <a:r>
              <a:rPr lang="en-US" sz="1600" b="1" dirty="0">
                <a:solidFill>
                  <a:srgbClr val="992A2A"/>
                </a:solidFill>
                <a:latin typeface="Times New Roman" pitchFamily="34" charset="0"/>
                <a:ea typeface="標楷體" pitchFamily="34" charset="-122"/>
                <a:cs typeface="Times New Roman" pitchFamily="34" charset="-120"/>
              </a:rPr>
              <a:t>／</a:t>
            </a:r>
            <a:pPr algn="ctr" indent="0" marL="0">
              <a:lnSpc>
                <a:spcPct val="100000"/>
              </a:lnSpc>
              <a:buNone/>
            </a:pPr>
            <a:r>
              <a:rPr lang="en-US" sz="1600" b="1" i="1" dirty="0">
                <a:solidFill>
                  <a:srgbClr val="992A2A"/>
                </a:solidFill>
                <a:latin typeface="Times New Roman" pitchFamily="34" charset="0"/>
                <a:ea typeface="標楷體" pitchFamily="34" charset="-122"/>
                <a:cs typeface="Times New Roman" pitchFamily="34" charset="-120"/>
              </a:rPr>
              <a:t>workbook</a:t>
            </a:r>
            <a:pPr algn="ctr" indent="0" marL="0">
              <a:lnSpc>
                <a:spcPct val="100000"/>
              </a:lnSpc>
              <a:buNone/>
            </a:pPr>
            <a:r>
              <a:rPr lang="en-US" sz="1600" b="1" dirty="0">
                <a:solidFill>
                  <a:srgbClr val="992A2A"/>
                </a:solidFill>
                <a:latin typeface="Times New Roman" pitchFamily="34" charset="0"/>
                <a:ea typeface="標楷體" pitchFamily="34" charset="-122"/>
                <a:cs typeface="Times New Roman" pitchFamily="34" charset="-120"/>
              </a:rPr>
              <a:t> 保持</a:t>
            </a:r>
            <a:endParaRPr lang="en-US" sz="1600" dirty="0"/>
          </a:p>
        </p:txBody>
      </p:sp>
      <p:sp>
        <p:nvSpPr>
          <p:cNvPr id="16" name="Shape 14"/>
          <p:cNvSpPr/>
          <p:nvPr/>
        </p:nvSpPr>
        <p:spPr>
          <a:xfrm>
            <a:off x="6035040" y="3675888"/>
            <a:ext cx="0" cy="420624"/>
          </a:xfrm>
          <a:prstGeom prst="line">
            <a:avLst/>
          </a:prstGeom>
          <a:noFill/>
          <a:ln w="22860">
            <a:solidFill>
              <a:srgbClr val="25356B"/>
            </a:solidFill>
            <a:prstDash val="solid"/>
          </a:ln>
        </p:spPr>
      </p:sp>
      <p:sp>
        <p:nvSpPr>
          <p:cNvPr id="17" name="Shape 15"/>
          <p:cNvSpPr/>
          <p:nvPr/>
        </p:nvSpPr>
        <p:spPr>
          <a:xfrm>
            <a:off x="822960" y="4315968"/>
            <a:ext cx="3291840" cy="1005840"/>
          </a:xfrm>
          <a:prstGeom prst="roundRect">
            <a:avLst/>
          </a:prstGeom>
          <a:solidFill>
            <a:srgbClr val="ECF1FE"/>
          </a:solidFill>
          <a:ln w="15240">
            <a:solidFill>
              <a:srgbClr val="4967C2"/>
            </a:solidFill>
            <a:prstDash val="solid"/>
          </a:ln>
        </p:spPr>
      </p:sp>
      <p:sp>
        <p:nvSpPr>
          <p:cNvPr id="18" name="Text 16"/>
          <p:cNvSpPr/>
          <p:nvPr/>
        </p:nvSpPr>
        <p:spPr>
          <a:xfrm>
            <a:off x="969264" y="4425696"/>
            <a:ext cx="2999232"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匹配產物 </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matching</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artifact</a:t>
            </a:r>
            <a:endParaRPr lang="en-US" sz="1800" dirty="0"/>
          </a:p>
        </p:txBody>
      </p:sp>
      <p:sp>
        <p:nvSpPr>
          <p:cNvPr id="19" name="Text 17"/>
          <p:cNvSpPr/>
          <p:nvPr/>
        </p:nvSpPr>
        <p:spPr>
          <a:xfrm>
            <a:off x="969264" y="4809744"/>
            <a:ext cx="2999232" cy="402336"/>
          </a:xfrm>
          <a:prstGeom prst="rect">
            <a:avLst/>
          </a:prstGeom>
          <a:noFill/>
          <a:ln/>
        </p:spPr>
        <p:txBody>
          <a:bodyPr wrap="square" lIns="635" tIns="635" rIns="635" bIns="635" rtlCol="0" anchor="t">
            <a:normAutofit/>
          </a:bodyPr>
          <a:lstStyle/>
          <a:p>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保留原始 </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error</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 </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path</a:t>
            </a:r>
            <a:endParaRPr lang="en-US" sz="2000" dirty="0"/>
          </a:p>
        </p:txBody>
      </p:sp>
      <p:sp>
        <p:nvSpPr>
          <p:cNvPr id="20" name="Shape 18"/>
          <p:cNvSpPr/>
          <p:nvPr/>
        </p:nvSpPr>
        <p:spPr>
          <a:xfrm>
            <a:off x="4480560" y="4315968"/>
            <a:ext cx="3291840" cy="1005840"/>
          </a:xfrm>
          <a:prstGeom prst="roundRect">
            <a:avLst/>
          </a:prstGeom>
          <a:solidFill>
            <a:srgbClr val="E8F7F4"/>
          </a:solidFill>
          <a:ln w="15240">
            <a:solidFill>
              <a:srgbClr val="007374"/>
            </a:solidFill>
            <a:prstDash val="solid"/>
          </a:ln>
        </p:spPr>
      </p:sp>
      <p:sp>
        <p:nvSpPr>
          <p:cNvPr id="21" name="Text 19"/>
          <p:cNvSpPr/>
          <p:nvPr/>
        </p:nvSpPr>
        <p:spPr>
          <a:xfrm>
            <a:off x="4626864" y="4425696"/>
            <a:ext cx="2999232"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發行備份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release</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backup</a:t>
            </a:r>
            <a:endParaRPr lang="en-US" sz="1800" dirty="0"/>
          </a:p>
        </p:txBody>
      </p:sp>
      <p:sp>
        <p:nvSpPr>
          <p:cNvPr id="22" name="Text 20"/>
          <p:cNvSpPr/>
          <p:nvPr/>
        </p:nvSpPr>
        <p:spPr>
          <a:xfrm>
            <a:off x="4626864" y="4809744"/>
            <a:ext cx="2999232" cy="402336"/>
          </a:xfrm>
          <a:prstGeom prst="rect">
            <a:avLst/>
          </a:prstGeom>
          <a:noFill/>
          <a:ln/>
        </p:spPr>
        <p:txBody>
          <a:bodyPr wrap="square" lIns="635" tIns="635" rIns="635" bIns="635" rtlCol="0" anchor="t">
            <a:normAutofit/>
          </a:bodyPr>
          <a:lstStyle/>
          <a:p>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回到最後已知正確 </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block</a:t>
            </a:r>
            <a:endParaRPr lang="en-US" sz="2000" dirty="0"/>
          </a:p>
        </p:txBody>
      </p:sp>
      <p:sp>
        <p:nvSpPr>
          <p:cNvPr id="23" name="Shape 21"/>
          <p:cNvSpPr/>
          <p:nvPr/>
        </p:nvSpPr>
        <p:spPr>
          <a:xfrm>
            <a:off x="8138160" y="4315968"/>
            <a:ext cx="3291840" cy="1005840"/>
          </a:xfrm>
          <a:prstGeom prst="roundRect">
            <a:avLst/>
          </a:prstGeom>
          <a:solidFill>
            <a:srgbClr val="F4EDF7"/>
          </a:solidFill>
          <a:ln w="15240">
            <a:solidFill>
              <a:srgbClr val="660066"/>
            </a:solidFill>
            <a:prstDash val="solid"/>
          </a:ln>
        </p:spPr>
      </p:sp>
      <p:sp>
        <p:nvSpPr>
          <p:cNvPr id="24" name="Text 22"/>
          <p:cNvSpPr/>
          <p:nvPr/>
        </p:nvSpPr>
        <p:spPr>
          <a:xfrm>
            <a:off x="8284464" y="4425696"/>
            <a:ext cx="2999232"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同情境備用 </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same-scenario</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fallback</a:t>
            </a:r>
            <a:endParaRPr lang="en-US" sz="1800" dirty="0"/>
          </a:p>
        </p:txBody>
      </p:sp>
      <p:sp>
        <p:nvSpPr>
          <p:cNvPr id="25" name="Text 23"/>
          <p:cNvSpPr/>
          <p:nvPr/>
        </p:nvSpPr>
        <p:spPr>
          <a:xfrm>
            <a:off x="8284464" y="4809744"/>
            <a:ext cx="2999232" cy="402336"/>
          </a:xfrm>
          <a:prstGeom prst="rect">
            <a:avLst/>
          </a:prstGeom>
          <a:noFill/>
          <a:ln/>
        </p:spPr>
        <p:txBody>
          <a:bodyPr wrap="square" lIns="635" tIns="635" rIns="635" bIns="635" rtlCol="0" anchor="t">
            <a:normAutofit/>
          </a:bodyPr>
          <a:lstStyle/>
          <a:p>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明示 </a:t>
            </a:r>
            <a:pPr algn="ctr" indent="0" marL="0">
              <a:lnSpc>
                <a:spcPct val="100000"/>
              </a:lnSpc>
              <a:buNone/>
            </a:pPr>
            <a:r>
              <a:rPr lang="en-US" sz="2000" i="1" dirty="0">
                <a:solidFill>
                  <a:srgbClr val="25324A"/>
                </a:solidFill>
                <a:latin typeface="Times New Roman" pitchFamily="34" charset="0"/>
                <a:ea typeface="標楷體" pitchFamily="34" charset="-122"/>
                <a:cs typeface="Times New Roman" pitchFamily="34" charset="-120"/>
              </a:rPr>
              <a:t>source</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；保存 </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recovery</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note</a:t>
            </a:r>
            <a:endParaRPr lang="en-US" sz="2000" dirty="0"/>
          </a:p>
        </p:txBody>
      </p:sp>
      <p:sp>
        <p:nvSpPr>
          <p:cNvPr id="26" name="Shape 24"/>
          <p:cNvSpPr/>
          <p:nvPr/>
        </p:nvSpPr>
        <p:spPr>
          <a:xfrm>
            <a:off x="4187952" y="2450592"/>
            <a:ext cx="3822192" cy="420624"/>
          </a:xfrm>
          <a:prstGeom prst="roundRect">
            <a:avLst/>
          </a:prstGeom>
          <a:solidFill>
            <a:srgbClr val="FDF9E2"/>
          </a:solidFill>
          <a:ln w="15240">
            <a:solidFill>
              <a:srgbClr val="846826"/>
            </a:solidFill>
            <a:prstDash val="solid"/>
          </a:ln>
        </p:spPr>
      </p:sp>
      <p:sp>
        <p:nvSpPr>
          <p:cNvPr id="27" name="Text 25"/>
          <p:cNvSpPr/>
          <p:nvPr/>
        </p:nvSpPr>
        <p:spPr>
          <a:xfrm>
            <a:off x="4261104" y="2487168"/>
            <a:ext cx="3675888" cy="310896"/>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current</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rejection</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crop</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 待補</a:t>
            </a:r>
            <a:endParaRPr lang="en-US" sz="1800" dirty="0"/>
          </a:p>
        </p:txBody>
      </p:sp>
      <p:sp>
        <p:nvSpPr>
          <p:cNvPr id="29" name="Text 3"/>
          <p:cNvSpPr/>
          <p:nvPr>
            <p:ph idx="105" type="title" hasCustomPrompt="1"/>
          </p:nvPr>
        </p:nvSpPr>
        <p:spPr>
          <a:xfrm>
            <a:off x="656591" y="187008"/>
            <a:ext cx="9462769" cy="480060"/>
          </a:xfrm>
          <a:prstGeom prst="rect">
            <a:avLst/>
          </a:prstGeom>
          <a:noFill/>
          <a:ln/>
        </p:spPr>
        <p:txBody>
          <a:bodyPr wrap="square" lIns="0" tIns="0" rIns="0" bIns="0" rtlCol="0" anchor="b"/>
          <a:lstStyle/>
          <a:p>
            <a:pPr algn="l" indent="0" marL="0">
              <a:buNone/>
            </a:pPr>
            <a:endParaRPr lang="en-US" sz="2800" dirty="0"/>
          </a:p>
        </p:txBody>
      </p:sp>
    </p:spTree>
  </p:cSld>
  <p:clrMapOvr>
    <a:masterClrMapping/>
  </p:clrMapOvr>
</p:sld>
</file>

<file path=ppt/slides/slide14.xml><?xml version="1.0" encoding="utf-8"?>
<p:sld xmlns:a="http://schemas.openxmlformats.org/drawingml/2006/main"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56591" y="187008"/>
            <a:ext cx="9462769" cy="480060"/>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P094</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Prepare</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i="1" dirty="0">
                <a:solidFill>
                  <a:srgbClr val="35377F"/>
                </a:solidFill>
                <a:latin typeface="Times New Roman" pitchFamily="34" charset="0"/>
                <a:ea typeface="標楷體" pitchFamily="34" charset="-122"/>
                <a:cs typeface="Times New Roman" pitchFamily="34" charset="-120"/>
              </a:rPr>
              <a:t>READY</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與 </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terminal</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receipt</a:t>
            </a:r>
            <a:endParaRPr lang="en-US" sz="2800" dirty="0"/>
          </a:p>
        </p:txBody>
      </p:sp>
      <p:sp>
        <p:nvSpPr>
          <p:cNvPr id="3" name="Text 1"/>
          <p:cNvSpPr/>
          <p:nvPr/>
        </p:nvSpPr>
        <p:spPr>
          <a:xfrm>
            <a:off x="822960" y="932688"/>
            <a:ext cx="10561320" cy="438912"/>
          </a:xfrm>
          <a:prstGeom prst="rect">
            <a:avLst/>
          </a:prstGeom>
          <a:noFill/>
          <a:ln/>
        </p:spPr>
        <p:txBody>
          <a:bodyPr wrap="square" lIns="635" tIns="635" rIns="635" bIns="635" rtlCol="0" anchor="ctr">
            <a:normAutofit/>
          </a:bodyPr>
          <a:lstStyle/>
          <a:p>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READY</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是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terminal</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receipt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的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browser-local</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record</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runner</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artifact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另由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import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gate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定義</a:t>
            </a:r>
            <a:endParaRPr lang="en-US" sz="2400" dirty="0"/>
          </a:p>
        </p:txBody>
      </p:sp>
      <p:sp>
        <p:nvSpPr>
          <p:cNvPr id="4" name="Shape 2"/>
          <p:cNvSpPr/>
          <p:nvPr/>
        </p:nvSpPr>
        <p:spPr>
          <a:xfrm>
            <a:off x="822960" y="1371600"/>
            <a:ext cx="4005072" cy="1938528"/>
          </a:xfrm>
          <a:prstGeom prst="rect">
            <a:avLst/>
          </a:prstGeom>
          <a:solidFill>
            <a:srgbClr val="F7F8FC"/>
          </a:solidFill>
          <a:ln w="15240">
            <a:solidFill>
              <a:srgbClr val="D7DEEA"/>
            </a:solidFill>
            <a:prstDash val="solid"/>
          </a:ln>
        </p:spPr>
      </p:sp>
      <p:sp>
        <p:nvSpPr>
          <p:cNvPr id="5" name="Text 3"/>
          <p:cNvSpPr/>
          <p:nvPr/>
        </p:nvSpPr>
        <p:spPr>
          <a:xfrm>
            <a:off x="969264" y="1481328"/>
            <a:ext cx="3712464" cy="1719072"/>
          </a:xfrm>
          <a:prstGeom prst="rect">
            <a:avLst/>
          </a:prstGeom>
          <a:noFill/>
          <a:ln/>
        </p:spPr>
        <p:txBody>
          <a:bodyPr wrap="square" lIns="635" tIns="635" rIns="635" bIns="635" rtlCol="0" anchor="ctr">
            <a:normAutofit/>
          </a:bodyPr>
          <a:lstStyle/>
          <a:p>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待補：</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current</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Prepare</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crop</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machine-readable</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i="1" dirty="0">
                <a:solidFill>
                  <a:srgbClr val="65758B"/>
                </a:solidFill>
                <a:latin typeface="Times New Roman" pitchFamily="34" charset="0"/>
                <a:ea typeface="標楷體" pitchFamily="34" charset="-122"/>
                <a:cs typeface="Times New Roman" pitchFamily="34" charset="-120"/>
              </a:rPr>
              <a:t>READY</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receipt</a:t>
            </a:r>
            <a:endParaRPr lang="en-US" sz="2400" dirty="0"/>
          </a:p>
        </p:txBody>
      </p:sp>
      <p:sp>
        <p:nvSpPr>
          <p:cNvPr id="6" name="Shape 4"/>
          <p:cNvSpPr/>
          <p:nvPr/>
        </p:nvSpPr>
        <p:spPr>
          <a:xfrm>
            <a:off x="5212080" y="1371600"/>
            <a:ext cx="2779776" cy="1517904"/>
          </a:xfrm>
          <a:prstGeom prst="roundRect">
            <a:avLst/>
          </a:prstGeom>
          <a:solidFill>
            <a:srgbClr val="E8F7F4"/>
          </a:solidFill>
          <a:ln w="15240">
            <a:solidFill>
              <a:srgbClr val="007374"/>
            </a:solidFill>
            <a:prstDash val="solid"/>
          </a:ln>
        </p:spPr>
      </p:sp>
      <p:sp>
        <p:nvSpPr>
          <p:cNvPr id="7" name="Text 5"/>
          <p:cNvSpPr/>
          <p:nvPr/>
        </p:nvSpPr>
        <p:spPr>
          <a:xfrm>
            <a:off x="5358384" y="1481328"/>
            <a:ext cx="2487168"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記錄 </a:t>
            </a:r>
            <a:pPr algn="ctr" indent="0" marL="0">
              <a:lnSpc>
                <a:spcPct val="100000"/>
              </a:lnSpc>
              <a:buNone/>
            </a:pPr>
            <a:r>
              <a:rPr lang="en-US" sz="1800" b="1" i="1" dirty="0">
                <a:solidFill>
                  <a:srgbClr val="007374"/>
                </a:solidFill>
                <a:latin typeface="Times New Roman" pitchFamily="34" charset="0"/>
                <a:ea typeface="標楷體" pitchFamily="34" charset="-122"/>
                <a:cs typeface="Times New Roman" pitchFamily="34" charset="-120"/>
              </a:rPr>
              <a:t>READY</a:t>
            </a:r>
            <a:endParaRPr lang="en-US" sz="1800" dirty="0"/>
          </a:p>
        </p:txBody>
      </p:sp>
      <p:sp>
        <p:nvSpPr>
          <p:cNvPr id="8" name="Text 6"/>
          <p:cNvSpPr/>
          <p:nvPr/>
        </p:nvSpPr>
        <p:spPr>
          <a:xfrm>
            <a:off x="5358384" y="1883664"/>
            <a:ext cx="2487168" cy="896112"/>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讀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terminal</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receipt</a:t>
            </a:r>
            <a:pPr algn="ctr" indent="0" marL="0">
              <a:lnSpc>
                <a:spcPct val="100000"/>
              </a:lnSpc>
              <a:buNone/>
            </a:pP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寫 </a:t>
            </a: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browser-local</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status</a:t>
            </a:r>
            <a:pPr algn="ctr" indent="0" marL="0">
              <a:lnSpc>
                <a:spcPct val="100000"/>
              </a:lnSpc>
              <a:buNone/>
            </a:pP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成功：顯示已就緒</a:t>
            </a:r>
            <a:endParaRPr lang="en-US" sz="2400" dirty="0"/>
          </a:p>
        </p:txBody>
      </p:sp>
      <p:sp>
        <p:nvSpPr>
          <p:cNvPr id="9" name="Shape 7"/>
          <p:cNvSpPr/>
          <p:nvPr/>
        </p:nvSpPr>
        <p:spPr>
          <a:xfrm>
            <a:off x="8485632" y="1371600"/>
            <a:ext cx="2779776" cy="1517904"/>
          </a:xfrm>
          <a:prstGeom prst="roundRect">
            <a:avLst/>
          </a:prstGeom>
          <a:solidFill>
            <a:srgbClr val="FDF9E2"/>
          </a:solidFill>
          <a:ln w="15240">
            <a:solidFill>
              <a:srgbClr val="846826"/>
            </a:solidFill>
            <a:prstDash val="solid"/>
          </a:ln>
        </p:spPr>
      </p:sp>
      <p:sp>
        <p:nvSpPr>
          <p:cNvPr id="10" name="Text 8"/>
          <p:cNvSpPr/>
          <p:nvPr/>
        </p:nvSpPr>
        <p:spPr>
          <a:xfrm>
            <a:off x="8631936" y="1481328"/>
            <a:ext cx="2487168"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記錄備用環境</a:t>
            </a:r>
            <a:endParaRPr lang="en-US" sz="1800" dirty="0"/>
          </a:p>
        </p:txBody>
      </p:sp>
      <p:sp>
        <p:nvSpPr>
          <p:cNvPr id="11" name="Text 9"/>
          <p:cNvSpPr/>
          <p:nvPr/>
        </p:nvSpPr>
        <p:spPr>
          <a:xfrm>
            <a:off x="8631936" y="1883664"/>
            <a:ext cx="2487168" cy="896112"/>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讀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fallback</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choice</a:t>
            </a:r>
            <a:pPr algn="ctr" indent="0" marL="0">
              <a:lnSpc>
                <a:spcPct val="100000"/>
              </a:lnSpc>
              <a:buNone/>
            </a:pP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寫 </a:t>
            </a: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browser-local</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source</a:t>
            </a:r>
            <a:pPr algn="ctr" indent="0" marL="0">
              <a:lnSpc>
                <a:spcPct val="100000"/>
              </a:lnSpc>
              <a:buNone/>
            </a:pP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成功：顯示備用路徑</a:t>
            </a:r>
            <a:endParaRPr lang="en-US" sz="2400" dirty="0"/>
          </a:p>
        </p:txBody>
      </p:sp>
      <p:sp>
        <p:nvSpPr>
          <p:cNvPr id="12" name="Shape 10"/>
          <p:cNvSpPr/>
          <p:nvPr/>
        </p:nvSpPr>
        <p:spPr>
          <a:xfrm>
            <a:off x="822960" y="3730752"/>
            <a:ext cx="10442448" cy="969264"/>
          </a:xfrm>
          <a:prstGeom prst="rect">
            <a:avLst/>
          </a:prstGeom>
          <a:solidFill>
            <a:srgbClr val="ECF1FE"/>
          </a:solidFill>
          <a:ln w="15240">
            <a:solidFill>
              <a:srgbClr val="4967C2"/>
            </a:solidFill>
            <a:prstDash val="solid"/>
          </a:ln>
        </p:spPr>
      </p:sp>
      <p:sp>
        <p:nvSpPr>
          <p:cNvPr id="13" name="Text 11"/>
          <p:cNvSpPr/>
          <p:nvPr/>
        </p:nvSpPr>
        <p:spPr>
          <a:xfrm>
            <a:off x="1115568" y="3913632"/>
            <a:ext cx="4480560" cy="292608"/>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terminal</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runner</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setup</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verify</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run</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result</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artifact</a:t>
            </a:r>
            <a:endParaRPr lang="en-US" sz="1800" dirty="0"/>
          </a:p>
        </p:txBody>
      </p:sp>
      <p:sp>
        <p:nvSpPr>
          <p:cNvPr id="14" name="Shape 12"/>
          <p:cNvSpPr/>
          <p:nvPr/>
        </p:nvSpPr>
        <p:spPr>
          <a:xfrm>
            <a:off x="5833872" y="3840480"/>
            <a:ext cx="384048" cy="438912"/>
          </a:xfrm>
          <a:prstGeom prst="chevron">
            <a:avLst/>
          </a:prstGeom>
          <a:solidFill>
            <a:srgbClr val="4967C2"/>
          </a:solidFill>
          <a:ln w="12700">
            <a:solidFill>
              <a:srgbClr val="4967C2">
                <a:alpha val="0"/>
              </a:srgbClr>
            </a:solidFill>
            <a:prstDash val="solid"/>
          </a:ln>
        </p:spPr>
      </p:sp>
      <p:sp>
        <p:nvSpPr>
          <p:cNvPr id="15" name="Text 13"/>
          <p:cNvSpPr/>
          <p:nvPr/>
        </p:nvSpPr>
        <p:spPr>
          <a:xfrm>
            <a:off x="6345936" y="3913632"/>
            <a:ext cx="4498848" cy="292608"/>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browser</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route</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a:t>
            </a:r>
            <a:pPr algn="ctr" indent="0" marL="0">
              <a:lnSpc>
                <a:spcPct val="100000"/>
              </a:lnSpc>
              <a:buNone/>
            </a:pPr>
            <a:r>
              <a:rPr lang="en-US" sz="1800" b="1" i="1" dirty="0">
                <a:solidFill>
                  <a:srgbClr val="007374"/>
                </a:solidFill>
                <a:latin typeface="Times New Roman" pitchFamily="34" charset="0"/>
                <a:ea typeface="標楷體" pitchFamily="34" charset="-122"/>
                <a:cs typeface="Times New Roman" pitchFamily="34" charset="-120"/>
              </a:rPr>
              <a:t>READY</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a:t>
            </a:r>
            <a:pPr algn="ctr" indent="0" marL="0">
              <a:lnSpc>
                <a:spcPct val="100000"/>
              </a:lnSpc>
              <a:buNone/>
            </a:pPr>
            <a:r>
              <a:rPr lang="en-US" sz="1800" b="1" i="1" dirty="0">
                <a:solidFill>
                  <a:srgbClr val="007374"/>
                </a:solidFill>
                <a:latin typeface="Times New Roman" pitchFamily="34" charset="0"/>
                <a:ea typeface="標楷體" pitchFamily="34" charset="-122"/>
                <a:cs typeface="Times New Roman" pitchFamily="34" charset="-120"/>
              </a:rPr>
              <a:t>source</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record</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import</a:t>
            </a:r>
            <a:endParaRPr lang="en-US" sz="1800" dirty="0"/>
          </a:p>
        </p:txBody>
      </p:sp>
      <p:sp>
        <p:nvSpPr>
          <p:cNvPr id="16" name="Shape 14"/>
          <p:cNvSpPr/>
          <p:nvPr/>
        </p:nvSpPr>
        <p:spPr>
          <a:xfrm>
            <a:off x="1883664" y="4846320"/>
            <a:ext cx="8357616" cy="877824"/>
          </a:xfrm>
          <a:prstGeom prst="roundRect">
            <a:avLst/>
          </a:prstGeom>
          <a:solidFill>
            <a:srgbClr val="FDEFEF"/>
          </a:solidFill>
          <a:ln w="15240">
            <a:solidFill>
              <a:srgbClr val="992A2A"/>
            </a:solidFill>
            <a:prstDash val="solid"/>
          </a:ln>
        </p:spPr>
      </p:sp>
      <p:sp>
        <p:nvSpPr>
          <p:cNvPr id="17" name="Text 15"/>
          <p:cNvSpPr/>
          <p:nvPr/>
        </p:nvSpPr>
        <p:spPr>
          <a:xfrm>
            <a:off x="2029968" y="4956048"/>
            <a:ext cx="8065008"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證據邊界 </a:t>
            </a:r>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boundary</a:t>
            </a:r>
            <a:endParaRPr lang="en-US" sz="1800" dirty="0"/>
          </a:p>
        </p:txBody>
      </p:sp>
      <p:sp>
        <p:nvSpPr>
          <p:cNvPr id="18" name="Text 16"/>
          <p:cNvSpPr/>
          <p:nvPr/>
        </p:nvSpPr>
        <p:spPr>
          <a:xfrm>
            <a:off x="2029968" y="5285232"/>
            <a:ext cx="8065008" cy="329184"/>
          </a:xfrm>
          <a:prstGeom prst="rect">
            <a:avLst/>
          </a:prstGeom>
          <a:noFill/>
          <a:ln/>
        </p:spPr>
        <p:txBody>
          <a:bodyPr wrap="square" lIns="635" tIns="635" rIns="635" bIns="635" rtlCol="0" anchor="t">
            <a:normAutofit/>
          </a:bodyPr>
          <a:lstStyle/>
          <a:p>
            <a:pPr algn="ctr" indent="0" marL="0">
              <a:lnSpc>
                <a:spcPct val="100000"/>
              </a:lnSpc>
              <a:buNone/>
            </a:pPr>
            <a:r>
              <a:rPr lang="en-US" sz="1800" i="1" dirty="0">
                <a:solidFill>
                  <a:srgbClr val="25324A"/>
                </a:solidFill>
                <a:latin typeface="Times New Roman" pitchFamily="34" charset="0"/>
                <a:ea typeface="標楷體" pitchFamily="34" charset="-122"/>
                <a:cs typeface="Times New Roman" pitchFamily="34" charset="-120"/>
              </a:rPr>
              <a:t>READY</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記錄狀態；</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runner</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receipt</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定義 </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setup</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run</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與 </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artifact</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a:t>
            </a:r>
            <a:endParaRPr lang="en-US" sz="1800" dirty="0"/>
          </a:p>
        </p:txBody>
      </p:sp>
      <p:sp>
        <p:nvSpPr>
          <p:cNvPr id="20" name="Text 3"/>
          <p:cNvSpPr/>
          <p:nvPr>
            <p:ph idx="105" type="title" hasCustomPrompt="1"/>
          </p:nvPr>
        </p:nvSpPr>
        <p:spPr>
          <a:xfrm>
            <a:off x="656591" y="187008"/>
            <a:ext cx="9462769" cy="480060"/>
          </a:xfrm>
          <a:prstGeom prst="rect">
            <a:avLst/>
          </a:prstGeom>
          <a:noFill/>
          <a:ln/>
        </p:spPr>
        <p:txBody>
          <a:bodyPr wrap="square" lIns="0" tIns="0" rIns="0" bIns="0" rtlCol="0" anchor="b"/>
          <a:lstStyle/>
          <a:p>
            <a:pPr algn="l" indent="0" marL="0">
              <a:buNone/>
            </a:pPr>
            <a:endParaRPr lang="en-US" sz="2800" dirty="0"/>
          </a:p>
        </p:txBody>
      </p:sp>
    </p:spTree>
  </p:cSld>
  <p:clrMapOvr>
    <a:masterClrMapping/>
  </p:clrMapOvr>
</p:sld>
</file>

<file path=ppt/slides/slide15.xml><?xml version="1.0" encoding="utf-8"?>
<p:sld xmlns:a="http://schemas.openxmlformats.org/drawingml/2006/main"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56591" y="187008"/>
            <a:ext cx="9462769" cy="480060"/>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P095</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｜導覽與 </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fallback</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loader</a:t>
            </a:r>
            <a:endParaRPr lang="en-US" sz="2800" dirty="0"/>
          </a:p>
        </p:txBody>
      </p:sp>
      <p:sp>
        <p:nvSpPr>
          <p:cNvPr id="3" name="Text 1"/>
          <p:cNvSpPr/>
          <p:nvPr/>
        </p:nvSpPr>
        <p:spPr>
          <a:xfrm>
            <a:off x="822960" y="932688"/>
            <a:ext cx="10561320" cy="438912"/>
          </a:xfrm>
          <a:prstGeom prst="rect">
            <a:avLst/>
          </a:prstGeom>
          <a:noFill/>
          <a:ln/>
        </p:spPr>
        <p:txBody>
          <a:bodyPr wrap="square" lIns="635" tIns="635" rIns="635" bIns="635" rtlCol="0" anchor="ctr">
            <a:normAutofit/>
          </a:bodyPr>
          <a:lstStyle/>
          <a:p>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導覽、語言、工作台與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fallback</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loader</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：按鈕改變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focus</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或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source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selection</a:t>
            </a:r>
            <a:endParaRPr lang="en-US" sz="2400" dirty="0"/>
          </a:p>
        </p:txBody>
      </p:sp>
      <p:sp>
        <p:nvSpPr>
          <p:cNvPr id="4" name="Shape 2"/>
          <p:cNvSpPr/>
          <p:nvPr/>
        </p:nvSpPr>
        <p:spPr>
          <a:xfrm>
            <a:off x="822960" y="1389888"/>
            <a:ext cx="2395728" cy="1170432"/>
          </a:xfrm>
          <a:prstGeom prst="roundRect">
            <a:avLst/>
          </a:prstGeom>
          <a:solidFill>
            <a:srgbClr val="ECF1FE"/>
          </a:solidFill>
          <a:ln w="15240">
            <a:solidFill>
              <a:srgbClr val="4967C2"/>
            </a:solidFill>
            <a:prstDash val="solid"/>
          </a:ln>
        </p:spPr>
      </p:sp>
      <p:sp>
        <p:nvSpPr>
          <p:cNvPr id="5" name="Text 3"/>
          <p:cNvSpPr/>
          <p:nvPr/>
        </p:nvSpPr>
        <p:spPr>
          <a:xfrm>
            <a:off x="969264" y="1499616"/>
            <a:ext cx="2103120"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焦點 </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focus</a:t>
            </a:r>
            <a:endParaRPr lang="en-US" sz="1800" dirty="0"/>
          </a:p>
        </p:txBody>
      </p:sp>
      <p:sp>
        <p:nvSpPr>
          <p:cNvPr id="6" name="Text 4"/>
          <p:cNvSpPr/>
          <p:nvPr/>
        </p:nvSpPr>
        <p:spPr>
          <a:xfrm>
            <a:off x="969264" y="1901952"/>
            <a:ext cx="2103120" cy="548640"/>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直接前往操作區</a:t>
            </a: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返回 </a:t>
            </a: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Leo</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首頁</a:t>
            </a:r>
            <a:endParaRPr lang="en-US" sz="2400" dirty="0"/>
          </a:p>
        </p:txBody>
      </p:sp>
      <p:sp>
        <p:nvSpPr>
          <p:cNvPr id="7" name="Shape 5"/>
          <p:cNvSpPr/>
          <p:nvPr/>
        </p:nvSpPr>
        <p:spPr>
          <a:xfrm>
            <a:off x="3566160" y="1389888"/>
            <a:ext cx="2395728" cy="1170432"/>
          </a:xfrm>
          <a:prstGeom prst="roundRect">
            <a:avLst/>
          </a:prstGeom>
          <a:solidFill>
            <a:srgbClr val="FDF9E2"/>
          </a:solidFill>
          <a:ln w="15240">
            <a:solidFill>
              <a:srgbClr val="846826"/>
            </a:solidFill>
            <a:prstDash val="solid"/>
          </a:ln>
        </p:spPr>
      </p:sp>
      <p:sp>
        <p:nvSpPr>
          <p:cNvPr id="8" name="Text 6"/>
          <p:cNvSpPr/>
          <p:nvPr/>
        </p:nvSpPr>
        <p:spPr>
          <a:xfrm>
            <a:off x="3712464" y="1499616"/>
            <a:ext cx="2103120"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語言 </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language</a:t>
            </a:r>
            <a:endParaRPr lang="en-US" sz="1800" dirty="0"/>
          </a:p>
        </p:txBody>
      </p:sp>
      <p:sp>
        <p:nvSpPr>
          <p:cNvPr id="9" name="Text 7"/>
          <p:cNvSpPr/>
          <p:nvPr/>
        </p:nvSpPr>
        <p:spPr>
          <a:xfrm>
            <a:off x="3712464" y="1901952"/>
            <a:ext cx="2103120" cy="548640"/>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繁中／</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EN</a:t>
            </a:r>
            <a:pPr algn="ctr" indent="0" marL="0">
              <a:lnSpc>
                <a:spcPct val="100000"/>
              </a:lnSpc>
              <a:buNone/>
            </a:pP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只切換畫面語言</a:t>
            </a:r>
            <a:endParaRPr lang="en-US" sz="2400" dirty="0"/>
          </a:p>
        </p:txBody>
      </p:sp>
      <p:sp>
        <p:nvSpPr>
          <p:cNvPr id="10" name="Shape 8"/>
          <p:cNvSpPr/>
          <p:nvPr/>
        </p:nvSpPr>
        <p:spPr>
          <a:xfrm>
            <a:off x="6309360" y="1389888"/>
            <a:ext cx="2395728" cy="1170432"/>
          </a:xfrm>
          <a:prstGeom prst="roundRect">
            <a:avLst/>
          </a:prstGeom>
          <a:solidFill>
            <a:srgbClr val="E8F7F4"/>
          </a:solidFill>
          <a:ln w="15240">
            <a:solidFill>
              <a:srgbClr val="007374"/>
            </a:solidFill>
            <a:prstDash val="solid"/>
          </a:ln>
        </p:spPr>
      </p:sp>
      <p:sp>
        <p:nvSpPr>
          <p:cNvPr id="11" name="Text 9"/>
          <p:cNvSpPr/>
          <p:nvPr/>
        </p:nvSpPr>
        <p:spPr>
          <a:xfrm>
            <a:off x="6455664" y="1499616"/>
            <a:ext cx="2103120"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工作台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route</a:t>
            </a:r>
            <a:endParaRPr lang="en-US" sz="1800" dirty="0"/>
          </a:p>
        </p:txBody>
      </p:sp>
      <p:sp>
        <p:nvSpPr>
          <p:cNvPr id="12" name="Text 10"/>
          <p:cNvSpPr/>
          <p:nvPr/>
        </p:nvSpPr>
        <p:spPr>
          <a:xfrm>
            <a:off x="6455664" y="1901952"/>
            <a:ext cx="2103120" cy="548640"/>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準備／實驗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B</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C</a:t>
            </a:r>
            <a:pPr algn="ctr" indent="0" marL="0">
              <a:lnSpc>
                <a:spcPct val="100000"/>
              </a:lnSpc>
              <a:buNone/>
            </a:pP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證據／學習單</a:t>
            </a:r>
            <a:endParaRPr lang="en-US" sz="2400" dirty="0"/>
          </a:p>
        </p:txBody>
      </p:sp>
      <p:sp>
        <p:nvSpPr>
          <p:cNvPr id="13" name="Shape 11"/>
          <p:cNvSpPr/>
          <p:nvPr/>
        </p:nvSpPr>
        <p:spPr>
          <a:xfrm>
            <a:off x="9052560" y="1389888"/>
            <a:ext cx="2395728" cy="1170432"/>
          </a:xfrm>
          <a:prstGeom prst="roundRect">
            <a:avLst/>
          </a:prstGeom>
          <a:solidFill>
            <a:srgbClr val="F4EDF7"/>
          </a:solidFill>
          <a:ln w="15240">
            <a:solidFill>
              <a:srgbClr val="660066"/>
            </a:solidFill>
            <a:prstDash val="solid"/>
          </a:ln>
        </p:spPr>
      </p:sp>
      <p:sp>
        <p:nvSpPr>
          <p:cNvPr id="14" name="Text 12"/>
          <p:cNvSpPr/>
          <p:nvPr/>
        </p:nvSpPr>
        <p:spPr>
          <a:xfrm>
            <a:off x="9198864" y="1499616"/>
            <a:ext cx="2103120"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紀錄 </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record</a:t>
            </a:r>
            <a:endParaRPr lang="en-US" sz="1800" dirty="0"/>
          </a:p>
        </p:txBody>
      </p:sp>
      <p:sp>
        <p:nvSpPr>
          <p:cNvPr id="15" name="Text 13"/>
          <p:cNvSpPr/>
          <p:nvPr/>
        </p:nvSpPr>
        <p:spPr>
          <a:xfrm>
            <a:off x="9198864" y="1901952"/>
            <a:ext cx="2103120" cy="548640"/>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證據／學習單</a:t>
            </a: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保留 </a:t>
            </a:r>
            <a:endParaRPr lang="en-US" sz="2400" dirty="0"/>
          </a:p>
          <a:p>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workbook</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focus</a:t>
            </a:r>
            <a:endParaRPr lang="en-US" sz="2400" dirty="0"/>
          </a:p>
        </p:txBody>
      </p:sp>
      <p:sp>
        <p:nvSpPr>
          <p:cNvPr id="16" name="Shape 14"/>
          <p:cNvSpPr/>
          <p:nvPr/>
        </p:nvSpPr>
        <p:spPr>
          <a:xfrm>
            <a:off x="1316736" y="3054096"/>
            <a:ext cx="8796528" cy="0"/>
          </a:xfrm>
          <a:prstGeom prst="line">
            <a:avLst/>
          </a:prstGeom>
          <a:noFill/>
          <a:ln w="25400">
            <a:solidFill>
              <a:srgbClr val="25356B"/>
            </a:solidFill>
            <a:prstDash val="solid"/>
          </a:ln>
        </p:spPr>
      </p:sp>
      <p:sp>
        <p:nvSpPr>
          <p:cNvPr id="17" name="Shape 15"/>
          <p:cNvSpPr/>
          <p:nvPr/>
        </p:nvSpPr>
        <p:spPr>
          <a:xfrm>
            <a:off x="1225296" y="2962656"/>
            <a:ext cx="182880" cy="182880"/>
          </a:xfrm>
          <a:prstGeom prst="ellipse">
            <a:avLst/>
          </a:prstGeom>
          <a:solidFill>
            <a:srgbClr val="4967C2"/>
          </a:solidFill>
          <a:ln w="12700">
            <a:solidFill>
              <a:srgbClr val="4967C2"/>
            </a:solidFill>
            <a:prstDash val="solid"/>
          </a:ln>
        </p:spPr>
      </p:sp>
      <p:sp>
        <p:nvSpPr>
          <p:cNvPr id="18" name="Shape 16"/>
          <p:cNvSpPr/>
          <p:nvPr/>
        </p:nvSpPr>
        <p:spPr>
          <a:xfrm>
            <a:off x="10021824" y="2962656"/>
            <a:ext cx="182880" cy="182880"/>
          </a:xfrm>
          <a:prstGeom prst="ellipse">
            <a:avLst/>
          </a:prstGeom>
          <a:solidFill>
            <a:srgbClr val="660066"/>
          </a:solidFill>
          <a:ln w="12700">
            <a:solidFill>
              <a:srgbClr val="660066"/>
            </a:solidFill>
            <a:prstDash val="solid"/>
          </a:ln>
        </p:spPr>
      </p:sp>
      <p:sp>
        <p:nvSpPr>
          <p:cNvPr id="19" name="Shape 17"/>
          <p:cNvSpPr/>
          <p:nvPr/>
        </p:nvSpPr>
        <p:spPr>
          <a:xfrm>
            <a:off x="822960" y="3438144"/>
            <a:ext cx="4681728" cy="1335024"/>
          </a:xfrm>
          <a:prstGeom prst="roundRect">
            <a:avLst/>
          </a:prstGeom>
          <a:solidFill>
            <a:srgbClr val="F4EDF7"/>
          </a:solidFill>
          <a:ln w="15240">
            <a:solidFill>
              <a:srgbClr val="660066"/>
            </a:solidFill>
            <a:prstDash val="solid"/>
          </a:ln>
        </p:spPr>
      </p:sp>
      <p:sp>
        <p:nvSpPr>
          <p:cNvPr id="20" name="Text 18"/>
          <p:cNvSpPr/>
          <p:nvPr/>
        </p:nvSpPr>
        <p:spPr>
          <a:xfrm>
            <a:off x="969264" y="3547872"/>
            <a:ext cx="4389120"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fallback</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loader</a:t>
            </a:r>
            <a:endParaRPr lang="en-US" sz="1800" dirty="0"/>
          </a:p>
        </p:txBody>
      </p:sp>
      <p:sp>
        <p:nvSpPr>
          <p:cNvPr id="21" name="Text 19"/>
          <p:cNvSpPr/>
          <p:nvPr/>
        </p:nvSpPr>
        <p:spPr>
          <a:xfrm>
            <a:off x="969264" y="3950208"/>
            <a:ext cx="4389120" cy="713232"/>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讀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experiment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order</a:t>
            </a:r>
            <a:pPr algn="ctr" indent="0" marL="0">
              <a:lnSpc>
                <a:spcPct val="100000"/>
              </a:lnSpc>
              <a:buNone/>
            </a:pP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寫 </a:t>
            </a: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selected</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fallback</a:t>
            </a:r>
            <a:pPr algn="ctr" indent="0" marL="0">
              <a:lnSpc>
                <a:spcPct val="100000"/>
              </a:lnSpc>
              <a:buNone/>
            </a:pP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成功：更新 </a:t>
            </a:r>
            <a:endParaRPr lang="en-US" sz="2400" dirty="0"/>
          </a:p>
          <a:p>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source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identity</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不符：原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result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保持</a:t>
            </a:r>
            <a:endParaRPr lang="en-US" sz="2400" dirty="0"/>
          </a:p>
        </p:txBody>
      </p:sp>
      <p:sp>
        <p:nvSpPr>
          <p:cNvPr id="22" name="Shape 20"/>
          <p:cNvSpPr/>
          <p:nvPr/>
        </p:nvSpPr>
        <p:spPr>
          <a:xfrm>
            <a:off x="5998464" y="3438144"/>
            <a:ext cx="5193792" cy="1335024"/>
          </a:xfrm>
          <a:prstGeom prst="roundRect">
            <a:avLst/>
          </a:prstGeom>
          <a:solidFill>
            <a:srgbClr val="ECF1FE"/>
          </a:solidFill>
          <a:ln w="15240">
            <a:solidFill>
              <a:srgbClr val="4967C2"/>
            </a:solidFill>
            <a:prstDash val="solid"/>
          </a:ln>
        </p:spPr>
      </p:sp>
      <p:sp>
        <p:nvSpPr>
          <p:cNvPr id="23" name="Text 21"/>
          <p:cNvSpPr/>
          <p:nvPr/>
        </p:nvSpPr>
        <p:spPr>
          <a:xfrm>
            <a:off x="6144768" y="3547872"/>
            <a:ext cx="4901184"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責任邊界</a:t>
            </a:r>
            <a:endParaRPr lang="en-US" sz="1800" dirty="0"/>
          </a:p>
        </p:txBody>
      </p:sp>
      <p:sp>
        <p:nvSpPr>
          <p:cNvPr id="24" name="Text 22"/>
          <p:cNvSpPr/>
          <p:nvPr/>
        </p:nvSpPr>
        <p:spPr>
          <a:xfrm>
            <a:off x="6144768" y="3950208"/>
            <a:ext cx="4901184" cy="713232"/>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切頁或切語言只改畫面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state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identity</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service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upload</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仍依各自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gate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讀取。</a:t>
            </a:r>
            <a:endParaRPr lang="en-US" sz="2400" dirty="0"/>
          </a:p>
        </p:txBody>
      </p:sp>
      <p:sp>
        <p:nvSpPr>
          <p:cNvPr id="25" name="Shape 23"/>
          <p:cNvSpPr/>
          <p:nvPr/>
        </p:nvSpPr>
        <p:spPr>
          <a:xfrm>
            <a:off x="2487168" y="5266944"/>
            <a:ext cx="7187184" cy="420624"/>
          </a:xfrm>
          <a:prstGeom prst="roundRect">
            <a:avLst/>
          </a:prstGeom>
          <a:solidFill>
            <a:srgbClr val="F7F8FC"/>
          </a:solidFill>
          <a:ln w="15240">
            <a:solidFill>
              <a:srgbClr val="65758B"/>
            </a:solidFill>
            <a:prstDash val="solid"/>
          </a:ln>
        </p:spPr>
      </p:sp>
      <p:sp>
        <p:nvSpPr>
          <p:cNvPr id="26" name="Text 24"/>
          <p:cNvSpPr/>
          <p:nvPr/>
        </p:nvSpPr>
        <p:spPr>
          <a:xfrm>
            <a:off x="2560320" y="5303520"/>
            <a:ext cx="7040880" cy="310896"/>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65758B"/>
                </a:solidFill>
                <a:latin typeface="Times New Roman" pitchFamily="34" charset="0"/>
                <a:ea typeface="標楷體" pitchFamily="34" charset="-122"/>
                <a:cs typeface="Times New Roman" pitchFamily="34" charset="-120"/>
              </a:rPr>
              <a:t>current</a:t>
            </a:r>
            <a:pPr algn="ctr" indent="0" marL="0">
              <a:lnSpc>
                <a:spcPct val="100000"/>
              </a:lnSpc>
              <a:buNone/>
            </a:pPr>
            <a:r>
              <a:rPr lang="en-US" sz="18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65758B"/>
                </a:solidFill>
                <a:latin typeface="Times New Roman" pitchFamily="34" charset="0"/>
                <a:ea typeface="標楷體" pitchFamily="34" charset="-122"/>
                <a:cs typeface="Times New Roman" pitchFamily="34" charset="-120"/>
              </a:rPr>
              <a:t>navigation</a:t>
            </a:r>
            <a:pPr algn="ctr" indent="0" marL="0">
              <a:lnSpc>
                <a:spcPct val="100000"/>
              </a:lnSpc>
              <a:buNone/>
            </a:pPr>
            <a:r>
              <a:rPr lang="en-US" sz="18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65758B"/>
                </a:solidFill>
                <a:latin typeface="Times New Roman" pitchFamily="34" charset="0"/>
                <a:ea typeface="標楷體" pitchFamily="34" charset="-122"/>
                <a:cs typeface="Times New Roman" pitchFamily="34" charset="-120"/>
              </a:rPr>
              <a:t>crop</a:t>
            </a:r>
            <a:pPr algn="ctr" indent="0" marL="0">
              <a:lnSpc>
                <a:spcPct val="100000"/>
              </a:lnSpc>
              <a:buNone/>
            </a:pPr>
            <a:r>
              <a:rPr lang="en-US" sz="1800" b="1" dirty="0">
                <a:solidFill>
                  <a:srgbClr val="65758B"/>
                </a:solidFill>
                <a:latin typeface="Times New Roman" pitchFamily="34" charset="0"/>
                <a:ea typeface="標楷體" pitchFamily="34" charset="-122"/>
                <a:cs typeface="Times New Roman" pitchFamily="34" charset="-120"/>
              </a:rPr>
              <a:t> 待補｜</a:t>
            </a:r>
            <a:pPr algn="ctr" indent="0" marL="0">
              <a:lnSpc>
                <a:spcPct val="100000"/>
              </a:lnSpc>
              <a:buNone/>
            </a:pPr>
            <a:r>
              <a:rPr lang="en-US" sz="1800" b="1" dirty="0">
                <a:solidFill>
                  <a:srgbClr val="65758B"/>
                </a:solidFill>
                <a:latin typeface="Times New Roman" pitchFamily="34" charset="0"/>
                <a:ea typeface="標楷體" pitchFamily="34" charset="-122"/>
                <a:cs typeface="Times New Roman" pitchFamily="34" charset="-120"/>
              </a:rPr>
              <a:t>editable</a:t>
            </a:r>
            <a:pPr algn="ctr" indent="0" marL="0">
              <a:lnSpc>
                <a:spcPct val="100000"/>
              </a:lnSpc>
              <a:buNone/>
            </a:pPr>
            <a:r>
              <a:rPr lang="en-US" sz="18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65758B"/>
                </a:solidFill>
                <a:latin typeface="Times New Roman" pitchFamily="34" charset="0"/>
                <a:ea typeface="標楷體" pitchFamily="34" charset="-122"/>
                <a:cs typeface="Times New Roman" pitchFamily="34" charset="-120"/>
              </a:rPr>
              <a:t>navigation</a:t>
            </a:r>
            <a:pPr algn="ctr" indent="0" marL="0">
              <a:lnSpc>
                <a:spcPct val="100000"/>
              </a:lnSpc>
              <a:buNone/>
            </a:pPr>
            <a:r>
              <a:rPr lang="en-US" sz="18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65758B"/>
                </a:solidFill>
                <a:latin typeface="Times New Roman" pitchFamily="34" charset="0"/>
                <a:ea typeface="標楷體" pitchFamily="34" charset="-122"/>
                <a:cs typeface="Times New Roman" pitchFamily="34" charset="-120"/>
              </a:rPr>
              <a:t>map</a:t>
            </a:r>
            <a:endParaRPr lang="en-US" sz="1800" dirty="0"/>
          </a:p>
        </p:txBody>
      </p:sp>
      <p:sp>
        <p:nvSpPr>
          <p:cNvPr id="28" name="Text 3"/>
          <p:cNvSpPr/>
          <p:nvPr>
            <p:ph idx="105" type="title" hasCustomPrompt="1"/>
          </p:nvPr>
        </p:nvSpPr>
        <p:spPr>
          <a:xfrm>
            <a:off x="656591" y="187008"/>
            <a:ext cx="9462769" cy="480060"/>
          </a:xfrm>
          <a:prstGeom prst="rect">
            <a:avLst/>
          </a:prstGeom>
          <a:noFill/>
          <a:ln/>
        </p:spPr>
        <p:txBody>
          <a:bodyPr wrap="square" lIns="0" tIns="0" rIns="0" bIns="0" rtlCol="0" anchor="b"/>
          <a:lstStyle/>
          <a:p>
            <a:pPr algn="l" indent="0" marL="0">
              <a:buNone/>
            </a:pPr>
            <a:endParaRPr lang="en-US" sz="2800" dirty="0"/>
          </a:p>
        </p:txBody>
      </p:sp>
    </p:spTree>
  </p:cSld>
  <p:clrMapOvr>
    <a:masterClrMapping/>
  </p:clrMapOvr>
</p:sld>
</file>

<file path=ppt/slides/slide16.xml><?xml version="1.0" encoding="utf-8"?>
<p:sld xmlns:a="http://schemas.openxmlformats.org/drawingml/2006/main"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56591" y="187008"/>
            <a:ext cx="9462769" cy="480060"/>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P096</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Task</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lock</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與證據按鈕</a:t>
            </a:r>
            <a:endParaRPr lang="en-US" sz="2800" dirty="0"/>
          </a:p>
        </p:txBody>
      </p:sp>
      <p:sp>
        <p:nvSpPr>
          <p:cNvPr id="3" name="Text 1"/>
          <p:cNvSpPr/>
          <p:nvPr/>
        </p:nvSpPr>
        <p:spPr>
          <a:xfrm>
            <a:off x="822960" y="932688"/>
            <a:ext cx="10561320" cy="438912"/>
          </a:xfrm>
          <a:prstGeom prst="rect">
            <a:avLst/>
          </a:prstGeom>
          <a:noFill/>
          <a:ln/>
        </p:spPr>
        <p:txBody>
          <a:bodyPr wrap="square" lIns="635" tIns="635" rIns="635" bIns="635" rtlCol="0" anchor="ctr">
            <a:normAutofit/>
          </a:bodyPr>
          <a:lstStyle/>
          <a:p>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task</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lock</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只保存課程段落；</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runner</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replay</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與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service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gate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各自維持責任</a:t>
            </a:r>
            <a:endParaRPr lang="en-US" sz="2400" dirty="0"/>
          </a:p>
        </p:txBody>
      </p:sp>
      <p:sp>
        <p:nvSpPr>
          <p:cNvPr id="4" name="Shape 2"/>
          <p:cNvSpPr/>
          <p:nvPr/>
        </p:nvSpPr>
        <p:spPr>
          <a:xfrm>
            <a:off x="877824" y="3730752"/>
            <a:ext cx="1335024" cy="658368"/>
          </a:xfrm>
          <a:prstGeom prst="roundRect">
            <a:avLst/>
          </a:prstGeom>
          <a:solidFill>
            <a:srgbClr val="ECF1FE"/>
          </a:solidFill>
          <a:ln w="15240">
            <a:solidFill>
              <a:srgbClr val="4967C2"/>
            </a:solidFill>
            <a:prstDash val="solid"/>
          </a:ln>
        </p:spPr>
      </p:sp>
      <p:sp>
        <p:nvSpPr>
          <p:cNvPr id="5" name="Text 3"/>
          <p:cNvSpPr/>
          <p:nvPr/>
        </p:nvSpPr>
        <p:spPr>
          <a:xfrm>
            <a:off x="950976" y="3913632"/>
            <a:ext cx="1188720"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4967C2"/>
                </a:solidFill>
                <a:latin typeface="Times New Roman" pitchFamily="34" charset="0"/>
                <a:ea typeface="標楷體" pitchFamily="34" charset="-122"/>
                <a:cs typeface="Times New Roman" pitchFamily="34" charset="-120"/>
              </a:rPr>
              <a:t>Task</a:t>
            </a:r>
            <a:pPr algn="ctr" indent="0" marL="0">
              <a:lnSpc>
                <a:spcPct val="100000"/>
              </a:lnSpc>
              <a:buNone/>
            </a:pPr>
            <a:r>
              <a:rPr lang="en-US" sz="1600" b="1" dirty="0">
                <a:solidFill>
                  <a:srgbClr val="4967C2"/>
                </a:solidFill>
                <a:latin typeface="Times New Roman" pitchFamily="34" charset="0"/>
                <a:ea typeface="標楷體" pitchFamily="34" charset="-122"/>
                <a:cs typeface="Times New Roman" pitchFamily="34" charset="-120"/>
              </a:rPr>
              <a:t> </a:t>
            </a:r>
            <a:pPr algn="ctr" indent="0" marL="0">
              <a:lnSpc>
                <a:spcPct val="100000"/>
              </a:lnSpc>
              <a:buNone/>
            </a:pPr>
            <a:r>
              <a:rPr lang="en-US" sz="1600" b="1" dirty="0">
                <a:solidFill>
                  <a:srgbClr val="4967C2"/>
                </a:solidFill>
                <a:latin typeface="Times New Roman" pitchFamily="34" charset="0"/>
                <a:ea typeface="標楷體" pitchFamily="34" charset="-122"/>
                <a:cs typeface="Times New Roman" pitchFamily="34" charset="-120"/>
              </a:rPr>
              <a:t>1</a:t>
            </a:r>
            <a:pPr algn="ctr" indent="0" marL="0">
              <a:lnSpc>
                <a:spcPct val="100000"/>
              </a:lnSpc>
              <a:buNone/>
            </a:pPr>
            <a:r>
              <a:rPr lang="en-US" sz="1600" b="1" dirty="0">
                <a:solidFill>
                  <a:srgbClr val="4967C2"/>
                </a:solidFill>
                <a:latin typeface="Times New Roman" pitchFamily="34" charset="0"/>
                <a:ea typeface="標楷體" pitchFamily="34" charset="-122"/>
                <a:cs typeface="Times New Roman" pitchFamily="34" charset="-120"/>
              </a:rPr>
              <a:t>–</a:t>
            </a:r>
            <a:pPr algn="ctr" indent="0" marL="0">
              <a:lnSpc>
                <a:spcPct val="100000"/>
              </a:lnSpc>
              <a:buNone/>
            </a:pPr>
            <a:r>
              <a:rPr lang="en-US" sz="1600" b="1" dirty="0">
                <a:solidFill>
                  <a:srgbClr val="4967C2"/>
                </a:solidFill>
                <a:latin typeface="Times New Roman" pitchFamily="34" charset="0"/>
                <a:ea typeface="標楷體" pitchFamily="34" charset="-122"/>
                <a:cs typeface="Times New Roman" pitchFamily="34" charset="-120"/>
              </a:rPr>
              <a:t>3</a:t>
            </a:r>
            <a:endParaRPr lang="en-US" sz="1600" dirty="0"/>
          </a:p>
        </p:txBody>
      </p:sp>
      <p:sp>
        <p:nvSpPr>
          <p:cNvPr id="6" name="Shape 4"/>
          <p:cNvSpPr/>
          <p:nvPr/>
        </p:nvSpPr>
        <p:spPr>
          <a:xfrm>
            <a:off x="2359152" y="3072384"/>
            <a:ext cx="1335024" cy="658368"/>
          </a:xfrm>
          <a:prstGeom prst="roundRect">
            <a:avLst/>
          </a:prstGeom>
          <a:solidFill>
            <a:srgbClr val="E8F7F4"/>
          </a:solidFill>
          <a:ln w="15240">
            <a:solidFill>
              <a:srgbClr val="007374"/>
            </a:solidFill>
            <a:prstDash val="solid"/>
          </a:ln>
        </p:spPr>
      </p:sp>
      <p:sp>
        <p:nvSpPr>
          <p:cNvPr id="7" name="Text 5"/>
          <p:cNvSpPr/>
          <p:nvPr/>
        </p:nvSpPr>
        <p:spPr>
          <a:xfrm>
            <a:off x="2432304" y="3255264"/>
            <a:ext cx="1188720"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007374"/>
                </a:solidFill>
                <a:latin typeface="Times New Roman" pitchFamily="34" charset="0"/>
                <a:ea typeface="標楷體" pitchFamily="34" charset="-122"/>
                <a:cs typeface="Times New Roman" pitchFamily="34" charset="-120"/>
              </a:rPr>
              <a:t>Task</a:t>
            </a:r>
            <a:pPr algn="ctr" indent="0" marL="0">
              <a:lnSpc>
                <a:spcPct val="100000"/>
              </a:lnSpc>
              <a:buNone/>
            </a:pPr>
            <a:r>
              <a:rPr lang="en-US" sz="16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600" b="1" dirty="0">
                <a:solidFill>
                  <a:srgbClr val="007374"/>
                </a:solidFill>
                <a:latin typeface="Times New Roman" pitchFamily="34" charset="0"/>
                <a:ea typeface="標楷體" pitchFamily="34" charset="-122"/>
                <a:cs typeface="Times New Roman" pitchFamily="34" charset="-120"/>
              </a:rPr>
              <a:t>4</a:t>
            </a:r>
            <a:pPr algn="ctr" indent="0" marL="0">
              <a:lnSpc>
                <a:spcPct val="100000"/>
              </a:lnSpc>
              <a:buNone/>
            </a:pPr>
            <a:r>
              <a:rPr lang="en-US" sz="1600" b="1" dirty="0">
                <a:solidFill>
                  <a:srgbClr val="007374"/>
                </a:solidFill>
                <a:latin typeface="Times New Roman" pitchFamily="34" charset="0"/>
                <a:ea typeface="標楷體" pitchFamily="34" charset="-122"/>
                <a:cs typeface="Times New Roman" pitchFamily="34" charset="-120"/>
              </a:rPr>
              <a:t>–</a:t>
            </a:r>
            <a:pPr algn="ctr" indent="0" marL="0">
              <a:lnSpc>
                <a:spcPct val="100000"/>
              </a:lnSpc>
              <a:buNone/>
            </a:pPr>
            <a:r>
              <a:rPr lang="en-US" sz="1600" b="1" dirty="0">
                <a:solidFill>
                  <a:srgbClr val="007374"/>
                </a:solidFill>
                <a:latin typeface="Times New Roman" pitchFamily="34" charset="0"/>
                <a:ea typeface="標楷體" pitchFamily="34" charset="-122"/>
                <a:cs typeface="Times New Roman" pitchFamily="34" charset="-120"/>
              </a:rPr>
              <a:t>6</a:t>
            </a:r>
            <a:endParaRPr lang="en-US" sz="1600" dirty="0"/>
          </a:p>
        </p:txBody>
      </p:sp>
      <p:sp>
        <p:nvSpPr>
          <p:cNvPr id="8" name="Shape 6"/>
          <p:cNvSpPr/>
          <p:nvPr/>
        </p:nvSpPr>
        <p:spPr>
          <a:xfrm>
            <a:off x="3840480" y="2414016"/>
            <a:ext cx="1335024" cy="658368"/>
          </a:xfrm>
          <a:prstGeom prst="roundRect">
            <a:avLst/>
          </a:prstGeom>
          <a:solidFill>
            <a:srgbClr val="F4EDF7"/>
          </a:solidFill>
          <a:ln w="15240">
            <a:solidFill>
              <a:srgbClr val="660066"/>
            </a:solidFill>
            <a:prstDash val="solid"/>
          </a:ln>
        </p:spPr>
      </p:sp>
      <p:sp>
        <p:nvSpPr>
          <p:cNvPr id="9" name="Text 7"/>
          <p:cNvSpPr/>
          <p:nvPr/>
        </p:nvSpPr>
        <p:spPr>
          <a:xfrm>
            <a:off x="3913632" y="2596896"/>
            <a:ext cx="1188720"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660066"/>
                </a:solidFill>
                <a:latin typeface="Times New Roman" pitchFamily="34" charset="0"/>
                <a:ea typeface="標楷體" pitchFamily="34" charset="-122"/>
                <a:cs typeface="Times New Roman" pitchFamily="34" charset="-120"/>
              </a:rPr>
              <a:t>Task</a:t>
            </a:r>
            <a:pPr algn="ctr" indent="0" marL="0">
              <a:lnSpc>
                <a:spcPct val="100000"/>
              </a:lnSpc>
              <a:buNone/>
            </a:pPr>
            <a:r>
              <a:rPr lang="en-US" sz="1600" b="1" dirty="0">
                <a:solidFill>
                  <a:srgbClr val="660066"/>
                </a:solidFill>
                <a:latin typeface="Times New Roman" pitchFamily="34" charset="0"/>
                <a:ea typeface="標楷體" pitchFamily="34" charset="-122"/>
                <a:cs typeface="Times New Roman" pitchFamily="34" charset="-120"/>
              </a:rPr>
              <a:t> </a:t>
            </a:r>
            <a:pPr algn="ctr" indent="0" marL="0">
              <a:lnSpc>
                <a:spcPct val="100000"/>
              </a:lnSpc>
              <a:buNone/>
            </a:pPr>
            <a:r>
              <a:rPr lang="en-US" sz="1600" b="1" dirty="0">
                <a:solidFill>
                  <a:srgbClr val="660066"/>
                </a:solidFill>
                <a:latin typeface="Times New Roman" pitchFamily="34" charset="0"/>
                <a:ea typeface="標楷體" pitchFamily="34" charset="-122"/>
                <a:cs typeface="Times New Roman" pitchFamily="34" charset="-120"/>
              </a:rPr>
              <a:t>7</a:t>
            </a:r>
            <a:pPr algn="ctr" indent="0" marL="0">
              <a:lnSpc>
                <a:spcPct val="100000"/>
              </a:lnSpc>
              <a:buNone/>
            </a:pPr>
            <a:r>
              <a:rPr lang="en-US" sz="1600" b="1" dirty="0">
                <a:solidFill>
                  <a:srgbClr val="660066"/>
                </a:solidFill>
                <a:latin typeface="Times New Roman" pitchFamily="34" charset="0"/>
                <a:ea typeface="標楷體" pitchFamily="34" charset="-122"/>
                <a:cs typeface="Times New Roman" pitchFamily="34" charset="-120"/>
              </a:rPr>
              <a:t>–</a:t>
            </a:r>
            <a:pPr algn="ctr" indent="0" marL="0">
              <a:lnSpc>
                <a:spcPct val="100000"/>
              </a:lnSpc>
              <a:buNone/>
            </a:pPr>
            <a:r>
              <a:rPr lang="en-US" sz="1600" b="1" dirty="0">
                <a:solidFill>
                  <a:srgbClr val="660066"/>
                </a:solidFill>
                <a:latin typeface="Times New Roman" pitchFamily="34" charset="0"/>
                <a:ea typeface="標楷體" pitchFamily="34" charset="-122"/>
                <a:cs typeface="Times New Roman" pitchFamily="34" charset="-120"/>
              </a:rPr>
              <a:t>10</a:t>
            </a:r>
            <a:endParaRPr lang="en-US" sz="1600" dirty="0"/>
          </a:p>
        </p:txBody>
      </p:sp>
      <p:sp>
        <p:nvSpPr>
          <p:cNvPr id="10" name="Shape 8"/>
          <p:cNvSpPr/>
          <p:nvPr/>
        </p:nvSpPr>
        <p:spPr>
          <a:xfrm>
            <a:off x="5504688" y="1408176"/>
            <a:ext cx="2688336" cy="1298448"/>
          </a:xfrm>
          <a:prstGeom prst="roundRect">
            <a:avLst/>
          </a:prstGeom>
          <a:solidFill>
            <a:srgbClr val="ECF1FE"/>
          </a:solidFill>
          <a:ln w="15240">
            <a:solidFill>
              <a:srgbClr val="4967C2"/>
            </a:solidFill>
            <a:prstDash val="solid"/>
          </a:ln>
        </p:spPr>
      </p:sp>
      <p:sp>
        <p:nvSpPr>
          <p:cNvPr id="11" name="Text 9"/>
          <p:cNvSpPr/>
          <p:nvPr/>
        </p:nvSpPr>
        <p:spPr>
          <a:xfrm>
            <a:off x="5650992" y="1517904"/>
            <a:ext cx="2395728"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檢查證據並繼續</a:t>
            </a:r>
            <a:endParaRPr lang="en-US" sz="1800" dirty="0"/>
          </a:p>
        </p:txBody>
      </p:sp>
      <p:sp>
        <p:nvSpPr>
          <p:cNvPr id="12" name="Text 10"/>
          <p:cNvSpPr/>
          <p:nvPr/>
        </p:nvSpPr>
        <p:spPr>
          <a:xfrm>
            <a:off x="5650992" y="1938528"/>
            <a:ext cx="2395728" cy="658368"/>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讀目前段落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evidence</a:t>
            </a:r>
            <a:pPr algn="ctr" indent="0" marL="0">
              <a:lnSpc>
                <a:spcPct val="100000"/>
              </a:lnSpc>
              <a:buNone/>
            </a:pP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成功：保存並解鎖下一段</a:t>
            </a:r>
            <a:endParaRPr lang="en-US" sz="2400" dirty="0"/>
          </a:p>
        </p:txBody>
      </p:sp>
      <p:sp>
        <p:nvSpPr>
          <p:cNvPr id="13" name="Shape 11"/>
          <p:cNvSpPr/>
          <p:nvPr/>
        </p:nvSpPr>
        <p:spPr>
          <a:xfrm>
            <a:off x="8595360" y="1408176"/>
            <a:ext cx="2688336" cy="1298448"/>
          </a:xfrm>
          <a:prstGeom prst="roundRect">
            <a:avLst/>
          </a:prstGeom>
          <a:solidFill>
            <a:srgbClr val="FDF9E2"/>
          </a:solidFill>
          <a:ln w="15240">
            <a:solidFill>
              <a:srgbClr val="846826"/>
            </a:solidFill>
            <a:prstDash val="solid"/>
          </a:ln>
        </p:spPr>
      </p:sp>
      <p:sp>
        <p:nvSpPr>
          <p:cNvPr id="14" name="Text 12"/>
          <p:cNvSpPr/>
          <p:nvPr/>
        </p:nvSpPr>
        <p:spPr>
          <a:xfrm>
            <a:off x="8741664" y="1517904"/>
            <a:ext cx="2395728"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證據已鎖定</a:t>
            </a:r>
            <a:endParaRPr lang="en-US" sz="1800" dirty="0"/>
          </a:p>
        </p:txBody>
      </p:sp>
      <p:sp>
        <p:nvSpPr>
          <p:cNvPr id="15" name="Text 13"/>
          <p:cNvSpPr/>
          <p:nvPr/>
        </p:nvSpPr>
        <p:spPr>
          <a:xfrm>
            <a:off x="8741664" y="1938528"/>
            <a:ext cx="2395728" cy="658368"/>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讀完成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record</a:t>
            </a:r>
            <a:pPr algn="ctr" indent="0" marL="0">
              <a:lnSpc>
                <a:spcPct val="100000"/>
              </a:lnSpc>
              <a:buNone/>
            </a:pP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成功：顯示保存狀態</a:t>
            </a:r>
            <a:endParaRPr lang="en-US" sz="2400" dirty="0"/>
          </a:p>
        </p:txBody>
      </p:sp>
      <p:sp>
        <p:nvSpPr>
          <p:cNvPr id="16" name="Shape 14"/>
          <p:cNvSpPr/>
          <p:nvPr/>
        </p:nvSpPr>
        <p:spPr>
          <a:xfrm>
            <a:off x="3675888" y="3054096"/>
            <a:ext cx="7607808" cy="1042416"/>
          </a:xfrm>
          <a:prstGeom prst="roundRect">
            <a:avLst/>
          </a:prstGeom>
          <a:solidFill>
            <a:srgbClr val="E8F7F4"/>
          </a:solidFill>
          <a:ln w="15240">
            <a:solidFill>
              <a:srgbClr val="007374"/>
            </a:solidFill>
            <a:prstDash val="solid"/>
          </a:ln>
        </p:spPr>
      </p:sp>
      <p:sp>
        <p:nvSpPr>
          <p:cNvPr id="17" name="Text 15"/>
          <p:cNvSpPr/>
          <p:nvPr/>
        </p:nvSpPr>
        <p:spPr>
          <a:xfrm>
            <a:off x="3822192" y="3163824"/>
            <a:ext cx="7315200"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Task</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1</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10</a:t>
            </a:r>
            <a:endParaRPr lang="en-US" sz="1800" dirty="0"/>
          </a:p>
        </p:txBody>
      </p:sp>
      <p:sp>
        <p:nvSpPr>
          <p:cNvPr id="18" name="Text 16"/>
          <p:cNvSpPr/>
          <p:nvPr/>
        </p:nvSpPr>
        <p:spPr>
          <a:xfrm>
            <a:off x="3822192" y="3547872"/>
            <a:ext cx="7315200" cy="438912"/>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表示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completion</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record</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service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deadline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result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replay</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與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interpretation</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仍依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evidence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chain</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判讀。</a:t>
            </a:r>
            <a:endParaRPr lang="en-US" sz="2400" dirty="0"/>
          </a:p>
        </p:txBody>
      </p:sp>
      <p:sp>
        <p:nvSpPr>
          <p:cNvPr id="19" name="Shape 17"/>
          <p:cNvSpPr/>
          <p:nvPr/>
        </p:nvSpPr>
        <p:spPr>
          <a:xfrm>
            <a:off x="822960" y="4645152"/>
            <a:ext cx="10460736" cy="932688"/>
          </a:xfrm>
          <a:prstGeom prst="roundRect">
            <a:avLst/>
          </a:prstGeom>
          <a:solidFill>
            <a:srgbClr val="FDEFEF"/>
          </a:solidFill>
          <a:ln w="15240">
            <a:solidFill>
              <a:srgbClr val="992A2A"/>
            </a:solidFill>
            <a:prstDash val="solid"/>
          </a:ln>
        </p:spPr>
      </p:sp>
      <p:sp>
        <p:nvSpPr>
          <p:cNvPr id="20" name="Text 18"/>
          <p:cNvSpPr/>
          <p:nvPr/>
        </p:nvSpPr>
        <p:spPr>
          <a:xfrm>
            <a:off x="969264" y="4754880"/>
            <a:ext cx="10168128"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current</a:t>
            </a:r>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task-control</a:t>
            </a:r>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crop</a:t>
            </a:r>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 待補</a:t>
            </a:r>
            <a:endParaRPr lang="en-US" sz="1800" dirty="0"/>
          </a:p>
        </p:txBody>
      </p:sp>
      <p:sp>
        <p:nvSpPr>
          <p:cNvPr id="21" name="Text 19"/>
          <p:cNvSpPr/>
          <p:nvPr/>
        </p:nvSpPr>
        <p:spPr>
          <a:xfrm>
            <a:off x="969264" y="5102352"/>
            <a:ext cx="10168128" cy="365760"/>
          </a:xfrm>
          <a:prstGeom prst="rect">
            <a:avLst/>
          </a:prstGeom>
          <a:noFill/>
          <a:ln/>
        </p:spPr>
        <p:txBody>
          <a:bodyPr wrap="square" lIns="635" tIns="635" rIns="635" bIns="635" rtlCol="0" anchor="t">
            <a:normAutofit/>
          </a:bodyPr>
          <a:lstStyle/>
          <a:p>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editable</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staircase</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只保留段落狀態與控制語義。</a:t>
            </a:r>
            <a:endParaRPr lang="en-US" sz="2000" dirty="0"/>
          </a:p>
        </p:txBody>
      </p:sp>
      <p:sp>
        <p:nvSpPr>
          <p:cNvPr id="23" name="Text 3"/>
          <p:cNvSpPr/>
          <p:nvPr>
            <p:ph idx="105" type="title" hasCustomPrompt="1"/>
          </p:nvPr>
        </p:nvSpPr>
        <p:spPr>
          <a:xfrm>
            <a:off x="656591" y="187008"/>
            <a:ext cx="9462769" cy="480060"/>
          </a:xfrm>
          <a:prstGeom prst="rect">
            <a:avLst/>
          </a:prstGeom>
          <a:noFill/>
          <a:ln/>
        </p:spPr>
        <p:txBody>
          <a:bodyPr wrap="square" lIns="0" tIns="0" rIns="0" bIns="0" rtlCol="0" anchor="b"/>
          <a:lstStyle/>
          <a:p>
            <a:pPr algn="l" indent="0" marL="0">
              <a:buNone/>
            </a:pPr>
            <a:endParaRPr lang="en-US" sz="2800" dirty="0"/>
          </a:p>
        </p:txBody>
      </p:sp>
    </p:spTree>
  </p:cSld>
  <p:clrMapOvr>
    <a:masterClrMapping/>
  </p:clrMapOvr>
</p:sld>
</file>

<file path=ppt/slides/slide17.xml><?xml version="1.0" encoding="utf-8"?>
<p:sld xmlns:a="http://schemas.openxmlformats.org/drawingml/2006/main" xmlns:ns2="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56591" y="187008"/>
            <a:ext cx="9462769" cy="480060"/>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P097</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i="1" dirty="0">
                <a:solidFill>
                  <a:srgbClr val="35377F"/>
                </a:solidFill>
                <a:latin typeface="Times New Roman" pitchFamily="34" charset="0"/>
                <a:ea typeface="標楷體" pitchFamily="34" charset="-122"/>
                <a:cs typeface="Times New Roman" pitchFamily="34" charset="-120"/>
              </a:rPr>
              <a:t>Provider</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a:t>
            </a:r>
            <a:pPr algn="l" indent="0" marL="0">
              <a:lnSpc>
                <a:spcPct val="100000"/>
              </a:lnSpc>
              <a:buNone/>
            </a:pPr>
            <a:r>
              <a:rPr lang="en-US" sz="2800" b="1" i="1" dirty="0">
                <a:solidFill>
                  <a:srgbClr val="35377F"/>
                </a:solidFill>
                <a:latin typeface="Times New Roman" pitchFamily="34" charset="0"/>
                <a:ea typeface="標楷體" pitchFamily="34" charset="-122"/>
                <a:cs typeface="Times New Roman" pitchFamily="34" charset="-120"/>
              </a:rPr>
              <a:t>replay</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：兩層 </a:t>
            </a:r>
            <a:pPr algn="l" indent="0" marL="0">
              <a:lnSpc>
                <a:spcPct val="100000"/>
              </a:lnSpc>
              <a:buNone/>
            </a:pPr>
            <a:r>
              <a:rPr lang="en-US" sz="2800" b="1" i="1" dirty="0">
                <a:solidFill>
                  <a:srgbClr val="35377F"/>
                </a:solidFill>
                <a:latin typeface="Times New Roman" pitchFamily="34" charset="0"/>
                <a:ea typeface="標楷體" pitchFamily="34" charset="-122"/>
                <a:cs typeface="Times New Roman" pitchFamily="34" charset="-120"/>
              </a:rPr>
              <a:t>frame</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識別</a:t>
            </a:r>
            <a:endParaRPr lang="en-US" sz="2800" dirty="0"/>
          </a:p>
        </p:txBody>
      </p:sp>
      <p:sp>
        <p:nvSpPr>
          <p:cNvPr id="3" name="Text 1"/>
          <p:cNvSpPr/>
          <p:nvPr/>
        </p:nvSpPr>
        <p:spPr>
          <a:xfrm>
            <a:off x="822960" y="932688"/>
            <a:ext cx="10561320" cy="438912"/>
          </a:xfrm>
          <a:prstGeom prst="rect">
            <a:avLst/>
          </a:prstGeom>
          <a:noFill/>
          <a:ln/>
        </p:spPr>
        <p:txBody>
          <a:bodyPr wrap="square" lIns="635" tIns="635" rIns="635" bIns="635" rtlCol="0" anchor="ctr">
            <a:normAutofit/>
          </a:bodyPr>
          <a:lstStyle/>
          <a:p>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provider</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replay</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與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endpoint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replay</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各自移動，各自保留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frame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identity</a:t>
            </a:r>
            <a:endParaRPr lang="en-US" sz="2400" dirty="0"/>
          </a:p>
        </p:txBody>
      </p:sp>
      <p:sp>
        <p:nvSpPr>
          <p:cNvPr id="4" name="Shape 2"/>
          <p:cNvSpPr/>
          <p:nvPr/>
        </p:nvSpPr>
        <p:spPr>
          <a:xfrm>
            <a:off x="822960" y="1353312"/>
            <a:ext cx="3913632" cy="1005840"/>
          </a:xfrm>
          <a:prstGeom prst="rect">
            <a:avLst/>
          </a:prstGeom>
          <a:solidFill>
            <a:srgbClr val="F7F8FC"/>
          </a:solidFill>
          <a:ln w="15240">
            <a:solidFill>
              <a:srgbClr val="D7DEEA"/>
            </a:solidFill>
            <a:prstDash val="solid"/>
          </a:ln>
        </p:spPr>
      </p:sp>
      <p:sp>
        <p:nvSpPr>
          <p:cNvPr id="5" name="Text 3"/>
          <p:cNvSpPr/>
          <p:nvPr/>
        </p:nvSpPr>
        <p:spPr>
          <a:xfrm>
            <a:off x="969264" y="1463040"/>
            <a:ext cx="3621024" cy="786384"/>
          </a:xfrm>
          <a:prstGeom prst="rect">
            <a:avLst/>
          </a:prstGeom>
          <a:noFill/>
          <a:ln/>
        </p:spPr>
        <p:txBody>
          <a:bodyPr wrap="square" lIns="635" tIns="635" rIns="635" bIns="635" rtlCol="0" anchor="ctr">
            <a:normAutofit/>
          </a:bodyPr>
          <a:lstStyle/>
          <a:p>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待補：</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current</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i="1" dirty="0">
                <a:solidFill>
                  <a:srgbClr val="65758B"/>
                </a:solidFill>
                <a:latin typeface="Times New Roman" pitchFamily="34" charset="0"/>
                <a:ea typeface="標楷體" pitchFamily="34" charset="-122"/>
                <a:cs typeface="Times New Roman" pitchFamily="34" charset="-120"/>
              </a:rPr>
              <a:t>provider</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control</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crop</a:t>
            </a:r>
            <a:endParaRPr lang="en-US" sz="2400" dirty="0"/>
          </a:p>
        </p:txBody>
      </p:sp>
      <p:sp>
        <p:nvSpPr>
          <p:cNvPr id="6" name="Shape 4"/>
          <p:cNvSpPr/>
          <p:nvPr/>
        </p:nvSpPr>
        <p:spPr>
          <a:xfrm>
            <a:off x="5047488" y="1353312"/>
            <a:ext cx="2816352" cy="822960"/>
          </a:xfrm>
          <a:prstGeom prst="roundRect">
            <a:avLst/>
          </a:prstGeom>
          <a:solidFill>
            <a:srgbClr val="E8F7F4"/>
          </a:solidFill>
          <a:ln w="15240">
            <a:solidFill>
              <a:srgbClr val="007374"/>
            </a:solidFill>
            <a:prstDash val="solid"/>
          </a:ln>
        </p:spPr>
      </p:sp>
      <p:sp>
        <p:nvSpPr>
          <p:cNvPr id="7" name="Text 5"/>
          <p:cNvSpPr/>
          <p:nvPr/>
        </p:nvSpPr>
        <p:spPr>
          <a:xfrm>
            <a:off x="5193792" y="1463040"/>
            <a:ext cx="2523744"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播放結果</a:t>
            </a:r>
            <a:endParaRPr lang="en-US" sz="1800" dirty="0"/>
          </a:p>
        </p:txBody>
      </p:sp>
      <p:sp>
        <p:nvSpPr>
          <p:cNvPr id="8" name="Text 6"/>
          <p:cNvSpPr/>
          <p:nvPr/>
        </p:nvSpPr>
        <p:spPr>
          <a:xfrm>
            <a:off x="5193792" y="1810512"/>
            <a:ext cx="2523744" cy="256032"/>
          </a:xfrm>
          <a:prstGeom prst="rect">
            <a:avLst/>
          </a:prstGeom>
          <a:noFill/>
          <a:ln/>
        </p:spPr>
        <p:txBody>
          <a:bodyPr wrap="square" lIns="635" tIns="635" rIns="635" bIns="635" rtlCol="0" anchor="t">
            <a:normAutofit/>
          </a:bodyPr>
          <a:lstStyle/>
          <a:p>
            <a:pPr algn="ctr" indent="0" marL="0">
              <a:lnSpc>
                <a:spcPct val="100000"/>
              </a:lnSpc>
              <a:buNone/>
            </a:pPr>
            <a:r>
              <a:rPr lang="en-US" sz="1600" i="1" dirty="0">
                <a:solidFill>
                  <a:srgbClr val="25324A"/>
                </a:solidFill>
                <a:latin typeface="Times New Roman" pitchFamily="34" charset="0"/>
                <a:ea typeface="標楷體" pitchFamily="34" charset="-122"/>
                <a:cs typeface="Times New Roman" pitchFamily="34" charset="-120"/>
              </a:rPr>
              <a:t>provider</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cursor</a:t>
            </a:r>
            <a:pPr algn="ctr" indent="0" marL="0">
              <a:lnSpc>
                <a:spcPct val="100000"/>
              </a:lnSpc>
              <a:buNone/>
            </a:pPr>
            <a:endParaRPr lang="en-US" sz="1600" dirty="0"/>
          </a:p>
          <a:p>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播放 </a:t>
            </a:r>
            <a:endParaRPr lang="en-US" sz="1600" dirty="0"/>
          </a:p>
          <a:p>
            <a:pPr algn="ctr" indent="0" marL="0">
              <a:lnSpc>
                <a:spcPct val="100000"/>
              </a:lnSpc>
              <a:buNone/>
            </a:pPr>
            <a:r>
              <a:rPr lang="en-US" sz="1600" i="1" dirty="0">
                <a:solidFill>
                  <a:srgbClr val="25324A"/>
                </a:solidFill>
                <a:latin typeface="Times New Roman" pitchFamily="34" charset="0"/>
                <a:ea typeface="標楷體" pitchFamily="34" charset="-122"/>
                <a:cs typeface="Times New Roman" pitchFamily="34" charset="-120"/>
              </a:rPr>
              <a:t>frame</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sequence</a:t>
            </a:r>
            <a:endParaRPr lang="en-US" sz="1600" dirty="0"/>
          </a:p>
        </p:txBody>
      </p:sp>
      <p:sp>
        <p:nvSpPr>
          <p:cNvPr id="9" name="Shape 7"/>
          <p:cNvSpPr/>
          <p:nvPr/>
        </p:nvSpPr>
        <p:spPr>
          <a:xfrm>
            <a:off x="8174736" y="1353312"/>
            <a:ext cx="2816352" cy="822960"/>
          </a:xfrm>
          <a:prstGeom prst="roundRect">
            <a:avLst/>
          </a:prstGeom>
          <a:solidFill>
            <a:srgbClr val="F4EDF7"/>
          </a:solidFill>
          <a:ln w="15240">
            <a:solidFill>
              <a:srgbClr val="660066"/>
            </a:solidFill>
            <a:prstDash val="solid"/>
          </a:ln>
        </p:spPr>
      </p:sp>
      <p:sp>
        <p:nvSpPr>
          <p:cNvPr id="10" name="Text 8"/>
          <p:cNvSpPr/>
          <p:nvPr/>
        </p:nvSpPr>
        <p:spPr>
          <a:xfrm>
            <a:off x="8321040" y="1463040"/>
            <a:ext cx="2523744"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暫停重播</a:t>
            </a:r>
            <a:endParaRPr lang="en-US" sz="1800" dirty="0"/>
          </a:p>
        </p:txBody>
      </p:sp>
      <p:sp>
        <p:nvSpPr>
          <p:cNvPr id="11" name="Text 9"/>
          <p:cNvSpPr/>
          <p:nvPr/>
        </p:nvSpPr>
        <p:spPr>
          <a:xfrm>
            <a:off x="8321040" y="1810512"/>
            <a:ext cx="2523744" cy="256032"/>
          </a:xfrm>
          <a:prstGeom prst="rect">
            <a:avLst/>
          </a:prstGeom>
          <a:noFill/>
          <a:ln/>
        </p:spPr>
        <p:txBody>
          <a:bodyPr wrap="square" lIns="635" tIns="635" rIns="635" bIns="635" rtlCol="0" anchor="t">
            <a:normAutofit/>
          </a:bodyPr>
          <a:lstStyle/>
          <a:p>
            <a:pPr algn="ctr" indent="0" marL="0">
              <a:lnSpc>
                <a:spcPct val="100000"/>
              </a:lnSpc>
              <a:buNone/>
            </a:pPr>
            <a:r>
              <a:rPr lang="en-US" sz="1600" i="1" dirty="0">
                <a:solidFill>
                  <a:srgbClr val="25324A"/>
                </a:solidFill>
                <a:latin typeface="Times New Roman" pitchFamily="34" charset="0"/>
                <a:ea typeface="標楷體" pitchFamily="34" charset="-122"/>
                <a:cs typeface="Times New Roman" pitchFamily="34" charset="-120"/>
              </a:rPr>
              <a:t>provider</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cursor</a:t>
            </a:r>
            <a:pPr algn="ctr" indent="0" marL="0">
              <a:lnSpc>
                <a:spcPct val="100000"/>
              </a:lnSpc>
              <a:buNone/>
            </a:pPr>
            <a:endParaRPr lang="en-US" sz="1600" dirty="0"/>
          </a:p>
          <a:p>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停留目前 </a:t>
            </a:r>
            <a:endParaRPr lang="en-US" sz="1600" dirty="0"/>
          </a:p>
          <a:p>
            <a:pPr algn="ctr" indent="0" marL="0">
              <a:lnSpc>
                <a:spcPct val="100000"/>
              </a:lnSpc>
              <a:buNone/>
            </a:pPr>
            <a:r>
              <a:rPr lang="en-US" sz="1600" i="1" dirty="0">
                <a:solidFill>
                  <a:srgbClr val="25324A"/>
                </a:solidFill>
                <a:latin typeface="Times New Roman" pitchFamily="34" charset="0"/>
                <a:ea typeface="標楷體" pitchFamily="34" charset="-122"/>
                <a:cs typeface="Times New Roman" pitchFamily="34" charset="-120"/>
              </a:rPr>
              <a:t>frame</a:t>
            </a:r>
            <a:endParaRPr lang="en-US" sz="1600" dirty="0"/>
          </a:p>
        </p:txBody>
      </p:sp>
      <p:sp>
        <p:nvSpPr>
          <p:cNvPr id="12" name="Shape 10"/>
          <p:cNvSpPr/>
          <p:nvPr/>
        </p:nvSpPr>
        <p:spPr>
          <a:xfrm>
            <a:off x="5047488" y="2304288"/>
            <a:ext cx="2816352" cy="822960"/>
          </a:xfrm>
          <a:prstGeom prst="roundRect">
            <a:avLst/>
          </a:prstGeom>
          <a:solidFill>
            <a:srgbClr val="ECF1FE"/>
          </a:solidFill>
          <a:ln w="15240">
            <a:solidFill>
              <a:srgbClr val="4967C2"/>
            </a:solidFill>
            <a:prstDash val="solid"/>
          </a:ln>
        </p:spPr>
      </p:sp>
      <p:sp>
        <p:nvSpPr>
          <p:cNvPr id="13" name="Text 11"/>
          <p:cNvSpPr/>
          <p:nvPr/>
        </p:nvSpPr>
        <p:spPr>
          <a:xfrm>
            <a:off x="5193792" y="2414016"/>
            <a:ext cx="2523744"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滑桿 </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slider</a:t>
            </a:r>
            <a:endParaRPr lang="en-US" sz="1800" dirty="0"/>
          </a:p>
        </p:txBody>
      </p:sp>
      <p:sp>
        <p:nvSpPr>
          <p:cNvPr id="14" name="Text 12"/>
          <p:cNvSpPr/>
          <p:nvPr/>
        </p:nvSpPr>
        <p:spPr>
          <a:xfrm>
            <a:off x="5193792" y="2761488"/>
            <a:ext cx="2523744" cy="256032"/>
          </a:xfrm>
          <a:prstGeom prst="rect">
            <a:avLst/>
          </a:prstGeom>
          <a:noFill/>
          <a:ln/>
        </p:spPr>
        <p:txBody>
          <a:bodyPr wrap="square" lIns="635" tIns="635" rIns="635" bIns="635" rtlCol="0" anchor="t">
            <a:normAutofit/>
          </a:bodyPr>
          <a:lstStyle/>
          <a:p>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選 </a:t>
            </a:r>
            <a:pPr algn="ctr" indent="0" marL="0">
              <a:lnSpc>
                <a:spcPct val="100000"/>
              </a:lnSpc>
              <a:buNone/>
            </a:pPr>
            <a:r>
              <a:rPr lang="en-US" sz="1600" i="1" dirty="0">
                <a:solidFill>
                  <a:srgbClr val="25324A"/>
                </a:solidFill>
                <a:latin typeface="Times New Roman" pitchFamily="34" charset="0"/>
                <a:ea typeface="標楷體" pitchFamily="34" charset="-122"/>
                <a:cs typeface="Times New Roman" pitchFamily="34" charset="-120"/>
              </a:rPr>
              <a:t>provider</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i="1" dirty="0">
                <a:solidFill>
                  <a:srgbClr val="25324A"/>
                </a:solidFill>
                <a:latin typeface="Times New Roman" pitchFamily="34" charset="0"/>
                <a:ea typeface="標楷體" pitchFamily="34" charset="-122"/>
                <a:cs typeface="Times New Roman" pitchFamily="34" charset="-120"/>
              </a:rPr>
              <a:t>frame</a:t>
            </a:r>
            <a:pPr algn="ctr" indent="0" marL="0">
              <a:lnSpc>
                <a:spcPct val="100000"/>
              </a:lnSpc>
              <a:buNone/>
            </a:pPr>
            <a:endParaRPr lang="en-US" sz="1600" dirty="0"/>
          </a:p>
          <a:p>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寫 </a:t>
            </a:r>
            <a:endParaRPr lang="en-US" sz="1600" dirty="0"/>
          </a:p>
          <a:p>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playback</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cursor</a:t>
            </a:r>
            <a:endParaRPr lang="en-US" sz="1600" dirty="0"/>
          </a:p>
        </p:txBody>
      </p:sp>
      <p:sp>
        <p:nvSpPr>
          <p:cNvPr id="15" name="Shape 13"/>
          <p:cNvSpPr/>
          <p:nvPr/>
        </p:nvSpPr>
        <p:spPr>
          <a:xfrm>
            <a:off x="8174736" y="2304288"/>
            <a:ext cx="2816352" cy="822960"/>
          </a:xfrm>
          <a:prstGeom prst="roundRect">
            <a:avLst/>
          </a:prstGeom>
          <a:solidFill>
            <a:srgbClr val="FDF9E2"/>
          </a:solidFill>
          <a:ln w="15240">
            <a:solidFill>
              <a:srgbClr val="846826"/>
            </a:solidFill>
            <a:prstDash val="solid"/>
          </a:ln>
        </p:spPr>
      </p:sp>
      <p:sp>
        <p:nvSpPr>
          <p:cNvPr id="16" name="Text 14"/>
          <p:cNvSpPr/>
          <p:nvPr/>
        </p:nvSpPr>
        <p:spPr>
          <a:xfrm>
            <a:off x="8321040" y="2414016"/>
            <a:ext cx="2523744"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←／下一個畫面 →</a:t>
            </a:r>
            <a:endParaRPr lang="en-US" sz="1800" dirty="0"/>
          </a:p>
        </p:txBody>
      </p:sp>
      <p:sp>
        <p:nvSpPr>
          <p:cNvPr id="17" name="Text 15"/>
          <p:cNvSpPr/>
          <p:nvPr/>
        </p:nvSpPr>
        <p:spPr>
          <a:xfrm>
            <a:off x="8321040" y="2761488"/>
            <a:ext cx="2523744" cy="256032"/>
          </a:xfrm>
          <a:prstGeom prst="rect">
            <a:avLst/>
          </a:prstGeom>
          <a:noFill/>
          <a:ln/>
        </p:spPr>
        <p:txBody>
          <a:bodyPr wrap="square" lIns="635" tIns="635" rIns="635" bIns="635" rtlCol="0" anchor="t">
            <a:normAutofit/>
          </a:bodyPr>
          <a:lstStyle/>
          <a:p>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移動一個 </a:t>
            </a:r>
            <a:pPr algn="ctr" indent="0" marL="0">
              <a:lnSpc>
                <a:spcPct val="100000"/>
              </a:lnSpc>
              <a:buNone/>
            </a:pPr>
            <a:r>
              <a:rPr lang="en-US" sz="1600" i="1" dirty="0">
                <a:solidFill>
                  <a:srgbClr val="25324A"/>
                </a:solidFill>
                <a:latin typeface="Times New Roman" pitchFamily="34" charset="0"/>
                <a:ea typeface="標楷體" pitchFamily="34" charset="-122"/>
                <a:cs typeface="Times New Roman" pitchFamily="34" charset="-120"/>
              </a:rPr>
              <a:t>provider</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i="1" dirty="0">
                <a:solidFill>
                  <a:srgbClr val="25324A"/>
                </a:solidFill>
                <a:latin typeface="Times New Roman" pitchFamily="34" charset="0"/>
                <a:ea typeface="標楷體" pitchFamily="34" charset="-122"/>
                <a:cs typeface="Times New Roman" pitchFamily="34" charset="-120"/>
              </a:rPr>
              <a:t>frame</a:t>
            </a:r>
            <a:endParaRPr lang="en-US" sz="1600" dirty="0"/>
          </a:p>
        </p:txBody>
      </p:sp>
      <p:pic>
        <p:nvPicPr>
          <p:cNvPr id="18" name="Image 0" descr="identifier-free endpoint replay crop">    </p:cNvPr>
          <p:cNvPicPr>
            <a:picLocks noChangeAspect="1"/>
          </p:cNvPicPr>
          <p:nvPr/>
        </p:nvPicPr>
        <p:blipFill>
          <a:blip ns2:embed="rId1"/>
          <a:stretch>
            <a:fillRect/>
          </a:stretch>
        </p:blipFill>
        <p:spPr>
          <a:xfrm>
            <a:off x="822960" y="3255264"/>
            <a:ext cx="5650992" cy="1225296"/>
          </a:xfrm>
          <a:prstGeom prst="rect">
            <a:avLst/>
          </a:prstGeom>
        </p:spPr>
      </p:pic>
      <p:sp>
        <p:nvSpPr>
          <p:cNvPr id="19" name="Shape 16"/>
          <p:cNvSpPr/>
          <p:nvPr/>
        </p:nvSpPr>
        <p:spPr>
          <a:xfrm>
            <a:off x="822960" y="3255264"/>
            <a:ext cx="5650992" cy="1225296"/>
          </a:xfrm>
          <a:prstGeom prst="rect">
            <a:avLst/>
          </a:prstGeom>
          <a:solidFill>
            <a:srgbClr val="FFFFFF">
              <a:alpha val="0"/>
            </a:srgbClr>
          </a:solidFill>
          <a:ln w="12700">
            <a:solidFill>
              <a:srgbClr val="D7DEEA"/>
            </a:solidFill>
            <a:prstDash val="solid"/>
          </a:ln>
        </p:spPr>
      </p:sp>
      <p:sp>
        <p:nvSpPr>
          <p:cNvPr id="20" name="Shape 17"/>
          <p:cNvSpPr/>
          <p:nvPr/>
        </p:nvSpPr>
        <p:spPr>
          <a:xfrm>
            <a:off x="1536192" y="4590288"/>
            <a:ext cx="4224528" cy="420624"/>
          </a:xfrm>
          <a:prstGeom prst="roundRect">
            <a:avLst/>
          </a:prstGeom>
          <a:solidFill>
            <a:srgbClr val="E8F7F4"/>
          </a:solidFill>
          <a:ln w="15240">
            <a:solidFill>
              <a:srgbClr val="007374"/>
            </a:solidFill>
            <a:prstDash val="solid"/>
          </a:ln>
        </p:spPr>
      </p:sp>
      <p:sp>
        <p:nvSpPr>
          <p:cNvPr id="21" name="Text 18"/>
          <p:cNvSpPr/>
          <p:nvPr/>
        </p:nvSpPr>
        <p:spPr>
          <a:xfrm>
            <a:off x="1609344" y="4626864"/>
            <a:ext cx="4078224" cy="310896"/>
          </a:xfrm>
          <a:prstGeom prst="rect">
            <a:avLst/>
          </a:prstGeom>
          <a:noFill/>
          <a:ln/>
        </p:spPr>
        <p:txBody>
          <a:bodyPr wrap="square" lIns="635" tIns="635" rIns="635" bIns="635" rtlCol="0" anchor="ctr">
            <a:normAutofit/>
          </a:bodyPr>
          <a:lstStyle/>
          <a:p>
            <a:pPr algn="ctr" indent="0" marL="0">
              <a:lnSpc>
                <a:spcPct val="100000"/>
              </a:lnSpc>
              <a:buNone/>
            </a:pPr>
            <a:r>
              <a:rPr lang="en-US" sz="1800" b="1" i="1" dirty="0">
                <a:solidFill>
                  <a:srgbClr val="007374"/>
                </a:solidFill>
                <a:latin typeface="Times New Roman" pitchFamily="34" charset="0"/>
                <a:ea typeface="標楷體" pitchFamily="34" charset="-122"/>
                <a:cs typeface="Times New Roman" pitchFamily="34" charset="-120"/>
              </a:rPr>
              <a:t>endpoint</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selector</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端點選擇器｜</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current</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crop</a:t>
            </a:r>
            <a:endParaRPr lang="en-US" sz="1800" dirty="0"/>
          </a:p>
        </p:txBody>
      </p:sp>
      <p:sp>
        <p:nvSpPr>
          <p:cNvPr id="22" name="Shape 19"/>
          <p:cNvSpPr/>
          <p:nvPr/>
        </p:nvSpPr>
        <p:spPr>
          <a:xfrm>
            <a:off x="6894576" y="3255264"/>
            <a:ext cx="4297680" cy="1225296"/>
          </a:xfrm>
          <a:prstGeom prst="rect">
            <a:avLst/>
          </a:prstGeom>
          <a:solidFill>
            <a:srgbClr val="FDF9E2"/>
          </a:solidFill>
          <a:ln w="15240">
            <a:solidFill>
              <a:srgbClr val="846826"/>
            </a:solidFill>
            <a:prstDash val="solid"/>
          </a:ln>
        </p:spPr>
      </p:sp>
      <p:sp>
        <p:nvSpPr>
          <p:cNvPr id="23" name="Text 20"/>
          <p:cNvSpPr/>
          <p:nvPr/>
        </p:nvSpPr>
        <p:spPr>
          <a:xfrm>
            <a:off x="7150608" y="3474720"/>
            <a:ext cx="3785616" cy="274320"/>
          </a:xfrm>
          <a:prstGeom prst="rect">
            <a:avLst/>
          </a:prstGeom>
          <a:noFill/>
          <a:ln/>
        </p:spPr>
        <p:txBody>
          <a:bodyPr wrap="square" lIns="635" tIns="635" rIns="635" bIns="635" rtlCol="0" anchor="ctr">
            <a:normAutofit/>
          </a:bodyPr>
          <a:lstStyle/>
          <a:p>
            <a:pPr algn="ctr" indent="0" marL="0">
              <a:lnSpc>
                <a:spcPct val="100000"/>
              </a:lnSpc>
              <a:buNone/>
            </a:pPr>
            <a:r>
              <a:rPr lang="en-US" sz="1600" b="1" i="1" dirty="0">
                <a:solidFill>
                  <a:srgbClr val="846826"/>
                </a:solidFill>
                <a:latin typeface="Times New Roman" pitchFamily="34" charset="0"/>
                <a:ea typeface="標楷體" pitchFamily="34" charset="-122"/>
                <a:cs typeface="Times New Roman" pitchFamily="34" charset="-120"/>
              </a:rPr>
              <a:t>provider</a:t>
            </a:r>
            <a:pPr algn="ctr" indent="0" marL="0">
              <a:lnSpc>
                <a:spcPct val="100000"/>
              </a:lnSpc>
              <a:buNone/>
            </a:pPr>
            <a:r>
              <a:rPr lang="en-US" sz="1600" b="1" dirty="0">
                <a:solidFill>
                  <a:srgbClr val="846826"/>
                </a:solidFill>
                <a:latin typeface="Times New Roman" pitchFamily="34" charset="0"/>
                <a:ea typeface="標楷體" pitchFamily="34" charset="-122"/>
                <a:cs typeface="Times New Roman" pitchFamily="34" charset="-120"/>
              </a:rPr>
              <a:t> </a:t>
            </a:r>
            <a:pPr algn="ctr" indent="0" marL="0">
              <a:lnSpc>
                <a:spcPct val="100000"/>
              </a:lnSpc>
              <a:buNone/>
            </a:pPr>
            <a:r>
              <a:rPr lang="en-US" sz="1600" b="1" dirty="0">
                <a:solidFill>
                  <a:srgbClr val="846826"/>
                </a:solidFill>
                <a:latin typeface="Times New Roman" pitchFamily="34" charset="0"/>
                <a:ea typeface="標楷體" pitchFamily="34" charset="-122"/>
                <a:cs typeface="Times New Roman" pitchFamily="34" charset="-120"/>
              </a:rPr>
              <a:t>timeline</a:t>
            </a:r>
            <a:endParaRPr lang="en-US" sz="1600" dirty="0"/>
          </a:p>
        </p:txBody>
      </p:sp>
      <p:sp>
        <p:nvSpPr>
          <p:cNvPr id="24" name="Shape 21"/>
          <p:cNvSpPr/>
          <p:nvPr/>
        </p:nvSpPr>
        <p:spPr>
          <a:xfrm>
            <a:off x="7333488" y="3877056"/>
            <a:ext cx="3291840" cy="0"/>
          </a:xfrm>
          <a:prstGeom prst="line">
            <a:avLst/>
          </a:prstGeom>
          <a:noFill/>
          <a:ln w="27940">
            <a:solidFill>
              <a:srgbClr val="846826"/>
            </a:solidFill>
            <a:prstDash val="solid"/>
          </a:ln>
        </p:spPr>
      </p:sp>
      <p:sp>
        <p:nvSpPr>
          <p:cNvPr id="25" name="Text 22"/>
          <p:cNvSpPr/>
          <p:nvPr/>
        </p:nvSpPr>
        <p:spPr>
          <a:xfrm>
            <a:off x="7132320" y="4169664"/>
            <a:ext cx="3803904" cy="274320"/>
          </a:xfrm>
          <a:prstGeom prst="rect">
            <a:avLst/>
          </a:prstGeom>
          <a:noFill/>
          <a:ln/>
        </p:spPr>
        <p:txBody>
          <a:bodyPr wrap="square" lIns="635" tIns="635" rIns="635" bIns="635" rtlCol="0" anchor="ctr">
            <a:normAutofit/>
          </a:bodyPr>
          <a:lstStyle/>
          <a:p>
            <a:pPr algn="ctr" indent="0" marL="0">
              <a:lnSpc>
                <a:spcPct val="100000"/>
              </a:lnSpc>
              <a:buNone/>
            </a:pPr>
            <a:r>
              <a:rPr lang="en-US" sz="1600" b="1" i="1" dirty="0">
                <a:solidFill>
                  <a:srgbClr val="007374"/>
                </a:solidFill>
                <a:latin typeface="Times New Roman" pitchFamily="34" charset="0"/>
                <a:ea typeface="標楷體" pitchFamily="34" charset="-122"/>
                <a:cs typeface="Times New Roman" pitchFamily="34" charset="-120"/>
              </a:rPr>
              <a:t>endpoint</a:t>
            </a:r>
            <a:pPr algn="ctr" indent="0" marL="0">
              <a:lnSpc>
                <a:spcPct val="100000"/>
              </a:lnSpc>
              <a:buNone/>
            </a:pPr>
            <a:r>
              <a:rPr lang="en-US" sz="16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600" b="1" dirty="0">
                <a:solidFill>
                  <a:srgbClr val="007374"/>
                </a:solidFill>
                <a:latin typeface="Times New Roman" pitchFamily="34" charset="0"/>
                <a:ea typeface="標楷體" pitchFamily="34" charset="-122"/>
                <a:cs typeface="Times New Roman" pitchFamily="34" charset="-120"/>
              </a:rPr>
              <a:t>timeline</a:t>
            </a:r>
            <a:pPr algn="ctr" indent="0" marL="0">
              <a:lnSpc>
                <a:spcPct val="100000"/>
              </a:lnSpc>
              <a:buNone/>
            </a:pPr>
            <a:r>
              <a:rPr lang="en-US" sz="1600" b="1" dirty="0">
                <a:solidFill>
                  <a:srgbClr val="007374"/>
                </a:solidFill>
                <a:latin typeface="Times New Roman" pitchFamily="34" charset="0"/>
                <a:ea typeface="標楷體" pitchFamily="34" charset="-122"/>
                <a:cs typeface="Times New Roman" pitchFamily="34" charset="-120"/>
              </a:rPr>
              <a:t>：獨立 </a:t>
            </a:r>
            <a:pPr algn="ctr" indent="0" marL="0">
              <a:lnSpc>
                <a:spcPct val="100000"/>
              </a:lnSpc>
              <a:buNone/>
            </a:pPr>
            <a:r>
              <a:rPr lang="en-US" sz="1600" b="1" i="1" dirty="0">
                <a:solidFill>
                  <a:srgbClr val="007374"/>
                </a:solidFill>
                <a:latin typeface="Times New Roman" pitchFamily="34" charset="0"/>
                <a:ea typeface="標楷體" pitchFamily="34" charset="-122"/>
                <a:cs typeface="Times New Roman" pitchFamily="34" charset="-120"/>
              </a:rPr>
              <a:t>frame</a:t>
            </a:r>
            <a:pPr algn="ctr" indent="0" marL="0">
              <a:lnSpc>
                <a:spcPct val="100000"/>
              </a:lnSpc>
              <a:buNone/>
            </a:pPr>
            <a:r>
              <a:rPr lang="en-US" sz="16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600" b="1" i="1" dirty="0">
                <a:solidFill>
                  <a:srgbClr val="007374"/>
                </a:solidFill>
                <a:latin typeface="Times New Roman" pitchFamily="34" charset="0"/>
                <a:ea typeface="標楷體" pitchFamily="34" charset="-122"/>
                <a:cs typeface="Times New Roman" pitchFamily="34" charset="-120"/>
              </a:rPr>
              <a:t>identity</a:t>
            </a:r>
            <a:endParaRPr lang="en-US" sz="1600" dirty="0"/>
          </a:p>
        </p:txBody>
      </p:sp>
      <p:sp>
        <p:nvSpPr>
          <p:cNvPr id="26" name="Shape 23"/>
          <p:cNvSpPr/>
          <p:nvPr/>
        </p:nvSpPr>
        <p:spPr>
          <a:xfrm>
            <a:off x="6894576" y="4663440"/>
            <a:ext cx="4297680" cy="932688"/>
          </a:xfrm>
          <a:prstGeom prst="roundRect">
            <a:avLst/>
          </a:prstGeom>
          <a:solidFill>
            <a:srgbClr val="FDEFEF"/>
          </a:solidFill>
          <a:ln w="15240">
            <a:solidFill>
              <a:srgbClr val="992A2A"/>
            </a:solidFill>
            <a:prstDash val="solid"/>
          </a:ln>
        </p:spPr>
      </p:sp>
      <p:sp>
        <p:nvSpPr>
          <p:cNvPr id="27" name="Text 24"/>
          <p:cNvSpPr/>
          <p:nvPr/>
        </p:nvSpPr>
        <p:spPr>
          <a:xfrm>
            <a:off x="7040880" y="4773168"/>
            <a:ext cx="4005072"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判讀</a:t>
            </a:r>
            <a:endParaRPr lang="en-US" sz="1800" dirty="0"/>
          </a:p>
        </p:txBody>
      </p:sp>
      <p:sp>
        <p:nvSpPr>
          <p:cNvPr id="28" name="Text 25"/>
          <p:cNvSpPr/>
          <p:nvPr/>
        </p:nvSpPr>
        <p:spPr>
          <a:xfrm>
            <a:off x="7040880" y="5120640"/>
            <a:ext cx="4005072" cy="365760"/>
          </a:xfrm>
          <a:prstGeom prst="rect">
            <a:avLst/>
          </a:prstGeom>
          <a:noFill/>
          <a:ln/>
        </p:spPr>
        <p:txBody>
          <a:bodyPr wrap="square" lIns="635" tIns="635" rIns="635" bIns="635" rtlCol="0" anchor="t">
            <a:normAutofit/>
          </a:bodyPr>
          <a:lstStyle/>
          <a:p>
            <a:pPr algn="ctr" indent="0" marL="0">
              <a:lnSpc>
                <a:spcPct val="100000"/>
              </a:lnSpc>
              <a:buNone/>
            </a:pPr>
            <a:r>
              <a:rPr lang="en-US" sz="2000" i="1" dirty="0">
                <a:solidFill>
                  <a:srgbClr val="25324A"/>
                </a:solidFill>
                <a:latin typeface="Times New Roman" pitchFamily="34" charset="0"/>
                <a:ea typeface="標楷體" pitchFamily="34" charset="-122"/>
                <a:cs typeface="Times New Roman" pitchFamily="34" charset="-120"/>
              </a:rPr>
              <a:t>provider</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000" i="1" dirty="0">
                <a:solidFill>
                  <a:srgbClr val="25324A"/>
                </a:solidFill>
                <a:latin typeface="Times New Roman" pitchFamily="34" charset="0"/>
                <a:ea typeface="標楷體" pitchFamily="34" charset="-122"/>
                <a:cs typeface="Times New Roman" pitchFamily="34" charset="-120"/>
              </a:rPr>
              <a:t>frame</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移動不自動改寫 </a:t>
            </a:r>
            <a:pPr algn="ctr" indent="0" marL="0">
              <a:lnSpc>
                <a:spcPct val="100000"/>
              </a:lnSpc>
              <a:buNone/>
            </a:pPr>
            <a:r>
              <a:rPr lang="en-US" sz="2000" i="1" dirty="0">
                <a:solidFill>
                  <a:srgbClr val="25324A"/>
                </a:solidFill>
                <a:latin typeface="Times New Roman" pitchFamily="34" charset="0"/>
                <a:ea typeface="標楷體" pitchFamily="34" charset="-122"/>
                <a:cs typeface="Times New Roman" pitchFamily="34" charset="-120"/>
              </a:rPr>
              <a:t>endpoint</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000" i="1" dirty="0">
                <a:solidFill>
                  <a:srgbClr val="25324A"/>
                </a:solidFill>
                <a:latin typeface="Times New Roman" pitchFamily="34" charset="0"/>
                <a:ea typeface="標楷體" pitchFamily="34" charset="-122"/>
                <a:cs typeface="Times New Roman" pitchFamily="34" charset="-120"/>
              </a:rPr>
              <a:t>Action</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a:t>
            </a:r>
            <a:endParaRPr lang="en-US" sz="2000" dirty="0"/>
          </a:p>
        </p:txBody>
      </p:sp>
      <p:sp>
        <p:nvSpPr>
          <p:cNvPr id="30" name="Text 3"/>
          <p:cNvSpPr/>
          <p:nvPr>
            <p:ph idx="105" type="title" hasCustomPrompt="1"/>
          </p:nvPr>
        </p:nvSpPr>
        <p:spPr>
          <a:xfrm>
            <a:off x="656591" y="187008"/>
            <a:ext cx="9462769" cy="480060"/>
          </a:xfrm>
          <a:prstGeom prst="rect">
            <a:avLst/>
          </a:prstGeom>
          <a:noFill/>
          <a:ln/>
        </p:spPr>
        <p:txBody>
          <a:bodyPr wrap="square" lIns="0" tIns="0" rIns="0" bIns="0" rtlCol="0" anchor="b"/>
          <a:lstStyle/>
          <a:p>
            <a:pPr algn="l" indent="0" marL="0">
              <a:buNone/>
            </a:pPr>
            <a:endParaRPr lang="en-US" sz="2800" dirty="0"/>
          </a:p>
        </p:txBody>
      </p:sp>
    </p:spTree>
  </p:cSld>
  <p:clrMapOvr>
    <a:masterClrMapping/>
  </p:clrMapOvr>
</p:sld>
</file>

<file path=ppt/theme/theme1.xml><?xml version="1.0" encoding="utf-8"?>
<a:theme xmlns:a="http://schemas.openxmlformats.org/drawingml/2006/main" name="2_佈景主題1">
  <a:themeElements>
    <a:clrScheme name="自訂 1">
      <a:dk1>
        <a:srgbClr val="35377F"/>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正式文體">
      <a:majorFont>
        <a:latin typeface="Times New Roman"/>
        <a:ea typeface="標楷體"/>
        <a:cs typeface=""/>
      </a:majorFont>
      <a:minorFont>
        <a:latin typeface="Times New Roman"/>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rgbClr val="003065"/>
          </a:solidFill>
          <a:prstDash val="solid"/>
          <a:round/>
          <a:headEnd type="none" w="med" len="med"/>
          <a:tailEnd type="triangle" w="med" len="med"/>
        </a:ln>
        <a:effectLst/>
      </a:spPr>
      <a:bodyPr vert="horz" wrap="non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rgbClr val="003065"/>
          </a:solidFill>
          <a:prstDash val="solid"/>
          <a:round/>
          <a:headEnd type="none" w="med" len="med"/>
          <a:tailEnd type="triangle" w="med" len="med"/>
        </a:ln>
        <a:effectLst/>
      </a:spPr>
      <a:bodyPr vert="horz" wrap="non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hk1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hk1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hk1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hk1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hk1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hk1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hk1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hk1 8">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佈景主題1" id="{929F1AC0-EDE5-4E84-B296-76809860B882}" vid="{D422FDD8-D1F8-4744-A7BD-E0F19A28C553}"/>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C-120 courseware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LoRaEnergySim-LEO-ALT-PART-C-V2-P081-P097-REVIEW</dc:title>
  <dc:subject>LoRaEnergySim + LEO Part C P081-P097</dc:subject>
  <dc:creator>C-120 Part C V2 writer</dc:creator>
  <cp:lastModifiedBy>C-120 Part C V2 writer</cp:lastModifiedBy>
  <cp:revision>1</cp:revision>
  <dcterms:created xsi:type="dcterms:W3CDTF">2026-08-11T05:31:36Z</dcterms:created>
  <dcterms:modified xsi:type="dcterms:W3CDTF">2026-08-11T05:31:36Z</dcterms:modified>
</cp:coreProperties>
</file>