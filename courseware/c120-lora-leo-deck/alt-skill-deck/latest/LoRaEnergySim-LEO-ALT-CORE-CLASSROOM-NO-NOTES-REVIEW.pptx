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saveSubsetFonts="1">
  <p:sldMasterIdLst>
    <p:sldMasterId id="2147483708" r:id="rId1"/>
  </p:sldMasterIdLst>
  <p:notesMasterIdLst>
    <p:notesMasterId r:id="rId4"/>
  </p:notesMasterIdLst>
  <p:sldIdLst>
    <p:sldId id="256" r:id="rId3"/>
    <p:sldId id="257" r:id="rId2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2.xml" /><Relationship Id="rId3" Type="http://schemas.openxmlformats.org/officeDocument/2006/relationships/slide" Target="slides/slide1.xml" /><Relationship Id="rId4" Type="http://schemas.openxmlformats.org/officeDocument/2006/relationships/notesMaster" Target="notesMasters/notesMaster1.xml" /><Relationship Id="rId5" Type="http://schemas.openxmlformats.org/officeDocument/2006/relationships/presProps" Target="presProps.xml" /><Relationship Id="rId6" Type="http://schemas.openxmlformats.org/officeDocument/2006/relationships/viewProps" Target="viewProps.xml" /><Relationship Id="rId7" Type="http://schemas.openxmlformats.org/officeDocument/2006/relationships/theme" Target="theme/theme1.xml" /><Relationship Id="rId8" Type="http://schemas.openxmlformats.org/officeDocument/2006/relationships/tableStyles" Target="tableStyles.xml" /><Relationship Id="rId9" Type="http://schemas.openxmlformats.org/officeDocument/2006/relationships/slide" Target="slides/slide3.xml" /><Relationship Id="rId10" Type="http://schemas.openxmlformats.org/officeDocument/2006/relationships/slide" Target="slides/slide4.xml" /><Relationship Id="rId11" Type="http://schemas.openxmlformats.org/officeDocument/2006/relationships/slide" Target="slides/slide5.xml" /><Relationship Id="rId12" Type="http://schemas.openxmlformats.org/officeDocument/2006/relationships/slide" Target="slides/slide6.xml" /><Relationship Id="rId13" Type="http://schemas.openxmlformats.org/officeDocument/2006/relationships/slide" Target="slides/slide7.xml" /><Relationship Id="rId14" Type="http://schemas.openxmlformats.org/officeDocument/2006/relationships/slide" Target="slides/slide8.xml" /><Relationship Id="rId15" Type="http://schemas.openxmlformats.org/officeDocument/2006/relationships/slide" Target="slides/slide9.xml" /><Relationship Id="rId16" Type="http://schemas.openxmlformats.org/officeDocument/2006/relationships/slide" Target="slides/slide10.xml" /><Relationship Id="rId17" Type="http://schemas.openxmlformats.org/officeDocument/2006/relationships/slide" Target="slides/slide11.xml" /><Relationship Id="rId18" Type="http://schemas.openxmlformats.org/officeDocument/2006/relationships/slide" Target="slides/slide12.xml" /><Relationship Id="rId19" Type="http://schemas.openxmlformats.org/officeDocument/2006/relationships/slide" Target="slides/slide13.xml" /><Relationship Id="rId20" Type="http://schemas.openxmlformats.org/officeDocument/2006/relationships/slide" Target="slides/slide14.xml" /><Relationship Id="rId21" Type="http://schemas.openxmlformats.org/officeDocument/2006/relationships/slide" Target="slides/slide15.xml" /><Relationship Id="rId22" Type="http://schemas.openxmlformats.org/officeDocument/2006/relationships/slide" Target="slides/slide16.xml" /><Relationship Id="rId23" Type="http://schemas.openxmlformats.org/officeDocument/2006/relationships/slide" Target="slides/slide17.xml" /><Relationship Id="rId24" Type="http://schemas.openxmlformats.org/officeDocument/2006/relationships/slide" Target="slides/slide18.xml" /><Relationship Id="rId25" Type="http://schemas.openxmlformats.org/officeDocument/2006/relationships/slide" Target="slides/slide19.xml" /><Relationship Id="rId26" Type="http://schemas.openxmlformats.org/officeDocument/2006/relationships/slide" Target="slides/slide20.xml" /><Relationship Id="rId27" Type="http://schemas.openxmlformats.org/officeDocument/2006/relationships/slide" Target="slides/slide21.xml" /><Relationship Id="rId28" Type="http://schemas.openxmlformats.org/officeDocument/2006/relationships/slide" Target="slides/slide22.xml" /><Relationship Id="rId29" Type="http://schemas.openxmlformats.org/officeDocument/2006/relationships/slide" Target="slides/slide23.xml" /><Relationship Id="rId30" Type="http://schemas.openxmlformats.org/officeDocument/2006/relationships/slide" Target="slides/slide24.xml" /><Relationship Id="rId31" Type="http://schemas.openxmlformats.org/officeDocument/2006/relationships/slide" Target="slides/slide25.xml" /><Relationship Id="rId32" Type="http://schemas.openxmlformats.org/officeDocument/2006/relationships/slide" Target="slides/slide26.xml" /><Relationship Id="rId33" Type="http://schemas.openxmlformats.org/officeDocument/2006/relationships/slide" Target="slides/slide27.xml" /><Relationship Id="rId34" Type="http://schemas.openxmlformats.org/officeDocument/2006/relationships/slide" Target="slides/slide28.xml" /><Relationship Id="rId35" Type="http://schemas.openxmlformats.org/officeDocument/2006/relationships/slide" Target="slides/slide29.xml" /><Relationship Id="rId36" Type="http://schemas.openxmlformats.org/officeDocument/2006/relationships/slide" Target="slides/slide30.xml" /><Relationship Id="rId37" Type="http://schemas.openxmlformats.org/officeDocument/2006/relationships/slide" Target="slides/slide31.xml" /><Relationship Id="rId38" Type="http://schemas.openxmlformats.org/officeDocument/2006/relationships/slide" Target="slides/slide32.xml" /><Relationship Id="rId39" Type="http://schemas.openxmlformats.org/officeDocument/2006/relationships/slide" Target="slides/slide33.xml" /><Relationship Id="rId40" Type="http://schemas.openxmlformats.org/officeDocument/2006/relationships/slide" Target="slides/slide34.xml" /><Relationship Id="rId41" Type="http://schemas.openxmlformats.org/officeDocument/2006/relationships/slide" Target="slides/slide35.xml" /><Relationship Id="rId42" Type="http://schemas.openxmlformats.org/officeDocument/2006/relationships/slide" Target="slides/slide36.xml" /><Relationship Id="rId43" Type="http://schemas.openxmlformats.org/officeDocument/2006/relationships/slide" Target="slides/slide37.xml" /><Relationship Id="rId44" Type="http://schemas.openxmlformats.org/officeDocument/2006/relationships/slide" Target="slides/slide38.xml" /><Relationship Id="rId45" Type="http://schemas.openxmlformats.org/officeDocument/2006/relationships/slide" Target="slides/slide39.xml" /><Relationship Id="rId46" Type="http://schemas.openxmlformats.org/officeDocument/2006/relationships/slide" Target="slides/slide40.xml" /><Relationship Id="rId47" Type="http://schemas.openxmlformats.org/officeDocument/2006/relationships/slide" Target="slides/slide41.xml" /><Relationship Id="rId48" Type="http://schemas.openxmlformats.org/officeDocument/2006/relationships/slide" Target="slides/slide42.xml" /><Relationship Id="rId49" Type="http://schemas.openxmlformats.org/officeDocument/2006/relationships/slide" Target="slides/slide43.xml" /><Relationship Id="rId50" Type="http://schemas.openxmlformats.org/officeDocument/2006/relationships/slide" Target="slides/slide44.xml" /><Relationship Id="rId51" Type="http://schemas.openxmlformats.org/officeDocument/2006/relationships/slide" Target="slides/slide45.xml" /><Relationship Id="rId52" Type="http://schemas.openxmlformats.org/officeDocument/2006/relationships/slide" Target="slides/slide46.xml" /><Relationship Id="rId53" Type="http://schemas.openxmlformats.org/officeDocument/2006/relationships/slide" Target="slides/slide47.xml" /><Relationship Id="rId54" Type="http://schemas.openxmlformats.org/officeDocument/2006/relationships/slide" Target="slides/slide48.xml" /><Relationship Id="rId55" Type="http://schemas.openxmlformats.org/officeDocument/2006/relationships/slide" Target="slides/slide49.xml" /><Relationship Id="rId56" Type="http://schemas.openxmlformats.org/officeDocument/2006/relationships/slide" Target="slides/slide50.xml" /><Relationship Id="rId57" Type="http://schemas.openxmlformats.org/officeDocument/2006/relationships/slide" Target="slides/slide51.xml" /><Relationship Id="rId58" Type="http://schemas.openxmlformats.org/officeDocument/2006/relationships/slide" Target="slides/slide52.xml" /><Relationship Id="rId59" Type="http://schemas.openxmlformats.org/officeDocument/2006/relationships/slide" Target="slides/slide53.xml" /><Relationship Id="rId60" Type="http://schemas.openxmlformats.org/officeDocument/2006/relationships/slide" Target="slides/slide54.xml" /><Relationship Id="rId61" Type="http://schemas.openxmlformats.org/officeDocument/2006/relationships/slide" Target="slides/slide55.xml" /><Relationship Id="rId62" Type="http://schemas.openxmlformats.org/officeDocument/2006/relationships/slide" Target="slides/slide56.xml" /><Relationship Id="rId63" Type="http://schemas.openxmlformats.org/officeDocument/2006/relationships/slide" Target="slides/slide57.xml" /><Relationship Id="rId64" Type="http://schemas.openxmlformats.org/officeDocument/2006/relationships/slide" Target="slides/slide58.xml" /><Relationship Id="rId65" Type="http://schemas.openxmlformats.org/officeDocument/2006/relationships/slide" Target="slides/slide59.xml" /><Relationship Id="rId66" Type="http://schemas.openxmlformats.org/officeDocument/2006/relationships/slide" Target="slides/slide60.xml" /><Relationship Id="rId67" Type="http://schemas.openxmlformats.org/officeDocument/2006/relationships/slide" Target="slides/slide61.xml" /><Relationship Id="rId68" Type="http://schemas.openxmlformats.org/officeDocument/2006/relationships/slide" Target="slides/slide62.xml" /><Relationship Id="rId69" Type="http://schemas.openxmlformats.org/officeDocument/2006/relationships/slide" Target="slides/slide63.xml" /><Relationship Id="rId70" Type="http://schemas.openxmlformats.org/officeDocument/2006/relationships/slide" Target="slides/slide64.xml" /><Relationship Id="rId71" Type="http://schemas.openxmlformats.org/officeDocument/2006/relationships/slide" Target="slides/slide65.xml" /><Relationship Id="rId72" Type="http://schemas.openxmlformats.org/officeDocument/2006/relationships/slide" Target="slides/slide66.xml" /><Relationship Id="rId73" Type="http://schemas.openxmlformats.org/officeDocument/2006/relationships/slide" Target="slides/slide67.xml" /><Relationship Id="rId74" Type="http://schemas.openxmlformats.org/officeDocument/2006/relationships/slide" Target="slides/slide68.xml" /><Relationship Id="rId75" Type="http://schemas.openxmlformats.org/officeDocument/2006/relationships/slide" Target="slides/slide69.xml" /><Relationship Id="rId76" Type="http://schemas.openxmlformats.org/officeDocument/2006/relationships/slide" Target="slides/slide70.xml" /><Relationship Id="rId77" Type="http://schemas.openxmlformats.org/officeDocument/2006/relationships/slide" Target="slides/slide71.xml" /><Relationship Id="rId78" Type="http://schemas.openxmlformats.org/officeDocument/2006/relationships/slide" Target="slides/slide72.xml" /><Relationship Id="rId79" Type="http://schemas.openxmlformats.org/officeDocument/2006/relationships/slide" Target="slides/slide73.xml" /><Relationship Id="rId80" Type="http://schemas.openxmlformats.org/officeDocument/2006/relationships/slide" Target="slides/slide74.xml" /><Relationship Id="rId81" Type="http://schemas.openxmlformats.org/officeDocument/2006/relationships/slide" Target="slides/slide75.xml" /><Relationship Id="rId82" Type="http://schemas.openxmlformats.org/officeDocument/2006/relationships/slide" Target="slides/slide76.xml" /><Relationship Id="rId83" Type="http://schemas.openxmlformats.org/officeDocument/2006/relationships/slide" Target="slides/slide77.xml" /><Relationship Id="rId84" Type="http://schemas.openxmlformats.org/officeDocument/2006/relationships/slide" Target="slides/slide78.xml" /><Relationship Id="rId85" Type="http://schemas.openxmlformats.org/officeDocument/2006/relationships/slide" Target="slides/slide79.xml" /><Relationship Id="rId86" Type="http://schemas.openxmlformats.org/officeDocument/2006/relationships/slide" Target="slides/slide80.xml" /><Relationship Id="rId87" Type="http://schemas.openxmlformats.org/officeDocument/2006/relationships/slide" Target="slides/slide81.xml" /><Relationship Id="rId88" Type="http://schemas.openxmlformats.org/officeDocument/2006/relationships/slide" Target="slides/slide82.xml" /><Relationship Id="rId89" Type="http://schemas.openxmlformats.org/officeDocument/2006/relationships/slide" Target="slides/slide83.xml" /><Relationship Id="rId90" Type="http://schemas.openxmlformats.org/officeDocument/2006/relationships/slide" Target="slides/slide84.xml" /><Relationship Id="rId91" Type="http://schemas.openxmlformats.org/officeDocument/2006/relationships/slide" Target="slides/slide85.xml" /><Relationship Id="rId92" Type="http://schemas.openxmlformats.org/officeDocument/2006/relationships/slide" Target="slides/slide86.xml" /><Relationship Id="rId93" Type="http://schemas.openxmlformats.org/officeDocument/2006/relationships/slide" Target="slides/slide87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7.xml" /></Relationships>
</file>

<file path=ppt/notesSlides/_rels/notesSlide1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8.xml" /></Relationships>
</file>

<file path=ppt/notesSlides/_rels/notesSlide1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9.xml" /></Relationships>
</file>

<file path=ppt/notesSlides/_rels/notesSlide2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0.xml" /></Relationships>
</file>

<file path=ppt/notesSlides/_rels/notesSlide2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1.xml" /></Relationships>
</file>

<file path=ppt/notesSlides/_rels/notesSlide2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2.xml" /></Relationships>
</file>

<file path=ppt/notesSlides/_rels/notesSlide2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3.xml" /></Relationships>
</file>

<file path=ppt/notesSlides/_rels/notesSlide2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4.xml" /></Relationships>
</file>

<file path=ppt/notesSlides/_rels/notesSlide2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5.xml" /></Relationships>
</file>

<file path=ppt/notesSlides/_rels/notesSlide2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6.xml" /></Relationships>
</file>

<file path=ppt/notesSlides/_rels/notesSlide2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7.xml" /></Relationships>
</file>

<file path=ppt/notesSlides/_rels/notesSlide2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8.xml" /></Relationships>
</file>

<file path=ppt/notesSlides/_rels/notesSlide2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29.xml" /></Relationships>
</file>

<file path=ppt/notesSlides/_rels/notesSlide3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0.xml" /></Relationships>
</file>

<file path=ppt/notesSlides/_rels/notesSlide3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1.xml" /></Relationships>
</file>

<file path=ppt/notesSlides/_rels/notesSlide3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2.xml" /></Relationships>
</file>

<file path=ppt/notesSlides/_rels/notesSlide3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3.xml" /></Relationships>
</file>

<file path=ppt/notesSlides/_rels/notesSlide3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4.xml" /></Relationships>
</file>

<file path=ppt/notesSlides/_rels/notesSlide3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5.xml" /></Relationships>
</file>

<file path=ppt/notesSlides/_rels/notesSlide3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6.xml" /></Relationships>
</file>

<file path=ppt/notesSlides/_rels/notesSlide3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7.xml" /></Relationships>
</file>

<file path=ppt/notesSlides/_rels/notesSlide3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8.xml" /></Relationships>
</file>

<file path=ppt/notesSlides/_rels/notesSlide3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9.xml" /></Relationships>
</file>

<file path=ppt/notesSlides/_rels/notesSlide4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0.xml" /></Relationships>
</file>

<file path=ppt/notesSlides/_rels/notesSlide4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1.xml" /></Relationships>
</file>

<file path=ppt/notesSlides/_rels/notesSlide4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2.xml" /></Relationships>
</file>

<file path=ppt/notesSlides/_rels/notesSlide4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3.xml" /></Relationships>
</file>

<file path=ppt/notesSlides/_rels/notesSlide4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4.xml" /></Relationships>
</file>

<file path=ppt/notesSlides/_rels/notesSlide4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5.xml" /></Relationships>
</file>

<file path=ppt/notesSlides/_rels/notesSlide4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6.xml" /></Relationships>
</file>

<file path=ppt/notesSlides/_rels/notesSlide4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7.xml" /></Relationships>
</file>

<file path=ppt/notesSlides/_rels/notesSlide4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8.xml" /></Relationships>
</file>

<file path=ppt/notesSlides/_rels/notesSlide4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9.xml" /></Relationships>
</file>

<file path=ppt/notesSlides/_rels/notesSlide5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0.xml" /></Relationships>
</file>

<file path=ppt/notesSlides/_rels/notesSlide5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1.xml" /></Relationships>
</file>

<file path=ppt/notesSlides/_rels/notesSlide5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2.xml" /></Relationships>
</file>

<file path=ppt/notesSlides/_rels/notesSlide5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3.xml" /></Relationships>
</file>

<file path=ppt/notesSlides/_rels/notesSlide5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4.xml" /></Relationships>
</file>

<file path=ppt/notesSlides/_rels/notesSlide5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5.xml" /></Relationships>
</file>

<file path=ppt/notesSlides/_rels/notesSlide5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6.xml" /></Relationships>
</file>

<file path=ppt/notesSlides/_rels/notesSlide5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7.xml" /></Relationships>
</file>

<file path=ppt/notesSlides/_rels/notesSlide5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8.xml" /></Relationships>
</file>

<file path=ppt/notesSlides/_rels/notesSlide5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9.xml" /></Relationships>
</file>

<file path=ppt/notesSlides/_rels/notesSlide6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0.xml" /></Relationships>
</file>

<file path=ppt/notesSlides/_rels/notesSlide6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1.xml" /></Relationships>
</file>

<file path=ppt/notesSlides/_rels/notesSlide6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2.xml" /></Relationships>
</file>

<file path=ppt/notesSlides/_rels/notesSlide6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3.xml" /></Relationships>
</file>

<file path=ppt/notesSlides/_rels/notesSlide6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4.xml" /></Relationships>
</file>

<file path=ppt/notesSlides/_rels/notesSlide6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5.xml" /></Relationships>
</file>

<file path=ppt/notesSlides/_rels/notesSlide6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6.xml" /></Relationships>
</file>

<file path=ppt/notesSlides/_rels/notesSlide6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7.xml" /></Relationships>
</file>

<file path=ppt/notesSlides/_rels/notesSlide6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8.xml" /></Relationships>
</file>

<file path=ppt/notesSlides/_rels/notesSlide6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9.xml" /></Relationships>
</file>

<file path=ppt/notesSlides/_rels/notesSlide7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0.xml" /></Relationships>
</file>

<file path=ppt/notesSlides/_rels/notesSlide7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1.xml" /></Relationships>
</file>

<file path=ppt/notesSlides/_rels/notesSlide7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2.xml" /></Relationships>
</file>

<file path=ppt/notesSlides/_rels/notesSlide7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3.xml" /></Relationships>
</file>

<file path=ppt/notesSlides/_rels/notesSlide7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4.xml" /></Relationships>
</file>

<file path=ppt/notesSlides/_rels/notesSlide7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5.xml" /></Relationships>
</file>

<file path=ppt/notesSlides/_rels/notesSlide7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6.xml" /></Relationships>
</file>

<file path=ppt/notesSlides/_rels/notesSlide7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7.xml" /></Relationships>
</file>

<file path=ppt/notesSlides/_rels/notesSlide7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8.xml" /></Relationships>
</file>

<file path=ppt/notesSlides/_rels/notesSlide7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9.xml" /></Relationships>
</file>

<file path=ppt/notesSlides/_rels/notesSlide8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0.xml" /></Relationships>
</file>

<file path=ppt/notesSlides/_rels/notesSlide8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1.xml" /></Relationships>
</file>

<file path=ppt/notesSlides/_rels/notesSlide8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2.xml" /></Relationships>
</file>

<file path=ppt/notesSlides/_rels/notesSlide8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3.xml" /></Relationships>
</file>

<file path=ppt/notesSlides/_rels/notesSlide8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4.xml" /></Relationships>
</file>

<file path=ppt/notesSlides/_rels/notesSlide8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5.xml" /></Relationships>
</file>

<file path=ppt/notesSlides/_rels/notesSlide8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6.xml" /></Relationships>
</file>

<file path=ppt/notesSlides/_rels/notesSlide8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7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/Relationships>
</file>

<file path=ppt/slides/_rels/slide2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4.xml" /></Relationships>
</file>

<file path=ppt/slides/_rels/slide2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5.xml" /></Relationships>
</file>

<file path=ppt/slides/_rels/slide2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6.xml" /></Relationships>
</file>

<file path=ppt/slides/_rels/slide2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7.xml" /></Relationships>
</file>

<file path=ppt/slides/_rels/slide2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8.xml" /></Relationships>
</file>

<file path=ppt/slides/_rels/slide2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9.xml" /></Relationships>
</file>

<file path=ppt/slides/_rels/slide3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0.xml" /></Relationships>
</file>

<file path=ppt/slides/_rels/slide3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1.xml" /></Relationships>
</file>

<file path=ppt/slides/_rels/slide3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2.xml" /></Relationships>
</file>

<file path=ppt/slides/_rels/slide3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3.xml" /></Relationships>
</file>

<file path=ppt/slides/_rels/slide3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4.xml" /></Relationships>
</file>

<file path=ppt/slides/_rels/slide3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5.xml" /></Relationships>
</file>

<file path=ppt/slides/_rels/slide3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6.xml" /></Relationships>
</file>

<file path=ppt/slides/_rels/slide3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7.xml" /></Relationships>
</file>

<file path=ppt/slides/_rels/slide3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8.xml" /></Relationships>
</file>

<file path=ppt/slides/_rels/slide3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9.xml" /></Relationships>
</file>

<file path=ppt/slides/_rels/slide4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0.xml" /></Relationships>
</file>

<file path=ppt/slides/_rels/slide4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1.xml" /></Relationships>
</file>

<file path=ppt/slides/_rels/slide4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2.xml" /></Relationships>
</file>

<file path=ppt/slides/_rels/slide4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3.xml" /></Relationships>
</file>

<file path=ppt/slides/_rels/slide4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4.xml" /></Relationships>
</file>

<file path=ppt/slides/_rels/slide4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5.xml" /></Relationships>
</file>

<file path=ppt/slides/_rels/slide4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6.xml" /></Relationships>
</file>

<file path=ppt/slides/_rels/slide4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7.xml" /></Relationships>
</file>

<file path=ppt/slides/_rels/slide4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8.xml" /></Relationships>
</file>

<file path=ppt/slides/_rels/slide4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9.xml" /></Relationships>
</file>

<file path=ppt/slides/_rels/slide5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0.xml" /></Relationships>
</file>

<file path=ppt/slides/_rels/slide5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1.xml" /></Relationships>
</file>

<file path=ppt/slides/_rels/slide5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2.xml" /></Relationships>
</file>

<file path=ppt/slides/_rels/slide5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3.xml" /></Relationships>
</file>

<file path=ppt/slides/_rels/slide5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4.xml" /></Relationships>
</file>

<file path=ppt/slides/_rels/slide5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5.xml" /></Relationships>
</file>

<file path=ppt/slides/_rels/slide5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6.xml" /></Relationships>
</file>

<file path=ppt/slides/_rels/slide5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7.xml" /></Relationships>
</file>

<file path=ppt/slides/_rels/slide5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8.xml" /></Relationships>
</file>

<file path=ppt/slides/_rels/slide5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9.xml" /></Relationships>
</file>

<file path=ppt/slides/_rels/slide6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0.xml" /></Relationships>
</file>

<file path=ppt/slides/_rels/slide6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1.xml" /></Relationships>
</file>

<file path=ppt/slides/_rels/slide6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2.xml" /></Relationships>
</file>

<file path=ppt/slides/_rels/slide6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3.xml" /></Relationships>
</file>

<file path=ppt/slides/_rels/slide6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4.xml" /></Relationships>
</file>

<file path=ppt/slides/_rels/slide6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5.xml" /></Relationships>
</file>

<file path=ppt/slides/_rels/slide6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6.xml" /></Relationships>
</file>

<file path=ppt/slides/_rels/slide6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7.xml" /></Relationships>
</file>

<file path=ppt/slides/_rels/slide6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8.xml" /></Relationships>
</file>

<file path=ppt/slides/_rels/slide6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9.xml" /></Relationships>
</file>

<file path=ppt/slides/_rels/slide7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0.xml" /></Relationships>
</file>

<file path=ppt/slides/_rels/slide7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1.xml" /></Relationships>
</file>

<file path=ppt/slides/_rels/slide7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2.xml" /></Relationships>
</file>

<file path=ppt/slides/_rels/slide7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3.xml" /></Relationships>
</file>

<file path=ppt/slides/_rels/slide7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4.xml" /></Relationships>
</file>

<file path=ppt/slides/_rels/slide7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5.xml" /></Relationships>
</file>

<file path=ppt/slides/_rels/slide7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6.xml" /></Relationships>
</file>

<file path=ppt/slides/_rels/slide7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7.xml" /></Relationships>
</file>

<file path=ppt/slides/_rels/slide7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8.xml" /></Relationships>
</file>

<file path=ppt/slides/_rels/slide7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9.xml" /></Relationships>
</file>

<file path=ppt/slides/_rels/slide8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0.xml" /></Relationships>
</file>

<file path=ppt/slides/_rels/slide8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1.xml" /></Relationships>
</file>

<file path=ppt/slides/_rels/slide8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2.xml" /></Relationships>
</file>

<file path=ppt/slides/_rels/slide8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3.xml" /></Relationships>
</file>

<file path=ppt/slides/_rels/slide8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4.xml" /></Relationships>
</file>

<file path=ppt/slides/_rels/slide8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merged_d5_1.png" /><Relationship Id="rId3" Type="http://schemas.openxmlformats.org/officeDocument/2006/relationships/notesSlide" Target="../notesSlides/notesSlide85.xml" /></Relationships>
</file>

<file path=ppt/slides/_rels/slide8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merged_d5_2.png" /><Relationship Id="rId3" Type="http://schemas.openxmlformats.org/officeDocument/2006/relationships/notesSlide" Target="../notesSlides/notesSlide86.xml" /></Relationships>
</file>

<file path=ppt/slides/_rels/slide8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7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有限電池 × 變動服務窗口</a:t>
            </a:r>
          </a:p>
        </p:txBody>
      </p:sp>
      <p:sp>
        <p:nvSpPr>
          <p:cNvPr id="3" name="Finite battery endpoint"/>
          <p:cNvSpPr/>
          <p:nvPr/>
        </p:nvSpPr>
        <p:spPr>
          <a:xfrm>
            <a:off x="841248" y="1261872"/>
            <a:ext cx="2514600" cy="261518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有限電池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端點</a:t>
            </a:r>
          </a:p>
        </p:txBody>
      </p:sp>
      <p:sp>
        <p:nvSpPr>
          <p:cNvPr id="4" name="Battery cell 1"/>
          <p:cNvSpPr/>
          <p:nvPr/>
        </p:nvSpPr>
        <p:spPr>
          <a:xfrm>
            <a:off x="1225296" y="3246120"/>
            <a:ext cx="402336" cy="201168"/>
          </a:xfrm>
          <a:prstGeom prst="rect">
            <a:avLst/>
          </a:prstGeom>
          <a:solidFill>
            <a:srgbClr val="99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ttery cell 2"/>
          <p:cNvSpPr/>
          <p:nvPr/>
        </p:nvSpPr>
        <p:spPr>
          <a:xfrm>
            <a:off x="1773936" y="3246120"/>
            <a:ext cx="402336" cy="201168"/>
          </a:xfrm>
          <a:prstGeom prst="rect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attery cell 3"/>
          <p:cNvSpPr/>
          <p:nvPr/>
        </p:nvSpPr>
        <p:spPr>
          <a:xfrm>
            <a:off x="2322576" y="3246120"/>
            <a:ext cx="402336" cy="201168"/>
          </a:xfrm>
          <a:prstGeom prst="rect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cket label"/>
          <p:cNvSpPr txBox="1"/>
          <p:nvPr/>
        </p:nvSpPr>
        <p:spPr>
          <a:xfrm>
            <a:off x="3685032" y="1481328"/>
            <a:ext cx="1554480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資料封包</a:t>
            </a:r>
          </a:p>
        </p:txBody>
      </p:sp>
      <p:sp>
        <p:nvSpPr>
          <p:cNvPr id="8" name="Oval 7"/>
          <p:cNvSpPr/>
          <p:nvPr/>
        </p:nvSpPr>
        <p:spPr>
          <a:xfrm>
            <a:off x="3767328" y="2130552"/>
            <a:ext cx="292608" cy="292608"/>
          </a:xfrm>
          <a:prstGeom prst="ellipse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42816" y="2130552"/>
            <a:ext cx="292608" cy="292608"/>
          </a:xfrm>
          <a:prstGeom prst="ellipse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18304" y="2130552"/>
            <a:ext cx="292608" cy="292608"/>
          </a:xfrm>
          <a:prstGeom prst="ellipse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5074920" y="2039112"/>
            <a:ext cx="457200" cy="457200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cket path"/>
          <p:cNvSpPr txBox="1"/>
          <p:nvPr/>
        </p:nvSpPr>
        <p:spPr>
          <a:xfrm>
            <a:off x="3611880" y="2688336"/>
            <a:ext cx="1938528" cy="53035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產生 → 佇列 → 送出</a:t>
            </a:r>
          </a:p>
        </p:txBody>
      </p:sp>
      <p:sp>
        <p:nvSpPr>
          <p:cNvPr id="13" name="Changing service window"/>
          <p:cNvSpPr/>
          <p:nvPr/>
        </p:nvSpPr>
        <p:spPr>
          <a:xfrm>
            <a:off x="5870448" y="1225296"/>
            <a:ext cx="5321808" cy="2688336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Window headline"/>
          <p:cNvSpPr txBox="1"/>
          <p:nvPr/>
        </p:nvSpPr>
        <p:spPr>
          <a:xfrm>
            <a:off x="6199632" y="1444752"/>
            <a:ext cx="466344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會開、會關、品質會變</a:t>
            </a:r>
          </a:p>
        </p:txBody>
      </p:sp>
      <p:sp>
        <p:nvSpPr>
          <p:cNvPr id="15" name="Window segment 1"/>
          <p:cNvSpPr/>
          <p:nvPr/>
        </p:nvSpPr>
        <p:spPr>
          <a:xfrm>
            <a:off x="6291072" y="2304288"/>
            <a:ext cx="1243584" cy="658368"/>
          </a:xfrm>
          <a:prstGeom prst="rect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開啟</a:t>
            </a:r>
          </a:p>
        </p:txBody>
      </p:sp>
      <p:sp>
        <p:nvSpPr>
          <p:cNvPr id="16" name="Window segment 2"/>
          <p:cNvSpPr/>
          <p:nvPr/>
        </p:nvSpPr>
        <p:spPr>
          <a:xfrm>
            <a:off x="7598664" y="2304288"/>
            <a:ext cx="950976" cy="65836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關閉</a:t>
            </a:r>
          </a:p>
        </p:txBody>
      </p:sp>
      <p:sp>
        <p:nvSpPr>
          <p:cNvPr id="17" name="Window segment 3"/>
          <p:cNvSpPr/>
          <p:nvPr/>
        </p:nvSpPr>
        <p:spPr>
          <a:xfrm>
            <a:off x="8613648" y="2304288"/>
            <a:ext cx="1353312" cy="658368"/>
          </a:xfrm>
          <a:prstGeom prst="rect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開啟</a:t>
            </a:r>
          </a:p>
        </p:txBody>
      </p:sp>
      <p:sp>
        <p:nvSpPr>
          <p:cNvPr id="18" name="Window segment 4"/>
          <p:cNvSpPr/>
          <p:nvPr/>
        </p:nvSpPr>
        <p:spPr>
          <a:xfrm>
            <a:off x="10030968" y="2304288"/>
            <a:ext cx="1060704" cy="658368"/>
          </a:xfrm>
          <a:prstGeom prst="rect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縮短</a:t>
            </a:r>
          </a:p>
        </p:txBody>
      </p:sp>
      <p:sp>
        <p:nvSpPr>
          <p:cNvPr id="19" name="Reading order"/>
          <p:cNvSpPr/>
          <p:nvPr/>
        </p:nvSpPr>
        <p:spPr>
          <a:xfrm>
            <a:off x="1143000" y="4169663"/>
            <a:ext cx="9784080" cy="53035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先看窗口，再看動作；最後讀服務與端點能量</a:t>
            </a:r>
          </a:p>
        </p:txBody>
      </p:sp>
      <p:sp>
        <p:nvSpPr>
          <p:cNvPr id="20" name="Field contract scenario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scenario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（情境定義）｜來源：course package｜作用：固定端點、窗口與資料規則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單位：identifier｜判讀：相同輸入可重跑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LoRaEnergySim 是什麼</a:t>
            </a:r>
          </a:p>
        </p:txBody>
      </p:sp>
      <p:sp>
        <p:nvSpPr>
          <p:cNvPr id="3" name="Simulator lead"/>
          <p:cNvSpPr txBox="1"/>
          <p:nvPr/>
        </p:nvSpPr>
        <p:spPr>
          <a:xfrm>
            <a:off x="914400" y="932688"/>
            <a:ext cx="10332720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把端點的一次選擇，放進可重複的封包與能量模擬</a:t>
            </a:r>
          </a:p>
        </p:txBody>
      </p:sp>
      <p:sp>
        <p:nvSpPr>
          <p:cNvPr id="4" name="Endpoint concept"/>
          <p:cNvSpPr/>
          <p:nvPr/>
        </p:nvSpPr>
        <p:spPr>
          <a:xfrm>
            <a:off x="841248" y="1664208"/>
            <a:ext cx="2468880" cy="217627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ndpoint heading"/>
          <p:cNvSpPr txBox="1"/>
          <p:nvPr/>
        </p:nvSpPr>
        <p:spPr>
          <a:xfrm>
            <a:off x="1042415" y="1920240"/>
            <a:ext cx="2066543" cy="49377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端點</a:t>
            </a:r>
          </a:p>
        </p:txBody>
      </p:sp>
      <p:sp>
        <p:nvSpPr>
          <p:cNvPr id="6" name="Endpoint body"/>
          <p:cNvSpPr txBox="1"/>
          <p:nvPr/>
        </p:nvSpPr>
        <p:spPr>
          <a:xfrm>
            <a:off x="1078992" y="2615184"/>
            <a:ext cx="1993392" cy="8961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感測器＋有限電池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產生資料、選擇動作</a:t>
            </a:r>
          </a:p>
        </p:txBody>
      </p:sp>
      <p:sp>
        <p:nvSpPr>
          <p:cNvPr id="7" name="Chevron 6"/>
          <p:cNvSpPr/>
          <p:nvPr/>
        </p:nvSpPr>
        <p:spPr>
          <a:xfrm>
            <a:off x="3493008" y="2468880"/>
            <a:ext cx="420624" cy="493776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cket concept"/>
          <p:cNvSpPr/>
          <p:nvPr/>
        </p:nvSpPr>
        <p:spPr>
          <a:xfrm>
            <a:off x="4041648" y="1664208"/>
            <a:ext cx="3456432" cy="217627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cket heading"/>
          <p:cNvSpPr txBox="1"/>
          <p:nvPr/>
        </p:nvSpPr>
        <p:spPr>
          <a:xfrm>
            <a:off x="4315968" y="1920240"/>
            <a:ext cx="2907792" cy="49377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資料封包</a:t>
            </a:r>
          </a:p>
        </p:txBody>
      </p:sp>
      <p:sp>
        <p:nvSpPr>
          <p:cNvPr id="10" name="Packet body"/>
          <p:cNvSpPr txBox="1"/>
          <p:nvPr/>
        </p:nvSpPr>
        <p:spPr>
          <a:xfrm>
            <a:off x="4352544" y="2615184"/>
            <a:ext cx="2834640" cy="8961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一份待傳資料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產生 → 佇列 → 嘗試傳送</a:t>
            </a:r>
          </a:p>
        </p:txBody>
      </p:sp>
      <p:sp>
        <p:nvSpPr>
          <p:cNvPr id="11" name="Chevron 10"/>
          <p:cNvSpPr/>
          <p:nvPr/>
        </p:nvSpPr>
        <p:spPr>
          <a:xfrm>
            <a:off x="7699248" y="2468880"/>
            <a:ext cx="420624" cy="493776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Gateway concept"/>
          <p:cNvSpPr/>
          <p:nvPr/>
        </p:nvSpPr>
        <p:spPr>
          <a:xfrm>
            <a:off x="8247888" y="1664208"/>
            <a:ext cx="3054096" cy="217627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Gateway heading"/>
          <p:cNvSpPr txBox="1"/>
          <p:nvPr/>
        </p:nvSpPr>
        <p:spPr>
          <a:xfrm>
            <a:off x="8522208" y="1920240"/>
            <a:ext cx="2505456" cy="49377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閘道</a:t>
            </a:r>
          </a:p>
        </p:txBody>
      </p:sp>
      <p:sp>
        <p:nvSpPr>
          <p:cNvPr id="14" name="Gateway body"/>
          <p:cNvSpPr txBox="1"/>
          <p:nvPr/>
        </p:nvSpPr>
        <p:spPr>
          <a:xfrm>
            <a:off x="8540496" y="2615184"/>
            <a:ext cx="2468880" cy="8961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接收資料封包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留下送達、碰撞與重傳事件</a:t>
            </a:r>
          </a:p>
        </p:txBody>
      </p:sp>
      <p:sp>
        <p:nvSpPr>
          <p:cNvPr id="15" name="Simulator question"/>
          <p:cNvSpPr/>
          <p:nvPr/>
        </p:nvSpPr>
        <p:spPr>
          <a:xfrm>
            <a:off x="1133856" y="4169663"/>
            <a:ext cx="9784080" cy="53035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它回答：同一份工作，在等待、休眠或傳送的不同決策下，服務與端點能量（J）如何一起變？</a:t>
            </a:r>
          </a:p>
        </p:txBody>
      </p:sp>
      <p:sp>
        <p:nvSpPr>
          <p:cNvPr id="16" name="Field contract simulator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simulator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（模擬器）｜來源：course package 參照 LoRaEnergySim｜作用：在固定時鐘重播端點、封包與能量假設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單位：一次固定執行｜判讀：產生可比較證據，不是實測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原始上游套件已做什麼</a:t>
            </a:r>
          </a:p>
        </p:txBody>
      </p:sp>
      <p:sp>
        <p:nvSpPr>
          <p:cNvPr id="3" name="Upstream lead"/>
          <p:cNvSpPr txBox="1"/>
          <p:nvPr/>
        </p:nvSpPr>
        <p:spPr>
          <a:xfrm>
            <a:off x="914400" y="932688"/>
            <a:ext cx="10332720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上游研究模型提供「端點狀態 → 封包事件 → 能量」的可重用能力</a:t>
            </a:r>
          </a:p>
        </p:txBody>
      </p:sp>
      <p:sp>
        <p:nvSpPr>
          <p:cNvPr id="4" name="Upstream capabilities"/>
          <p:cNvSpPr/>
          <p:nvPr/>
        </p:nvSpPr>
        <p:spPr>
          <a:xfrm>
            <a:off x="841248" y="1664208"/>
            <a:ext cx="5084064" cy="256032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stream heading"/>
          <p:cNvSpPr txBox="1"/>
          <p:nvPr/>
        </p:nvSpPr>
        <p:spPr>
          <a:xfrm>
            <a:off x="1115568" y="1901952"/>
            <a:ext cx="4535424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上游已有的研究能力</a:t>
            </a:r>
          </a:p>
        </p:txBody>
      </p:sp>
      <p:sp>
        <p:nvSpPr>
          <p:cNvPr id="6" name="Upstream states"/>
          <p:cNvSpPr/>
          <p:nvPr/>
        </p:nvSpPr>
        <p:spPr>
          <a:xfrm>
            <a:off x="1207008" y="2596896"/>
            <a:ext cx="4334256" cy="54864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休眠／處理／發射／接收狀態</a:t>
            </a:r>
          </a:p>
        </p:txBody>
      </p:sp>
      <p:sp>
        <p:nvSpPr>
          <p:cNvPr id="7" name="Upstream packet energy"/>
          <p:cNvSpPr/>
          <p:nvPr/>
        </p:nvSpPr>
        <p:spPr>
          <a:xfrm>
            <a:off x="1207008" y="3310128"/>
            <a:ext cx="4334256" cy="54864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封包、碰撞、重傳、端點能量</a:t>
            </a:r>
          </a:p>
        </p:txBody>
      </p:sp>
      <p:sp>
        <p:nvSpPr>
          <p:cNvPr id="8" name="Course gap"/>
          <p:cNvSpPr/>
          <p:nvPr/>
        </p:nvSpPr>
        <p:spPr>
          <a:xfrm>
            <a:off x="6263640" y="1664208"/>
            <a:ext cx="5084064" cy="2560320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urse gap heading"/>
          <p:cNvSpPr txBox="1"/>
          <p:nvPr/>
        </p:nvSpPr>
        <p:spPr>
          <a:xfrm>
            <a:off x="6537960" y="1901952"/>
            <a:ext cx="4535424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上游沒有替本課固定的部分</a:t>
            </a:r>
          </a:p>
        </p:txBody>
      </p:sp>
      <p:sp>
        <p:nvSpPr>
          <p:cNvPr id="10" name="Missing scenario"/>
          <p:cNvSpPr/>
          <p:nvPr/>
        </p:nvSpPr>
        <p:spPr>
          <a:xfrm>
            <a:off x="6629400" y="2596896"/>
            <a:ext cx="4334256" cy="54864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固定情境、LEO 服務窗口、案例順序</a:t>
            </a:r>
          </a:p>
        </p:txBody>
      </p:sp>
      <p:sp>
        <p:nvSpPr>
          <p:cNvPr id="11" name="Missing course seam"/>
          <p:cNvSpPr/>
          <p:nvPr/>
        </p:nvSpPr>
        <p:spPr>
          <a:xfrm>
            <a:off x="6629400" y="3310128"/>
            <a:ext cx="4334256" cy="54864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受控策略、結構化匯入、Leo 重播</a:t>
            </a:r>
          </a:p>
        </p:txBody>
      </p:sp>
      <p:sp>
        <p:nvSpPr>
          <p:cNvPr id="12" name="Upstream boundary"/>
          <p:cNvSpPr txBox="1"/>
          <p:nvPr/>
        </p:nvSpPr>
        <p:spPr>
          <a:xfrm>
            <a:off x="1005840" y="4425696"/>
            <a:ext cx="10168128" cy="36576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因此：上游能力是參照；課程流程、案例與證據邊界由本課封裝。</a:t>
            </a:r>
          </a:p>
        </p:txBody>
      </p:sp>
      <p:sp>
        <p:nvSpPr>
          <p:cNvPr id="13" name="Field contract upstream_model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upstream_model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（上游模型能力）｜來源：GillesC/LoRaEnergySim@f854462c｜作用：提供端點狀態、封包與能量概念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單位：能力集合｜判讀：僅是上游能力，不是本課 runner 執行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課程封裝補了什麼</a:t>
            </a:r>
          </a:p>
        </p:txBody>
      </p:sp>
      <p:sp>
        <p:nvSpPr>
          <p:cNvPr id="3" name="Wrapper lead"/>
          <p:cNvSpPr txBox="1"/>
          <p:nvPr/>
        </p:nvSpPr>
        <p:spPr>
          <a:xfrm>
            <a:off x="914400" y="932688"/>
            <a:ext cx="10332720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把研究模型包成一條可教、可驗、可匯入的固定路徑</a:t>
            </a:r>
          </a:p>
        </p:txBody>
      </p:sp>
      <p:sp>
        <p:nvSpPr>
          <p:cNvPr id="4" name="Course wrapper step 1"/>
          <p:cNvSpPr/>
          <p:nvPr/>
        </p:nvSpPr>
        <p:spPr>
          <a:xfrm>
            <a:off x="841248" y="1682496"/>
            <a:ext cx="2249424" cy="239572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Wrapper heading 1"/>
          <p:cNvSpPr txBox="1"/>
          <p:nvPr/>
        </p:nvSpPr>
        <p:spPr>
          <a:xfrm>
            <a:off x="987552" y="1865376"/>
            <a:ext cx="1956816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固定情境</a:t>
            </a:r>
          </a:p>
        </p:txBody>
      </p:sp>
      <p:sp>
        <p:nvSpPr>
          <p:cNvPr id="6" name="Wrapper body 1"/>
          <p:cNvSpPr txBox="1"/>
          <p:nvPr/>
        </p:nvSpPr>
        <p:spPr>
          <a:xfrm>
            <a:off x="1005840" y="2578608"/>
            <a:ext cx="1920240" cy="95097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scenario.json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同一 scenario_id</a:t>
            </a:r>
          </a:p>
        </p:txBody>
      </p:sp>
      <p:sp>
        <p:nvSpPr>
          <p:cNvPr id="7" name="Chevron 6"/>
          <p:cNvSpPr/>
          <p:nvPr/>
        </p:nvSpPr>
        <p:spPr>
          <a:xfrm>
            <a:off x="3200400" y="2615184"/>
            <a:ext cx="292608" cy="420624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urse wrapper step 2"/>
          <p:cNvSpPr/>
          <p:nvPr/>
        </p:nvSpPr>
        <p:spPr>
          <a:xfrm>
            <a:off x="3602736" y="1682496"/>
            <a:ext cx="2249424" cy="239572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rapper heading 2"/>
          <p:cNvSpPr txBox="1"/>
          <p:nvPr/>
        </p:nvSpPr>
        <p:spPr>
          <a:xfrm>
            <a:off x="3749039" y="1865376"/>
            <a:ext cx="1956816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受控決策</a:t>
            </a:r>
          </a:p>
        </p:txBody>
      </p:sp>
      <p:sp>
        <p:nvSpPr>
          <p:cNvPr id="10" name="Wrapper body 2"/>
          <p:cNvSpPr txBox="1"/>
          <p:nvPr/>
        </p:nvSpPr>
        <p:spPr>
          <a:xfrm>
            <a:off x="3767328" y="2578608"/>
            <a:ext cx="1920240" cy="95097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課程策略插槽；只改 marked block</a:t>
            </a:r>
          </a:p>
        </p:txBody>
      </p:sp>
      <p:sp>
        <p:nvSpPr>
          <p:cNvPr id="11" name="Chevron 10"/>
          <p:cNvSpPr/>
          <p:nvPr/>
        </p:nvSpPr>
        <p:spPr>
          <a:xfrm>
            <a:off x="5961888" y="2615184"/>
            <a:ext cx="292608" cy="420624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urse wrapper step 3"/>
          <p:cNvSpPr/>
          <p:nvPr/>
        </p:nvSpPr>
        <p:spPr>
          <a:xfrm>
            <a:off x="6364224" y="1682496"/>
            <a:ext cx="2249424" cy="239572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Wrapper heading 3"/>
          <p:cNvSpPr txBox="1"/>
          <p:nvPr/>
        </p:nvSpPr>
        <p:spPr>
          <a:xfrm>
            <a:off x="6510528" y="1865376"/>
            <a:ext cx="1956816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本機執行</a:t>
            </a:r>
          </a:p>
        </p:txBody>
      </p:sp>
      <p:sp>
        <p:nvSpPr>
          <p:cNvPr id="14" name="Wrapper body 3"/>
          <p:cNvSpPr txBox="1"/>
          <p:nvPr/>
        </p:nvSpPr>
        <p:spPr>
          <a:xfrm>
            <a:off x="6528816" y="2578608"/>
            <a:ext cx="1920240" cy="95097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runner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baseline → candidate → withheld</a:t>
            </a:r>
          </a:p>
        </p:txBody>
      </p:sp>
      <p:sp>
        <p:nvSpPr>
          <p:cNvPr id="15" name="Chevron 14"/>
          <p:cNvSpPr/>
          <p:nvPr/>
        </p:nvSpPr>
        <p:spPr>
          <a:xfrm>
            <a:off x="8723376" y="2615184"/>
            <a:ext cx="292608" cy="420624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urse wrapper step 4"/>
          <p:cNvSpPr/>
          <p:nvPr/>
        </p:nvSpPr>
        <p:spPr>
          <a:xfrm>
            <a:off x="9125712" y="1682496"/>
            <a:ext cx="2249424" cy="239572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Wrapper heading 4"/>
          <p:cNvSpPr txBox="1"/>
          <p:nvPr/>
        </p:nvSpPr>
        <p:spPr>
          <a:xfrm>
            <a:off x="9272016" y="1865376"/>
            <a:ext cx="1956816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匯入證據</a:t>
            </a:r>
          </a:p>
        </p:txBody>
      </p:sp>
      <p:sp>
        <p:nvSpPr>
          <p:cNvPr id="18" name="Wrapper body 4"/>
          <p:cNvSpPr txBox="1"/>
          <p:nvPr/>
        </p:nvSpPr>
        <p:spPr>
          <a:xfrm>
            <a:off x="9290304" y="2578608"/>
            <a:ext cx="1920240" cy="95097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result.json（結果）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replay（端點重播）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Leo 網站匯入／Workbook</a:t>
            </a:r>
          </a:p>
        </p:txBody>
      </p:sp>
      <p:sp>
        <p:nvSpPr>
          <p:cNvPr id="19" name="Wrapper boundary"/>
          <p:cNvSpPr/>
          <p:nvPr/>
        </p:nvSpPr>
        <p:spPr>
          <a:xfrm>
            <a:off x="1097280" y="4279392"/>
            <a:ext cx="9985248" cy="566928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student_policy.py 是課程策略插槽；runner 不直接執行上游 LoRaEnergySim，上游僅能力參照。</a:t>
            </a:r>
          </a:p>
        </p:txBody>
      </p:sp>
      <p:sp>
        <p:nvSpPr>
          <p:cNvPr id="20" name="Field contract runner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runner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（課程執行器）｜來源：course package｜作用：讀固定 scenario、載入 bounded policy、輸出 result／replay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單位：run artifact｜判讀：把一次修改連到可重播證據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為什麼競賽要用它</a:t>
            </a:r>
          </a:p>
        </p:txBody>
      </p:sp>
      <p:sp>
        <p:nvSpPr>
          <p:cNvPr id="3" name="Competition lead"/>
          <p:cNvSpPr txBox="1"/>
          <p:nvPr/>
        </p:nvSpPr>
        <p:spPr>
          <a:xfrm>
            <a:off x="914400" y="932688"/>
            <a:ext cx="10332720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先得到可重複的因果證據，再回到 LEO 網站解讀</a:t>
            </a:r>
          </a:p>
        </p:txBody>
      </p:sp>
      <p:sp>
        <p:nvSpPr>
          <p:cNvPr id="4" name="Competition reason 1"/>
          <p:cNvSpPr/>
          <p:nvPr/>
        </p:nvSpPr>
        <p:spPr>
          <a:xfrm>
            <a:off x="841248" y="1664208"/>
            <a:ext cx="3236976" cy="252374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etition heading 1"/>
          <p:cNvSpPr txBox="1"/>
          <p:nvPr/>
        </p:nvSpPr>
        <p:spPr>
          <a:xfrm>
            <a:off x="1005840" y="1901952"/>
            <a:ext cx="2907792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可重複</a:t>
            </a:r>
          </a:p>
        </p:txBody>
      </p:sp>
      <p:sp>
        <p:nvSpPr>
          <p:cNvPr id="6" name="Competition body 1"/>
          <p:cNvSpPr txBox="1"/>
          <p:nvPr/>
        </p:nvSpPr>
        <p:spPr>
          <a:xfrm>
            <a:off x="1060704" y="2633472"/>
            <a:ext cx="2798064" cy="106070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同一情境、相同策略檔與固定種子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重跑同一條事件路徑</a:t>
            </a:r>
          </a:p>
        </p:txBody>
      </p:sp>
      <p:sp>
        <p:nvSpPr>
          <p:cNvPr id="7" name="Competition reason 2"/>
          <p:cNvSpPr/>
          <p:nvPr/>
        </p:nvSpPr>
        <p:spPr>
          <a:xfrm>
            <a:off x="4361688" y="1664208"/>
            <a:ext cx="3236976" cy="252374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etition heading 2"/>
          <p:cNvSpPr txBox="1"/>
          <p:nvPr/>
        </p:nvSpPr>
        <p:spPr>
          <a:xfrm>
            <a:off x="4526279" y="1901952"/>
            <a:ext cx="2907792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可檢驗</a:t>
            </a:r>
          </a:p>
        </p:txBody>
      </p:sp>
      <p:sp>
        <p:nvSpPr>
          <p:cNvPr id="9" name="Competition body 2"/>
          <p:cNvSpPr txBox="1"/>
          <p:nvPr/>
        </p:nvSpPr>
        <p:spPr>
          <a:xfrm>
            <a:off x="4581144" y="2633472"/>
            <a:ext cx="2798064" cy="106070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改一個受控區塊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檢查封包／服務／狀態／J 是否改變</a:t>
            </a:r>
          </a:p>
        </p:txBody>
      </p:sp>
      <p:sp>
        <p:nvSpPr>
          <p:cNvPr id="10" name="Competition reason 3"/>
          <p:cNvSpPr/>
          <p:nvPr/>
        </p:nvSpPr>
        <p:spPr>
          <a:xfrm>
            <a:off x="7882127" y="1664208"/>
            <a:ext cx="3236976" cy="2523744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mpetition heading 3"/>
          <p:cNvSpPr txBox="1"/>
          <p:nvPr/>
        </p:nvSpPr>
        <p:spPr>
          <a:xfrm>
            <a:off x="8046719" y="1901952"/>
            <a:ext cx="2907792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可轉移</a:t>
            </a:r>
          </a:p>
        </p:txBody>
      </p:sp>
      <p:sp>
        <p:nvSpPr>
          <p:cNvPr id="12" name="Competition body 3"/>
          <p:cNvSpPr txBox="1"/>
          <p:nvPr/>
        </p:nvSpPr>
        <p:spPr>
          <a:xfrm>
            <a:off x="8101583" y="2633472"/>
            <a:ext cx="2798064" cy="106070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智慧農業、暖通空調、物流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重訂窗口、期限與能量邊界</a:t>
            </a:r>
          </a:p>
        </p:txBody>
      </p:sp>
      <p:sp>
        <p:nvSpPr>
          <p:cNvPr id="13" name="Competition claim boundary"/>
          <p:cNvSpPr/>
          <p:nvPr/>
        </p:nvSpPr>
        <p:spPr>
          <a:xfrm>
            <a:off x="1005840" y="4407408"/>
            <a:ext cx="10168128" cy="420624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本套件不是即時資料、典範系統指標或整體 LEO 能量；它先建立可反駁的端點因果證據。</a:t>
            </a:r>
          </a:p>
        </p:txBody>
      </p:sp>
      <p:sp>
        <p:nvSpPr>
          <p:cNvPr id="14" name="Field contract evidence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（證據）｜來源：result.json + endpoint replay｜作用：保存 policy → event → service／J 的路徑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單位：record｜判讀：支持 bounded comparison，不擴大 claim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只有 run case 才產生結果檔</a:t>
            </a:r>
          </a:p>
        </p:txBody>
      </p:sp>
      <p:sp>
        <p:nvSpPr>
          <p:cNvPr id="3" name="Artifact gate lead"/>
          <p:cNvSpPr txBox="1"/>
          <p:nvPr/>
        </p:nvSpPr>
        <p:spPr>
          <a:xfrm>
            <a:off x="914400" y="932688"/>
            <a:ext cx="10332720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setup／verify 只檢查環境；run case 才會寫入一次執行的產物</a:t>
            </a:r>
          </a:p>
        </p:txBody>
      </p:sp>
      <p:sp>
        <p:nvSpPr>
          <p:cNvPr id="4" name="Artifact gate step 1"/>
          <p:cNvSpPr/>
          <p:nvPr/>
        </p:nvSpPr>
        <p:spPr>
          <a:xfrm>
            <a:off x="841248" y="1664208"/>
            <a:ext cx="2788920" cy="2578608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657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tifact gate heading 1"/>
          <p:cNvSpPr txBox="1"/>
          <p:nvPr/>
        </p:nvSpPr>
        <p:spPr>
          <a:xfrm>
            <a:off x="987552" y="1901952"/>
            <a:ext cx="2496312" cy="62179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setup／verify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環境檢查</a:t>
            </a:r>
          </a:p>
        </p:txBody>
      </p:sp>
      <p:sp>
        <p:nvSpPr>
          <p:cNvPr id="6" name="Artifact gate body 1"/>
          <p:cNvSpPr txBox="1"/>
          <p:nvPr/>
        </p:nvSpPr>
        <p:spPr>
          <a:xfrm>
            <a:off x="1042416" y="2761488"/>
            <a:ext cx="2386584" cy="95097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套件 package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情境 scenario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策略 policy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不產生此次 run 產物</a:t>
            </a:r>
          </a:p>
        </p:txBody>
      </p:sp>
      <p:sp>
        <p:nvSpPr>
          <p:cNvPr id="7" name="Chevron 6"/>
          <p:cNvSpPr/>
          <p:nvPr/>
        </p:nvSpPr>
        <p:spPr>
          <a:xfrm>
            <a:off x="3730752" y="2670048"/>
            <a:ext cx="310896" cy="438912"/>
          </a:xfrm>
          <a:prstGeom prst="chevron">
            <a:avLst/>
          </a:prstGeom>
          <a:solidFill>
            <a:srgbClr val="657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rtifact gate step 2"/>
          <p:cNvSpPr/>
          <p:nvPr/>
        </p:nvSpPr>
        <p:spPr>
          <a:xfrm>
            <a:off x="3995928" y="1664208"/>
            <a:ext cx="2788920" cy="257860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rtifact gate heading 2"/>
          <p:cNvSpPr txBox="1"/>
          <p:nvPr/>
        </p:nvSpPr>
        <p:spPr>
          <a:xfrm>
            <a:off x="4142232" y="1901952"/>
            <a:ext cx="2496312" cy="62179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run case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執行案例</a:t>
            </a:r>
          </a:p>
        </p:txBody>
      </p:sp>
      <p:sp>
        <p:nvSpPr>
          <p:cNvPr id="10" name="Artifact gate body 2"/>
          <p:cNvSpPr txBox="1"/>
          <p:nvPr/>
        </p:nvSpPr>
        <p:spPr>
          <a:xfrm>
            <a:off x="4197096" y="2761488"/>
            <a:ext cx="2386584" cy="95097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本機 runner 依固定輸入模擬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唯一產生結果的動作</a:t>
            </a:r>
          </a:p>
        </p:txBody>
      </p:sp>
      <p:sp>
        <p:nvSpPr>
          <p:cNvPr id="11" name="Chevron 10"/>
          <p:cNvSpPr/>
          <p:nvPr/>
        </p:nvSpPr>
        <p:spPr>
          <a:xfrm>
            <a:off x="6885432" y="2670048"/>
            <a:ext cx="310896" cy="438912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rtifact gate step 3"/>
          <p:cNvSpPr/>
          <p:nvPr/>
        </p:nvSpPr>
        <p:spPr>
          <a:xfrm>
            <a:off x="7150608" y="1664208"/>
            <a:ext cx="2788920" cy="257860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rtifact gate heading 3"/>
          <p:cNvSpPr txBox="1"/>
          <p:nvPr/>
        </p:nvSpPr>
        <p:spPr>
          <a:xfrm>
            <a:off x="7296912" y="1901952"/>
            <a:ext cx="2496312" cy="62179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artifacts/&lt;run_id&gt;/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執行產物目錄</a:t>
            </a:r>
          </a:p>
        </p:txBody>
      </p:sp>
      <p:sp>
        <p:nvSpPr>
          <p:cNvPr id="14" name="Artifact gate body 3"/>
          <p:cNvSpPr txBox="1"/>
          <p:nvPr/>
        </p:nvSpPr>
        <p:spPr>
          <a:xfrm>
            <a:off x="7351776" y="2761488"/>
            <a:ext cx="2386584" cy="95097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result.json（結果）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endpoint-replay.json（端點重播）</a:t>
            </a:r>
          </a:p>
        </p:txBody>
      </p:sp>
      <p:sp>
        <p:nvSpPr>
          <p:cNvPr id="15" name="Artifact gate rule"/>
          <p:cNvSpPr/>
          <p:nvPr/>
        </p:nvSpPr>
        <p:spPr>
          <a:xfrm>
            <a:off x="950976" y="4443984"/>
            <a:ext cx="10241280" cy="438912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只有 run case 會產生 artifacts/&lt;run_id&gt;/result.json 與 endpoint-replay.json；setup／verify 不算。</a:t>
            </a:r>
          </a:p>
        </p:txBody>
      </p:sp>
      <p:sp>
        <p:nvSpPr>
          <p:cNvPr id="16" name="Field contract run artifact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run artifact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（執行產物）｜來源：本機 runner｜作用：保存一次執行的 result 與 endpoint replay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單位：同一 run 目錄｜判讀：只有 run 產生；setup／verify 不算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課程頁 /course 只匯入結果檔</a:t>
            </a:r>
          </a:p>
        </p:txBody>
      </p:sp>
      <p:sp>
        <p:nvSpPr>
          <p:cNvPr id="3" name="Course import lead"/>
          <p:cNvSpPr txBox="1"/>
          <p:nvPr/>
        </p:nvSpPr>
        <p:spPr>
          <a:xfrm>
            <a:off x="914400" y="932688"/>
            <a:ext cx="10332720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本機 runner 做模擬；網站做驗證、具象化、重播與工作簿</a:t>
            </a:r>
          </a:p>
        </p:txBody>
      </p:sp>
      <p:sp>
        <p:nvSpPr>
          <p:cNvPr id="4" name="Local runner boundary"/>
          <p:cNvSpPr/>
          <p:nvPr/>
        </p:nvSpPr>
        <p:spPr>
          <a:xfrm>
            <a:off x="841248" y="1664208"/>
            <a:ext cx="3657600" cy="257860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ocal runner heading"/>
          <p:cNvSpPr txBox="1"/>
          <p:nvPr/>
        </p:nvSpPr>
        <p:spPr>
          <a:xfrm>
            <a:off x="1078992" y="1883664"/>
            <a:ext cx="3182112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本機 runner（模擬）</a:t>
            </a:r>
          </a:p>
        </p:txBody>
      </p:sp>
      <p:sp>
        <p:nvSpPr>
          <p:cNvPr id="6" name="Local runner body"/>
          <p:cNvSpPr txBox="1"/>
          <p:nvPr/>
        </p:nvSpPr>
        <p:spPr>
          <a:xfrm>
            <a:off x="1115568" y="2578608"/>
            <a:ext cx="3108960" cy="11887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Linux／macOS 終端機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WSL 也使用 Linux 指令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讀 student_policy.py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（課程策略插槽）</a:t>
            </a:r>
          </a:p>
        </p:txBody>
      </p:sp>
      <p:sp>
        <p:nvSpPr>
          <p:cNvPr id="7" name="Chevron 6"/>
          <p:cNvSpPr/>
          <p:nvPr/>
        </p:nvSpPr>
        <p:spPr>
          <a:xfrm>
            <a:off x="4617720" y="2633472"/>
            <a:ext cx="420624" cy="512064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urse import boundary"/>
          <p:cNvSpPr/>
          <p:nvPr/>
        </p:nvSpPr>
        <p:spPr>
          <a:xfrm>
            <a:off x="5212080" y="1664208"/>
            <a:ext cx="5980176" cy="257860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urse import heading"/>
          <p:cNvSpPr txBox="1"/>
          <p:nvPr/>
        </p:nvSpPr>
        <p:spPr>
          <a:xfrm>
            <a:off x="5468112" y="1883664"/>
            <a:ext cx="5468112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/course（課程頁）只選 result.json</a:t>
            </a:r>
          </a:p>
        </p:txBody>
      </p:sp>
      <p:sp>
        <p:nvSpPr>
          <p:cNvPr id="10" name="Course validation"/>
          <p:cNvSpPr/>
          <p:nvPr/>
        </p:nvSpPr>
        <p:spPr>
          <a:xfrm>
            <a:off x="5577840" y="2578608"/>
            <a:ext cx="1609344" cy="53035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驗證</a:t>
            </a:r>
          </a:p>
        </p:txBody>
      </p:sp>
      <p:sp>
        <p:nvSpPr>
          <p:cNvPr id="11" name="Course materialization"/>
          <p:cNvSpPr/>
          <p:nvPr/>
        </p:nvSpPr>
        <p:spPr>
          <a:xfrm>
            <a:off x="7370064" y="2578608"/>
            <a:ext cx="1609344" cy="53035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具象化</a:t>
            </a:r>
          </a:p>
        </p:txBody>
      </p:sp>
      <p:sp>
        <p:nvSpPr>
          <p:cNvPr id="12" name="Course replay workbook"/>
          <p:cNvSpPr/>
          <p:nvPr/>
        </p:nvSpPr>
        <p:spPr>
          <a:xfrm>
            <a:off x="9162288" y="2578608"/>
            <a:ext cx="1609344" cy="530352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重播／工作簿</a:t>
            </a:r>
          </a:p>
        </p:txBody>
      </p:sp>
      <p:sp>
        <p:nvSpPr>
          <p:cNvPr id="13" name="Course pairing rule"/>
          <p:cNvSpPr txBox="1"/>
          <p:nvPr/>
        </p:nvSpPr>
        <p:spPr>
          <a:xfrm>
            <a:off x="5541264" y="3364992"/>
            <a:ext cx="5321808" cy="56692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endpoint-replay.json 留在同一目錄配對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不選、不上傳 student_policy.py</a:t>
            </a:r>
          </a:p>
        </p:txBody>
      </p:sp>
      <p:sp>
        <p:nvSpPr>
          <p:cNvPr id="14" name="Course upload boundary"/>
          <p:cNvSpPr/>
          <p:nvPr/>
        </p:nvSpPr>
        <p:spPr>
          <a:xfrm>
            <a:off x="969264" y="4443984"/>
            <a:ext cx="10222992" cy="438912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policy 原始檔只在本機 runner 讀取；/course 接收 result.json，不接收 Python。</a:t>
            </a:r>
          </a:p>
        </p:txBody>
      </p:sp>
      <p:sp>
        <p:nvSpPr>
          <p:cNvPr id="15" name="Field contract course import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course import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（課程匯入）｜來源：/course 控制項｜作用：驗證 result.json，建立重播與工作簿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單位：JSON pair｜判讀：選結果檔；replay 留同目錄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三次匯入，沿同一解讀順序</a:t>
            </a:r>
          </a:p>
        </p:txBody>
      </p:sp>
      <p:sp>
        <p:nvSpPr>
          <p:cNvPr id="3" name="Import order lead"/>
          <p:cNvSpPr txBox="1"/>
          <p:nvPr/>
        </p:nvSpPr>
        <p:spPr>
          <a:xfrm>
            <a:off x="914400" y="932688"/>
            <a:ext cx="10332720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baseline → candidate → withheld：每次匯入一對檔案，再按同一順序解讀</a:t>
            </a:r>
          </a:p>
        </p:txBody>
      </p:sp>
      <p:sp>
        <p:nvSpPr>
          <p:cNvPr id="4" name="Import order case 1"/>
          <p:cNvSpPr/>
          <p:nvPr/>
        </p:nvSpPr>
        <p:spPr>
          <a:xfrm>
            <a:off x="841248" y="1664208"/>
            <a:ext cx="2788920" cy="257860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mport order heading 1"/>
          <p:cNvSpPr txBox="1"/>
          <p:nvPr/>
        </p:nvSpPr>
        <p:spPr>
          <a:xfrm>
            <a:off x="987552" y="1865376"/>
            <a:ext cx="2496312" cy="53035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baseline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基準</a:t>
            </a:r>
          </a:p>
        </p:txBody>
      </p:sp>
      <p:sp>
        <p:nvSpPr>
          <p:cNvPr id="6" name="Import order files 1"/>
          <p:cNvSpPr txBox="1"/>
          <p:nvPr/>
        </p:nvSpPr>
        <p:spPr>
          <a:xfrm>
            <a:off x="1097280" y="2615184"/>
            <a:ext cx="2276856" cy="69494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 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同目錄 replay</a:t>
            </a:r>
          </a:p>
        </p:txBody>
      </p:sp>
      <p:sp>
        <p:nvSpPr>
          <p:cNvPr id="7" name="Import order observe 1"/>
          <p:cNvSpPr txBox="1"/>
          <p:nvPr/>
        </p:nvSpPr>
        <p:spPr>
          <a:xfrm>
            <a:off x="1042416" y="3547872"/>
            <a:ext cx="2386584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先看 service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服務判定</a:t>
            </a:r>
          </a:p>
        </p:txBody>
      </p:sp>
      <p:sp>
        <p:nvSpPr>
          <p:cNvPr id="8" name="Chevron 7"/>
          <p:cNvSpPr/>
          <p:nvPr/>
        </p:nvSpPr>
        <p:spPr>
          <a:xfrm>
            <a:off x="3730752" y="2670048"/>
            <a:ext cx="310896" cy="438912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mport order case 2"/>
          <p:cNvSpPr/>
          <p:nvPr/>
        </p:nvSpPr>
        <p:spPr>
          <a:xfrm>
            <a:off x="3986784" y="1664208"/>
            <a:ext cx="2788920" cy="257860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mport order heading 2"/>
          <p:cNvSpPr txBox="1"/>
          <p:nvPr/>
        </p:nvSpPr>
        <p:spPr>
          <a:xfrm>
            <a:off x="4133088" y="1865376"/>
            <a:ext cx="2496312" cy="53035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candidate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候選</a:t>
            </a:r>
          </a:p>
        </p:txBody>
      </p:sp>
      <p:sp>
        <p:nvSpPr>
          <p:cNvPr id="11" name="Import order files 2"/>
          <p:cNvSpPr txBox="1"/>
          <p:nvPr/>
        </p:nvSpPr>
        <p:spPr>
          <a:xfrm>
            <a:off x="4242816" y="2615184"/>
            <a:ext cx="2276856" cy="69494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 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同目錄 replay</a:t>
            </a:r>
          </a:p>
        </p:txBody>
      </p:sp>
      <p:sp>
        <p:nvSpPr>
          <p:cNvPr id="12" name="Import order observe 2"/>
          <p:cNvSpPr txBox="1"/>
          <p:nvPr/>
        </p:nvSpPr>
        <p:spPr>
          <a:xfrm>
            <a:off x="4187952" y="3547872"/>
            <a:ext cx="2386584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再看 packet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封包事件</a:t>
            </a:r>
          </a:p>
        </p:txBody>
      </p:sp>
      <p:sp>
        <p:nvSpPr>
          <p:cNvPr id="13" name="Chevron 12"/>
          <p:cNvSpPr/>
          <p:nvPr/>
        </p:nvSpPr>
        <p:spPr>
          <a:xfrm>
            <a:off x="6876288" y="2670048"/>
            <a:ext cx="310896" cy="438912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mport order case 3"/>
          <p:cNvSpPr/>
          <p:nvPr/>
        </p:nvSpPr>
        <p:spPr>
          <a:xfrm>
            <a:off x="7132320" y="1664208"/>
            <a:ext cx="2788920" cy="257860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mport order heading 3"/>
          <p:cNvSpPr txBox="1"/>
          <p:nvPr/>
        </p:nvSpPr>
        <p:spPr>
          <a:xfrm>
            <a:off x="7278624" y="1865376"/>
            <a:ext cx="2496312" cy="53035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withheld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保留反例</a:t>
            </a:r>
          </a:p>
        </p:txBody>
      </p:sp>
      <p:sp>
        <p:nvSpPr>
          <p:cNvPr id="16" name="Import order files 3"/>
          <p:cNvSpPr txBox="1"/>
          <p:nvPr/>
        </p:nvSpPr>
        <p:spPr>
          <a:xfrm>
            <a:off x="7388352" y="2615184"/>
            <a:ext cx="2276856" cy="69494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 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同目錄 replay</a:t>
            </a:r>
          </a:p>
        </p:txBody>
      </p:sp>
      <p:sp>
        <p:nvSpPr>
          <p:cNvPr id="17" name="Import order observe 3"/>
          <p:cNvSpPr txBox="1"/>
          <p:nvPr/>
        </p:nvSpPr>
        <p:spPr>
          <a:xfrm>
            <a:off x="7333488" y="3547872"/>
            <a:ext cx="2386584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再看 state → J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狀態 → 端點焦耳</a:t>
            </a:r>
          </a:p>
        </p:txBody>
      </p:sp>
      <p:sp>
        <p:nvSpPr>
          <p:cNvPr id="18" name="Import reading order"/>
          <p:cNvSpPr/>
          <p:nvPr/>
        </p:nvSpPr>
        <p:spPr>
          <a:xfrm>
            <a:off x="896112" y="4425696"/>
            <a:ext cx="7315200" cy="457200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service → packet → state → endpoint J（端點焦耳）</a:t>
            </a:r>
          </a:p>
        </p:txBody>
      </p:sp>
      <p:sp>
        <p:nvSpPr>
          <p:cNvPr id="19" name="Freeze boundary"/>
          <p:cNvSpPr/>
          <p:nvPr/>
        </p:nvSpPr>
        <p:spPr>
          <a:xfrm>
            <a:off x="8412480" y="4297680"/>
            <a:ext cx="2779776" cy="658368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9144" rIns="45720" bIns="9144"/>
          <a:lstStyle/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--freeze（凍結）</a:t>
            </a:r>
          </a:p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額外 receipt／checkpoint；非一般上傳</a:t>
            </a:r>
          </a:p>
        </p:txBody>
      </p:sp>
      <p:sp>
        <p:nvSpPr>
          <p:cNvPr id="20" name="Field contract import order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import order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（匯入順序）｜來源：/course + 配對 artifacts｜作用：依序比較 baseline、candidate、withheld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單位：三次 JSON pair｜判讀：service→packet→state→endpoint J；freeze 另存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一次動作，同時改變服務與能量</a:t>
            </a:r>
          </a:p>
        </p:txBody>
      </p:sp>
      <p:sp>
        <p:nvSpPr>
          <p:cNvPr id="3" name="Action lead"/>
          <p:cNvSpPr txBox="1"/>
          <p:nvPr/>
        </p:nvSpPr>
        <p:spPr>
          <a:xfrm>
            <a:off x="960120" y="960120"/>
            <a:ext cx="1019556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同一個 </a:t>
            </a:r>
            <a:r>
              <a:rPr sz="24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會沿不同路徑留下可觀察後果</a:t>
            </a:r>
          </a:p>
        </p:txBody>
      </p:sp>
      <p:sp>
        <p:nvSpPr>
          <p:cNvPr id="4" name="Action card 1"/>
          <p:cNvSpPr/>
          <p:nvPr/>
        </p:nvSpPr>
        <p:spPr>
          <a:xfrm>
            <a:off x="841248" y="1664208"/>
            <a:ext cx="3236976" cy="246888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ction heading 1"/>
          <p:cNvSpPr txBox="1"/>
          <p:nvPr/>
        </p:nvSpPr>
        <p:spPr>
          <a:xfrm>
            <a:off x="1005840" y="1856231"/>
            <a:ext cx="2907792" cy="51206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1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23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｜低功耗休息</a:t>
            </a:r>
          </a:p>
        </p:txBody>
      </p:sp>
      <p:sp>
        <p:nvSpPr>
          <p:cNvPr id="6" name="Action body 1"/>
          <p:cNvSpPr txBox="1"/>
          <p:nvPr/>
        </p:nvSpPr>
        <p:spPr>
          <a:xfrm>
            <a:off x="1078992" y="2606040"/>
            <a:ext cx="2761488" cy="107899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休息功率降低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喚醒延遲與能量增加</a:t>
            </a:r>
          </a:p>
        </p:txBody>
      </p:sp>
      <p:sp>
        <p:nvSpPr>
          <p:cNvPr id="7" name="Action card 2"/>
          <p:cNvSpPr/>
          <p:nvPr/>
        </p:nvSpPr>
        <p:spPr>
          <a:xfrm>
            <a:off x="4361688" y="1664208"/>
            <a:ext cx="3236976" cy="24688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ction heading 2"/>
          <p:cNvSpPr txBox="1"/>
          <p:nvPr/>
        </p:nvSpPr>
        <p:spPr>
          <a:xfrm>
            <a:off x="4526279" y="1856231"/>
            <a:ext cx="2907792" cy="51206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1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3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｜清醒等待</a:t>
            </a:r>
          </a:p>
        </p:txBody>
      </p:sp>
      <p:sp>
        <p:nvSpPr>
          <p:cNvPr id="9" name="Action body 2"/>
          <p:cNvSpPr txBox="1"/>
          <p:nvPr/>
        </p:nvSpPr>
        <p:spPr>
          <a:xfrm>
            <a:off x="4599431" y="2606040"/>
            <a:ext cx="2761488" cy="107899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反應能力保留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清醒閒置能量累積</a:t>
            </a:r>
          </a:p>
        </p:txBody>
      </p:sp>
      <p:sp>
        <p:nvSpPr>
          <p:cNvPr id="10" name="Action card 3"/>
          <p:cNvSpPr/>
          <p:nvPr/>
        </p:nvSpPr>
        <p:spPr>
          <a:xfrm>
            <a:off x="7882127" y="1664208"/>
            <a:ext cx="3236976" cy="246888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ction heading 3"/>
          <p:cNvSpPr txBox="1"/>
          <p:nvPr/>
        </p:nvSpPr>
        <p:spPr>
          <a:xfrm>
            <a:off x="8046719" y="1856231"/>
            <a:ext cx="2907792" cy="51206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1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SEND</a:t>
            </a:r>
            <a:r>
              <a:rPr sz="23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｜送出封包</a:t>
            </a:r>
          </a:p>
        </p:txBody>
      </p:sp>
      <p:sp>
        <p:nvSpPr>
          <p:cNvPr id="12" name="Action body 3"/>
          <p:cNvSpPr txBox="1"/>
          <p:nvPr/>
        </p:nvSpPr>
        <p:spPr>
          <a:xfrm>
            <a:off x="8119871" y="2606040"/>
            <a:ext cx="2761488" cy="107899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服務機會增加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處理與無線事件增加</a:t>
            </a:r>
          </a:p>
        </p:txBody>
      </p:sp>
      <p:sp>
        <p:nvSpPr>
          <p:cNvPr id="13" name="Service outcome"/>
          <p:cNvSpPr/>
          <p:nvPr/>
        </p:nvSpPr>
        <p:spPr>
          <a:xfrm>
            <a:off x="1847088" y="4325112"/>
            <a:ext cx="3794760" cy="438912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服務結果</a:t>
            </a:r>
          </a:p>
        </p:txBody>
      </p:sp>
      <p:sp>
        <p:nvSpPr>
          <p:cNvPr id="14" name="Energy outcome"/>
          <p:cNvSpPr/>
          <p:nvPr/>
        </p:nvSpPr>
        <p:spPr>
          <a:xfrm>
            <a:off x="6556248" y="4325112"/>
            <a:ext cx="3794760" cy="438912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端點能量（J）</a:t>
            </a:r>
          </a:p>
        </p:txBody>
      </p:sp>
      <p:sp>
        <p:nvSpPr>
          <p:cNvPr id="15" name="Field contract action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（策略動作）｜來源：policy API｜作用：每次決策的唯一輸出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單位：enum｜判讀：觸發狀態與封包轉移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先讀中間事件，再讀最終結果</a:t>
            </a:r>
          </a:p>
        </p:txBody>
      </p:sp>
      <p:sp>
        <p:nvSpPr>
          <p:cNvPr id="3" name="Causal lead"/>
          <p:cNvSpPr txBox="1"/>
          <p:nvPr/>
        </p:nvSpPr>
        <p:spPr>
          <a:xfrm>
            <a:off x="987552" y="941832"/>
            <a:ext cx="10149840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能量或服務差異，必須由中間事件支持</a:t>
            </a:r>
          </a:p>
        </p:txBody>
      </p:sp>
      <p:sp>
        <p:nvSpPr>
          <p:cNvPr id="4" name="Causal node 1"/>
          <p:cNvSpPr/>
          <p:nvPr/>
        </p:nvSpPr>
        <p:spPr>
          <a:xfrm>
            <a:off x="768096" y="1755648"/>
            <a:ext cx="1892807" cy="133502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服務窗口</a:t>
            </a:r>
          </a:p>
        </p:txBody>
      </p:sp>
      <p:sp>
        <p:nvSpPr>
          <p:cNvPr id="5" name="Chevron 4"/>
          <p:cNvSpPr/>
          <p:nvPr/>
        </p:nvSpPr>
        <p:spPr>
          <a:xfrm>
            <a:off x="2734056" y="2167128"/>
            <a:ext cx="347472" cy="475488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usal node 2"/>
          <p:cNvSpPr/>
          <p:nvPr/>
        </p:nvSpPr>
        <p:spPr>
          <a:xfrm>
            <a:off x="3044952" y="1755648"/>
            <a:ext cx="1892807" cy="1335024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策略動作</a:t>
            </a:r>
          </a:p>
        </p:txBody>
      </p:sp>
      <p:sp>
        <p:nvSpPr>
          <p:cNvPr id="7" name="Chevron 6"/>
          <p:cNvSpPr/>
          <p:nvPr/>
        </p:nvSpPr>
        <p:spPr>
          <a:xfrm>
            <a:off x="5010912" y="2167128"/>
            <a:ext cx="347472" cy="475488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usal node 3"/>
          <p:cNvSpPr/>
          <p:nvPr/>
        </p:nvSpPr>
        <p:spPr>
          <a:xfrm>
            <a:off x="5321808" y="1755648"/>
            <a:ext cx="1892807" cy="1335024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無線狀態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封包事件</a:t>
            </a:r>
          </a:p>
        </p:txBody>
      </p:sp>
      <p:sp>
        <p:nvSpPr>
          <p:cNvPr id="9" name="Chevron 8"/>
          <p:cNvSpPr/>
          <p:nvPr/>
        </p:nvSpPr>
        <p:spPr>
          <a:xfrm>
            <a:off x="7287768" y="2167128"/>
            <a:ext cx="347472" cy="475488"/>
          </a:xfrm>
          <a:prstGeom prst="chevron">
            <a:avLst/>
          </a:prstGeom>
          <a:solidFill>
            <a:srgbClr val="66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usal node 4"/>
          <p:cNvSpPr/>
          <p:nvPr/>
        </p:nvSpPr>
        <p:spPr>
          <a:xfrm>
            <a:off x="7598664" y="1755648"/>
            <a:ext cx="1892807" cy="133502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服務判定</a:t>
            </a:r>
          </a:p>
        </p:txBody>
      </p:sp>
      <p:sp>
        <p:nvSpPr>
          <p:cNvPr id="11" name="Chevron 10"/>
          <p:cNvSpPr/>
          <p:nvPr/>
        </p:nvSpPr>
        <p:spPr>
          <a:xfrm>
            <a:off x="9564624" y="2167128"/>
            <a:ext cx="347472" cy="475488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usal node 5"/>
          <p:cNvSpPr/>
          <p:nvPr/>
        </p:nvSpPr>
        <p:spPr>
          <a:xfrm>
            <a:off x="9875520" y="1755648"/>
            <a:ext cx="1892807" cy="1335024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端點能量</a:t>
            </a:r>
          </a:p>
        </p:txBody>
      </p:sp>
      <p:sp>
        <p:nvSpPr>
          <p:cNvPr id="13" name="Closed-window branch"/>
          <p:cNvSpPr/>
          <p:nvPr/>
        </p:nvSpPr>
        <p:spPr>
          <a:xfrm>
            <a:off x="1024128" y="3447288"/>
            <a:ext cx="10104120" cy="658368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窗口關閉 → 傳輸類動作不執行 → 安全分支為 </a:t>
            </a:r>
            <a:r>
              <a:rPr sz="22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sp>
        <p:nvSpPr>
          <p:cNvPr id="14" name="Attribution rule"/>
          <p:cNvSpPr txBox="1"/>
          <p:nvPr/>
        </p:nvSpPr>
        <p:spPr>
          <a:xfrm>
            <a:off x="1133856" y="4288536"/>
            <a:ext cx="9893808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若中間事件沒有差異，最後的數值變化不得歸因於本次修改。</a:t>
            </a:r>
          </a:p>
        </p:txBody>
      </p:sp>
      <p:sp>
        <p:nvSpPr>
          <p:cNvPr id="15" name="Field contract radio_state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radio_state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（無線狀態）｜來源：runner event ledger｜作用：表示各狀態區間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單位：state enum + duration｜判讀：提供端點能量的時間分段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固定情境中的四步操作閉環</a:t>
            </a:r>
          </a:p>
        </p:txBody>
      </p:sp>
      <p:sp>
        <p:nvSpPr>
          <p:cNvPr id="3" name="Loop lead"/>
          <p:cNvSpPr txBox="1"/>
          <p:nvPr/>
        </p:nvSpPr>
        <p:spPr>
          <a:xfrm>
            <a:off x="987552" y="932688"/>
            <a:ext cx="10131552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只改一個受控常數，再沿同一條證據路徑比較</a:t>
            </a:r>
          </a:p>
        </p:txBody>
      </p:sp>
      <p:sp>
        <p:nvSpPr>
          <p:cNvPr id="4" name="Loop step 01"/>
          <p:cNvSpPr/>
          <p:nvPr/>
        </p:nvSpPr>
        <p:spPr>
          <a:xfrm>
            <a:off x="841248" y="1664208"/>
            <a:ext cx="2487168" cy="240487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oop number 01"/>
          <p:cNvSpPr txBox="1"/>
          <p:nvPr/>
        </p:nvSpPr>
        <p:spPr>
          <a:xfrm>
            <a:off x="1005840" y="1828800"/>
            <a:ext cx="502920" cy="42062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01</a:t>
            </a:r>
          </a:p>
        </p:txBody>
      </p:sp>
      <p:sp>
        <p:nvSpPr>
          <p:cNvPr id="6" name="Loop heading 01"/>
          <p:cNvSpPr txBox="1"/>
          <p:nvPr/>
        </p:nvSpPr>
        <p:spPr>
          <a:xfrm>
            <a:off x="1554480" y="1810512"/>
            <a:ext cx="1517904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修改</a:t>
            </a:r>
          </a:p>
        </p:txBody>
      </p:sp>
      <p:sp>
        <p:nvSpPr>
          <p:cNvPr id="7" name="Loop body 01"/>
          <p:cNvSpPr txBox="1"/>
          <p:nvPr/>
        </p:nvSpPr>
        <p:spPr>
          <a:xfrm>
            <a:off x="1042416" y="2542032"/>
            <a:ext cx="2084831" cy="9601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marked block</a:t>
            </a:r>
          </a:p>
        </p:txBody>
      </p:sp>
      <p:sp>
        <p:nvSpPr>
          <p:cNvPr id="8" name="Chevron 7"/>
          <p:cNvSpPr/>
          <p:nvPr/>
        </p:nvSpPr>
        <p:spPr>
          <a:xfrm>
            <a:off x="3429000" y="2615184"/>
            <a:ext cx="329184" cy="420624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oop step 02"/>
          <p:cNvSpPr/>
          <p:nvPr/>
        </p:nvSpPr>
        <p:spPr>
          <a:xfrm>
            <a:off x="3639312" y="1664208"/>
            <a:ext cx="2487168" cy="240487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oop number 02"/>
          <p:cNvSpPr txBox="1"/>
          <p:nvPr/>
        </p:nvSpPr>
        <p:spPr>
          <a:xfrm>
            <a:off x="3803904" y="1828800"/>
            <a:ext cx="502920" cy="42062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02</a:t>
            </a:r>
          </a:p>
        </p:txBody>
      </p:sp>
      <p:sp>
        <p:nvSpPr>
          <p:cNvPr id="11" name="Loop heading 02"/>
          <p:cNvSpPr txBox="1"/>
          <p:nvPr/>
        </p:nvSpPr>
        <p:spPr>
          <a:xfrm>
            <a:off x="4352544" y="1810512"/>
            <a:ext cx="1517904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執行</a:t>
            </a:r>
          </a:p>
        </p:txBody>
      </p:sp>
      <p:sp>
        <p:nvSpPr>
          <p:cNvPr id="12" name="Loop body 02"/>
          <p:cNvSpPr txBox="1"/>
          <p:nvPr/>
        </p:nvSpPr>
        <p:spPr>
          <a:xfrm>
            <a:off x="3840480" y="2542032"/>
            <a:ext cx="2084831" cy="9601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固定 case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固定輸入</a:t>
            </a:r>
          </a:p>
        </p:txBody>
      </p:sp>
      <p:sp>
        <p:nvSpPr>
          <p:cNvPr id="13" name="Chevron 12"/>
          <p:cNvSpPr/>
          <p:nvPr/>
        </p:nvSpPr>
        <p:spPr>
          <a:xfrm>
            <a:off x="6227064" y="2615184"/>
            <a:ext cx="329184" cy="420624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oop step 03"/>
          <p:cNvSpPr/>
          <p:nvPr/>
        </p:nvSpPr>
        <p:spPr>
          <a:xfrm>
            <a:off x="6437376" y="1664208"/>
            <a:ext cx="2487168" cy="240487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oop number 03"/>
          <p:cNvSpPr txBox="1"/>
          <p:nvPr/>
        </p:nvSpPr>
        <p:spPr>
          <a:xfrm>
            <a:off x="6601968" y="1828800"/>
            <a:ext cx="502920" cy="42062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03</a:t>
            </a:r>
          </a:p>
        </p:txBody>
      </p:sp>
      <p:sp>
        <p:nvSpPr>
          <p:cNvPr id="16" name="Loop heading 03"/>
          <p:cNvSpPr txBox="1"/>
          <p:nvPr/>
        </p:nvSpPr>
        <p:spPr>
          <a:xfrm>
            <a:off x="7150608" y="1810512"/>
            <a:ext cx="1517904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讀取</a:t>
            </a:r>
          </a:p>
        </p:txBody>
      </p:sp>
      <p:sp>
        <p:nvSpPr>
          <p:cNvPr id="17" name="Loop body 03"/>
          <p:cNvSpPr txBox="1"/>
          <p:nvPr/>
        </p:nvSpPr>
        <p:spPr>
          <a:xfrm>
            <a:off x="6638544" y="2542032"/>
            <a:ext cx="2084831" cy="9601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狀態、封包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服務、能量</a:t>
            </a:r>
          </a:p>
        </p:txBody>
      </p:sp>
      <p:sp>
        <p:nvSpPr>
          <p:cNvPr id="18" name="Chevron 17"/>
          <p:cNvSpPr/>
          <p:nvPr/>
        </p:nvSpPr>
        <p:spPr>
          <a:xfrm>
            <a:off x="9025128" y="2615184"/>
            <a:ext cx="329184" cy="420624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oop step 04"/>
          <p:cNvSpPr/>
          <p:nvPr/>
        </p:nvSpPr>
        <p:spPr>
          <a:xfrm>
            <a:off x="9235440" y="1664208"/>
            <a:ext cx="2487168" cy="2404872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oop number 04"/>
          <p:cNvSpPr txBox="1"/>
          <p:nvPr/>
        </p:nvSpPr>
        <p:spPr>
          <a:xfrm>
            <a:off x="9400032" y="1828800"/>
            <a:ext cx="502920" cy="42062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04</a:t>
            </a:r>
          </a:p>
        </p:txBody>
      </p:sp>
      <p:sp>
        <p:nvSpPr>
          <p:cNvPr id="21" name="Loop heading 04"/>
          <p:cNvSpPr txBox="1"/>
          <p:nvPr/>
        </p:nvSpPr>
        <p:spPr>
          <a:xfrm>
            <a:off x="9948672" y="1810512"/>
            <a:ext cx="1517904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解釋</a:t>
            </a:r>
          </a:p>
        </p:txBody>
      </p:sp>
      <p:sp>
        <p:nvSpPr>
          <p:cNvPr id="22" name="Loop body 04"/>
          <p:cNvSpPr txBox="1"/>
          <p:nvPr/>
        </p:nvSpPr>
        <p:spPr>
          <a:xfrm>
            <a:off x="9436608" y="2542032"/>
            <a:ext cx="2084831" cy="9601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動作 → 事件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→ 結果</a:t>
            </a:r>
          </a:p>
        </p:txBody>
      </p:sp>
      <p:sp>
        <p:nvSpPr>
          <p:cNvPr id="23" name="Loop evidence rule"/>
          <p:cNvSpPr txBox="1"/>
          <p:nvPr/>
        </p:nvSpPr>
        <p:spPr>
          <a:xfrm>
            <a:off x="1078992" y="4315968"/>
            <a:ext cx="10021824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預測與結果同時保存；反例保留為可檢驗證據。</a:t>
            </a:r>
          </a:p>
        </p:txBody>
      </p:sp>
      <p:sp>
        <p:nvSpPr>
          <p:cNvPr id="24" name="Field contract result.json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（結果資料檔）｜來源：package runner｜作用：保存 run identity、狀態、封包、服務與能量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單位：JSON artifact｜判讀：作為 replay 與 import 的輸入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中間事件是因果歸因的必要橋樑</a:t>
            </a:r>
          </a:p>
        </p:txBody>
      </p:sp>
      <p:sp>
        <p:nvSpPr>
          <p:cNvPr id="3" name="Comparison lead"/>
          <p:cNvSpPr txBox="1"/>
          <p:nvPr/>
        </p:nvSpPr>
        <p:spPr>
          <a:xfrm>
            <a:off x="896112" y="941832"/>
            <a:ext cx="10405872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同一觀測下，比較基準與候選策略的事件路徑</a:t>
            </a:r>
          </a:p>
        </p:txBody>
      </p:sp>
      <p:sp>
        <p:nvSpPr>
          <p:cNvPr id="4" name="Shared observation top"/>
          <p:cNvSpPr/>
          <p:nvPr/>
        </p:nvSpPr>
        <p:spPr>
          <a:xfrm>
            <a:off x="841248" y="1609344"/>
            <a:ext cx="1572768" cy="932688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25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同一觀測</a:t>
            </a:r>
          </a:p>
        </p:txBody>
      </p:sp>
      <p:sp>
        <p:nvSpPr>
          <p:cNvPr id="5" name="Shared observation bottom"/>
          <p:cNvSpPr/>
          <p:nvPr/>
        </p:nvSpPr>
        <p:spPr>
          <a:xfrm>
            <a:off x="841248" y="2926080"/>
            <a:ext cx="1572768" cy="932688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25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同一觀測</a:t>
            </a:r>
          </a:p>
        </p:txBody>
      </p:sp>
      <p:sp>
        <p:nvSpPr>
          <p:cNvPr id="6" name="Chevron 5"/>
          <p:cNvSpPr/>
          <p:nvPr/>
        </p:nvSpPr>
        <p:spPr>
          <a:xfrm>
            <a:off x="2496312" y="1810512"/>
            <a:ext cx="347472" cy="420624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olicy lane 1"/>
          <p:cNvSpPr/>
          <p:nvPr/>
        </p:nvSpPr>
        <p:spPr>
          <a:xfrm>
            <a:off x="2871216" y="1572768"/>
            <a:ext cx="1938528" cy="100584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基準策略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動作 A</a:t>
            </a:r>
          </a:p>
        </p:txBody>
      </p:sp>
      <p:sp>
        <p:nvSpPr>
          <p:cNvPr id="8" name="Chevron 7"/>
          <p:cNvSpPr/>
          <p:nvPr/>
        </p:nvSpPr>
        <p:spPr>
          <a:xfrm>
            <a:off x="4892040" y="1810512"/>
            <a:ext cx="347472" cy="420624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vent lane 1"/>
          <p:cNvSpPr/>
          <p:nvPr/>
        </p:nvSpPr>
        <p:spPr>
          <a:xfrm>
            <a:off x="5285232" y="1572768"/>
            <a:ext cx="2304288" cy="1005840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事件路徑 A</a:t>
            </a:r>
          </a:p>
        </p:txBody>
      </p:sp>
      <p:sp>
        <p:nvSpPr>
          <p:cNvPr id="10" name="Chevron 9"/>
          <p:cNvSpPr/>
          <p:nvPr/>
        </p:nvSpPr>
        <p:spPr>
          <a:xfrm>
            <a:off x="7680960" y="1810512"/>
            <a:ext cx="347472" cy="420624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sult lane 1"/>
          <p:cNvSpPr/>
          <p:nvPr/>
        </p:nvSpPr>
        <p:spPr>
          <a:xfrm>
            <a:off x="8074152" y="1572768"/>
            <a:ext cx="3154680" cy="100584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服務／能量 A</a:t>
            </a:r>
          </a:p>
        </p:txBody>
      </p:sp>
      <p:sp>
        <p:nvSpPr>
          <p:cNvPr id="12" name="Chevron 11"/>
          <p:cNvSpPr/>
          <p:nvPr/>
        </p:nvSpPr>
        <p:spPr>
          <a:xfrm>
            <a:off x="2496312" y="3127248"/>
            <a:ext cx="347472" cy="420624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olicy lane 2"/>
          <p:cNvSpPr/>
          <p:nvPr/>
        </p:nvSpPr>
        <p:spPr>
          <a:xfrm>
            <a:off x="2871216" y="2889504"/>
            <a:ext cx="1938528" cy="100584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候選策略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動作 B</a:t>
            </a:r>
          </a:p>
        </p:txBody>
      </p:sp>
      <p:sp>
        <p:nvSpPr>
          <p:cNvPr id="14" name="Chevron 13"/>
          <p:cNvSpPr/>
          <p:nvPr/>
        </p:nvSpPr>
        <p:spPr>
          <a:xfrm>
            <a:off x="4892040" y="3127248"/>
            <a:ext cx="347472" cy="420624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vent lane 2"/>
          <p:cNvSpPr/>
          <p:nvPr/>
        </p:nvSpPr>
        <p:spPr>
          <a:xfrm>
            <a:off x="5285232" y="2889504"/>
            <a:ext cx="2304288" cy="1005840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事件路徑 B</a:t>
            </a:r>
          </a:p>
        </p:txBody>
      </p:sp>
      <p:sp>
        <p:nvSpPr>
          <p:cNvPr id="16" name="Chevron 15"/>
          <p:cNvSpPr/>
          <p:nvPr/>
        </p:nvSpPr>
        <p:spPr>
          <a:xfrm>
            <a:off x="7680960" y="3127248"/>
            <a:ext cx="347472" cy="420624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sult lane 2"/>
          <p:cNvSpPr/>
          <p:nvPr/>
        </p:nvSpPr>
        <p:spPr>
          <a:xfrm>
            <a:off x="8074152" y="2889504"/>
            <a:ext cx="3154680" cy="100584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服務／能量 B</a:t>
            </a:r>
          </a:p>
        </p:txBody>
      </p:sp>
      <p:sp>
        <p:nvSpPr>
          <p:cNvPr id="18" name="Causal comparison rule"/>
          <p:cNvSpPr txBox="1"/>
          <p:nvPr/>
        </p:nvSpPr>
        <p:spPr>
          <a:xfrm>
            <a:off x="960120" y="4242816"/>
            <a:ext cx="10222992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先確認事件路徑不同，才比較服務與能量。</a:t>
            </a:r>
          </a:p>
        </p:txBody>
      </p:sp>
      <p:sp>
        <p:nvSpPr>
          <p:cNvPr id="19" name="Field contract packet_progress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packet_progress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（封包進度）｜來源：result／replay artifact｜作用：記錄產生、佇列、嘗試、重試、送達與逾期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單位：event count + time｜判讀：連接策略動作與服務結果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Runner 證據有明確邊界</a:t>
            </a:r>
          </a:p>
        </p:txBody>
      </p:sp>
      <p:sp>
        <p:nvSpPr>
          <p:cNvPr id="3" name="Evidence lead"/>
          <p:cNvSpPr txBox="1"/>
          <p:nvPr/>
        </p:nvSpPr>
        <p:spPr>
          <a:xfrm>
            <a:off x="941832" y="932688"/>
            <a:ext cx="10259568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可重跑，不等於可以外推到所有能量層級</a:t>
            </a:r>
          </a:p>
        </p:txBody>
      </p:sp>
      <p:sp>
        <p:nvSpPr>
          <p:cNvPr id="4" name="Supported evidence"/>
          <p:cNvSpPr/>
          <p:nvPr/>
        </p:nvSpPr>
        <p:spPr>
          <a:xfrm>
            <a:off x="841248" y="1627632"/>
            <a:ext cx="5084064" cy="290779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nsupported evidence"/>
          <p:cNvSpPr/>
          <p:nvPr/>
        </p:nvSpPr>
        <p:spPr>
          <a:xfrm>
            <a:off x="6263640" y="1627632"/>
            <a:ext cx="5084064" cy="2907792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upported heading"/>
          <p:cNvSpPr txBox="1"/>
          <p:nvPr/>
        </p:nvSpPr>
        <p:spPr>
          <a:xfrm>
            <a:off x="1115568" y="1828800"/>
            <a:ext cx="4535424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本套件可支持</a:t>
            </a:r>
          </a:p>
        </p:txBody>
      </p:sp>
      <p:sp>
        <p:nvSpPr>
          <p:cNvPr id="7" name="Supported body"/>
          <p:cNvSpPr txBox="1"/>
          <p:nvPr/>
        </p:nvSpPr>
        <p:spPr>
          <a:xfrm>
            <a:off x="1243584" y="2496312"/>
            <a:ext cx="4279392" cy="155448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固定 scenario／seed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端點狀態與封包事件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服務判定與端點 J</a:t>
            </a:r>
          </a:p>
        </p:txBody>
      </p:sp>
      <p:sp>
        <p:nvSpPr>
          <p:cNvPr id="8" name="Unsupported heading"/>
          <p:cNvSpPr txBox="1"/>
          <p:nvPr/>
        </p:nvSpPr>
        <p:spPr>
          <a:xfrm>
            <a:off x="6537960" y="1828800"/>
            <a:ext cx="4535424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本套件不支持</a:t>
            </a:r>
          </a:p>
        </p:txBody>
      </p:sp>
      <p:sp>
        <p:nvSpPr>
          <p:cNvPr id="9" name="Unsupported body"/>
          <p:cNvSpPr txBox="1"/>
          <p:nvPr/>
        </p:nvSpPr>
        <p:spPr>
          <a:xfrm>
            <a:off x="6711696" y="2496312"/>
            <a:ext cx="4187952" cy="155448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LEO／system energy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canonical efficiency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實測或即時 KPI</a:t>
            </a:r>
          </a:p>
        </p:txBody>
      </p:sp>
      <p:sp>
        <p:nvSpPr>
          <p:cNvPr id="10" name="Field contract endpoint_energy_j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（端點能量）｜來源：endpoint radio／processing model｜作用：累積狀態能量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單位：J｜判讀：只屬於 endpoint evidence layer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LEO 是變動服務窗口的工作範例</a:t>
            </a:r>
          </a:p>
        </p:txBody>
      </p:sp>
      <p:sp>
        <p:nvSpPr>
          <p:cNvPr id="3" name="LEO lead"/>
          <p:cNvSpPr txBox="1"/>
          <p:nvPr/>
        </p:nvSpPr>
        <p:spPr>
          <a:xfrm>
            <a:off x="950976" y="932688"/>
            <a:ext cx="10241280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LEO 改變可服務機會；主要控制仍在端點策略</a:t>
            </a:r>
          </a:p>
        </p:txBody>
      </p:sp>
      <p:sp>
        <p:nvSpPr>
          <p:cNvPr id="4" name="LEO opportunity"/>
          <p:cNvSpPr/>
          <p:nvPr/>
        </p:nvSpPr>
        <p:spPr>
          <a:xfrm>
            <a:off x="859536" y="1609344"/>
            <a:ext cx="1920240" cy="98755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低地球軌道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服務機會</a:t>
            </a:r>
          </a:p>
        </p:txBody>
      </p:sp>
      <p:sp>
        <p:nvSpPr>
          <p:cNvPr id="5" name="Chevron 4"/>
          <p:cNvSpPr/>
          <p:nvPr/>
        </p:nvSpPr>
        <p:spPr>
          <a:xfrm>
            <a:off x="2907792" y="1865376"/>
            <a:ext cx="384048" cy="475488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O window timeline"/>
          <p:cNvSpPr/>
          <p:nvPr/>
        </p:nvSpPr>
        <p:spPr>
          <a:xfrm>
            <a:off x="3383280" y="1444752"/>
            <a:ext cx="5321808" cy="13167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EO timeline segment 1"/>
          <p:cNvSpPr/>
          <p:nvPr/>
        </p:nvSpPr>
        <p:spPr>
          <a:xfrm>
            <a:off x="3611880" y="1837943"/>
            <a:ext cx="1371600" cy="512064"/>
          </a:xfrm>
          <a:prstGeom prst="rect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tIns="9144" r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窗口開啟</a:t>
            </a:r>
          </a:p>
        </p:txBody>
      </p:sp>
      <p:sp>
        <p:nvSpPr>
          <p:cNvPr id="8" name="LEO timeline segment 2"/>
          <p:cNvSpPr/>
          <p:nvPr/>
        </p:nvSpPr>
        <p:spPr>
          <a:xfrm>
            <a:off x="5038344" y="1837943"/>
            <a:ext cx="1207008" cy="512064"/>
          </a:xfrm>
          <a:prstGeom prst="rect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tIns="9144" r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品質下降</a:t>
            </a:r>
          </a:p>
        </p:txBody>
      </p:sp>
      <p:sp>
        <p:nvSpPr>
          <p:cNvPr id="9" name="LEO timeline segment 3"/>
          <p:cNvSpPr/>
          <p:nvPr/>
        </p:nvSpPr>
        <p:spPr>
          <a:xfrm>
            <a:off x="6300216" y="1837943"/>
            <a:ext cx="1152144" cy="51206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tIns="9144" r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窗口關閉</a:t>
            </a:r>
          </a:p>
        </p:txBody>
      </p:sp>
      <p:sp>
        <p:nvSpPr>
          <p:cNvPr id="10" name="LEO timeline segment 4"/>
          <p:cNvSpPr/>
          <p:nvPr/>
        </p:nvSpPr>
        <p:spPr>
          <a:xfrm>
            <a:off x="7507223" y="1837943"/>
            <a:ext cx="1243584" cy="512064"/>
          </a:xfrm>
          <a:prstGeom prst="rect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tIns="9144" r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再度開啟</a:t>
            </a:r>
          </a:p>
        </p:txBody>
      </p:sp>
      <p:sp>
        <p:nvSpPr>
          <p:cNvPr id="11" name="Chevron 10"/>
          <p:cNvSpPr/>
          <p:nvPr/>
        </p:nvSpPr>
        <p:spPr>
          <a:xfrm>
            <a:off x="8833104" y="1865376"/>
            <a:ext cx="384048" cy="475488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ndpoint choice"/>
          <p:cNvSpPr/>
          <p:nvPr/>
        </p:nvSpPr>
        <p:spPr>
          <a:xfrm>
            <a:off x="9326880" y="1609344"/>
            <a:ext cx="1975104" cy="98755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等待／休息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／送出</a:t>
            </a:r>
          </a:p>
        </p:txBody>
      </p:sp>
      <p:sp>
        <p:nvSpPr>
          <p:cNvPr id="13" name="Transfer rule"/>
          <p:cNvSpPr txBox="1"/>
          <p:nvPr/>
        </p:nvSpPr>
        <p:spPr>
          <a:xfrm>
            <a:off x="914400" y="3035808"/>
            <a:ext cx="1031443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相同機制可以轉移；窗口、期限與能量邊界必須重新定義。</a:t>
            </a:r>
          </a:p>
        </p:txBody>
      </p:sp>
      <p:sp>
        <p:nvSpPr>
          <p:cNvPr id="14" name="Transfer example 1"/>
          <p:cNvSpPr/>
          <p:nvPr/>
        </p:nvSpPr>
        <p:spPr>
          <a:xfrm>
            <a:off x="1060704" y="3584448"/>
            <a:ext cx="2788920" cy="786384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暖通空調｜低負載時段</a:t>
            </a:r>
          </a:p>
        </p:txBody>
      </p:sp>
      <p:sp>
        <p:nvSpPr>
          <p:cNvPr id="15" name="Transfer example 2"/>
          <p:cNvSpPr/>
          <p:nvPr/>
        </p:nvSpPr>
        <p:spPr>
          <a:xfrm>
            <a:off x="4297680" y="3584448"/>
            <a:ext cx="2788920" cy="78638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邊緣閘道｜可連線時段</a:t>
            </a:r>
          </a:p>
        </p:txBody>
      </p:sp>
      <p:sp>
        <p:nvSpPr>
          <p:cNvPr id="16" name="Transfer example 3"/>
          <p:cNvSpPr/>
          <p:nvPr/>
        </p:nvSpPr>
        <p:spPr>
          <a:xfrm>
            <a:off x="7534656" y="3584448"/>
            <a:ext cx="2788920" cy="786384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物流追蹤｜回報機會</a:t>
            </a:r>
          </a:p>
        </p:txBody>
      </p:sp>
      <p:sp>
        <p:nvSpPr>
          <p:cNvPr id="17" name="Field contract service_window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service_window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（服務窗口）｜來源：fixed scenario trace｜作用：定義合法傳輸區間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單位：trace time｜判讀：決定動作是否具有服務機會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從預測到結果，保留可反駁路徑</a:t>
            </a:r>
          </a:p>
        </p:txBody>
      </p:sp>
      <p:sp>
        <p:nvSpPr>
          <p:cNvPr id="3" name="Prediction lead"/>
          <p:cNvSpPr txBox="1"/>
          <p:nvPr/>
        </p:nvSpPr>
        <p:spPr>
          <a:xfrm>
            <a:off x="950976" y="932688"/>
            <a:ext cx="10241280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先寫下方向，再執行；結果不符時保留反例</a:t>
            </a:r>
          </a:p>
        </p:txBody>
      </p:sp>
      <p:sp>
        <p:nvSpPr>
          <p:cNvPr id="4" name="Prediction step 01"/>
          <p:cNvSpPr/>
          <p:nvPr/>
        </p:nvSpPr>
        <p:spPr>
          <a:xfrm>
            <a:off x="841248" y="1645920"/>
            <a:ext cx="2286000" cy="233172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rediction number 01"/>
          <p:cNvSpPr txBox="1"/>
          <p:nvPr/>
        </p:nvSpPr>
        <p:spPr>
          <a:xfrm>
            <a:off x="1005840" y="1847088"/>
            <a:ext cx="475488" cy="40233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01</a:t>
            </a:r>
          </a:p>
        </p:txBody>
      </p:sp>
      <p:sp>
        <p:nvSpPr>
          <p:cNvPr id="6" name="Prediction heading 01"/>
          <p:cNvSpPr txBox="1"/>
          <p:nvPr/>
        </p:nvSpPr>
        <p:spPr>
          <a:xfrm>
            <a:off x="1499616" y="1828800"/>
            <a:ext cx="1417320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記錄預測</a:t>
            </a:r>
          </a:p>
        </p:txBody>
      </p:sp>
      <p:sp>
        <p:nvSpPr>
          <p:cNvPr id="7" name="Prediction body 01"/>
          <p:cNvSpPr txBox="1"/>
          <p:nvPr/>
        </p:nvSpPr>
        <p:spPr>
          <a:xfrm>
            <a:off x="1042416" y="2578608"/>
            <a:ext cx="1883664" cy="87782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狀態／封包／服務／J</a:t>
            </a:r>
          </a:p>
        </p:txBody>
      </p:sp>
      <p:sp>
        <p:nvSpPr>
          <p:cNvPr id="8" name="Chevron 7"/>
          <p:cNvSpPr/>
          <p:nvPr/>
        </p:nvSpPr>
        <p:spPr>
          <a:xfrm>
            <a:off x="3200400" y="2532888"/>
            <a:ext cx="292608" cy="402336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rediction step 02"/>
          <p:cNvSpPr/>
          <p:nvPr/>
        </p:nvSpPr>
        <p:spPr>
          <a:xfrm>
            <a:off x="3566160" y="1645920"/>
            <a:ext cx="2286000" cy="233172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rediction number 02"/>
          <p:cNvSpPr txBox="1"/>
          <p:nvPr/>
        </p:nvSpPr>
        <p:spPr>
          <a:xfrm>
            <a:off x="3730752" y="1847088"/>
            <a:ext cx="475488" cy="40233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02</a:t>
            </a:r>
          </a:p>
        </p:txBody>
      </p:sp>
      <p:sp>
        <p:nvSpPr>
          <p:cNvPr id="11" name="Prediction heading 02"/>
          <p:cNvSpPr txBox="1"/>
          <p:nvPr/>
        </p:nvSpPr>
        <p:spPr>
          <a:xfrm>
            <a:off x="4224528" y="1828800"/>
            <a:ext cx="1417320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受控修改</a:t>
            </a:r>
          </a:p>
        </p:txBody>
      </p:sp>
      <p:sp>
        <p:nvSpPr>
          <p:cNvPr id="12" name="Prediction body 02"/>
          <p:cNvSpPr txBox="1"/>
          <p:nvPr/>
        </p:nvSpPr>
        <p:spPr>
          <a:xfrm>
            <a:off x="3767328" y="2578608"/>
            <a:ext cx="1883664" cy="87782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一次一個常數</a:t>
            </a:r>
          </a:p>
        </p:txBody>
      </p:sp>
      <p:sp>
        <p:nvSpPr>
          <p:cNvPr id="13" name="Chevron 12"/>
          <p:cNvSpPr/>
          <p:nvPr/>
        </p:nvSpPr>
        <p:spPr>
          <a:xfrm>
            <a:off x="5925312" y="2532888"/>
            <a:ext cx="292608" cy="402336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rediction step 03"/>
          <p:cNvSpPr/>
          <p:nvPr/>
        </p:nvSpPr>
        <p:spPr>
          <a:xfrm>
            <a:off x="6291072" y="1645920"/>
            <a:ext cx="2286000" cy="233172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rediction number 03"/>
          <p:cNvSpPr txBox="1"/>
          <p:nvPr/>
        </p:nvSpPr>
        <p:spPr>
          <a:xfrm>
            <a:off x="6455664" y="1847088"/>
            <a:ext cx="475488" cy="40233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03</a:t>
            </a:r>
          </a:p>
        </p:txBody>
      </p:sp>
      <p:sp>
        <p:nvSpPr>
          <p:cNvPr id="16" name="Prediction heading 03"/>
          <p:cNvSpPr txBox="1"/>
          <p:nvPr/>
        </p:nvSpPr>
        <p:spPr>
          <a:xfrm>
            <a:off x="6949440" y="1828800"/>
            <a:ext cx="1417320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精確執行</a:t>
            </a:r>
          </a:p>
        </p:txBody>
      </p:sp>
      <p:sp>
        <p:nvSpPr>
          <p:cNvPr id="17" name="Prediction body 03"/>
          <p:cNvSpPr txBox="1"/>
          <p:nvPr/>
        </p:nvSpPr>
        <p:spPr>
          <a:xfrm>
            <a:off x="6492240" y="2578608"/>
            <a:ext cx="1883664" cy="87782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固定 case 與輸入</a:t>
            </a:r>
          </a:p>
        </p:txBody>
      </p:sp>
      <p:sp>
        <p:nvSpPr>
          <p:cNvPr id="18" name="Chevron 17"/>
          <p:cNvSpPr/>
          <p:nvPr/>
        </p:nvSpPr>
        <p:spPr>
          <a:xfrm>
            <a:off x="8650224" y="2532888"/>
            <a:ext cx="292608" cy="402336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rediction step 04"/>
          <p:cNvSpPr/>
          <p:nvPr/>
        </p:nvSpPr>
        <p:spPr>
          <a:xfrm>
            <a:off x="9015984" y="1645920"/>
            <a:ext cx="2286000" cy="2331720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rediction number 04"/>
          <p:cNvSpPr txBox="1"/>
          <p:nvPr/>
        </p:nvSpPr>
        <p:spPr>
          <a:xfrm>
            <a:off x="9180576" y="1847088"/>
            <a:ext cx="475488" cy="40233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04</a:t>
            </a:r>
          </a:p>
        </p:txBody>
      </p:sp>
      <p:sp>
        <p:nvSpPr>
          <p:cNvPr id="21" name="Prediction heading 04"/>
          <p:cNvSpPr txBox="1"/>
          <p:nvPr/>
        </p:nvSpPr>
        <p:spPr>
          <a:xfrm>
            <a:off x="9674352" y="1828800"/>
            <a:ext cx="1417320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比較與保存</a:t>
            </a:r>
          </a:p>
        </p:txBody>
      </p:sp>
      <p:sp>
        <p:nvSpPr>
          <p:cNvPr id="22" name="Prediction body 04"/>
          <p:cNvSpPr txBox="1"/>
          <p:nvPr/>
        </p:nvSpPr>
        <p:spPr>
          <a:xfrm>
            <a:off x="9217152" y="2578608"/>
            <a:ext cx="1883664" cy="87782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結果、解釋、反例</a:t>
            </a:r>
          </a:p>
        </p:txBody>
      </p:sp>
      <p:sp>
        <p:nvSpPr>
          <p:cNvPr id="23" name="Withheld case"/>
          <p:cNvSpPr/>
          <p:nvPr/>
        </p:nvSpPr>
        <p:spPr>
          <a:xfrm>
            <a:off x="1225296" y="4224528"/>
            <a:ext cx="9747504" cy="512064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保留條件案例維持 frozen policy，用來檢查機制是否可轉移。</a:t>
            </a:r>
          </a:p>
        </p:txBody>
      </p:sp>
      <p:sp>
        <p:nvSpPr>
          <p:cNvPr id="24" name="Field contract prediction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prediction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（預測）｜來源：workbook record｜作用：指定可反駁的變化方向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單位：statement｜判讀：作為執行前的比較基準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三個實驗到底改什麼</a:t>
            </a:r>
          </a:p>
        </p:txBody>
      </p:sp>
      <p:sp>
        <p:nvSpPr>
          <p:cNvPr id="3" name="Lab map lead"/>
          <p:cNvSpPr txBox="1"/>
          <p:nvPr/>
        </p:nvSpPr>
        <p:spPr>
          <a:xfrm>
            <a:off x="896112" y="932688"/>
            <a:ext cx="10369296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三次都只改 student_policy.py 的一個 marked block；runner、scenario、schema 不動</a:t>
            </a:r>
          </a:p>
        </p:txBody>
      </p:sp>
      <p:sp>
        <p:nvSpPr>
          <p:cNvPr id="4" name="Lab map card 1"/>
          <p:cNvSpPr/>
          <p:nvPr/>
        </p:nvSpPr>
        <p:spPr>
          <a:xfrm>
            <a:off x="749808" y="1627632"/>
            <a:ext cx="3145536" cy="26700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ab map heading 1"/>
          <p:cNvSpPr txBox="1"/>
          <p:nvPr/>
        </p:nvSpPr>
        <p:spPr>
          <a:xfrm>
            <a:off x="896112" y="1847088"/>
            <a:ext cx="2852928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Lab A｜休息方式</a:t>
            </a:r>
          </a:p>
        </p:txBody>
      </p:sp>
      <p:sp>
        <p:nvSpPr>
          <p:cNvPr id="6" name="Lab map change 1"/>
          <p:cNvSpPr txBox="1"/>
          <p:nvPr/>
        </p:nvSpPr>
        <p:spPr>
          <a:xfrm>
            <a:off x="932688" y="2542032"/>
            <a:ext cx="2779776" cy="82296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SLEEP → WAIT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PACE_GAP_STEPS = 2 不變</a:t>
            </a:r>
          </a:p>
        </p:txBody>
      </p:sp>
      <p:sp>
        <p:nvSpPr>
          <p:cNvPr id="7" name="Lab map observe 1"/>
          <p:cNvSpPr txBox="1"/>
          <p:nvPr/>
        </p:nvSpPr>
        <p:spPr>
          <a:xfrm>
            <a:off x="950976" y="3529584"/>
            <a:ext cx="2743200" cy="56692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觀察：SLEEP／AWAKE_IDLE／WAKE 的時間與 J；封包服務</a:t>
            </a:r>
          </a:p>
        </p:txBody>
      </p:sp>
      <p:sp>
        <p:nvSpPr>
          <p:cNvPr id="8" name="Lab map card 2"/>
          <p:cNvSpPr/>
          <p:nvPr/>
        </p:nvSpPr>
        <p:spPr>
          <a:xfrm>
            <a:off x="4160520" y="1627632"/>
            <a:ext cx="3145536" cy="267004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ab map heading 2"/>
          <p:cNvSpPr txBox="1"/>
          <p:nvPr/>
        </p:nvSpPr>
        <p:spPr>
          <a:xfrm>
            <a:off x="4306824" y="1847088"/>
            <a:ext cx="2852928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Lab B｜穩定門檻</a:t>
            </a:r>
          </a:p>
        </p:txBody>
      </p:sp>
      <p:sp>
        <p:nvSpPr>
          <p:cNvPr id="10" name="Lab map change 2"/>
          <p:cNvSpPr txBox="1"/>
          <p:nvPr/>
        </p:nvSpPr>
        <p:spPr>
          <a:xfrm>
            <a:off x="4343400" y="2542032"/>
            <a:ext cx="2779776" cy="82296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STABLE_STEPS：2 → 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ENTER_QUALITY=2／EXIT_QUALITY=1 不變</a:t>
            </a:r>
          </a:p>
        </p:txBody>
      </p:sp>
      <p:sp>
        <p:nvSpPr>
          <p:cNvPr id="11" name="Lab map observe 2"/>
          <p:cNvSpPr txBox="1"/>
          <p:nvPr/>
        </p:nvSpPr>
        <p:spPr>
          <a:xfrm>
            <a:off x="4361688" y="3529584"/>
            <a:ext cx="2743200" cy="56692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觀察：進入時機、attempt／retry／delivery、service、J</a:t>
            </a:r>
          </a:p>
        </p:txBody>
      </p:sp>
      <p:sp>
        <p:nvSpPr>
          <p:cNvPr id="12" name="Lab map card 3"/>
          <p:cNvSpPr/>
          <p:nvPr/>
        </p:nvSpPr>
        <p:spPr>
          <a:xfrm>
            <a:off x="7571231" y="1627632"/>
            <a:ext cx="3145536" cy="267004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ab map heading 3"/>
          <p:cNvSpPr txBox="1"/>
          <p:nvPr/>
        </p:nvSpPr>
        <p:spPr>
          <a:xfrm>
            <a:off x="7717536" y="1847088"/>
            <a:ext cx="2852928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Lab C｜急件提前量</a:t>
            </a:r>
          </a:p>
        </p:txBody>
      </p:sp>
      <p:sp>
        <p:nvSpPr>
          <p:cNvPr id="14" name="Lab map change 3"/>
          <p:cNvSpPr txBox="1"/>
          <p:nvPr/>
        </p:nvSpPr>
        <p:spPr>
          <a:xfrm>
            <a:off x="7754111" y="2542032"/>
            <a:ext cx="2779776" cy="82296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URGENT_MARGIN_S：20 → 5 → 30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BATCH_SIZE = 3 不變</a:t>
            </a:r>
          </a:p>
        </p:txBody>
      </p:sp>
      <p:sp>
        <p:nvSpPr>
          <p:cNvPr id="15" name="Lab map observe 3"/>
          <p:cNvSpPr txBox="1"/>
          <p:nvPr/>
        </p:nvSpPr>
        <p:spPr>
          <a:xfrm>
            <a:off x="7772400" y="3529584"/>
            <a:ext cx="2743200" cy="56692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觀察：urgent timing、deadline／expired、service、J</a:t>
            </a:r>
          </a:p>
        </p:txBody>
      </p:sp>
      <p:sp>
        <p:nvSpPr>
          <p:cNvPr id="16" name="Lab map causal strip"/>
          <p:cNvSpPr/>
          <p:nvPr/>
        </p:nvSpPr>
        <p:spPr>
          <a:xfrm>
            <a:off x="969264" y="4480560"/>
            <a:ext cx="10241280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同一檔案／同一 scenario／固定 runner → prediction → baseline → candidate → withheld</a:t>
            </a:r>
          </a:p>
        </p:txBody>
      </p:sp>
      <p:sp>
        <p:nvSpPr>
          <p:cNvPr id="17" name="Field contract marked block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marked block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（受控區塊）｜來源：student_policy.py｜作用：限制可修改的最小決策面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單位：one block｜判讀：其他行與檔案不動，才能歸因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LoRaEnergySim 提供的三項價值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它提供成熟的 LoRa 端點問題框架，讓狀態、封包與能量能沿同一條路徑解讀</a:t>
            </a:r>
          </a:p>
        </p:txBody>
      </p:sp>
      <p:sp>
        <p:nvSpPr>
          <p:cNvPr id="6" name="Teaching card 1"/>
          <p:cNvSpPr/>
          <p:nvPr/>
        </p:nvSpPr>
        <p:spPr>
          <a:xfrm>
            <a:off x="841248" y="1572768"/>
            <a:ext cx="3236976" cy="248716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aching card 1 heading"/>
          <p:cNvSpPr txBox="1"/>
          <p:nvPr/>
        </p:nvSpPr>
        <p:spPr>
          <a:xfrm>
            <a:off x="987552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端點狀態與能量</a:t>
            </a:r>
          </a:p>
        </p:txBody>
      </p:sp>
      <p:sp>
        <p:nvSpPr>
          <p:cNvPr id="8" name="Teaching card 1 body"/>
          <p:cNvSpPr txBox="1"/>
          <p:nvPr/>
        </p:nvSpPr>
        <p:spPr>
          <a:xfrm>
            <a:off x="1005840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把休眠、處理、TX、RX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連到端點能量邊界</a:t>
            </a:r>
          </a:p>
        </p:txBody>
      </p:sp>
      <p:sp>
        <p:nvSpPr>
          <p:cNvPr id="9" name="Teaching card 2"/>
          <p:cNvSpPr/>
          <p:nvPr/>
        </p:nvSpPr>
        <p:spPr>
          <a:xfrm>
            <a:off x="4361688" y="1572768"/>
            <a:ext cx="3236976" cy="248716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ching card 2 heading"/>
          <p:cNvSpPr txBox="1"/>
          <p:nvPr/>
        </p:nvSpPr>
        <p:spPr>
          <a:xfrm>
            <a:off x="4507992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封包事件與可靠度</a:t>
            </a:r>
          </a:p>
        </p:txBody>
      </p:sp>
      <p:sp>
        <p:nvSpPr>
          <p:cNvPr id="11" name="Teaching card 2 body"/>
          <p:cNvSpPr txBox="1"/>
          <p:nvPr/>
        </p:nvSpPr>
        <p:spPr>
          <a:xfrm>
            <a:off x="4526279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用封包、碰撞、重試、送達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解釋策略後果</a:t>
            </a:r>
          </a:p>
        </p:txBody>
      </p:sp>
      <p:sp>
        <p:nvSpPr>
          <p:cNvPr id="12" name="Teaching card 3"/>
          <p:cNvSpPr/>
          <p:nvPr/>
        </p:nvSpPr>
        <p:spPr>
          <a:xfrm>
            <a:off x="7882127" y="1572768"/>
            <a:ext cx="3236976" cy="2487168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aching card 3 heading"/>
          <p:cNvSpPr txBox="1"/>
          <p:nvPr/>
        </p:nvSpPr>
        <p:spPr>
          <a:xfrm>
            <a:off x="8028431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可重複研究架構</a:t>
            </a:r>
          </a:p>
        </p:txBody>
      </p:sp>
      <p:sp>
        <p:nvSpPr>
          <p:cNvPr id="14" name="Teaching card 3 body"/>
          <p:cNvSpPr txBox="1"/>
          <p:nvPr/>
        </p:nvSpPr>
        <p:spPr>
          <a:xfrm>
            <a:off x="8046719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固定模型來源與版本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讓案例與結果可以比較</a:t>
            </a:r>
          </a:p>
        </p:txBody>
      </p:sp>
      <p:sp>
        <p:nvSpPr>
          <p:cNvPr id="15" name="LoRaEnergySim value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LoRaEnergySim 讓策略動作可以連到狀態、封包、服務與端點能量證據</a:t>
            </a:r>
          </a:p>
        </p:txBody>
      </p:sp>
      <p:sp>
        <p:nvSpPr>
          <p:cNvPr id="16" name="Field contract model_reference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model_reference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（模型參考）｜來源：固定的 LoRaEnergySim repository 與版本｜作用：提供端點狀態、封包事件與能量欄位的可追溯來源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單位：來源識別｜判讀：以相同模型語言比較不同策略的事件與結果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把下載資料搬進 Linux 課程資料夾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把下載資料搬進 Linux 課程資料夾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這一步只做路徑準備：把 release 帶進 Linux，再確認程式根目錄</a:t>
            </a:r>
          </a:p>
        </p:txBody>
      </p:sp>
      <p:sp>
        <p:nvSpPr>
          <p:cNvPr id="6" name="把下載資料搬進 Linux 課程資料夾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把下載資料搬進 Linux 課程資料夾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這個工作區</a:t>
            </a:r>
          </a:p>
        </p:txBody>
      </p:sp>
      <p:sp>
        <p:nvSpPr>
          <p:cNvPr id="8" name="把下載資料搬進 Linux 課程資料夾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WSL＝Windows 內的 Linux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讀 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/mnt/c/.../Downloads</a:t>
            </a:r>
          </a:p>
        </p:txBody>
      </p:sp>
      <p:sp>
        <p:nvSpPr>
          <p:cNvPr id="9" name="把下載資料搬進 Linux 課程資料夾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把下載資料搬進 Linux 課程資料夾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② 程式不改</a:t>
            </a:r>
          </a:p>
        </p:txBody>
      </p:sp>
      <p:sp>
        <p:nvSpPr>
          <p:cNvPr id="11" name="把下載資料搬進 Linux 課程資料夾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不動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只複製 release 副本</a:t>
            </a:r>
          </a:p>
        </p:txBody>
      </p:sp>
      <p:sp>
        <p:nvSpPr>
          <p:cNvPr id="12" name="把下載資料搬進 Linux 課程資料夾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把下載資料搬進 Linux 課程資料夾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③ 進入根目錄</a:t>
            </a:r>
          </a:p>
        </p:txBody>
      </p:sp>
      <p:sp>
        <p:nvSpPr>
          <p:cNvPr id="14" name="把下載資料搬進 Linux 課程資料夾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下一步集中到 Linux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lora-energy-lab/</a:t>
            </a:r>
          </a:p>
        </p:txBody>
      </p:sp>
      <p:sp>
        <p:nvSpPr>
          <p:cNvPr id="15" name="把下載資料搬進 Linux 課程資料夾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把下載資料搬進 Linux 課程資料夾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④ 核對結果</a:t>
            </a:r>
          </a:p>
        </p:txBody>
      </p:sp>
      <p:sp>
        <p:nvSpPr>
          <p:cNvPr id="17" name="把下載資料搬進 Linux 課程資料夾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執行 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pwd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只讀位置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路徑不對就先停止</a:t>
            </a:r>
          </a:p>
        </p:txBody>
      </p:sp>
      <p:sp>
        <p:nvSpPr>
          <p:cNvPr id="18" name="把下載資料搬進 Linux 課程資料夾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先把下載副本放進 Linux，再確認根目錄；路徑錯會讓後續設定讀錯檔</a:t>
            </a:r>
          </a:p>
        </p:txBody>
      </p:sp>
      <p:sp>
        <p:nvSpPr>
          <p:cNvPr id="19" name="Field contract pwd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pwd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（目前目錄命令）｜來源：Linux／macOS 終端機（WSL 也使用 Linux 指令）｜作用：確認目前位置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單位：路徑文字｜判讀：輸出應位於 Linux home 的課程資料夾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從 Python 3.11 到 READY 的完整順序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每一步都在 lora-energy-lab 根目錄完成；上一關成功才進入下一關</a:t>
            </a:r>
          </a:p>
        </p:txBody>
      </p:sp>
      <p:sp>
        <p:nvSpPr>
          <p:cNvPr id="6" name="Teaching card 1"/>
          <p:cNvSpPr/>
          <p:nvPr/>
        </p:nvSpPr>
        <p:spPr>
          <a:xfrm>
            <a:off x="841248" y="1572768"/>
            <a:ext cx="3236976" cy="248716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aching card 1 heading"/>
          <p:cNvSpPr txBox="1"/>
          <p:nvPr/>
        </p:nvSpPr>
        <p:spPr>
          <a:xfrm>
            <a:off x="987552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找到正確版本</a:t>
            </a:r>
          </a:p>
        </p:txBody>
      </p:sp>
      <p:sp>
        <p:nvSpPr>
          <p:cNvPr id="8" name="Teaching card 1 body"/>
          <p:cNvSpPr txBox="1"/>
          <p:nvPr/>
        </p:nvSpPr>
        <p:spPr>
          <a:xfrm>
            <a:off x="1005840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先檢查 Python 3.11.x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沒有才依平台安裝</a:t>
            </a:r>
          </a:p>
        </p:txBody>
      </p:sp>
      <p:sp>
        <p:nvSpPr>
          <p:cNvPr id="9" name="Teaching card 2"/>
          <p:cNvSpPr/>
          <p:nvPr/>
        </p:nvSpPr>
        <p:spPr>
          <a:xfrm>
            <a:off x="4361688" y="1572768"/>
            <a:ext cx="3236976" cy="248716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ching card 2 heading"/>
          <p:cNvSpPr txBox="1"/>
          <p:nvPr/>
        </p:nvSpPr>
        <p:spPr>
          <a:xfrm>
            <a:off x="4507992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② 建立隔離環境</a:t>
            </a:r>
          </a:p>
        </p:txBody>
      </p:sp>
      <p:sp>
        <p:nvSpPr>
          <p:cNvPr id="11" name="Teaching card 2 body"/>
          <p:cNvSpPr txBox="1"/>
          <p:nvPr/>
        </p:nvSpPr>
        <p:spPr>
          <a:xfrm>
            <a:off x="4526279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確認 venv → 建立 </a:t>
            </a: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.venv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啟用後再次核對版本</a:t>
            </a:r>
          </a:p>
        </p:txBody>
      </p:sp>
      <p:sp>
        <p:nvSpPr>
          <p:cNvPr id="12" name="Teaching card 3"/>
          <p:cNvSpPr/>
          <p:nvPr/>
        </p:nvSpPr>
        <p:spPr>
          <a:xfrm>
            <a:off x="7882127" y="1572768"/>
            <a:ext cx="3236976" cy="2487168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aching card 3 heading"/>
          <p:cNvSpPr txBox="1"/>
          <p:nvPr/>
        </p:nvSpPr>
        <p:spPr>
          <a:xfrm>
            <a:off x="8028431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③ 安裝並驗證</a:t>
            </a:r>
          </a:p>
        </p:txBody>
      </p:sp>
      <p:sp>
        <p:nvSpPr>
          <p:cNvPr id="14" name="Teaching card 3 body"/>
          <p:cNvSpPr txBox="1"/>
          <p:nvPr/>
        </p:nvSpPr>
        <p:spPr>
          <a:xfrm>
            <a:off x="8046719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在 venv 內安裝 locked requirements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verify 必須顯示 READY</a:t>
            </a:r>
          </a:p>
        </p:txBody>
      </p:sp>
      <p:sp>
        <p:nvSpPr>
          <p:cNvPr id="15" name="Environment sequence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 3.11.x → </a:t>
            </a:r>
            <a:r>
              <a:rPr sz="20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.venv</a:t>
            </a: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已啟用 → 安裝 </a:t>
            </a:r>
            <a:r>
              <a:rPr sz="20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requirements-lock.txt</a:t>
            </a: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0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READY</a:t>
            </a:r>
          </a:p>
        </p:txBody>
      </p:sp>
      <p:sp>
        <p:nvSpPr>
          <p:cNvPr id="16" name="Field contract requirements-lock.txt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requirements-lock.txt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（鎖定需求檔）｜來源：課程套件根目錄｜作用：固定安裝契約與可重現環境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單位：文字檔｜判讀：實際檔名含 -lock；不是 requirements.txt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Windows：先檢查或安裝 Python 3.11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先使用 Python Launcher 檢查；找不到 3.11 才安裝 uv 與精確版本</a:t>
            </a:r>
          </a:p>
        </p:txBody>
      </p:sp>
      <p:sp>
        <p:nvSpPr>
          <p:cNvPr id="6" name="Windows Python check"/>
          <p:cNvSpPr/>
          <p:nvPr/>
        </p:nvSpPr>
        <p:spPr>
          <a:xfrm>
            <a:off x="859536" y="1463040"/>
            <a:ext cx="5065776" cy="2212848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indows Python check text"/>
          <p:cNvSpPr txBox="1"/>
          <p:nvPr/>
        </p:nvSpPr>
        <p:spPr>
          <a:xfrm>
            <a:off x="1005839" y="1554480"/>
            <a:ext cx="4773168" cy="2029967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先檢查：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 -3.11 --version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$python311 = (py -3.11 -c "import sys; print(sys.executable)").Trim()</a:t>
            </a:r>
          </a:p>
        </p:txBody>
      </p:sp>
      <p:sp>
        <p:nvSpPr>
          <p:cNvPr id="8" name="Windows Python install"/>
          <p:cNvSpPr/>
          <p:nvPr/>
        </p:nvSpPr>
        <p:spPr>
          <a:xfrm>
            <a:off x="6254496" y="1463040"/>
            <a:ext cx="5065776" cy="2212848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indows Python install text"/>
          <p:cNvSpPr txBox="1"/>
          <p:nvPr/>
        </p:nvSpPr>
        <p:spPr>
          <a:xfrm>
            <a:off x="6400800" y="1554480"/>
            <a:ext cx="4773168" cy="2029967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找不到 3.11 時：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winget install --id=astral-sh.uv -e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uv python install 3.11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$python311 = (uv python find 3.11).Trim()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&amp; $python311 --version</a:t>
            </a:r>
          </a:p>
        </p:txBody>
      </p:sp>
      <p:sp>
        <p:nvSpPr>
          <p:cNvPr id="10" name="Windows Python success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成功訊號：輸出 </a:t>
            </a:r>
            <a:r>
              <a:rPr sz="20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 3.11.x</a:t>
            </a: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，並取得 </a:t>
            </a:r>
            <a:r>
              <a:rPr sz="20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$python311</a:t>
            </a: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的執行器路徑</a:t>
            </a:r>
          </a:p>
        </p:txBody>
      </p:sp>
      <p:sp>
        <p:nvSpPr>
          <p:cNvPr id="11" name="Field contract python311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python311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（Python 3.11 執行器變數）｜來源：PowerShell 命令結果｜作用：保存建立 venv 時要使用的精確執行器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單位：檔案路徑｜判讀：版本不是 3.11.x 就停止，不修改 runner 放寬版本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Windows：建立、啟用 venv，再安裝與驗證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所有 pip 與 verify 命令都要在已啟用的 </a:t>
            </a:r>
            <a:r>
              <a:rPr sz="24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.venv</a:t>
            </a: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中執行</a:t>
            </a:r>
          </a:p>
        </p:txBody>
      </p:sp>
      <p:sp>
        <p:nvSpPr>
          <p:cNvPr id="6" name="Windows venv"/>
          <p:cNvSpPr/>
          <p:nvPr/>
        </p:nvSpPr>
        <p:spPr>
          <a:xfrm>
            <a:off x="859536" y="1444752"/>
            <a:ext cx="5065776" cy="290779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indows venv text"/>
          <p:cNvSpPr txBox="1"/>
          <p:nvPr/>
        </p:nvSpPr>
        <p:spPr>
          <a:xfrm>
            <a:off x="1005839" y="1536192"/>
            <a:ext cx="4773168" cy="2724912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建立並啟用：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&amp; $python311 -m venv --help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&amp; $python311 -m venv .venv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.\.venv\Scripts\Activate.ps1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 --version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 -c "import sys; assert sys.prefix != sys.base_prefix; print(sys.executable)"</a:t>
            </a:r>
          </a:p>
        </p:txBody>
      </p:sp>
      <p:sp>
        <p:nvSpPr>
          <p:cNvPr id="8" name="Windows install verify"/>
          <p:cNvSpPr/>
          <p:nvPr/>
        </p:nvSpPr>
        <p:spPr>
          <a:xfrm>
            <a:off x="6254496" y="1444752"/>
            <a:ext cx="5065776" cy="2907792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indows install verify text"/>
          <p:cNvSpPr txBox="1"/>
          <p:nvPr/>
        </p:nvSpPr>
        <p:spPr>
          <a:xfrm>
            <a:off x="6400800" y="1536192"/>
            <a:ext cx="4773168" cy="2724912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在 venv 內安裝與驗證：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 -m pip install --disable-pip-version-check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 --require-hashes --no-deps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 -r .\requirements-lock.txt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.\course.cmd verify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預期：</a:t>
            </a: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status = READY</a:t>
            </a:r>
          </a:p>
        </p:txBody>
      </p:sp>
      <p:sp>
        <p:nvSpPr>
          <p:cNvPr id="10" name="Field contract .venv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.venv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（專案虛擬環境）｜來源：Python venv 模組｜作用：隔離本課執行器與安裝契約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單位：資料夾｜判讀：啟用後 Python 路徑應位於 .venv；READY 才繼續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Linux／WSL：先檢查或安裝 Python 3.11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WSL 使用其 Linux distribution；先檢查，沒有 3.11 才使用 uv 安裝</a:t>
            </a:r>
          </a:p>
        </p:txBody>
      </p:sp>
      <p:sp>
        <p:nvSpPr>
          <p:cNvPr id="6" name="Linux Python check"/>
          <p:cNvSpPr/>
          <p:nvPr/>
        </p:nvSpPr>
        <p:spPr>
          <a:xfrm>
            <a:off x="859536" y="1426464"/>
            <a:ext cx="5065776" cy="2962656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inux Python check text"/>
          <p:cNvSpPr txBox="1"/>
          <p:nvPr/>
        </p:nvSpPr>
        <p:spPr>
          <a:xfrm>
            <a:off x="1005839" y="1517904"/>
            <a:ext cx="4773168" cy="2779776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先檢查：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command -v python3.11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python3.11 --version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若成功：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PYTHON_BIN="$(command -v python3.11)"</a:t>
            </a:r>
          </a:p>
        </p:txBody>
      </p:sp>
      <p:sp>
        <p:nvSpPr>
          <p:cNvPr id="8" name="Linux Python install"/>
          <p:cNvSpPr/>
          <p:nvPr/>
        </p:nvSpPr>
        <p:spPr>
          <a:xfrm>
            <a:off x="6254496" y="1426464"/>
            <a:ext cx="5065776" cy="2962656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inux Python install text"/>
          <p:cNvSpPr txBox="1"/>
          <p:nvPr/>
        </p:nvSpPr>
        <p:spPr>
          <a:xfrm>
            <a:off x="6400800" y="1517904"/>
            <a:ext cx="4773168" cy="2779776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找不到 3.11 時：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sudo apt update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sudo apt install -y curl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curl -LsSf https://astral.sh/uv/install.sh | sh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uv python install 3.11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PYTHON_BIN="$(uv python find 3.11)"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"$PYTHON_BIN" --version</a:t>
            </a:r>
          </a:p>
        </p:txBody>
      </p:sp>
      <p:sp>
        <p:nvSpPr>
          <p:cNvPr id="10" name="Field contract PYTHON_BIN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PYTHON_BIN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（Python 執行器路徑變數）｜來源：Linux shell 命令結果｜作用：指定建立 venv 的精確 Python 3.11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單位：檔案路徑｜判讀：輸出必須是 Python 3.11.x；WSL 也使用此 Linux 流程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Linux／WSL：建立、啟用 venv，再安裝與驗證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建立 </a:t>
            </a:r>
            <a:r>
              <a:rPr sz="24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.venv</a:t>
            </a: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後必須執行 source；終端機才會改用隔離環境</a:t>
            </a:r>
          </a:p>
        </p:txBody>
      </p:sp>
      <p:sp>
        <p:nvSpPr>
          <p:cNvPr id="6" name="Linux venv"/>
          <p:cNvSpPr/>
          <p:nvPr/>
        </p:nvSpPr>
        <p:spPr>
          <a:xfrm>
            <a:off x="859536" y="1426464"/>
            <a:ext cx="5065776" cy="2962656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inux venv text"/>
          <p:cNvSpPr txBox="1"/>
          <p:nvPr/>
        </p:nvSpPr>
        <p:spPr>
          <a:xfrm>
            <a:off x="1005839" y="1517904"/>
            <a:ext cx="4773168" cy="2779776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建立並啟用：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"$PYTHON_BIN" -m venv --help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"$PYTHON_BIN" -m venv .venv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source .venv/bin/activate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 --version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 -c 'import sys; assert sys.prefix != sys.base_prefix; print(sys.executable)'</a:t>
            </a:r>
          </a:p>
        </p:txBody>
      </p:sp>
      <p:sp>
        <p:nvSpPr>
          <p:cNvPr id="8" name="Linux install verify"/>
          <p:cNvSpPr/>
          <p:nvPr/>
        </p:nvSpPr>
        <p:spPr>
          <a:xfrm>
            <a:off x="6254496" y="1426464"/>
            <a:ext cx="5065776" cy="2962656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inux install verify text"/>
          <p:cNvSpPr txBox="1"/>
          <p:nvPr/>
        </p:nvSpPr>
        <p:spPr>
          <a:xfrm>
            <a:off x="6400800" y="1517904"/>
            <a:ext cx="4773168" cy="2779776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在 venv 內安裝與驗證：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 -m pip install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 --disable-pip-version-check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 --require-hashes --no-deps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 -r requirements-lock.txt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預期：</a:t>
            </a: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status = READY</a:t>
            </a:r>
          </a:p>
        </p:txBody>
      </p:sp>
      <p:sp>
        <p:nvSpPr>
          <p:cNvPr id="10" name="Field contract source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source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（啟用 shell 環境的命令）｜來源：Linux／macOS shell｜作用：把目前終端機切換到 .venv 的 Python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單位：命令｜判讀：啟用後執行器路徑應位於 .venv；READY 才開始 Lab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macOS：先檢查或安裝 Python 3.11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不要假設 macOS 的 python3 版本；先檢查，再選 Homebrew 或 uv</a:t>
            </a:r>
          </a:p>
        </p:txBody>
      </p:sp>
      <p:sp>
        <p:nvSpPr>
          <p:cNvPr id="6" name="macOS check"/>
          <p:cNvSpPr/>
          <p:nvPr/>
        </p:nvSpPr>
        <p:spPr>
          <a:xfrm>
            <a:off x="859536" y="1426464"/>
            <a:ext cx="3182112" cy="2980944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acOS check text"/>
          <p:cNvSpPr txBox="1"/>
          <p:nvPr/>
        </p:nvSpPr>
        <p:spPr>
          <a:xfrm>
            <a:off x="1005839" y="1517904"/>
            <a:ext cx="2889504" cy="2798063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先檢查：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command -v python3.11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python3.11 --version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若成功：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PYTHON_BIN="$(command -v python3.11)"</a:t>
            </a:r>
          </a:p>
        </p:txBody>
      </p:sp>
      <p:sp>
        <p:nvSpPr>
          <p:cNvPr id="8" name="macOS brew"/>
          <p:cNvSpPr/>
          <p:nvPr/>
        </p:nvSpPr>
        <p:spPr>
          <a:xfrm>
            <a:off x="4279392" y="1426464"/>
            <a:ext cx="3182112" cy="2980944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acOS brew text"/>
          <p:cNvSpPr txBox="1"/>
          <p:nvPr/>
        </p:nvSpPr>
        <p:spPr>
          <a:xfrm>
            <a:off x="4425696" y="1517904"/>
            <a:ext cx="2889504" cy="2798063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使用 Homebrew：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brew install python@3.11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PYTHON_BIN="$(brew --prefix python@3.11)/bin/python3.11"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"$PYTHON_BIN" --version</a:t>
            </a:r>
          </a:p>
        </p:txBody>
      </p:sp>
      <p:sp>
        <p:nvSpPr>
          <p:cNvPr id="10" name="macOS uv"/>
          <p:cNvSpPr/>
          <p:nvPr/>
        </p:nvSpPr>
        <p:spPr>
          <a:xfrm>
            <a:off x="7699248" y="1426464"/>
            <a:ext cx="3621024" cy="2980944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acOS uv text"/>
          <p:cNvSpPr txBox="1"/>
          <p:nvPr/>
        </p:nvSpPr>
        <p:spPr>
          <a:xfrm>
            <a:off x="7845552" y="1517904"/>
            <a:ext cx="3328416" cy="2798063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使用 uv：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curl -LsSf https://astral.sh/uv/install.sh | sh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uv python install 3.11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PYTHON_BIN="$(uv python find 3.11)"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"$PYTHON_BIN" --version</a:t>
            </a:r>
          </a:p>
        </p:txBody>
      </p:sp>
      <p:sp>
        <p:nvSpPr>
          <p:cNvPr id="12" name="Field contract python@3.11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python@3.11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（Homebrew Python 3.11 套件）｜來源：Homebrew formula｜作用：提供 macOS 的精確 Python 版本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單位：套件版本｜判讀：最終仍以 PYTHON_BIN --version 顯示 3.11.x 為準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macOS：建立、啟用 venv，再安裝與驗證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Homebrew 與 uv 的 Python 都包含 venv；啟用後再進行 locked install</a:t>
            </a:r>
          </a:p>
        </p:txBody>
      </p:sp>
      <p:sp>
        <p:nvSpPr>
          <p:cNvPr id="6" name="macOS venv"/>
          <p:cNvSpPr/>
          <p:nvPr/>
        </p:nvSpPr>
        <p:spPr>
          <a:xfrm>
            <a:off x="859536" y="1426464"/>
            <a:ext cx="5065776" cy="2962656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acOS venv text"/>
          <p:cNvSpPr txBox="1"/>
          <p:nvPr/>
        </p:nvSpPr>
        <p:spPr>
          <a:xfrm>
            <a:off x="1005839" y="1517904"/>
            <a:ext cx="4773168" cy="2779776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建立並啟用：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"$PYTHON_BIN" -m venv --help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"$PYTHON_BIN" -m venv .venv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source .venv/bin/activate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 --version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 -c 'import sys; assert sys.prefix != sys.base_prefix; print(sys.executable)'</a:t>
            </a:r>
          </a:p>
        </p:txBody>
      </p:sp>
      <p:sp>
        <p:nvSpPr>
          <p:cNvPr id="8" name="macOS install verify"/>
          <p:cNvSpPr/>
          <p:nvPr/>
        </p:nvSpPr>
        <p:spPr>
          <a:xfrm>
            <a:off x="6254496" y="1426464"/>
            <a:ext cx="5065776" cy="2962656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acOS install verify text"/>
          <p:cNvSpPr txBox="1"/>
          <p:nvPr/>
        </p:nvSpPr>
        <p:spPr>
          <a:xfrm>
            <a:off x="6400800" y="1517904"/>
            <a:ext cx="4773168" cy="2779776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在 venv 內安裝與驗證：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python -m pip install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 --disable-pip-version-check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 --require-hashes --no-deps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 -r requirements-lock.txt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預期：</a:t>
            </a:r>
            <a:r>
              <a:rPr sz="165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status = READY</a:t>
            </a:r>
          </a:p>
        </p:txBody>
      </p:sp>
      <p:sp>
        <p:nvSpPr>
          <p:cNvPr id="10" name="Field contract verify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verify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（環境驗證）｜來源：course.sh／verify_setup.py｜作用：核對 Python、情境、策略與安裝契約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單位：狀態｜判讀：READY 只代表環境可用；尚未產生 Lab result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看到 READY 後，環境準備才算完成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Plain-language lead"/>
          <p:cNvSpPr txBox="1"/>
          <p:nvPr/>
        </p:nvSpPr>
        <p:spPr>
          <a:xfrm>
            <a:off x="859536" y="896112"/>
            <a:ext cx="1046988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成功不是只有安裝指令沒有報錯；版本、venv 路徑與 verify 狀態都要成立</a:t>
            </a:r>
          </a:p>
        </p:txBody>
      </p:sp>
      <p:sp>
        <p:nvSpPr>
          <p:cNvPr id="6" name="Teaching card 1"/>
          <p:cNvSpPr/>
          <p:nvPr/>
        </p:nvSpPr>
        <p:spPr>
          <a:xfrm>
            <a:off x="841248" y="1572768"/>
            <a:ext cx="3236976" cy="248716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aching card 1 heading"/>
          <p:cNvSpPr txBox="1"/>
          <p:nvPr/>
        </p:nvSpPr>
        <p:spPr>
          <a:xfrm>
            <a:off x="987552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版本正確</a:t>
            </a:r>
          </a:p>
        </p:txBody>
      </p:sp>
      <p:sp>
        <p:nvSpPr>
          <p:cNvPr id="8" name="Teaching card 1 body"/>
          <p:cNvSpPr txBox="1"/>
          <p:nvPr/>
        </p:nvSpPr>
        <p:spPr>
          <a:xfrm>
            <a:off x="1005840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python --version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顯示 Python 3.11.x</a:t>
            </a:r>
          </a:p>
        </p:txBody>
      </p:sp>
      <p:sp>
        <p:nvSpPr>
          <p:cNvPr id="9" name="Teaching card 2"/>
          <p:cNvSpPr/>
          <p:nvPr/>
        </p:nvSpPr>
        <p:spPr>
          <a:xfrm>
            <a:off x="4361688" y="1572768"/>
            <a:ext cx="3236976" cy="248716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ching card 2 heading"/>
          <p:cNvSpPr txBox="1"/>
          <p:nvPr/>
        </p:nvSpPr>
        <p:spPr>
          <a:xfrm>
            <a:off x="4507992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venv 已啟用</a:t>
            </a:r>
          </a:p>
        </p:txBody>
      </p:sp>
      <p:sp>
        <p:nvSpPr>
          <p:cNvPr id="11" name="Teaching card 2 body"/>
          <p:cNvSpPr txBox="1"/>
          <p:nvPr/>
        </p:nvSpPr>
        <p:spPr>
          <a:xfrm>
            <a:off x="4526279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執行器路徑位於 </a:t>
            </a: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.venv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不是系統 Python</a:t>
            </a:r>
          </a:p>
        </p:txBody>
      </p:sp>
      <p:sp>
        <p:nvSpPr>
          <p:cNvPr id="12" name="Teaching card 3"/>
          <p:cNvSpPr/>
          <p:nvPr/>
        </p:nvSpPr>
        <p:spPr>
          <a:xfrm>
            <a:off x="7882127" y="1572768"/>
            <a:ext cx="3236976" cy="2487168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aching card 3 heading"/>
          <p:cNvSpPr txBox="1"/>
          <p:nvPr/>
        </p:nvSpPr>
        <p:spPr>
          <a:xfrm>
            <a:off x="8028431" y="1755648"/>
            <a:ext cx="294436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契約通過</a:t>
            </a:r>
          </a:p>
        </p:txBody>
      </p:sp>
      <p:sp>
        <p:nvSpPr>
          <p:cNvPr id="14" name="Teaching card 3 body"/>
          <p:cNvSpPr txBox="1"/>
          <p:nvPr/>
        </p:nvSpPr>
        <p:spPr>
          <a:xfrm>
            <a:off x="8046719" y="2468880"/>
            <a:ext cx="2907792" cy="1408176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verify 輸出 </a:t>
            </a: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status = READY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寫入 verify receipt</a:t>
            </a:r>
          </a:p>
        </p:txBody>
      </p:sp>
      <p:sp>
        <p:nvSpPr>
          <p:cNvPr id="15" name="READY next ste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READY 之後保持 </a:t>
            </a:r>
            <a:r>
              <a:rPr sz="20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.venv</a:t>
            </a: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啟用 → 只改目前 Lab 的 marked block → 執行 case</a:t>
            </a:r>
          </a:p>
        </p:txBody>
      </p:sp>
      <p:sp>
        <p:nvSpPr>
          <p:cNvPr id="16" name="Field contract status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status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（環境狀態）｜來源：verify receipt｜作用：表示環境與課程契約是否可進入案例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單位：狀態值｜判讀：READY 不等於 Lab 通過，也不等於已產生 result.json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在 venv 安裝鎖定套件並驗證 READY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在 venv 安裝鎖定套件並驗證 READY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四種 shell 都先安裝鎖定檔再驗證；看到 READY 才進案例，失敗就停</a:t>
            </a:r>
          </a:p>
        </p:txBody>
      </p:sp>
      <p:sp>
        <p:nvSpPr>
          <p:cNvPr id="6" name="在 venv 安裝鎖定套件並驗證 READY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在 venv 安裝鎖定套件並驗證 READY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Linux／WSL</a:t>
            </a:r>
          </a:p>
        </p:txBody>
      </p:sp>
      <p:sp>
        <p:nvSpPr>
          <p:cNvPr id="8" name="在 venv 安裝鎖定套件並驗證 READY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python -m pip install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--require-hashes --no-deps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-r requirements-lock.txt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9" name="在 venv 安裝鎖定套件並驗證 READY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在 venv 安裝鎖定套件並驗證 READY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macOS</a:t>
            </a:r>
          </a:p>
        </p:txBody>
      </p:sp>
      <p:sp>
        <p:nvSpPr>
          <p:cNvPr id="11" name="在 venv 安裝鎖定套件並驗證 READY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python -m pip install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--require-hashes --no-deps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-r requirements-lock.txt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12" name="在 venv 安裝鎖定套件並驗證 READY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在 venv 安裝鎖定套件並驗證 READY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Windows PowerShell</a:t>
            </a:r>
          </a:p>
        </p:txBody>
      </p:sp>
      <p:sp>
        <p:nvSpPr>
          <p:cNvPr id="14" name="在 venv 安裝鎖定套件並驗證 READY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python -m pip install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--require-hashes --no-deps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-r .\requirements-lock.txt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.\course.cmd verify</a:t>
            </a:r>
          </a:p>
        </p:txBody>
      </p:sp>
      <p:sp>
        <p:nvSpPr>
          <p:cNvPr id="15" name="在 venv 安裝鎖定套件並驗證 READY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在 venv 安裝鎖定套件並驗證 READY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Windows Command Prompt</a:t>
            </a:r>
          </a:p>
        </p:txBody>
      </p:sp>
      <p:sp>
        <p:nvSpPr>
          <p:cNvPr id="17" name="在 venv 安裝鎖定套件並驗證 READY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python -m pip install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--require-hashes --no-deps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-r requirements-lock.txt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course.cmd verify</a:t>
            </a:r>
          </a:p>
        </p:txBody>
      </p:sp>
      <p:sp>
        <p:nvSpPr>
          <p:cNvPr id="18" name="在 venv 安裝鎖定套件並驗證 READY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locked requirements → verify → </a:t>
            </a:r>
            <a:r>
              <a:rPr sz="20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status: READY</a:t>
            </a: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；沒有 READY 就停止，不執行 lab</a:t>
            </a:r>
          </a:p>
        </p:txBody>
      </p:sp>
      <p:sp>
        <p:nvSpPr>
          <p:cNvPr id="19" name="Field contract verify-receipt.json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verify-receipt.json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（驗證收據檔）｜來源：</a:t>
            </a: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course.sh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course.cmd verify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｜作用：記錄 Python、scenario 與 policy contract gate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單位：JSON artifact｜判讀：看到 </a:t>
            </a: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status: READY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才能進案例；它不是 </a:t>
            </a: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result.json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卡住時修復或保留來源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卡住時修復或保留來源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這一步處理卡關：修得好就重跑，修不好也不冒充本機執行</a:t>
            </a:r>
          </a:p>
        </p:txBody>
      </p:sp>
      <p:sp>
        <p:nvSpPr>
          <p:cNvPr id="6" name="卡住時修復或保留來源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卡住時修復或保留來源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正常</a:t>
            </a:r>
          </a:p>
        </p:txBody>
      </p:sp>
      <p:sp>
        <p:nvSpPr>
          <p:cNvPr id="8" name="卡住時修復或保留來源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READY 後執行案例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產生新結果</a:t>
            </a:r>
          </a:p>
        </p:txBody>
      </p:sp>
      <p:sp>
        <p:nvSpPr>
          <p:cNvPr id="9" name="卡住時修復或保留來源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卡住時修復或保留來源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② 修復什麼</a:t>
            </a:r>
          </a:p>
        </p:txBody>
      </p:sp>
      <p:sp>
        <p:nvSpPr>
          <p:cNvPr id="11" name="卡住時修復或保留來源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只修 Python、root、lock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不改 policy block</a:t>
            </a:r>
          </a:p>
        </p:txBody>
      </p:sp>
      <p:sp>
        <p:nvSpPr>
          <p:cNvPr id="12" name="卡住時修復或保留來源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卡住時修復或保留來源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③ 回復什麼</a:t>
            </a:r>
          </a:p>
        </p:txBody>
      </p:sp>
      <p:sp>
        <p:nvSpPr>
          <p:cNvPr id="14" name="卡住時修復或保留來源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同情境結果成對保存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</a:p>
        </p:txBody>
      </p:sp>
      <p:sp>
        <p:nvSpPr>
          <p:cNvPr id="15" name="卡住時修復或保留來源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卡住時修復或保留來源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④ 看什麼</a:t>
            </a:r>
          </a:p>
        </p:txBody>
      </p:sp>
      <p:sp>
        <p:nvSpPr>
          <p:cNvPr id="17" name="卡住時修復或保留來源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讀 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artifact_source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判斷本機或回復</a:t>
            </a:r>
          </a:p>
        </p:txBody>
      </p:sp>
      <p:sp>
        <p:nvSpPr>
          <p:cNvPr id="18" name="卡住時修復或保留來源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修復不改策略；回復不冒充本機執行</a:t>
            </a:r>
          </a:p>
        </p:txBody>
      </p:sp>
      <p:sp>
        <p:nvSpPr>
          <p:cNvPr id="19" name="Field contract artifact_source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artifact_source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（資料來源分類）｜來源：結果紀錄｜作用：標示本機執行或回復資料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單位：來源值｜判讀：來源模式保持原值，不改寫成本機執行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只可修改三個標記區塊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只可修改三個標記區塊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這一步畫出可編輯邊界：三個實驗區可改，其他程式只讀</a:t>
            </a:r>
          </a:p>
        </p:txBody>
      </p:sp>
      <p:sp>
        <p:nvSpPr>
          <p:cNvPr id="6" name="只可修改三個標記區塊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只可修改三個標記區塊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唯一檔案</a:t>
            </a:r>
          </a:p>
        </p:txBody>
      </p:sp>
      <p:sp>
        <p:nvSpPr>
          <p:cNvPr id="8" name="只可修改三個標記區塊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只在這裡做實驗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9" name="只可修改三個標記區塊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只可修改三個標記區塊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② 可改區段</a:t>
            </a:r>
          </a:p>
        </p:txBody>
      </p:sp>
      <p:sp>
        <p:nvSpPr>
          <p:cNvPr id="11" name="只可修改三個標記區塊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A／B／C 三個標記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marked block</a:t>
            </a:r>
          </a:p>
        </p:txBody>
      </p:sp>
      <p:sp>
        <p:nvSpPr>
          <p:cNvPr id="12" name="只可修改三個標記區塊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只可修改三個標記區塊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③ 保持不變</a:t>
            </a:r>
          </a:p>
        </p:txBody>
      </p:sp>
      <p:sp>
        <p:nvSpPr>
          <p:cNvPr id="14" name="只可修改三個標記區塊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中文註解、函式、情境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runner、schemas 不動</a:t>
            </a:r>
          </a:p>
        </p:txBody>
      </p:sp>
      <p:sp>
        <p:nvSpPr>
          <p:cNvPr id="15" name="只可修改三個標記區塊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只可修改三個標記區塊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④ 下一步／證據</a:t>
            </a:r>
          </a:p>
        </p:txBody>
      </p:sp>
      <p:sp>
        <p:nvSpPr>
          <p:cNvPr id="17" name="只可修改三個標記區塊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只開目前 lab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結果仍看 result／replay</a:t>
            </a:r>
          </a:p>
        </p:txBody>
      </p:sp>
      <p:sp>
        <p:nvSpPr>
          <p:cNvPr id="18" name="只可修改三個標記區塊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只開目前實驗區；其他檔案與輸出契約保持不變</a:t>
            </a:r>
          </a:p>
        </p:txBody>
      </p:sp>
      <p:sp>
        <p:nvSpPr>
          <p:cNvPr id="19" name="Field contract marked block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marked block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（標記區段）｜來源：檔案標記｜作用：界定一個實驗的可編輯範圍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單位：程式碼區段｜判讀：其他套件邊界維持唯讀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程式每次判斷會看什麼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程式每次判斷會看什麼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這一步先說清楚輸入：每個 step 只看目前／過去資料</a:t>
            </a:r>
          </a:p>
        </p:txBody>
      </p:sp>
      <p:sp>
        <p:nvSpPr>
          <p:cNvPr id="6" name="程式每次判斷會看什麼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程式每次判斷會看什麼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讀目前資料</a:t>
            </a:r>
          </a:p>
        </p:txBody>
      </p:sp>
      <p:sp>
        <p:nvSpPr>
          <p:cNvPr id="8" name="程式每次判斷會看什麼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窗口、急件、間隔、品質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都是當下 snapshot</a:t>
            </a:r>
          </a:p>
        </p:txBody>
      </p:sp>
      <p:sp>
        <p:nvSpPr>
          <p:cNvPr id="9" name="程式每次判斷會看什麼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程式每次判斷會看什麼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② 不讀未來</a:t>
            </a:r>
          </a:p>
        </p:txBody>
      </p:sp>
      <p:sp>
        <p:nvSpPr>
          <p:cNvPr id="11" name="程式每次判斷會看什麼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不看結果摘要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不回看 energy</a:t>
            </a:r>
          </a:p>
        </p:txBody>
      </p:sp>
      <p:sp>
        <p:nvSpPr>
          <p:cNvPr id="12" name="程式每次判斷會看什麼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程式每次判斷會看什麼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③ 交給函式</a:t>
            </a:r>
          </a:p>
        </p:txBody>
      </p:sp>
      <p:sp>
        <p:nvSpPr>
          <p:cNvPr id="14" name="程式每次判斷會看什麼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把目前資料交給 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choose_action()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再回一個合法動作</a:t>
            </a:r>
          </a:p>
        </p:txBody>
      </p:sp>
      <p:sp>
        <p:nvSpPr>
          <p:cNvPr id="15" name="程式每次判斷會看什麼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程式每次判斷會看什麼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④ 下一步／證據</a:t>
            </a:r>
          </a:p>
        </p:txBody>
      </p:sp>
      <p:sp>
        <p:nvSpPr>
          <p:cNvPr id="17" name="程式每次判斷會看什麼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回一個合法動作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runner 再記 event／result</a:t>
            </a:r>
          </a:p>
        </p:txBody>
      </p:sp>
      <p:sp>
        <p:nvSpPr>
          <p:cNvPr id="18" name="程式每次判斷會看什麼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當下觀察 → 合法動作；這一頁沒有程式值變更</a:t>
            </a:r>
          </a:p>
        </p:txBody>
      </p:sp>
      <p:sp>
        <p:nvSpPr>
          <p:cNvPr id="19" name="Field contract choose_action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choose_action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（策略函式）｜來源：student_policy.py｜作用：依當下觀察回傳一個合法動作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單位：函式契約｜判讀：只讀目前／過去欄位，不讀未來結果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判斷順序如何產生動作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判斷順序如何產生動作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這一步把合法動作順序翻成白話；鏡像可讀，不能貼回程式</a:t>
            </a:r>
          </a:p>
        </p:txBody>
      </p:sp>
      <p:sp>
        <p:nvSpPr>
          <p:cNvPr id="6" name="判斷順序如何產生動作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判斷順序如何產生動作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窗口關閉</a:t>
            </a:r>
          </a:p>
        </p:txBody>
      </p:sp>
      <p:sp>
        <p:nvSpPr>
          <p:cNvPr id="8" name="判斷順序如何產生動作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不能送出，先休息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sp>
        <p:nvSpPr>
          <p:cNvPr id="9" name="判斷順序如何產生動作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判斷順序如何產生動作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② 期限逼近</a:t>
            </a:r>
          </a:p>
        </p:txBody>
      </p:sp>
      <p:sp>
        <p:nvSpPr>
          <p:cNvPr id="11" name="判斷順序如何產生動作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急件先送出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SEND_URGENT</a:t>
            </a:r>
          </a:p>
        </p:txBody>
      </p:sp>
      <p:sp>
        <p:nvSpPr>
          <p:cNvPr id="12" name="判斷順序如何產生動作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判斷順序如何產生動作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③ 節奏／品質</a:t>
            </a:r>
          </a:p>
        </p:txBody>
      </p:sp>
      <p:sp>
        <p:nvSpPr>
          <p:cNvPr id="14" name="判斷順序如何產生動作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間隔未到休息；品質未穩等待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15" name="判斷順序如何產生動作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判斷順序如何產生動作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④ 佇列／保底</a:t>
            </a:r>
          </a:p>
        </p:txBody>
      </p:sp>
      <p:sp>
        <p:nvSpPr>
          <p:cNvPr id="17" name="判斷順序如何產生動作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夠量批次，否則單筆；無事等待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FLUSH_BATCH</a:t>
            </a: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SEND_ONE</a:t>
            </a: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18" name="判斷順序如何產生動作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先看窗口，再看期限、間隔、品質與佇列；順序會改變動作</a:t>
            </a:r>
          </a:p>
        </p:txBody>
      </p:sp>
      <p:sp>
        <p:nvSpPr>
          <p:cNvPr id="19" name="Field contract action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（合法動作）｜來源：policy API｜作用：把條件轉成 runner 可執行的動作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單位：enum｜判讀：下一步從 state／packet／service／endpoint J 讀後果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縮排與回傳決定程式走哪條路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縮排與回傳決定程式走哪條路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這一步只讀一小段程式：看縮排如何選分支，再把動作交回執行器</a:t>
            </a:r>
          </a:p>
        </p:txBody>
      </p:sp>
      <p:sp>
        <p:nvSpPr>
          <p:cNvPr id="6" name="縮排與回傳決定程式走哪條路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縮排與回傳決定程式走哪條路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先看意思</a:t>
            </a:r>
          </a:p>
        </p:txBody>
      </p:sp>
      <p:sp>
        <p:nvSpPr>
          <p:cNvPr id="8" name="縮排與回傳決定程式走哪條路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窗口關閉就不送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if ...: return SLEEP</a:t>
            </a:r>
          </a:p>
        </p:txBody>
      </p:sp>
      <p:sp>
        <p:nvSpPr>
          <p:cNvPr id="9" name="縮排與回傳決定程式走哪條路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縮排與回傳決定程式走哪條路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② 縮排做什麼</a:t>
            </a:r>
          </a:p>
        </p:txBody>
      </p:sp>
      <p:sp>
        <p:nvSpPr>
          <p:cNvPr id="11" name="縮排與回傳決定程式走哪條路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把條件放進正確分支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只修 active block</a:t>
            </a:r>
          </a:p>
        </p:txBody>
      </p:sp>
      <p:sp>
        <p:nvSpPr>
          <p:cNvPr id="12" name="縮排與回傳決定程式走哪條路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縮排與回傳決定程式走哪條路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③ 先檢查</a:t>
            </a:r>
          </a:p>
        </p:txBody>
      </p:sp>
      <p:sp>
        <p:nvSpPr>
          <p:cNvPr id="14" name="縮排與回傳決定程式走哪條路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執行 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py_compile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只檢查語法、不改檔</a:t>
            </a:r>
          </a:p>
        </p:txBody>
      </p:sp>
      <p:sp>
        <p:nvSpPr>
          <p:cNvPr id="15" name="縮排與回傳決定程式走哪條路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縮排與回傳決定程式走哪條路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④ 下一步／看什麼</a:t>
            </a:r>
          </a:p>
        </p:txBody>
      </p:sp>
      <p:sp>
        <p:nvSpPr>
          <p:cNvPr id="17" name="縮排與回傳決定程式走哪條路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通過後跑 baseline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讀 result／replay pair</a:t>
            </a:r>
          </a:p>
        </p:txBody>
      </p:sp>
      <p:sp>
        <p:nvSpPr>
          <p:cNvPr id="18" name="縮排與回傳決定程式走哪條路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縮排 → 分支 → 回傳 → runner 事件；語法檢查不改內容</a:t>
            </a:r>
          </a:p>
        </p:txBody>
      </p:sp>
      <p:sp>
        <p:nvSpPr>
          <p:cNvPr id="19" name="Field contract return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return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（回傳）｜來源：policy function｜作用：把一個合法動作交給執行器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單位：動作值｜判讀：語法通過後再看 result／replay 的實際事件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先建立基準結果再比較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先建立基準結果再比較 beginner takeaway"/>
          <p:cNvSpPr txBox="1"/>
          <p:nvPr/>
        </p:nvSpPr>
        <p:spPr>
          <a:xfrm>
            <a:off x="932688" y="960120"/>
            <a:ext cx="10332720" cy="475488"/>
          </a:xfrm>
          <a:prstGeom prst="rect">
            <a:avLst/>
          </a:prstGeom>
          <a:noFill/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這一步先保存沒有改動的基準，下一步才比較候選值</a:t>
            </a:r>
          </a:p>
        </p:txBody>
      </p:sp>
      <p:sp>
        <p:nvSpPr>
          <p:cNvPr id="6" name="先建立基準結果再比較 beginner card 1"/>
          <p:cNvSpPr/>
          <p:nvPr/>
        </p:nvSpPr>
        <p:spPr>
          <a:xfrm>
            <a:off x="841248" y="1664208"/>
            <a:ext cx="2505456" cy="23591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先建立基準結果再比較 beginner card 1 heading"/>
          <p:cNvSpPr txBox="1"/>
          <p:nvPr/>
        </p:nvSpPr>
        <p:spPr>
          <a:xfrm>
            <a:off x="98755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① 固定輸入</a:t>
            </a:r>
          </a:p>
        </p:txBody>
      </p:sp>
      <p:sp>
        <p:nvSpPr>
          <p:cNvPr id="8" name="先建立基準結果再比較 beginner card 1 body"/>
          <p:cNvSpPr txBox="1"/>
          <p:nvPr/>
        </p:nvSpPr>
        <p:spPr>
          <a:xfrm>
            <a:off x="100584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packaged policy＋固定情境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不讀未來結果</a:t>
            </a:r>
          </a:p>
        </p:txBody>
      </p:sp>
      <p:sp>
        <p:nvSpPr>
          <p:cNvPr id="9" name="先建立基準結果再比較 beginner card 2"/>
          <p:cNvSpPr/>
          <p:nvPr/>
        </p:nvSpPr>
        <p:spPr>
          <a:xfrm>
            <a:off x="3630168" y="1664208"/>
            <a:ext cx="2505456" cy="23591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先建立基準結果再比較 beginner card 2 heading"/>
          <p:cNvSpPr txBox="1"/>
          <p:nvPr/>
        </p:nvSpPr>
        <p:spPr>
          <a:xfrm>
            <a:off x="377647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② 執行命令</a:t>
            </a:r>
          </a:p>
        </p:txBody>
      </p:sp>
      <p:sp>
        <p:nvSpPr>
          <p:cNvPr id="11" name="先建立基準結果再比較 beginner card 2 body"/>
          <p:cNvSpPr txBox="1"/>
          <p:nvPr/>
        </p:nvSpPr>
        <p:spPr>
          <a:xfrm>
            <a:off x="379476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只跑 baseline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bash course.sh run --lab A --case baseline</a:t>
            </a:r>
          </a:p>
        </p:txBody>
      </p:sp>
      <p:sp>
        <p:nvSpPr>
          <p:cNvPr id="12" name="先建立基準結果再比較 beginner card 3"/>
          <p:cNvSpPr/>
          <p:nvPr/>
        </p:nvSpPr>
        <p:spPr>
          <a:xfrm>
            <a:off x="6419088" y="1664208"/>
            <a:ext cx="2505456" cy="23591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先建立基準結果再比較 beginner card 3 heading"/>
          <p:cNvSpPr txBox="1"/>
          <p:nvPr/>
        </p:nvSpPr>
        <p:spPr>
          <a:xfrm>
            <a:off x="656539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③ 產生結果</a:t>
            </a:r>
          </a:p>
        </p:txBody>
      </p:sp>
      <p:sp>
        <p:nvSpPr>
          <p:cNvPr id="14" name="先建立基準結果再比較 beginner card 3 body"/>
          <p:cNvSpPr txBox="1"/>
          <p:nvPr/>
        </p:nvSpPr>
        <p:spPr>
          <a:xfrm>
            <a:off x="6583679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兩個 JSON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result.json／endpoint-replay.json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原始程式不回寫</a:t>
            </a:r>
          </a:p>
        </p:txBody>
      </p:sp>
      <p:sp>
        <p:nvSpPr>
          <p:cNvPr id="15" name="先建立基準結果再比較 beginner card 4"/>
          <p:cNvSpPr/>
          <p:nvPr/>
        </p:nvSpPr>
        <p:spPr>
          <a:xfrm>
            <a:off x="9208008" y="1664208"/>
            <a:ext cx="2505456" cy="23591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先建立基準結果再比較 beginner card 4 heading"/>
          <p:cNvSpPr txBox="1"/>
          <p:nvPr/>
        </p:nvSpPr>
        <p:spPr>
          <a:xfrm>
            <a:off x="9354312" y="1847088"/>
            <a:ext cx="2212848" cy="530352"/>
          </a:xfrm>
          <a:prstGeom prst="rect">
            <a:avLst/>
          </a:prstGeom>
          <a:noFill/>
        </p:spPr>
        <p:txBody>
          <a:bodyPr wrap="square" anchor="ctr" lIns="27432" tIns="9144" rIns="27432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④ 下一步／看什麼</a:t>
            </a:r>
          </a:p>
        </p:txBody>
      </p:sp>
      <p:sp>
        <p:nvSpPr>
          <p:cNvPr id="17" name="先建立基準結果再比較 beginner card 4 body"/>
          <p:cNvSpPr txBox="1"/>
          <p:nvPr/>
        </p:nvSpPr>
        <p:spPr>
          <a:xfrm>
            <a:off x="9372600" y="2560320"/>
            <a:ext cx="2176272" cy="1280160"/>
          </a:xfrm>
          <a:prstGeom prst="rect">
            <a:avLst/>
          </a:prstGeom>
          <a:noFill/>
        </p:spPr>
        <p:txBody>
          <a:bodyPr wrap="square" anchor="ctr" lIns="45720" tIns="9144" rIns="45720" bIns="9144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確認 </a:t>
            </a:r>
            <a:r>
              <a:rPr sz="16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status: OK</a:t>
            </a: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、路徑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先 service，再成本</a:t>
            </a:r>
          </a:p>
        </p:txBody>
      </p:sp>
      <p:sp>
        <p:nvSpPr>
          <p:cNvPr id="18" name="先建立基準結果再比較 beginner causal strip"/>
          <p:cNvSpPr/>
          <p:nvPr/>
        </p:nvSpPr>
        <p:spPr>
          <a:xfrm>
            <a:off x="1133856" y="4224528"/>
            <a:ext cx="9948672" cy="5303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rIns="109728" bIns="36576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先保存基準，再凍結規則，最後比較候選；結果不能回頭改 block</a:t>
            </a:r>
          </a:p>
        </p:txBody>
      </p:sp>
      <p:sp>
        <p:nvSpPr>
          <p:cNvPr id="19" name="Field contract result_path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7432" rIns="164592" bIns="27432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（結果檔路徑）｜來源：命令輸出｜作用：定位 result.json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單位：路徑文字｜判讀：網站只匯入 result.json；endpoint replay 只做配對，runner 不是網站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無線狀態與停留時間（Radio state）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策略動作 </a:t>
            </a:r>
            <a:r>
              <a:rPr sz="24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只記一次；狀態停留區間 </a:t>
            </a:r>
            <a:r>
              <a:rPr sz="24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state interval</a:t>
            </a: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才留下時間與能量證據</a:t>
            </a:r>
          </a:p>
        </p:txBody>
      </p:sp>
      <p:sp>
        <p:nvSpPr>
          <p:cNvPr id="4" name="Radio state group 1"/>
          <p:cNvSpPr/>
          <p:nvPr/>
        </p:nvSpPr>
        <p:spPr>
          <a:xfrm>
            <a:off x="868680" y="1481328"/>
            <a:ext cx="3246120" cy="22128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adio state group 1 heading"/>
          <p:cNvSpPr txBox="1"/>
          <p:nvPr/>
        </p:nvSpPr>
        <p:spPr>
          <a:xfrm>
            <a:off x="960120" y="1591056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低功耗休息／清醒閒置</a:t>
            </a:r>
          </a:p>
        </p:txBody>
      </p:sp>
      <p:sp>
        <p:nvSpPr>
          <p:cNvPr id="6" name="Radio state group 1 body"/>
          <p:cNvSpPr txBox="1"/>
          <p:nvPr/>
        </p:nvSpPr>
        <p:spPr>
          <a:xfrm>
            <a:off x="996695" y="2011680"/>
            <a:ext cx="2990087" cy="15727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：窗口關閉／空檔，功率低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：保持清醒，累積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awake_idle</a:t>
            </a:r>
          </a:p>
        </p:txBody>
      </p:sp>
      <p:sp>
        <p:nvSpPr>
          <p:cNvPr id="7" name="State causal connector"/>
          <p:cNvSpPr/>
          <p:nvPr/>
        </p:nvSpPr>
        <p:spPr>
          <a:xfrm>
            <a:off x="4215384" y="2286000"/>
            <a:ext cx="274320" cy="365760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adio state group 2"/>
          <p:cNvSpPr/>
          <p:nvPr/>
        </p:nvSpPr>
        <p:spPr>
          <a:xfrm>
            <a:off x="4471416" y="1481328"/>
            <a:ext cx="3246120" cy="221284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adio state group 2 heading"/>
          <p:cNvSpPr txBox="1"/>
          <p:nvPr/>
        </p:nvSpPr>
        <p:spPr>
          <a:xfrm>
            <a:off x="4562855" y="1591056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喚醒轉換／封包處理</a:t>
            </a:r>
          </a:p>
        </p:txBody>
      </p:sp>
      <p:sp>
        <p:nvSpPr>
          <p:cNvPr id="10" name="Radio state group 2 body"/>
          <p:cNvSpPr txBox="1"/>
          <p:nvPr/>
        </p:nvSpPr>
        <p:spPr>
          <a:xfrm>
            <a:off x="4599431" y="2011680"/>
            <a:ext cx="2990087" cy="15727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：喚醒成本與延遲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PROCESS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：封包處理區間</a:t>
            </a:r>
          </a:p>
        </p:txBody>
      </p:sp>
      <p:sp>
        <p:nvSpPr>
          <p:cNvPr id="11" name="State causal connector"/>
          <p:cNvSpPr/>
          <p:nvPr/>
        </p:nvSpPr>
        <p:spPr>
          <a:xfrm>
            <a:off x="7818120" y="2286000"/>
            <a:ext cx="274320" cy="365760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adio state group 3"/>
          <p:cNvSpPr/>
          <p:nvPr/>
        </p:nvSpPr>
        <p:spPr>
          <a:xfrm>
            <a:off x="8074152" y="1481328"/>
            <a:ext cx="3246120" cy="221284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adio state group 3 heading"/>
          <p:cNvSpPr txBox="1"/>
          <p:nvPr/>
        </p:nvSpPr>
        <p:spPr>
          <a:xfrm>
            <a:off x="8165592" y="1591056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發射／接收</a:t>
            </a:r>
          </a:p>
        </p:txBody>
      </p:sp>
      <p:sp>
        <p:nvSpPr>
          <p:cNvPr id="14" name="Radio state group 3 body"/>
          <p:cNvSpPr txBox="1"/>
          <p:nvPr/>
        </p:nvSpPr>
        <p:spPr>
          <a:xfrm>
            <a:off x="8202168" y="2011680"/>
            <a:ext cx="2990087" cy="15727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TX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：發射區間；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RX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：接收區間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停留或功率越高，累積 J 越多</a:t>
            </a:r>
          </a:p>
        </p:txBody>
      </p:sp>
      <p:sp>
        <p:nvSpPr>
          <p:cNvPr id="15" name="State causal chain"/>
          <p:cNvSpPr/>
          <p:nvPr/>
        </p:nvSpPr>
        <p:spPr>
          <a:xfrm>
            <a:off x="932688" y="3913632"/>
            <a:ext cx="4882896" cy="822960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25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完整讀法：動作 </a:t>
            </a:r>
            <a:r>
              <a:rPr sz="18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→ 狀態區間 </a:t>
            </a:r>
            <a:r>
              <a:rPr sz="18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state interval</a:t>
            </a: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→ 能量分桶 </a:t>
            </a:r>
            <a:r>
              <a:rPr sz="18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energy bucket</a:t>
            </a:r>
          </a:p>
        </p:txBody>
      </p:sp>
      <p:sp>
        <p:nvSpPr>
          <p:cNvPr id="16" name="State interpretation"/>
          <p:cNvSpPr/>
          <p:nvPr/>
        </p:nvSpPr>
        <p:spPr>
          <a:xfrm>
            <a:off x="6364224" y="3913632"/>
            <a:ext cx="4882896" cy="822960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同一個動作只標記一次；停留秒數 </a:t>
            </a:r>
            <a:r>
              <a:rPr sz="18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duration</a:t>
            </a: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才形成 J</a:t>
            </a:r>
          </a:p>
        </p:txBody>
      </p:sp>
      <p:sp>
        <p:nvSpPr>
          <p:cNvPr id="17" name="Field contract radio_state"/>
          <p:cNvSpPr/>
          <p:nvPr/>
        </p:nvSpPr>
        <p:spPr>
          <a:xfrm>
            <a:off x="749808" y="5157216"/>
            <a:ext cx="10716768" cy="658368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8288" rIns="146304" bIns="18288"/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無線狀態 </a:t>
            </a: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radio_state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（欄位）｜來源：runner events｜作用：標記停留區間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單位：state＋s｜判讀：對回 energy bucket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空檔策略的服務與能量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固定工作與服務窗口，只改一個空檔策略值，檢驗它如何改變狀態、服務與 J</a:t>
            </a:r>
          </a:p>
        </p:txBody>
      </p:sp>
      <p:sp>
        <p:nvSpPr>
          <p:cNvPr id="4" name="Lab A purpose card 1"/>
          <p:cNvSpPr/>
          <p:nvPr/>
        </p:nvSpPr>
        <p:spPr>
          <a:xfrm>
            <a:off x="868680" y="1463040"/>
            <a:ext cx="3246120" cy="2231136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ab A purpose card 1 heading"/>
          <p:cNvSpPr txBox="1"/>
          <p:nvPr/>
        </p:nvSpPr>
        <p:spPr>
          <a:xfrm>
            <a:off x="960120" y="1572768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為何做</a:t>
            </a:r>
          </a:p>
        </p:txBody>
      </p:sp>
      <p:sp>
        <p:nvSpPr>
          <p:cNvPr id="6" name="Lab A purpose card 1 body"/>
          <p:cNvSpPr txBox="1"/>
          <p:nvPr/>
        </p:nvSpPr>
        <p:spPr>
          <a:xfrm>
            <a:off x="996695" y="1993392"/>
            <a:ext cx="2990087" cy="159105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同一份工作與窗口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檢驗空檔策略是否改變服務與 J</a:t>
            </a:r>
          </a:p>
        </p:txBody>
      </p:sp>
      <p:sp>
        <p:nvSpPr>
          <p:cNvPr id="7" name="Lab A causal connector"/>
          <p:cNvSpPr/>
          <p:nvPr/>
        </p:nvSpPr>
        <p:spPr>
          <a:xfrm>
            <a:off x="4215384" y="2267712"/>
            <a:ext cx="274320" cy="365760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ab A purpose card 2"/>
          <p:cNvSpPr/>
          <p:nvPr/>
        </p:nvSpPr>
        <p:spPr>
          <a:xfrm>
            <a:off x="4471416" y="1463040"/>
            <a:ext cx="3246120" cy="2231136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ab A purpose card 2 heading"/>
          <p:cNvSpPr txBox="1"/>
          <p:nvPr/>
        </p:nvSpPr>
        <p:spPr>
          <a:xfrm>
            <a:off x="4562855" y="1572768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機制：休息／閒置</a:t>
            </a:r>
          </a:p>
        </p:txBody>
      </p:sp>
      <p:sp>
        <p:nvSpPr>
          <p:cNvPr id="10" name="Lab A purpose card 2 body"/>
          <p:cNvSpPr txBox="1"/>
          <p:nvPr/>
        </p:nvSpPr>
        <p:spPr>
          <a:xfrm>
            <a:off x="4599431" y="1993392"/>
            <a:ext cx="2990087" cy="159105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：低功耗，可能付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WAKE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：清醒閒置，可能少喚醒</a:t>
            </a:r>
          </a:p>
        </p:txBody>
      </p:sp>
      <p:sp>
        <p:nvSpPr>
          <p:cNvPr id="11" name="Lab A causal connector"/>
          <p:cNvSpPr/>
          <p:nvPr/>
        </p:nvSpPr>
        <p:spPr>
          <a:xfrm>
            <a:off x="7818120" y="2267712"/>
            <a:ext cx="274320" cy="365760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ab A purpose card 3"/>
          <p:cNvSpPr/>
          <p:nvPr/>
        </p:nvSpPr>
        <p:spPr>
          <a:xfrm>
            <a:off x="8074152" y="1463040"/>
            <a:ext cx="3246120" cy="2231136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ab A purpose card 3 heading"/>
          <p:cNvSpPr txBox="1"/>
          <p:nvPr/>
        </p:nvSpPr>
        <p:spPr>
          <a:xfrm>
            <a:off x="8165592" y="1572768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判讀順序</a:t>
            </a:r>
          </a:p>
        </p:txBody>
      </p:sp>
      <p:sp>
        <p:nvSpPr>
          <p:cNvPr id="14" name="Lab A purpose card 3 body"/>
          <p:cNvSpPr txBox="1"/>
          <p:nvPr/>
        </p:nvSpPr>
        <p:spPr>
          <a:xfrm>
            <a:off x="8202168" y="1993392"/>
            <a:ext cx="2990087" cy="159105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先讀交付、期限、新鮮度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再讀端點 J；低 J 不等於成功</a:t>
            </a:r>
          </a:p>
        </p:txBody>
      </p:sp>
      <p:sp>
        <p:nvSpPr>
          <p:cNvPr id="15" name="Lab A baseline contract"/>
          <p:cNvSpPr/>
          <p:nvPr/>
        </p:nvSpPr>
        <p:spPr>
          <a:xfrm>
            <a:off x="932688" y="3767328"/>
            <a:ext cx="4882896" cy="120700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固定不變：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的 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PACE_GAP_STEPS=2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、scenario／seed／traffic／window、Lab B/C</a:t>
            </a:r>
          </a:p>
        </p:txBody>
      </p:sp>
      <p:sp>
        <p:nvSpPr>
          <p:cNvPr id="16" name="Lab A candidate contract"/>
          <p:cNvSpPr/>
          <p:nvPr/>
        </p:nvSpPr>
        <p:spPr>
          <a:xfrm>
            <a:off x="6364224" y="3767328"/>
            <a:ext cx="4882896" cy="120700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唯一變更：</a:t>
            </a:r>
            <a:r>
              <a:rPr sz="16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lab-a-pace-rest</a:t>
            </a: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6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REST_DURING_GAP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16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成功：</a:t>
            </a:r>
            <a:r>
              <a:rPr sz="16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status=OK</a:t>
            </a: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＋</a:t>
            </a:r>
            <a:r>
              <a:rPr sz="16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result_path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讀 </a:t>
            </a:r>
            <a:r>
              <a:rPr sz="16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＋</a:t>
            </a:r>
            <a:r>
              <a:rPr sz="16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順序：服務→封包→狀態→J</a:t>
            </a:r>
          </a:p>
        </p:txBody>
      </p:sp>
      <p:sp>
        <p:nvSpPr>
          <p:cNvPr id="17" name="Field contract service_pass"/>
          <p:cNvSpPr/>
          <p:nvPr/>
        </p:nvSpPr>
        <p:spPr>
          <a:xfrm>
            <a:off x="749808" y="5157216"/>
            <a:ext cx="10716768" cy="658368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8288" rIns="146304" bIns="18288"/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服務布林狀態 </a:t>
            </a: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（欄位）｜來源：result summary｜作用：required packet＋期限＋freshness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單位：true／false｜判讀：先判 service，再讀 J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封包生命週期：嘗試不等於交付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封包結果 </a:t>
            </a:r>
            <a:r>
              <a:rPr sz="24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packet outcome</a:t>
            </a: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要走完整生命週期；送出次數只是其中一段</a:t>
            </a:r>
          </a:p>
        </p:txBody>
      </p:sp>
      <p:sp>
        <p:nvSpPr>
          <p:cNvPr id="4" name="Packet lifecycle stage 1"/>
          <p:cNvSpPr/>
          <p:nvPr/>
        </p:nvSpPr>
        <p:spPr>
          <a:xfrm>
            <a:off x="868680" y="1481328"/>
            <a:ext cx="3246120" cy="22128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cket lifecycle stage 1 heading"/>
          <p:cNvSpPr txBox="1"/>
          <p:nvPr/>
        </p:nvSpPr>
        <p:spPr>
          <a:xfrm>
            <a:off x="960120" y="1591056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建立／排隊</a:t>
            </a:r>
          </a:p>
        </p:txBody>
      </p:sp>
      <p:sp>
        <p:nvSpPr>
          <p:cNvPr id="6" name="Packet lifecycle stage 1 body"/>
          <p:cNvSpPr txBox="1"/>
          <p:nvPr/>
        </p:nvSpPr>
        <p:spPr>
          <a:xfrm>
            <a:off x="996695" y="2011680"/>
            <a:ext cx="2990087" cy="15727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建立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generated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（已產生）封包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queue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（佇列）等待合法窗口</a:t>
            </a:r>
          </a:p>
        </p:txBody>
      </p:sp>
      <p:sp>
        <p:nvSpPr>
          <p:cNvPr id="7" name="Packet lifecycle connector"/>
          <p:cNvSpPr/>
          <p:nvPr/>
        </p:nvSpPr>
        <p:spPr>
          <a:xfrm>
            <a:off x="4215384" y="2286000"/>
            <a:ext cx="274320" cy="365760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cket lifecycle stage 2"/>
          <p:cNvSpPr/>
          <p:nvPr/>
        </p:nvSpPr>
        <p:spPr>
          <a:xfrm>
            <a:off x="4471416" y="1481328"/>
            <a:ext cx="3246120" cy="221284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cket lifecycle stage 2 heading"/>
          <p:cNvSpPr txBox="1"/>
          <p:nvPr/>
        </p:nvSpPr>
        <p:spPr>
          <a:xfrm>
            <a:off x="4562855" y="1591056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嘗試／重試</a:t>
            </a:r>
          </a:p>
        </p:txBody>
      </p:sp>
      <p:sp>
        <p:nvSpPr>
          <p:cNvPr id="10" name="Packet lifecycle stage 2 body"/>
          <p:cNvSpPr txBox="1"/>
          <p:nvPr/>
        </p:nvSpPr>
        <p:spPr>
          <a:xfrm>
            <a:off x="4599431" y="2011680"/>
            <a:ext cx="2990087" cy="15727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進入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attempt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（無線嘗試）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碰撞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collision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可能造成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retry</a:t>
            </a:r>
          </a:p>
        </p:txBody>
      </p:sp>
      <p:sp>
        <p:nvSpPr>
          <p:cNvPr id="11" name="Packet lifecycle connector"/>
          <p:cNvSpPr/>
          <p:nvPr/>
        </p:nvSpPr>
        <p:spPr>
          <a:xfrm>
            <a:off x="7818120" y="2286000"/>
            <a:ext cx="274320" cy="365760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cket lifecycle stage 3"/>
          <p:cNvSpPr/>
          <p:nvPr/>
        </p:nvSpPr>
        <p:spPr>
          <a:xfrm>
            <a:off x="8074152" y="1481328"/>
            <a:ext cx="3246120" cy="221284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acket lifecycle stage 3 heading"/>
          <p:cNvSpPr txBox="1"/>
          <p:nvPr/>
        </p:nvSpPr>
        <p:spPr>
          <a:xfrm>
            <a:off x="8165592" y="1591056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交付／服務</a:t>
            </a:r>
          </a:p>
        </p:txBody>
      </p:sp>
      <p:sp>
        <p:nvSpPr>
          <p:cNvPr id="14" name="Packet lifecycle stage 3 body"/>
          <p:cNvSpPr txBox="1"/>
          <p:nvPr/>
        </p:nvSpPr>
        <p:spPr>
          <a:xfrm>
            <a:off x="8202168" y="2011680"/>
            <a:ext cx="2990087" cy="15727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delivered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（已交付）或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expired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（過期）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再由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判定</a:t>
            </a:r>
          </a:p>
        </p:txBody>
      </p:sp>
      <p:sp>
        <p:nvSpPr>
          <p:cNvPr id="15" name="Packet transport fields"/>
          <p:cNvSpPr/>
          <p:nvPr/>
        </p:nvSpPr>
        <p:spPr>
          <a:xfrm>
            <a:off x="932688" y="3913632"/>
            <a:ext cx="4882896" cy="82296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傳輸欄位：嘗試 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attempted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、碰撞 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collision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、重傳 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retransmissions</a:t>
            </a:r>
          </a:p>
        </p:txBody>
      </p:sp>
      <p:sp>
        <p:nvSpPr>
          <p:cNvPr id="16" name="Packet outcome fields"/>
          <p:cNvSpPr/>
          <p:nvPr/>
        </p:nvSpPr>
        <p:spPr>
          <a:xfrm>
            <a:off x="6364224" y="3913632"/>
            <a:ext cx="4882896" cy="82296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結果欄位：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delivered_bits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expired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freshness</a:t>
            </a:r>
          </a:p>
        </p:txBody>
      </p:sp>
      <p:sp>
        <p:nvSpPr>
          <p:cNvPr id="17" name="Field contract attempted_packets"/>
          <p:cNvSpPr/>
          <p:nvPr/>
        </p:nvSpPr>
        <p:spPr>
          <a:xfrm>
            <a:off x="749808" y="5157216"/>
            <a:ext cx="10716768" cy="658368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8288" rIns="146304" bIns="18288"/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嘗試封包數 </a:t>
            </a: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attempted_packets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（欄位）｜來源：result summary｜作用：統計進入無線嘗試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單位：count｜判讀：對照 retry、expired、delivered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服務門檻先於端點能量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先固定同一比較邊界，再判定服務門檻 </a:t>
            </a:r>
            <a:r>
              <a:rPr sz="24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service gate</a:t>
            </a: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，最後讀端點能量 J</a:t>
            </a:r>
          </a:p>
        </p:txBody>
      </p:sp>
      <p:sp>
        <p:nvSpPr>
          <p:cNvPr id="4" name="Service ordering card 1"/>
          <p:cNvSpPr/>
          <p:nvPr/>
        </p:nvSpPr>
        <p:spPr>
          <a:xfrm>
            <a:off x="868680" y="1481328"/>
            <a:ext cx="3246120" cy="22128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ervice ordering card 1 heading"/>
          <p:cNvSpPr txBox="1"/>
          <p:nvPr/>
        </p:nvSpPr>
        <p:spPr>
          <a:xfrm>
            <a:off x="960120" y="1591056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1｜固定比較邊界</a:t>
            </a:r>
          </a:p>
        </p:txBody>
      </p:sp>
      <p:sp>
        <p:nvSpPr>
          <p:cNvPr id="6" name="Service ordering card 1 body"/>
          <p:cNvSpPr txBox="1"/>
          <p:nvPr/>
        </p:nvSpPr>
        <p:spPr>
          <a:xfrm>
            <a:off x="996695" y="2011680"/>
            <a:ext cx="2990087" cy="15727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情境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scenario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、種子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seed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、流量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traffic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、窗口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window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端點範圍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 scope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必須一致</a:t>
            </a:r>
          </a:p>
        </p:txBody>
      </p:sp>
      <p:sp>
        <p:nvSpPr>
          <p:cNvPr id="7" name="Service ordering connector"/>
          <p:cNvSpPr/>
          <p:nvPr/>
        </p:nvSpPr>
        <p:spPr>
          <a:xfrm>
            <a:off x="4215384" y="2267712"/>
            <a:ext cx="274320" cy="365760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ervice ordering card 2"/>
          <p:cNvSpPr/>
          <p:nvPr/>
        </p:nvSpPr>
        <p:spPr>
          <a:xfrm>
            <a:off x="4471416" y="1481328"/>
            <a:ext cx="3246120" cy="221284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ervice ordering card 2 heading"/>
          <p:cNvSpPr txBox="1"/>
          <p:nvPr/>
        </p:nvSpPr>
        <p:spPr>
          <a:xfrm>
            <a:off x="4562855" y="1591056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2｜服務門檻</a:t>
            </a:r>
          </a:p>
        </p:txBody>
      </p:sp>
      <p:sp>
        <p:nvSpPr>
          <p:cNvPr id="10" name="Service ordering card 2 body"/>
          <p:cNvSpPr txBox="1"/>
          <p:nvPr/>
        </p:nvSpPr>
        <p:spPr>
          <a:xfrm>
            <a:off x="4599431" y="2011680"/>
            <a:ext cx="2990087" cy="15727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交付位元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delivered_bits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、期限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deadline_pass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新鮮度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freshness_status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共同形成 gate</a:t>
            </a:r>
          </a:p>
        </p:txBody>
      </p:sp>
      <p:sp>
        <p:nvSpPr>
          <p:cNvPr id="11" name="Service ordering connector"/>
          <p:cNvSpPr/>
          <p:nvPr/>
        </p:nvSpPr>
        <p:spPr>
          <a:xfrm>
            <a:off x="7818120" y="2267712"/>
            <a:ext cx="274320" cy="365760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ervice ordering card 3"/>
          <p:cNvSpPr/>
          <p:nvPr/>
        </p:nvSpPr>
        <p:spPr>
          <a:xfrm>
            <a:off x="8074152" y="1481328"/>
            <a:ext cx="3246120" cy="221284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ervice ordering card 3 heading"/>
          <p:cNvSpPr txBox="1"/>
          <p:nvPr/>
        </p:nvSpPr>
        <p:spPr>
          <a:xfrm>
            <a:off x="8165592" y="1591056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3｜端點能量 J</a:t>
            </a:r>
          </a:p>
        </p:txBody>
      </p:sp>
      <p:sp>
        <p:nvSpPr>
          <p:cNvPr id="14" name="Service ordering card 3 body"/>
          <p:cNvSpPr txBox="1"/>
          <p:nvPr/>
        </p:nvSpPr>
        <p:spPr>
          <a:xfrm>
            <a:off x="8202168" y="2011680"/>
            <a:ext cx="2990087" cy="15727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欄位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來自整段 state ledger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單位 J；只在同一邊界內比較</a:t>
            </a:r>
          </a:p>
        </p:txBody>
      </p:sp>
      <p:sp>
        <p:nvSpPr>
          <p:cNvPr id="15" name="Service pass result"/>
          <p:cNvSpPr/>
          <p:nvPr/>
        </p:nvSpPr>
        <p:spPr>
          <a:xfrm>
            <a:off x="932688" y="3913632"/>
            <a:ext cx="4882896" cy="82296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服務通過 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service_pass=true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：才可在相同工作邊界內比較 J</a:t>
            </a:r>
          </a:p>
        </p:txBody>
      </p:sp>
      <p:sp>
        <p:nvSpPr>
          <p:cNvPr id="16" name="Service fail result"/>
          <p:cNvSpPr/>
          <p:nvPr/>
        </p:nvSpPr>
        <p:spPr>
          <a:xfrm>
            <a:off x="6364224" y="3913632"/>
            <a:ext cx="4882896" cy="822960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服務未通過 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service_pass=false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：J 只描述能量／服務取捨</a:t>
            </a:r>
          </a:p>
        </p:txBody>
      </p:sp>
      <p:sp>
        <p:nvSpPr>
          <p:cNvPr id="17" name="Field contract freshness_status"/>
          <p:cNvSpPr/>
          <p:nvPr/>
        </p:nvSpPr>
        <p:spPr>
          <a:xfrm>
            <a:off x="749808" y="5157216"/>
            <a:ext cx="10716768" cy="658368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8288" rIns="146304" bIns="18288"/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新鮮度狀態 </a:t>
            </a: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freshness_status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（欄位）｜來源：result summary｜作用：required packet 是否新鮮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單位：fresh／stale／expired／N/A｜判讀：與 deadline、delivery 決定 gate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功率 W × 時間 s 形成能量 J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同一個功率值，停留時間不同就會留下不同的端點能量</a:t>
            </a:r>
          </a:p>
        </p:txBody>
      </p:sp>
      <p:sp>
        <p:nvSpPr>
          <p:cNvPr id="4" name="Power definition card"/>
          <p:cNvSpPr/>
          <p:nvPr/>
        </p:nvSpPr>
        <p:spPr>
          <a:xfrm>
            <a:off x="868680" y="1481328"/>
            <a:ext cx="2834640" cy="226771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ower definition card heading"/>
          <p:cNvSpPr txBox="1"/>
          <p:nvPr/>
        </p:nvSpPr>
        <p:spPr>
          <a:xfrm>
            <a:off x="960120" y="1591056"/>
            <a:ext cx="2651760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功率 </a:t>
            </a:r>
            <a:r>
              <a:rPr sz="2300" b="1" i="1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P</a:t>
            </a:r>
          </a:p>
        </p:txBody>
      </p:sp>
      <p:sp>
        <p:nvSpPr>
          <p:cNvPr id="6" name="Power definition card body"/>
          <p:cNvSpPr txBox="1"/>
          <p:nvPr/>
        </p:nvSpPr>
        <p:spPr>
          <a:xfrm>
            <a:off x="996695" y="2011680"/>
            <a:ext cx="2578608" cy="162763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某個狀態當下的高度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單位：W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例如 </a:t>
            </a: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awake_idle</a:t>
            </a: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tx</a:t>
            </a:r>
          </a:p>
        </p:txBody>
      </p:sp>
      <p:sp>
        <p:nvSpPr>
          <p:cNvPr id="7" name="Power interval chart"/>
          <p:cNvSpPr/>
          <p:nvPr/>
        </p:nvSpPr>
        <p:spPr>
          <a:xfrm>
            <a:off x="3977639" y="1481328"/>
            <a:ext cx="3822191" cy="2267712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ower chart heading"/>
          <p:cNvSpPr txBox="1"/>
          <p:nvPr/>
        </p:nvSpPr>
        <p:spPr>
          <a:xfrm>
            <a:off x="4169663" y="1645920"/>
            <a:ext cx="3438144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不同狀態的功率高度</a:t>
            </a:r>
          </a:p>
        </p:txBody>
      </p:sp>
      <p:sp>
        <p:nvSpPr>
          <p:cNvPr id="9" name="Sleep power bar"/>
          <p:cNvSpPr/>
          <p:nvPr/>
        </p:nvSpPr>
        <p:spPr>
          <a:xfrm>
            <a:off x="4443984" y="2770632"/>
            <a:ext cx="658368" cy="566928"/>
          </a:xfrm>
          <a:prstGeom prst="rect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Wake power bar"/>
          <p:cNvSpPr/>
          <p:nvPr/>
        </p:nvSpPr>
        <p:spPr>
          <a:xfrm>
            <a:off x="5285232" y="2350008"/>
            <a:ext cx="658368" cy="987552"/>
          </a:xfrm>
          <a:prstGeom prst="rect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rocess power bar"/>
          <p:cNvSpPr/>
          <p:nvPr/>
        </p:nvSpPr>
        <p:spPr>
          <a:xfrm>
            <a:off x="6126480" y="2103120"/>
            <a:ext cx="658368" cy="1234440"/>
          </a:xfrm>
          <a:prstGeom prst="rect">
            <a:avLst/>
          </a:prstGeom>
          <a:solidFill>
            <a:srgbClr val="66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x power bar"/>
          <p:cNvSpPr/>
          <p:nvPr/>
        </p:nvSpPr>
        <p:spPr>
          <a:xfrm>
            <a:off x="6967728" y="1938528"/>
            <a:ext cx="658368" cy="1399032"/>
          </a:xfrm>
          <a:prstGeom prst="rect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ower chart labels"/>
          <p:cNvSpPr txBox="1"/>
          <p:nvPr/>
        </p:nvSpPr>
        <p:spPr>
          <a:xfrm>
            <a:off x="4187952" y="3310128"/>
            <a:ext cx="3401568" cy="36576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休息 </a:t>
            </a:r>
            <a:r>
              <a:rPr sz="1600" b="0" i="1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｜喚醒 </a:t>
            </a:r>
            <a:r>
              <a:rPr sz="1600" b="0" i="1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wake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處理 </a:t>
            </a:r>
            <a:r>
              <a:rPr sz="1600" b="0" i="1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process</a:t>
            </a: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｜發射 </a:t>
            </a:r>
            <a:r>
              <a:rPr sz="1600" b="0" i="1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tx</a:t>
            </a:r>
          </a:p>
        </p:txBody>
      </p:sp>
      <p:sp>
        <p:nvSpPr>
          <p:cNvPr id="14" name="Power time connector"/>
          <p:cNvSpPr/>
          <p:nvPr/>
        </p:nvSpPr>
        <p:spPr>
          <a:xfrm>
            <a:off x="8028431" y="2322576"/>
            <a:ext cx="274320" cy="365760"/>
          </a:xfrm>
          <a:prstGeom prst="chevron">
            <a:avLst/>
          </a:prstGeom>
          <a:solidFill>
            <a:srgbClr val="25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me definition card"/>
          <p:cNvSpPr/>
          <p:nvPr/>
        </p:nvSpPr>
        <p:spPr>
          <a:xfrm>
            <a:off x="8458200" y="1481328"/>
            <a:ext cx="2834640" cy="226771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me definition card heading"/>
          <p:cNvSpPr txBox="1"/>
          <p:nvPr/>
        </p:nvSpPr>
        <p:spPr>
          <a:xfrm>
            <a:off x="8549640" y="1591056"/>
            <a:ext cx="2651760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時間 </a:t>
            </a:r>
            <a:r>
              <a:rPr sz="2300" b="1" i="1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t</a:t>
            </a:r>
          </a:p>
        </p:txBody>
      </p:sp>
      <p:sp>
        <p:nvSpPr>
          <p:cNvPr id="17" name="Time definition card body"/>
          <p:cNvSpPr txBox="1"/>
          <p:nvPr/>
        </p:nvSpPr>
        <p:spPr>
          <a:xfrm>
            <a:off x="8586216" y="2011680"/>
            <a:ext cx="2578608" cy="162763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狀態區間 </a:t>
            </a: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state interval</a:t>
            </a: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的長度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單位：s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 × t = J</a:t>
            </a:r>
          </a:p>
        </p:txBody>
      </p:sp>
      <p:sp>
        <p:nvSpPr>
          <p:cNvPr id="18" name="Energy bucket rule"/>
          <p:cNvSpPr/>
          <p:nvPr/>
        </p:nvSpPr>
        <p:spPr>
          <a:xfrm>
            <a:off x="932688" y="3968496"/>
            <a:ext cx="4882896" cy="78638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能量分桶 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bucket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分開累積：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awake_idle／sleep／wake／process／tx／rx</a:t>
            </a:r>
          </a:p>
        </p:txBody>
      </p:sp>
      <p:sp>
        <p:nvSpPr>
          <p:cNvPr id="19" name="Clock energy rule"/>
          <p:cNvSpPr/>
          <p:nvPr/>
        </p:nvSpPr>
        <p:spPr>
          <a:xfrm>
            <a:off x="6364224" y="3968496"/>
            <a:ext cx="4882896" cy="786384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固定 10 s 時鐘步長 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clock step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；收發流程另加入轉換能量</a:t>
            </a:r>
          </a:p>
        </p:txBody>
      </p:sp>
      <p:sp>
        <p:nvSpPr>
          <p:cNvPr id="20" name="Field contract energy_breakdown_j"/>
          <p:cNvSpPr/>
          <p:nvPr/>
        </p:nvSpPr>
        <p:spPr>
          <a:xfrm>
            <a:off x="749808" y="5157216"/>
            <a:ext cx="10716768" cy="658368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8288" rIns="146304" bIns="18288"/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能量分桶 </a:t>
            </a: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energy_breakdown_j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（欄位）｜來源：result artifact｜作用：按 state 保存 J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單位：J／bucket｜判讀：拆回 state interval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a14="http://schemas.microsoft.com/office/drawing/2010/main" xmlns:m="http://schemas.openxmlformats.org/officeDocument/2006/math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端點能量的累積公式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公式說明端點狀態如何累積；結果產物 </a:t>
            </a:r>
            <a:r>
              <a:rPr sz="24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artifact</a:t>
            </a: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提供這次執行的數值</a:t>
            </a:r>
          </a:p>
        </p:txBody>
      </p:sp>
      <p:sp>
        <p:nvSpPr>
          <p:cNvPr id="4" name="Formula power input"/>
          <p:cNvSpPr/>
          <p:nvPr/>
        </p:nvSpPr>
        <p:spPr>
          <a:xfrm>
            <a:off x="868680" y="1481328"/>
            <a:ext cx="2834640" cy="22128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rmula power input heading"/>
          <p:cNvSpPr txBox="1"/>
          <p:nvPr/>
        </p:nvSpPr>
        <p:spPr>
          <a:xfrm>
            <a:off x="960120" y="1591056"/>
            <a:ext cx="2651760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狀態功率 </a:t>
            </a:r>
            <a:r>
              <a:rPr sz="2300" b="1" i="1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P_s</a:t>
            </a:r>
          </a:p>
        </p:txBody>
      </p:sp>
      <p:sp>
        <p:nvSpPr>
          <p:cNvPr id="6" name="Formula power input body"/>
          <p:cNvSpPr txBox="1"/>
          <p:nvPr/>
        </p:nvSpPr>
        <p:spPr>
          <a:xfrm>
            <a:off x="996695" y="2011680"/>
            <a:ext cx="2578608" cy="15727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某個狀態的功率高度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單位：W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來源：energy profile</a:t>
            </a:r>
          </a:p>
        </p:txBody>
      </p:sp>
      <p:sp>
        <p:nvSpPr>
          <p:cNvPr id="7" name="Endpoint formula frame"/>
          <p:cNvSpPr/>
          <p:nvPr/>
        </p:nvSpPr>
        <p:spPr>
          <a:xfrm>
            <a:off x="3986784" y="1481328"/>
            <a:ext cx="4206240" cy="2212848"/>
          </a:xfrm>
          <a:prstGeom prst="roundRect">
            <a:avLst/>
          </a:prstGeom>
          <a:solidFill>
            <a:srgbClr val="F7F8FC"/>
          </a:solidFill>
          <a:ln w="2032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endpoint formula"/>
          <p:cNvSpPr txBox="1"/>
          <p:nvPr/>
        </p:nvSpPr>
        <p:spPr>
          <a:xfrm>
            <a:off x="4187952" y="1920240"/>
            <a:ext cx="3803904" cy="64008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端點能量 </a:t>
            </a:r>
            <a:r>
              <a:rPr sz="22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E_endpoint</a:t>
            </a:r>
            <a:r>
              <a:rPr sz="22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= Σ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P_s</a:t>
            </a:r>
            <a:r>
              <a:rPr sz="22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× </a:t>
            </a:r>
            <a:r>
              <a:rPr sz="22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t_s</a:t>
            </a:r>
          </a:p>
        </p:txBody>
      </p:sp>
      <p:sp>
        <p:nvSpPr>
          <p:cNvPr id="9" name="Endpoint formula unit"/>
          <p:cNvSpPr txBox="1"/>
          <p:nvPr/>
        </p:nvSpPr>
        <p:spPr>
          <a:xfrm>
            <a:off x="4224528" y="2871216"/>
            <a:ext cx="3730752" cy="25603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分段累積｜單位：J</a:t>
            </a:r>
          </a:p>
        </p:txBody>
      </p:sp>
      <p:sp>
        <p:nvSpPr>
          <p:cNvPr id="10" name="Formula time input"/>
          <p:cNvSpPr/>
          <p:nvPr/>
        </p:nvSpPr>
        <p:spPr>
          <a:xfrm>
            <a:off x="8476488" y="1481328"/>
            <a:ext cx="2834640" cy="221284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ormula time input heading"/>
          <p:cNvSpPr txBox="1"/>
          <p:nvPr/>
        </p:nvSpPr>
        <p:spPr>
          <a:xfrm>
            <a:off x="8567928" y="1591056"/>
            <a:ext cx="2651760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停留時間 </a:t>
            </a:r>
            <a:r>
              <a:rPr sz="2300" b="1" i="1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t_s</a:t>
            </a:r>
          </a:p>
        </p:txBody>
      </p:sp>
      <p:sp>
        <p:nvSpPr>
          <p:cNvPr id="12" name="Formula time input body"/>
          <p:cNvSpPr txBox="1"/>
          <p:nvPr/>
        </p:nvSpPr>
        <p:spPr>
          <a:xfrm>
            <a:off x="8604504" y="2011680"/>
            <a:ext cx="2578608" cy="15727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狀態區間 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state interval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單位：s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來源：</a:t>
            </a:r>
            <a:r>
              <a:rPr sz="18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STATE_INTERVAL</a:t>
            </a: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事件</a:t>
            </a:r>
          </a:p>
        </p:txBody>
      </p:sp>
      <p:sp>
        <p:nvSpPr>
          <p:cNvPr id="13" name="Endpoint scope boundary"/>
          <p:cNvSpPr/>
          <p:nvPr/>
        </p:nvSpPr>
        <p:spPr>
          <a:xfrm>
            <a:off x="932688" y="3913632"/>
            <a:ext cx="4882896" cy="80467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端點範圍 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endpoint scope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：宣告的 radio／processing 狀態與轉換</a:t>
            </a:r>
          </a:p>
        </p:txBody>
      </p:sp>
      <p:sp>
        <p:nvSpPr>
          <p:cNvPr id="14" name="Endpoint exclusion boundary"/>
          <p:cNvSpPr/>
          <p:nvPr/>
        </p:nvSpPr>
        <p:spPr>
          <a:xfrm>
            <a:off x="6364224" y="3913632"/>
            <a:ext cx="4882896" cy="804672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不包含衛星 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satellite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、閘道 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gateway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、整體插座 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wall-plug</a:t>
            </a:r>
          </a:p>
        </p:txBody>
      </p:sp>
      <p:sp>
        <p:nvSpPr>
          <p:cNvPr id="15" name="Field contract endpoint_energy_j"/>
          <p:cNvSpPr/>
          <p:nvPr/>
        </p:nvSpPr>
        <p:spPr>
          <a:xfrm>
            <a:off x="749808" y="5157216"/>
            <a:ext cx="10716768" cy="658368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8288" rIns="146304" bIns="18288"/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端點能量 </a:t>
            </a: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（欄位）｜來源：result summary｜作用：同一 endpoint boundary 的總和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單位：J｜判讀：對照 energy bucket</a:t>
            </a:r>
          </a:p>
        </p:txBody>
      </p:sp>
      <p:sp>
        <p:nvSpPr>
          <p:cNvPr id="16" name="Native Office Math endpoint" title="endpoint" descr="endpoint"/>
          <p:cNvSpPr hidden="1">
            <a:spLocks noGrp="1"/>
          </p:cNvSpPr>
          <p:nvPr/>
        </p:nvSpPr>
        <p:spPr>
          <a:xfrm>
            <a:off x="0" y="0"/>
            <a:ext cx="1" cy="1"/>
          </a:xfrm>
          <a:noFill/>
          <a:ln>
            <a:noFill/>
          </a:ln>
        </p:spPr>
        <p:txBody>
          <a:bodyPr anchor="ctr" wrap="none"/>
          <a:lstStyle/>
          <a:p>
            <a:pPr algn="ctr"/>
            <a14:m>
              <m:oMathPara>
                <m:oMath>
                  <m:sSub>
                    <m:sSubPr/>
                    <m:e>
                      <m:r>
                        <a:rPr lang="en-US" altLang="en-US" sz="3000" dirty="0" i="1">
                          <a:latin typeface="Cambria Math"/>
                        </a:rPr>
                        <m:t>E</m:t>
                      </m:r>
                    </m:e>
                    <m:e>
                      <m:r>
                        <a:rPr lang="en-US" altLang="en-US" sz="3000" dirty="0">
                          <a:latin typeface="Cambria Math"/>
                        </a:rPr>
                        <m:t>endpoint</m:t>
                      </m:r>
                    </m:e>
                  </m:sSub>
                  <m:r>
                    <a:rPr lang="en-US" altLang="en-US" sz="3000" dirty="0">
                      <a:latin typeface="Cambria Math"/>
                    </a:rPr>
                    <m:t> = </m:t>
                  </m:r>
                  <m:nary>
                    <m:naryPr>
                      <m:chr m:val="∑"/>
                      <m:limLoc m:val="undOvr"/>
                      <m:grow m:val="1"/>
                    </m:naryPr>
                    <m:sub>
                      <m:r>
                        <a:rPr lang="en-US" altLang="en-US" sz="3000" dirty="0" i="1">
                          <a:latin typeface="Cambria Math"/>
                        </a:rPr>
                        <m:t>s</m:t>
                      </m:r>
                      <m:r>
                        <a:rPr lang="en-US" altLang="en-US" sz="3000" dirty="0">
                          <a:latin typeface="Cambria Math"/>
                        </a:rPr>
                        <m:t> ∈ </m:t>
                      </m:r>
                      <m:r>
                        <a:rPr lang="en-US" altLang="en-US" sz="3000" dirty="0" i="1">
                          <a:latin typeface="Cambria Math"/>
                        </a:rPr>
                        <m:t>S</m:t>
                      </m:r>
                    </m:sub>
                    <m:sup/>
                    <m:e>
                      <m:sSub>
                        <m:sSubPr/>
                        <m:e>
                          <m:r>
                            <a:rPr lang="en-US" altLang="en-US" sz="3000" dirty="0" i="1">
                              <a:latin typeface="Cambria Math"/>
                            </a:rPr>
                            <m:t>P</m:t>
                          </m:r>
                        </m:e>
                        <m:e>
                          <m:r>
                            <a:rPr lang="en-US" altLang="en-US" sz="3000" dirty="0">
                              <a:latin typeface="Cambria Math"/>
                            </a:rPr>
                            <m:t>s</m:t>
                          </m:r>
                        </m:e>
                      </m:sSub>
                      <m:r>
                        <a:rPr lang="en-US" altLang="en-US" sz="3000" dirty="0">
                          <a:latin typeface="Cambria Math"/>
                        </a:rPr>
                        <m:t> </m:t>
                      </m:r>
                      <m:sSub>
                        <m:sSubPr/>
                        <m:e>
                          <m:r>
                            <a:rPr lang="en-US" altLang="en-US" sz="3000" dirty="0" i="1">
                              <a:latin typeface="Cambria Math"/>
                            </a:rPr>
                            <m:t>t</m:t>
                          </m:r>
                        </m:e>
                        <m:e>
                          <m:r>
                            <a:rPr lang="en-US" altLang="en-US" sz="3000" dirty="0">
                              <a:latin typeface="Cambria Math"/>
                            </a:rPr>
                            <m:t>s</m:t>
                          </m:r>
                        </m:e>
                      </m:sSub>
                    </m:e>
                  </m:nary>
                </m:oMath>
              </m:oMathPara>
            </a14:m>
            <a:endParaRPr lang="en-US" sz="3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a14="http://schemas.microsoft.com/office/drawing/2010/main" xmlns:m="http://schemas.openxmlformats.org/officeDocument/2006/math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端點能量效率的 bit/J 邊界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bit/J 是同一端點範圍內的效率比值；服務門檻仍獨立判定</a:t>
            </a:r>
          </a:p>
        </p:txBody>
      </p:sp>
      <p:sp>
        <p:nvSpPr>
          <p:cNvPr id="4" name="Delivered numerator card"/>
          <p:cNvSpPr/>
          <p:nvPr/>
        </p:nvSpPr>
        <p:spPr>
          <a:xfrm>
            <a:off x="868680" y="1481328"/>
            <a:ext cx="2834640" cy="210312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livered numerator card heading"/>
          <p:cNvSpPr txBox="1"/>
          <p:nvPr/>
        </p:nvSpPr>
        <p:spPr>
          <a:xfrm>
            <a:off x="960120" y="1591056"/>
            <a:ext cx="2651760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交付資料 </a:t>
            </a:r>
            <a:r>
              <a:rPr sz="2100" b="1" i="1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D_delivered</a:t>
            </a:r>
          </a:p>
        </p:txBody>
      </p:sp>
      <p:sp>
        <p:nvSpPr>
          <p:cNvPr id="6" name="Delivered numerator card body"/>
          <p:cNvSpPr txBox="1"/>
          <p:nvPr/>
        </p:nvSpPr>
        <p:spPr>
          <a:xfrm>
            <a:off x="996695" y="2011680"/>
            <a:ext cx="2578608" cy="1463039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實際交付的資料量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單位：bit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來源：結果摘要</a:t>
            </a:r>
          </a:p>
        </p:txBody>
      </p:sp>
      <p:sp>
        <p:nvSpPr>
          <p:cNvPr id="7" name="Efficiency formula frame"/>
          <p:cNvSpPr/>
          <p:nvPr/>
        </p:nvSpPr>
        <p:spPr>
          <a:xfrm>
            <a:off x="3886200" y="1481328"/>
            <a:ext cx="4069080" cy="2103120"/>
          </a:xfrm>
          <a:prstGeom prst="roundRect">
            <a:avLst/>
          </a:prstGeom>
          <a:solidFill>
            <a:srgbClr val="F7F8FC"/>
          </a:solidFill>
          <a:ln w="2032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efficiency formula"/>
          <p:cNvSpPr txBox="1"/>
          <p:nvPr/>
        </p:nvSpPr>
        <p:spPr>
          <a:xfrm>
            <a:off x="4069080" y="1865376"/>
            <a:ext cx="3703320" cy="6583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端點效率 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η_E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=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D_delivered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/ 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E_endpoint</a:t>
            </a:r>
          </a:p>
        </p:txBody>
      </p:sp>
      <p:sp>
        <p:nvSpPr>
          <p:cNvPr id="9" name="Efficiency unit"/>
          <p:cNvSpPr txBox="1"/>
          <p:nvPr/>
        </p:nvSpPr>
        <p:spPr>
          <a:xfrm>
            <a:off x="4096512" y="2907792"/>
            <a:ext cx="3648456" cy="23774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bit ÷ J = bit/J</a:t>
            </a:r>
          </a:p>
        </p:txBody>
      </p:sp>
      <p:sp>
        <p:nvSpPr>
          <p:cNvPr id="10" name="Endpoint denominator card"/>
          <p:cNvSpPr/>
          <p:nvPr/>
        </p:nvSpPr>
        <p:spPr>
          <a:xfrm>
            <a:off x="8074152" y="1481328"/>
            <a:ext cx="2834640" cy="210312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ndpoint denominator card heading"/>
          <p:cNvSpPr txBox="1"/>
          <p:nvPr/>
        </p:nvSpPr>
        <p:spPr>
          <a:xfrm>
            <a:off x="8165592" y="1591056"/>
            <a:ext cx="2651760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端點能量 </a:t>
            </a:r>
            <a:r>
              <a:rPr sz="2100" b="1" i="1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E_endpoint</a:t>
            </a:r>
          </a:p>
        </p:txBody>
      </p:sp>
      <p:sp>
        <p:nvSpPr>
          <p:cNvPr id="12" name="Endpoint denominator card body"/>
          <p:cNvSpPr txBox="1"/>
          <p:nvPr/>
        </p:nvSpPr>
        <p:spPr>
          <a:xfrm>
            <a:off x="8202168" y="2011680"/>
            <a:ext cx="2578608" cy="1463039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端點狀態的累積能量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單位：J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來源：結果摘要</a:t>
            </a:r>
          </a:p>
        </p:txBody>
      </p:sp>
      <p:sp>
        <p:nvSpPr>
          <p:cNvPr id="13" name="Efficiency caveat card"/>
          <p:cNvSpPr/>
          <p:nvPr/>
        </p:nvSpPr>
        <p:spPr>
          <a:xfrm>
            <a:off x="932688" y="3840480"/>
            <a:ext cx="4882896" cy="859536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bit/J 高但 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service_pass=false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：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只作效率觀察，不作服務成功判定</a:t>
            </a:r>
          </a:p>
        </p:txBody>
      </p:sp>
      <p:sp>
        <p:nvSpPr>
          <p:cNvPr id="14" name="Efficiency service card"/>
          <p:cNvSpPr/>
          <p:nvPr/>
        </p:nvSpPr>
        <p:spPr>
          <a:xfrm>
            <a:off x="6364224" y="3840480"/>
            <a:ext cx="4882896" cy="859536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deadline_pass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仍獨立判定：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依必要封包與期限讀結果</a:t>
            </a:r>
          </a:p>
        </p:txBody>
      </p:sp>
      <p:sp>
        <p:nvSpPr>
          <p:cNvPr id="15" name="Field contract endpoint_energy_efficiency_bits_per_j"/>
          <p:cNvSpPr/>
          <p:nvPr/>
        </p:nvSpPr>
        <p:spPr>
          <a:xfrm>
            <a:off x="749808" y="5157216"/>
            <a:ext cx="10716768" cy="658368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8288" rIns="146304" bIns="18288"/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端點能量效率 </a:t>
            </a: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endpoint_energy_efficiency_bits_per_j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（欄位）｜來源：result summary｜作用：delivered bit ÷ endpoint J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單位：bit/J｜判讀：不取代 service gate</a:t>
            </a:r>
          </a:p>
        </p:txBody>
      </p:sp>
      <p:sp>
        <p:nvSpPr>
          <p:cNvPr id="16" name="Native Office Math efficiency" title="efficiency" descr="efficiency"/>
          <p:cNvSpPr hidden="1">
            <a:spLocks noGrp="1"/>
          </p:cNvSpPr>
          <p:nvPr/>
        </p:nvSpPr>
        <p:spPr>
          <a:xfrm>
            <a:off x="0" y="0"/>
            <a:ext cx="1" cy="1"/>
          </a:xfrm>
          <a:noFill/>
          <a:ln>
            <a:noFill/>
          </a:ln>
        </p:spPr>
        <p:txBody>
          <a:bodyPr anchor="ctr" wrap="none"/>
          <a:lstStyle/>
          <a:p>
            <a:pPr algn="ctr"/>
            <a14:m>
              <m:oMathPara>
                <m:oMath>
                  <m:sSub>
                    <m:sSubPr/>
                    <m:e>
                      <m:r>
                        <a:rPr lang="en-US" altLang="en-US" sz="3000" dirty="0" i="1">
                          <a:latin typeface="Cambria Math"/>
                        </a:rPr>
                        <m:t>η</m:t>
                      </m:r>
                    </m:e>
                    <m:e>
                      <m:r>
                        <a:rPr lang="en-US" altLang="en-US" sz="3000" dirty="0">
                          <a:latin typeface="Cambria Math"/>
                        </a:rPr>
                        <m:t>E</m:t>
                      </m:r>
                    </m:e>
                  </m:sSub>
                  <m:r>
                    <a:rPr lang="en-US" altLang="en-US" sz="3000" dirty="0">
                      <a:latin typeface="Cambria Math"/>
                    </a:rPr>
                    <m:t> = </m:t>
                  </m:r>
                  <m:f>
                    <m:fPr>
                      <m:type m:val="bar"/>
                    </m:fPr>
                    <m:num>
                      <m:sSub>
                        <m:sSubPr/>
                        <m:e>
                          <m:r>
                            <a:rPr lang="en-US" altLang="en-US" sz="3000" dirty="0" i="1">
                              <a:latin typeface="Cambria Math"/>
                            </a:rPr>
                            <m:t>D</m:t>
                          </m:r>
                        </m:e>
                        <m:e>
                          <m:r>
                            <a:rPr lang="en-US" altLang="en-US" sz="3000" dirty="0">
                              <a:latin typeface="Cambria Math"/>
                            </a:rPr>
                            <m:t>delivered</m:t>
                          </m:r>
                        </m:e>
                      </m:sSub>
                    </m:num>
                    <m:den>
                      <m:sSub>
                        <m:sSubPr/>
                        <m:e>
                          <m:r>
                            <a:rPr lang="en-US" altLang="en-US" sz="3000" dirty="0" i="1">
                              <a:latin typeface="Cambria Math"/>
                            </a:rPr>
                            <m:t>E</m:t>
                          </m:r>
                        </m:e>
                        <m:e>
                          <m:r>
                            <a:rPr lang="en-US" altLang="en-US" sz="3000" dirty="0">
                              <a:latin typeface="Cambria Math"/>
                            </a:rPr>
                            <m:t>endpoint</m:t>
                          </m:r>
                        </m:e>
                      </m:sSub>
                    </m:den>
                  </m:f>
                </m:oMath>
              </m:oMathPara>
            </a14:m>
            <a:endParaRPr lang="en-US" sz="3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來源、模型、課程假設與結果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同一筆數字要沿來源、模型、固定課程假設與結果產物 </a:t>
            </a:r>
            <a:r>
              <a:rPr sz="24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artifact</a:t>
            </a: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回溯</a:t>
            </a:r>
          </a:p>
        </p:txBody>
      </p:sp>
      <p:sp>
        <p:nvSpPr>
          <p:cNvPr id="4" name="Provenance layer 1"/>
          <p:cNvSpPr/>
          <p:nvPr/>
        </p:nvSpPr>
        <p:spPr>
          <a:xfrm>
            <a:off x="713232" y="1536192"/>
            <a:ext cx="2542032" cy="2011680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25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rovenance layer 1 heading"/>
          <p:cNvSpPr txBox="1"/>
          <p:nvPr/>
        </p:nvSpPr>
        <p:spPr>
          <a:xfrm>
            <a:off x="804672" y="1645919"/>
            <a:ext cx="2359151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來源 Source</a:t>
            </a:r>
          </a:p>
        </p:txBody>
      </p:sp>
      <p:sp>
        <p:nvSpPr>
          <p:cNvPr id="6" name="Provenance layer 1 body"/>
          <p:cNvSpPr txBox="1"/>
          <p:nvPr/>
        </p:nvSpPr>
        <p:spPr>
          <a:xfrm>
            <a:off x="841248" y="2066543"/>
            <a:ext cx="2286000" cy="13716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可追溯來源 </a:t>
            </a:r>
            <a:r>
              <a:rPr sz="19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provenance</a:t>
            </a:r>
            <a:r>
              <a:rPr sz="19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參考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上游 repository／commit，不是本次量測</a:t>
            </a:r>
          </a:p>
        </p:txBody>
      </p:sp>
      <p:sp>
        <p:nvSpPr>
          <p:cNvPr id="7" name="Provenance connector"/>
          <p:cNvSpPr/>
          <p:nvPr/>
        </p:nvSpPr>
        <p:spPr>
          <a:xfrm>
            <a:off x="3346704" y="2340864"/>
            <a:ext cx="201168" cy="329184"/>
          </a:xfrm>
          <a:prstGeom prst="chevron">
            <a:avLst/>
          </a:prstGeom>
          <a:solidFill>
            <a:srgbClr val="25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rovenance layer 2"/>
          <p:cNvSpPr/>
          <p:nvPr/>
        </p:nvSpPr>
        <p:spPr>
          <a:xfrm>
            <a:off x="3547872" y="1536192"/>
            <a:ext cx="2542032" cy="201168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rovenance layer 2 heading"/>
          <p:cNvSpPr txBox="1"/>
          <p:nvPr/>
        </p:nvSpPr>
        <p:spPr>
          <a:xfrm>
            <a:off x="3639312" y="1645919"/>
            <a:ext cx="2359151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模型 Model</a:t>
            </a:r>
          </a:p>
        </p:txBody>
      </p:sp>
      <p:sp>
        <p:nvSpPr>
          <p:cNvPr id="10" name="Provenance layer 2 body"/>
          <p:cNvSpPr txBox="1"/>
          <p:nvPr/>
        </p:nvSpPr>
        <p:spPr>
          <a:xfrm>
            <a:off x="3675887" y="2066543"/>
            <a:ext cx="2286000" cy="13716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課程模擬轉接器 </a:t>
            </a:r>
            <a:r>
              <a:rPr sz="19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coherent-course-simulated-adapter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固定執行器 </a:t>
            </a:r>
            <a:r>
              <a:rPr sz="19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runner</a:t>
            </a:r>
            <a:r>
              <a:rPr sz="19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的行為</a:t>
            </a:r>
          </a:p>
        </p:txBody>
      </p:sp>
      <p:sp>
        <p:nvSpPr>
          <p:cNvPr id="11" name="Provenance connector"/>
          <p:cNvSpPr/>
          <p:nvPr/>
        </p:nvSpPr>
        <p:spPr>
          <a:xfrm>
            <a:off x="6181344" y="2340864"/>
            <a:ext cx="201168" cy="329184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rovenance layer 3"/>
          <p:cNvSpPr/>
          <p:nvPr/>
        </p:nvSpPr>
        <p:spPr>
          <a:xfrm>
            <a:off x="6382512" y="1536192"/>
            <a:ext cx="2542032" cy="20116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rovenance layer 3 heading"/>
          <p:cNvSpPr txBox="1"/>
          <p:nvPr/>
        </p:nvSpPr>
        <p:spPr>
          <a:xfrm>
            <a:off x="6473952" y="1645919"/>
            <a:ext cx="2359151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課程假設 Course</a:t>
            </a:r>
          </a:p>
        </p:txBody>
      </p:sp>
      <p:sp>
        <p:nvSpPr>
          <p:cNvPr id="14" name="Provenance layer 3 body"/>
          <p:cNvSpPr txBox="1"/>
          <p:nvPr/>
        </p:nvSpPr>
        <p:spPr>
          <a:xfrm>
            <a:off x="6510528" y="2066543"/>
            <a:ext cx="2286000" cy="13716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情境 </a:t>
            </a:r>
            <a:r>
              <a:rPr sz="19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scenario</a:t>
            </a:r>
            <a:r>
              <a:rPr sz="19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、窗口 </a:t>
            </a:r>
            <a:r>
              <a:rPr sz="19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window</a:t>
            </a:r>
            <a:r>
              <a:rPr sz="19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、流量 </a:t>
            </a:r>
            <a:r>
              <a:rPr sz="19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traffic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端點設定 </a:t>
            </a:r>
            <a:r>
              <a:rPr sz="19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 profile</a:t>
            </a:r>
            <a:r>
              <a:rPr sz="19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固定</a:t>
            </a:r>
          </a:p>
        </p:txBody>
      </p:sp>
      <p:sp>
        <p:nvSpPr>
          <p:cNvPr id="15" name="Provenance connector"/>
          <p:cNvSpPr/>
          <p:nvPr/>
        </p:nvSpPr>
        <p:spPr>
          <a:xfrm>
            <a:off x="9015984" y="2340864"/>
            <a:ext cx="201168" cy="329184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rovenance layer 4"/>
          <p:cNvSpPr/>
          <p:nvPr/>
        </p:nvSpPr>
        <p:spPr>
          <a:xfrm>
            <a:off x="9217152" y="1536192"/>
            <a:ext cx="2542032" cy="201168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rovenance layer 4 heading"/>
          <p:cNvSpPr txBox="1"/>
          <p:nvPr/>
        </p:nvSpPr>
        <p:spPr>
          <a:xfrm>
            <a:off x="9308592" y="1645919"/>
            <a:ext cx="2359151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結果 Result</a:t>
            </a:r>
          </a:p>
        </p:txBody>
      </p:sp>
      <p:sp>
        <p:nvSpPr>
          <p:cNvPr id="18" name="Provenance layer 4 body"/>
          <p:cNvSpPr txBox="1"/>
          <p:nvPr/>
        </p:nvSpPr>
        <p:spPr>
          <a:xfrm>
            <a:off x="9345168" y="2066543"/>
            <a:ext cx="2286000" cy="13716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JSON 結果＋同次事件重播 </a:t>
            </a:r>
            <a:r>
              <a:rPr sz="19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replay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宣告的 claim boundary 隨產物保存</a:t>
            </a:r>
          </a:p>
        </p:txBody>
      </p:sp>
      <p:sp>
        <p:nvSpPr>
          <p:cNvPr id="19" name="Provenance execution boundary"/>
          <p:cNvSpPr/>
          <p:nvPr/>
        </p:nvSpPr>
        <p:spPr>
          <a:xfrm>
            <a:off x="932688" y="3968496"/>
            <a:ext cx="4882896" cy="749808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上游執行旗標 </a:t>
            </a:r>
            <a:r>
              <a:rPr sz="19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upstream_execution = false</a:t>
            </a: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：這不是上游即時執行</a:t>
            </a:r>
          </a:p>
        </p:txBody>
      </p:sp>
      <p:sp>
        <p:nvSpPr>
          <p:cNvPr id="20" name="Provenance result boundary"/>
          <p:cNvSpPr/>
          <p:nvPr/>
        </p:nvSpPr>
        <p:spPr>
          <a:xfrm>
            <a:off x="6364224" y="3968496"/>
            <a:ext cx="4882896" cy="74980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結果型態：一致的模擬結果；所有數值以本次產物 </a:t>
            </a:r>
            <a:r>
              <a:rPr sz="19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artifact</a:t>
            </a:r>
            <a:r>
              <a:rPr sz="19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讀值</a:t>
            </a:r>
          </a:p>
        </p:txBody>
      </p:sp>
      <p:sp>
        <p:nvSpPr>
          <p:cNvPr id="21" name="Field contract runner_provenance"/>
          <p:cNvSpPr/>
          <p:nvPr/>
        </p:nvSpPr>
        <p:spPr>
          <a:xfrm>
            <a:off x="749808" y="5157216"/>
            <a:ext cx="10716768" cy="658368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8288" rIns="146304" bIns="18288"/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執行來源 </a:t>
            </a: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runner_provenance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（欄位）｜來源：result artifact｜作用：保存 model／assumption／execution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單位：record｜判讀：設定 claim ceiling</a:t>
            </a:r>
          </a:p>
        </p:txBody>
      </p:sp>
      <p:sp>
        <p:nvSpPr>
          <p:cNvPr id="22" name="Claim boundary"/>
          <p:cNvSpPr txBox="1"/>
          <p:nvPr/>
        </p:nvSpPr>
        <p:spPr>
          <a:xfrm>
            <a:off x="841248" y="5852160"/>
            <a:ext cx="10442448" cy="23774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SIMULATED TEACHING DATA｜NOT LIVE｜NOT MEASURED｜NOT CANONICAL-PARITY-VERIFIED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執行、事件重播與工作簿的身分鏈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同一組身分欄位連結結果、重播與工作簿；不是只靠一個情境識別碼</a:t>
            </a:r>
          </a:p>
        </p:txBody>
      </p:sp>
      <p:sp>
        <p:nvSpPr>
          <p:cNvPr id="4" name="Identity object 1"/>
          <p:cNvSpPr/>
          <p:nvPr/>
        </p:nvSpPr>
        <p:spPr>
          <a:xfrm>
            <a:off x="868680" y="1481328"/>
            <a:ext cx="3246120" cy="18470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dentity object 1 heading"/>
          <p:cNvSpPr txBox="1"/>
          <p:nvPr/>
        </p:nvSpPr>
        <p:spPr>
          <a:xfrm>
            <a:off x="960120" y="1591056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執行 RUN</a:t>
            </a:r>
          </a:p>
        </p:txBody>
      </p:sp>
      <p:sp>
        <p:nvSpPr>
          <p:cNvPr id="6" name="Identity object 1 body"/>
          <p:cNvSpPr txBox="1"/>
          <p:nvPr/>
        </p:nvSpPr>
        <p:spPr>
          <a:xfrm>
            <a:off x="996695" y="2011680"/>
            <a:ext cx="2990087" cy="120700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執行器 </a:t>
            </a: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runner</a:t>
            </a: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讀情境、案例與策略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輸出 </a:t>
            </a: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與同目錄 </a:t>
            </a: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</a:p>
        </p:txBody>
      </p:sp>
      <p:sp>
        <p:nvSpPr>
          <p:cNvPr id="7" name="Identity chain connector"/>
          <p:cNvSpPr/>
          <p:nvPr/>
        </p:nvSpPr>
        <p:spPr>
          <a:xfrm>
            <a:off x="4215384" y="2212848"/>
            <a:ext cx="274320" cy="365760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dentity object 2"/>
          <p:cNvSpPr/>
          <p:nvPr/>
        </p:nvSpPr>
        <p:spPr>
          <a:xfrm>
            <a:off x="4471416" y="1481328"/>
            <a:ext cx="3246120" cy="184708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dentity object 2 heading"/>
          <p:cNvSpPr txBox="1"/>
          <p:nvPr/>
        </p:nvSpPr>
        <p:spPr>
          <a:xfrm>
            <a:off x="4562855" y="1591056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事件重播 REPLAY</a:t>
            </a:r>
          </a:p>
        </p:txBody>
      </p:sp>
      <p:sp>
        <p:nvSpPr>
          <p:cNvPr id="10" name="Identity object 2 body"/>
          <p:cNvSpPr txBox="1"/>
          <p:nvPr/>
        </p:nvSpPr>
        <p:spPr>
          <a:xfrm>
            <a:off x="4599431" y="2011680"/>
            <a:ext cx="2990087" cy="120700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讀同一次執行的 </a:t>
            </a: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events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顯示動作、狀態、佇列與封包，不重跑策略</a:t>
            </a:r>
          </a:p>
        </p:txBody>
      </p:sp>
      <p:sp>
        <p:nvSpPr>
          <p:cNvPr id="11" name="Identity chain connector"/>
          <p:cNvSpPr/>
          <p:nvPr/>
        </p:nvSpPr>
        <p:spPr>
          <a:xfrm>
            <a:off x="7818120" y="2212848"/>
            <a:ext cx="274320" cy="365760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dentity object 3"/>
          <p:cNvSpPr/>
          <p:nvPr/>
        </p:nvSpPr>
        <p:spPr>
          <a:xfrm>
            <a:off x="8074152" y="1481328"/>
            <a:ext cx="3246120" cy="184708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dentity object 3 heading"/>
          <p:cNvSpPr txBox="1"/>
          <p:nvPr/>
        </p:nvSpPr>
        <p:spPr>
          <a:xfrm>
            <a:off x="8165592" y="1591056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比較紀錄 WORKBOOK</a:t>
            </a:r>
          </a:p>
        </p:txBody>
      </p:sp>
      <p:sp>
        <p:nvSpPr>
          <p:cNvPr id="14" name="Identity object 3 body"/>
          <p:cNvSpPr txBox="1"/>
          <p:nvPr/>
        </p:nvSpPr>
        <p:spPr>
          <a:xfrm>
            <a:off x="8202168" y="2011680"/>
            <a:ext cx="2990087" cy="120700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保存預測、基準、候選、凍結與 withheld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寫入結果／重播的 lineage（來源鏈）</a:t>
            </a:r>
          </a:p>
        </p:txBody>
      </p:sp>
      <p:sp>
        <p:nvSpPr>
          <p:cNvPr id="15" name="Scenario identity field"/>
          <p:cNvSpPr/>
          <p:nvPr/>
        </p:nvSpPr>
        <p:spPr>
          <a:xfrm>
            <a:off x="932688" y="3675887"/>
            <a:ext cx="4882896" cy="9326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情境識別碼 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scenario_id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：指出固定情境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是字串，不是能量值；來源：scenario／result</a:t>
            </a:r>
          </a:p>
        </p:txBody>
      </p:sp>
      <p:sp>
        <p:nvSpPr>
          <p:cNvPr id="16" name="Identity mismatch field"/>
          <p:cNvSpPr/>
          <p:nvPr/>
        </p:nvSpPr>
        <p:spPr>
          <a:xfrm>
            <a:off x="6364224" y="3675887"/>
            <a:ext cx="4882896" cy="93268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run_id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＋策略身分＋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units</a:t>
            </a: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＋</a:t>
            </a:r>
            <a:r>
              <a:rPr sz="17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provenance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任一不一致就拒絕匯入（fail closed）</a:t>
            </a:r>
          </a:p>
        </p:txBody>
      </p:sp>
      <p:sp>
        <p:nvSpPr>
          <p:cNvPr id="17" name="Claim boundary"/>
          <p:cNvSpPr txBox="1"/>
          <p:nvPr/>
        </p:nvSpPr>
        <p:spPr>
          <a:xfrm>
            <a:off x="841248" y="5852160"/>
            <a:ext cx="10442448" cy="23774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SIMULATED TEACHING DATA｜NOT LIVE｜NOT MEASURED｜NOT CANONICAL-PARITY-VERIFIED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基準 Baseline：固定條件的對照執行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基準 </a:t>
            </a:r>
            <a:r>
              <a:rPr sz="24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Baseline</a:t>
            </a: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固定情境、種子與原始策略，才提供可比較的對照</a:t>
            </a:r>
          </a:p>
        </p:txBody>
      </p:sp>
      <p:sp>
        <p:nvSpPr>
          <p:cNvPr id="4" name="Baseline rule 1"/>
          <p:cNvSpPr/>
          <p:nvPr/>
        </p:nvSpPr>
        <p:spPr>
          <a:xfrm>
            <a:off x="868680" y="1481328"/>
            <a:ext cx="3246120" cy="2048256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seline rule 1 heading"/>
          <p:cNvSpPr txBox="1"/>
          <p:nvPr/>
        </p:nvSpPr>
        <p:spPr>
          <a:xfrm>
            <a:off x="960120" y="1591056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固定輸入</a:t>
            </a:r>
          </a:p>
        </p:txBody>
      </p:sp>
      <p:sp>
        <p:nvSpPr>
          <p:cNvPr id="6" name="Baseline rule 1 body"/>
          <p:cNvSpPr txBox="1"/>
          <p:nvPr/>
        </p:nvSpPr>
        <p:spPr>
          <a:xfrm>
            <a:off x="996695" y="2011680"/>
            <a:ext cx="2990087" cy="140817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情境 </a:t>
            </a:r>
            <a:r>
              <a:rPr sz="21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scenario</a:t>
            </a: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／種子 </a:t>
            </a:r>
            <a:r>
              <a:rPr sz="21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seed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流量 </a:t>
            </a:r>
            <a:r>
              <a:rPr sz="21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traffic</a:t>
            </a: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／窗口 </a:t>
            </a:r>
            <a:r>
              <a:rPr sz="21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window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端點範圍 </a:t>
            </a:r>
            <a:r>
              <a:rPr sz="21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 scope</a:t>
            </a:r>
          </a:p>
        </p:txBody>
      </p:sp>
      <p:sp>
        <p:nvSpPr>
          <p:cNvPr id="7" name="Baseline causal connector"/>
          <p:cNvSpPr/>
          <p:nvPr/>
        </p:nvSpPr>
        <p:spPr>
          <a:xfrm>
            <a:off x="4215384" y="2286000"/>
            <a:ext cx="274320" cy="365760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seline rule 2"/>
          <p:cNvSpPr/>
          <p:nvPr/>
        </p:nvSpPr>
        <p:spPr>
          <a:xfrm>
            <a:off x="4471416" y="1481328"/>
            <a:ext cx="3246120" cy="2048256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aseline rule 2 heading"/>
          <p:cNvSpPr txBox="1"/>
          <p:nvPr/>
        </p:nvSpPr>
        <p:spPr>
          <a:xfrm>
            <a:off x="4562855" y="1591056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唯一變動</a:t>
            </a:r>
          </a:p>
        </p:txBody>
      </p:sp>
      <p:sp>
        <p:nvSpPr>
          <p:cNvPr id="10" name="Baseline rule 2 body"/>
          <p:cNvSpPr txBox="1"/>
          <p:nvPr/>
        </p:nvSpPr>
        <p:spPr>
          <a:xfrm>
            <a:off x="4599431" y="2011680"/>
            <a:ext cx="2990087" cy="140817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標記區塊 </a:t>
            </a:r>
            <a:r>
              <a:rPr sz="21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marked block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一次只改一個因果值</a:t>
            </a:r>
          </a:p>
        </p:txBody>
      </p:sp>
      <p:sp>
        <p:nvSpPr>
          <p:cNvPr id="11" name="Baseline causal connector"/>
          <p:cNvSpPr/>
          <p:nvPr/>
        </p:nvSpPr>
        <p:spPr>
          <a:xfrm>
            <a:off x="7818120" y="2286000"/>
            <a:ext cx="274320" cy="365760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aseline rule 3"/>
          <p:cNvSpPr/>
          <p:nvPr/>
        </p:nvSpPr>
        <p:spPr>
          <a:xfrm>
            <a:off x="8074152" y="1481328"/>
            <a:ext cx="3246120" cy="2048256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seline rule 3 heading"/>
          <p:cNvSpPr txBox="1"/>
          <p:nvPr/>
        </p:nvSpPr>
        <p:spPr>
          <a:xfrm>
            <a:off x="8165592" y="1591056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觀察輸出</a:t>
            </a:r>
          </a:p>
        </p:txBody>
      </p:sp>
      <p:sp>
        <p:nvSpPr>
          <p:cNvPr id="14" name="Baseline rule 3 body"/>
          <p:cNvSpPr txBox="1"/>
          <p:nvPr/>
        </p:nvSpPr>
        <p:spPr>
          <a:xfrm>
            <a:off x="8202168" y="2011680"/>
            <a:ext cx="2990087" cy="140817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狀態時間 </a:t>
            </a:r>
            <a:r>
              <a:rPr sz="21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state duration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封包結果 </a:t>
            </a:r>
            <a:r>
              <a:rPr sz="21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packet outcome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服務判定與端點 J</a:t>
            </a:r>
          </a:p>
        </p:txBody>
      </p:sp>
      <p:sp>
        <p:nvSpPr>
          <p:cNvPr id="15" name="Baseline control condition"/>
          <p:cNvSpPr/>
          <p:nvPr/>
        </p:nvSpPr>
        <p:spPr>
          <a:xfrm>
            <a:off x="932688" y="3950208"/>
            <a:ext cx="4882896" cy="749808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25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公平條件：兩次結果的身分與端點範圍一致</a:t>
            </a:r>
          </a:p>
        </p:txBody>
      </p:sp>
      <p:sp>
        <p:nvSpPr>
          <p:cNvPr id="16" name="Baseline interpretation"/>
          <p:cNvSpPr/>
          <p:nvPr/>
        </p:nvSpPr>
        <p:spPr>
          <a:xfrm>
            <a:off x="6364224" y="3950208"/>
            <a:ext cx="4882896" cy="74980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解釋順序：先回到標記區塊，再讀狀態／封包／服務／J</a:t>
            </a:r>
          </a:p>
        </p:txBody>
      </p:sp>
      <p:sp>
        <p:nvSpPr>
          <p:cNvPr id="17" name="Field contract policy identity"/>
          <p:cNvSpPr/>
          <p:nvPr/>
        </p:nvSpPr>
        <p:spPr>
          <a:xfrm>
            <a:off x="749808" y="5157216"/>
            <a:ext cx="10716768" cy="658368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8288" rIns="146304" bIns="18288"/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策略識別 </a:t>
            </a: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policy identity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（欄位）｜來源：result policy｜作用：指出 policy surface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單位：識別碼｜判讀：與 scenario、run_id 比對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LEO 的變動服務窗口軌跡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服務窗口輸入改變合法傳輸機會；策略再依觀察值選擇動作</a:t>
            </a:r>
          </a:p>
        </p:txBody>
      </p:sp>
      <p:sp>
        <p:nvSpPr>
          <p:cNvPr id="4" name="LEO window segment 1"/>
          <p:cNvSpPr/>
          <p:nvPr/>
        </p:nvSpPr>
        <p:spPr>
          <a:xfrm>
            <a:off x="841248" y="1572768"/>
            <a:ext cx="1325880" cy="96926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18288" rIns="27432" bIns="18288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窗口關閉 </a:t>
            </a:r>
            <a:r>
              <a:rPr sz="1900" b="1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closed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不接受傳輸</a:t>
            </a:r>
          </a:p>
        </p:txBody>
      </p:sp>
      <p:sp>
        <p:nvSpPr>
          <p:cNvPr id="5" name="LEO window segment 2"/>
          <p:cNvSpPr/>
          <p:nvPr/>
        </p:nvSpPr>
        <p:spPr>
          <a:xfrm>
            <a:off x="2240280" y="1572768"/>
            <a:ext cx="2194560" cy="969264"/>
          </a:xfrm>
          <a:prstGeom prst="rect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18288" rIns="27432" bIns="18288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服務窗口 A </a:t>
            </a:r>
            <a:r>
              <a:rPr sz="1900" b="1" i="1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contact-a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品質逐步變化</a:t>
            </a:r>
          </a:p>
        </p:txBody>
      </p:sp>
      <p:sp>
        <p:nvSpPr>
          <p:cNvPr id="6" name="LEO window segment 3"/>
          <p:cNvSpPr/>
          <p:nvPr/>
        </p:nvSpPr>
        <p:spPr>
          <a:xfrm>
            <a:off x="4507992" y="1572768"/>
            <a:ext cx="1325880" cy="96926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18288" rIns="27432" bIns="18288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窗口關閉 </a:t>
            </a:r>
            <a:r>
              <a:rPr sz="1900" b="1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closed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服務機會消失</a:t>
            </a:r>
          </a:p>
        </p:txBody>
      </p:sp>
      <p:sp>
        <p:nvSpPr>
          <p:cNvPr id="7" name="LEO window segment 4"/>
          <p:cNvSpPr/>
          <p:nvPr/>
        </p:nvSpPr>
        <p:spPr>
          <a:xfrm>
            <a:off x="5907024" y="1572768"/>
            <a:ext cx="2194560" cy="969264"/>
          </a:xfrm>
          <a:prstGeom prst="rect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18288" rIns="27432" bIns="18288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服務窗口 B </a:t>
            </a:r>
            <a:r>
              <a:rPr sz="1900" b="1" i="1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contact-b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品質再次變化</a:t>
            </a:r>
          </a:p>
        </p:txBody>
      </p:sp>
      <p:sp>
        <p:nvSpPr>
          <p:cNvPr id="8" name="LEO window segment 5"/>
          <p:cNvSpPr/>
          <p:nvPr/>
        </p:nvSpPr>
        <p:spPr>
          <a:xfrm>
            <a:off x="8174736" y="1572768"/>
            <a:ext cx="1325880" cy="96926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18288" rIns="27432" bIns="18288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窗口關閉 </a:t>
            </a:r>
            <a:r>
              <a:rPr sz="1900" b="1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closed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回到休息</a:t>
            </a:r>
          </a:p>
        </p:txBody>
      </p:sp>
      <p:sp>
        <p:nvSpPr>
          <p:cNvPr id="9" name="LEO trace field 1"/>
          <p:cNvSpPr/>
          <p:nvPr/>
        </p:nvSpPr>
        <p:spPr>
          <a:xfrm>
            <a:off x="868680" y="2907792"/>
            <a:ext cx="3246120" cy="146304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EO trace field 1 heading"/>
          <p:cNvSpPr txBox="1"/>
          <p:nvPr/>
        </p:nvSpPr>
        <p:spPr>
          <a:xfrm>
            <a:off x="960120" y="3017520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窗口是否開啟 </a:t>
            </a:r>
            <a:r>
              <a:rPr sz="2000" b="1" i="1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contact_open</a:t>
            </a:r>
          </a:p>
        </p:txBody>
      </p:sp>
      <p:sp>
        <p:nvSpPr>
          <p:cNvPr id="11" name="LEO trace field 1 body"/>
          <p:cNvSpPr txBox="1"/>
          <p:nvPr/>
        </p:nvSpPr>
        <p:spPr>
          <a:xfrm>
            <a:off x="996695" y="3438144"/>
            <a:ext cx="2990087" cy="82296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布林狀態；來源：scenario trace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作用：決定是否允許傳輸</a:t>
            </a:r>
          </a:p>
        </p:txBody>
      </p:sp>
      <p:sp>
        <p:nvSpPr>
          <p:cNvPr id="12" name="LEO trace field 2"/>
          <p:cNvSpPr/>
          <p:nvPr/>
        </p:nvSpPr>
        <p:spPr>
          <a:xfrm>
            <a:off x="4471416" y="2907792"/>
            <a:ext cx="3246120" cy="146304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EO trace field 2 heading"/>
          <p:cNvSpPr txBox="1"/>
          <p:nvPr/>
        </p:nvSpPr>
        <p:spPr>
          <a:xfrm>
            <a:off x="4562855" y="3017520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連線品質 </a:t>
            </a:r>
            <a:r>
              <a:rPr sz="2000" b="1" i="1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quality_band</a:t>
            </a:r>
          </a:p>
        </p:txBody>
      </p:sp>
      <p:sp>
        <p:nvSpPr>
          <p:cNvPr id="14" name="LEO trace field 2 body"/>
          <p:cNvSpPr txBox="1"/>
          <p:nvPr/>
        </p:nvSpPr>
        <p:spPr>
          <a:xfrm>
            <a:off x="4599431" y="3438144"/>
            <a:ext cx="2990087" cy="82296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分類值 0–3；不是 dB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作用：供策略判斷服務機會</a:t>
            </a:r>
          </a:p>
        </p:txBody>
      </p:sp>
      <p:sp>
        <p:nvSpPr>
          <p:cNvPr id="15" name="LEO trace field 3"/>
          <p:cNvSpPr/>
          <p:nvPr/>
        </p:nvSpPr>
        <p:spPr>
          <a:xfrm>
            <a:off x="8074152" y="2907792"/>
            <a:ext cx="3246120" cy="146304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EO trace field 3 heading"/>
          <p:cNvSpPr txBox="1"/>
          <p:nvPr/>
        </p:nvSpPr>
        <p:spPr>
          <a:xfrm>
            <a:off x="8165592" y="3017520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窗口剩餘秒數 </a:t>
            </a:r>
            <a:r>
              <a:rPr sz="2000" b="1" i="1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contact_remaining_s</a:t>
            </a:r>
          </a:p>
        </p:txBody>
      </p:sp>
      <p:sp>
        <p:nvSpPr>
          <p:cNvPr id="17" name="LEO trace field 3 body"/>
          <p:cNvSpPr txBox="1"/>
          <p:nvPr/>
        </p:nvSpPr>
        <p:spPr>
          <a:xfrm>
            <a:off x="8202168" y="3438144"/>
            <a:ext cx="2990087" cy="82296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單位：s；來源：scenario trace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作用：影響動作時機與期限</a:t>
            </a:r>
          </a:p>
        </p:txBody>
      </p:sp>
      <p:sp>
        <p:nvSpPr>
          <p:cNvPr id="18" name="LEO trace interpretation"/>
          <p:cNvSpPr/>
          <p:nvPr/>
        </p:nvSpPr>
        <p:spPr>
          <a:xfrm>
            <a:off x="932688" y="4535424"/>
            <a:ext cx="10314432" cy="475488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25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窗口關閉時只接受低功耗休息 </a:t>
            </a:r>
            <a:r>
              <a:rPr sz="18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8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；窗口開啟時，品質與剩餘時間共同改變動作的服務機會。</a:t>
            </a:r>
          </a:p>
        </p:txBody>
      </p:sp>
      <p:sp>
        <p:nvSpPr>
          <p:cNvPr id="19" name="Field contract service_window"/>
          <p:cNvSpPr/>
          <p:nvPr/>
        </p:nvSpPr>
        <p:spPr>
          <a:xfrm>
            <a:off x="749808" y="5157216"/>
            <a:ext cx="10716768" cy="658368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8288" rIns="146304" bIns="18288"/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服務窗口 </a:t>
            </a: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service_window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（欄位）｜來源：scenario trace｜作用：定義合法傳輸區間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單位：time／category｜判讀：解釋 action 的服務機會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為何改 REST_DURING_GAP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先說明為何做，再定位檔案、標記區塊、命令與結果欄位</a:t>
            </a:r>
          </a:p>
        </p:txBody>
      </p:sp>
      <p:sp>
        <p:nvSpPr>
          <p:cNvPr id="4" name="Lab A explanation card 1"/>
          <p:cNvSpPr/>
          <p:nvPr/>
        </p:nvSpPr>
        <p:spPr>
          <a:xfrm>
            <a:off x="685800" y="1426464"/>
            <a:ext cx="2542032" cy="17556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ab A explanation card 1 heading"/>
          <p:cNvSpPr txBox="1"/>
          <p:nvPr/>
        </p:nvSpPr>
        <p:spPr>
          <a:xfrm>
            <a:off x="777240" y="1536192"/>
            <a:ext cx="2359151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為何做 Why</a:t>
            </a:r>
          </a:p>
        </p:txBody>
      </p:sp>
      <p:sp>
        <p:nvSpPr>
          <p:cNvPr id="6" name="Lab A explanation card 1 body"/>
          <p:cNvSpPr txBox="1"/>
          <p:nvPr/>
        </p:nvSpPr>
        <p:spPr>
          <a:xfrm>
            <a:off x="813816" y="1956816"/>
            <a:ext cx="2286000" cy="11155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7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↔</a:t>
            </a:r>
            <a:r>
              <a:rPr sz="17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17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先改變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17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／awake-idle／J；要驗證 state 與 service</a:t>
            </a:r>
          </a:p>
        </p:txBody>
      </p:sp>
      <p:sp>
        <p:nvSpPr>
          <p:cNvPr id="7" name="Lab A explanation connector"/>
          <p:cNvSpPr/>
          <p:nvPr/>
        </p:nvSpPr>
        <p:spPr>
          <a:xfrm>
            <a:off x="3300984" y="2057400"/>
            <a:ext cx="182880" cy="292608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ab A explanation card 2"/>
          <p:cNvSpPr/>
          <p:nvPr/>
        </p:nvSpPr>
        <p:spPr>
          <a:xfrm>
            <a:off x="3520440" y="1426464"/>
            <a:ext cx="2542032" cy="175564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ab A explanation card 2 heading"/>
          <p:cNvSpPr txBox="1"/>
          <p:nvPr/>
        </p:nvSpPr>
        <p:spPr>
          <a:xfrm>
            <a:off x="3611880" y="1536192"/>
            <a:ext cx="2359151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檔案與區塊</a:t>
            </a:r>
          </a:p>
        </p:txBody>
      </p:sp>
      <p:sp>
        <p:nvSpPr>
          <p:cNvPr id="10" name="Lab A explanation card 2 body"/>
          <p:cNvSpPr txBox="1"/>
          <p:nvPr/>
        </p:nvSpPr>
        <p:spPr>
          <a:xfrm>
            <a:off x="3648456" y="1956816"/>
            <a:ext cx="2286000" cy="11155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檔案：</a:t>
            </a:r>
            <a:r>
              <a:rPr sz="17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標記區塊：</a:t>
            </a:r>
            <a:r>
              <a:rPr sz="17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lab-a-pace-rest</a:t>
            </a:r>
          </a:p>
        </p:txBody>
      </p:sp>
      <p:sp>
        <p:nvSpPr>
          <p:cNvPr id="11" name="Lab A explanation connector"/>
          <p:cNvSpPr/>
          <p:nvPr/>
        </p:nvSpPr>
        <p:spPr>
          <a:xfrm>
            <a:off x="6135624" y="2057400"/>
            <a:ext cx="182880" cy="292608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ab A explanation card 3"/>
          <p:cNvSpPr/>
          <p:nvPr/>
        </p:nvSpPr>
        <p:spPr>
          <a:xfrm>
            <a:off x="6355080" y="1426464"/>
            <a:ext cx="2542032" cy="17556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ab A explanation card 3 heading"/>
          <p:cNvSpPr txBox="1"/>
          <p:nvPr/>
        </p:nvSpPr>
        <p:spPr>
          <a:xfrm>
            <a:off x="6446520" y="1536192"/>
            <a:ext cx="2359151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改前 Before</a:t>
            </a:r>
          </a:p>
        </p:txBody>
      </p:sp>
      <p:sp>
        <p:nvSpPr>
          <p:cNvPr id="14" name="Lab A explanation card 3 body"/>
          <p:cNvSpPr txBox="1"/>
          <p:nvPr/>
        </p:nvSpPr>
        <p:spPr>
          <a:xfrm>
            <a:off x="6483096" y="1956816"/>
            <a:ext cx="2286000" cy="11155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REST_DURING_GAP = SLEEP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低功耗休息；可能出現 WAKE</a:t>
            </a:r>
          </a:p>
        </p:txBody>
      </p:sp>
      <p:sp>
        <p:nvSpPr>
          <p:cNvPr id="15" name="Lab A explanation connector"/>
          <p:cNvSpPr/>
          <p:nvPr/>
        </p:nvSpPr>
        <p:spPr>
          <a:xfrm>
            <a:off x="8970264" y="2057400"/>
            <a:ext cx="182880" cy="292608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ab A explanation card 4"/>
          <p:cNvSpPr/>
          <p:nvPr/>
        </p:nvSpPr>
        <p:spPr>
          <a:xfrm>
            <a:off x="9189720" y="1426464"/>
            <a:ext cx="2542032" cy="175564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ab A explanation card 4 heading"/>
          <p:cNvSpPr txBox="1"/>
          <p:nvPr/>
        </p:nvSpPr>
        <p:spPr>
          <a:xfrm>
            <a:off x="9281160" y="1536192"/>
            <a:ext cx="2359151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改後 After</a:t>
            </a:r>
          </a:p>
        </p:txBody>
      </p:sp>
      <p:sp>
        <p:nvSpPr>
          <p:cNvPr id="18" name="Lab A explanation card 4 body"/>
          <p:cNvSpPr txBox="1"/>
          <p:nvPr/>
        </p:nvSpPr>
        <p:spPr>
          <a:xfrm>
            <a:off x="9317736" y="1956816"/>
            <a:ext cx="2286000" cy="11155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REST_DURING_GAP = WAIT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清醒閒置；可能少 WAKE、但多 awake-idle J</a:t>
            </a:r>
          </a:p>
        </p:txBody>
      </p:sp>
      <p:sp>
        <p:nvSpPr>
          <p:cNvPr id="19" name="Lab A fixed inputs"/>
          <p:cNvSpPr/>
          <p:nvPr/>
        </p:nvSpPr>
        <p:spPr>
          <a:xfrm>
            <a:off x="932688" y="3456432"/>
            <a:ext cx="4882896" cy="804672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25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固定：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PACE_GAP_STEPS=2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、scenario／seed／traffic／window、runner／schema、Lab B/C</a:t>
            </a:r>
          </a:p>
        </p:txBody>
      </p:sp>
      <p:sp>
        <p:nvSpPr>
          <p:cNvPr id="20" name="Lab A result fields"/>
          <p:cNvSpPr/>
          <p:nvPr/>
        </p:nvSpPr>
        <p:spPr>
          <a:xfrm>
            <a:off x="6364224" y="3456432"/>
            <a:ext cx="4882896" cy="804672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成功：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status=OK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＋新 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；讀同目錄 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</a:p>
        </p:txBody>
      </p:sp>
      <p:sp>
        <p:nvSpPr>
          <p:cNvPr id="21" name="Lab A falsifiable prediction"/>
          <p:cNvSpPr/>
          <p:nvPr/>
        </p:nvSpPr>
        <p:spPr>
          <a:xfrm>
            <a:off x="932688" y="4443984"/>
            <a:ext cx="10314432" cy="566928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完整解釋句：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→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先改變 state，再讀 packet／service，最後才解釋 endpoint J；方向可被結果反駁。</a:t>
            </a:r>
          </a:p>
        </p:txBody>
      </p:sp>
      <p:sp>
        <p:nvSpPr>
          <p:cNvPr id="22" name="Field contract REST_DURING_GAP"/>
          <p:cNvSpPr/>
          <p:nvPr/>
        </p:nvSpPr>
        <p:spPr>
          <a:xfrm>
            <a:off x="749808" y="5157216"/>
            <a:ext cx="10716768" cy="658368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8288" rIns="146304" bIns="18288"/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空檔策略欄位 </a:t>
            </a: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（欄位）｜來源：policy marked block｜作用：控制 gap state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單位：SLEEP／WAIT｜判讀：先連 state，再讀 packet／service／J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基準決策與對照證據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基準先證明原始策略在同一服務窗口如何決策，建立改前對照</a:t>
            </a:r>
          </a:p>
        </p:txBody>
      </p:sp>
      <p:sp>
        <p:nvSpPr>
          <p:cNvPr id="4" name="Baseline evidence card 1"/>
          <p:cNvSpPr/>
          <p:nvPr/>
        </p:nvSpPr>
        <p:spPr>
          <a:xfrm>
            <a:off x="868680" y="1426464"/>
            <a:ext cx="3246120" cy="226771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seline evidence card 1 heading"/>
          <p:cNvSpPr txBox="1"/>
          <p:nvPr/>
        </p:nvSpPr>
        <p:spPr>
          <a:xfrm>
            <a:off x="960120" y="1536192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決策分支</a:t>
            </a:r>
          </a:p>
        </p:txBody>
      </p:sp>
      <p:sp>
        <p:nvSpPr>
          <p:cNvPr id="6" name="Baseline evidence card 1 body"/>
          <p:cNvSpPr txBox="1"/>
          <p:nvPr/>
        </p:nvSpPr>
        <p:spPr>
          <a:xfrm>
            <a:off x="996695" y="1956816"/>
            <a:ext cx="2990087" cy="162763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contact_open=false</a:t>
            </a:r>
            <a:r>
              <a:rPr sz="17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17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steps_since_send &lt; 2</a:t>
            </a:r>
            <a:r>
              <a:rPr sz="17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17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REST_DURING_GAP=SLEEP</a:t>
            </a:r>
          </a:p>
        </p:txBody>
      </p:sp>
      <p:sp>
        <p:nvSpPr>
          <p:cNvPr id="7" name="Baseline evidence connector"/>
          <p:cNvSpPr/>
          <p:nvPr/>
        </p:nvSpPr>
        <p:spPr>
          <a:xfrm>
            <a:off x="4215384" y="2286000"/>
            <a:ext cx="274320" cy="365760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seline evidence card 2"/>
          <p:cNvSpPr/>
          <p:nvPr/>
        </p:nvSpPr>
        <p:spPr>
          <a:xfrm>
            <a:off x="4471416" y="1426464"/>
            <a:ext cx="3246120" cy="2267712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25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aseline evidence card 2 heading"/>
          <p:cNvSpPr txBox="1"/>
          <p:nvPr/>
        </p:nvSpPr>
        <p:spPr>
          <a:xfrm>
            <a:off x="4562855" y="1536192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基準命令</a:t>
            </a:r>
          </a:p>
        </p:txBody>
      </p:sp>
      <p:sp>
        <p:nvSpPr>
          <p:cNvPr id="10" name="Baseline evidence card 2 body"/>
          <p:cNvSpPr txBox="1"/>
          <p:nvPr/>
        </p:nvSpPr>
        <p:spPr>
          <a:xfrm>
            <a:off x="4599431" y="1956816"/>
            <a:ext cx="2990087" cy="162763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Linux／macOS 終端機（WSL 也使用 Linux 指令）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bash course.sh run --lab A --case baseline</a:t>
            </a:r>
          </a:p>
        </p:txBody>
      </p:sp>
      <p:sp>
        <p:nvSpPr>
          <p:cNvPr id="11" name="Baseline evidence connector"/>
          <p:cNvSpPr/>
          <p:nvPr/>
        </p:nvSpPr>
        <p:spPr>
          <a:xfrm>
            <a:off x="7818120" y="2286000"/>
            <a:ext cx="274320" cy="365760"/>
          </a:xfrm>
          <a:prstGeom prst="chevron">
            <a:avLst/>
          </a:prstGeom>
          <a:solidFill>
            <a:srgbClr val="25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aseline evidence card 3"/>
          <p:cNvSpPr/>
          <p:nvPr/>
        </p:nvSpPr>
        <p:spPr>
          <a:xfrm>
            <a:off x="8074152" y="1426464"/>
            <a:ext cx="3246120" cy="226771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seline evidence card 3 heading"/>
          <p:cNvSpPr txBox="1"/>
          <p:nvPr/>
        </p:nvSpPr>
        <p:spPr>
          <a:xfrm>
            <a:off x="8165592" y="1536192"/>
            <a:ext cx="3063239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參考摘要</a:t>
            </a:r>
          </a:p>
        </p:txBody>
      </p:sp>
      <p:sp>
        <p:nvSpPr>
          <p:cNvPr id="14" name="Baseline evidence card 3 body"/>
          <p:cNvSpPr txBox="1"/>
          <p:nvPr/>
        </p:nvSpPr>
        <p:spPr>
          <a:xfrm>
            <a:off x="8202168" y="1956816"/>
            <a:ext cx="2990087" cy="162763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endpoint_energy_j=6.92 J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delivered_bits=4,800 bit</a:t>
            </a:r>
            <a:r>
              <a:rPr sz="175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175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service_pass=false</a:t>
            </a:r>
          </a:p>
        </p:txBody>
      </p:sp>
      <p:sp>
        <p:nvSpPr>
          <p:cNvPr id="15" name="Baseline why card"/>
          <p:cNvSpPr/>
          <p:nvPr/>
        </p:nvSpPr>
        <p:spPr>
          <a:xfrm>
            <a:off x="932688" y="3931920"/>
            <a:ext cx="4882896" cy="82296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固定：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lab-a-pace-rest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PACE_GAP_STEPS=2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REST_DURING_GAP=SLEEP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；其他區塊不變</a:t>
            </a:r>
          </a:p>
        </p:txBody>
      </p:sp>
      <p:sp>
        <p:nvSpPr>
          <p:cNvPr id="16" name="Baseline reference boundary"/>
          <p:cNvSpPr/>
          <p:nvPr/>
        </p:nvSpPr>
        <p:spPr>
          <a:xfrm>
            <a:off x="6364224" y="3931920"/>
            <a:ext cx="4882896" cy="82296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讀取：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summary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events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；baseline 是 control，不回答省電。</a:t>
            </a:r>
          </a:p>
        </p:txBody>
      </p:sp>
      <p:sp>
        <p:nvSpPr>
          <p:cNvPr id="17" name="Field contract result_path"/>
          <p:cNvSpPr/>
          <p:nvPr/>
        </p:nvSpPr>
        <p:spPr>
          <a:xfrm>
            <a:off x="749808" y="5157216"/>
            <a:ext cx="10716768" cy="658368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8288" rIns="146304" bIns="18288"/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結果路徑 </a:t>
            </a: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（欄位）｜來源：P042 stdout｜作用：定位 result.json＋同 run replay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單位：path｜判讀：先核對 identity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程式碼改前／改後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定位後只讀 5 行：淡化不變行，高亮唯一變更 </a:t>
            </a:r>
            <a:r>
              <a:rPr sz="24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4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4" name="Lab A before code"/>
          <p:cNvSpPr/>
          <p:nvPr/>
        </p:nvSpPr>
        <p:spPr>
          <a:xfrm>
            <a:off x="731520" y="1426464"/>
            <a:ext cx="4754880" cy="261518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ab A before code heading"/>
          <p:cNvSpPr txBox="1"/>
          <p:nvPr/>
        </p:nvSpPr>
        <p:spPr>
          <a:xfrm>
            <a:off x="859536" y="1554480"/>
            <a:ext cx="4498848" cy="31089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改前 Before｜基準</a:t>
            </a:r>
          </a:p>
        </p:txBody>
      </p:sp>
      <p:sp>
        <p:nvSpPr>
          <p:cNvPr id="6" name="Lab A before code code line 1"/>
          <p:cNvSpPr txBox="1"/>
          <p:nvPr/>
        </p:nvSpPr>
        <p:spPr>
          <a:xfrm>
            <a:off x="914400" y="1956816"/>
            <a:ext cx="438912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# LORA EDITABLE: lab-a-pace-rest</a:t>
            </a:r>
          </a:p>
        </p:txBody>
      </p:sp>
      <p:sp>
        <p:nvSpPr>
          <p:cNvPr id="7" name="Lab A before code code line 2"/>
          <p:cNvSpPr txBox="1"/>
          <p:nvPr/>
        </p:nvSpPr>
        <p:spPr>
          <a:xfrm>
            <a:off x="914400" y="2322576"/>
            <a:ext cx="438912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PACE_GAP_STEPS = 2</a:t>
            </a:r>
          </a:p>
        </p:txBody>
      </p:sp>
      <p:sp>
        <p:nvSpPr>
          <p:cNvPr id="8" name="Lab A before code code line 3"/>
          <p:cNvSpPr txBox="1"/>
          <p:nvPr/>
        </p:nvSpPr>
        <p:spPr>
          <a:xfrm>
            <a:off x="914400" y="2688336"/>
            <a:ext cx="438912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REST_DURING_GAP = SLEEP</a:t>
            </a:r>
          </a:p>
        </p:txBody>
      </p:sp>
      <p:sp>
        <p:nvSpPr>
          <p:cNvPr id="9" name="Lab A before code code line 4"/>
          <p:cNvSpPr txBox="1"/>
          <p:nvPr/>
        </p:nvSpPr>
        <p:spPr>
          <a:xfrm>
            <a:off x="914400" y="3054096"/>
            <a:ext cx="438912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# 其他 marked block 保持原樣</a:t>
            </a:r>
          </a:p>
        </p:txBody>
      </p:sp>
      <p:sp>
        <p:nvSpPr>
          <p:cNvPr id="10" name="Lab A before code code line 5"/>
          <p:cNvSpPr txBox="1"/>
          <p:nvPr/>
        </p:nvSpPr>
        <p:spPr>
          <a:xfrm>
            <a:off x="914400" y="3419856"/>
            <a:ext cx="438912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# runner／scenario／schema／JSON 不變</a:t>
            </a:r>
          </a:p>
        </p:txBody>
      </p:sp>
      <p:sp>
        <p:nvSpPr>
          <p:cNvPr id="11" name="Lab A after code"/>
          <p:cNvSpPr/>
          <p:nvPr/>
        </p:nvSpPr>
        <p:spPr>
          <a:xfrm>
            <a:off x="5669280" y="1426464"/>
            <a:ext cx="4754880" cy="261518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ab A after code heading"/>
          <p:cNvSpPr txBox="1"/>
          <p:nvPr/>
        </p:nvSpPr>
        <p:spPr>
          <a:xfrm>
            <a:off x="5797296" y="1554480"/>
            <a:ext cx="4498848" cy="31089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改後 After｜候選</a:t>
            </a:r>
          </a:p>
        </p:txBody>
      </p:sp>
      <p:sp>
        <p:nvSpPr>
          <p:cNvPr id="13" name="Lab A after code code line 1"/>
          <p:cNvSpPr txBox="1"/>
          <p:nvPr/>
        </p:nvSpPr>
        <p:spPr>
          <a:xfrm>
            <a:off x="5852160" y="1956816"/>
            <a:ext cx="438912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# LORA EDITABLE: lab-a-pace-rest</a:t>
            </a:r>
          </a:p>
        </p:txBody>
      </p:sp>
      <p:sp>
        <p:nvSpPr>
          <p:cNvPr id="14" name="Lab A after code code line 2"/>
          <p:cNvSpPr txBox="1"/>
          <p:nvPr/>
        </p:nvSpPr>
        <p:spPr>
          <a:xfrm>
            <a:off x="5852160" y="2322576"/>
            <a:ext cx="438912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PACE_GAP_STEPS = 2</a:t>
            </a:r>
          </a:p>
        </p:txBody>
      </p:sp>
      <p:sp>
        <p:nvSpPr>
          <p:cNvPr id="15" name="Lab A after code code line 3"/>
          <p:cNvSpPr txBox="1"/>
          <p:nvPr/>
        </p:nvSpPr>
        <p:spPr>
          <a:xfrm>
            <a:off x="5852160" y="2688336"/>
            <a:ext cx="438912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REST_DURING_GAP = WAIT</a:t>
            </a:r>
          </a:p>
        </p:txBody>
      </p:sp>
      <p:sp>
        <p:nvSpPr>
          <p:cNvPr id="16" name="Lab A after code code line 4"/>
          <p:cNvSpPr txBox="1"/>
          <p:nvPr/>
        </p:nvSpPr>
        <p:spPr>
          <a:xfrm>
            <a:off x="5852160" y="3054096"/>
            <a:ext cx="438912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# 其他 marked block 保持原樣</a:t>
            </a:r>
          </a:p>
        </p:txBody>
      </p:sp>
      <p:sp>
        <p:nvSpPr>
          <p:cNvPr id="17" name="Lab A after code code line 5"/>
          <p:cNvSpPr txBox="1"/>
          <p:nvPr/>
        </p:nvSpPr>
        <p:spPr>
          <a:xfrm>
            <a:off x="5852160" y="3419856"/>
            <a:ext cx="4389120" cy="2743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# runner／scenario／schema／JSON 不變</a:t>
            </a:r>
          </a:p>
        </p:txBody>
      </p:sp>
      <p:sp>
        <p:nvSpPr>
          <p:cNvPr id="18" name="Lab A unique edit arrow"/>
          <p:cNvSpPr/>
          <p:nvPr/>
        </p:nvSpPr>
        <p:spPr>
          <a:xfrm>
            <a:off x="5138928" y="2432304"/>
            <a:ext cx="329184" cy="420624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ab A unique edit annotation"/>
          <p:cNvSpPr txBox="1"/>
          <p:nvPr/>
        </p:nvSpPr>
        <p:spPr>
          <a:xfrm>
            <a:off x="4882896" y="2048256"/>
            <a:ext cx="841248" cy="25603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唯一變更</a:t>
            </a:r>
          </a:p>
        </p:txBody>
      </p:sp>
      <p:sp>
        <p:nvSpPr>
          <p:cNvPr id="20" name="Lab A edit mechanism and freeze"/>
          <p:cNvSpPr/>
          <p:nvPr/>
        </p:nvSpPr>
        <p:spPr>
          <a:xfrm>
            <a:off x="896112" y="4224528"/>
            <a:ext cx="10369296" cy="841248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25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36576" rIns="146304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只改 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的 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lab-a-pace-rest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PACE_GAP_STEPS=2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、Lab B/C、runner、scenario、schema、JSON 不變。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原因：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先改 awake-idle state；P042 run 才看 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、packet、service、J。</a:t>
            </a:r>
          </a:p>
        </p:txBody>
      </p:sp>
      <p:sp>
        <p:nvSpPr>
          <p:cNvPr id="21" name="Field contract REST_DURING_GAP"/>
          <p:cNvSpPr/>
          <p:nvPr/>
        </p:nvSpPr>
        <p:spPr>
          <a:xfrm>
            <a:off x="749808" y="5138928"/>
            <a:ext cx="10716768" cy="658368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8288" rIns="146304" bIns="18288"/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空檔策略欄位 </a:t>
            </a: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（欄位）｜來源：student_policy.py／lab-a-pace-rest｜作用：指定 gap action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單位：SLEEP／WAIT｜判讀：先連 state，再用 A/B 結果判讀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基準 → 候選 → 隱藏檢查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一條執行帶完成三步：建立基準、凍結候選、用同一策略做隱藏檢查</a:t>
            </a:r>
          </a:p>
        </p:txBody>
      </p:sp>
      <p:sp>
        <p:nvSpPr>
          <p:cNvPr id="4" name="Run platform contract"/>
          <p:cNvSpPr txBox="1"/>
          <p:nvPr/>
        </p:nvSpPr>
        <p:spPr>
          <a:xfrm>
            <a:off x="896112" y="1261872"/>
            <a:ext cx="10332720" cy="2011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平台：Linux／macOS 終端機（WSL 也使用 Linux 指令）；Windows 命令提示字元。</a:t>
            </a:r>
          </a:p>
        </p:txBody>
      </p:sp>
      <p:sp>
        <p:nvSpPr>
          <p:cNvPr id="5" name="Run stage 1"/>
          <p:cNvSpPr/>
          <p:nvPr/>
        </p:nvSpPr>
        <p:spPr>
          <a:xfrm>
            <a:off x="676656" y="1481328"/>
            <a:ext cx="3246120" cy="356616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un stage heading 1"/>
          <p:cNvSpPr txBox="1"/>
          <p:nvPr/>
        </p:nvSpPr>
        <p:spPr>
          <a:xfrm>
            <a:off x="786384" y="1627632"/>
            <a:ext cx="3026664" cy="31089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01｜基準 Baseline</a:t>
            </a:r>
          </a:p>
        </p:txBody>
      </p:sp>
      <p:sp>
        <p:nvSpPr>
          <p:cNvPr id="7" name="Run stage condition 1"/>
          <p:cNvSpPr txBox="1"/>
          <p:nvPr/>
        </p:nvSpPr>
        <p:spPr>
          <a:xfrm>
            <a:off x="822960" y="1975104"/>
            <a:ext cx="295351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不改 policy；A 區塊仍為 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sp>
        <p:nvSpPr>
          <p:cNvPr id="8" name="Run Linux exact command 1"/>
          <p:cNvSpPr txBox="1"/>
          <p:nvPr/>
        </p:nvSpPr>
        <p:spPr>
          <a:xfrm>
            <a:off x="841247" y="2468880"/>
            <a:ext cx="2916936" cy="676656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Linux／macOS：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bash course.sh run --lab A --case baseline</a:t>
            </a:r>
          </a:p>
        </p:txBody>
      </p:sp>
      <p:sp>
        <p:nvSpPr>
          <p:cNvPr id="9" name="Run Windows exact command 1"/>
          <p:cNvSpPr txBox="1"/>
          <p:nvPr/>
        </p:nvSpPr>
        <p:spPr>
          <a:xfrm>
            <a:off x="841247" y="3218688"/>
            <a:ext cx="2916936" cy="676656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Windows：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course.cmd run --lab A --case baseline</a:t>
            </a:r>
          </a:p>
        </p:txBody>
      </p:sp>
      <p:sp>
        <p:nvSpPr>
          <p:cNvPr id="10" name="Run stage receipt 1"/>
          <p:cNvSpPr/>
          <p:nvPr/>
        </p:nvSpPr>
        <p:spPr>
          <a:xfrm>
            <a:off x="822960" y="4096512"/>
            <a:ext cx="2953512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成功：</a:t>
            </a:r>
            <a:r>
              <a:rPr sz="1600" b="1" i="1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status=OK</a:t>
            </a:r>
            <a:r>
              <a:rPr sz="16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＋</a:t>
            </a:r>
            <a:r>
              <a:rPr sz="1600" b="1" i="1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result_path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同目錄 </a:t>
            </a:r>
            <a:r>
              <a:rPr sz="1600" b="1" i="1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6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600" b="1" i="1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</a:p>
        </p:txBody>
      </p:sp>
      <p:sp>
        <p:nvSpPr>
          <p:cNvPr id="11" name="Run ribbon connector"/>
          <p:cNvSpPr/>
          <p:nvPr/>
        </p:nvSpPr>
        <p:spPr>
          <a:xfrm>
            <a:off x="4023360" y="2871216"/>
            <a:ext cx="256032" cy="347472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un stage 2"/>
          <p:cNvSpPr/>
          <p:nvPr/>
        </p:nvSpPr>
        <p:spPr>
          <a:xfrm>
            <a:off x="4498848" y="1481328"/>
            <a:ext cx="3246120" cy="356616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un stage heading 2"/>
          <p:cNvSpPr txBox="1"/>
          <p:nvPr/>
        </p:nvSpPr>
        <p:spPr>
          <a:xfrm>
            <a:off x="4608576" y="1627632"/>
            <a:ext cx="3026664" cy="31089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02｜候選 Candidate</a:t>
            </a:r>
          </a:p>
        </p:txBody>
      </p:sp>
      <p:sp>
        <p:nvSpPr>
          <p:cNvPr id="14" name="Run stage condition 2"/>
          <p:cNvSpPr txBox="1"/>
          <p:nvPr/>
        </p:nvSpPr>
        <p:spPr>
          <a:xfrm>
            <a:off x="4645152" y="1975104"/>
            <a:ext cx="295351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完成 P041：A 區塊改 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，再凍結</a:t>
            </a:r>
          </a:p>
        </p:txBody>
      </p:sp>
      <p:sp>
        <p:nvSpPr>
          <p:cNvPr id="15" name="Run Linux exact command 2"/>
          <p:cNvSpPr txBox="1"/>
          <p:nvPr/>
        </p:nvSpPr>
        <p:spPr>
          <a:xfrm>
            <a:off x="4663440" y="2468880"/>
            <a:ext cx="2916936" cy="676656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Linux／macOS：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bash course.sh run --lab A --case candidate --freeze</a:t>
            </a:r>
          </a:p>
        </p:txBody>
      </p:sp>
      <p:sp>
        <p:nvSpPr>
          <p:cNvPr id="16" name="Run Windows exact command 2"/>
          <p:cNvSpPr txBox="1"/>
          <p:nvPr/>
        </p:nvSpPr>
        <p:spPr>
          <a:xfrm>
            <a:off x="4663440" y="3218688"/>
            <a:ext cx="2916936" cy="676656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Windows：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course.cmd run --lab A --case candidate --freeze</a:t>
            </a:r>
          </a:p>
        </p:txBody>
      </p:sp>
      <p:sp>
        <p:nvSpPr>
          <p:cNvPr id="17" name="Run stage receipt 2"/>
          <p:cNvSpPr/>
          <p:nvPr/>
        </p:nvSpPr>
        <p:spPr>
          <a:xfrm>
            <a:off x="4645152" y="4096512"/>
            <a:ext cx="2953512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成功：</a:t>
            </a:r>
            <a:r>
              <a:rPr sz="1600" b="1" i="1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6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＋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1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lab-a-frozen.json</a:t>
            </a:r>
            <a:r>
              <a:rPr sz="16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600" b="1" i="1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.py</a:t>
            </a:r>
          </a:p>
        </p:txBody>
      </p:sp>
      <p:sp>
        <p:nvSpPr>
          <p:cNvPr id="18" name="Run ribbon connector"/>
          <p:cNvSpPr/>
          <p:nvPr/>
        </p:nvSpPr>
        <p:spPr>
          <a:xfrm>
            <a:off x="7845552" y="2871216"/>
            <a:ext cx="256032" cy="347472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un stage 3"/>
          <p:cNvSpPr/>
          <p:nvPr/>
        </p:nvSpPr>
        <p:spPr>
          <a:xfrm>
            <a:off x="8321040" y="1481328"/>
            <a:ext cx="3246120" cy="356616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un stage heading 3"/>
          <p:cNvSpPr txBox="1"/>
          <p:nvPr/>
        </p:nvSpPr>
        <p:spPr>
          <a:xfrm>
            <a:off x="8430767" y="1627632"/>
            <a:ext cx="3026664" cy="31089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03｜隱藏 Hidden</a:t>
            </a:r>
          </a:p>
        </p:txBody>
      </p:sp>
      <p:sp>
        <p:nvSpPr>
          <p:cNvPr id="21" name="Run stage condition 3"/>
          <p:cNvSpPr txBox="1"/>
          <p:nvPr/>
        </p:nvSpPr>
        <p:spPr>
          <a:xfrm>
            <a:off x="8467344" y="1975104"/>
            <a:ext cx="295351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保持 frozen policy；不再改值</a:t>
            </a:r>
          </a:p>
        </p:txBody>
      </p:sp>
      <p:sp>
        <p:nvSpPr>
          <p:cNvPr id="22" name="Run Linux exact command 3"/>
          <p:cNvSpPr txBox="1"/>
          <p:nvPr/>
        </p:nvSpPr>
        <p:spPr>
          <a:xfrm>
            <a:off x="8485632" y="2468880"/>
            <a:ext cx="2916936" cy="676656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Linux／macOS：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bash course.sh run --lab A --case hidden</a:t>
            </a:r>
          </a:p>
        </p:txBody>
      </p:sp>
      <p:sp>
        <p:nvSpPr>
          <p:cNvPr id="23" name="Run Windows exact command 3"/>
          <p:cNvSpPr txBox="1"/>
          <p:nvPr/>
        </p:nvSpPr>
        <p:spPr>
          <a:xfrm>
            <a:off x="8485632" y="3218688"/>
            <a:ext cx="2916936" cy="676656"/>
          </a:xfrm>
          <a:prstGeom prst="rect">
            <a:avLst/>
          </a:prstGeom>
          <a:noFill/>
        </p:spPr>
        <p:txBody>
          <a:bodyPr wrap="square" anchor="ctr" lIns="36576" tIns="18288" rIns="36576" bIns="18288">
            <a:spAutoFit/>
          </a:bodyPr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Windows：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course.cmd run --lab A --case hidden</a:t>
            </a:r>
          </a:p>
        </p:txBody>
      </p:sp>
      <p:sp>
        <p:nvSpPr>
          <p:cNvPr id="24" name="Run stage receipt 3"/>
          <p:cNvSpPr/>
          <p:nvPr/>
        </p:nvSpPr>
        <p:spPr>
          <a:xfrm>
            <a:off x="8467344" y="4096512"/>
            <a:ext cx="2953512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成功：</a:t>
            </a:r>
            <a:r>
              <a:rPr sz="1600" b="1" i="1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status=OK</a:t>
            </a:r>
            <a:r>
              <a:rPr sz="16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＋</a:t>
            </a:r>
            <a:r>
              <a:rPr sz="1600" b="1" i="1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result_path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不建立第二個 freeze</a:t>
            </a:r>
          </a:p>
        </p:txBody>
      </p:sp>
      <p:sp>
        <p:nvSpPr>
          <p:cNvPr id="25" name="Run receipt rule"/>
          <p:cNvSpPr txBox="1"/>
          <p:nvPr/>
        </p:nvSpPr>
        <p:spPr>
          <a:xfrm>
            <a:off x="896112" y="5157216"/>
            <a:ext cx="10332720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讀取順序：stdout </a:t>
            </a:r>
            <a:r>
              <a:rPr sz="1600" b="1" i="1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6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 → 同一 generated 目錄 </a:t>
            </a:r>
            <a:r>
              <a:rPr sz="1600" b="1" i="1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6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 → 配對 </a:t>
            </a:r>
            <a:r>
              <a:rPr sz="1600" b="1" i="1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  <a:r>
              <a:rPr sz="16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 → 服務／封包／狀態／J；freeze 缺失就停止 hidden。</a:t>
            </a:r>
          </a:p>
        </p:txBody>
      </p:sp>
      <p:sp>
        <p:nvSpPr>
          <p:cNvPr id="26" name="Claim boundary"/>
          <p:cNvSpPr txBox="1"/>
          <p:nvPr/>
        </p:nvSpPr>
        <p:spPr>
          <a:xfrm>
            <a:off x="841248" y="5852160"/>
            <a:ext cx="10442448" cy="23774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SIMULATED TEACHING DATA｜NOT LIVE｜NOT MEASURED｜NOT CANONICAL-PARITY-VERIFIED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同一邊界的改前／改後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三次 evidence 都未通過 service gate；先核對同一 boundary，再讀改前／改後／hidden</a:t>
            </a:r>
          </a:p>
        </p:txBody>
      </p:sp>
      <p:sp>
        <p:nvSpPr>
          <p:cNvPr id="4" name="Lab A baseline evidence"/>
          <p:cNvSpPr/>
          <p:nvPr/>
        </p:nvSpPr>
        <p:spPr>
          <a:xfrm>
            <a:off x="603504" y="1389888"/>
            <a:ext cx="3401568" cy="327355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ab A baseline evidence heading"/>
          <p:cNvSpPr txBox="1"/>
          <p:nvPr/>
        </p:nvSpPr>
        <p:spPr>
          <a:xfrm>
            <a:off x="694944" y="1499616"/>
            <a:ext cx="3218688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Baseline｜SLEEP</a:t>
            </a:r>
          </a:p>
        </p:txBody>
      </p:sp>
      <p:sp>
        <p:nvSpPr>
          <p:cNvPr id="6" name="Lab A baseline evidence body"/>
          <p:cNvSpPr txBox="1"/>
          <p:nvPr/>
        </p:nvSpPr>
        <p:spPr>
          <a:xfrm>
            <a:off x="731520" y="1920240"/>
            <a:ext cx="3145536" cy="2633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：false　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：false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delivered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：1/4　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retries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：1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collisions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：1　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expired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：3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：2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：6.92 J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bit/J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：693.641618</a:t>
            </a:r>
          </a:p>
        </p:txBody>
      </p:sp>
      <p:sp>
        <p:nvSpPr>
          <p:cNvPr id="7" name="Lab A candidate evidence"/>
          <p:cNvSpPr/>
          <p:nvPr/>
        </p:nvSpPr>
        <p:spPr>
          <a:xfrm>
            <a:off x="4279392" y="1389888"/>
            <a:ext cx="3401568" cy="327355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ab A candidate evidence heading"/>
          <p:cNvSpPr txBox="1"/>
          <p:nvPr/>
        </p:nvSpPr>
        <p:spPr>
          <a:xfrm>
            <a:off x="4370831" y="1499616"/>
            <a:ext cx="3218688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Candidate｜WAIT</a:t>
            </a:r>
          </a:p>
        </p:txBody>
      </p:sp>
      <p:sp>
        <p:nvSpPr>
          <p:cNvPr id="9" name="Lab A candidate evidence body"/>
          <p:cNvSpPr txBox="1"/>
          <p:nvPr/>
        </p:nvSpPr>
        <p:spPr>
          <a:xfrm>
            <a:off x="4407407" y="1920240"/>
            <a:ext cx="3145536" cy="2633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：false　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：false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delivered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：1/4　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retries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：1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collisions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：1　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expired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：3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：1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：8.86 J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bit/J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：541.760722</a:t>
            </a:r>
          </a:p>
        </p:txBody>
      </p:sp>
      <p:sp>
        <p:nvSpPr>
          <p:cNvPr id="10" name="Lab A hidden evidence"/>
          <p:cNvSpPr/>
          <p:nvPr/>
        </p:nvSpPr>
        <p:spPr>
          <a:xfrm>
            <a:off x="7955279" y="1389888"/>
            <a:ext cx="3401568" cy="3273552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ab A hidden evidence heading"/>
          <p:cNvSpPr txBox="1"/>
          <p:nvPr/>
        </p:nvSpPr>
        <p:spPr>
          <a:xfrm>
            <a:off x="8046719" y="1499616"/>
            <a:ext cx="3218688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Hidden frozen｜WAIT</a:t>
            </a:r>
          </a:p>
        </p:txBody>
      </p:sp>
      <p:sp>
        <p:nvSpPr>
          <p:cNvPr id="12" name="Lab A hidden evidence body"/>
          <p:cNvSpPr txBox="1"/>
          <p:nvPr/>
        </p:nvSpPr>
        <p:spPr>
          <a:xfrm>
            <a:off x="8083296" y="1920240"/>
            <a:ext cx="3145536" cy="2633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：false　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：false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delivered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：0/3　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retries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：0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collisions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：0　</a:t>
            </a: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expired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：3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：0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：3.61 J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bit/J</a:t>
            </a: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：0</a:t>
            </a:r>
          </a:p>
        </p:txBody>
      </p:sp>
      <p:sp>
        <p:nvSpPr>
          <p:cNvPr id="13" name="Lab A candidate comparison"/>
          <p:cNvSpPr/>
          <p:nvPr/>
        </p:nvSpPr>
        <p:spPr>
          <a:xfrm>
            <a:off x="749808" y="4773168"/>
            <a:ext cx="5248656" cy="36576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WAIT：service 不變（false→false），endpoint </a:t>
            </a:r>
            <a:r>
              <a:rPr sz="16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+1.94 J</a:t>
            </a:r>
          </a:p>
        </p:txBody>
      </p:sp>
      <p:sp>
        <p:nvSpPr>
          <p:cNvPr id="14" name="Lab A hidden interpretation"/>
          <p:cNvSpPr/>
          <p:nvPr/>
        </p:nvSpPr>
        <p:spPr>
          <a:xfrm>
            <a:off x="6144768" y="4773168"/>
            <a:ext cx="5248656" cy="365760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Hidden 低 J 來自 </a:t>
            </a:r>
            <a:r>
              <a:rPr sz="16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0/3</a:t>
            </a: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未交付；不可視為節能成功</a:t>
            </a:r>
          </a:p>
        </p:txBody>
      </p:sp>
      <p:sp>
        <p:nvSpPr>
          <p:cNvPr id="15" name="Field contract policy identity"/>
          <p:cNvSpPr/>
          <p:nvPr/>
        </p:nvSpPr>
        <p:spPr>
          <a:xfrm>
            <a:off x="749808" y="5157216"/>
            <a:ext cx="10716768" cy="658368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8288" rIns="146304" bIns="18288"/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策略識別 </a:t>
            </a: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policy identity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（欄位）｜來源：P042 result path｜作用：確認三次 run 的 policy 與 frozen identity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單位：identity｜判讀：先核對 scenario、seed、units、provenance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狀態帳本回到端點能量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用事件與能量分桶，把 </a:t>
            </a:r>
            <a:r>
              <a:rPr sz="24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的成本拆回可檢查的狀態區間</a:t>
            </a:r>
          </a:p>
        </p:txBody>
      </p:sp>
      <p:sp>
        <p:nvSpPr>
          <p:cNvPr id="4" name="State ledger order card"/>
          <p:cNvSpPr/>
          <p:nvPr/>
        </p:nvSpPr>
        <p:spPr>
          <a:xfrm>
            <a:off x="868680" y="1481328"/>
            <a:ext cx="5010912" cy="2212848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tate ledger order card heading"/>
          <p:cNvSpPr txBox="1"/>
          <p:nvPr/>
        </p:nvSpPr>
        <p:spPr>
          <a:xfrm>
            <a:off x="960120" y="1591056"/>
            <a:ext cx="4828032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帳本讀取順序 Ledger</a:t>
            </a:r>
          </a:p>
        </p:txBody>
      </p:sp>
      <p:sp>
        <p:nvSpPr>
          <p:cNvPr id="6" name="State ledger order card body"/>
          <p:cNvSpPr txBox="1"/>
          <p:nvPr/>
        </p:nvSpPr>
        <p:spPr>
          <a:xfrm>
            <a:off x="996695" y="2011680"/>
            <a:ext cx="4754880" cy="15727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1｜狀態區間 </a:t>
            </a: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STATE_INTERVAL</a:t>
            </a: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：找 WAIT／SLEEP 停留秒數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2｜喚醒 </a:t>
            </a: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：確認轉換是否出現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3｜能量分桶 </a:t>
            </a: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energy_breakdown_j</a:t>
            </a: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：對回每個 bucket</a:t>
            </a:r>
          </a:p>
        </p:txBody>
      </p:sp>
      <p:sp>
        <p:nvSpPr>
          <p:cNvPr id="7" name="Energy bucket result card"/>
          <p:cNvSpPr/>
          <p:nvPr/>
        </p:nvSpPr>
        <p:spPr>
          <a:xfrm>
            <a:off x="6309360" y="1481328"/>
            <a:ext cx="5010912" cy="221284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nergy bucket result card heading"/>
          <p:cNvSpPr txBox="1"/>
          <p:nvPr/>
        </p:nvSpPr>
        <p:spPr>
          <a:xfrm>
            <a:off x="6400800" y="1591056"/>
            <a:ext cx="4828032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能量分桶 </a:t>
            </a:r>
            <a:r>
              <a:rPr sz="2200" b="1" i="1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energy_breakdown_j</a:t>
            </a:r>
          </a:p>
        </p:txBody>
      </p:sp>
      <p:sp>
        <p:nvSpPr>
          <p:cNvPr id="9" name="Energy bucket result card body"/>
          <p:cNvSpPr txBox="1"/>
          <p:nvPr/>
        </p:nvSpPr>
        <p:spPr>
          <a:xfrm>
            <a:off x="6437376" y="2011680"/>
            <a:ext cx="4754880" cy="157276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醒著閒置 </a:t>
            </a: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awake_idle</a:t>
            </a: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6.00 J｜休息 </a:t>
            </a: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0.04 J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喚醒 </a:t>
            </a: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0.02 J｜處理 </a:t>
            </a: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process</a:t>
            </a: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0.16 J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發射 </a:t>
            </a: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tx</a:t>
            </a: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2.40 J｜接收 </a:t>
            </a: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rx</a:t>
            </a: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0.24 J</a:t>
            </a:r>
          </a:p>
        </p:txBody>
      </p:sp>
      <p:sp>
        <p:nvSpPr>
          <p:cNvPr id="10" name="Ledger result fields"/>
          <p:cNvSpPr/>
          <p:nvPr/>
        </p:nvSpPr>
        <p:spPr>
          <a:xfrm>
            <a:off x="932688" y="3968496"/>
            <a:ext cx="4882896" cy="80467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來源：候選 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的 </a:t>
            </a:r>
            <a:r>
              <a:rPr sz="17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events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保留 state、起訖秒數、事件能量與 bucket J</a:t>
            </a:r>
          </a:p>
        </p:txBody>
      </p:sp>
      <p:sp>
        <p:nvSpPr>
          <p:cNvPr id="11" name="Ledger artifact boundary"/>
          <p:cNvSpPr/>
          <p:nvPr/>
        </p:nvSpPr>
        <p:spPr>
          <a:xfrm>
            <a:off x="6364224" y="3968496"/>
            <a:ext cx="4882896" cy="80467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讀取：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STATE_INTERVAL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energy_breakdown_j</a:t>
            </a:r>
          </a:p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哪個 interval 改變，就解釋哪個 J bucket</a:t>
            </a:r>
          </a:p>
        </p:txBody>
      </p:sp>
      <p:sp>
        <p:nvSpPr>
          <p:cNvPr id="12" name="Field contract STATE_INTERVAL"/>
          <p:cNvSpPr/>
          <p:nvPr/>
        </p:nvSpPr>
        <p:spPr>
          <a:xfrm>
            <a:off x="749808" y="5157216"/>
            <a:ext cx="10716768" cy="658368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8288" rIns="146304" bIns="18288"/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狀態區間事件 </a:t>
            </a: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STATE_INTERVAL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（欄位）｜來源：candidate events｜作用：提供 state、time、event energy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單位：state＋s＋J｜判讀：沿 interval 判讀 WAIT 成本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封包結果回到服務判定</a:t>
            </a:r>
          </a:p>
        </p:txBody>
      </p:sp>
      <p:sp>
        <p:nvSpPr>
          <p:cNvPr id="3" name="Teaching proposition"/>
          <p:cNvSpPr txBox="1"/>
          <p:nvPr/>
        </p:nvSpPr>
        <p:spPr>
          <a:xfrm>
            <a:off x="896112" y="914400"/>
            <a:ext cx="1040587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WAIT 沒改善服務，卻多耗 1.94 J；hidden 的低 J 是未送達，不是節能成功</a:t>
            </a:r>
          </a:p>
        </p:txBody>
      </p:sp>
      <p:sp>
        <p:nvSpPr>
          <p:cNvPr id="4" name="Lab A state packet interpretation"/>
          <p:cNvSpPr/>
          <p:nvPr/>
        </p:nvSpPr>
        <p:spPr>
          <a:xfrm>
            <a:off x="768096" y="1389888"/>
            <a:ext cx="5047488" cy="248716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ab A state packet interpretation heading"/>
          <p:cNvSpPr txBox="1"/>
          <p:nvPr/>
        </p:nvSpPr>
        <p:spPr>
          <a:xfrm>
            <a:off x="859536" y="1499616"/>
            <a:ext cx="4864607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SLEEP → WAIT｜state／packet</a:t>
            </a:r>
          </a:p>
        </p:txBody>
      </p:sp>
      <p:sp>
        <p:nvSpPr>
          <p:cNvPr id="6" name="Lab A state packet interpretation body"/>
          <p:cNvSpPr txBox="1"/>
          <p:nvPr/>
        </p:nvSpPr>
        <p:spPr>
          <a:xfrm>
            <a:off x="896112" y="1920240"/>
            <a:ext cx="4791455" cy="18470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：2 → 1　（少 1 次）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retries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：1 → 1　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collisions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：1 → 1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expired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：3 → 3　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delivered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：1/4 → 1/4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：false → false　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：false → false</a:t>
            </a:r>
          </a:p>
        </p:txBody>
      </p:sp>
      <p:sp>
        <p:nvSpPr>
          <p:cNvPr id="7" name="Lab A endpoint tradeoff"/>
          <p:cNvSpPr/>
          <p:nvPr/>
        </p:nvSpPr>
        <p:spPr>
          <a:xfrm>
            <a:off x="6144768" y="1389888"/>
            <a:ext cx="4261104" cy="248716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ab A endpoint tradeoff heading"/>
          <p:cNvSpPr txBox="1"/>
          <p:nvPr/>
        </p:nvSpPr>
        <p:spPr>
          <a:xfrm>
            <a:off x="6236207" y="1499616"/>
            <a:ext cx="4078224" cy="34747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Endpoint trade-off｜J／bit/J</a:t>
            </a:r>
          </a:p>
        </p:txBody>
      </p:sp>
      <p:sp>
        <p:nvSpPr>
          <p:cNvPr id="9" name="Lab A endpoint tradeoff body"/>
          <p:cNvSpPr txBox="1"/>
          <p:nvPr/>
        </p:nvSpPr>
        <p:spPr>
          <a:xfrm>
            <a:off x="6272783" y="1920240"/>
            <a:ext cx="4005072" cy="18470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：6.92 → 8.86 J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差異：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+1.94 J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bit/J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：693.641618 → 541.760722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WAIT 沒改善 service，且端點能量更高、效率更低。</a:t>
            </a:r>
          </a:p>
        </p:txBody>
      </p:sp>
      <p:sp>
        <p:nvSpPr>
          <p:cNvPr id="10" name="Lab A hidden frozen result"/>
          <p:cNvSpPr/>
          <p:nvPr/>
        </p:nvSpPr>
        <p:spPr>
          <a:xfrm>
            <a:off x="768096" y="4096512"/>
            <a:ext cx="9637776" cy="786384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Hidden frozen WAIT｜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delivered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：0/3　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retries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：0　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collisions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：0　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expired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：3　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：0　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：3.61 J　</a:t>
            </a:r>
            <a:r>
              <a:rPr sz="165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bit/J</a:t>
            </a:r>
            <a:r>
              <a:rPr sz="165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：0</a:t>
            </a:r>
          </a:p>
        </p:txBody>
      </p:sp>
      <p:sp>
        <p:nvSpPr>
          <p:cNvPr id="11" name="Lab A hidden no success"/>
          <p:cNvSpPr/>
          <p:nvPr/>
        </p:nvSpPr>
        <p:spPr>
          <a:xfrm>
            <a:off x="768096" y="4645152"/>
            <a:ext cx="9637776" cy="365760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Hidden 低 J 的原因是完全未送達；</a:t>
            </a:r>
            <a:r>
              <a:rPr sz="16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service=false</a:t>
            </a: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6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deadline=false</a:t>
            </a: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，不能把它稱為節能成功。</a:t>
            </a:r>
          </a:p>
        </p:txBody>
      </p:sp>
      <p:sp>
        <p:nvSpPr>
          <p:cNvPr id="12" name="Field contract deadline_pass"/>
          <p:cNvSpPr/>
          <p:nvPr/>
        </p:nvSpPr>
        <p:spPr>
          <a:xfrm>
            <a:off x="749808" y="5157216"/>
            <a:ext cx="10716768" cy="658368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8288" rIns="146304" bIns="18288"/>
          <a:lstStyle/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期限通過狀態 </a:t>
            </a: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deadline_pass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（欄位）｜來源：result summary｜作用：required packet 是否準時交付</a:t>
            </a:r>
          </a:p>
          <a:p>
            <a:pPr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單位：true／false｜判讀：先讀 delivered／expired／freshness，再形成 service gate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 freeze：把 candidate 綁成可追溯 policy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freeze receipt 固定 policy identity；hidden 只接受配對的 checkpoint。</a:t>
            </a:r>
          </a:p>
        </p:txBody>
      </p:sp>
      <p:sp>
        <p:nvSpPr>
          <p:cNvPr id="4" name="A freeze node 1"/>
          <p:cNvSpPr/>
          <p:nvPr/>
        </p:nvSpPr>
        <p:spPr>
          <a:xfrm>
            <a:off x="713232" y="1572768"/>
            <a:ext cx="3255264" cy="135331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 freeze node 1 heading"/>
          <p:cNvSpPr txBox="1"/>
          <p:nvPr/>
        </p:nvSpPr>
        <p:spPr>
          <a:xfrm>
            <a:off x="859536" y="1682495"/>
            <a:ext cx="296265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A baseline</a:t>
            </a:r>
          </a:p>
        </p:txBody>
      </p:sp>
      <p:sp>
        <p:nvSpPr>
          <p:cNvPr id="6" name="A freeze node 1 body"/>
          <p:cNvSpPr txBox="1"/>
          <p:nvPr/>
        </p:nvSpPr>
        <p:spPr>
          <a:xfrm>
            <a:off x="877824" y="2084832"/>
            <a:ext cx="2926080" cy="731519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原始 policy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固定 scenario／seed</a:t>
            </a:r>
          </a:p>
        </p:txBody>
      </p:sp>
      <p:sp>
        <p:nvSpPr>
          <p:cNvPr id="7" name="A freeze connector"/>
          <p:cNvSpPr/>
          <p:nvPr/>
        </p:nvSpPr>
        <p:spPr>
          <a:xfrm>
            <a:off x="4078224" y="2066543"/>
            <a:ext cx="310896" cy="384048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 freeze node 2"/>
          <p:cNvSpPr/>
          <p:nvPr/>
        </p:nvSpPr>
        <p:spPr>
          <a:xfrm>
            <a:off x="4480560" y="1572768"/>
            <a:ext cx="3255264" cy="1353312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 freeze node 2 heading"/>
          <p:cNvSpPr txBox="1"/>
          <p:nvPr/>
        </p:nvSpPr>
        <p:spPr>
          <a:xfrm>
            <a:off x="4626864" y="1682495"/>
            <a:ext cx="296265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 + freeze</a:t>
            </a:r>
          </a:p>
        </p:txBody>
      </p:sp>
      <p:sp>
        <p:nvSpPr>
          <p:cNvPr id="10" name="A freeze node 2 body"/>
          <p:cNvSpPr txBox="1"/>
          <p:nvPr/>
        </p:nvSpPr>
        <p:spPr>
          <a:xfrm>
            <a:off x="4645152" y="2084832"/>
            <a:ext cx="2926080" cy="731519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REST_DURING_GAP = WAIT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留下 receipt + checkpoint</a:t>
            </a:r>
          </a:p>
        </p:txBody>
      </p:sp>
      <p:sp>
        <p:nvSpPr>
          <p:cNvPr id="11" name="A freeze connector"/>
          <p:cNvSpPr/>
          <p:nvPr/>
        </p:nvSpPr>
        <p:spPr>
          <a:xfrm>
            <a:off x="7845552" y="2066543"/>
            <a:ext cx="310896" cy="384048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 freeze node 3"/>
          <p:cNvSpPr/>
          <p:nvPr/>
        </p:nvSpPr>
        <p:spPr>
          <a:xfrm>
            <a:off x="8247888" y="1572768"/>
            <a:ext cx="3255264" cy="135331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 freeze node 3 heading"/>
          <p:cNvSpPr txBox="1"/>
          <p:nvPr/>
        </p:nvSpPr>
        <p:spPr>
          <a:xfrm>
            <a:off x="8394192" y="1682495"/>
            <a:ext cx="296265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A hidden</a:t>
            </a:r>
          </a:p>
        </p:txBody>
      </p:sp>
      <p:sp>
        <p:nvSpPr>
          <p:cNvPr id="14" name="A freeze node 3 body"/>
          <p:cNvSpPr txBox="1"/>
          <p:nvPr/>
        </p:nvSpPr>
        <p:spPr>
          <a:xfrm>
            <a:off x="8412480" y="2084832"/>
            <a:ext cx="2926080" cy="731519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policy 不再改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只換 case 條件</a:t>
            </a:r>
          </a:p>
        </p:txBody>
      </p:sp>
      <p:sp>
        <p:nvSpPr>
          <p:cNvPr id="15" name="A freeze receipt"/>
          <p:cNvSpPr/>
          <p:nvPr/>
        </p:nvSpPr>
        <p:spPr>
          <a:xfrm>
            <a:off x="786384" y="3273552"/>
            <a:ext cx="5084064" cy="1188720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 freeze receipt heading"/>
          <p:cNvSpPr txBox="1"/>
          <p:nvPr/>
        </p:nvSpPr>
        <p:spPr>
          <a:xfrm>
            <a:off x="932688" y="3383280"/>
            <a:ext cx="4791455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receipt｜凍結收據</a:t>
            </a:r>
          </a:p>
        </p:txBody>
      </p:sp>
      <p:sp>
        <p:nvSpPr>
          <p:cNvPr id="17" name="A freeze receipt body"/>
          <p:cNvSpPr txBox="1"/>
          <p:nvPr/>
        </p:nvSpPr>
        <p:spPr>
          <a:xfrm>
            <a:off x="950976" y="3785616"/>
            <a:ext cx="4754879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--freeze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產生；記下 policy、scenario、seed role。</a:t>
            </a:r>
          </a:p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作用：確認後續 case 使用同一個 policy identity。</a:t>
            </a:r>
          </a:p>
        </p:txBody>
      </p:sp>
      <p:sp>
        <p:nvSpPr>
          <p:cNvPr id="18" name="A freeze checkpoint"/>
          <p:cNvSpPr/>
          <p:nvPr/>
        </p:nvSpPr>
        <p:spPr>
          <a:xfrm>
            <a:off x="6272784" y="3273552"/>
            <a:ext cx="5084064" cy="118872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 freeze checkpoint heading"/>
          <p:cNvSpPr txBox="1"/>
          <p:nvPr/>
        </p:nvSpPr>
        <p:spPr>
          <a:xfrm>
            <a:off x="6419088" y="3383280"/>
            <a:ext cx="4791455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checkpoint｜策略快照</a:t>
            </a:r>
          </a:p>
        </p:txBody>
      </p:sp>
      <p:sp>
        <p:nvSpPr>
          <p:cNvPr id="20" name="A freeze checkpoint body"/>
          <p:cNvSpPr txBox="1"/>
          <p:nvPr/>
        </p:nvSpPr>
        <p:spPr>
          <a:xfrm>
            <a:off x="6437376" y="3785616"/>
            <a:ext cx="4754879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同一 run 保存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.json + .py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；可復原前序 policy。</a:t>
            </a:r>
          </a:p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作用：identity 不符時停止，不直接進 hidden。</a:t>
            </a:r>
          </a:p>
        </p:txBody>
      </p:sp>
      <p:sp>
        <p:nvSpPr>
          <p:cNvPr id="21" name="Field strip freeze_receipt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freeze_receipt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（凍結收據識別）｜來源：candidate stdout／receipt｜作用：配對後續 policy｜單位：hash-like identity｜判讀：對得上才可進 hidden</a:t>
            </a:r>
          </a:p>
        </p:txBody>
      </p:sp>
      <p:sp>
        <p:nvSpPr>
          <p:cNvPr id="22" name="Claim boundary strip"/>
          <p:cNvSpPr/>
          <p:nvPr/>
        </p:nvSpPr>
        <p:spPr>
          <a:xfrm>
            <a:off x="804672" y="5468112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 hidden：同一 policy，檢查新的 case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withheld case 改變 contact／traffic 條件；frozen policy 保持不變。</a:t>
            </a:r>
          </a:p>
        </p:txBody>
      </p:sp>
      <p:sp>
        <p:nvSpPr>
          <p:cNvPr id="4" name="A hidden frozen"/>
          <p:cNvSpPr/>
          <p:nvPr/>
        </p:nvSpPr>
        <p:spPr>
          <a:xfrm>
            <a:off x="786384" y="1572768"/>
            <a:ext cx="5102352" cy="239572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 hidden frozen heading"/>
          <p:cNvSpPr txBox="1"/>
          <p:nvPr/>
        </p:nvSpPr>
        <p:spPr>
          <a:xfrm>
            <a:off x="932688" y="1682495"/>
            <a:ext cx="48097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固定的 policy</a:t>
            </a:r>
          </a:p>
        </p:txBody>
      </p:sp>
      <p:sp>
        <p:nvSpPr>
          <p:cNvPr id="6" name="A hidden frozen body"/>
          <p:cNvSpPr txBox="1"/>
          <p:nvPr/>
        </p:nvSpPr>
        <p:spPr>
          <a:xfrm>
            <a:off x="950976" y="2084832"/>
            <a:ext cx="4773168" cy="17739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 checkpoint：</a:t>
            </a: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REST_DURING_GAP = WAIT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policy edit：0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同一 policy identity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新的 case 條件才是檢驗因素</a:t>
            </a:r>
          </a:p>
        </p:txBody>
      </p:sp>
      <p:sp>
        <p:nvSpPr>
          <p:cNvPr id="7" name="A hidden evidence"/>
          <p:cNvSpPr/>
          <p:nvPr/>
        </p:nvSpPr>
        <p:spPr>
          <a:xfrm>
            <a:off x="6272784" y="1572768"/>
            <a:ext cx="5102352" cy="239572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 hidden evidence heading"/>
          <p:cNvSpPr txBox="1"/>
          <p:nvPr/>
        </p:nvSpPr>
        <p:spPr>
          <a:xfrm>
            <a:off x="6419088" y="1682495"/>
            <a:ext cx="48097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要讀的 evidence</a:t>
            </a:r>
          </a:p>
        </p:txBody>
      </p:sp>
      <p:sp>
        <p:nvSpPr>
          <p:cNvPr id="9" name="A hidden evidence body"/>
          <p:cNvSpPr txBox="1"/>
          <p:nvPr/>
        </p:nvSpPr>
        <p:spPr>
          <a:xfrm>
            <a:off x="6437376" y="2084832"/>
            <a:ext cx="4773168" cy="17739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指向本次 </a:t>
            </a: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同目錄保留 </a:t>
            </a: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service、delivery、endpoint J：待補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數值以同一 run pair 為準</a:t>
            </a:r>
          </a:p>
        </p:txBody>
      </p:sp>
      <p:sp>
        <p:nvSpPr>
          <p:cNvPr id="10" name="A hidden interpretation"/>
          <p:cNvSpPr/>
          <p:nvPr/>
        </p:nvSpPr>
        <p:spPr>
          <a:xfrm>
            <a:off x="914400" y="4315968"/>
            <a:ext cx="10369296" cy="713232"/>
          </a:xfrm>
          <a:prstGeom prst="roundRect">
            <a:avLst/>
          </a:prstGeom>
          <a:solidFill>
            <a:srgbClr val="FFF9E6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 hidden interpretation text"/>
          <p:cNvSpPr txBox="1"/>
          <p:nvPr/>
        </p:nvSpPr>
        <p:spPr>
          <a:xfrm>
            <a:off x="1078992" y="4462272"/>
            <a:ext cx="100401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同一 policy 在新 case 出現不同結果，結論只描述可被這組條件支持的範圍。</a:t>
            </a:r>
          </a:p>
        </p:txBody>
      </p:sp>
      <p:sp>
        <p:nvSpPr>
          <p:cNvPr id="12" name="Field strip withheld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withheld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（保留 case）｜來源：scenario contract｜作用：檢查條件邊界｜單位：case role｜判讀：不同結果不是新的調參證據</a:t>
            </a:r>
          </a:p>
        </p:txBody>
      </p:sp>
      <p:sp>
        <p:nvSpPr>
          <p:cNvPr id="13" name="Claim boundary strip"/>
          <p:cNvSpPr/>
          <p:nvPr/>
        </p:nvSpPr>
        <p:spPr>
          <a:xfrm>
            <a:off x="804672" y="5468112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Lab A 結論：state、service、J 要一起讀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一個數字不能代替因果；先確認 state 怎麼變，再對照 service 與 endpoint J。</a:t>
            </a:r>
          </a:p>
        </p:txBody>
      </p:sp>
      <p:sp>
        <p:nvSpPr>
          <p:cNvPr id="4" name="A conclusion node 1"/>
          <p:cNvSpPr/>
          <p:nvPr/>
        </p:nvSpPr>
        <p:spPr>
          <a:xfrm>
            <a:off x="566928" y="1572768"/>
            <a:ext cx="2542032" cy="133502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 conclusion node 1 heading"/>
          <p:cNvSpPr txBox="1"/>
          <p:nvPr/>
        </p:nvSpPr>
        <p:spPr>
          <a:xfrm>
            <a:off x="713232" y="1682495"/>
            <a:ext cx="224942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條件</a:t>
            </a:r>
          </a:p>
        </p:txBody>
      </p:sp>
      <p:sp>
        <p:nvSpPr>
          <p:cNvPr id="6" name="A conclusion node 1 body"/>
          <p:cNvSpPr txBox="1"/>
          <p:nvPr/>
        </p:nvSpPr>
        <p:spPr>
          <a:xfrm>
            <a:off x="731520" y="2084832"/>
            <a:ext cx="2212848" cy="713231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同一 scenario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 frozen identity</a:t>
            </a:r>
          </a:p>
        </p:txBody>
      </p:sp>
      <p:sp>
        <p:nvSpPr>
          <p:cNvPr id="7" name="A conclusion connector"/>
          <p:cNvSpPr/>
          <p:nvPr/>
        </p:nvSpPr>
        <p:spPr>
          <a:xfrm>
            <a:off x="3200400" y="2057400"/>
            <a:ext cx="310896" cy="384048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 conclusion node 2"/>
          <p:cNvSpPr/>
          <p:nvPr/>
        </p:nvSpPr>
        <p:spPr>
          <a:xfrm>
            <a:off x="3401568" y="1572768"/>
            <a:ext cx="2542032" cy="1335024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 conclusion node 2 heading"/>
          <p:cNvSpPr txBox="1"/>
          <p:nvPr/>
        </p:nvSpPr>
        <p:spPr>
          <a:xfrm>
            <a:off x="3547872" y="1682495"/>
            <a:ext cx="224942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state</a:t>
            </a:r>
          </a:p>
        </p:txBody>
      </p:sp>
      <p:sp>
        <p:nvSpPr>
          <p:cNvPr id="10" name="A conclusion node 2 body"/>
          <p:cNvSpPr txBox="1"/>
          <p:nvPr/>
        </p:nvSpPr>
        <p:spPr>
          <a:xfrm>
            <a:off x="3566160" y="2084832"/>
            <a:ext cx="2212848" cy="713231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state interval</a:t>
            </a:r>
          </a:p>
        </p:txBody>
      </p:sp>
      <p:sp>
        <p:nvSpPr>
          <p:cNvPr id="11" name="A conclusion connector"/>
          <p:cNvSpPr/>
          <p:nvPr/>
        </p:nvSpPr>
        <p:spPr>
          <a:xfrm>
            <a:off x="6035040" y="2057400"/>
            <a:ext cx="310896" cy="384048"/>
          </a:xfrm>
          <a:prstGeom prst="chevron">
            <a:avLst/>
          </a:prstGeom>
          <a:solidFill>
            <a:srgbClr val="66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 conclusion node 3"/>
          <p:cNvSpPr/>
          <p:nvPr/>
        </p:nvSpPr>
        <p:spPr>
          <a:xfrm>
            <a:off x="6236208" y="1572768"/>
            <a:ext cx="2542032" cy="133502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 conclusion node 3 heading"/>
          <p:cNvSpPr txBox="1"/>
          <p:nvPr/>
        </p:nvSpPr>
        <p:spPr>
          <a:xfrm>
            <a:off x="6382512" y="1682495"/>
            <a:ext cx="224942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sp>
        <p:nvSpPr>
          <p:cNvPr id="14" name="A conclusion node 3 body"/>
          <p:cNvSpPr txBox="1"/>
          <p:nvPr/>
        </p:nvSpPr>
        <p:spPr>
          <a:xfrm>
            <a:off x="6400800" y="2084832"/>
            <a:ext cx="2212848" cy="713231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delivery、deadline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與 freshness gate</a:t>
            </a:r>
          </a:p>
        </p:txBody>
      </p:sp>
      <p:sp>
        <p:nvSpPr>
          <p:cNvPr id="15" name="A conclusion connector"/>
          <p:cNvSpPr/>
          <p:nvPr/>
        </p:nvSpPr>
        <p:spPr>
          <a:xfrm>
            <a:off x="8869680" y="2057400"/>
            <a:ext cx="310896" cy="384048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 conclusion node 4"/>
          <p:cNvSpPr/>
          <p:nvPr/>
        </p:nvSpPr>
        <p:spPr>
          <a:xfrm>
            <a:off x="9070848" y="1572768"/>
            <a:ext cx="2542032" cy="1335024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 conclusion node 4 heading"/>
          <p:cNvSpPr txBox="1"/>
          <p:nvPr/>
        </p:nvSpPr>
        <p:spPr>
          <a:xfrm>
            <a:off x="9217152" y="1682495"/>
            <a:ext cx="224942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sp>
        <p:nvSpPr>
          <p:cNvPr id="18" name="A conclusion node 4 body"/>
          <p:cNvSpPr txBox="1"/>
          <p:nvPr/>
        </p:nvSpPr>
        <p:spPr>
          <a:xfrm>
            <a:off x="9235440" y="2084832"/>
            <a:ext cx="2212848" cy="713231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radio／processing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端點能量</a:t>
            </a:r>
          </a:p>
        </p:txBody>
      </p:sp>
      <p:sp>
        <p:nvSpPr>
          <p:cNvPr id="19" name="A conclusion sentence"/>
          <p:cNvSpPr/>
          <p:nvPr/>
        </p:nvSpPr>
        <p:spPr>
          <a:xfrm>
            <a:off x="841248" y="3273552"/>
            <a:ext cx="10497312" cy="1024128"/>
          </a:xfrm>
          <a:prstGeom prst="roundRect">
            <a:avLst/>
          </a:prstGeom>
          <a:solidFill>
            <a:srgbClr val="FFF9E6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 conclusion sentence text"/>
          <p:cNvSpPr txBox="1"/>
          <p:nvPr/>
        </p:nvSpPr>
        <p:spPr>
          <a:xfrm>
            <a:off x="1078992" y="3456432"/>
            <a:ext cx="10040112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tIns="9144" rIns="36576" bIns="9144">
            <a:spAutoFit/>
          </a:bodyPr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SLEEP → WAIT</a:t>
            </a: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先改變 state interval，再觀察 packet／service；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endpoint J 的變化只在同一 identity、同一 run pair 下解讀。</a:t>
            </a:r>
          </a:p>
        </p:txBody>
      </p:sp>
      <p:sp>
        <p:nvSpPr>
          <p:cNvPr id="21" name="Field strip state_interval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state_interval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（狀態區間）｜來源：result events｜作用：把 action 接到時間｜單位：s｜判讀：對照 packet、service、endpoint J</a:t>
            </a:r>
          </a:p>
        </p:txBody>
      </p:sp>
      <p:sp>
        <p:nvSpPr>
          <p:cNvPr id="22" name="Claim boundary strip"/>
          <p:cNvSpPr/>
          <p:nvPr/>
        </p:nvSpPr>
        <p:spPr>
          <a:xfrm>
            <a:off x="804672" y="5468112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Lab B：一個 hold 參數，連到整條 energy ledger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LoRaEnergySim 的價值在於把品質觀測、封包事件與端點 energy 放到同一條可追溯鏈。</a:t>
            </a:r>
          </a:p>
        </p:txBody>
      </p:sp>
      <p:sp>
        <p:nvSpPr>
          <p:cNvPr id="4" name="LoRa ledger node 1"/>
          <p:cNvSpPr/>
          <p:nvPr/>
        </p:nvSpPr>
        <p:spPr>
          <a:xfrm>
            <a:off x="548640" y="1572768"/>
            <a:ext cx="2615184" cy="148132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oRa ledger node 1 heading"/>
          <p:cNvSpPr txBox="1"/>
          <p:nvPr/>
        </p:nvSpPr>
        <p:spPr>
          <a:xfrm>
            <a:off x="694944" y="1682495"/>
            <a:ext cx="232257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1｜觀測 quality</a:t>
            </a:r>
          </a:p>
        </p:txBody>
      </p:sp>
      <p:sp>
        <p:nvSpPr>
          <p:cNvPr id="6" name="LoRa ledger node 1 body"/>
          <p:cNvSpPr txBox="1"/>
          <p:nvPr/>
        </p:nvSpPr>
        <p:spPr>
          <a:xfrm>
            <a:off x="713232" y="2084832"/>
            <a:ext cx="2286000" cy="8595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quality_band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stable_steps</a:t>
            </a:r>
          </a:p>
        </p:txBody>
      </p:sp>
      <p:sp>
        <p:nvSpPr>
          <p:cNvPr id="7" name="LoRa ledger connector"/>
          <p:cNvSpPr/>
          <p:nvPr/>
        </p:nvSpPr>
        <p:spPr>
          <a:xfrm>
            <a:off x="3246120" y="2084831"/>
            <a:ext cx="310896" cy="384048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oRa ledger node 2"/>
          <p:cNvSpPr/>
          <p:nvPr/>
        </p:nvSpPr>
        <p:spPr>
          <a:xfrm>
            <a:off x="3346704" y="1572768"/>
            <a:ext cx="2615184" cy="148132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oRa ledger node 2 heading"/>
          <p:cNvSpPr txBox="1"/>
          <p:nvPr/>
        </p:nvSpPr>
        <p:spPr>
          <a:xfrm>
            <a:off x="3493008" y="1682495"/>
            <a:ext cx="232257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2｜模式事件</a:t>
            </a:r>
          </a:p>
        </p:txBody>
      </p:sp>
      <p:sp>
        <p:nvSpPr>
          <p:cNvPr id="10" name="LoRa ledger node 2 body"/>
          <p:cNvSpPr txBox="1"/>
          <p:nvPr/>
        </p:nvSpPr>
        <p:spPr>
          <a:xfrm>
            <a:off x="3511296" y="2084832"/>
            <a:ext cx="2286000" cy="8595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MODE_CHANGE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何時進入 send-ready</a:t>
            </a:r>
          </a:p>
        </p:txBody>
      </p:sp>
      <p:sp>
        <p:nvSpPr>
          <p:cNvPr id="11" name="LoRa ledger connector"/>
          <p:cNvSpPr/>
          <p:nvPr/>
        </p:nvSpPr>
        <p:spPr>
          <a:xfrm>
            <a:off x="6044184" y="2084831"/>
            <a:ext cx="310896" cy="384048"/>
          </a:xfrm>
          <a:prstGeom prst="chevron">
            <a:avLst/>
          </a:prstGeom>
          <a:solidFill>
            <a:srgbClr val="66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oRa ledger node 3"/>
          <p:cNvSpPr/>
          <p:nvPr/>
        </p:nvSpPr>
        <p:spPr>
          <a:xfrm>
            <a:off x="6144768" y="1572768"/>
            <a:ext cx="2615184" cy="148132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oRa ledger node 3 heading"/>
          <p:cNvSpPr txBox="1"/>
          <p:nvPr/>
        </p:nvSpPr>
        <p:spPr>
          <a:xfrm>
            <a:off x="6291072" y="1682495"/>
            <a:ext cx="232257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3｜封包結果</a:t>
            </a:r>
          </a:p>
        </p:txBody>
      </p:sp>
      <p:sp>
        <p:nvSpPr>
          <p:cNvPr id="14" name="LoRa ledger node 3 body"/>
          <p:cNvSpPr txBox="1"/>
          <p:nvPr/>
        </p:nvSpPr>
        <p:spPr>
          <a:xfrm>
            <a:off x="6309360" y="2084832"/>
            <a:ext cx="2286000" cy="8595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attempt／retry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delivery／collision</a:t>
            </a:r>
          </a:p>
        </p:txBody>
      </p:sp>
      <p:sp>
        <p:nvSpPr>
          <p:cNvPr id="15" name="LoRa ledger connector"/>
          <p:cNvSpPr/>
          <p:nvPr/>
        </p:nvSpPr>
        <p:spPr>
          <a:xfrm>
            <a:off x="8842248" y="2084831"/>
            <a:ext cx="310896" cy="384048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oRa ledger node 4"/>
          <p:cNvSpPr/>
          <p:nvPr/>
        </p:nvSpPr>
        <p:spPr>
          <a:xfrm>
            <a:off x="8942832" y="1572768"/>
            <a:ext cx="2615184" cy="148132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oRa ledger node 4 heading"/>
          <p:cNvSpPr txBox="1"/>
          <p:nvPr/>
        </p:nvSpPr>
        <p:spPr>
          <a:xfrm>
            <a:off x="9089136" y="1682495"/>
            <a:ext cx="232257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4｜端點 energy</a:t>
            </a:r>
          </a:p>
        </p:txBody>
      </p:sp>
      <p:sp>
        <p:nvSpPr>
          <p:cNvPr id="18" name="LoRa ledger node 4 body"/>
          <p:cNvSpPr txBox="1"/>
          <p:nvPr/>
        </p:nvSpPr>
        <p:spPr>
          <a:xfrm>
            <a:off x="9107424" y="2084832"/>
            <a:ext cx="2286000" cy="8595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radio／processing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</a:p>
        </p:txBody>
      </p:sp>
      <p:sp>
        <p:nvSpPr>
          <p:cNvPr id="19" name="LEO service input"/>
          <p:cNvSpPr/>
          <p:nvPr/>
        </p:nvSpPr>
        <p:spPr>
          <a:xfrm>
            <a:off x="786384" y="3401568"/>
            <a:ext cx="5084064" cy="128016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EO service input heading"/>
          <p:cNvSpPr txBox="1"/>
          <p:nvPr/>
        </p:nvSpPr>
        <p:spPr>
          <a:xfrm>
            <a:off x="932688" y="3511296"/>
            <a:ext cx="4791455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LEO input｜服務窗口</a:t>
            </a:r>
          </a:p>
        </p:txBody>
      </p:sp>
      <p:sp>
        <p:nvSpPr>
          <p:cNvPr id="21" name="LEO service input body"/>
          <p:cNvSpPr txBox="1"/>
          <p:nvPr/>
        </p:nvSpPr>
        <p:spPr>
          <a:xfrm>
            <a:off x="950976" y="3913632"/>
            <a:ext cx="4754879" cy="658367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service_window</a:t>
            </a: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定義合法傳輸機會。</a:t>
            </a:r>
          </a:p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它改變可用條件；policy edit 仍只在 endpoint decision block。</a:t>
            </a:r>
          </a:p>
        </p:txBody>
      </p:sp>
      <p:sp>
        <p:nvSpPr>
          <p:cNvPr id="22" name="Teaching comparison"/>
          <p:cNvSpPr/>
          <p:nvPr/>
        </p:nvSpPr>
        <p:spPr>
          <a:xfrm>
            <a:off x="6272784" y="3401568"/>
            <a:ext cx="5084064" cy="128016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aching comparison heading"/>
          <p:cNvSpPr txBox="1"/>
          <p:nvPr/>
        </p:nvSpPr>
        <p:spPr>
          <a:xfrm>
            <a:off x="6419088" y="3511296"/>
            <a:ext cx="4791455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可解釋的比較</a:t>
            </a:r>
          </a:p>
        </p:txBody>
      </p:sp>
      <p:sp>
        <p:nvSpPr>
          <p:cNvPr id="24" name="Teaching comparison body"/>
          <p:cNvSpPr txBox="1"/>
          <p:nvPr/>
        </p:nvSpPr>
        <p:spPr>
          <a:xfrm>
            <a:off x="6437376" y="3913632"/>
            <a:ext cx="4754879" cy="658367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同一 scenario 比較 baseline／candidate／withheld。</a:t>
            </a:r>
          </a:p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結果仍是 simulated teaching data，不是 live measurement。</a:t>
            </a:r>
          </a:p>
        </p:txBody>
      </p:sp>
      <p:sp>
        <p:nvSpPr>
          <p:cNvPr id="25" name="Field strip endpoint_energy_j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（端點能量）｜來源：result energy breakdown｜作用：讀 radio／processing 成本｜單位：J｜判讀：不可改稱 LEO/system energy</a:t>
            </a:r>
          </a:p>
        </p:txBody>
      </p:sp>
      <p:sp>
        <p:nvSpPr>
          <p:cNvPr id="26" name="Claim boundary strip"/>
          <p:cNvSpPr/>
          <p:nvPr/>
        </p:nvSpPr>
        <p:spPr>
          <a:xfrm>
            <a:off x="804672" y="5468112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Lab B：找到唯一可編輯的決策區塊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整份檔案保持原樣；本 lab 只改一個 marked block 內的 </a:t>
            </a:r>
            <a:r>
              <a:rPr sz="22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4" name="Lab B file location"/>
          <p:cNvSpPr/>
          <p:nvPr/>
        </p:nvSpPr>
        <p:spPr>
          <a:xfrm>
            <a:off x="768096" y="1554480"/>
            <a:ext cx="3218688" cy="26700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ab B file location heading"/>
          <p:cNvSpPr txBox="1"/>
          <p:nvPr/>
        </p:nvSpPr>
        <p:spPr>
          <a:xfrm>
            <a:off x="914400" y="1664207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檔案位置</a:t>
            </a:r>
          </a:p>
        </p:txBody>
      </p:sp>
      <p:sp>
        <p:nvSpPr>
          <p:cNvPr id="6" name="Lab B file location body"/>
          <p:cNvSpPr txBox="1"/>
          <p:nvPr/>
        </p:nvSpPr>
        <p:spPr>
          <a:xfrm>
            <a:off x="932688" y="2066543"/>
            <a:ext cx="2889504" cy="2048255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runner 每個固定 step 提供 observation；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choose_action()</a:t>
            </a: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依條件回傳 action。</a:t>
            </a:r>
          </a:p>
        </p:txBody>
      </p:sp>
      <p:sp>
        <p:nvSpPr>
          <p:cNvPr id="7" name="Lab B marked block"/>
          <p:cNvSpPr/>
          <p:nvPr/>
        </p:nvSpPr>
        <p:spPr>
          <a:xfrm>
            <a:off x="4224528" y="1554480"/>
            <a:ext cx="7168896" cy="2670048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ab B marked block line 1"/>
          <p:cNvSpPr txBox="1"/>
          <p:nvPr/>
        </p:nvSpPr>
        <p:spPr>
          <a:xfrm>
            <a:off x="4498848" y="1682495"/>
            <a:ext cx="6620256" cy="41757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# === LORA EDITABLE: lab-b-enter-exit-hold ===</a:t>
            </a:r>
          </a:p>
        </p:txBody>
      </p:sp>
      <p:sp>
        <p:nvSpPr>
          <p:cNvPr id="9" name="Lab B marked block line 2"/>
          <p:cNvSpPr txBox="1"/>
          <p:nvPr/>
        </p:nvSpPr>
        <p:spPr>
          <a:xfrm>
            <a:off x="4498848" y="2127504"/>
            <a:ext cx="6620256" cy="41757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ENTER_QUALITY = 2</a:t>
            </a:r>
          </a:p>
        </p:txBody>
      </p:sp>
      <p:sp>
        <p:nvSpPr>
          <p:cNvPr id="10" name="Lab B marked block line 3"/>
          <p:cNvSpPr txBox="1"/>
          <p:nvPr/>
        </p:nvSpPr>
        <p:spPr>
          <a:xfrm>
            <a:off x="4498848" y="2572511"/>
            <a:ext cx="6620256" cy="41757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EXIT_QUALITY = 1</a:t>
            </a:r>
          </a:p>
        </p:txBody>
      </p:sp>
      <p:sp>
        <p:nvSpPr>
          <p:cNvPr id="11" name="Lab B marked block highlighted line"/>
          <p:cNvSpPr/>
          <p:nvPr/>
        </p:nvSpPr>
        <p:spPr>
          <a:xfrm>
            <a:off x="4370832" y="2999232"/>
            <a:ext cx="6876288" cy="417576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ab B marked block target line"/>
          <p:cNvSpPr txBox="1"/>
          <p:nvPr/>
        </p:nvSpPr>
        <p:spPr>
          <a:xfrm>
            <a:off x="4498848" y="3017520"/>
            <a:ext cx="6620256" cy="41757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STABLE_STEPS = 2</a:t>
            </a:r>
          </a:p>
        </p:txBody>
      </p:sp>
      <p:sp>
        <p:nvSpPr>
          <p:cNvPr id="13" name="Lab B marked block line 5"/>
          <p:cNvSpPr txBox="1"/>
          <p:nvPr/>
        </p:nvSpPr>
        <p:spPr>
          <a:xfrm>
            <a:off x="4498848" y="3462527"/>
            <a:ext cx="6620256" cy="41757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# === LORA END EDITABLE: lab-b-enter-exit-hold ===</a:t>
            </a:r>
          </a:p>
        </p:txBody>
      </p:sp>
      <p:sp>
        <p:nvSpPr>
          <p:cNvPr id="14" name="Lab B fixed A"/>
          <p:cNvSpPr/>
          <p:nvPr/>
        </p:nvSpPr>
        <p:spPr>
          <a:xfrm>
            <a:off x="786384" y="4370832"/>
            <a:ext cx="3401568" cy="43891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ab B fixed A heading"/>
          <p:cNvSpPr txBox="1"/>
          <p:nvPr/>
        </p:nvSpPr>
        <p:spPr>
          <a:xfrm>
            <a:off x="932688" y="4434840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固定 A</a:t>
            </a:r>
          </a:p>
        </p:txBody>
      </p:sp>
      <p:sp>
        <p:nvSpPr>
          <p:cNvPr id="16" name="Lab B fixed A body"/>
          <p:cNvSpPr txBox="1"/>
          <p:nvPr/>
        </p:nvSpPr>
        <p:spPr>
          <a:xfrm>
            <a:off x="950976" y="4709160"/>
            <a:ext cx="3072384" cy="36575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REST_DURING_GAP = WAIT</a:t>
            </a:r>
          </a:p>
        </p:txBody>
      </p:sp>
      <p:sp>
        <p:nvSpPr>
          <p:cNvPr id="17" name="Lab B fixed C"/>
          <p:cNvSpPr/>
          <p:nvPr/>
        </p:nvSpPr>
        <p:spPr>
          <a:xfrm>
            <a:off x="4389120" y="4370832"/>
            <a:ext cx="3401568" cy="43891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ab B fixed C heading"/>
          <p:cNvSpPr txBox="1"/>
          <p:nvPr/>
        </p:nvSpPr>
        <p:spPr>
          <a:xfrm>
            <a:off x="4535424" y="4434840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固定 C</a:t>
            </a:r>
          </a:p>
        </p:txBody>
      </p:sp>
      <p:sp>
        <p:nvSpPr>
          <p:cNvPr id="19" name="Lab B fixed C body"/>
          <p:cNvSpPr txBox="1"/>
          <p:nvPr/>
        </p:nvSpPr>
        <p:spPr>
          <a:xfrm>
            <a:off x="4553712" y="4709160"/>
            <a:ext cx="3072384" cy="36575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URGENT_MARGIN_S = 20</a:t>
            </a:r>
          </a:p>
        </p:txBody>
      </p:sp>
      <p:sp>
        <p:nvSpPr>
          <p:cNvPr id="20" name="Lab B fixed runner"/>
          <p:cNvSpPr/>
          <p:nvPr/>
        </p:nvSpPr>
        <p:spPr>
          <a:xfrm>
            <a:off x="7991856" y="4370832"/>
            <a:ext cx="3401568" cy="438912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ab B fixed runner heading"/>
          <p:cNvSpPr txBox="1"/>
          <p:nvPr/>
        </p:nvSpPr>
        <p:spPr>
          <a:xfrm>
            <a:off x="8138160" y="4434840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固定執行器</a:t>
            </a:r>
          </a:p>
        </p:txBody>
      </p:sp>
      <p:sp>
        <p:nvSpPr>
          <p:cNvPr id="22" name="Lab B fixed runner body"/>
          <p:cNvSpPr txBox="1"/>
          <p:nvPr/>
        </p:nvSpPr>
        <p:spPr>
          <a:xfrm>
            <a:off x="8156448" y="4709160"/>
            <a:ext cx="3072384" cy="36575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runner／scenario／schemas</a:t>
            </a:r>
          </a:p>
        </p:txBody>
      </p:sp>
      <p:sp>
        <p:nvSpPr>
          <p:cNvPr id="23" name="Field strip active_block_id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active_block_id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（作用區塊）｜來源：policy／freeze receipt｜作用：鎖定可編輯範圍｜單位：block name｜判讀：不是整份檔案都可改</a:t>
            </a:r>
          </a:p>
        </p:txBody>
      </p:sp>
      <p:sp>
        <p:nvSpPr>
          <p:cNvPr id="24" name="Claim boundary strip"/>
          <p:cNvSpPr/>
          <p:nvPr/>
        </p:nvSpPr>
        <p:spPr>
          <a:xfrm>
            <a:off x="804672" y="5468112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Lab B：Before 的 baseline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先以原始 </a:t>
            </a:r>
            <a:r>
              <a:rPr sz="22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STABLE_STEPS = 2</a:t>
            </a: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建立 Trace A baseline；這頁只讀 code，不先宣稱結果。</a:t>
            </a:r>
          </a:p>
        </p:txBody>
      </p:sp>
      <p:sp>
        <p:nvSpPr>
          <p:cNvPr id="4" name="Before code excerpt"/>
          <p:cNvSpPr/>
          <p:nvPr/>
        </p:nvSpPr>
        <p:spPr>
          <a:xfrm>
            <a:off x="768096" y="1481328"/>
            <a:ext cx="6931152" cy="296265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efore code excerpt line 1"/>
          <p:cNvSpPr txBox="1"/>
          <p:nvPr/>
        </p:nvSpPr>
        <p:spPr>
          <a:xfrm>
            <a:off x="1042415" y="1609344"/>
            <a:ext cx="6382512" cy="4663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# === LORA EDITABLE: lab-b-enter-exit-hold ===</a:t>
            </a:r>
          </a:p>
        </p:txBody>
      </p:sp>
      <p:sp>
        <p:nvSpPr>
          <p:cNvPr id="6" name="Before code excerpt line 2"/>
          <p:cNvSpPr txBox="1"/>
          <p:nvPr/>
        </p:nvSpPr>
        <p:spPr>
          <a:xfrm>
            <a:off x="1042415" y="2103120"/>
            <a:ext cx="6382512" cy="4663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ENTER_QUALITY = 2</a:t>
            </a:r>
          </a:p>
        </p:txBody>
      </p:sp>
      <p:sp>
        <p:nvSpPr>
          <p:cNvPr id="7" name="Before code excerpt line 3"/>
          <p:cNvSpPr txBox="1"/>
          <p:nvPr/>
        </p:nvSpPr>
        <p:spPr>
          <a:xfrm>
            <a:off x="1042415" y="2596896"/>
            <a:ext cx="6382512" cy="4663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EXIT_QUALITY = 1</a:t>
            </a:r>
          </a:p>
        </p:txBody>
      </p:sp>
      <p:sp>
        <p:nvSpPr>
          <p:cNvPr id="8" name="Before code excerpt target prefix"/>
          <p:cNvSpPr txBox="1"/>
          <p:nvPr/>
        </p:nvSpPr>
        <p:spPr>
          <a:xfrm>
            <a:off x="1042415" y="3090672"/>
            <a:ext cx="5760720" cy="4663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STABLE_STEPS = </a:t>
            </a:r>
          </a:p>
        </p:txBody>
      </p:sp>
      <p:sp>
        <p:nvSpPr>
          <p:cNvPr id="9" name="Before code excerpt changed value"/>
          <p:cNvSpPr/>
          <p:nvPr/>
        </p:nvSpPr>
        <p:spPr>
          <a:xfrm>
            <a:off x="2688335" y="3099816"/>
            <a:ext cx="402336" cy="43891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fore code excerpt changed value text"/>
          <p:cNvSpPr txBox="1"/>
          <p:nvPr/>
        </p:nvSpPr>
        <p:spPr>
          <a:xfrm>
            <a:off x="2688335" y="3099816"/>
            <a:ext cx="402336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1" name="Before code excerpt line 5"/>
          <p:cNvSpPr txBox="1"/>
          <p:nvPr/>
        </p:nvSpPr>
        <p:spPr>
          <a:xfrm>
            <a:off x="1042415" y="3584448"/>
            <a:ext cx="6382512" cy="4663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# === LORA END EDITABLE: lab-b-enter-exit-hold ===</a:t>
            </a:r>
          </a:p>
        </p:txBody>
      </p:sp>
      <p:sp>
        <p:nvSpPr>
          <p:cNvPr id="12" name="Before enter threshold"/>
          <p:cNvSpPr/>
          <p:nvPr/>
        </p:nvSpPr>
        <p:spPr>
          <a:xfrm>
            <a:off x="7973568" y="1481328"/>
            <a:ext cx="3383280" cy="126187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efore enter threshold heading"/>
          <p:cNvSpPr txBox="1"/>
          <p:nvPr/>
        </p:nvSpPr>
        <p:spPr>
          <a:xfrm>
            <a:off x="8119872" y="1591056"/>
            <a:ext cx="309067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固定門檻</a:t>
            </a:r>
          </a:p>
        </p:txBody>
      </p:sp>
      <p:sp>
        <p:nvSpPr>
          <p:cNvPr id="14" name="Before enter threshold body"/>
          <p:cNvSpPr txBox="1"/>
          <p:nvPr/>
        </p:nvSpPr>
        <p:spPr>
          <a:xfrm>
            <a:off x="8138160" y="1993392"/>
            <a:ext cx="3054096" cy="640079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ENTER_QUALITY = 2</a:t>
            </a:r>
          </a:p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品質達 2 才有進入資格。</a:t>
            </a:r>
          </a:p>
        </p:txBody>
      </p:sp>
      <p:sp>
        <p:nvSpPr>
          <p:cNvPr id="15" name="Before exit threshold"/>
          <p:cNvSpPr/>
          <p:nvPr/>
        </p:nvSpPr>
        <p:spPr>
          <a:xfrm>
            <a:off x="7973568" y="2962656"/>
            <a:ext cx="3383280" cy="148132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efore exit threshold heading"/>
          <p:cNvSpPr txBox="1"/>
          <p:nvPr/>
        </p:nvSpPr>
        <p:spPr>
          <a:xfrm>
            <a:off x="8119872" y="3072384"/>
            <a:ext cx="309067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保持門檻</a:t>
            </a:r>
          </a:p>
        </p:txBody>
      </p:sp>
      <p:sp>
        <p:nvSpPr>
          <p:cNvPr id="17" name="Before exit threshold body"/>
          <p:cNvSpPr txBox="1"/>
          <p:nvPr/>
        </p:nvSpPr>
        <p:spPr>
          <a:xfrm>
            <a:off x="8138160" y="3474720"/>
            <a:ext cx="3054096" cy="8595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EXIT_QUALITY = 1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已進入後維持 1 或以上，不因小幅下降立即退出。</a:t>
            </a:r>
          </a:p>
        </p:txBody>
      </p:sp>
      <p:sp>
        <p:nvSpPr>
          <p:cNvPr id="18" name="Field strip STABLE_STEPS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（穩定步數）｜來源：student_policy.py B block｜作用：限制進入時機｜單位：step｜判讀：baseline 需要連續 2 次觀測</a:t>
            </a:r>
          </a:p>
        </p:txBody>
      </p:sp>
      <p:sp>
        <p:nvSpPr>
          <p:cNvPr id="19" name="Claim boundary strip"/>
          <p:cNvSpPr/>
          <p:nvPr/>
        </p:nvSpPr>
        <p:spPr>
          <a:xfrm>
            <a:off x="804672" y="5468112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Lab B：After 的 candidate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唯一 edit：</a:t>
            </a:r>
            <a:r>
              <a:rPr sz="22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從 2 改成 1；其它行、其它 block、其它檔案保持原樣。</a:t>
            </a:r>
          </a:p>
        </p:txBody>
      </p:sp>
      <p:sp>
        <p:nvSpPr>
          <p:cNvPr id="4" name="After code excerpt"/>
          <p:cNvSpPr/>
          <p:nvPr/>
        </p:nvSpPr>
        <p:spPr>
          <a:xfrm>
            <a:off x="768096" y="1481328"/>
            <a:ext cx="6931152" cy="296265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fter code excerpt line 1"/>
          <p:cNvSpPr txBox="1"/>
          <p:nvPr/>
        </p:nvSpPr>
        <p:spPr>
          <a:xfrm>
            <a:off x="1042415" y="1609344"/>
            <a:ext cx="6382512" cy="4663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# === LORA EDITABLE: lab-b-enter-exit-hold ===</a:t>
            </a:r>
          </a:p>
        </p:txBody>
      </p:sp>
      <p:sp>
        <p:nvSpPr>
          <p:cNvPr id="6" name="After code excerpt line 2"/>
          <p:cNvSpPr txBox="1"/>
          <p:nvPr/>
        </p:nvSpPr>
        <p:spPr>
          <a:xfrm>
            <a:off x="1042415" y="2103120"/>
            <a:ext cx="6382512" cy="4663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ENTER_QUALITY = 2</a:t>
            </a:r>
          </a:p>
        </p:txBody>
      </p:sp>
      <p:sp>
        <p:nvSpPr>
          <p:cNvPr id="7" name="After code excerpt line 3"/>
          <p:cNvSpPr txBox="1"/>
          <p:nvPr/>
        </p:nvSpPr>
        <p:spPr>
          <a:xfrm>
            <a:off x="1042415" y="2596896"/>
            <a:ext cx="6382512" cy="4663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EXIT_QUALITY = 1</a:t>
            </a:r>
          </a:p>
        </p:txBody>
      </p:sp>
      <p:sp>
        <p:nvSpPr>
          <p:cNvPr id="8" name="After code excerpt target prefix"/>
          <p:cNvSpPr txBox="1"/>
          <p:nvPr/>
        </p:nvSpPr>
        <p:spPr>
          <a:xfrm>
            <a:off x="1042415" y="3090672"/>
            <a:ext cx="5760720" cy="4663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STABLE_STEPS = </a:t>
            </a:r>
          </a:p>
        </p:txBody>
      </p:sp>
      <p:sp>
        <p:nvSpPr>
          <p:cNvPr id="9" name="After code excerpt changed value"/>
          <p:cNvSpPr/>
          <p:nvPr/>
        </p:nvSpPr>
        <p:spPr>
          <a:xfrm>
            <a:off x="2688335" y="3099816"/>
            <a:ext cx="402336" cy="43891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fter code excerpt changed value text"/>
          <p:cNvSpPr txBox="1"/>
          <p:nvPr/>
        </p:nvSpPr>
        <p:spPr>
          <a:xfrm>
            <a:off x="2688335" y="3099816"/>
            <a:ext cx="402336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11" name="After code excerpt line 5"/>
          <p:cNvSpPr txBox="1"/>
          <p:nvPr/>
        </p:nvSpPr>
        <p:spPr>
          <a:xfrm>
            <a:off x="1042415" y="3584448"/>
            <a:ext cx="6382512" cy="46634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# === LORA END EDITABLE: lab-b-enter-exit-hold ===</a:t>
            </a:r>
          </a:p>
        </p:txBody>
      </p:sp>
      <p:sp>
        <p:nvSpPr>
          <p:cNvPr id="12" name="After diff"/>
          <p:cNvSpPr/>
          <p:nvPr/>
        </p:nvSpPr>
        <p:spPr>
          <a:xfrm>
            <a:off x="7973568" y="1481328"/>
            <a:ext cx="3383280" cy="126187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fter diff heading"/>
          <p:cNvSpPr txBox="1"/>
          <p:nvPr/>
        </p:nvSpPr>
        <p:spPr>
          <a:xfrm>
            <a:off x="8119872" y="1591056"/>
            <a:ext cx="309067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one-line diff</a:t>
            </a:r>
          </a:p>
        </p:txBody>
      </p:sp>
      <p:sp>
        <p:nvSpPr>
          <p:cNvPr id="14" name="After diff body"/>
          <p:cNvSpPr txBox="1"/>
          <p:nvPr/>
        </p:nvSpPr>
        <p:spPr>
          <a:xfrm>
            <a:off x="8138160" y="1993392"/>
            <a:ext cx="3054096" cy="640079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Before：</a:t>
            </a: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STABLE_STEPS = 2</a:t>
            </a:r>
          </a:p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After：</a:t>
            </a: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STABLE_STEPS = 1</a:t>
            </a:r>
          </a:p>
        </p:txBody>
      </p:sp>
      <p:sp>
        <p:nvSpPr>
          <p:cNvPr id="15" name="After unchanged"/>
          <p:cNvSpPr/>
          <p:nvPr/>
        </p:nvSpPr>
        <p:spPr>
          <a:xfrm>
            <a:off x="7973568" y="2962656"/>
            <a:ext cx="3383280" cy="148132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fter unchanged heading"/>
          <p:cNvSpPr txBox="1"/>
          <p:nvPr/>
        </p:nvSpPr>
        <p:spPr>
          <a:xfrm>
            <a:off x="8119872" y="3072384"/>
            <a:ext cx="309067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保持不變</a:t>
            </a:r>
          </a:p>
        </p:txBody>
      </p:sp>
      <p:sp>
        <p:nvSpPr>
          <p:cNvPr id="17" name="After unchanged body"/>
          <p:cNvSpPr txBox="1"/>
          <p:nvPr/>
        </p:nvSpPr>
        <p:spPr>
          <a:xfrm>
            <a:off x="8138160" y="3474720"/>
            <a:ext cx="3054096" cy="8595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ENTER=2、EXIT=1、A frozen block、C block、runner、scenario、schemas。</a:t>
            </a:r>
          </a:p>
        </p:txBody>
      </p:sp>
      <p:sp>
        <p:nvSpPr>
          <p:cNvPr id="18" name="Field strip STABLE_STEPS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（穩定步數）｜來源：student_policy.py B block｜作用：改變進入 timing｜單位：step｜判讀：candidate 只保留 1 次觀測</a:t>
            </a:r>
          </a:p>
        </p:txBody>
      </p:sp>
      <p:sp>
        <p:nvSpPr>
          <p:cNvPr id="19" name="Claim boundary strip"/>
          <p:cNvSpPr/>
          <p:nvPr/>
        </p:nvSpPr>
        <p:spPr>
          <a:xfrm>
            <a:off x="804672" y="5468112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Lab B：兩個穩定觀測 versus 一個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相同 quality trace 下，hold 的差別是進入 send-ready 的時間；不是直接指定封包成功。</a:t>
            </a:r>
          </a:p>
        </p:txBody>
      </p:sp>
      <p:sp>
        <p:nvSpPr>
          <p:cNvPr id="4" name="Two-step timing"/>
          <p:cNvSpPr/>
          <p:nvPr/>
        </p:nvSpPr>
        <p:spPr>
          <a:xfrm>
            <a:off x="768096" y="1481328"/>
            <a:ext cx="5084064" cy="294436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wo-step heading"/>
          <p:cNvSpPr txBox="1"/>
          <p:nvPr/>
        </p:nvSpPr>
        <p:spPr>
          <a:xfrm>
            <a:off x="987552" y="1664208"/>
            <a:ext cx="46451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baseline：兩次確認</a:t>
            </a:r>
          </a:p>
        </p:txBody>
      </p:sp>
      <p:sp>
        <p:nvSpPr>
          <p:cNvPr id="6" name="Two-step observation"/>
          <p:cNvSpPr/>
          <p:nvPr/>
        </p:nvSpPr>
        <p:spPr>
          <a:xfrm>
            <a:off x="1298448" y="2212848"/>
            <a:ext cx="1170432" cy="7863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wo-step observation text"/>
          <p:cNvSpPr txBox="1"/>
          <p:nvPr/>
        </p:nvSpPr>
        <p:spPr>
          <a:xfrm>
            <a:off x="1344168" y="2340864"/>
            <a:ext cx="1078992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第 1 次</a:t>
            </a:r>
          </a:p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品質達 2</a:t>
            </a:r>
          </a:p>
        </p:txBody>
      </p:sp>
      <p:sp>
        <p:nvSpPr>
          <p:cNvPr id="8" name="Two-step observation"/>
          <p:cNvSpPr/>
          <p:nvPr/>
        </p:nvSpPr>
        <p:spPr>
          <a:xfrm>
            <a:off x="2798064" y="2212848"/>
            <a:ext cx="1170432" cy="7863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wo-step observation text"/>
          <p:cNvSpPr txBox="1"/>
          <p:nvPr/>
        </p:nvSpPr>
        <p:spPr>
          <a:xfrm>
            <a:off x="2843784" y="2340864"/>
            <a:ext cx="1078992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第 2 次</a:t>
            </a:r>
          </a:p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品質仍穩定</a:t>
            </a:r>
          </a:p>
        </p:txBody>
      </p:sp>
      <p:sp>
        <p:nvSpPr>
          <p:cNvPr id="10" name="Two-step timing connector"/>
          <p:cNvSpPr/>
          <p:nvPr/>
        </p:nvSpPr>
        <p:spPr>
          <a:xfrm>
            <a:off x="2560320" y="2395728"/>
            <a:ext cx="310896" cy="384048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echanism label"/>
          <p:cNvSpPr/>
          <p:nvPr/>
        </p:nvSpPr>
        <p:spPr>
          <a:xfrm>
            <a:off x="1389888" y="3401568"/>
            <a:ext cx="3840480" cy="43891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第 2 次完成 → MODE_CHANGE</a:t>
            </a:r>
          </a:p>
        </p:txBody>
      </p:sp>
      <p:sp>
        <p:nvSpPr>
          <p:cNvPr id="12" name="Two-step explanation"/>
          <p:cNvSpPr txBox="1"/>
          <p:nvPr/>
        </p:nvSpPr>
        <p:spPr>
          <a:xfrm>
            <a:off x="987552" y="3968496"/>
            <a:ext cx="4645152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短暫 spike 不會立刻進入</a:t>
            </a:r>
          </a:p>
        </p:txBody>
      </p:sp>
      <p:sp>
        <p:nvSpPr>
          <p:cNvPr id="13" name="One-step timing"/>
          <p:cNvSpPr/>
          <p:nvPr/>
        </p:nvSpPr>
        <p:spPr>
          <a:xfrm>
            <a:off x="6272784" y="1481328"/>
            <a:ext cx="5084064" cy="294436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ne-step heading"/>
          <p:cNvSpPr txBox="1"/>
          <p:nvPr/>
        </p:nvSpPr>
        <p:spPr>
          <a:xfrm>
            <a:off x="6492240" y="1664208"/>
            <a:ext cx="46451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candidate：一次確認</a:t>
            </a:r>
          </a:p>
        </p:txBody>
      </p:sp>
      <p:sp>
        <p:nvSpPr>
          <p:cNvPr id="15" name="One-step observation"/>
          <p:cNvSpPr/>
          <p:nvPr/>
        </p:nvSpPr>
        <p:spPr>
          <a:xfrm>
            <a:off x="7571231" y="2212848"/>
            <a:ext cx="1554480" cy="7863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ne-step observation text"/>
          <p:cNvSpPr txBox="1"/>
          <p:nvPr/>
        </p:nvSpPr>
        <p:spPr>
          <a:xfrm>
            <a:off x="7644383" y="2340864"/>
            <a:ext cx="1408176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第 1 次</a:t>
            </a:r>
          </a:p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品質達 2</a:t>
            </a:r>
          </a:p>
        </p:txBody>
      </p:sp>
      <p:sp>
        <p:nvSpPr>
          <p:cNvPr id="17" name="Mechanism label"/>
          <p:cNvSpPr/>
          <p:nvPr/>
        </p:nvSpPr>
        <p:spPr>
          <a:xfrm>
            <a:off x="6894576" y="3401568"/>
            <a:ext cx="3840480" cy="43891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第 1 次完成 → MODE_CHANGE</a:t>
            </a:r>
          </a:p>
        </p:txBody>
      </p:sp>
      <p:sp>
        <p:nvSpPr>
          <p:cNvPr id="18" name="One-step explanation"/>
          <p:cNvSpPr txBox="1"/>
          <p:nvPr/>
        </p:nvSpPr>
        <p:spPr>
          <a:xfrm>
            <a:off x="6492240" y="3968496"/>
            <a:ext cx="4645152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可能提早一個固定 step</a:t>
            </a:r>
          </a:p>
        </p:txBody>
      </p:sp>
      <p:sp>
        <p:nvSpPr>
          <p:cNvPr id="19" name="Field strip MODE_CHANGE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（模式切換事件）｜來源：result events／replay｜作用：確認進入 timing｜單位：event｜判讀：再對照 packet、service、J</a:t>
            </a:r>
          </a:p>
        </p:txBody>
      </p:sp>
      <p:sp>
        <p:nvSpPr>
          <p:cNvPr id="20" name="Claim boundary strip"/>
          <p:cNvSpPr/>
          <p:nvPr/>
        </p:nvSpPr>
        <p:spPr>
          <a:xfrm>
            <a:off x="804672" y="5468112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Trace A：先建立可驗證的比較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 frozen predecessor 固定；先跑 baseline，再跑 candidate freeze，最後以同一 policy 做 Trace B。</a:t>
            </a:r>
          </a:p>
        </p:txBody>
      </p:sp>
      <p:sp>
        <p:nvSpPr>
          <p:cNvPr id="4" name="Trace sequence 1"/>
          <p:cNvSpPr/>
          <p:nvPr/>
        </p:nvSpPr>
        <p:spPr>
          <a:xfrm>
            <a:off x="713232" y="1572768"/>
            <a:ext cx="3255264" cy="155448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race sequence 1 heading"/>
          <p:cNvSpPr txBox="1"/>
          <p:nvPr/>
        </p:nvSpPr>
        <p:spPr>
          <a:xfrm>
            <a:off x="859536" y="1682495"/>
            <a:ext cx="296265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baseline</a:t>
            </a:r>
          </a:p>
        </p:txBody>
      </p:sp>
      <p:sp>
        <p:nvSpPr>
          <p:cNvPr id="6" name="Trace sequence 1 body"/>
          <p:cNvSpPr txBox="1"/>
          <p:nvPr/>
        </p:nvSpPr>
        <p:spPr>
          <a:xfrm>
            <a:off x="877824" y="2084832"/>
            <a:ext cx="2926080" cy="93268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 frozen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B：STABLE_STEPS=2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不加 freeze</a:t>
            </a:r>
          </a:p>
        </p:txBody>
      </p:sp>
      <p:sp>
        <p:nvSpPr>
          <p:cNvPr id="7" name="Trace sequence connector"/>
          <p:cNvSpPr/>
          <p:nvPr/>
        </p:nvSpPr>
        <p:spPr>
          <a:xfrm>
            <a:off x="4078224" y="2139696"/>
            <a:ext cx="310896" cy="384048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race sequence 2"/>
          <p:cNvSpPr/>
          <p:nvPr/>
        </p:nvSpPr>
        <p:spPr>
          <a:xfrm>
            <a:off x="4480560" y="1572768"/>
            <a:ext cx="3255264" cy="1554480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race sequence 2 heading"/>
          <p:cNvSpPr txBox="1"/>
          <p:nvPr/>
        </p:nvSpPr>
        <p:spPr>
          <a:xfrm>
            <a:off x="4626864" y="1682495"/>
            <a:ext cx="296265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</a:t>
            </a:r>
          </a:p>
        </p:txBody>
      </p:sp>
      <p:sp>
        <p:nvSpPr>
          <p:cNvPr id="10" name="Trace sequence 2 body"/>
          <p:cNvSpPr txBox="1"/>
          <p:nvPr/>
        </p:nvSpPr>
        <p:spPr>
          <a:xfrm>
            <a:off x="4645152" y="2084832"/>
            <a:ext cx="2926080" cy="93268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只改 B：2→1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Trace A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建立 freeze</a:t>
            </a:r>
          </a:p>
        </p:txBody>
      </p:sp>
      <p:sp>
        <p:nvSpPr>
          <p:cNvPr id="11" name="Trace sequence connector"/>
          <p:cNvSpPr/>
          <p:nvPr/>
        </p:nvSpPr>
        <p:spPr>
          <a:xfrm>
            <a:off x="7845552" y="2139696"/>
            <a:ext cx="310896" cy="384048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race sequence 3"/>
          <p:cNvSpPr/>
          <p:nvPr/>
        </p:nvSpPr>
        <p:spPr>
          <a:xfrm>
            <a:off x="8247888" y="1572768"/>
            <a:ext cx="3255264" cy="155448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race sequence 3 heading"/>
          <p:cNvSpPr txBox="1"/>
          <p:nvPr/>
        </p:nvSpPr>
        <p:spPr>
          <a:xfrm>
            <a:off x="8394192" y="1682495"/>
            <a:ext cx="296265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withheld</a:t>
            </a:r>
          </a:p>
        </p:txBody>
      </p:sp>
      <p:sp>
        <p:nvSpPr>
          <p:cNvPr id="14" name="Trace sequence 3 body"/>
          <p:cNvSpPr txBox="1"/>
          <p:nvPr/>
        </p:nvSpPr>
        <p:spPr>
          <a:xfrm>
            <a:off x="8412480" y="2084832"/>
            <a:ext cx="2926080" cy="93268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保持 B frozen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Trace B 新 case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不再調參</a:t>
            </a:r>
          </a:p>
        </p:txBody>
      </p:sp>
      <p:sp>
        <p:nvSpPr>
          <p:cNvPr id="15" name="Trace prediction baseline"/>
          <p:cNvSpPr/>
          <p:nvPr/>
        </p:nvSpPr>
        <p:spPr>
          <a:xfrm>
            <a:off x="786384" y="3511296"/>
            <a:ext cx="3401568" cy="107899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race prediction baseline heading"/>
          <p:cNvSpPr txBox="1"/>
          <p:nvPr/>
        </p:nvSpPr>
        <p:spPr>
          <a:xfrm>
            <a:off x="932688" y="3621024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baseline prediction</a:t>
            </a:r>
          </a:p>
        </p:txBody>
      </p:sp>
      <p:sp>
        <p:nvSpPr>
          <p:cNvPr id="17" name="Trace prediction baseline body"/>
          <p:cNvSpPr txBox="1"/>
          <p:nvPr/>
        </p:nvSpPr>
        <p:spPr>
          <a:xfrm>
            <a:off x="950976" y="4023360"/>
            <a:ext cx="3072384" cy="457199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較晚進入；可能少一次早期嘗試。</a:t>
            </a:r>
          </a:p>
        </p:txBody>
      </p:sp>
      <p:sp>
        <p:nvSpPr>
          <p:cNvPr id="18" name="Trace prediction candidate"/>
          <p:cNvSpPr/>
          <p:nvPr/>
        </p:nvSpPr>
        <p:spPr>
          <a:xfrm>
            <a:off x="4389120" y="3511296"/>
            <a:ext cx="3401568" cy="1078992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race prediction candidate heading"/>
          <p:cNvSpPr txBox="1"/>
          <p:nvPr/>
        </p:nvSpPr>
        <p:spPr>
          <a:xfrm>
            <a:off x="4535424" y="3621024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 prediction</a:t>
            </a:r>
          </a:p>
        </p:txBody>
      </p:sp>
      <p:sp>
        <p:nvSpPr>
          <p:cNvPr id="20" name="Trace prediction candidate body"/>
          <p:cNvSpPr txBox="1"/>
          <p:nvPr/>
        </p:nvSpPr>
        <p:spPr>
          <a:xfrm>
            <a:off x="4553712" y="4023360"/>
            <a:ext cx="3072384" cy="457199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較早進入；service opportunity 可能增加，也可能付出更多 radio／processing。</a:t>
            </a:r>
          </a:p>
        </p:txBody>
      </p:sp>
      <p:sp>
        <p:nvSpPr>
          <p:cNvPr id="21" name="Trace prediction rule"/>
          <p:cNvSpPr/>
          <p:nvPr/>
        </p:nvSpPr>
        <p:spPr>
          <a:xfrm>
            <a:off x="7991856" y="3511296"/>
            <a:ext cx="3401568" cy="107899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race prediction rule heading"/>
          <p:cNvSpPr txBox="1"/>
          <p:nvPr/>
        </p:nvSpPr>
        <p:spPr>
          <a:xfrm>
            <a:off x="8138160" y="3621024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判讀規則</a:t>
            </a:r>
          </a:p>
        </p:txBody>
      </p:sp>
      <p:sp>
        <p:nvSpPr>
          <p:cNvPr id="23" name="Trace prediction rule body"/>
          <p:cNvSpPr txBox="1"/>
          <p:nvPr/>
        </p:nvSpPr>
        <p:spPr>
          <a:xfrm>
            <a:off x="8156448" y="4023360"/>
            <a:ext cx="3072384" cy="457199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只有 event → packet → service → J 的配對才支持因果句。</a:t>
            </a:r>
          </a:p>
        </p:txBody>
      </p:sp>
      <p:sp>
        <p:nvSpPr>
          <p:cNvPr id="24" name="Field strip policy lineage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policy lineage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（策略脈絡）｜來源：freeze receipt／checkpoint｜作用：固定比較前提｜單位：identity｜判讀：baseline／candidate／withheld 不混 policy</a:t>
            </a:r>
          </a:p>
        </p:txBody>
      </p:sp>
      <p:sp>
        <p:nvSpPr>
          <p:cNvPr id="25" name="Claim boundary strip"/>
          <p:cNvSpPr/>
          <p:nvPr/>
        </p:nvSpPr>
        <p:spPr>
          <a:xfrm>
            <a:off x="804672" y="5468112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Trace A 與 Trace B：Linux／macOS 終端機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下列命令在 package 根目錄執行；WSL 也使用這組 Linux 指令，stdout 會印出 result_path。</a:t>
            </a:r>
          </a:p>
        </p:txBody>
      </p:sp>
      <p:sp>
        <p:nvSpPr>
          <p:cNvPr id="4" name="Linux baseline command"/>
          <p:cNvSpPr/>
          <p:nvPr/>
        </p:nvSpPr>
        <p:spPr>
          <a:xfrm>
            <a:off x="768096" y="1481328"/>
            <a:ext cx="10643616" cy="9326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inux baseline command heading"/>
          <p:cNvSpPr txBox="1"/>
          <p:nvPr/>
        </p:nvSpPr>
        <p:spPr>
          <a:xfrm>
            <a:off x="896112" y="1591056"/>
            <a:ext cx="10387584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Trace A baseline｜原始 B policy</a:t>
            </a:r>
          </a:p>
        </p:txBody>
      </p:sp>
      <p:sp>
        <p:nvSpPr>
          <p:cNvPr id="6" name="Linux baseline command command"/>
          <p:cNvSpPr txBox="1"/>
          <p:nvPr/>
        </p:nvSpPr>
        <p:spPr>
          <a:xfrm>
            <a:off x="950976" y="1975104"/>
            <a:ext cx="1027785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bash course.sh run --lab B --case trace-a-baseline</a:t>
            </a:r>
          </a:p>
        </p:txBody>
      </p:sp>
      <p:sp>
        <p:nvSpPr>
          <p:cNvPr id="7" name="Linux candidate command"/>
          <p:cNvSpPr/>
          <p:nvPr/>
        </p:nvSpPr>
        <p:spPr>
          <a:xfrm>
            <a:off x="768096" y="2633472"/>
            <a:ext cx="10643616" cy="93268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inux candidate command heading"/>
          <p:cNvSpPr txBox="1"/>
          <p:nvPr/>
        </p:nvSpPr>
        <p:spPr>
          <a:xfrm>
            <a:off x="896112" y="2743200"/>
            <a:ext cx="10387584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Trace A candidate｜2→1 + freeze</a:t>
            </a:r>
          </a:p>
        </p:txBody>
      </p:sp>
      <p:sp>
        <p:nvSpPr>
          <p:cNvPr id="9" name="Linux candidate command command"/>
          <p:cNvSpPr txBox="1"/>
          <p:nvPr/>
        </p:nvSpPr>
        <p:spPr>
          <a:xfrm>
            <a:off x="950976" y="3127248"/>
            <a:ext cx="1027785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bash course.sh run --lab B --case trace-a-candidate --freeze</a:t>
            </a:r>
          </a:p>
        </p:txBody>
      </p:sp>
      <p:sp>
        <p:nvSpPr>
          <p:cNvPr id="10" name="Linux Trace B command"/>
          <p:cNvSpPr/>
          <p:nvPr/>
        </p:nvSpPr>
        <p:spPr>
          <a:xfrm>
            <a:off x="768096" y="3785615"/>
            <a:ext cx="10643616" cy="93268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inux Trace B command heading"/>
          <p:cNvSpPr txBox="1"/>
          <p:nvPr/>
        </p:nvSpPr>
        <p:spPr>
          <a:xfrm>
            <a:off x="896112" y="3895344"/>
            <a:ext cx="10387584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Trace B｜保持 B frozen 的 withheld case</a:t>
            </a:r>
          </a:p>
        </p:txBody>
      </p:sp>
      <p:sp>
        <p:nvSpPr>
          <p:cNvPr id="12" name="Linux Trace B command command"/>
          <p:cNvSpPr txBox="1"/>
          <p:nvPr/>
        </p:nvSpPr>
        <p:spPr>
          <a:xfrm>
            <a:off x="950976" y="4279392"/>
            <a:ext cx="10277856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bash course.sh run --lab B --case trace-b</a:t>
            </a:r>
          </a:p>
        </p:txBody>
      </p:sp>
      <p:sp>
        <p:nvSpPr>
          <p:cNvPr id="13" name="Field strip result_path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（結果路徑）｜來源：command stdout｜作用：選取本次 result.json｜單位：file path｜判讀：不要自行猜 run directory</a:t>
            </a:r>
          </a:p>
        </p:txBody>
      </p:sp>
      <p:sp>
        <p:nvSpPr>
          <p:cNvPr id="14" name="Claim boundary strip"/>
          <p:cNvSpPr/>
          <p:nvPr/>
        </p:nvSpPr>
        <p:spPr>
          <a:xfrm>
            <a:off x="804672" y="5486400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同一流程：Windows PowerShell／Command Prompt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Windows 使用相同參數；PowerShell 與 Command Prompt 只替換 launcher 名稱。</a:t>
            </a:r>
          </a:p>
        </p:txBody>
      </p:sp>
      <p:sp>
        <p:nvSpPr>
          <p:cNvPr id="4" name="PowerShell commands"/>
          <p:cNvSpPr/>
          <p:nvPr/>
        </p:nvSpPr>
        <p:spPr>
          <a:xfrm>
            <a:off x="768096" y="1481328"/>
            <a:ext cx="5120640" cy="327355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owerShell commands heading"/>
          <p:cNvSpPr txBox="1"/>
          <p:nvPr/>
        </p:nvSpPr>
        <p:spPr>
          <a:xfrm>
            <a:off x="896112" y="1591056"/>
            <a:ext cx="4864607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PowerShell｜</a:t>
            </a:r>
            <a:r>
              <a:rPr sz="1900" b="1" i="1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.\course.cmd</a:t>
            </a:r>
          </a:p>
        </p:txBody>
      </p:sp>
      <p:sp>
        <p:nvSpPr>
          <p:cNvPr id="6" name="PowerShell commands command"/>
          <p:cNvSpPr txBox="1"/>
          <p:nvPr/>
        </p:nvSpPr>
        <p:spPr>
          <a:xfrm>
            <a:off x="950976" y="1975104"/>
            <a:ext cx="4754879" cy="2670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.\course.cmd run --lab B --case trace-a-baseline</a:t>
            </a:r>
          </a:p>
          <a:p>
            <a:pPr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.\course.cmd run --lab B --case trace-a-candidate --freeze</a:t>
            </a:r>
          </a:p>
          <a:p>
            <a:pPr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.\course.cmd run --lab B --case trace-b</a:t>
            </a:r>
          </a:p>
        </p:txBody>
      </p:sp>
      <p:sp>
        <p:nvSpPr>
          <p:cNvPr id="7" name="Command Prompt commands"/>
          <p:cNvSpPr/>
          <p:nvPr/>
        </p:nvSpPr>
        <p:spPr>
          <a:xfrm>
            <a:off x="6254496" y="1481328"/>
            <a:ext cx="5120640" cy="3273552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mand Prompt commands heading"/>
          <p:cNvSpPr txBox="1"/>
          <p:nvPr/>
        </p:nvSpPr>
        <p:spPr>
          <a:xfrm>
            <a:off x="6382512" y="1591056"/>
            <a:ext cx="4864607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Command Prompt｜</a:t>
            </a:r>
            <a:r>
              <a:rPr sz="19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course.cmd</a:t>
            </a:r>
          </a:p>
        </p:txBody>
      </p:sp>
      <p:sp>
        <p:nvSpPr>
          <p:cNvPr id="9" name="Command Prompt commands command"/>
          <p:cNvSpPr txBox="1"/>
          <p:nvPr/>
        </p:nvSpPr>
        <p:spPr>
          <a:xfrm>
            <a:off x="6437376" y="1975104"/>
            <a:ext cx="4754879" cy="2670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course.cmd run --lab B --case trace-a-baseline</a:t>
            </a:r>
          </a:p>
          <a:p>
            <a:pPr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course.cmd run --lab B --case trace-a-candidate --freeze</a:t>
            </a:r>
          </a:p>
          <a:p>
            <a:pPr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course.cmd run --lab B --case trace-b</a:t>
            </a:r>
          </a:p>
        </p:txBody>
      </p:sp>
      <p:sp>
        <p:nvSpPr>
          <p:cNvPr id="10" name="Mechanism label"/>
          <p:cNvSpPr/>
          <p:nvPr/>
        </p:nvSpPr>
        <p:spPr>
          <a:xfrm>
            <a:off x="969264" y="4370832"/>
            <a:ext cx="10204704" cy="402336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baseline → candidate --freeze → Trace B；每次 stdout 都保存新的 result_path</a:t>
            </a:r>
          </a:p>
        </p:txBody>
      </p:sp>
      <p:sp>
        <p:nvSpPr>
          <p:cNvPr id="11" name="Field strip launcher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launcher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（執行器入口）｜來源：Windows shell｜作用：呼叫同一 course contract｜單位：command｜判讀：PowerShell 與 Command Prompt 不混用語法</a:t>
            </a:r>
          </a:p>
        </p:txBody>
      </p:sp>
      <p:sp>
        <p:nvSpPr>
          <p:cNvPr id="12" name="Claim boundary strip"/>
          <p:cNvSpPr/>
          <p:nvPr/>
        </p:nvSpPr>
        <p:spPr>
          <a:xfrm>
            <a:off x="804672" y="5486400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每次 run 都產生一對可追溯檔案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runner 的輸出不是一個孤立數字；result 與 replay 共同保留同一 run identity。</a:t>
            </a:r>
          </a:p>
        </p:txBody>
      </p:sp>
      <p:sp>
        <p:nvSpPr>
          <p:cNvPr id="4" name="Artifact pair node 1"/>
          <p:cNvSpPr/>
          <p:nvPr/>
        </p:nvSpPr>
        <p:spPr>
          <a:xfrm>
            <a:off x="731520" y="1572768"/>
            <a:ext cx="3273552" cy="151790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tifact pair node 1 heading"/>
          <p:cNvSpPr txBox="1"/>
          <p:nvPr/>
        </p:nvSpPr>
        <p:spPr>
          <a:xfrm>
            <a:off x="877824" y="1682495"/>
            <a:ext cx="29809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stdout</a:t>
            </a:r>
          </a:p>
        </p:txBody>
      </p:sp>
      <p:sp>
        <p:nvSpPr>
          <p:cNvPr id="6" name="Artifact pair node 1 body"/>
          <p:cNvSpPr txBox="1"/>
          <p:nvPr/>
        </p:nvSpPr>
        <p:spPr>
          <a:xfrm>
            <a:off x="896112" y="2084832"/>
            <a:ext cx="2944368" cy="896111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命令列印出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result_path</a:t>
            </a:r>
          </a:p>
        </p:txBody>
      </p:sp>
      <p:sp>
        <p:nvSpPr>
          <p:cNvPr id="7" name="Artifact pair connector"/>
          <p:cNvSpPr/>
          <p:nvPr/>
        </p:nvSpPr>
        <p:spPr>
          <a:xfrm>
            <a:off x="4114800" y="2112264"/>
            <a:ext cx="310896" cy="384048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rtifact pair node 2"/>
          <p:cNvSpPr/>
          <p:nvPr/>
        </p:nvSpPr>
        <p:spPr>
          <a:xfrm>
            <a:off x="4407407" y="1572768"/>
            <a:ext cx="3273552" cy="1517904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rtifact pair node 2 heading"/>
          <p:cNvSpPr txBox="1"/>
          <p:nvPr/>
        </p:nvSpPr>
        <p:spPr>
          <a:xfrm>
            <a:off x="4553712" y="1682495"/>
            <a:ext cx="29809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result.json</a:t>
            </a:r>
          </a:p>
        </p:txBody>
      </p:sp>
      <p:sp>
        <p:nvSpPr>
          <p:cNvPr id="10" name="Artifact pair node 2 body"/>
          <p:cNvSpPr txBox="1"/>
          <p:nvPr/>
        </p:nvSpPr>
        <p:spPr>
          <a:xfrm>
            <a:off x="4571999" y="2084832"/>
            <a:ext cx="2944368" cy="896111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summary、events、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policy／scenario identity</a:t>
            </a:r>
          </a:p>
        </p:txBody>
      </p:sp>
      <p:sp>
        <p:nvSpPr>
          <p:cNvPr id="11" name="Artifact pair connector"/>
          <p:cNvSpPr/>
          <p:nvPr/>
        </p:nvSpPr>
        <p:spPr>
          <a:xfrm>
            <a:off x="7790688" y="2112264"/>
            <a:ext cx="310896" cy="384048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rtifact pair node 3"/>
          <p:cNvSpPr/>
          <p:nvPr/>
        </p:nvSpPr>
        <p:spPr>
          <a:xfrm>
            <a:off x="8083296" y="1572768"/>
            <a:ext cx="3273552" cy="151790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rtifact pair node 3 heading"/>
          <p:cNvSpPr txBox="1"/>
          <p:nvPr/>
        </p:nvSpPr>
        <p:spPr>
          <a:xfrm>
            <a:off x="8229600" y="1682495"/>
            <a:ext cx="29809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</a:p>
        </p:txBody>
      </p:sp>
      <p:sp>
        <p:nvSpPr>
          <p:cNvPr id="14" name="Artifact pair node 3 body"/>
          <p:cNvSpPr txBox="1"/>
          <p:nvPr/>
        </p:nvSpPr>
        <p:spPr>
          <a:xfrm>
            <a:off x="8247888" y="2084832"/>
            <a:ext cx="2944368" cy="896111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同目錄的 state、queue、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packet replay</a:t>
            </a:r>
          </a:p>
        </p:txBody>
      </p:sp>
      <p:sp>
        <p:nvSpPr>
          <p:cNvPr id="15" name="Artifact directory"/>
          <p:cNvSpPr/>
          <p:nvPr/>
        </p:nvSpPr>
        <p:spPr>
          <a:xfrm>
            <a:off x="786384" y="3529584"/>
            <a:ext cx="5084064" cy="113385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rtifact directory heading"/>
          <p:cNvSpPr txBox="1"/>
          <p:nvPr/>
        </p:nvSpPr>
        <p:spPr>
          <a:xfrm>
            <a:off x="932688" y="3639312"/>
            <a:ext cx="4791455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run directory</a:t>
            </a:r>
          </a:p>
        </p:txBody>
      </p:sp>
      <p:sp>
        <p:nvSpPr>
          <p:cNvPr id="17" name="Artifact directory body"/>
          <p:cNvSpPr txBox="1"/>
          <p:nvPr/>
        </p:nvSpPr>
        <p:spPr>
          <a:xfrm>
            <a:off x="950976" y="4041648"/>
            <a:ext cx="4754879" cy="512063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artifacts/&lt;run_id&gt;/result.json</a:t>
            </a:r>
          </a:p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同目錄的 </a:t>
            </a: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必須保留。</a:t>
            </a:r>
          </a:p>
        </p:txBody>
      </p:sp>
      <p:sp>
        <p:nvSpPr>
          <p:cNvPr id="18" name="Artifact freeze"/>
          <p:cNvSpPr/>
          <p:nvPr/>
        </p:nvSpPr>
        <p:spPr>
          <a:xfrm>
            <a:off x="6272784" y="3529584"/>
            <a:ext cx="5084064" cy="1133856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rtifact freeze heading"/>
          <p:cNvSpPr txBox="1"/>
          <p:nvPr/>
        </p:nvSpPr>
        <p:spPr>
          <a:xfrm>
            <a:off x="6419088" y="3639312"/>
            <a:ext cx="4791455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freeze 時多一層 lineage</a:t>
            </a:r>
          </a:p>
        </p:txBody>
      </p:sp>
      <p:sp>
        <p:nvSpPr>
          <p:cNvPr id="20" name="Artifact freeze body"/>
          <p:cNvSpPr txBox="1"/>
          <p:nvPr/>
        </p:nvSpPr>
        <p:spPr>
          <a:xfrm>
            <a:off x="6437376" y="4041648"/>
            <a:ext cx="4754879" cy="512063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--freeze</a:t>
            </a: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另寫 receipt 與 checkpoint。</a:t>
            </a:r>
          </a:p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checkpoint 是 policy source，不是結果檔。</a:t>
            </a:r>
          </a:p>
        </p:txBody>
      </p:sp>
      <p:sp>
        <p:nvSpPr>
          <p:cNvPr id="21" name="Field strip endpoint-replay.json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（端點事件回放）｜來源：same run directory｜作用：重現 state／queue／packet｜單位：JSON artifact｜判讀：不可與另一 run 混配</a:t>
            </a:r>
          </a:p>
        </p:txBody>
      </p:sp>
      <p:sp>
        <p:nvSpPr>
          <p:cNvPr id="22" name="Claim boundary strip"/>
          <p:cNvSpPr/>
          <p:nvPr/>
        </p:nvSpPr>
        <p:spPr>
          <a:xfrm>
            <a:off x="804672" y="5468112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讀取結果：先看 service，再看 packet、state、endpoint J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服務是否完成是第一個判斷；後面三層用來解釋成功、失敗與 energy trade-off。</a:t>
            </a:r>
          </a:p>
        </p:txBody>
      </p:sp>
      <p:sp>
        <p:nvSpPr>
          <p:cNvPr id="4" name="Step 1"/>
          <p:cNvSpPr/>
          <p:nvPr/>
        </p:nvSpPr>
        <p:spPr>
          <a:xfrm>
            <a:off x="640080" y="1627632"/>
            <a:ext cx="402336" cy="402336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tep 1 label"/>
          <p:cNvSpPr txBox="1"/>
          <p:nvPr/>
        </p:nvSpPr>
        <p:spPr>
          <a:xfrm>
            <a:off x="640080" y="1636776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6" name="Reading order 1"/>
          <p:cNvSpPr/>
          <p:nvPr/>
        </p:nvSpPr>
        <p:spPr>
          <a:xfrm>
            <a:off x="548640" y="2157984"/>
            <a:ext cx="2633472" cy="160934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ading order 1 heading"/>
          <p:cNvSpPr txBox="1"/>
          <p:nvPr/>
        </p:nvSpPr>
        <p:spPr>
          <a:xfrm>
            <a:off x="694944" y="2267712"/>
            <a:ext cx="234086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sp>
        <p:nvSpPr>
          <p:cNvPr id="8" name="Reading order 1 body"/>
          <p:cNvSpPr txBox="1"/>
          <p:nvPr/>
        </p:nvSpPr>
        <p:spPr>
          <a:xfrm>
            <a:off x="713232" y="2670048"/>
            <a:ext cx="2304288" cy="987552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deadline／freshness／delivery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先判斷服務 gate</a:t>
            </a:r>
          </a:p>
        </p:txBody>
      </p:sp>
      <p:sp>
        <p:nvSpPr>
          <p:cNvPr id="9" name="Step 2"/>
          <p:cNvSpPr/>
          <p:nvPr/>
        </p:nvSpPr>
        <p:spPr>
          <a:xfrm>
            <a:off x="3419856" y="1627632"/>
            <a:ext cx="402336" cy="402336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ep 2 label"/>
          <p:cNvSpPr txBox="1"/>
          <p:nvPr/>
        </p:nvSpPr>
        <p:spPr>
          <a:xfrm>
            <a:off x="3419856" y="1636776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1" name="Reading order 2"/>
          <p:cNvSpPr/>
          <p:nvPr/>
        </p:nvSpPr>
        <p:spPr>
          <a:xfrm>
            <a:off x="3328416" y="2157984"/>
            <a:ext cx="2633472" cy="160934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ading order 2 heading"/>
          <p:cNvSpPr txBox="1"/>
          <p:nvPr/>
        </p:nvSpPr>
        <p:spPr>
          <a:xfrm>
            <a:off x="3474720" y="2267712"/>
            <a:ext cx="234086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PACKET</a:t>
            </a:r>
          </a:p>
        </p:txBody>
      </p:sp>
      <p:sp>
        <p:nvSpPr>
          <p:cNvPr id="13" name="Reading order 2 body"/>
          <p:cNvSpPr txBox="1"/>
          <p:nvPr/>
        </p:nvSpPr>
        <p:spPr>
          <a:xfrm>
            <a:off x="3493008" y="2670048"/>
            <a:ext cx="2304288" cy="987552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attempt／retry／collision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說明交付成本</a:t>
            </a:r>
          </a:p>
        </p:txBody>
      </p:sp>
      <p:sp>
        <p:nvSpPr>
          <p:cNvPr id="14" name="Step 3"/>
          <p:cNvSpPr/>
          <p:nvPr/>
        </p:nvSpPr>
        <p:spPr>
          <a:xfrm>
            <a:off x="6199631" y="1627632"/>
            <a:ext cx="402336" cy="402336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ep 3 label"/>
          <p:cNvSpPr txBox="1"/>
          <p:nvPr/>
        </p:nvSpPr>
        <p:spPr>
          <a:xfrm>
            <a:off x="6199631" y="1636776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3</a:t>
            </a:r>
          </a:p>
        </p:txBody>
      </p:sp>
      <p:sp>
        <p:nvSpPr>
          <p:cNvPr id="16" name="Reading order 3"/>
          <p:cNvSpPr/>
          <p:nvPr/>
        </p:nvSpPr>
        <p:spPr>
          <a:xfrm>
            <a:off x="6108192" y="2157984"/>
            <a:ext cx="2633472" cy="1609344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ading order 3 heading"/>
          <p:cNvSpPr txBox="1"/>
          <p:nvPr/>
        </p:nvSpPr>
        <p:spPr>
          <a:xfrm>
            <a:off x="6254496" y="2267712"/>
            <a:ext cx="234086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STATE</a:t>
            </a:r>
          </a:p>
        </p:txBody>
      </p:sp>
      <p:sp>
        <p:nvSpPr>
          <p:cNvPr id="18" name="Reading order 3 body"/>
          <p:cNvSpPr txBox="1"/>
          <p:nvPr/>
        </p:nvSpPr>
        <p:spPr>
          <a:xfrm>
            <a:off x="6272783" y="2670048"/>
            <a:ext cx="2304288" cy="987552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MODE_CHANGE、WAIT／SLEEP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說明 timing</a:t>
            </a:r>
          </a:p>
        </p:txBody>
      </p:sp>
      <p:sp>
        <p:nvSpPr>
          <p:cNvPr id="19" name="Step 4"/>
          <p:cNvSpPr/>
          <p:nvPr/>
        </p:nvSpPr>
        <p:spPr>
          <a:xfrm>
            <a:off x="8979407" y="1627632"/>
            <a:ext cx="402336" cy="402336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ep 4 label"/>
          <p:cNvSpPr txBox="1"/>
          <p:nvPr/>
        </p:nvSpPr>
        <p:spPr>
          <a:xfrm>
            <a:off x="8979407" y="1636776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4</a:t>
            </a:r>
          </a:p>
        </p:txBody>
      </p:sp>
      <p:sp>
        <p:nvSpPr>
          <p:cNvPr id="21" name="Reading order 4"/>
          <p:cNvSpPr/>
          <p:nvPr/>
        </p:nvSpPr>
        <p:spPr>
          <a:xfrm>
            <a:off x="8887967" y="2157984"/>
            <a:ext cx="2633472" cy="1609344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ading order 4 heading"/>
          <p:cNvSpPr txBox="1"/>
          <p:nvPr/>
        </p:nvSpPr>
        <p:spPr>
          <a:xfrm>
            <a:off x="9034272" y="2267712"/>
            <a:ext cx="234086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sp>
        <p:nvSpPr>
          <p:cNvPr id="23" name="Reading order 4 body"/>
          <p:cNvSpPr txBox="1"/>
          <p:nvPr/>
        </p:nvSpPr>
        <p:spPr>
          <a:xfrm>
            <a:off x="9052559" y="2670048"/>
            <a:ext cx="2304288" cy="987552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radio／processing J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只代表端點 scope</a:t>
            </a:r>
          </a:p>
        </p:txBody>
      </p:sp>
      <p:sp>
        <p:nvSpPr>
          <p:cNvPr id="24" name="Reading rule"/>
          <p:cNvSpPr/>
          <p:nvPr/>
        </p:nvSpPr>
        <p:spPr>
          <a:xfrm>
            <a:off x="877824" y="4078224"/>
            <a:ext cx="10332720" cy="548640"/>
          </a:xfrm>
          <a:prstGeom prst="roundRect">
            <a:avLst/>
          </a:prstGeom>
          <a:solidFill>
            <a:srgbClr val="FFF9E6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ading rule text"/>
          <p:cNvSpPr txBox="1"/>
          <p:nvPr/>
        </p:nvSpPr>
        <p:spPr>
          <a:xfrm>
            <a:off x="1060704" y="4206240"/>
            <a:ext cx="9966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service FAIL 時，較小的 endpoint J 不能把服務失敗改寫成成功。</a:t>
            </a:r>
          </a:p>
        </p:txBody>
      </p:sp>
      <p:sp>
        <p:nvSpPr>
          <p:cNvPr id="26" name="Field strip service_pass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（服務布林狀態）｜來源：result summary／service gate｜作用：先判斷 deadline、freshness、delivery｜單位：true／false｜判讀：PASS 才進入 trade-off 解釋</a:t>
            </a:r>
          </a:p>
        </p:txBody>
      </p:sp>
      <p:sp>
        <p:nvSpPr>
          <p:cNvPr id="27" name="Claim boundary strip"/>
          <p:cNvSpPr/>
          <p:nvPr/>
        </p:nvSpPr>
        <p:spPr>
          <a:xfrm>
            <a:off x="804672" y="5468112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Trace A：candidate 送達增加，但 service 仍未通過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current evidence 將 baseline 與 candidate 放在同一條 service → packet → state → J 判讀鏈。</a:t>
            </a:r>
          </a:p>
        </p:txBody>
      </p:sp>
      <p:sp>
        <p:nvSpPr>
          <p:cNvPr id="4" name="Trace A current baseline"/>
          <p:cNvSpPr/>
          <p:nvPr/>
        </p:nvSpPr>
        <p:spPr>
          <a:xfrm>
            <a:off x="768096" y="1481328"/>
            <a:ext cx="5102352" cy="22128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race A current baseline heading"/>
          <p:cNvSpPr txBox="1"/>
          <p:nvPr/>
        </p:nvSpPr>
        <p:spPr>
          <a:xfrm>
            <a:off x="914400" y="1591056"/>
            <a:ext cx="48097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Trace A baseline｜STABLE_STEPS = 2</a:t>
            </a:r>
          </a:p>
        </p:txBody>
      </p:sp>
      <p:sp>
        <p:nvSpPr>
          <p:cNvPr id="6" name="Trace A current baseline body"/>
          <p:cNvSpPr txBox="1"/>
          <p:nvPr/>
        </p:nvSpPr>
        <p:spPr>
          <a:xfrm>
            <a:off x="932688" y="1993392"/>
            <a:ext cx="4773168" cy="1591055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service_pass：false</a:t>
            </a:r>
          </a:p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delivered：1／4　expired：3</a:t>
            </a:r>
          </a:p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retries：1　collisions：1</a:t>
            </a:r>
          </a:p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endpoint_energy_j：8.86 J</a:t>
            </a:r>
          </a:p>
        </p:txBody>
      </p:sp>
      <p:sp>
        <p:nvSpPr>
          <p:cNvPr id="7" name="Trace A current candidate"/>
          <p:cNvSpPr/>
          <p:nvPr/>
        </p:nvSpPr>
        <p:spPr>
          <a:xfrm>
            <a:off x="6272784" y="1481328"/>
            <a:ext cx="5102352" cy="221284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race A current candidate heading"/>
          <p:cNvSpPr txBox="1"/>
          <p:nvPr/>
        </p:nvSpPr>
        <p:spPr>
          <a:xfrm>
            <a:off x="6419088" y="1591056"/>
            <a:ext cx="48097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Trace A candidate｜STABLE_STEPS = 1</a:t>
            </a:r>
          </a:p>
        </p:txBody>
      </p:sp>
      <p:sp>
        <p:nvSpPr>
          <p:cNvPr id="9" name="Trace A current candidate body"/>
          <p:cNvSpPr txBox="1"/>
          <p:nvPr/>
        </p:nvSpPr>
        <p:spPr>
          <a:xfrm>
            <a:off x="6437376" y="1993392"/>
            <a:ext cx="4773168" cy="1591055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service_pass：false</a:t>
            </a:r>
          </a:p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delivered：3／4　expired：1</a:t>
            </a:r>
          </a:p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retries：1　collisions：1</a:t>
            </a:r>
          </a:p>
          <a:p>
            <a:pPr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endpoint_energy_j：10.66 J</a:t>
            </a:r>
          </a:p>
        </p:txBody>
      </p:sp>
      <p:sp>
        <p:nvSpPr>
          <p:cNvPr id="10" name="Trace A current interpretation"/>
          <p:cNvSpPr/>
          <p:nvPr/>
        </p:nvSpPr>
        <p:spPr>
          <a:xfrm>
            <a:off x="877824" y="3913632"/>
            <a:ext cx="10332720" cy="676656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race A current interpretation text"/>
          <p:cNvSpPr txBox="1"/>
          <p:nvPr/>
        </p:nvSpPr>
        <p:spPr>
          <a:xfrm>
            <a:off x="1060704" y="4059936"/>
            <a:ext cx="99669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candidate：送達 1／4 → 3／4、逾時 3 → 1；endpoint J 8.86 → 10.66（+1.80 J），service 仍為 false。</a:t>
            </a:r>
          </a:p>
        </p:txBody>
      </p:sp>
      <p:sp>
        <p:nvSpPr>
          <p:cNvPr id="12" name="Field strip MODE_CHANGE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（模式切換事件）｜來源：result events｜作用：連接 edit 與 service timing｜單位：event time｜判讀：先填事件，再填 packet／service／J</a:t>
            </a:r>
          </a:p>
        </p:txBody>
      </p:sp>
      <p:sp>
        <p:nvSpPr>
          <p:cNvPr id="13" name="Claim boundary strip"/>
          <p:cNvSpPr/>
          <p:nvPr/>
        </p:nvSpPr>
        <p:spPr>
          <a:xfrm>
            <a:off x="804672" y="5468112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Trace B：frozen candidate 仍未通過 service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Trace B 使用同一個 frozen candidate；新的 case 顯示條件邊界，而不是整體改善證據。</a:t>
            </a:r>
          </a:p>
        </p:txBody>
      </p:sp>
      <p:sp>
        <p:nvSpPr>
          <p:cNvPr id="4" name="Trace B compare A"/>
          <p:cNvSpPr/>
          <p:nvPr/>
        </p:nvSpPr>
        <p:spPr>
          <a:xfrm>
            <a:off x="768096" y="1554480"/>
            <a:ext cx="5084064" cy="246888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race B compare A heading"/>
          <p:cNvSpPr txBox="1"/>
          <p:nvPr/>
        </p:nvSpPr>
        <p:spPr>
          <a:xfrm>
            <a:off x="914400" y="1664207"/>
            <a:ext cx="4791455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Trace A candidate｜frozen policy</a:t>
            </a:r>
          </a:p>
        </p:txBody>
      </p:sp>
      <p:sp>
        <p:nvSpPr>
          <p:cNvPr id="6" name="Trace B compare A body"/>
          <p:cNvSpPr txBox="1"/>
          <p:nvPr/>
        </p:nvSpPr>
        <p:spPr>
          <a:xfrm>
            <a:off x="932688" y="2066543"/>
            <a:ext cx="4754879" cy="184708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STABLE_STEPS = 1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delivered：3／4　expired：1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service_pass：false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endpoint_energy_j：10.66 J</a:t>
            </a:r>
          </a:p>
        </p:txBody>
      </p:sp>
      <p:sp>
        <p:nvSpPr>
          <p:cNvPr id="7" name="Trace B compare B"/>
          <p:cNvSpPr/>
          <p:nvPr/>
        </p:nvSpPr>
        <p:spPr>
          <a:xfrm>
            <a:off x="6272784" y="1554480"/>
            <a:ext cx="5084064" cy="24688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race B compare B heading"/>
          <p:cNvSpPr txBox="1"/>
          <p:nvPr/>
        </p:nvSpPr>
        <p:spPr>
          <a:xfrm>
            <a:off x="6419088" y="1664207"/>
            <a:ext cx="4791455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Trace B｜withheld evidence</a:t>
            </a:r>
          </a:p>
        </p:txBody>
      </p:sp>
      <p:sp>
        <p:nvSpPr>
          <p:cNvPr id="9" name="Trace B compare B body"/>
          <p:cNvSpPr txBox="1"/>
          <p:nvPr/>
        </p:nvSpPr>
        <p:spPr>
          <a:xfrm>
            <a:off x="6437376" y="2066543"/>
            <a:ext cx="4754879" cy="184708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同一 frozen policy；case 條件改變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delivered：1／3　expired：2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service_pass：false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endpoint_energy_j：5.43 J</a:t>
            </a:r>
          </a:p>
        </p:txBody>
      </p:sp>
      <p:sp>
        <p:nvSpPr>
          <p:cNvPr id="10" name="Trace B boundary"/>
          <p:cNvSpPr/>
          <p:nvPr/>
        </p:nvSpPr>
        <p:spPr>
          <a:xfrm>
            <a:off x="914400" y="4315968"/>
            <a:ext cx="10369296" cy="713232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race B boundary text"/>
          <p:cNvSpPr txBox="1"/>
          <p:nvPr/>
        </p:nvSpPr>
        <p:spPr>
          <a:xfrm>
            <a:off x="1078992" y="4462272"/>
            <a:ext cx="100401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Trace B service_pass 仍為 false；不能把單一 J 值 5.43 宣稱為整體改善。</a:t>
            </a:r>
          </a:p>
        </p:txBody>
      </p:sp>
      <p:sp>
        <p:nvSpPr>
          <p:cNvPr id="12" name="Field strip withheld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withheld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（保留條件）｜來源：Trace B scenario contract｜作用：檢驗外推邊界｜單位：case role｜判讀：frozen policy 不因結果改寫</a:t>
            </a:r>
          </a:p>
        </p:txBody>
      </p:sp>
      <p:sp>
        <p:nvSpPr>
          <p:cNvPr id="13" name="Claim boundary strip"/>
          <p:cNvSpPr/>
          <p:nvPr/>
        </p:nvSpPr>
        <p:spPr>
          <a:xfrm>
            <a:off x="804672" y="5468112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Lab B 結論：送達增加，service 仍未通過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LoRaEnergySim energy ledger 顯示 candidate 的送達收益伴隨端點成本；Trace B 未通過 service。</a:t>
            </a:r>
          </a:p>
        </p:txBody>
      </p:sp>
      <p:sp>
        <p:nvSpPr>
          <p:cNvPr id="4" name="Lab B conclusion delivery"/>
          <p:cNvSpPr/>
          <p:nvPr/>
        </p:nvSpPr>
        <p:spPr>
          <a:xfrm>
            <a:off x="768096" y="1554480"/>
            <a:ext cx="3401568" cy="2505456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ab B conclusion delivery heading"/>
          <p:cNvSpPr txBox="1"/>
          <p:nvPr/>
        </p:nvSpPr>
        <p:spPr>
          <a:xfrm>
            <a:off x="914400" y="1664207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Trace A｜送達變化</a:t>
            </a:r>
          </a:p>
        </p:txBody>
      </p:sp>
      <p:sp>
        <p:nvSpPr>
          <p:cNvPr id="6" name="Lab B conclusion delivery body"/>
          <p:cNvSpPr txBox="1"/>
          <p:nvPr/>
        </p:nvSpPr>
        <p:spPr>
          <a:xfrm>
            <a:off x="932688" y="2066543"/>
            <a:ext cx="3072384" cy="188366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baseline：delivered 1／4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candidate：delivered 3／4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expired：3 → 1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service_pass：false → false</a:t>
            </a:r>
          </a:p>
        </p:txBody>
      </p:sp>
      <p:sp>
        <p:nvSpPr>
          <p:cNvPr id="7" name="Lab B conclusion energy"/>
          <p:cNvSpPr/>
          <p:nvPr/>
        </p:nvSpPr>
        <p:spPr>
          <a:xfrm>
            <a:off x="4389120" y="1554480"/>
            <a:ext cx="3401568" cy="2505456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ab B conclusion energy heading"/>
          <p:cNvSpPr txBox="1"/>
          <p:nvPr/>
        </p:nvSpPr>
        <p:spPr>
          <a:xfrm>
            <a:off x="4535424" y="1664207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Trace A｜端點成本</a:t>
            </a:r>
          </a:p>
        </p:txBody>
      </p:sp>
      <p:sp>
        <p:nvSpPr>
          <p:cNvPr id="9" name="Lab B conclusion energy body"/>
          <p:cNvSpPr txBox="1"/>
          <p:nvPr/>
        </p:nvSpPr>
        <p:spPr>
          <a:xfrm>
            <a:off x="4553712" y="2066543"/>
            <a:ext cx="3072384" cy="188366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 J：8.86 → 10.66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增加：+1.80 J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retries：1 → 1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collisions：1 → 1</a:t>
            </a:r>
          </a:p>
        </p:txBody>
      </p:sp>
      <p:sp>
        <p:nvSpPr>
          <p:cNvPr id="10" name="Lab B conclusion boundary"/>
          <p:cNvSpPr/>
          <p:nvPr/>
        </p:nvSpPr>
        <p:spPr>
          <a:xfrm>
            <a:off x="8010144" y="1554480"/>
            <a:ext cx="3401568" cy="2505456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ab B conclusion boundary heading"/>
          <p:cNvSpPr txBox="1"/>
          <p:nvPr/>
        </p:nvSpPr>
        <p:spPr>
          <a:xfrm>
            <a:off x="8156448" y="1664207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Trace B｜主張邊界</a:t>
            </a:r>
          </a:p>
        </p:txBody>
      </p:sp>
      <p:sp>
        <p:nvSpPr>
          <p:cNvPr id="12" name="Lab B conclusion boundary body"/>
          <p:cNvSpPr txBox="1"/>
          <p:nvPr/>
        </p:nvSpPr>
        <p:spPr>
          <a:xfrm>
            <a:off x="8174736" y="2066543"/>
            <a:ext cx="3072384" cy="188366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frozen candidate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delivered：1／3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expired：2；J：5.43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service_pass：false</a:t>
            </a:r>
          </a:p>
        </p:txBody>
      </p:sp>
      <p:sp>
        <p:nvSpPr>
          <p:cNvPr id="13" name="Lab B qualified conclusion"/>
          <p:cNvSpPr/>
          <p:nvPr/>
        </p:nvSpPr>
        <p:spPr>
          <a:xfrm>
            <a:off x="914400" y="4315968"/>
            <a:ext cx="10369296" cy="713232"/>
          </a:xfrm>
          <a:prstGeom prst="roundRect">
            <a:avLst/>
          </a:prstGeom>
          <a:solidFill>
            <a:srgbClr val="FFF9E6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ab B qualified conclusion text"/>
          <p:cNvSpPr txBox="1"/>
          <p:nvPr/>
        </p:nvSpPr>
        <p:spPr>
          <a:xfrm>
            <a:off x="1078992" y="4462272"/>
            <a:ext cx="100401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結論句：candidate 增加送達但增加 energy，且仍未 service pass；Trace B 未通過，不能宣稱整體改善。</a:t>
            </a:r>
          </a:p>
        </p:txBody>
      </p:sp>
      <p:sp>
        <p:nvSpPr>
          <p:cNvPr id="15" name="Field strip claim ceiling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claim ceiling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（主張上限）｜來源：Trace A／Trace B pairs｜作用：界定可外推範圍｜單位：condition set｜判讀：J 變小不覆蓋 service failure</a:t>
            </a:r>
          </a:p>
        </p:txBody>
      </p:sp>
      <p:sp>
        <p:nvSpPr>
          <p:cNvPr id="16" name="Claim boundary strip"/>
          <p:cNvSpPr/>
          <p:nvPr/>
        </p:nvSpPr>
        <p:spPr>
          <a:xfrm>
            <a:off x="804672" y="5468112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中斷時：先恢復 policy，再重跑 exact case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policy checkpoint 只恢復 lineage；compile 後重新 run，才會產生新的 result_path。</a:t>
            </a:r>
          </a:p>
        </p:txBody>
      </p:sp>
      <p:sp>
        <p:nvSpPr>
          <p:cNvPr id="4" name="Recovery step 1"/>
          <p:cNvSpPr/>
          <p:nvPr/>
        </p:nvSpPr>
        <p:spPr>
          <a:xfrm>
            <a:off x="585216" y="1499616"/>
            <a:ext cx="2542032" cy="142646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overy step 1 heading"/>
          <p:cNvSpPr txBox="1"/>
          <p:nvPr/>
        </p:nvSpPr>
        <p:spPr>
          <a:xfrm>
            <a:off x="731520" y="1609343"/>
            <a:ext cx="224942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01｜copy</a:t>
            </a:r>
          </a:p>
        </p:txBody>
      </p:sp>
      <p:sp>
        <p:nvSpPr>
          <p:cNvPr id="6" name="Recovery step 1 body"/>
          <p:cNvSpPr txBox="1"/>
          <p:nvPr/>
        </p:nvSpPr>
        <p:spPr>
          <a:xfrm>
            <a:off x="749808" y="2011680"/>
            <a:ext cx="2212848" cy="804672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放回最後有效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A／B checkpoint</a:t>
            </a:r>
          </a:p>
        </p:txBody>
      </p:sp>
      <p:sp>
        <p:nvSpPr>
          <p:cNvPr id="7" name="Recovery connector"/>
          <p:cNvSpPr/>
          <p:nvPr/>
        </p:nvSpPr>
        <p:spPr>
          <a:xfrm>
            <a:off x="3218688" y="2029968"/>
            <a:ext cx="310896" cy="384048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overy step 2"/>
          <p:cNvSpPr/>
          <p:nvPr/>
        </p:nvSpPr>
        <p:spPr>
          <a:xfrm>
            <a:off x="3364992" y="1499616"/>
            <a:ext cx="2542032" cy="1426464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overy step 2 heading"/>
          <p:cNvSpPr txBox="1"/>
          <p:nvPr/>
        </p:nvSpPr>
        <p:spPr>
          <a:xfrm>
            <a:off x="3511296" y="1609343"/>
            <a:ext cx="224942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02｜compile</a:t>
            </a:r>
          </a:p>
        </p:txBody>
      </p:sp>
      <p:sp>
        <p:nvSpPr>
          <p:cNvPr id="10" name="Recovery step 2 body"/>
          <p:cNvSpPr txBox="1"/>
          <p:nvPr/>
        </p:nvSpPr>
        <p:spPr>
          <a:xfrm>
            <a:off x="3529584" y="2011680"/>
            <a:ext cx="2212848" cy="804672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確認 policy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語法可載入</a:t>
            </a:r>
          </a:p>
        </p:txBody>
      </p:sp>
      <p:sp>
        <p:nvSpPr>
          <p:cNvPr id="11" name="Recovery connector"/>
          <p:cNvSpPr/>
          <p:nvPr/>
        </p:nvSpPr>
        <p:spPr>
          <a:xfrm>
            <a:off x="5998464" y="2029968"/>
            <a:ext cx="310896" cy="384048"/>
          </a:xfrm>
          <a:prstGeom prst="chevron">
            <a:avLst/>
          </a:prstGeom>
          <a:solidFill>
            <a:srgbClr val="66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overy step 3"/>
          <p:cNvSpPr/>
          <p:nvPr/>
        </p:nvSpPr>
        <p:spPr>
          <a:xfrm>
            <a:off x="6144768" y="1499616"/>
            <a:ext cx="2542032" cy="142646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overy step 3 heading"/>
          <p:cNvSpPr txBox="1"/>
          <p:nvPr/>
        </p:nvSpPr>
        <p:spPr>
          <a:xfrm>
            <a:off x="6291072" y="1609343"/>
            <a:ext cx="224942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03｜exact rerun</a:t>
            </a:r>
          </a:p>
        </p:txBody>
      </p:sp>
      <p:sp>
        <p:nvSpPr>
          <p:cNvPr id="14" name="Recovery step 3 body"/>
          <p:cNvSpPr txBox="1"/>
          <p:nvPr/>
        </p:nvSpPr>
        <p:spPr>
          <a:xfrm>
            <a:off x="6309360" y="2011680"/>
            <a:ext cx="2212848" cy="804672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同一 case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不改 runner／JSON</a:t>
            </a:r>
          </a:p>
        </p:txBody>
      </p:sp>
      <p:sp>
        <p:nvSpPr>
          <p:cNvPr id="15" name="Recovery connector"/>
          <p:cNvSpPr/>
          <p:nvPr/>
        </p:nvSpPr>
        <p:spPr>
          <a:xfrm>
            <a:off x="8778240" y="2029968"/>
            <a:ext cx="310896" cy="384048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overy step 4"/>
          <p:cNvSpPr/>
          <p:nvPr/>
        </p:nvSpPr>
        <p:spPr>
          <a:xfrm>
            <a:off x="8924544" y="1499616"/>
            <a:ext cx="2542032" cy="1426464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overy step 4 heading"/>
          <p:cNvSpPr txBox="1"/>
          <p:nvPr/>
        </p:nvSpPr>
        <p:spPr>
          <a:xfrm>
            <a:off x="9070848" y="1609343"/>
            <a:ext cx="224942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04｜new pair</a:t>
            </a:r>
          </a:p>
        </p:txBody>
      </p:sp>
      <p:sp>
        <p:nvSpPr>
          <p:cNvPr id="18" name="Recovery step 4 body"/>
          <p:cNvSpPr txBox="1"/>
          <p:nvPr/>
        </p:nvSpPr>
        <p:spPr>
          <a:xfrm>
            <a:off x="9089136" y="2011680"/>
            <a:ext cx="2212848" cy="804672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保存新的 path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配對 replay</a:t>
            </a:r>
          </a:p>
        </p:txBody>
      </p:sp>
      <p:sp>
        <p:nvSpPr>
          <p:cNvPr id="19" name="Recovery POSIX commands"/>
          <p:cNvSpPr/>
          <p:nvPr/>
        </p:nvSpPr>
        <p:spPr>
          <a:xfrm>
            <a:off x="749808" y="3291840"/>
            <a:ext cx="5212080" cy="13898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overy POSIX commands heading"/>
          <p:cNvSpPr txBox="1"/>
          <p:nvPr/>
        </p:nvSpPr>
        <p:spPr>
          <a:xfrm>
            <a:off x="877824" y="3401568"/>
            <a:ext cx="4956048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Linux／macOS 終端機／WSL</a:t>
            </a:r>
          </a:p>
        </p:txBody>
      </p:sp>
      <p:sp>
        <p:nvSpPr>
          <p:cNvPr id="21" name="Recovery POSIX commands command"/>
          <p:cNvSpPr txBox="1"/>
          <p:nvPr/>
        </p:nvSpPr>
        <p:spPr>
          <a:xfrm>
            <a:off x="932688" y="3785616"/>
            <a:ext cx="4846320" cy="7863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cp artifacts/checkpoints/lab-b-frozen.py student_policy.py</a:t>
            </a:r>
          </a:p>
          <a:p>
            <a:pPr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.venv/bin/python -m py_compile student_policy.py</a:t>
            </a:r>
          </a:p>
        </p:txBody>
      </p:sp>
      <p:sp>
        <p:nvSpPr>
          <p:cNvPr id="22" name="Recovery Windows commands"/>
          <p:cNvSpPr/>
          <p:nvPr/>
        </p:nvSpPr>
        <p:spPr>
          <a:xfrm>
            <a:off x="6236208" y="3291840"/>
            <a:ext cx="5212080" cy="138988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overy Windows commands heading"/>
          <p:cNvSpPr txBox="1"/>
          <p:nvPr/>
        </p:nvSpPr>
        <p:spPr>
          <a:xfrm>
            <a:off x="6364224" y="3401568"/>
            <a:ext cx="4956048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0" rIns="9144" bIns="0">
            <a:spAutoFit/>
          </a:bodyPr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Windows Command Prompt</a:t>
            </a:r>
          </a:p>
        </p:txBody>
      </p:sp>
      <p:sp>
        <p:nvSpPr>
          <p:cNvPr id="24" name="Recovery Windows commands command"/>
          <p:cNvSpPr txBox="1"/>
          <p:nvPr/>
        </p:nvSpPr>
        <p:spPr>
          <a:xfrm>
            <a:off x="6419088" y="3785616"/>
            <a:ext cx="4846320" cy="7863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copy /Y artifacts\checkpoints\lab-b-frozen.py student_policy.py</a:t>
            </a:r>
          </a:p>
          <a:p>
            <a:pPr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.venv\Scripts\python.exe -m py_compile student_policy.py</a:t>
            </a:r>
          </a:p>
        </p:txBody>
      </p:sp>
      <p:sp>
        <p:nvSpPr>
          <p:cNvPr id="25" name="Field strip checkpoint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checkpoint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（策略快照）｜來源：artifacts/checkpoints｜作用：恢復 policy lineage｜單位：Python source｜判讀：不會復原遺失的 result</a:t>
            </a:r>
          </a:p>
        </p:txBody>
      </p:sp>
      <p:sp>
        <p:nvSpPr>
          <p:cNvPr id="26" name="Claim boundary strip"/>
          <p:cNvSpPr/>
          <p:nvPr/>
        </p:nvSpPr>
        <p:spPr>
          <a:xfrm>
            <a:off x="804672" y="5486400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9144" tIns="0" rIns="9144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result.json 匯入 /course：驗證後才進 workbook</a:t>
            </a:r>
          </a:p>
        </p:txBody>
      </p:sp>
      <p:sp>
        <p:nvSpPr>
          <p:cNvPr id="3" name="Readable lead"/>
          <p:cNvSpPr txBox="1"/>
          <p:nvPr/>
        </p:nvSpPr>
        <p:spPr>
          <a:xfrm>
            <a:off x="841248" y="932688"/>
            <a:ext cx="1049731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網站接收 runner 的 </a:t>
            </a:r>
            <a:r>
              <a:rPr sz="22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；驗證 identity 後讀取配對 replay，保存可回溯的比較紀錄。</a:t>
            </a:r>
          </a:p>
        </p:txBody>
      </p:sp>
      <p:sp>
        <p:nvSpPr>
          <p:cNvPr id="4" name="Upload flow node 1"/>
          <p:cNvSpPr/>
          <p:nvPr/>
        </p:nvSpPr>
        <p:spPr>
          <a:xfrm>
            <a:off x="530352" y="1536192"/>
            <a:ext cx="2596896" cy="1499616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load flow node 1 heading"/>
          <p:cNvSpPr txBox="1"/>
          <p:nvPr/>
        </p:nvSpPr>
        <p:spPr>
          <a:xfrm>
            <a:off x="676656" y="1645919"/>
            <a:ext cx="2304288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1｜選檔</a:t>
            </a:r>
          </a:p>
        </p:txBody>
      </p:sp>
      <p:sp>
        <p:nvSpPr>
          <p:cNvPr id="6" name="Upload flow node 1 body"/>
          <p:cNvSpPr txBox="1"/>
          <p:nvPr/>
        </p:nvSpPr>
        <p:spPr>
          <a:xfrm>
            <a:off x="694944" y="2048256"/>
            <a:ext cx="2267712" cy="877823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stdout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result_path</a:t>
            </a:r>
          </a:p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選該次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</a:t>
            </a:r>
          </a:p>
        </p:txBody>
      </p:sp>
      <p:sp>
        <p:nvSpPr>
          <p:cNvPr id="7" name="Upload flow connector"/>
          <p:cNvSpPr/>
          <p:nvPr/>
        </p:nvSpPr>
        <p:spPr>
          <a:xfrm>
            <a:off x="3218688" y="2084831"/>
            <a:ext cx="310896" cy="384048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Upload flow node 2"/>
          <p:cNvSpPr/>
          <p:nvPr/>
        </p:nvSpPr>
        <p:spPr>
          <a:xfrm>
            <a:off x="3328416" y="1536192"/>
            <a:ext cx="2596896" cy="1499616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Upload flow node 2 heading"/>
          <p:cNvSpPr txBox="1"/>
          <p:nvPr/>
        </p:nvSpPr>
        <p:spPr>
          <a:xfrm>
            <a:off x="3474720" y="1645919"/>
            <a:ext cx="2304288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2｜驗證</a:t>
            </a:r>
          </a:p>
        </p:txBody>
      </p:sp>
      <p:sp>
        <p:nvSpPr>
          <p:cNvPr id="10" name="Upload flow node 2 body"/>
          <p:cNvSpPr txBox="1"/>
          <p:nvPr/>
        </p:nvSpPr>
        <p:spPr>
          <a:xfrm>
            <a:off x="3493008" y="2048256"/>
            <a:ext cx="2267712" cy="877823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schema／identity／units</a:t>
            </a:r>
          </a:p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不符就 fail closed</a:t>
            </a:r>
          </a:p>
        </p:txBody>
      </p:sp>
      <p:sp>
        <p:nvSpPr>
          <p:cNvPr id="11" name="Upload flow connector"/>
          <p:cNvSpPr/>
          <p:nvPr/>
        </p:nvSpPr>
        <p:spPr>
          <a:xfrm>
            <a:off x="6016752" y="2084831"/>
            <a:ext cx="310896" cy="384048"/>
          </a:xfrm>
          <a:prstGeom prst="chevron">
            <a:avLst/>
          </a:prstGeom>
          <a:solidFill>
            <a:srgbClr val="66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Upload flow node 3"/>
          <p:cNvSpPr/>
          <p:nvPr/>
        </p:nvSpPr>
        <p:spPr>
          <a:xfrm>
            <a:off x="6126480" y="1536192"/>
            <a:ext cx="2596896" cy="1499616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Upload flow node 3 heading"/>
          <p:cNvSpPr txBox="1"/>
          <p:nvPr/>
        </p:nvSpPr>
        <p:spPr>
          <a:xfrm>
            <a:off x="6272784" y="1645919"/>
            <a:ext cx="2304288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3｜回放</a:t>
            </a:r>
          </a:p>
        </p:txBody>
      </p:sp>
      <p:sp>
        <p:nvSpPr>
          <p:cNvPr id="14" name="Upload flow node 3 body"/>
          <p:cNvSpPr txBox="1"/>
          <p:nvPr/>
        </p:nvSpPr>
        <p:spPr>
          <a:xfrm>
            <a:off x="6291072" y="2048256"/>
            <a:ext cx="2267712" cy="877823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同目錄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</a:p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state／queue／packet</a:t>
            </a:r>
          </a:p>
        </p:txBody>
      </p:sp>
      <p:sp>
        <p:nvSpPr>
          <p:cNvPr id="15" name="Upload flow connector"/>
          <p:cNvSpPr/>
          <p:nvPr/>
        </p:nvSpPr>
        <p:spPr>
          <a:xfrm>
            <a:off x="8814816" y="2084831"/>
            <a:ext cx="310896" cy="384048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Upload flow node 4"/>
          <p:cNvSpPr/>
          <p:nvPr/>
        </p:nvSpPr>
        <p:spPr>
          <a:xfrm>
            <a:off x="8924544" y="1536192"/>
            <a:ext cx="2596896" cy="1499616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Upload flow node 4 heading"/>
          <p:cNvSpPr txBox="1"/>
          <p:nvPr/>
        </p:nvSpPr>
        <p:spPr>
          <a:xfrm>
            <a:off x="9070848" y="1645919"/>
            <a:ext cx="2304288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4｜保存</a:t>
            </a:r>
          </a:p>
        </p:txBody>
      </p:sp>
      <p:sp>
        <p:nvSpPr>
          <p:cNvPr id="18" name="Upload flow node 4 body"/>
          <p:cNvSpPr txBox="1"/>
          <p:nvPr/>
        </p:nvSpPr>
        <p:spPr>
          <a:xfrm>
            <a:off x="9089136" y="2048256"/>
            <a:ext cx="2267712" cy="877823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 → packet → state → J</a:t>
            </a:r>
          </a:p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寫入 workbook lineage</a:t>
            </a:r>
          </a:p>
        </p:txBody>
      </p:sp>
      <p:sp>
        <p:nvSpPr>
          <p:cNvPr id="19" name="Upload success"/>
          <p:cNvSpPr/>
          <p:nvPr/>
        </p:nvSpPr>
        <p:spPr>
          <a:xfrm>
            <a:off x="786384" y="3456432"/>
            <a:ext cx="5102352" cy="126187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Upload success heading"/>
          <p:cNvSpPr txBox="1"/>
          <p:nvPr/>
        </p:nvSpPr>
        <p:spPr>
          <a:xfrm>
            <a:off x="932688" y="3566160"/>
            <a:ext cx="48097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網站讀取／保存</a:t>
            </a:r>
          </a:p>
        </p:txBody>
      </p:sp>
      <p:sp>
        <p:nvSpPr>
          <p:cNvPr id="21" name="Upload success body"/>
          <p:cNvSpPr txBox="1"/>
          <p:nvPr/>
        </p:nvSpPr>
        <p:spPr>
          <a:xfrm>
            <a:off x="950976" y="3968496"/>
            <a:ext cx="4773168" cy="640079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讀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並驗證；materialize 同 run replay。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保存 baseline／candidate／withheld lineage。</a:t>
            </a:r>
          </a:p>
        </p:txBody>
      </p:sp>
      <p:sp>
        <p:nvSpPr>
          <p:cNvPr id="22" name="Upload boundary"/>
          <p:cNvSpPr/>
          <p:nvPr/>
        </p:nvSpPr>
        <p:spPr>
          <a:xfrm>
            <a:off x="6272784" y="3456432"/>
            <a:ext cx="5102352" cy="1261872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Upload boundary heading"/>
          <p:cNvSpPr txBox="1"/>
          <p:nvPr/>
        </p:nvSpPr>
        <p:spPr>
          <a:xfrm>
            <a:off x="6419088" y="3566160"/>
            <a:ext cx="480974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0" rIns="18288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網站不做的事</a:t>
            </a:r>
          </a:p>
        </p:txBody>
      </p:sp>
      <p:sp>
        <p:nvSpPr>
          <p:cNvPr id="24" name="Upload boundary body"/>
          <p:cNvSpPr txBox="1"/>
          <p:nvPr/>
        </p:nvSpPr>
        <p:spPr>
          <a:xfrm>
            <a:off x="6437376" y="3968496"/>
            <a:ext cx="4773168" cy="640079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tIns="18288" rIns="27432" bIns="18288">
            <a:spAutoFit/>
          </a:bodyPr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不接收或執行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；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不把 endpoint J 改稱 LEO／system energy。</a:t>
            </a:r>
          </a:p>
        </p:txBody>
      </p:sp>
      <p:sp>
        <p:nvSpPr>
          <p:cNvPr id="25" name="Field strip result.json"/>
          <p:cNvSpPr/>
          <p:nvPr/>
        </p:nvSpPr>
        <p:spPr>
          <a:xfrm>
            <a:off x="804672" y="4901184"/>
            <a:ext cx="10588752" cy="4754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" rIns="146304" bIns="9144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6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（執行結果）｜來源：runner stdout result_path｜作用：匯入 /course 的 evidence｜單位：JSON artifact｜判讀：與 endpoint replay 同 run 配對</a:t>
            </a:r>
          </a:p>
        </p:txBody>
      </p:sp>
      <p:sp>
        <p:nvSpPr>
          <p:cNvPr id="26" name="Claim boundary strip"/>
          <p:cNvSpPr/>
          <p:nvPr/>
        </p:nvSpPr>
        <p:spPr>
          <a:xfrm>
            <a:off x="804672" y="5486400"/>
            <a:ext cx="10588752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9144" rIns="27432" bIns="9144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資料界線：固定 scenario 的 simulated teaching data；結果以本次 stdout result_path 與同目錄 replay 為準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Lab C：急件應提前多久送出？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問題：急件應提前多久送出，才不會為省能量而誤期？</a:t>
            </a:r>
          </a:p>
        </p:txBody>
      </p:sp>
      <p:sp>
        <p:nvSpPr>
          <p:cNvPr id="6" name="Queue visual"/>
          <p:cNvSpPr/>
          <p:nvPr/>
        </p:nvSpPr>
        <p:spPr>
          <a:xfrm>
            <a:off x="768096" y="1572768"/>
            <a:ext cx="3401568" cy="2468880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Queue visual heading"/>
          <p:cNvSpPr txBox="1"/>
          <p:nvPr/>
        </p:nvSpPr>
        <p:spPr>
          <a:xfrm>
            <a:off x="896112" y="1645920"/>
            <a:ext cx="314553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急件在佇列</a:t>
            </a:r>
          </a:p>
        </p:txBody>
      </p:sp>
      <p:sp>
        <p:nvSpPr>
          <p:cNvPr id="8" name="Queue visual body"/>
          <p:cNvSpPr txBox="1"/>
          <p:nvPr/>
        </p:nvSpPr>
        <p:spPr>
          <a:xfrm>
            <a:off x="905256" y="2066543"/>
            <a:ext cx="3127248" cy="18836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期限倒數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等待越久，越可能誤期</a:t>
            </a:r>
          </a:p>
        </p:txBody>
      </p:sp>
      <p:cxnSp>
        <p:nvCxnSpPr>
          <p:cNvPr id="9" name="Queue to service gate"/>
          <p:cNvCxnSpPr/>
          <p:nvPr/>
        </p:nvCxnSpPr>
        <p:spPr>
          <a:xfrm>
            <a:off x="4315968" y="2788920"/>
            <a:ext cx="274320" cy="0"/>
          </a:xfrm>
          <a:prstGeom prst="line">
            <a:avLst/>
          </a:prstGeom>
          <a:ln w="25400">
            <a:solidFill>
              <a:srgbClr val="660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ervice gate visual"/>
          <p:cNvSpPr/>
          <p:nvPr/>
        </p:nvSpPr>
        <p:spPr>
          <a:xfrm>
            <a:off x="4681728" y="1572768"/>
            <a:ext cx="6784848" cy="2468880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Service gate visual heading"/>
          <p:cNvSpPr txBox="1"/>
          <p:nvPr/>
        </p:nvSpPr>
        <p:spPr>
          <a:xfrm>
            <a:off x="4809744" y="1645920"/>
            <a:ext cx="652881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服務窗口｜gate</a:t>
            </a:r>
          </a:p>
        </p:txBody>
      </p:sp>
      <p:sp>
        <p:nvSpPr>
          <p:cNvPr id="12" name="Service gate visual body"/>
          <p:cNvSpPr txBox="1"/>
          <p:nvPr/>
        </p:nvSpPr>
        <p:spPr>
          <a:xfrm>
            <a:off x="4818888" y="2066543"/>
            <a:ext cx="6510528" cy="18836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窗口開啟 → 可以送出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距限接近 → 優先處理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窗口關閉 → 不得送出</a:t>
            </a:r>
          </a:p>
        </p:txBody>
      </p:sp>
      <p:sp>
        <p:nvSpPr>
          <p:cNvPr id="13" name="Queue gate reading order"/>
          <p:cNvSpPr/>
          <p:nvPr/>
        </p:nvSpPr>
        <p:spPr>
          <a:xfrm>
            <a:off x="877824" y="4224528"/>
            <a:ext cx="10387584" cy="566928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本頁讀法｜先建立問題；下一頁開啟實際檔案，確認哪一行控制急件時間。</a:t>
            </a:r>
          </a:p>
        </p:txBody>
      </p:sp>
      <p:sp>
        <p:nvSpPr>
          <p:cNvPr id="14" name="Queue age field"/>
          <p:cNvSpPr/>
          <p:nvPr/>
        </p:nvSpPr>
        <p:spPr>
          <a:xfrm>
            <a:off x="749808" y="4956048"/>
            <a:ext cx="10698480" cy="841248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queue age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｜等待時間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來源 runner trace；作用 顯示等待成本；單位 s；數字越高代表排隊越久。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先判期限，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只在服務結果後解釋。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定位唯一可編輯區塊：檔案、標記、目標值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先定位檔案與 marked block，再改唯一指定值。</a:t>
            </a:r>
          </a:p>
        </p:txBody>
      </p:sp>
      <p:sp>
        <p:nvSpPr>
          <p:cNvPr id="6" name="Locate policy file"/>
          <p:cNvSpPr/>
          <p:nvPr/>
        </p:nvSpPr>
        <p:spPr>
          <a:xfrm>
            <a:off x="749808" y="1572768"/>
            <a:ext cx="3456432" cy="239572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Locate policy file heading"/>
          <p:cNvSpPr txBox="1"/>
          <p:nvPr/>
        </p:nvSpPr>
        <p:spPr>
          <a:xfrm>
            <a:off x="877824" y="1645920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檔案｜source</a:t>
            </a:r>
          </a:p>
        </p:txBody>
      </p:sp>
      <p:sp>
        <p:nvSpPr>
          <p:cNvPr id="8" name="Locate policy file body"/>
          <p:cNvSpPr txBox="1"/>
          <p:nvPr/>
        </p:nvSpPr>
        <p:spPr>
          <a:xfrm>
            <a:off x="886968" y="2066543"/>
            <a:ext cx="3182112" cy="18105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/home/u24/lora-energy-lab/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本頁只定位，不執行</a:t>
            </a:r>
          </a:p>
        </p:txBody>
      </p:sp>
      <p:cxnSp>
        <p:nvCxnSpPr>
          <p:cNvPr id="9" name="Locate block connector"/>
          <p:cNvCxnSpPr/>
          <p:nvPr/>
        </p:nvCxnSpPr>
        <p:spPr>
          <a:xfrm>
            <a:off x="4334256" y="2743200"/>
            <a:ext cx="274320" cy="0"/>
          </a:xfrm>
          <a:prstGeom prst="line">
            <a:avLst/>
          </a:prstGeom>
          <a:ln w="2540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cate marked block"/>
          <p:cNvSpPr/>
          <p:nvPr/>
        </p:nvSpPr>
        <p:spPr>
          <a:xfrm>
            <a:off x="4681728" y="1572768"/>
            <a:ext cx="3218688" cy="2395728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Locate marked block heading"/>
          <p:cNvSpPr txBox="1"/>
          <p:nvPr/>
        </p:nvSpPr>
        <p:spPr>
          <a:xfrm>
            <a:off x="4809744" y="1645920"/>
            <a:ext cx="296265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標記｜editable block</a:t>
            </a:r>
          </a:p>
        </p:txBody>
      </p:sp>
      <p:sp>
        <p:nvSpPr>
          <p:cNvPr id="12" name="Locate marked block body"/>
          <p:cNvSpPr txBox="1"/>
          <p:nvPr/>
        </p:nvSpPr>
        <p:spPr>
          <a:xfrm>
            <a:off x="4818888" y="2066543"/>
            <a:ext cx="2944368" cy="18105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lab-c-batch-urgent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只允許區塊內的指定常數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順序與函式不動</a:t>
            </a:r>
          </a:p>
        </p:txBody>
      </p:sp>
      <p:cxnSp>
        <p:nvCxnSpPr>
          <p:cNvPr id="13" name="Locate target connector"/>
          <p:cNvCxnSpPr/>
          <p:nvPr/>
        </p:nvCxnSpPr>
        <p:spPr>
          <a:xfrm>
            <a:off x="8028431" y="2743200"/>
            <a:ext cx="274321" cy="0"/>
          </a:xfrm>
          <a:prstGeom prst="line">
            <a:avLst/>
          </a:prstGeom>
          <a:ln w="2540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Locate target value"/>
          <p:cNvSpPr/>
          <p:nvPr/>
        </p:nvSpPr>
        <p:spPr>
          <a:xfrm>
            <a:off x="8375904" y="1572768"/>
            <a:ext cx="3072384" cy="2395728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Locate target value heading"/>
          <p:cNvSpPr txBox="1"/>
          <p:nvPr/>
        </p:nvSpPr>
        <p:spPr>
          <a:xfrm>
            <a:off x="8503920" y="1645920"/>
            <a:ext cx="2816352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目標｜one value</a:t>
            </a:r>
          </a:p>
        </p:txBody>
      </p:sp>
      <p:sp>
        <p:nvSpPr>
          <p:cNvPr id="16" name="Locate target value body"/>
          <p:cNvSpPr txBox="1"/>
          <p:nvPr/>
        </p:nvSpPr>
        <p:spPr>
          <a:xfrm>
            <a:off x="8513064" y="2066543"/>
            <a:ext cx="2798064" cy="18105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URGENT_MARGIN_S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20 → 5 → 30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BATCH_SIZE = 3</a:t>
            </a: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固定</a:t>
            </a:r>
          </a:p>
        </p:txBody>
      </p:sp>
      <p:sp>
        <p:nvSpPr>
          <p:cNvPr id="17" name="Locate unchanged scope"/>
          <p:cNvSpPr/>
          <p:nvPr/>
        </p:nvSpPr>
        <p:spPr>
          <a:xfrm>
            <a:off x="877824" y="4242816"/>
            <a:ext cx="10387584" cy="585216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不變範圍｜Lab A／B blocks、runner、scenario、schema、能量模型與其餘程式均維持原樣。</a:t>
            </a:r>
          </a:p>
        </p:txBody>
      </p:sp>
      <p:sp>
        <p:nvSpPr>
          <p:cNvPr id="18" name="Locate batch field"/>
          <p:cNvSpPr/>
          <p:nvPr/>
        </p:nvSpPr>
        <p:spPr>
          <a:xfrm>
            <a:off x="749808" y="4919472"/>
            <a:ext cx="10698480" cy="859536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BATCH_SIZE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｜批次數量門檻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來源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的 Lab C marked block；單位 packet；作用 佇列至少 3 張才能使用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FLUSH_BATCH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；本實驗固定為 3，不作為變更變數。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基準原始值：20 秒代表什麼？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基準值 20：距離期限還有 20 秒內，急件分支才會先回傳。</a:t>
            </a:r>
          </a:p>
        </p:txBody>
      </p:sp>
      <p:sp>
        <p:nvSpPr>
          <p:cNvPr id="6" name="Baseline file heading"/>
          <p:cNvSpPr txBox="1"/>
          <p:nvPr/>
        </p:nvSpPr>
        <p:spPr>
          <a:xfrm>
            <a:off x="786384" y="1280160"/>
            <a:ext cx="5852160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原始檔案：</a:t>
            </a:r>
            <a:r>
              <a:rPr sz="18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／Lab C marked block</a:t>
            </a:r>
          </a:p>
        </p:txBody>
      </p:sp>
      <p:sp>
        <p:nvSpPr>
          <p:cNvPr id="7" name="Baseline Lab C code"/>
          <p:cNvSpPr/>
          <p:nvPr/>
        </p:nvSpPr>
        <p:spPr>
          <a:xfrm>
            <a:off x="749808" y="1609344"/>
            <a:ext cx="6565392" cy="279806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25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Baseline Lab C code highlighted editable line"/>
          <p:cNvSpPr/>
          <p:nvPr/>
        </p:nvSpPr>
        <p:spPr>
          <a:xfrm>
            <a:off x="896112" y="2274295"/>
            <a:ext cx="6272783" cy="309696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aseline Lab C code text"/>
          <p:cNvSpPr txBox="1"/>
          <p:nvPr/>
        </p:nvSpPr>
        <p:spPr>
          <a:xfrm>
            <a:off x="859536" y="1700784"/>
            <a:ext cx="6345936" cy="2633472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# === LORA EDITABLE: lab-c-batch-urgent ===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BATCH_SIZE = 3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URGENT_MARGIN_S = 20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# === LORA END EDITABLE: lab-c-batch-urgent ===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if observation.urgent_pending and observation.urgent_due_in_s &lt;= URGENT_MARGIN_S: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   return SEND_URGENT</a:t>
            </a:r>
          </a:p>
        </p:txBody>
      </p:sp>
      <p:sp>
        <p:nvSpPr>
          <p:cNvPr id="10" name="Baseline decision order"/>
          <p:cNvSpPr/>
          <p:nvPr/>
        </p:nvSpPr>
        <p:spPr>
          <a:xfrm>
            <a:off x="7626096" y="1609344"/>
            <a:ext cx="3822191" cy="2798064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Baseline decision order heading"/>
          <p:cNvSpPr txBox="1"/>
          <p:nvPr/>
        </p:nvSpPr>
        <p:spPr>
          <a:xfrm>
            <a:off x="7754112" y="1682496"/>
            <a:ext cx="3566159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判斷順序</a:t>
            </a:r>
          </a:p>
        </p:txBody>
      </p:sp>
      <p:sp>
        <p:nvSpPr>
          <p:cNvPr id="12" name="Baseline decision order body"/>
          <p:cNvSpPr txBox="1"/>
          <p:nvPr/>
        </p:nvSpPr>
        <p:spPr>
          <a:xfrm>
            <a:off x="7763256" y="2103120"/>
            <a:ext cx="3547872" cy="22128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窗口關閉 → </a:t>
            </a: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急件距限內 → </a:t>
            </a: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SEND_URGENT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間隔未到 → 休息動作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品質可送 → 批次或單筆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其餘 → </a:t>
            </a: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13" name="Baseline margin meaning"/>
          <p:cNvSpPr/>
          <p:nvPr/>
        </p:nvSpPr>
        <p:spPr>
          <a:xfrm>
            <a:off x="877824" y="4590288"/>
            <a:ext cx="10387584" cy="566928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20 秒的意思｜剩餘時間 ≤ 20 秒才進入急件分支；它優先於 pacing 與 batch，但仍受更前面的窗口判斷約束。</a:t>
            </a:r>
          </a:p>
        </p:txBody>
      </p:sp>
      <p:sp>
        <p:nvSpPr>
          <p:cNvPr id="14" name="Baseline constant definition"/>
          <p:cNvSpPr/>
          <p:nvPr/>
        </p:nvSpPr>
        <p:spPr>
          <a:xfrm>
            <a:off x="749808" y="5248656"/>
            <a:ext cx="10698480" cy="694944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｜急件距限門檻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來源 Lab C marked block；單位 s；20 是原始門檻；值越小越晚出手，值越大越早出手。數值由 policy 影響 action timing，不直接寫入 endpoint J。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第一輪操作：基準 20，再執行候選 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先建立基準，再完成唯一修改後執行候選；兩次都保存配對結果。</a:t>
            </a:r>
          </a:p>
        </p:txBody>
      </p:sp>
      <p:sp>
        <p:nvSpPr>
          <p:cNvPr id="6" name="Baseline exact command"/>
          <p:cNvSpPr/>
          <p:nvPr/>
        </p:nvSpPr>
        <p:spPr>
          <a:xfrm>
            <a:off x="713232" y="1499616"/>
            <a:ext cx="5431536" cy="257860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Baseline exact command heading"/>
          <p:cNvSpPr txBox="1"/>
          <p:nvPr/>
        </p:nvSpPr>
        <p:spPr>
          <a:xfrm>
            <a:off x="841248" y="1572768"/>
            <a:ext cx="5175504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基準組｜baseline 20</a:t>
            </a:r>
          </a:p>
        </p:txBody>
      </p:sp>
      <p:sp>
        <p:nvSpPr>
          <p:cNvPr id="8" name="Baseline exact command body"/>
          <p:cNvSpPr txBox="1"/>
          <p:nvPr/>
        </p:nvSpPr>
        <p:spPr>
          <a:xfrm>
            <a:off x="850392" y="1993391"/>
            <a:ext cx="5157216" cy="1993391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Linux／macOS／WSL：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bash course.sh run --lab C --case baseline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Windows PowerShell：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.\course.cmd run --lab C --case baseline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Windows Command Prompt：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course.cmd run --lab C --case baseline</a:t>
            </a:r>
          </a:p>
        </p:txBody>
      </p:sp>
      <p:cxnSp>
        <p:nvCxnSpPr>
          <p:cNvPr id="9" name="Baseline to candidate"/>
          <p:cNvCxnSpPr/>
          <p:nvPr/>
        </p:nvCxnSpPr>
        <p:spPr>
          <a:xfrm>
            <a:off x="5961888" y="2761488"/>
            <a:ext cx="274319" cy="0"/>
          </a:xfrm>
          <a:prstGeom prst="line">
            <a:avLst/>
          </a:prstGeom>
          <a:ln w="2540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ndidate exact command"/>
          <p:cNvSpPr/>
          <p:nvPr/>
        </p:nvSpPr>
        <p:spPr>
          <a:xfrm>
            <a:off x="6345936" y="1499616"/>
            <a:ext cx="5120640" cy="2578608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Candidate exact command heading"/>
          <p:cNvSpPr txBox="1"/>
          <p:nvPr/>
        </p:nvSpPr>
        <p:spPr>
          <a:xfrm>
            <a:off x="6473952" y="1572768"/>
            <a:ext cx="4864607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候選組｜candidate 5</a:t>
            </a:r>
          </a:p>
        </p:txBody>
      </p:sp>
      <p:sp>
        <p:nvSpPr>
          <p:cNvPr id="12" name="Candidate exact command body"/>
          <p:cNvSpPr txBox="1"/>
          <p:nvPr/>
        </p:nvSpPr>
        <p:spPr>
          <a:xfrm>
            <a:off x="6483096" y="1993391"/>
            <a:ext cx="4846320" cy="1993391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完成 20→5 與 prediction lock 後：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Linux／macOS／WSL：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bash course.sh run --lab C --case candidate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Windows PowerShell：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.\course.cmd run --lab C --case candidate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Windows Command Prompt：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course.cmd run --lab C --case candidate</a:t>
            </a:r>
          </a:p>
        </p:txBody>
      </p:sp>
      <p:sp>
        <p:nvSpPr>
          <p:cNvPr id="13" name="Run artifact reading"/>
          <p:cNvSpPr/>
          <p:nvPr/>
        </p:nvSpPr>
        <p:spPr>
          <a:xfrm>
            <a:off x="877824" y="4297680"/>
            <a:ext cx="10387584" cy="62179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收據與匯入｜每次 stdout 印出新的 </a:t>
            </a: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`result_path`</a:t>
            </a: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；同一 run 目錄保留 </a:t>
            </a: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`result.json`</a:t>
            </a: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+ </a:t>
            </a: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`endpoint-replay.json`</a:t>
            </a: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，匯入時選 </a:t>
            </a: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`result.json`</a:t>
            </a: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4" name="Result path definition"/>
          <p:cNvSpPr/>
          <p:nvPr/>
        </p:nvSpPr>
        <p:spPr>
          <a:xfrm>
            <a:off x="749808" y="5010912"/>
            <a:ext cx="10698480" cy="749808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服務先讀｜欄位順序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先讀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deadline_pass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，再讀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delivered_bits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，接著用 replay 的 state／packet 解釋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；數值以本次 stdout path 為準，不猜檔名。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第一次修改：只把 20 改成 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只改一行：20→5；程式碼頁先說清楚值的意義，不混入命令。</a:t>
            </a:r>
          </a:p>
        </p:txBody>
      </p:sp>
      <p:sp>
        <p:nvSpPr>
          <p:cNvPr id="6" name="Candidate edit location"/>
          <p:cNvSpPr txBox="1"/>
          <p:nvPr/>
        </p:nvSpPr>
        <p:spPr>
          <a:xfrm>
            <a:off x="786384" y="1280160"/>
            <a:ext cx="5394960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修改位置：</a:t>
            </a:r>
            <a:r>
              <a:rPr sz="18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／Lab C marked block</a:t>
            </a:r>
          </a:p>
        </p:txBody>
      </p:sp>
      <p:sp>
        <p:nvSpPr>
          <p:cNvPr id="7" name="Candidate before code"/>
          <p:cNvSpPr/>
          <p:nvPr/>
        </p:nvSpPr>
        <p:spPr>
          <a:xfrm>
            <a:off x="749808" y="1627632"/>
            <a:ext cx="5175504" cy="2103120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25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Candidate before code highlighted editable line"/>
          <p:cNvSpPr/>
          <p:nvPr/>
        </p:nvSpPr>
        <p:spPr>
          <a:xfrm>
            <a:off x="896112" y="2029968"/>
            <a:ext cx="4882896" cy="335767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andidate before code text"/>
          <p:cNvSpPr txBox="1"/>
          <p:nvPr/>
        </p:nvSpPr>
        <p:spPr>
          <a:xfrm>
            <a:off x="859536" y="1719072"/>
            <a:ext cx="4956048" cy="1938527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BATCH_SIZE = 3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URGENT_MARGIN_S = 20</a:t>
            </a:r>
          </a:p>
        </p:txBody>
      </p:sp>
      <p:sp>
        <p:nvSpPr>
          <p:cNvPr id="10" name="Candidate after code"/>
          <p:cNvSpPr/>
          <p:nvPr/>
        </p:nvSpPr>
        <p:spPr>
          <a:xfrm>
            <a:off x="6272784" y="1627632"/>
            <a:ext cx="5175504" cy="2103120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25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Candidate after code highlighted editable line"/>
          <p:cNvSpPr/>
          <p:nvPr/>
        </p:nvSpPr>
        <p:spPr>
          <a:xfrm>
            <a:off x="6419088" y="2029968"/>
            <a:ext cx="4882896" cy="335767"/>
          </a:xfrm>
          <a:prstGeom prst="roundRect">
            <a:avLst/>
          </a:prstGeom>
          <a:solidFill>
            <a:srgbClr val="FDF9E2"/>
          </a:solidFill>
          <a:ln w="6350">
            <a:solidFill>
              <a:srgbClr val="FDF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ndidate after code text"/>
          <p:cNvSpPr txBox="1"/>
          <p:nvPr/>
        </p:nvSpPr>
        <p:spPr>
          <a:xfrm>
            <a:off x="6382512" y="1719072"/>
            <a:ext cx="4956048" cy="1938527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BATCH_SIZE = 3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URGENT_MARGIN_S = 5</a:t>
            </a:r>
          </a:p>
        </p:txBody>
      </p:sp>
      <p:sp>
        <p:nvSpPr>
          <p:cNvPr id="13" name="Candidate before meaning"/>
          <p:cNvSpPr txBox="1"/>
          <p:nvPr/>
        </p:nvSpPr>
        <p:spPr>
          <a:xfrm>
            <a:off x="896112" y="3840480"/>
            <a:ext cx="488289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修改前：20 秒內才走 </a:t>
            </a:r>
            <a:r>
              <a:rPr sz="2100" b="1" i="1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SEND_URGENT</a:t>
            </a:r>
          </a:p>
        </p:txBody>
      </p:sp>
      <p:sp>
        <p:nvSpPr>
          <p:cNvPr id="14" name="Candidate after meaning"/>
          <p:cNvSpPr txBox="1"/>
          <p:nvPr/>
        </p:nvSpPr>
        <p:spPr>
          <a:xfrm>
            <a:off x="6382512" y="3840480"/>
            <a:ext cx="488289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修改後：5 秒內才走 </a:t>
            </a:r>
            <a:r>
              <a:rPr sz="21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SEND_URGENT</a:t>
            </a:r>
          </a:p>
        </p:txBody>
      </p:sp>
      <p:sp>
        <p:nvSpPr>
          <p:cNvPr id="15" name="Edit why"/>
          <p:cNvSpPr/>
          <p:nvPr/>
        </p:nvSpPr>
        <p:spPr>
          <a:xfrm>
            <a:off x="877824" y="4370832"/>
            <a:ext cx="10387584" cy="60350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機制｜門檻變小，急件分支要等到期限更近才返回；因此 normal pacing／batch 可能多等一段，delivery／deadline 需由結果驗證。</a:t>
            </a:r>
          </a:p>
        </p:txBody>
      </p:sp>
      <p:sp>
        <p:nvSpPr>
          <p:cNvPr id="16" name="Edit boundary field"/>
          <p:cNvSpPr/>
          <p:nvPr/>
        </p:nvSpPr>
        <p:spPr>
          <a:xfrm>
            <a:off x="749808" y="5065776"/>
            <a:ext cx="10698480" cy="694944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不變範圍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BATCH_SIZE = 3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、Lab A／B blocks、runner、scenario、schema、其他常數／函式／檔案保持不變；這頁唯一高亮的是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的新值 5。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候選執行前：先鎖定可反駁預測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先寫下可被資料推翻的預測：5 秒可能省電，也可能誤期。</a:t>
            </a:r>
          </a:p>
        </p:txBody>
      </p:sp>
      <p:sp>
        <p:nvSpPr>
          <p:cNvPr id="6" name="Prediction field"/>
          <p:cNvSpPr/>
          <p:nvPr/>
        </p:nvSpPr>
        <p:spPr>
          <a:xfrm>
            <a:off x="768096" y="1591056"/>
            <a:ext cx="2432304" cy="217627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Prediction field heading"/>
          <p:cNvSpPr txBox="1"/>
          <p:nvPr/>
        </p:nvSpPr>
        <p:spPr>
          <a:xfrm>
            <a:off x="896112" y="1664208"/>
            <a:ext cx="2176272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距限｜due</a:t>
            </a:r>
          </a:p>
        </p:txBody>
      </p:sp>
      <p:sp>
        <p:nvSpPr>
          <p:cNvPr id="8" name="Prediction field body"/>
          <p:cNvSpPr txBox="1"/>
          <p:nvPr/>
        </p:nvSpPr>
        <p:spPr>
          <a:xfrm>
            <a:off x="905256" y="2084832"/>
            <a:ext cx="2157984" cy="159105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urgent_due_in_s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單位 s；越小越急</a:t>
            </a:r>
          </a:p>
        </p:txBody>
      </p:sp>
      <p:sp>
        <p:nvSpPr>
          <p:cNvPr id="9" name="Prediction field"/>
          <p:cNvSpPr/>
          <p:nvPr/>
        </p:nvSpPr>
        <p:spPr>
          <a:xfrm>
            <a:off x="3529584" y="1591056"/>
            <a:ext cx="2432304" cy="217627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Prediction field heading"/>
          <p:cNvSpPr txBox="1"/>
          <p:nvPr/>
        </p:nvSpPr>
        <p:spPr>
          <a:xfrm>
            <a:off x="3657600" y="1664208"/>
            <a:ext cx="2176272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佇列｜queue</a:t>
            </a:r>
          </a:p>
        </p:txBody>
      </p:sp>
      <p:sp>
        <p:nvSpPr>
          <p:cNvPr id="11" name="Prediction field body"/>
          <p:cNvSpPr txBox="1"/>
          <p:nvPr/>
        </p:nvSpPr>
        <p:spPr>
          <a:xfrm>
            <a:off x="3666744" y="2084832"/>
            <a:ext cx="2157984" cy="159105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queue_size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單位 count；越高壓力越大</a:t>
            </a:r>
          </a:p>
        </p:txBody>
      </p:sp>
      <p:sp>
        <p:nvSpPr>
          <p:cNvPr id="12" name="Prediction field"/>
          <p:cNvSpPr/>
          <p:nvPr/>
        </p:nvSpPr>
        <p:spPr>
          <a:xfrm>
            <a:off x="6291072" y="1591056"/>
            <a:ext cx="2432304" cy="2176272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Prediction field heading"/>
          <p:cNvSpPr txBox="1"/>
          <p:nvPr/>
        </p:nvSpPr>
        <p:spPr>
          <a:xfrm>
            <a:off x="6419088" y="1664208"/>
            <a:ext cx="2176272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服務／期限</a:t>
            </a:r>
          </a:p>
        </p:txBody>
      </p:sp>
      <p:sp>
        <p:nvSpPr>
          <p:cNvPr id="14" name="Prediction field body"/>
          <p:cNvSpPr txBox="1"/>
          <p:nvPr/>
        </p:nvSpPr>
        <p:spPr>
          <a:xfrm>
            <a:off x="6428232" y="2084832"/>
            <a:ext cx="2157984" cy="159105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deadline_pass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FAIL 先於 J</a:t>
            </a:r>
          </a:p>
        </p:txBody>
      </p:sp>
      <p:sp>
        <p:nvSpPr>
          <p:cNvPr id="15" name="Prediction field"/>
          <p:cNvSpPr/>
          <p:nvPr/>
        </p:nvSpPr>
        <p:spPr>
          <a:xfrm>
            <a:off x="9052560" y="1591056"/>
            <a:ext cx="2432304" cy="217627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Prediction field heading"/>
          <p:cNvSpPr txBox="1"/>
          <p:nvPr/>
        </p:nvSpPr>
        <p:spPr>
          <a:xfrm>
            <a:off x="9180576" y="1664208"/>
            <a:ext cx="2176272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端點能量｜J</a:t>
            </a:r>
          </a:p>
        </p:txBody>
      </p:sp>
      <p:sp>
        <p:nvSpPr>
          <p:cNvPr id="17" name="Prediction field body"/>
          <p:cNvSpPr txBox="1"/>
          <p:nvPr/>
        </p:nvSpPr>
        <p:spPr>
          <a:xfrm>
            <a:off x="9189720" y="2084832"/>
            <a:ext cx="2157984" cy="159105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單位 J；低只代表耗能較少</a:t>
            </a:r>
          </a:p>
        </p:txBody>
      </p:sp>
      <p:sp>
        <p:nvSpPr>
          <p:cNvPr id="18" name="Prediction sentence"/>
          <p:cNvSpPr/>
          <p:nvPr/>
        </p:nvSpPr>
        <p:spPr>
          <a:xfrm>
            <a:off x="877824" y="4224528"/>
            <a:ext cx="10387584" cy="621792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預測句｜較晚急件介入可能減少早期 wake／TX；delivery 或 deadline FAIL 即推翻純省能量說法。</a:t>
            </a:r>
          </a:p>
        </p:txBody>
      </p:sp>
      <p:sp>
        <p:nvSpPr>
          <p:cNvPr id="19" name="Prediction falsifier"/>
          <p:cNvSpPr/>
          <p:nvPr/>
        </p:nvSpPr>
        <p:spPr>
          <a:xfrm>
            <a:off x="749808" y="4882896"/>
            <a:ext cx="10698480" cy="914400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證據順序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來源 observation／result summary／endpoint ledger；先讀服務／期限，再回到 packet 與 state 解釋 J。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urgent_due_in_s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越小越急；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越低只代表耗能較少，不能覆蓋 FAIL。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候選結果怎麼讀：先匯入，再判服務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先判服務是否完成，再看端點用了多少能量。</a:t>
            </a:r>
          </a:p>
        </p:txBody>
      </p:sp>
      <p:sp>
        <p:nvSpPr>
          <p:cNvPr id="6" name="Baseline result"/>
          <p:cNvSpPr/>
          <p:nvPr/>
        </p:nvSpPr>
        <p:spPr>
          <a:xfrm>
            <a:off x="768096" y="1609344"/>
            <a:ext cx="5084064" cy="2340864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Baseline result heading"/>
          <p:cNvSpPr txBox="1"/>
          <p:nvPr/>
        </p:nvSpPr>
        <p:spPr>
          <a:xfrm>
            <a:off x="896112" y="1682496"/>
            <a:ext cx="4828031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基準組｜margin 20</a:t>
            </a:r>
          </a:p>
        </p:txBody>
      </p:sp>
      <p:sp>
        <p:nvSpPr>
          <p:cNvPr id="8" name="Baseline result body"/>
          <p:cNvSpPr txBox="1"/>
          <p:nvPr/>
        </p:nvSpPr>
        <p:spPr>
          <a:xfrm>
            <a:off x="905256" y="2103120"/>
            <a:ext cx="4809744" cy="1755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服務／期限：PASS／PASS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送達封包：4／4；過期：0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端點能量：10.66 J</a:t>
            </a:r>
          </a:p>
        </p:txBody>
      </p:sp>
      <p:cxnSp>
        <p:nvCxnSpPr>
          <p:cNvPr id="9" name="Gate comparison connector"/>
          <p:cNvCxnSpPr/>
          <p:nvPr/>
        </p:nvCxnSpPr>
        <p:spPr>
          <a:xfrm>
            <a:off x="5998464" y="2779776"/>
            <a:ext cx="274319" cy="0"/>
          </a:xfrm>
          <a:prstGeom prst="line">
            <a:avLst/>
          </a:prstGeom>
          <a:ln w="25400">
            <a:solidFill>
              <a:srgbClr val="99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ndidate result"/>
          <p:cNvSpPr/>
          <p:nvPr/>
        </p:nvSpPr>
        <p:spPr>
          <a:xfrm>
            <a:off x="6364224" y="1609344"/>
            <a:ext cx="5084064" cy="2340864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Candidate result heading"/>
          <p:cNvSpPr txBox="1"/>
          <p:nvPr/>
        </p:nvSpPr>
        <p:spPr>
          <a:xfrm>
            <a:off x="6492240" y="1682496"/>
            <a:ext cx="4828031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修改組｜margin 5</a:t>
            </a:r>
          </a:p>
        </p:txBody>
      </p:sp>
      <p:sp>
        <p:nvSpPr>
          <p:cNvPr id="12" name="Candidate result body"/>
          <p:cNvSpPr txBox="1"/>
          <p:nvPr/>
        </p:nvSpPr>
        <p:spPr>
          <a:xfrm>
            <a:off x="6501384" y="2103120"/>
            <a:ext cx="4809744" cy="17556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服務／期限：FAIL／FAIL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送達封包：3／4；過期：1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端點能量：9.74 J（少 0.92 J）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低 J 仍不能稱成功</a:t>
            </a:r>
          </a:p>
        </p:txBody>
      </p:sp>
      <p:sp>
        <p:nvSpPr>
          <p:cNvPr id="13" name="Candidate causal sentence"/>
          <p:cNvSpPr/>
          <p:nvPr/>
        </p:nvSpPr>
        <p:spPr>
          <a:xfrm>
            <a:off x="877824" y="4242816"/>
            <a:ext cx="10387584" cy="56692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因果解讀｜candidate 少用 0.92 J 卻只送達 3／4 且兩個 gate FAIL；低 J 不改寫為服務成功。</a:t>
            </a:r>
          </a:p>
        </p:txBody>
      </p:sp>
      <p:sp>
        <p:nvSpPr>
          <p:cNvPr id="14" name="Fixed comparison boundary"/>
          <p:cNvSpPr/>
          <p:nvPr/>
        </p:nvSpPr>
        <p:spPr>
          <a:xfrm>
            <a:off x="749808" y="4882896"/>
            <a:ext cx="10698480" cy="950976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欄位讀法｜來源與單位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deadline_pass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：布林 gate，PASS 才往下讀；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delivered_packets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expired_packets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：packet count，先判交付；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：replay／ledger 的 J，低值不能覆蓋 FAIL。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第二次修改：只把 5 改成 30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只改一行：5→30；較早介入的理由與代價分開說明。</a:t>
            </a:r>
          </a:p>
        </p:txBody>
      </p:sp>
      <p:sp>
        <p:nvSpPr>
          <p:cNvPr id="6" name="Revision edit location"/>
          <p:cNvSpPr txBox="1"/>
          <p:nvPr/>
        </p:nvSpPr>
        <p:spPr>
          <a:xfrm>
            <a:off x="786384" y="1280160"/>
            <a:ext cx="5394960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修改位置：</a:t>
            </a:r>
            <a:r>
              <a:rPr sz="18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／Lab C marked block</a:t>
            </a:r>
          </a:p>
        </p:txBody>
      </p:sp>
      <p:sp>
        <p:nvSpPr>
          <p:cNvPr id="7" name="Revision before code"/>
          <p:cNvSpPr/>
          <p:nvPr/>
        </p:nvSpPr>
        <p:spPr>
          <a:xfrm>
            <a:off x="749808" y="1627632"/>
            <a:ext cx="5175504" cy="2103120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25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Revision before code highlighted editable line"/>
          <p:cNvSpPr/>
          <p:nvPr/>
        </p:nvSpPr>
        <p:spPr>
          <a:xfrm>
            <a:off x="896112" y="2029968"/>
            <a:ext cx="4882896" cy="335767"/>
          </a:xfrm>
          <a:prstGeom prst="roundRect">
            <a:avLst/>
          </a:prstGeom>
          <a:solidFill>
            <a:srgbClr val="F4EDF7"/>
          </a:solidFill>
          <a:ln w="6350">
            <a:solidFill>
              <a:srgbClr val="F4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vision before code text"/>
          <p:cNvSpPr txBox="1"/>
          <p:nvPr/>
        </p:nvSpPr>
        <p:spPr>
          <a:xfrm>
            <a:off x="859536" y="1719072"/>
            <a:ext cx="4956048" cy="1938527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BATCH_SIZE = 3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URGENT_MARGIN_S = 5</a:t>
            </a:r>
          </a:p>
        </p:txBody>
      </p:sp>
      <p:sp>
        <p:nvSpPr>
          <p:cNvPr id="10" name="Revision after code"/>
          <p:cNvSpPr/>
          <p:nvPr/>
        </p:nvSpPr>
        <p:spPr>
          <a:xfrm>
            <a:off x="6272784" y="1627632"/>
            <a:ext cx="5175504" cy="2103120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25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Revision after code highlighted editable line"/>
          <p:cNvSpPr/>
          <p:nvPr/>
        </p:nvSpPr>
        <p:spPr>
          <a:xfrm>
            <a:off x="6419088" y="2029968"/>
            <a:ext cx="4882896" cy="335767"/>
          </a:xfrm>
          <a:prstGeom prst="roundRect">
            <a:avLst/>
          </a:prstGeom>
          <a:solidFill>
            <a:srgbClr val="E8F7F4"/>
          </a:solidFill>
          <a:ln w="6350">
            <a:solidFill>
              <a:srgbClr val="E8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vision after code text"/>
          <p:cNvSpPr txBox="1"/>
          <p:nvPr/>
        </p:nvSpPr>
        <p:spPr>
          <a:xfrm>
            <a:off x="6382512" y="1719072"/>
            <a:ext cx="4956048" cy="1938527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BATCH_SIZE = 3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URGENT_MARGIN_S = 30</a:t>
            </a:r>
          </a:p>
        </p:txBody>
      </p:sp>
      <p:sp>
        <p:nvSpPr>
          <p:cNvPr id="13" name="Revision before meaning"/>
          <p:cNvSpPr txBox="1"/>
          <p:nvPr/>
        </p:nvSpPr>
        <p:spPr>
          <a:xfrm>
            <a:off x="896112" y="3840480"/>
            <a:ext cx="488289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修改前：5 秒內才走 </a:t>
            </a:r>
            <a:r>
              <a:rPr sz="21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SEND_URGENT</a:t>
            </a:r>
          </a:p>
        </p:txBody>
      </p:sp>
      <p:sp>
        <p:nvSpPr>
          <p:cNvPr id="14" name="Revision after meaning"/>
          <p:cNvSpPr txBox="1"/>
          <p:nvPr/>
        </p:nvSpPr>
        <p:spPr>
          <a:xfrm>
            <a:off x="6382512" y="3840480"/>
            <a:ext cx="488289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修改後：30 秒內即可走 </a:t>
            </a:r>
            <a:r>
              <a:rPr sz="2100" b="1" i="1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SEND_URGENT</a:t>
            </a:r>
          </a:p>
        </p:txBody>
      </p:sp>
      <p:sp>
        <p:nvSpPr>
          <p:cNvPr id="15" name="Revision why"/>
          <p:cNvSpPr/>
          <p:nvPr/>
        </p:nvSpPr>
        <p:spPr>
          <a:xfrm>
            <a:off x="877824" y="4370832"/>
            <a:ext cx="10387584" cy="60350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機制與取捨｜門檻變大，急件分支可較早返回；可能增加 </a:t>
            </a: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`WAKE`</a:t>
            </a: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`TX`</a:t>
            </a: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，也可能讓 required packet 在期限前完成。revision 只允許這一次。</a:t>
            </a:r>
          </a:p>
        </p:txBody>
      </p:sp>
      <p:sp>
        <p:nvSpPr>
          <p:cNvPr id="16" name="Revision boundary field"/>
          <p:cNvSpPr/>
          <p:nvPr/>
        </p:nvSpPr>
        <p:spPr>
          <a:xfrm>
            <a:off x="749808" y="5065776"/>
            <a:ext cx="10698480" cy="694944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不變範圍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BATCH_SIZE = 3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、Lab A／B blocks、runner、scenario、schema、其他常數／函式／檔案保持不變；這頁唯一高亮的是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的新值 30。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修訂執行前：把較早介入寫成取捨預測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先比兩種介入時機，再看服務與能量取捨。</a:t>
            </a:r>
          </a:p>
        </p:txBody>
      </p:sp>
      <p:sp>
        <p:nvSpPr>
          <p:cNvPr id="6" name="Late intervention timeline"/>
          <p:cNvSpPr/>
          <p:nvPr/>
        </p:nvSpPr>
        <p:spPr>
          <a:xfrm>
            <a:off x="768096" y="1609344"/>
            <a:ext cx="5084064" cy="2395728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Late intervention timeline heading"/>
          <p:cNvSpPr txBox="1"/>
          <p:nvPr/>
        </p:nvSpPr>
        <p:spPr>
          <a:xfrm>
            <a:off x="896112" y="1682496"/>
            <a:ext cx="4828031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門檻 5｜較晚介入</a:t>
            </a:r>
          </a:p>
        </p:txBody>
      </p:sp>
      <p:sp>
        <p:nvSpPr>
          <p:cNvPr id="8" name="Late intervention timeline body"/>
          <p:cNvSpPr txBox="1"/>
          <p:nvPr/>
        </p:nvSpPr>
        <p:spPr>
          <a:xfrm>
            <a:off x="905256" y="2103120"/>
            <a:ext cx="4809744" cy="18105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批次 → 期限 → 急件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較少早期 wake／TX，但 delivery 可能受壓</a:t>
            </a:r>
          </a:p>
        </p:txBody>
      </p:sp>
      <p:cxnSp>
        <p:nvCxnSpPr>
          <p:cNvPr id="9" name="Intervention comparison"/>
          <p:cNvCxnSpPr/>
          <p:nvPr/>
        </p:nvCxnSpPr>
        <p:spPr>
          <a:xfrm>
            <a:off x="5998464" y="2788920"/>
            <a:ext cx="274319" cy="0"/>
          </a:xfrm>
          <a:prstGeom prst="line">
            <a:avLst/>
          </a:prstGeom>
          <a:ln w="2540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arly intervention timeline"/>
          <p:cNvSpPr/>
          <p:nvPr/>
        </p:nvSpPr>
        <p:spPr>
          <a:xfrm>
            <a:off x="6364224" y="1609344"/>
            <a:ext cx="5084064" cy="239572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Early intervention timeline heading"/>
          <p:cNvSpPr txBox="1"/>
          <p:nvPr/>
        </p:nvSpPr>
        <p:spPr>
          <a:xfrm>
            <a:off x="6492240" y="1682496"/>
            <a:ext cx="4828031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門檻 30｜較早介入</a:t>
            </a:r>
          </a:p>
        </p:txBody>
      </p:sp>
      <p:sp>
        <p:nvSpPr>
          <p:cNvPr id="12" name="Early intervention timeline body"/>
          <p:cNvSpPr txBox="1"/>
          <p:nvPr/>
        </p:nvSpPr>
        <p:spPr>
          <a:xfrm>
            <a:off x="6501384" y="2103120"/>
            <a:ext cx="4809744" cy="18105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急件 → wake／TX → delivery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較可能保住期限，也可能增加 energy cost</a:t>
            </a:r>
          </a:p>
        </p:txBody>
      </p:sp>
      <p:sp>
        <p:nvSpPr>
          <p:cNvPr id="13" name="Revision prediction"/>
          <p:cNvSpPr/>
          <p:nvPr/>
        </p:nvSpPr>
        <p:spPr>
          <a:xfrm>
            <a:off x="877824" y="4261104"/>
            <a:ext cx="10387584" cy="56692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條件式預測｜只有 delivery、deadline、state ledger 與 endpoint J 同時對上，取捨敘述才成立。</a:t>
            </a:r>
          </a:p>
        </p:txBody>
      </p:sp>
      <p:sp>
        <p:nvSpPr>
          <p:cNvPr id="14" name="Revision evidence fields"/>
          <p:cNvSpPr/>
          <p:nvPr/>
        </p:nvSpPr>
        <p:spPr>
          <a:xfrm>
            <a:off x="749808" y="4901184"/>
            <a:ext cx="10698480" cy="877824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證據欄位｜來源與高低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delivery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：result 的布林結果，PASS 才算完成；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retry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expiry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：packet events 的 count，越高表示重試／過期越多；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：ledger 的 J，越低耗能較少但不能覆蓋 FAIL。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第二輪操作：revision 30 freeze，再跑 surprise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 freeze revision 30，再以同一份 policy 執行 surprise；兩步之間不再改碼。</a:t>
            </a:r>
          </a:p>
        </p:txBody>
      </p:sp>
      <p:sp>
        <p:nvSpPr>
          <p:cNvPr id="6" name="Revision exact freeze command"/>
          <p:cNvSpPr/>
          <p:nvPr/>
        </p:nvSpPr>
        <p:spPr>
          <a:xfrm>
            <a:off x="713232" y="1499616"/>
            <a:ext cx="5431536" cy="257860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Revision exact freeze command heading"/>
          <p:cNvSpPr txBox="1"/>
          <p:nvPr/>
        </p:nvSpPr>
        <p:spPr>
          <a:xfrm>
            <a:off x="841248" y="1572768"/>
            <a:ext cx="5175504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修訂組｜revision 30</a:t>
            </a:r>
          </a:p>
        </p:txBody>
      </p:sp>
      <p:sp>
        <p:nvSpPr>
          <p:cNvPr id="8" name="Revision exact freeze command body"/>
          <p:cNvSpPr txBox="1"/>
          <p:nvPr/>
        </p:nvSpPr>
        <p:spPr>
          <a:xfrm>
            <a:off x="850392" y="1993391"/>
            <a:ext cx="5157216" cy="1993391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Linux／macOS／WSL：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bash course.sh run --lab C --case revision --freeze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Windows PowerShell：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.\course.cmd run --lab C --case revision --freeze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Windows Command Prompt：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course.cmd run --lab C --case revision --freeze</a:t>
            </a:r>
          </a:p>
        </p:txBody>
      </p:sp>
      <p:cxnSp>
        <p:nvCxnSpPr>
          <p:cNvPr id="9" name="Freeze to surprise connector"/>
          <p:cNvCxnSpPr/>
          <p:nvPr/>
        </p:nvCxnSpPr>
        <p:spPr>
          <a:xfrm>
            <a:off x="5961888" y="2761488"/>
            <a:ext cx="274319" cy="0"/>
          </a:xfrm>
          <a:prstGeom prst="line">
            <a:avLst/>
          </a:prstGeom>
          <a:ln w="2540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urprise exact command"/>
          <p:cNvSpPr/>
          <p:nvPr/>
        </p:nvSpPr>
        <p:spPr>
          <a:xfrm>
            <a:off x="6345936" y="1499616"/>
            <a:ext cx="5120640" cy="2578608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Surprise exact command heading"/>
          <p:cNvSpPr txBox="1"/>
          <p:nvPr/>
        </p:nvSpPr>
        <p:spPr>
          <a:xfrm>
            <a:off x="6473952" y="1572768"/>
            <a:ext cx="4864607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保留組｜surprise</a:t>
            </a:r>
          </a:p>
        </p:txBody>
      </p:sp>
      <p:sp>
        <p:nvSpPr>
          <p:cNvPr id="12" name="Surprise exact command body"/>
          <p:cNvSpPr txBox="1"/>
          <p:nvPr/>
        </p:nvSpPr>
        <p:spPr>
          <a:xfrm>
            <a:off x="6483096" y="1993391"/>
            <a:ext cx="4846320" cy="1993391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沿用 frozen policy，沒有新 edit：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Linux／macOS／WSL：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bash course.sh run --lab C --case surprise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Windows PowerShell：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.\course.cmd run --lab C --case surprise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Windows Command Prompt：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course.cmd run --lab C --case surprise</a:t>
            </a:r>
          </a:p>
        </p:txBody>
      </p:sp>
      <p:sp>
        <p:nvSpPr>
          <p:cNvPr id="13" name="Freeze boundary"/>
          <p:cNvSpPr/>
          <p:nvPr/>
        </p:nvSpPr>
        <p:spPr>
          <a:xfrm>
            <a:off x="877824" y="4297680"/>
            <a:ext cx="10387584" cy="621792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收據與限制｜兩次 stdout 都提供新的 </a:t>
            </a: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`result_path`</a:t>
            </a: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；revision 保留 freeze receipt，surprise 只讀 matching evidence，failure 只縮小 claim。</a:t>
            </a:r>
          </a:p>
        </p:txBody>
      </p:sp>
      <p:sp>
        <p:nvSpPr>
          <p:cNvPr id="14" name="Freeze definition"/>
          <p:cNvSpPr/>
          <p:nvPr/>
        </p:nvSpPr>
        <p:spPr>
          <a:xfrm>
            <a:off x="749808" y="5010912"/>
            <a:ext cx="10698480" cy="749808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freeze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｜凍結收據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來源 runner receipt；作用 綁定 policy bytes 與 case；判讀 identity 不符即停止。每個 run 的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必須成對。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20／5／30：沿同一條時間線讀三筆結果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20／5／30 沿同一條時間線比較：先分開機制，再讀觀測結果。</a:t>
            </a:r>
          </a:p>
        </p:txBody>
      </p:sp>
      <p:sp>
        <p:nvSpPr>
          <p:cNvPr id="6" name="Three-way timeline stage"/>
          <p:cNvSpPr/>
          <p:nvPr/>
        </p:nvSpPr>
        <p:spPr>
          <a:xfrm>
            <a:off x="658368" y="1481328"/>
            <a:ext cx="3346704" cy="2011680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Three-way timeline stage heading"/>
          <p:cNvSpPr txBox="1"/>
          <p:nvPr/>
        </p:nvSpPr>
        <p:spPr>
          <a:xfrm>
            <a:off x="786384" y="1554480"/>
            <a:ext cx="3090672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基準｜20</a:t>
            </a:r>
          </a:p>
        </p:txBody>
      </p:sp>
      <p:sp>
        <p:nvSpPr>
          <p:cNvPr id="8" name="Three-way timeline stage body"/>
          <p:cNvSpPr txBox="1"/>
          <p:nvPr/>
        </p:nvSpPr>
        <p:spPr>
          <a:xfrm>
            <a:off x="795528" y="1975104"/>
            <a:ext cx="3072384" cy="14264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機制：較早允許急件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觀測：PASS／PASS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4／4；expired 0；10.66 J</a:t>
            </a:r>
          </a:p>
        </p:txBody>
      </p:sp>
      <p:sp>
        <p:nvSpPr>
          <p:cNvPr id="9" name="Three-way timeline stage"/>
          <p:cNvSpPr/>
          <p:nvPr/>
        </p:nvSpPr>
        <p:spPr>
          <a:xfrm>
            <a:off x="4315968" y="1481328"/>
            <a:ext cx="3346704" cy="2011680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hree-way timeline stage heading"/>
          <p:cNvSpPr txBox="1"/>
          <p:nvPr/>
        </p:nvSpPr>
        <p:spPr>
          <a:xfrm>
            <a:off x="4443983" y="1554480"/>
            <a:ext cx="3090672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候選｜5</a:t>
            </a:r>
          </a:p>
        </p:txBody>
      </p:sp>
      <p:sp>
        <p:nvSpPr>
          <p:cNvPr id="11" name="Three-way timeline stage body"/>
          <p:cNvSpPr txBox="1"/>
          <p:nvPr/>
        </p:nvSpPr>
        <p:spPr>
          <a:xfrm>
            <a:off x="4453128" y="1975104"/>
            <a:ext cx="3072384" cy="14264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機制：較晚允許急件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觀測：FAIL／FAIL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3／4；expired 1；9.74 J</a:t>
            </a:r>
          </a:p>
        </p:txBody>
      </p:sp>
      <p:sp>
        <p:nvSpPr>
          <p:cNvPr id="12" name="Three-way timeline stage"/>
          <p:cNvSpPr/>
          <p:nvPr/>
        </p:nvSpPr>
        <p:spPr>
          <a:xfrm>
            <a:off x="7973568" y="1481328"/>
            <a:ext cx="3346704" cy="2011680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hree-way timeline stage heading"/>
          <p:cNvSpPr txBox="1"/>
          <p:nvPr/>
        </p:nvSpPr>
        <p:spPr>
          <a:xfrm>
            <a:off x="8101584" y="1554480"/>
            <a:ext cx="3090672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修訂｜30</a:t>
            </a:r>
          </a:p>
        </p:txBody>
      </p:sp>
      <p:sp>
        <p:nvSpPr>
          <p:cNvPr id="14" name="Three-way timeline stage body"/>
          <p:cNvSpPr txBox="1"/>
          <p:nvPr/>
        </p:nvSpPr>
        <p:spPr>
          <a:xfrm>
            <a:off x="8110728" y="1975104"/>
            <a:ext cx="3072384" cy="14264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機制：更早允許急件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觀測：PASS／PASS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4／4；expired 0；10.66 J</a:t>
            </a:r>
          </a:p>
        </p:txBody>
      </p:sp>
      <p:cxnSp>
        <p:nvCxnSpPr>
          <p:cNvPr id="15" name="Three-way time axis"/>
          <p:cNvCxnSpPr/>
          <p:nvPr/>
        </p:nvCxnSpPr>
        <p:spPr>
          <a:xfrm>
            <a:off x="1060704" y="3785615"/>
            <a:ext cx="9985248" cy="0"/>
          </a:xfrm>
          <a:prstGeom prst="line">
            <a:avLst/>
          </a:prstGeom>
          <a:ln w="3048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hree-way time marker"/>
          <p:cNvSpPr/>
          <p:nvPr/>
        </p:nvSpPr>
        <p:spPr>
          <a:xfrm>
            <a:off x="1243584" y="3584448"/>
            <a:ext cx="402336" cy="402336"/>
          </a:xfrm>
          <a:prstGeom prst="ellipse">
            <a:avLst/>
          </a:prstGeom>
          <a:solidFill>
            <a:srgbClr val="4967C2"/>
          </a:solidFill>
          <a:ln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hree-way time label"/>
          <p:cNvSpPr txBox="1"/>
          <p:nvPr/>
        </p:nvSpPr>
        <p:spPr>
          <a:xfrm>
            <a:off x="914400" y="3968496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20｜primary</a:t>
            </a:r>
          </a:p>
        </p:txBody>
      </p:sp>
      <p:sp>
        <p:nvSpPr>
          <p:cNvPr id="18" name="Three-way time marker"/>
          <p:cNvSpPr/>
          <p:nvPr/>
        </p:nvSpPr>
        <p:spPr>
          <a:xfrm>
            <a:off x="4901184" y="3584448"/>
            <a:ext cx="402336" cy="402336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hree-way time label"/>
          <p:cNvSpPr txBox="1"/>
          <p:nvPr/>
        </p:nvSpPr>
        <p:spPr>
          <a:xfrm>
            <a:off x="4572000" y="3968496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5｜late</a:t>
            </a:r>
          </a:p>
        </p:txBody>
      </p:sp>
      <p:sp>
        <p:nvSpPr>
          <p:cNvPr id="20" name="Three-way time marker"/>
          <p:cNvSpPr/>
          <p:nvPr/>
        </p:nvSpPr>
        <p:spPr>
          <a:xfrm>
            <a:off x="8558784" y="3584448"/>
            <a:ext cx="402336" cy="402336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hree-way time label"/>
          <p:cNvSpPr txBox="1"/>
          <p:nvPr/>
        </p:nvSpPr>
        <p:spPr>
          <a:xfrm>
            <a:off x="8229600" y="3968496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30｜early</a:t>
            </a:r>
          </a:p>
        </p:txBody>
      </p:sp>
      <p:sp>
        <p:nvSpPr>
          <p:cNvPr id="22" name="Three-way causal sentence"/>
          <p:cNvSpPr/>
          <p:nvPr/>
        </p:nvSpPr>
        <p:spPr>
          <a:xfrm>
            <a:off x="877824" y="4352544"/>
            <a:ext cx="10387584" cy="621792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Observed result｜5 少交付且兩個 gate FAIL；20 與 30 在固定 primary case 都在剩餘 10 秒時觸發，可能形成相同結果（null contrast）。</a:t>
            </a:r>
          </a:p>
        </p:txBody>
      </p:sp>
      <p:sp>
        <p:nvSpPr>
          <p:cNvPr id="23" name="Three-way evidence source"/>
          <p:cNvSpPr/>
          <p:nvPr/>
        </p:nvSpPr>
        <p:spPr>
          <a:xfrm>
            <a:off x="749808" y="5029200"/>
            <a:ext cx="10698480" cy="804672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機制 ≠ 觀測｜來源與判讀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J 的差異回到 action、WAKE／TX／RX、retry、delivery、expiry；數值取自 stdout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配對檔。20／30 相同不代表 30 永遠最佳。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Surprise：沿用 30，保留失敗邊界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另一個情境沿用原程式；低端點能量不代表服務成功。</a:t>
            </a:r>
          </a:p>
        </p:txBody>
      </p:sp>
      <p:sp>
        <p:nvSpPr>
          <p:cNvPr id="6" name="Frozen policy card"/>
          <p:cNvSpPr/>
          <p:nvPr/>
        </p:nvSpPr>
        <p:spPr>
          <a:xfrm>
            <a:off x="768096" y="1609344"/>
            <a:ext cx="5084064" cy="2468880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Frozen policy card heading"/>
          <p:cNvSpPr txBox="1"/>
          <p:nvPr/>
        </p:nvSpPr>
        <p:spPr>
          <a:xfrm>
            <a:off x="896112" y="1682496"/>
            <a:ext cx="4828031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凍結修訂｜revision</a:t>
            </a:r>
          </a:p>
        </p:txBody>
      </p:sp>
      <p:sp>
        <p:nvSpPr>
          <p:cNvPr id="8" name="Frozen policy card body"/>
          <p:cNvSpPr txBox="1"/>
          <p:nvPr/>
        </p:nvSpPr>
        <p:spPr>
          <a:xfrm>
            <a:off x="905256" y="2103120"/>
            <a:ext cx="4809744" cy="18836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URGENT_MARGIN_S = 30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程式內容不變，沿用原條件</a:t>
            </a:r>
          </a:p>
        </p:txBody>
      </p:sp>
      <p:cxnSp>
        <p:nvCxnSpPr>
          <p:cNvPr id="9" name="Withheld boundary connector"/>
          <p:cNvCxnSpPr/>
          <p:nvPr/>
        </p:nvCxnSpPr>
        <p:spPr>
          <a:xfrm>
            <a:off x="5998464" y="2834640"/>
            <a:ext cx="274319" cy="0"/>
          </a:xfrm>
          <a:prstGeom prst="line">
            <a:avLst/>
          </a:prstGeom>
          <a:ln w="25400">
            <a:solidFill>
              <a:srgbClr val="99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urprise evidence card"/>
          <p:cNvSpPr/>
          <p:nvPr/>
        </p:nvSpPr>
        <p:spPr>
          <a:xfrm>
            <a:off x="6364224" y="1609344"/>
            <a:ext cx="5084064" cy="2468880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Surprise evidence card heading"/>
          <p:cNvSpPr txBox="1"/>
          <p:nvPr/>
        </p:nvSpPr>
        <p:spPr>
          <a:xfrm>
            <a:off x="6492240" y="1682496"/>
            <a:ext cx="4828031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保留情境｜same policy</a:t>
            </a:r>
          </a:p>
        </p:txBody>
      </p:sp>
      <p:sp>
        <p:nvSpPr>
          <p:cNvPr id="12" name="Surprise evidence card body"/>
          <p:cNvSpPr txBox="1"/>
          <p:nvPr/>
        </p:nvSpPr>
        <p:spPr>
          <a:xfrm>
            <a:off x="6501384" y="2103120"/>
            <a:ext cx="4809744" cy="188366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服務／期限：FAIL／FAIL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送達：1／4；過期：3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retries：3；collisions：2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端點能量：5.41 J</a:t>
            </a:r>
          </a:p>
        </p:txBody>
      </p:sp>
      <p:sp>
        <p:nvSpPr>
          <p:cNvPr id="13" name="Withheld boundary sentence"/>
          <p:cNvSpPr/>
          <p:nvPr/>
        </p:nvSpPr>
        <p:spPr>
          <a:xfrm>
            <a:off x="877824" y="4261104"/>
            <a:ext cx="10387584" cy="56692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BOUNDARY READING｜surprise 低 J 仍是 failure；保存為 frozen policy 的適用邊界。</a:t>
            </a:r>
          </a:p>
        </p:txBody>
      </p:sp>
      <p:sp>
        <p:nvSpPr>
          <p:cNvPr id="14" name="Withheld evidence source"/>
          <p:cNvSpPr/>
          <p:nvPr/>
        </p:nvSpPr>
        <p:spPr>
          <a:xfrm>
            <a:off x="749808" y="4882896"/>
            <a:ext cx="10698480" cy="914400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來源範圍｜數值判讀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來源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+ 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delivered_packets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是 1／4，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expired_packets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是 3，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retries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是 3，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collisions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 是 2；endpoint J 低仍不等於成功。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Lab C 結語：服務與期限先於端點 J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四道門依序檢查；最後才描述端點能量。</a:t>
            </a:r>
          </a:p>
        </p:txBody>
      </p:sp>
      <p:sp>
        <p:nvSpPr>
          <p:cNvPr id="6" name="Gate-first ladder"/>
          <p:cNvSpPr/>
          <p:nvPr/>
        </p:nvSpPr>
        <p:spPr>
          <a:xfrm>
            <a:off x="640080" y="1627632"/>
            <a:ext cx="2542032" cy="148132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Gate-first ladder heading"/>
          <p:cNvSpPr txBox="1"/>
          <p:nvPr/>
        </p:nvSpPr>
        <p:spPr>
          <a:xfrm>
            <a:off x="768096" y="1700784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1｜服務</a:t>
            </a:r>
          </a:p>
        </p:txBody>
      </p:sp>
      <p:sp>
        <p:nvSpPr>
          <p:cNvPr id="8" name="Gate-first ladder body"/>
          <p:cNvSpPr txBox="1"/>
          <p:nvPr/>
        </p:nvSpPr>
        <p:spPr>
          <a:xfrm>
            <a:off x="777240" y="2121408"/>
            <a:ext cx="2267712" cy="8961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service：是否完成</a:t>
            </a:r>
          </a:p>
        </p:txBody>
      </p:sp>
      <p:cxnSp>
        <p:nvCxnSpPr>
          <p:cNvPr id="9" name="Gate-first connector"/>
          <p:cNvCxnSpPr/>
          <p:nvPr/>
        </p:nvCxnSpPr>
        <p:spPr>
          <a:xfrm>
            <a:off x="3218687" y="2359152"/>
            <a:ext cx="274320" cy="0"/>
          </a:xfrm>
          <a:prstGeom prst="line">
            <a:avLst/>
          </a:prstGeom>
          <a:ln w="2540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Gate-first ladder"/>
          <p:cNvSpPr/>
          <p:nvPr/>
        </p:nvSpPr>
        <p:spPr>
          <a:xfrm>
            <a:off x="3493008" y="1627632"/>
            <a:ext cx="2542032" cy="1481328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Gate-first ladder heading"/>
          <p:cNvSpPr txBox="1"/>
          <p:nvPr/>
        </p:nvSpPr>
        <p:spPr>
          <a:xfrm>
            <a:off x="3621024" y="1700784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2｜期限</a:t>
            </a:r>
          </a:p>
        </p:txBody>
      </p:sp>
      <p:sp>
        <p:nvSpPr>
          <p:cNvPr id="12" name="Gate-first ladder body"/>
          <p:cNvSpPr txBox="1"/>
          <p:nvPr/>
        </p:nvSpPr>
        <p:spPr>
          <a:xfrm>
            <a:off x="3630168" y="2121408"/>
            <a:ext cx="2267712" cy="8961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deadline：是否達標</a:t>
            </a:r>
          </a:p>
        </p:txBody>
      </p:sp>
      <p:cxnSp>
        <p:nvCxnSpPr>
          <p:cNvPr id="13" name="Gate-first connector"/>
          <p:cNvCxnSpPr/>
          <p:nvPr/>
        </p:nvCxnSpPr>
        <p:spPr>
          <a:xfrm>
            <a:off x="6071616" y="2359152"/>
            <a:ext cx="274320" cy="0"/>
          </a:xfrm>
          <a:prstGeom prst="line">
            <a:avLst/>
          </a:prstGeom>
          <a:ln w="2540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Gate-first ladder"/>
          <p:cNvSpPr/>
          <p:nvPr/>
        </p:nvSpPr>
        <p:spPr>
          <a:xfrm>
            <a:off x="6345936" y="1627632"/>
            <a:ext cx="2542032" cy="148132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Gate-first ladder heading"/>
          <p:cNvSpPr txBox="1"/>
          <p:nvPr/>
        </p:nvSpPr>
        <p:spPr>
          <a:xfrm>
            <a:off x="6473952" y="1700784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3｜交付</a:t>
            </a:r>
          </a:p>
        </p:txBody>
      </p:sp>
      <p:sp>
        <p:nvSpPr>
          <p:cNvPr id="16" name="Gate-first ladder body"/>
          <p:cNvSpPr txBox="1"/>
          <p:nvPr/>
        </p:nvSpPr>
        <p:spPr>
          <a:xfrm>
            <a:off x="6483096" y="2121408"/>
            <a:ext cx="2267712" cy="8961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delivery：送達／過期</a:t>
            </a:r>
          </a:p>
        </p:txBody>
      </p:sp>
      <p:cxnSp>
        <p:nvCxnSpPr>
          <p:cNvPr id="17" name="Gate-first connector"/>
          <p:cNvCxnSpPr/>
          <p:nvPr/>
        </p:nvCxnSpPr>
        <p:spPr>
          <a:xfrm>
            <a:off x="8924544" y="2359152"/>
            <a:ext cx="274320" cy="0"/>
          </a:xfrm>
          <a:prstGeom prst="line">
            <a:avLst/>
          </a:prstGeom>
          <a:ln w="2540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Gate-first ladder"/>
          <p:cNvSpPr/>
          <p:nvPr/>
        </p:nvSpPr>
        <p:spPr>
          <a:xfrm>
            <a:off x="9198863" y="1627632"/>
            <a:ext cx="2542032" cy="1481328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Gate-first ladder heading"/>
          <p:cNvSpPr txBox="1"/>
          <p:nvPr/>
        </p:nvSpPr>
        <p:spPr>
          <a:xfrm>
            <a:off x="9326880" y="1700784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4｜端點 J</a:t>
            </a:r>
          </a:p>
        </p:txBody>
      </p:sp>
      <p:sp>
        <p:nvSpPr>
          <p:cNvPr id="20" name="Gate-first ladder body"/>
          <p:cNvSpPr txBox="1"/>
          <p:nvPr/>
        </p:nvSpPr>
        <p:spPr>
          <a:xfrm>
            <a:off x="9336024" y="2121408"/>
            <a:ext cx="2267712" cy="8961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最後看能量</a:t>
            </a:r>
          </a:p>
        </p:txBody>
      </p:sp>
      <p:sp>
        <p:nvSpPr>
          <p:cNvPr id="21" name="Debrief conclusion"/>
          <p:cNvSpPr/>
          <p:nvPr/>
        </p:nvSpPr>
        <p:spPr>
          <a:xfrm>
            <a:off x="877824" y="3547872"/>
            <a:ext cx="10387584" cy="74980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結論｜margin 5 低 J 但 gate FAIL；margin 30 恢復固定條件 gate；surprise 暴露窗口限制。</a:t>
            </a:r>
          </a:p>
        </p:txBody>
      </p:sp>
      <p:sp>
        <p:nvSpPr>
          <p:cNvPr id="22" name="Claim ceiling"/>
          <p:cNvSpPr/>
          <p:nvPr/>
        </p:nvSpPr>
        <p:spPr>
          <a:xfrm>
            <a:off x="749808" y="4882896"/>
            <a:ext cx="10698480" cy="877824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主張邊界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SIMULATED TEACHING DATA；NOT LIVE；NOT MEASURED；NOT CANONICAL-PARITY-VERIFIED。低 J 不覆蓋服務 FAIL。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網站責任：匯入、重播、保存比較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本機先產生資料；網站只驗證、重播、保存比較。</a:t>
            </a:r>
          </a:p>
        </p:txBody>
      </p:sp>
      <p:sp>
        <p:nvSpPr>
          <p:cNvPr id="6" name="Website responsibility node"/>
          <p:cNvSpPr/>
          <p:nvPr/>
        </p:nvSpPr>
        <p:spPr>
          <a:xfrm>
            <a:off x="621792" y="1627632"/>
            <a:ext cx="2395728" cy="1792224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Website responsibility node heading"/>
          <p:cNvSpPr txBox="1"/>
          <p:nvPr/>
        </p:nvSpPr>
        <p:spPr>
          <a:xfrm>
            <a:off x="749808" y="1700784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本機 runner</a:t>
            </a:r>
          </a:p>
        </p:txBody>
      </p:sp>
      <p:sp>
        <p:nvSpPr>
          <p:cNvPr id="8" name="Website responsibility node body"/>
          <p:cNvSpPr txBox="1"/>
          <p:nvPr/>
        </p:nvSpPr>
        <p:spPr>
          <a:xfrm>
            <a:off x="758952" y="2121408"/>
            <a:ext cx="2121408" cy="1207007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</a:p>
        </p:txBody>
      </p:sp>
      <p:cxnSp>
        <p:nvCxnSpPr>
          <p:cNvPr id="9" name="Website boundary connector"/>
          <p:cNvCxnSpPr/>
          <p:nvPr/>
        </p:nvCxnSpPr>
        <p:spPr>
          <a:xfrm>
            <a:off x="3072384" y="2523744"/>
            <a:ext cx="274320" cy="0"/>
          </a:xfrm>
          <a:prstGeom prst="line">
            <a:avLst/>
          </a:prstGeom>
          <a:ln w="2540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Website responsibility node"/>
          <p:cNvSpPr/>
          <p:nvPr/>
        </p:nvSpPr>
        <p:spPr>
          <a:xfrm>
            <a:off x="3474720" y="1627632"/>
            <a:ext cx="2395728" cy="1792224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Website responsibility node heading"/>
          <p:cNvSpPr txBox="1"/>
          <p:nvPr/>
        </p:nvSpPr>
        <p:spPr>
          <a:xfrm>
            <a:off x="3602736" y="1700784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匯入｜JSON</a:t>
            </a:r>
          </a:p>
        </p:txBody>
      </p:sp>
      <p:sp>
        <p:nvSpPr>
          <p:cNvPr id="12" name="Website responsibility node body"/>
          <p:cNvSpPr txBox="1"/>
          <p:nvPr/>
        </p:nvSpPr>
        <p:spPr>
          <a:xfrm>
            <a:off x="3611879" y="2121408"/>
            <a:ext cx="2121408" cy="1207007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schema／identity／units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不執行 Python</a:t>
            </a:r>
          </a:p>
        </p:txBody>
      </p:sp>
      <p:cxnSp>
        <p:nvCxnSpPr>
          <p:cNvPr id="13" name="Website boundary connector"/>
          <p:cNvCxnSpPr/>
          <p:nvPr/>
        </p:nvCxnSpPr>
        <p:spPr>
          <a:xfrm>
            <a:off x="5925312" y="2523744"/>
            <a:ext cx="274320" cy="0"/>
          </a:xfrm>
          <a:prstGeom prst="line">
            <a:avLst/>
          </a:prstGeom>
          <a:ln w="2540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Website responsibility node"/>
          <p:cNvSpPr/>
          <p:nvPr/>
        </p:nvSpPr>
        <p:spPr>
          <a:xfrm>
            <a:off x="6327648" y="1627632"/>
            <a:ext cx="2395728" cy="1792224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Website responsibility node heading"/>
          <p:cNvSpPr txBox="1"/>
          <p:nvPr/>
        </p:nvSpPr>
        <p:spPr>
          <a:xfrm>
            <a:off x="6455664" y="1700784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重播｜REPLAY</a:t>
            </a:r>
          </a:p>
        </p:txBody>
      </p:sp>
      <p:sp>
        <p:nvSpPr>
          <p:cNvPr id="16" name="Website responsibility node body"/>
          <p:cNvSpPr txBox="1"/>
          <p:nvPr/>
        </p:nvSpPr>
        <p:spPr>
          <a:xfrm>
            <a:off x="6464808" y="2121408"/>
            <a:ext cx="2121408" cy="1207007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queue／state／packet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不重跑 policy</a:t>
            </a:r>
          </a:p>
        </p:txBody>
      </p:sp>
      <p:cxnSp>
        <p:nvCxnSpPr>
          <p:cNvPr id="17" name="Website boundary connector"/>
          <p:cNvCxnSpPr/>
          <p:nvPr/>
        </p:nvCxnSpPr>
        <p:spPr>
          <a:xfrm>
            <a:off x="8778240" y="2523744"/>
            <a:ext cx="274320" cy="0"/>
          </a:xfrm>
          <a:prstGeom prst="line">
            <a:avLst/>
          </a:prstGeom>
          <a:ln w="2540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Website responsibility node"/>
          <p:cNvSpPr/>
          <p:nvPr/>
        </p:nvSpPr>
        <p:spPr>
          <a:xfrm>
            <a:off x="9180576" y="1627632"/>
            <a:ext cx="2395728" cy="1792224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Website responsibility node heading"/>
          <p:cNvSpPr txBox="1"/>
          <p:nvPr/>
        </p:nvSpPr>
        <p:spPr>
          <a:xfrm>
            <a:off x="9308592" y="1700784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比較｜表單</a:t>
            </a:r>
          </a:p>
        </p:txBody>
      </p:sp>
      <p:sp>
        <p:nvSpPr>
          <p:cNvPr id="20" name="Website responsibility node body"/>
          <p:cNvSpPr txBox="1"/>
          <p:nvPr/>
        </p:nvSpPr>
        <p:spPr>
          <a:xfrm>
            <a:off x="9317736" y="2121408"/>
            <a:ext cx="2121408" cy="1207007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四個 role + prediction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保留來源鏈</a:t>
            </a:r>
          </a:p>
        </p:txBody>
      </p:sp>
      <p:sp>
        <p:nvSpPr>
          <p:cNvPr id="21" name="Website boundary sentence"/>
          <p:cNvSpPr/>
          <p:nvPr/>
        </p:nvSpPr>
        <p:spPr>
          <a:xfrm>
            <a:off x="877824" y="3895344"/>
            <a:ext cx="10387584" cy="640080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責任邊界｜網站只接受 JSON artifact；Python policy 與 endpoint result 留在本機 runner。</a:t>
            </a:r>
          </a:p>
        </p:txBody>
      </p:sp>
      <p:sp>
        <p:nvSpPr>
          <p:cNvPr id="22" name="Website evidence source"/>
          <p:cNvSpPr/>
          <p:nvPr/>
        </p:nvSpPr>
        <p:spPr>
          <a:xfrm>
            <a:off x="749808" y="4791456"/>
            <a:ext cx="10698480" cy="950976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657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網站讀法｜現有 browser record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先讀 service／deadline，再讀 packet delivery／expiry，再讀 Radio／state event，最後讀 endpoint J 與 bit/J；browser accepted 不等同 live measurement，fresh runner parity 待取得。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匯入檢查：identity、units、事件逐層驗證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匯入檔案先逐層驗證；任何失敗都保留原狀。</a:t>
            </a:r>
          </a:p>
        </p:txBody>
      </p:sp>
      <p:sp>
        <p:nvSpPr>
          <p:cNvPr id="6" name="Import validation step"/>
          <p:cNvSpPr/>
          <p:nvPr/>
        </p:nvSpPr>
        <p:spPr>
          <a:xfrm>
            <a:off x="621792" y="1627632"/>
            <a:ext cx="2395728" cy="202996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Import validation step heading"/>
          <p:cNvSpPr txBox="1"/>
          <p:nvPr/>
        </p:nvSpPr>
        <p:spPr>
          <a:xfrm>
            <a:off x="749808" y="1700784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01–02｜檔案</a:t>
            </a:r>
          </a:p>
        </p:txBody>
      </p:sp>
      <p:sp>
        <p:nvSpPr>
          <p:cNvPr id="8" name="Import validation step body"/>
          <p:cNvSpPr txBox="1"/>
          <p:nvPr/>
        </p:nvSpPr>
        <p:spPr>
          <a:xfrm>
            <a:off x="758952" y="2121408"/>
            <a:ext cx="2121408" cy="144475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schema／scenario_id</a:t>
            </a:r>
          </a:p>
        </p:txBody>
      </p:sp>
      <p:cxnSp>
        <p:nvCxnSpPr>
          <p:cNvPr id="9" name="Validation progression"/>
          <p:cNvCxnSpPr/>
          <p:nvPr/>
        </p:nvCxnSpPr>
        <p:spPr>
          <a:xfrm>
            <a:off x="3072384" y="2642616"/>
            <a:ext cx="274320" cy="0"/>
          </a:xfrm>
          <a:prstGeom prst="line">
            <a:avLst/>
          </a:prstGeom>
          <a:ln w="2540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mport validation step"/>
          <p:cNvSpPr/>
          <p:nvPr/>
        </p:nvSpPr>
        <p:spPr>
          <a:xfrm>
            <a:off x="3474720" y="1627632"/>
            <a:ext cx="2395728" cy="2029968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Import validation step heading"/>
          <p:cNvSpPr txBox="1"/>
          <p:nvPr/>
        </p:nvSpPr>
        <p:spPr>
          <a:xfrm>
            <a:off x="3602736" y="1700784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03–04｜來源</a:t>
            </a:r>
          </a:p>
        </p:txBody>
      </p:sp>
      <p:sp>
        <p:nvSpPr>
          <p:cNvPr id="12" name="Import validation step body"/>
          <p:cNvSpPr txBox="1"/>
          <p:nvPr/>
        </p:nvSpPr>
        <p:spPr>
          <a:xfrm>
            <a:off x="3611879" y="2121408"/>
            <a:ext cx="2121408" cy="144475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lineage／policy block</a:t>
            </a:r>
          </a:p>
        </p:txBody>
      </p:sp>
      <p:cxnSp>
        <p:nvCxnSpPr>
          <p:cNvPr id="13" name="Validation progression"/>
          <p:cNvCxnSpPr/>
          <p:nvPr/>
        </p:nvCxnSpPr>
        <p:spPr>
          <a:xfrm>
            <a:off x="5925312" y="2642616"/>
            <a:ext cx="274320" cy="0"/>
          </a:xfrm>
          <a:prstGeom prst="line">
            <a:avLst/>
          </a:prstGeom>
          <a:ln w="2540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mport validation step"/>
          <p:cNvSpPr/>
          <p:nvPr/>
        </p:nvSpPr>
        <p:spPr>
          <a:xfrm>
            <a:off x="6327648" y="1627632"/>
            <a:ext cx="2395728" cy="202996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Import validation step heading"/>
          <p:cNvSpPr txBox="1"/>
          <p:nvPr/>
        </p:nvSpPr>
        <p:spPr>
          <a:xfrm>
            <a:off x="6455664" y="1700784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05–06｜單位</a:t>
            </a:r>
          </a:p>
        </p:txBody>
      </p:sp>
      <p:sp>
        <p:nvSpPr>
          <p:cNvPr id="16" name="Import validation step body"/>
          <p:cNvSpPr txBox="1"/>
          <p:nvPr/>
        </p:nvSpPr>
        <p:spPr>
          <a:xfrm>
            <a:off x="6464808" y="2121408"/>
            <a:ext cx="2121408" cy="144475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energy sum／packet legality</a:t>
            </a:r>
          </a:p>
        </p:txBody>
      </p:sp>
      <p:cxnSp>
        <p:nvCxnSpPr>
          <p:cNvPr id="17" name="Validation progression"/>
          <p:cNvCxnSpPr/>
          <p:nvPr/>
        </p:nvCxnSpPr>
        <p:spPr>
          <a:xfrm>
            <a:off x="8778240" y="2642616"/>
            <a:ext cx="274320" cy="0"/>
          </a:xfrm>
          <a:prstGeom prst="line">
            <a:avLst/>
          </a:prstGeom>
          <a:ln w="2540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mport validation step"/>
          <p:cNvSpPr/>
          <p:nvPr/>
        </p:nvSpPr>
        <p:spPr>
          <a:xfrm>
            <a:off x="9180576" y="1627632"/>
            <a:ext cx="2395728" cy="2029968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Import validation step heading"/>
          <p:cNvSpPr txBox="1"/>
          <p:nvPr/>
        </p:nvSpPr>
        <p:spPr>
          <a:xfrm>
            <a:off x="9308592" y="1700784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07｜主張</a:t>
            </a:r>
          </a:p>
        </p:txBody>
      </p:sp>
      <p:sp>
        <p:nvSpPr>
          <p:cNvPr id="20" name="Import validation step body"/>
          <p:cNvSpPr txBox="1"/>
          <p:nvPr/>
        </p:nvSpPr>
        <p:spPr>
          <a:xfrm>
            <a:off x="9317736" y="2121408"/>
            <a:ext cx="2121408" cy="144475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scope／workbook record</a:t>
            </a:r>
          </a:p>
        </p:txBody>
      </p:sp>
      <p:sp>
        <p:nvSpPr>
          <p:cNvPr id="21" name="Fail closed boundary"/>
          <p:cNvSpPr/>
          <p:nvPr/>
        </p:nvSpPr>
        <p:spPr>
          <a:xfrm>
            <a:off x="877824" y="4023360"/>
            <a:ext cx="10387584" cy="640080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FAIL CLOSED｜任一層失敗：session／workbook 不變；保存錯誤與 path，回 matching artifact。</a:t>
            </a:r>
          </a:p>
        </p:txBody>
      </p:sp>
      <p:sp>
        <p:nvSpPr>
          <p:cNvPr id="22" name="Scenario identity field"/>
          <p:cNvSpPr/>
          <p:nvPr/>
        </p:nvSpPr>
        <p:spPr>
          <a:xfrm>
            <a:off x="749808" y="4846320"/>
            <a:ext cx="10698480" cy="914400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scenario_id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｜情境識別碼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來源 scenario package；值型態 identifier；作用 綁定同一情境；相同才可比較，缺失或不符即停止。七層驗證完整後才 materialize replay。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事件重播：佇列 → 動作 → 狀態 → 封包 → J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畫面每一格都對應同一條事件記錄；一起讀動作與封包結果。</a:t>
            </a:r>
          </a:p>
        </p:txBody>
      </p:sp>
      <p:sp>
        <p:nvSpPr>
          <p:cNvPr id="6" name="Replay screenshot panel"/>
          <p:cNvSpPr/>
          <p:nvPr/>
        </p:nvSpPr>
        <p:spPr>
          <a:xfrm>
            <a:off x="694944" y="1609344"/>
            <a:ext cx="5522976" cy="2395728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pic>
        <p:nvPicPr>
          <p:cNvPr id="7" name="Current replay frame crop" descr="replay-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55648"/>
            <a:ext cx="5266944" cy="2066543"/>
          </a:xfrm>
          <a:prstGeom prst="rect">
            <a:avLst/>
          </a:prstGeom>
        </p:spPr>
      </p:pic>
      <p:sp>
        <p:nvSpPr>
          <p:cNvPr id="8" name="Replay causal path"/>
          <p:cNvSpPr/>
          <p:nvPr/>
        </p:nvSpPr>
        <p:spPr>
          <a:xfrm>
            <a:off x="6510528" y="1609344"/>
            <a:ext cx="4937760" cy="239572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Replay path heading"/>
          <p:cNvSpPr txBox="1"/>
          <p:nvPr/>
        </p:nvSpPr>
        <p:spPr>
          <a:xfrm>
            <a:off x="6748272" y="1792224"/>
            <a:ext cx="446227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事件讀法</a:t>
            </a:r>
          </a:p>
        </p:txBody>
      </p:sp>
      <p:sp>
        <p:nvSpPr>
          <p:cNvPr id="10" name="Replay path step"/>
          <p:cNvSpPr/>
          <p:nvPr/>
        </p:nvSpPr>
        <p:spPr>
          <a:xfrm>
            <a:off x="6821424" y="2212848"/>
            <a:ext cx="4315968" cy="5303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Queue／Action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佇列 → policy 動作</a:t>
            </a:r>
          </a:p>
        </p:txBody>
      </p:sp>
      <p:sp>
        <p:nvSpPr>
          <p:cNvPr id="11" name="Replay path step"/>
          <p:cNvSpPr/>
          <p:nvPr/>
        </p:nvSpPr>
        <p:spPr>
          <a:xfrm>
            <a:off x="6821424" y="2779776"/>
            <a:ext cx="4315968" cy="5303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Radio／state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狀態：SLEEP／TX／RX</a:t>
            </a:r>
          </a:p>
        </p:txBody>
      </p:sp>
      <p:sp>
        <p:nvSpPr>
          <p:cNvPr id="12" name="Replay path step"/>
          <p:cNvSpPr/>
          <p:nvPr/>
        </p:nvSpPr>
        <p:spPr>
          <a:xfrm>
            <a:off x="6821424" y="3346704"/>
            <a:ext cx="4315968" cy="530352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Packet／service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送達／過期 → 期限／J</a:t>
            </a:r>
          </a:p>
        </p:txBody>
      </p:sp>
      <p:sp>
        <p:nvSpPr>
          <p:cNvPr id="13" name="Replay boundary"/>
          <p:cNvSpPr/>
          <p:nvPr/>
        </p:nvSpPr>
        <p:spPr>
          <a:xfrm>
            <a:off x="877824" y="4242816"/>
            <a:ext cx="10387584" cy="56692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重播邊界｜讀取已驗證 event ledger，不重新執行 policy，也不在瀏覽器推導新數值。</a:t>
            </a:r>
          </a:p>
        </p:txBody>
      </p:sp>
      <p:sp>
        <p:nvSpPr>
          <p:cNvPr id="14" name="Replay fields"/>
          <p:cNvSpPr/>
          <p:nvPr/>
        </p:nvSpPr>
        <p:spPr>
          <a:xfrm>
            <a:off x="749808" y="4846320"/>
            <a:ext cx="10698480" cy="914400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欄位讀法｜來源、單位、高低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Queue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：frame，count，越高待處理越多；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：policy token，對回程式分支；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Radio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：frame event，確認 SLEEP／TX／RX；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：ledger，J，越低耗能較少，但服務 FAIL 仍先保留。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Workbook：保存四個角色的來源鏈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比較紀錄把四個角色放在同一條來源鏈，方便重開核對。</a:t>
            </a:r>
          </a:p>
        </p:txBody>
      </p:sp>
      <p:sp>
        <p:nvSpPr>
          <p:cNvPr id="6" name="Ledger screenshot panel"/>
          <p:cNvSpPr/>
          <p:nvPr/>
        </p:nvSpPr>
        <p:spPr>
          <a:xfrm>
            <a:off x="694944" y="1609344"/>
            <a:ext cx="5522976" cy="2395728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pic>
        <p:nvPicPr>
          <p:cNvPr id="7" name="Current execution ledger crop" descr="led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73936"/>
            <a:ext cx="5266944" cy="1389888"/>
          </a:xfrm>
          <a:prstGeom prst="rect">
            <a:avLst/>
          </a:prstGeom>
        </p:spPr>
      </p:pic>
      <p:sp>
        <p:nvSpPr>
          <p:cNvPr id="8" name="Ledger evidence label"/>
          <p:cNvSpPr txBox="1"/>
          <p:nvPr/>
        </p:nvSpPr>
        <p:spPr>
          <a:xfrm>
            <a:off x="877824" y="3273552"/>
            <a:ext cx="515721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current browser record｜execution ledger</a:t>
            </a:r>
          </a:p>
        </p:txBody>
      </p:sp>
      <p:sp>
        <p:nvSpPr>
          <p:cNvPr id="9" name="Workbook spread"/>
          <p:cNvSpPr/>
          <p:nvPr/>
        </p:nvSpPr>
        <p:spPr>
          <a:xfrm>
            <a:off x="6510528" y="1609344"/>
            <a:ext cx="4937760" cy="239572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Workbook spread heading"/>
          <p:cNvSpPr txBox="1"/>
          <p:nvPr/>
        </p:nvSpPr>
        <p:spPr>
          <a:xfrm>
            <a:off x="6784848" y="1792224"/>
            <a:ext cx="438912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四個角色</a:t>
            </a:r>
          </a:p>
        </p:txBody>
      </p:sp>
      <p:sp>
        <p:nvSpPr>
          <p:cNvPr id="11" name="Workbook role"/>
          <p:cNvSpPr/>
          <p:nvPr/>
        </p:nvSpPr>
        <p:spPr>
          <a:xfrm>
            <a:off x="6803136" y="2267712"/>
            <a:ext cx="1956816" cy="5303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基準組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baseline 結果</a:t>
            </a:r>
          </a:p>
        </p:txBody>
      </p:sp>
      <p:sp>
        <p:nvSpPr>
          <p:cNvPr id="12" name="Workbook role"/>
          <p:cNvSpPr/>
          <p:nvPr/>
        </p:nvSpPr>
        <p:spPr>
          <a:xfrm>
            <a:off x="9015984" y="2267712"/>
            <a:ext cx="1956816" cy="53035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候選組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candidate 修改</a:t>
            </a:r>
          </a:p>
        </p:txBody>
      </p:sp>
      <p:sp>
        <p:nvSpPr>
          <p:cNvPr id="13" name="Workbook role"/>
          <p:cNvSpPr/>
          <p:nvPr/>
        </p:nvSpPr>
        <p:spPr>
          <a:xfrm>
            <a:off x="6803136" y="2962656"/>
            <a:ext cx="1956816" cy="53035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修訂組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revision gate</a:t>
            </a:r>
          </a:p>
        </p:txBody>
      </p:sp>
      <p:sp>
        <p:nvSpPr>
          <p:cNvPr id="14" name="Workbook role"/>
          <p:cNvSpPr/>
          <p:nvPr/>
        </p:nvSpPr>
        <p:spPr>
          <a:xfrm>
            <a:off x="9015984" y="2962656"/>
            <a:ext cx="1956816" cy="530352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保留組</a:t>
            </a:r>
          </a:p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surprise 邊界</a:t>
            </a:r>
          </a:p>
        </p:txBody>
      </p:sp>
      <p:sp>
        <p:nvSpPr>
          <p:cNvPr id="15" name="Workbook record fields"/>
          <p:cNvSpPr/>
          <p:nvPr/>
        </p:nvSpPr>
        <p:spPr>
          <a:xfrm>
            <a:off x="877824" y="4242816"/>
            <a:ext cx="10387584" cy="56692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比較紀錄｜保存 prediction、changed line、result_path、replay、gate、endpoint scope 與 recovery note。</a:t>
            </a:r>
          </a:p>
        </p:txBody>
      </p:sp>
      <p:sp>
        <p:nvSpPr>
          <p:cNvPr id="16" name="Workbook definition"/>
          <p:cNvSpPr/>
          <p:nvPr/>
        </p:nvSpPr>
        <p:spPr>
          <a:xfrm>
            <a:off x="749808" y="4846320"/>
            <a:ext cx="10698480" cy="914400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provenance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｜來源鏈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來源 /course workbook；值型態 saved record；作用 保存四個角色的 lineage；缺必要 evidence 就維持 INCOMPLETE，不補寫答案。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保存與重開：核對身份，不補造結果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proposition"/>
          <p:cNvSpPr txBox="1"/>
          <p:nvPr/>
        </p:nvSpPr>
        <p:spPr>
          <a:xfrm>
            <a:off x="749808" y="85039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保存、關閉、重開都先核對身份，再恢復同一條來源鏈。</a:t>
            </a:r>
          </a:p>
        </p:txBody>
      </p:sp>
      <p:sp>
        <p:nvSpPr>
          <p:cNvPr id="6" name="Reopen loop step"/>
          <p:cNvSpPr/>
          <p:nvPr/>
        </p:nvSpPr>
        <p:spPr>
          <a:xfrm>
            <a:off x="768096" y="1627632"/>
            <a:ext cx="3273552" cy="162763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Reopen loop step heading"/>
          <p:cNvSpPr txBox="1"/>
          <p:nvPr/>
        </p:nvSpPr>
        <p:spPr>
          <a:xfrm>
            <a:off x="896112" y="1700784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01｜保存 SAVE</a:t>
            </a:r>
          </a:p>
        </p:txBody>
      </p:sp>
      <p:sp>
        <p:nvSpPr>
          <p:cNvPr id="8" name="Reopen loop step body"/>
          <p:cNvSpPr txBox="1"/>
          <p:nvPr/>
        </p:nvSpPr>
        <p:spPr>
          <a:xfrm>
            <a:off x="905256" y="2121408"/>
            <a:ext cx="2999232" cy="104241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保存預測＋結果／重播</a:t>
            </a:r>
          </a:p>
        </p:txBody>
      </p:sp>
      <p:cxnSp>
        <p:nvCxnSpPr>
          <p:cNvPr id="9" name="Reopen loop connector"/>
          <p:cNvCxnSpPr/>
          <p:nvPr/>
        </p:nvCxnSpPr>
        <p:spPr>
          <a:xfrm>
            <a:off x="4114800" y="2441448"/>
            <a:ext cx="274320" cy="0"/>
          </a:xfrm>
          <a:prstGeom prst="line">
            <a:avLst/>
          </a:prstGeom>
          <a:ln w="2540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open loop step"/>
          <p:cNvSpPr/>
          <p:nvPr/>
        </p:nvSpPr>
        <p:spPr>
          <a:xfrm>
            <a:off x="4425696" y="1627632"/>
            <a:ext cx="3273552" cy="162763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Reopen loop step heading"/>
          <p:cNvSpPr txBox="1"/>
          <p:nvPr/>
        </p:nvSpPr>
        <p:spPr>
          <a:xfrm>
            <a:off x="4553712" y="1700784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02｜關閉 CLOSE</a:t>
            </a:r>
          </a:p>
        </p:txBody>
      </p:sp>
      <p:sp>
        <p:nvSpPr>
          <p:cNvPr id="12" name="Reopen loop step body"/>
          <p:cNvSpPr txBox="1"/>
          <p:nvPr/>
        </p:nvSpPr>
        <p:spPr>
          <a:xfrm>
            <a:off x="4562856" y="2121408"/>
            <a:ext cx="2999232" cy="104241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不改 runner 檔案</a:t>
            </a:r>
          </a:p>
        </p:txBody>
      </p:sp>
      <p:cxnSp>
        <p:nvCxnSpPr>
          <p:cNvPr id="13" name="Reopen loop connector"/>
          <p:cNvCxnSpPr/>
          <p:nvPr/>
        </p:nvCxnSpPr>
        <p:spPr>
          <a:xfrm>
            <a:off x="7772400" y="2441448"/>
            <a:ext cx="274320" cy="0"/>
          </a:xfrm>
          <a:prstGeom prst="line">
            <a:avLst/>
          </a:prstGeom>
          <a:ln w="25400">
            <a:solidFill>
              <a:srgbClr val="253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open loop step"/>
          <p:cNvSpPr/>
          <p:nvPr/>
        </p:nvSpPr>
        <p:spPr>
          <a:xfrm>
            <a:off x="8083296" y="1627632"/>
            <a:ext cx="3273552" cy="162763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tIns="36576" rIns="73152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Reopen loop step heading"/>
          <p:cNvSpPr txBox="1"/>
          <p:nvPr/>
        </p:nvSpPr>
        <p:spPr>
          <a:xfrm>
            <a:off x="8211312" y="1700784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03｜重開</a:t>
            </a:r>
          </a:p>
        </p:txBody>
      </p:sp>
      <p:sp>
        <p:nvSpPr>
          <p:cNvPr id="16" name="Reopen loop step body"/>
          <p:cNvSpPr txBox="1"/>
          <p:nvPr/>
        </p:nvSpPr>
        <p:spPr>
          <a:xfrm>
            <a:off x="8220456" y="2121408"/>
            <a:ext cx="2999232" cy="104241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OPEN／REBIND：核對情境＋端點</a:t>
            </a:r>
          </a:p>
        </p:txBody>
      </p:sp>
      <p:sp>
        <p:nvSpPr>
          <p:cNvPr id="17" name="Reopen status"/>
          <p:cNvSpPr/>
          <p:nvPr/>
        </p:nvSpPr>
        <p:spPr>
          <a:xfrm>
            <a:off x="877824" y="3822191"/>
            <a:ext cx="10387584" cy="74980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/>
          <a:lstStyle/>
          <a:p>
            <a:pPr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完成度｜身份、prediction、result／replay 齊全才 COMPLETE；缺件維持 INCOMPLETE 並 recovery，不改寫 FAIL。</a:t>
            </a:r>
          </a:p>
        </p:txBody>
      </p:sp>
      <p:sp>
        <p:nvSpPr>
          <p:cNvPr id="18" name="Workbook status definition"/>
          <p:cNvSpPr/>
          <p:nvPr/>
        </p:nvSpPr>
        <p:spPr>
          <a:xfrm>
            <a:off x="749808" y="4846320"/>
            <a:ext cx="10698480" cy="914400"/>
          </a:xfrm>
          <a:prstGeom prst="roundRect">
            <a:avLst/>
          </a:prstGeom>
          <a:solidFill>
            <a:srgbClr val="F2F4F8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 rIns="54864" bIns="18288"/>
          <a:lstStyle/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COMPLETE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8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INCOMPLETE</a:t>
            </a: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｜完成度狀態</a:t>
            </a:r>
          </a:p>
          <a:p>
            <a:pPr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來源 workbook validator；值型態 status enum；作用 反映必要 evidence 是否齊全；判讀 COMPLETE 不等於 service PASS，也不等於 scientific parity。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