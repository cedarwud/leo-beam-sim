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本頁建立 Lab C 的問題：批次等待可以減少傳送啟動，但有期限的急件不能無限期等待。後續只改動 `student_policy.py` 的 `lab-c-batch-urgent` 區塊；服務結果先於端點 J 解讀。`queue age` 是等待秒數，`deadline` 是完成期限，`endpoint J` 只描述宣告的端點範圍。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先在 package 根目錄定位 `/home/u24/lora-energy-lab/student_policy.py`，再搜尋 `LORA EDITABLE: lab-c-batch-urgent`。本頁只確認檔案、標記與目標常數，不執行、不改值。`BATCH_SIZE = 3` 是固定批次門檻；本 Lab 唯一可改的是 `URGENT_MARGIN_S`。Lab A／B 區塊、runner、scenario、schema 與能量模型保持原樣。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原始檔案中的 `URGENT_MARGIN_S = 20` 表示：當仍有緊急封包，且最接近期限的剩餘時間小於或等於 20 秒，急件分支才回傳 `SEND_URGENT`。急件分支排在 pacing 與批次之前；窗口關閉時更前面的判斷仍會回傳 `SLEEP`。這頁只讀原始值，尚未修改。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先在未修改的 policy 上執行 baseline，保存 stdout 印出的 `result_path`。完成下一頁的單一修改與預測記錄後，再以同一個 package 根目錄執行 candidate。兩次都保留同一 run 目錄內配對的 `result.json` 與 `endpoint-replay.json`；不猜檔名。Linux／macOS 終端機與 WSL 使用 Linux 指令，Windows PowerShell／Command Prompt 使用 `course.cmd`。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只在 `/home/u24/lora-energy-lab/student_policy.py` 的 `lab-c-batch-urgent` marked block，把 `URGENT_MARGIN_S` 從 20 改成 5。5 表示剩餘時間更接近期限時才走 `SEND_URGENT`，所以急件介入可能較晚。`BATCH_SIZE = 3`、Lab A／B frozen blocks、runner、scenario、schema、其他常數、函式與檔案均保持原樣；本頁不放執行命令。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候選預測寫入 workbook：把門檻從 20 改成 5，急件 override 可能較晚觸發，早期 `WAKE`／`TX` 可能減少，但封包可能更接近期限甚至失去交付。驗證順序固定為 `service`、`deadline`、packet delivery／expiry、state ledger，最後才讀 `endpoint J` 與 bit/J。任一服務門檻失敗，都不能只用低 J 宣稱成功。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candidate 命令完成後，將 stdout 的 `result_path` 指向的 `result.json` 與同一 run 目錄的 `endpoint-replay.json` 一起保存。匯入後先讀 `service_pass` 與 `deadline_pass`，再讀 `delivered_packets`／`expired_packets`，最後回到 replay 的 state event 與 `endpoint_energy_j`。目前結果為 baseline 4/4、expired 0、10.66 J；candidate 3/4、expired 1、9.74 J。candidate 少 0.92 J 但兩個 gate 都 FAIL。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保留 candidate 5 的結果後，只在同一個 marked block 把 `URGENT_MARGIN_S` 從 5 改成 30。30 表示期限尚有較多餘裕時就可回傳 `SEND_URGENT`，所以 action 可能較早，可能增加 `WAKE`／`TX`，也可能保住期限。`BATCH_SIZE = 3`、Lab A／B frozen blocks、runner、scenario、schema 與其他檔案都不變；本頁不放執行命令。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修訂預測寫入 workbook：把門檻從 5 改成 30，急件 action 可能較早，端點能量可能上升，但 required packet 可能在期限前完成。判讀必須同時對照 delivery、deadline、state ledger、retry／expiry 與 endpoint J。若固定 primary case 中 20 與 30 都在同一決策時點觸發，兩者結果可能相同；這是條件造成的 null contrast，不是模型失效。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先執行 revision 30 並建立 freeze receipt，再以完全相同的 policy bytes 執行 surprise withheld。兩個命令都以 stdout 新印出的 `result_path` 為準，並保存同一 run 目錄的 `result.json` 與 `endpoint-replay.json`。surprise 不新增 edit、不重新調參；它只檢查 frozen policy 在新 service condition 下的 claim boundary。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三筆結果共用相同 primary scenario 與 endpoint boundary。baseline 20 為 service／deadline true／true、delivered 4／4、expired 0、endpoint 10.66 J；candidate 5 為 false／false、delivered 3／4、expired 1、endpoint 9.74 J；revision 30 回到 true／true、4／4、expired 0、10.66 J。固定 primary case 在決策時剩 10 秒，因此 20 與 30 都觸發急件，兩者可能是 null contrast；不能把相同結果解讀成 30 永遠最佳。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surprise 沿用 frozen margin 30 policy，不建立第三次 edit。目前結果為 service false、deadline false、delivered 1／4、retries 3、collisions 2、expired 3、endpoint 5.41 J。低 J 不能覆蓋服務失敗；這筆 record 的用途是界定 margin 30 的適用範圍，並保留 result／replay provenance。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C 支持的結論是：urgent margin 會改變 deadline／energy trade-off，效果依 service condition 而定。candidate 5 在參考情境少用 endpoint J 卻失去兩個 gate；revision 30 在固定 primary case 恢復 gate，但 surprise 顯示新窗口條件仍可能失敗。這個結論停留在宣告的 endpoint evidence layer，不延伸成全系統或所有窗口的保證。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本機 runner 讀取 `student_policy.py` 並產生 `result.json` 與配對 `endpoint-replay.json`；網站只接受已產生的 JSON artifact。網站驗證 schema、identity、units、policy lineage 與 provenance，再 materialize replay 並保存 workbook 比較；網站不執行本機 Python。匯入時選 stdout 指出的 `result.json`，不是 policy source。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匯入先檢查 JSON／schema、scenario identity、runner provenance、lab／case／seed、policy lineage、units／energy sum、event legality 與 claim boundary，通過後才 materialize replay。任一層失敗時，既有 session 與 workbook 維持原狀；保留錯誤與原始 path，修正來源後重新匯入。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REPLAY 讀取已驗證的 `endpoint-replay.json` event ledger，不重新執行 policy，也不在瀏覽器推導新的科學數值。沿同一 frame 讀 `Queue`、`Action`、`Radio`／state、packet delivery／expiry 與累積 endpoint J，才能把程式分支對回服務結果。較低 J 若沒有 delivery 與 service 欄位，不能完成 Lab C 判讀。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保存 baseline、candidate、revision 與 surprise 的 prediction、changed line、result_path、配對 replay、service／deadline、endpoint scope、recovery note 與 claim boundary。surprise 即使 FAIL 也保留原 record；必要 evidence 缺少時狀態維持 INCOMPLETE，不能用另一筆結果補寫。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保存 workbook 後關閉頁面，再重新開啟並核對 scenario、anchor、policy／predecessor identity、endpoint scope、prediction、result 與 replay。重開只重新驗證身份與完成度，不執行 `student_policy.py`，也不把失敗 surprise 改寫為成功。缺件時維持 INCOMPLETE，沿 matching artifact 或 release backup recovery。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C：急件應提前多久送出？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問題：急件應提前多久送出，才不會為省能量而誤期？</a:t>
            </a:r>
          </a:p>
        </p:txBody>
      </p:sp>
      <p:sp>
        <p:nvSpPr>
          <p:cNvPr id="6" name="Queue visual"/>
          <p:cNvSpPr/>
          <p:nvPr/>
        </p:nvSpPr>
        <p:spPr>
          <a:xfrm>
            <a:off x="768096" y="1572768"/>
            <a:ext cx="3401568" cy="2468880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Queue visual heading"/>
          <p:cNvSpPr txBox="1"/>
          <p:nvPr/>
        </p:nvSpPr>
        <p:spPr>
          <a:xfrm>
            <a:off x="896112" y="1645920"/>
            <a:ext cx="314553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急件在佇列</a:t>
            </a:r>
          </a:p>
        </p:txBody>
      </p:sp>
      <p:sp>
        <p:nvSpPr>
          <p:cNvPr id="8" name="Queue visual body"/>
          <p:cNvSpPr txBox="1"/>
          <p:nvPr/>
        </p:nvSpPr>
        <p:spPr>
          <a:xfrm>
            <a:off x="905256" y="2066543"/>
            <a:ext cx="3127248" cy="18836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期限倒數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等待越久，越可能誤期</a:t>
            </a:r>
          </a:p>
        </p:txBody>
      </p:sp>
      <p:cxnSp>
        <p:nvCxnSpPr>
          <p:cNvPr id="9" name="Queue to service gate"/>
          <p:cNvCxnSpPr/>
          <p:nvPr/>
        </p:nvCxnSpPr>
        <p:spPr>
          <a:xfrm>
            <a:off x="4315968" y="2788920"/>
            <a:ext cx="274320" cy="0"/>
          </a:xfrm>
          <a:prstGeom prst="line">
            <a:avLst/>
          </a:prstGeom>
          <a:ln w="25400">
            <a:solidFill>
              <a:srgbClr val="66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ervice gate visual"/>
          <p:cNvSpPr/>
          <p:nvPr/>
        </p:nvSpPr>
        <p:spPr>
          <a:xfrm>
            <a:off x="4681728" y="1572768"/>
            <a:ext cx="6784848" cy="2468880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Service gate visual heading"/>
          <p:cNvSpPr txBox="1"/>
          <p:nvPr/>
        </p:nvSpPr>
        <p:spPr>
          <a:xfrm>
            <a:off x="4809744" y="1645920"/>
            <a:ext cx="652881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服務窗口｜gate</a:t>
            </a:r>
          </a:p>
        </p:txBody>
      </p:sp>
      <p:sp>
        <p:nvSpPr>
          <p:cNvPr id="12" name="Service gate visual body"/>
          <p:cNvSpPr txBox="1"/>
          <p:nvPr/>
        </p:nvSpPr>
        <p:spPr>
          <a:xfrm>
            <a:off x="4818888" y="2066543"/>
            <a:ext cx="6510528" cy="18836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窗口開啟 → 可以送出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距限接近 → 優先處理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窗口關閉 → 不得送出</a:t>
            </a:r>
          </a:p>
        </p:txBody>
      </p:sp>
      <p:sp>
        <p:nvSpPr>
          <p:cNvPr id="13" name="Queue gate reading order"/>
          <p:cNvSpPr/>
          <p:nvPr/>
        </p:nvSpPr>
        <p:spPr>
          <a:xfrm>
            <a:off x="877824" y="4224528"/>
            <a:ext cx="10387584" cy="56692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本頁讀法｜先建立問題；下一頁開啟實際檔案，確認哪一行控制急件時間。</a:t>
            </a:r>
          </a:p>
        </p:txBody>
      </p:sp>
      <p:sp>
        <p:nvSpPr>
          <p:cNvPr id="14" name="Queue age field"/>
          <p:cNvSpPr/>
          <p:nvPr/>
        </p:nvSpPr>
        <p:spPr>
          <a:xfrm>
            <a:off x="749808" y="4956048"/>
            <a:ext cx="10698480" cy="841248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queue age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｜等待時間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 runner trace；作用 顯示等待成本；單位 s；數字越高代表排隊越久。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先判期限，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只在服務結果後解釋。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定位唯一可編輯區塊：檔案、標記、目標值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先定位檔案與 marked block，再改唯一指定值。</a:t>
            </a:r>
          </a:p>
        </p:txBody>
      </p:sp>
      <p:sp>
        <p:nvSpPr>
          <p:cNvPr id="6" name="Locate policy file"/>
          <p:cNvSpPr/>
          <p:nvPr/>
        </p:nvSpPr>
        <p:spPr>
          <a:xfrm>
            <a:off x="749808" y="1572768"/>
            <a:ext cx="3456432" cy="239572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Locate policy file heading"/>
          <p:cNvSpPr txBox="1"/>
          <p:nvPr/>
        </p:nvSpPr>
        <p:spPr>
          <a:xfrm>
            <a:off x="877824" y="164592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檔案｜source</a:t>
            </a:r>
          </a:p>
        </p:txBody>
      </p:sp>
      <p:sp>
        <p:nvSpPr>
          <p:cNvPr id="8" name="Locate policy file body"/>
          <p:cNvSpPr txBox="1"/>
          <p:nvPr/>
        </p:nvSpPr>
        <p:spPr>
          <a:xfrm>
            <a:off x="886968" y="2066543"/>
            <a:ext cx="3182112" cy="18105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/home/u24/lora-energy-lab/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本頁只定位，不執行</a:t>
            </a:r>
          </a:p>
        </p:txBody>
      </p:sp>
      <p:cxnSp>
        <p:nvCxnSpPr>
          <p:cNvPr id="9" name="Locate block connector"/>
          <p:cNvCxnSpPr/>
          <p:nvPr/>
        </p:nvCxnSpPr>
        <p:spPr>
          <a:xfrm>
            <a:off x="4334256" y="2743200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cate marked block"/>
          <p:cNvSpPr/>
          <p:nvPr/>
        </p:nvSpPr>
        <p:spPr>
          <a:xfrm>
            <a:off x="4681728" y="1572768"/>
            <a:ext cx="3218688" cy="2395728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Locate marked block heading"/>
          <p:cNvSpPr txBox="1"/>
          <p:nvPr/>
        </p:nvSpPr>
        <p:spPr>
          <a:xfrm>
            <a:off x="4809744" y="1645920"/>
            <a:ext cx="296265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標記｜editable block</a:t>
            </a:r>
          </a:p>
        </p:txBody>
      </p:sp>
      <p:sp>
        <p:nvSpPr>
          <p:cNvPr id="12" name="Locate marked block body"/>
          <p:cNvSpPr txBox="1"/>
          <p:nvPr/>
        </p:nvSpPr>
        <p:spPr>
          <a:xfrm>
            <a:off x="4818888" y="2066543"/>
            <a:ext cx="2944368" cy="18105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lab-c-batch-urgent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只允許區塊內的指定常數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順序與函式不動</a:t>
            </a:r>
          </a:p>
        </p:txBody>
      </p:sp>
      <p:cxnSp>
        <p:nvCxnSpPr>
          <p:cNvPr id="13" name="Locate target connector"/>
          <p:cNvCxnSpPr/>
          <p:nvPr/>
        </p:nvCxnSpPr>
        <p:spPr>
          <a:xfrm>
            <a:off x="8028431" y="2743200"/>
            <a:ext cx="274321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ocate target value"/>
          <p:cNvSpPr/>
          <p:nvPr/>
        </p:nvSpPr>
        <p:spPr>
          <a:xfrm>
            <a:off x="8375904" y="1572768"/>
            <a:ext cx="3072384" cy="239572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Locate target value heading"/>
          <p:cNvSpPr txBox="1"/>
          <p:nvPr/>
        </p:nvSpPr>
        <p:spPr>
          <a:xfrm>
            <a:off x="8503920" y="1645920"/>
            <a:ext cx="281635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目標｜one value</a:t>
            </a:r>
          </a:p>
        </p:txBody>
      </p:sp>
      <p:sp>
        <p:nvSpPr>
          <p:cNvPr id="16" name="Locate target value body"/>
          <p:cNvSpPr txBox="1"/>
          <p:nvPr/>
        </p:nvSpPr>
        <p:spPr>
          <a:xfrm>
            <a:off x="8513064" y="2066543"/>
            <a:ext cx="2798064" cy="18105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20 → 5 → 30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BATCH_SIZE = 3</a:t>
            </a: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固定</a:t>
            </a:r>
          </a:p>
        </p:txBody>
      </p:sp>
      <p:sp>
        <p:nvSpPr>
          <p:cNvPr id="17" name="Locate unchanged scope"/>
          <p:cNvSpPr/>
          <p:nvPr/>
        </p:nvSpPr>
        <p:spPr>
          <a:xfrm>
            <a:off x="877824" y="4242816"/>
            <a:ext cx="10387584" cy="585216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不變範圍｜Lab A／B blocks、runner、scenario、schema、能量模型與其餘程式均維持原樣。</a:t>
            </a:r>
          </a:p>
        </p:txBody>
      </p:sp>
      <p:sp>
        <p:nvSpPr>
          <p:cNvPr id="18" name="Locate batch field"/>
          <p:cNvSpPr/>
          <p:nvPr/>
        </p:nvSpPr>
        <p:spPr>
          <a:xfrm>
            <a:off x="749808" y="4919472"/>
            <a:ext cx="10698480" cy="859536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BATCH_SIZE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｜批次數量門檻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的 Lab C marked block；單位 packet；作用 佇列至少 3 張才能使用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FLUSH_BATCH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；本實驗固定為 3，不作為變更變數。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基準原始值：20 秒代表什麼？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基準值 20：距離期限還有 20 秒內，急件分支才會先回傳。</a:t>
            </a:r>
          </a:p>
        </p:txBody>
      </p:sp>
      <p:sp>
        <p:nvSpPr>
          <p:cNvPr id="6" name="Baseline file heading"/>
          <p:cNvSpPr txBox="1"/>
          <p:nvPr/>
        </p:nvSpPr>
        <p:spPr>
          <a:xfrm>
            <a:off x="786384" y="1280160"/>
            <a:ext cx="585216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原始檔案：</a:t>
            </a:r>
            <a:r>
              <a:rPr sz="18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／Lab C marked block</a:t>
            </a:r>
          </a:p>
        </p:txBody>
      </p:sp>
      <p:sp>
        <p:nvSpPr>
          <p:cNvPr id="7" name="Baseline Lab C code"/>
          <p:cNvSpPr/>
          <p:nvPr/>
        </p:nvSpPr>
        <p:spPr>
          <a:xfrm>
            <a:off x="749808" y="1609344"/>
            <a:ext cx="6565392" cy="279806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Baseline Lab C code highlighted editable line"/>
          <p:cNvSpPr/>
          <p:nvPr/>
        </p:nvSpPr>
        <p:spPr>
          <a:xfrm>
            <a:off x="896112" y="2274295"/>
            <a:ext cx="6272783" cy="3096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aseline Lab C code text"/>
          <p:cNvSpPr txBox="1"/>
          <p:nvPr/>
        </p:nvSpPr>
        <p:spPr>
          <a:xfrm>
            <a:off x="859536" y="1700784"/>
            <a:ext cx="6345936" cy="2633472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# === LORA EDITABLE: lab-c-batch-urgent ===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BATCH_SIZE = 3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 = 20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# === LORA END EDITABLE: lab-c-batch-urgent ===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if observation.urgent_pending and observation.urgent_due_in_s &lt;= URGENT_MARGIN_S: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   return SEND_URGENT</a:t>
            </a:r>
          </a:p>
        </p:txBody>
      </p:sp>
      <p:sp>
        <p:nvSpPr>
          <p:cNvPr id="10" name="Baseline decision order"/>
          <p:cNvSpPr/>
          <p:nvPr/>
        </p:nvSpPr>
        <p:spPr>
          <a:xfrm>
            <a:off x="7626096" y="1609344"/>
            <a:ext cx="3822191" cy="2798064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Baseline decision order heading"/>
          <p:cNvSpPr txBox="1"/>
          <p:nvPr/>
        </p:nvSpPr>
        <p:spPr>
          <a:xfrm>
            <a:off x="7754112" y="1682496"/>
            <a:ext cx="3566159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判斷順序</a:t>
            </a:r>
          </a:p>
        </p:txBody>
      </p:sp>
      <p:sp>
        <p:nvSpPr>
          <p:cNvPr id="12" name="Baseline decision order body"/>
          <p:cNvSpPr txBox="1"/>
          <p:nvPr/>
        </p:nvSpPr>
        <p:spPr>
          <a:xfrm>
            <a:off x="7763256" y="2103120"/>
            <a:ext cx="3547872" cy="22128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窗口關閉 → 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急件距限內 → 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間隔未到 → 休息動作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品質可送 → 批次或單筆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其餘 → 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3" name="Baseline margin meaning"/>
          <p:cNvSpPr/>
          <p:nvPr/>
        </p:nvSpPr>
        <p:spPr>
          <a:xfrm>
            <a:off x="877824" y="4590288"/>
            <a:ext cx="10387584" cy="56692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20 秒的意思｜剩餘時間 ≤ 20 秒才進入急件分支；它優先於 pacing 與 batch，但仍受更前面的窗口判斷約束。</a:t>
            </a:r>
          </a:p>
        </p:txBody>
      </p:sp>
      <p:sp>
        <p:nvSpPr>
          <p:cNvPr id="14" name="Baseline constant definition"/>
          <p:cNvSpPr/>
          <p:nvPr/>
        </p:nvSpPr>
        <p:spPr>
          <a:xfrm>
            <a:off x="749808" y="5248656"/>
            <a:ext cx="10698480" cy="694944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｜急件距限門檻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 Lab C marked block；單位 s；20 是原始門檻；值越小越晚出手，值越大越早出手。數值由 policy 影響 action timing，不直接寫入 endpoint J。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第一輪操作：基準 20，再執行候選 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先建立基準，再完成唯一修改後執行候選；兩次都保存配對結果。</a:t>
            </a:r>
          </a:p>
        </p:txBody>
      </p:sp>
      <p:sp>
        <p:nvSpPr>
          <p:cNvPr id="6" name="Baseline exact command"/>
          <p:cNvSpPr/>
          <p:nvPr/>
        </p:nvSpPr>
        <p:spPr>
          <a:xfrm>
            <a:off x="713232" y="1499616"/>
            <a:ext cx="5431536" cy="257860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Baseline exact command heading"/>
          <p:cNvSpPr txBox="1"/>
          <p:nvPr/>
        </p:nvSpPr>
        <p:spPr>
          <a:xfrm>
            <a:off x="841248" y="1572768"/>
            <a:ext cx="5175504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基準組｜baseline 20</a:t>
            </a:r>
          </a:p>
        </p:txBody>
      </p:sp>
      <p:sp>
        <p:nvSpPr>
          <p:cNvPr id="8" name="Baseline exact command body"/>
          <p:cNvSpPr txBox="1"/>
          <p:nvPr/>
        </p:nvSpPr>
        <p:spPr>
          <a:xfrm>
            <a:off x="850392" y="1993391"/>
            <a:ext cx="5157216" cy="1993391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Linux／macOS／WSL：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run --lab C --case baseline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Windows PowerShell：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.\course.cmd run --lab C --case baseline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Windows Command Prompt：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course.cmd run --lab C --case baseline</a:t>
            </a:r>
          </a:p>
        </p:txBody>
      </p:sp>
      <p:cxnSp>
        <p:nvCxnSpPr>
          <p:cNvPr id="9" name="Baseline to candidate"/>
          <p:cNvCxnSpPr/>
          <p:nvPr/>
        </p:nvCxnSpPr>
        <p:spPr>
          <a:xfrm>
            <a:off x="5961888" y="2761488"/>
            <a:ext cx="274319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ndidate exact command"/>
          <p:cNvSpPr/>
          <p:nvPr/>
        </p:nvSpPr>
        <p:spPr>
          <a:xfrm>
            <a:off x="6345936" y="1499616"/>
            <a:ext cx="5120640" cy="2578608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Candidate exact command heading"/>
          <p:cNvSpPr txBox="1"/>
          <p:nvPr/>
        </p:nvSpPr>
        <p:spPr>
          <a:xfrm>
            <a:off x="6473952" y="1572768"/>
            <a:ext cx="4864607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候選組｜candidate 5</a:t>
            </a:r>
          </a:p>
        </p:txBody>
      </p:sp>
      <p:sp>
        <p:nvSpPr>
          <p:cNvPr id="12" name="Candidate exact command body"/>
          <p:cNvSpPr txBox="1"/>
          <p:nvPr/>
        </p:nvSpPr>
        <p:spPr>
          <a:xfrm>
            <a:off x="6483096" y="1993391"/>
            <a:ext cx="4846320" cy="1993391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完成 20→5 與 prediction lock 後：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Linux／macOS／WSL：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run --lab C --case candidate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Windows PowerShell：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.\course.cmd run --lab C --case candidate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Windows Command Prompt：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course.cmd run --lab C --case candidate</a:t>
            </a:r>
          </a:p>
        </p:txBody>
      </p:sp>
      <p:sp>
        <p:nvSpPr>
          <p:cNvPr id="13" name="Run artifact reading"/>
          <p:cNvSpPr/>
          <p:nvPr/>
        </p:nvSpPr>
        <p:spPr>
          <a:xfrm>
            <a:off x="877824" y="4297680"/>
            <a:ext cx="10387584" cy="62179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收據與匯入｜每次 stdout 印出新的 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`result_path`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；同一 run 目錄保留 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`result.json`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+ 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`endpoint-replay.json`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，匯入時選 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`result.json`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4" name="Result path definition"/>
          <p:cNvSpPr/>
          <p:nvPr/>
        </p:nvSpPr>
        <p:spPr>
          <a:xfrm>
            <a:off x="749808" y="5010912"/>
            <a:ext cx="10698480" cy="749808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服務先讀｜欄位順序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先讀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，再讀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，接著用 replay 的 state／packet 解釋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；數值以本次 stdout path 為準，不猜檔名。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第一次修改：只把 20 改成 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只改一行：20→5；程式碼頁先說清楚值的意義，不混入命令。</a:t>
            </a:r>
          </a:p>
        </p:txBody>
      </p:sp>
      <p:sp>
        <p:nvSpPr>
          <p:cNvPr id="6" name="Candidate edit location"/>
          <p:cNvSpPr txBox="1"/>
          <p:nvPr/>
        </p:nvSpPr>
        <p:spPr>
          <a:xfrm>
            <a:off x="786384" y="1280160"/>
            <a:ext cx="539496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修改位置：</a:t>
            </a:r>
            <a:r>
              <a:rPr sz="18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／Lab C marked block</a:t>
            </a:r>
          </a:p>
        </p:txBody>
      </p:sp>
      <p:sp>
        <p:nvSpPr>
          <p:cNvPr id="7" name="Candidate before code"/>
          <p:cNvSpPr/>
          <p:nvPr/>
        </p:nvSpPr>
        <p:spPr>
          <a:xfrm>
            <a:off x="749808" y="1627632"/>
            <a:ext cx="5175504" cy="210312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Candidate before code highlighted editable line"/>
          <p:cNvSpPr/>
          <p:nvPr/>
        </p:nvSpPr>
        <p:spPr>
          <a:xfrm>
            <a:off x="896112" y="2029968"/>
            <a:ext cx="4882896" cy="335767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ndidate before code text"/>
          <p:cNvSpPr txBox="1"/>
          <p:nvPr/>
        </p:nvSpPr>
        <p:spPr>
          <a:xfrm>
            <a:off x="859536" y="1719072"/>
            <a:ext cx="4956048" cy="1938527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BATCH_SIZE = 3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 = 20</a:t>
            </a:r>
          </a:p>
        </p:txBody>
      </p:sp>
      <p:sp>
        <p:nvSpPr>
          <p:cNvPr id="10" name="Candidate after code"/>
          <p:cNvSpPr/>
          <p:nvPr/>
        </p:nvSpPr>
        <p:spPr>
          <a:xfrm>
            <a:off x="6272784" y="1627632"/>
            <a:ext cx="5175504" cy="210312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Candidate after code highlighted editable line"/>
          <p:cNvSpPr/>
          <p:nvPr/>
        </p:nvSpPr>
        <p:spPr>
          <a:xfrm>
            <a:off x="6419088" y="2029968"/>
            <a:ext cx="4882896" cy="335767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ndidate after code text"/>
          <p:cNvSpPr txBox="1"/>
          <p:nvPr/>
        </p:nvSpPr>
        <p:spPr>
          <a:xfrm>
            <a:off x="6382512" y="1719072"/>
            <a:ext cx="4956048" cy="1938527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BATCH_SIZE = 3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 = 5</a:t>
            </a:r>
          </a:p>
        </p:txBody>
      </p:sp>
      <p:sp>
        <p:nvSpPr>
          <p:cNvPr id="13" name="Candidate before meaning"/>
          <p:cNvSpPr txBox="1"/>
          <p:nvPr/>
        </p:nvSpPr>
        <p:spPr>
          <a:xfrm>
            <a:off x="896112" y="3840480"/>
            <a:ext cx="48828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修改前：20 秒內才走 </a:t>
            </a:r>
            <a:r>
              <a:rPr sz="21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</p:txBody>
      </p:sp>
      <p:sp>
        <p:nvSpPr>
          <p:cNvPr id="14" name="Candidate after meaning"/>
          <p:cNvSpPr txBox="1"/>
          <p:nvPr/>
        </p:nvSpPr>
        <p:spPr>
          <a:xfrm>
            <a:off x="6382512" y="3840480"/>
            <a:ext cx="48828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修改後：5 秒內才走 </a:t>
            </a:r>
            <a:r>
              <a:rPr sz="21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</p:txBody>
      </p:sp>
      <p:sp>
        <p:nvSpPr>
          <p:cNvPr id="15" name="Edit why"/>
          <p:cNvSpPr/>
          <p:nvPr/>
        </p:nvSpPr>
        <p:spPr>
          <a:xfrm>
            <a:off x="877824" y="4370832"/>
            <a:ext cx="10387584" cy="60350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機制｜門檻變小，急件分支要等到期限更近才返回；因此 normal pacing／batch 可能多等一段，delivery／deadline 需由結果驗證。</a:t>
            </a:r>
          </a:p>
        </p:txBody>
      </p:sp>
      <p:sp>
        <p:nvSpPr>
          <p:cNvPr id="16" name="Edit boundary field"/>
          <p:cNvSpPr/>
          <p:nvPr/>
        </p:nvSpPr>
        <p:spPr>
          <a:xfrm>
            <a:off x="749808" y="5065776"/>
            <a:ext cx="10698480" cy="694944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不變範圍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BATCH_SIZE = 3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、Lab A／B blocks、runner、scenario、schema、其他常數／函式／檔案保持不變；這頁唯一高亮的是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的新值 5。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候選執行前：先鎖定可反駁預測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先寫下可被資料推翻的預測：5 秒可能省電，也可能誤期。</a:t>
            </a:r>
          </a:p>
        </p:txBody>
      </p:sp>
      <p:sp>
        <p:nvSpPr>
          <p:cNvPr id="6" name="Prediction field"/>
          <p:cNvSpPr/>
          <p:nvPr/>
        </p:nvSpPr>
        <p:spPr>
          <a:xfrm>
            <a:off x="768096" y="1591056"/>
            <a:ext cx="2432304" cy="217627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Prediction field heading"/>
          <p:cNvSpPr txBox="1"/>
          <p:nvPr/>
        </p:nvSpPr>
        <p:spPr>
          <a:xfrm>
            <a:off x="896112" y="1664208"/>
            <a:ext cx="217627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距限｜due</a:t>
            </a:r>
          </a:p>
        </p:txBody>
      </p:sp>
      <p:sp>
        <p:nvSpPr>
          <p:cNvPr id="8" name="Prediction field body"/>
          <p:cNvSpPr txBox="1"/>
          <p:nvPr/>
        </p:nvSpPr>
        <p:spPr>
          <a:xfrm>
            <a:off x="905256" y="2084832"/>
            <a:ext cx="2157984" cy="159105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urgent_due_in_s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單位 s；越小越急</a:t>
            </a:r>
          </a:p>
        </p:txBody>
      </p:sp>
      <p:sp>
        <p:nvSpPr>
          <p:cNvPr id="9" name="Prediction field"/>
          <p:cNvSpPr/>
          <p:nvPr/>
        </p:nvSpPr>
        <p:spPr>
          <a:xfrm>
            <a:off x="3529584" y="1591056"/>
            <a:ext cx="2432304" cy="217627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Prediction field heading"/>
          <p:cNvSpPr txBox="1"/>
          <p:nvPr/>
        </p:nvSpPr>
        <p:spPr>
          <a:xfrm>
            <a:off x="3657600" y="1664208"/>
            <a:ext cx="217627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佇列｜queue</a:t>
            </a:r>
          </a:p>
        </p:txBody>
      </p:sp>
      <p:sp>
        <p:nvSpPr>
          <p:cNvPr id="11" name="Prediction field body"/>
          <p:cNvSpPr txBox="1"/>
          <p:nvPr/>
        </p:nvSpPr>
        <p:spPr>
          <a:xfrm>
            <a:off x="3666744" y="2084832"/>
            <a:ext cx="2157984" cy="159105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queue_size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單位 count；越高壓力越大</a:t>
            </a:r>
          </a:p>
        </p:txBody>
      </p:sp>
      <p:sp>
        <p:nvSpPr>
          <p:cNvPr id="12" name="Prediction field"/>
          <p:cNvSpPr/>
          <p:nvPr/>
        </p:nvSpPr>
        <p:spPr>
          <a:xfrm>
            <a:off x="6291072" y="1591056"/>
            <a:ext cx="2432304" cy="217627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Prediction field heading"/>
          <p:cNvSpPr txBox="1"/>
          <p:nvPr/>
        </p:nvSpPr>
        <p:spPr>
          <a:xfrm>
            <a:off x="6419088" y="1664208"/>
            <a:ext cx="217627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服務／期限</a:t>
            </a:r>
          </a:p>
        </p:txBody>
      </p:sp>
      <p:sp>
        <p:nvSpPr>
          <p:cNvPr id="14" name="Prediction field body"/>
          <p:cNvSpPr txBox="1"/>
          <p:nvPr/>
        </p:nvSpPr>
        <p:spPr>
          <a:xfrm>
            <a:off x="6428232" y="2084832"/>
            <a:ext cx="2157984" cy="159105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deadline_pass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FAIL 先於 J</a:t>
            </a:r>
          </a:p>
        </p:txBody>
      </p:sp>
      <p:sp>
        <p:nvSpPr>
          <p:cNvPr id="15" name="Prediction field"/>
          <p:cNvSpPr/>
          <p:nvPr/>
        </p:nvSpPr>
        <p:spPr>
          <a:xfrm>
            <a:off x="9052560" y="1591056"/>
            <a:ext cx="2432304" cy="217627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Prediction field heading"/>
          <p:cNvSpPr txBox="1"/>
          <p:nvPr/>
        </p:nvSpPr>
        <p:spPr>
          <a:xfrm>
            <a:off x="9180576" y="1664208"/>
            <a:ext cx="217627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端點能量｜J</a:t>
            </a:r>
          </a:p>
        </p:txBody>
      </p:sp>
      <p:sp>
        <p:nvSpPr>
          <p:cNvPr id="17" name="Prediction field body"/>
          <p:cNvSpPr txBox="1"/>
          <p:nvPr/>
        </p:nvSpPr>
        <p:spPr>
          <a:xfrm>
            <a:off x="9189720" y="2084832"/>
            <a:ext cx="2157984" cy="159105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單位 J；低只代表耗能較少</a:t>
            </a:r>
          </a:p>
        </p:txBody>
      </p:sp>
      <p:sp>
        <p:nvSpPr>
          <p:cNvPr id="18" name="Prediction sentence"/>
          <p:cNvSpPr/>
          <p:nvPr/>
        </p:nvSpPr>
        <p:spPr>
          <a:xfrm>
            <a:off x="877824" y="4224528"/>
            <a:ext cx="10387584" cy="621792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預測句｜較晚急件介入可能減少早期 wake／TX；delivery 或 deadline FAIL 即推翻純省能量說法。</a:t>
            </a:r>
          </a:p>
        </p:txBody>
      </p:sp>
      <p:sp>
        <p:nvSpPr>
          <p:cNvPr id="19" name="Prediction falsifier"/>
          <p:cNvSpPr/>
          <p:nvPr/>
        </p:nvSpPr>
        <p:spPr>
          <a:xfrm>
            <a:off x="749808" y="4882896"/>
            <a:ext cx="10698480" cy="914400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證據順序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 observation／result summary／endpoint ledger；先讀服務／期限，再回到 packet 與 state 解釋 J。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urgent_due_in_s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越小越急；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越低只代表耗能較少，不能覆蓋 FAIL。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候選結果怎麼讀：先匯入，再判服務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先判服務是否完成，再看端點用了多少能量。</a:t>
            </a:r>
          </a:p>
        </p:txBody>
      </p:sp>
      <p:sp>
        <p:nvSpPr>
          <p:cNvPr id="6" name="Baseline result"/>
          <p:cNvSpPr/>
          <p:nvPr/>
        </p:nvSpPr>
        <p:spPr>
          <a:xfrm>
            <a:off x="768096" y="1609344"/>
            <a:ext cx="5084064" cy="2340864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Baseline result heading"/>
          <p:cNvSpPr txBox="1"/>
          <p:nvPr/>
        </p:nvSpPr>
        <p:spPr>
          <a:xfrm>
            <a:off x="896112" y="1682496"/>
            <a:ext cx="4828031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基準組｜margin 20</a:t>
            </a:r>
          </a:p>
        </p:txBody>
      </p:sp>
      <p:sp>
        <p:nvSpPr>
          <p:cNvPr id="8" name="Baseline result body"/>
          <p:cNvSpPr txBox="1"/>
          <p:nvPr/>
        </p:nvSpPr>
        <p:spPr>
          <a:xfrm>
            <a:off x="905256" y="2103120"/>
            <a:ext cx="4809744" cy="1755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服務／期限：PASS／PASS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送達封包：4／4；過期：0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端點能量：10.66 J</a:t>
            </a:r>
          </a:p>
        </p:txBody>
      </p:sp>
      <p:cxnSp>
        <p:nvCxnSpPr>
          <p:cNvPr id="9" name="Gate comparison connector"/>
          <p:cNvCxnSpPr/>
          <p:nvPr/>
        </p:nvCxnSpPr>
        <p:spPr>
          <a:xfrm>
            <a:off x="5998464" y="2779776"/>
            <a:ext cx="274319" cy="0"/>
          </a:xfrm>
          <a:prstGeom prst="line">
            <a:avLst/>
          </a:prstGeom>
          <a:ln w="25400">
            <a:solidFill>
              <a:srgbClr val="99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ndidate result"/>
          <p:cNvSpPr/>
          <p:nvPr/>
        </p:nvSpPr>
        <p:spPr>
          <a:xfrm>
            <a:off x="6364224" y="1609344"/>
            <a:ext cx="5084064" cy="2340864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Candidate result heading"/>
          <p:cNvSpPr txBox="1"/>
          <p:nvPr/>
        </p:nvSpPr>
        <p:spPr>
          <a:xfrm>
            <a:off x="6492240" y="1682496"/>
            <a:ext cx="4828031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修改組｜margin 5</a:t>
            </a:r>
          </a:p>
        </p:txBody>
      </p:sp>
      <p:sp>
        <p:nvSpPr>
          <p:cNvPr id="12" name="Candidate result body"/>
          <p:cNvSpPr txBox="1"/>
          <p:nvPr/>
        </p:nvSpPr>
        <p:spPr>
          <a:xfrm>
            <a:off x="6501384" y="2103120"/>
            <a:ext cx="4809744" cy="1755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服務／期限：FAIL／FAIL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送達封包：3／4；過期：1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端點能量：9.74 J（少 0.92 J）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低 J 仍不能稱成功</a:t>
            </a:r>
          </a:p>
        </p:txBody>
      </p:sp>
      <p:sp>
        <p:nvSpPr>
          <p:cNvPr id="13" name="Candidate causal sentence"/>
          <p:cNvSpPr/>
          <p:nvPr/>
        </p:nvSpPr>
        <p:spPr>
          <a:xfrm>
            <a:off x="877824" y="4242816"/>
            <a:ext cx="10387584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因果解讀｜candidate 少用 0.92 J 卻只送達 3／4 且兩個 gate FAIL；低 J 不改寫為服務成功。</a:t>
            </a:r>
          </a:p>
        </p:txBody>
      </p:sp>
      <p:sp>
        <p:nvSpPr>
          <p:cNvPr id="14" name="Fixed comparison boundary"/>
          <p:cNvSpPr/>
          <p:nvPr/>
        </p:nvSpPr>
        <p:spPr>
          <a:xfrm>
            <a:off x="749808" y="4882896"/>
            <a:ext cx="10698480" cy="950976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欄位讀法｜來源與單位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：布林 gate，PASS 才往下讀；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delivered_packets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expired_packets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：packet count，先判交付；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：replay／ledger 的 J，低值不能覆蓋 FAIL。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第二次修改：只把 5 改成 30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只改一行：5→30；較早介入的理由與代價分開說明。</a:t>
            </a:r>
          </a:p>
        </p:txBody>
      </p:sp>
      <p:sp>
        <p:nvSpPr>
          <p:cNvPr id="6" name="Revision edit location"/>
          <p:cNvSpPr txBox="1"/>
          <p:nvPr/>
        </p:nvSpPr>
        <p:spPr>
          <a:xfrm>
            <a:off x="786384" y="1280160"/>
            <a:ext cx="539496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修改位置：</a:t>
            </a:r>
            <a:r>
              <a:rPr sz="18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／Lab C marked block</a:t>
            </a:r>
          </a:p>
        </p:txBody>
      </p:sp>
      <p:sp>
        <p:nvSpPr>
          <p:cNvPr id="7" name="Revision before code"/>
          <p:cNvSpPr/>
          <p:nvPr/>
        </p:nvSpPr>
        <p:spPr>
          <a:xfrm>
            <a:off x="749808" y="1627632"/>
            <a:ext cx="5175504" cy="210312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Revision before code highlighted editable line"/>
          <p:cNvSpPr/>
          <p:nvPr/>
        </p:nvSpPr>
        <p:spPr>
          <a:xfrm>
            <a:off x="896112" y="2029968"/>
            <a:ext cx="4882896" cy="335767"/>
          </a:xfrm>
          <a:prstGeom prst="roundRect">
            <a:avLst/>
          </a:prstGeom>
          <a:solidFill>
            <a:srgbClr val="F4EDF7"/>
          </a:solidFill>
          <a:ln w="6350">
            <a:solidFill>
              <a:srgbClr val="F4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vision before code text"/>
          <p:cNvSpPr txBox="1"/>
          <p:nvPr/>
        </p:nvSpPr>
        <p:spPr>
          <a:xfrm>
            <a:off x="859536" y="1719072"/>
            <a:ext cx="4956048" cy="1938527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BATCH_SIZE = 3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 = 5</a:t>
            </a:r>
          </a:p>
        </p:txBody>
      </p:sp>
      <p:sp>
        <p:nvSpPr>
          <p:cNvPr id="10" name="Revision after code"/>
          <p:cNvSpPr/>
          <p:nvPr/>
        </p:nvSpPr>
        <p:spPr>
          <a:xfrm>
            <a:off x="6272784" y="1627632"/>
            <a:ext cx="5175504" cy="210312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Revision after code highlighted editable line"/>
          <p:cNvSpPr/>
          <p:nvPr/>
        </p:nvSpPr>
        <p:spPr>
          <a:xfrm>
            <a:off x="6419088" y="2029968"/>
            <a:ext cx="4882896" cy="335767"/>
          </a:xfrm>
          <a:prstGeom prst="roundRect">
            <a:avLst/>
          </a:prstGeom>
          <a:solidFill>
            <a:srgbClr val="E8F7F4"/>
          </a:solidFill>
          <a:ln w="6350">
            <a:solidFill>
              <a:srgbClr val="E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vision after code text"/>
          <p:cNvSpPr txBox="1"/>
          <p:nvPr/>
        </p:nvSpPr>
        <p:spPr>
          <a:xfrm>
            <a:off x="6382512" y="1719072"/>
            <a:ext cx="4956048" cy="1938527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BATCH_SIZE = 3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 = 30</a:t>
            </a:r>
          </a:p>
        </p:txBody>
      </p:sp>
      <p:sp>
        <p:nvSpPr>
          <p:cNvPr id="13" name="Revision before meaning"/>
          <p:cNvSpPr txBox="1"/>
          <p:nvPr/>
        </p:nvSpPr>
        <p:spPr>
          <a:xfrm>
            <a:off x="896112" y="3840480"/>
            <a:ext cx="48828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修改前：5 秒內才走 </a:t>
            </a:r>
            <a:r>
              <a:rPr sz="21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</p:txBody>
      </p:sp>
      <p:sp>
        <p:nvSpPr>
          <p:cNvPr id="14" name="Revision after meaning"/>
          <p:cNvSpPr txBox="1"/>
          <p:nvPr/>
        </p:nvSpPr>
        <p:spPr>
          <a:xfrm>
            <a:off x="6382512" y="3840480"/>
            <a:ext cx="48828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修改後：30 秒內即可走 </a:t>
            </a:r>
            <a:r>
              <a:rPr sz="2100" b="1" i="1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</p:txBody>
      </p:sp>
      <p:sp>
        <p:nvSpPr>
          <p:cNvPr id="15" name="Revision why"/>
          <p:cNvSpPr/>
          <p:nvPr/>
        </p:nvSpPr>
        <p:spPr>
          <a:xfrm>
            <a:off x="877824" y="4370832"/>
            <a:ext cx="10387584" cy="60350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機制與取捨｜門檻變大，急件分支可較早返回；可能增加 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`WAKE`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`TX`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，也可能讓 required packet 在期限前完成。revision 只允許這一次。</a:t>
            </a:r>
          </a:p>
        </p:txBody>
      </p:sp>
      <p:sp>
        <p:nvSpPr>
          <p:cNvPr id="16" name="Revision boundary field"/>
          <p:cNvSpPr/>
          <p:nvPr/>
        </p:nvSpPr>
        <p:spPr>
          <a:xfrm>
            <a:off x="749808" y="5065776"/>
            <a:ext cx="10698480" cy="694944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不變範圍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BATCH_SIZE = 3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、Lab A／B blocks、runner、scenario、schema、其他常數／函式／檔案保持不變；這頁唯一高亮的是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的新值 30。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修訂執行前：把較早介入寫成取捨預測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先比兩種介入時機，再看服務與能量取捨。</a:t>
            </a:r>
          </a:p>
        </p:txBody>
      </p:sp>
      <p:sp>
        <p:nvSpPr>
          <p:cNvPr id="6" name="Late intervention timeline"/>
          <p:cNvSpPr/>
          <p:nvPr/>
        </p:nvSpPr>
        <p:spPr>
          <a:xfrm>
            <a:off x="768096" y="1609344"/>
            <a:ext cx="5084064" cy="2395728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Late intervention timeline heading"/>
          <p:cNvSpPr txBox="1"/>
          <p:nvPr/>
        </p:nvSpPr>
        <p:spPr>
          <a:xfrm>
            <a:off x="896112" y="1682496"/>
            <a:ext cx="4828031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門檻 5｜較晚介入</a:t>
            </a:r>
          </a:p>
        </p:txBody>
      </p:sp>
      <p:sp>
        <p:nvSpPr>
          <p:cNvPr id="8" name="Late intervention timeline body"/>
          <p:cNvSpPr txBox="1"/>
          <p:nvPr/>
        </p:nvSpPr>
        <p:spPr>
          <a:xfrm>
            <a:off x="905256" y="2103120"/>
            <a:ext cx="4809744" cy="18105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批次 → 期限 → 急件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較少早期 wake／TX，但 delivery 可能受壓</a:t>
            </a:r>
          </a:p>
        </p:txBody>
      </p:sp>
      <p:cxnSp>
        <p:nvCxnSpPr>
          <p:cNvPr id="9" name="Intervention comparison"/>
          <p:cNvCxnSpPr/>
          <p:nvPr/>
        </p:nvCxnSpPr>
        <p:spPr>
          <a:xfrm>
            <a:off x="5998464" y="2788920"/>
            <a:ext cx="274319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arly intervention timeline"/>
          <p:cNvSpPr/>
          <p:nvPr/>
        </p:nvSpPr>
        <p:spPr>
          <a:xfrm>
            <a:off x="6364224" y="1609344"/>
            <a:ext cx="5084064" cy="239572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Early intervention timeline heading"/>
          <p:cNvSpPr txBox="1"/>
          <p:nvPr/>
        </p:nvSpPr>
        <p:spPr>
          <a:xfrm>
            <a:off x="6492240" y="1682496"/>
            <a:ext cx="4828031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門檻 30｜較早介入</a:t>
            </a:r>
          </a:p>
        </p:txBody>
      </p:sp>
      <p:sp>
        <p:nvSpPr>
          <p:cNvPr id="12" name="Early intervention timeline body"/>
          <p:cNvSpPr txBox="1"/>
          <p:nvPr/>
        </p:nvSpPr>
        <p:spPr>
          <a:xfrm>
            <a:off x="6501384" y="2103120"/>
            <a:ext cx="4809744" cy="18105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急件 → wake／TX → delivery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較可能保住期限，也可能增加 energy cost</a:t>
            </a:r>
          </a:p>
        </p:txBody>
      </p:sp>
      <p:sp>
        <p:nvSpPr>
          <p:cNvPr id="13" name="Revision prediction"/>
          <p:cNvSpPr/>
          <p:nvPr/>
        </p:nvSpPr>
        <p:spPr>
          <a:xfrm>
            <a:off x="877824" y="4261104"/>
            <a:ext cx="10387584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條件式預測｜只有 delivery、deadline、state ledger 與 endpoint J 同時對上，取捨敘述才成立。</a:t>
            </a:r>
          </a:p>
        </p:txBody>
      </p:sp>
      <p:sp>
        <p:nvSpPr>
          <p:cNvPr id="14" name="Revision evidence fields"/>
          <p:cNvSpPr/>
          <p:nvPr/>
        </p:nvSpPr>
        <p:spPr>
          <a:xfrm>
            <a:off x="749808" y="4901184"/>
            <a:ext cx="10698480" cy="877824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證據欄位｜來源與高低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delivery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：result 的布林結果，PASS 才算完成；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retry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expiry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：packet events 的 count，越高表示重試／過期越多；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：ledger 的 J，越低耗能較少但不能覆蓋 FAIL。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第二輪操作：revision 30 freeze，再跑 surprise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 freeze revision 30，再以同一份 policy 執行 surprise；兩步之間不再改碼。</a:t>
            </a:r>
          </a:p>
        </p:txBody>
      </p:sp>
      <p:sp>
        <p:nvSpPr>
          <p:cNvPr id="6" name="Revision exact freeze command"/>
          <p:cNvSpPr/>
          <p:nvPr/>
        </p:nvSpPr>
        <p:spPr>
          <a:xfrm>
            <a:off x="713232" y="1499616"/>
            <a:ext cx="5431536" cy="257860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Revision exact freeze command heading"/>
          <p:cNvSpPr txBox="1"/>
          <p:nvPr/>
        </p:nvSpPr>
        <p:spPr>
          <a:xfrm>
            <a:off x="841248" y="1572768"/>
            <a:ext cx="5175504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修訂組｜revision 30</a:t>
            </a:r>
          </a:p>
        </p:txBody>
      </p:sp>
      <p:sp>
        <p:nvSpPr>
          <p:cNvPr id="8" name="Revision exact freeze command body"/>
          <p:cNvSpPr txBox="1"/>
          <p:nvPr/>
        </p:nvSpPr>
        <p:spPr>
          <a:xfrm>
            <a:off x="850392" y="1993391"/>
            <a:ext cx="5157216" cy="1993391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Linux／macOS／WSL：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run --lab C --case revision --freeze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Windows PowerShell：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.\course.cmd run --lab C --case revision --freeze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Windows Command Prompt：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course.cmd run --lab C --case revision --freeze</a:t>
            </a:r>
          </a:p>
        </p:txBody>
      </p:sp>
      <p:cxnSp>
        <p:nvCxnSpPr>
          <p:cNvPr id="9" name="Freeze to surprise connector"/>
          <p:cNvCxnSpPr/>
          <p:nvPr/>
        </p:nvCxnSpPr>
        <p:spPr>
          <a:xfrm>
            <a:off x="5961888" y="2761488"/>
            <a:ext cx="274319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urprise exact command"/>
          <p:cNvSpPr/>
          <p:nvPr/>
        </p:nvSpPr>
        <p:spPr>
          <a:xfrm>
            <a:off x="6345936" y="1499616"/>
            <a:ext cx="5120640" cy="2578608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Surprise exact command heading"/>
          <p:cNvSpPr txBox="1"/>
          <p:nvPr/>
        </p:nvSpPr>
        <p:spPr>
          <a:xfrm>
            <a:off x="6473952" y="1572768"/>
            <a:ext cx="4864607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保留組｜surprise</a:t>
            </a:r>
          </a:p>
        </p:txBody>
      </p:sp>
      <p:sp>
        <p:nvSpPr>
          <p:cNvPr id="12" name="Surprise exact command body"/>
          <p:cNvSpPr txBox="1"/>
          <p:nvPr/>
        </p:nvSpPr>
        <p:spPr>
          <a:xfrm>
            <a:off x="6483096" y="1993391"/>
            <a:ext cx="4846320" cy="1993391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沿用 frozen policy，沒有新 edit：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Linux／macOS／WSL：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run --lab C --case surprise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Windows PowerShell：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.\course.cmd run --lab C --case surprise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Windows Command Prompt：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course.cmd run --lab C --case surprise</a:t>
            </a:r>
          </a:p>
        </p:txBody>
      </p:sp>
      <p:sp>
        <p:nvSpPr>
          <p:cNvPr id="13" name="Freeze boundary"/>
          <p:cNvSpPr/>
          <p:nvPr/>
        </p:nvSpPr>
        <p:spPr>
          <a:xfrm>
            <a:off x="877824" y="4297680"/>
            <a:ext cx="10387584" cy="621792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收據與限制｜兩次 stdout 都提供新的 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`result_path`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；revision 保留 freeze receipt，surprise 只讀 matching evidence，failure 只縮小 claim。</a:t>
            </a:r>
          </a:p>
        </p:txBody>
      </p:sp>
      <p:sp>
        <p:nvSpPr>
          <p:cNvPr id="14" name="Freeze definition"/>
          <p:cNvSpPr/>
          <p:nvPr/>
        </p:nvSpPr>
        <p:spPr>
          <a:xfrm>
            <a:off x="749808" y="5010912"/>
            <a:ext cx="10698480" cy="749808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freeze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｜凍結收據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 runner receipt；作用 綁定 policy bytes 與 case；判讀 identity 不符即停止。每個 run 的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必須成對。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20／5／30：沿同一條時間線讀三筆結果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20／5／30 沿同一條時間線比較：先分開機制，再讀觀測結果。</a:t>
            </a:r>
          </a:p>
        </p:txBody>
      </p:sp>
      <p:sp>
        <p:nvSpPr>
          <p:cNvPr id="6" name="Three-way timeline stage"/>
          <p:cNvSpPr/>
          <p:nvPr/>
        </p:nvSpPr>
        <p:spPr>
          <a:xfrm>
            <a:off x="658368" y="1481328"/>
            <a:ext cx="3346704" cy="2011680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hree-way timeline stage heading"/>
          <p:cNvSpPr txBox="1"/>
          <p:nvPr/>
        </p:nvSpPr>
        <p:spPr>
          <a:xfrm>
            <a:off x="786384" y="1554480"/>
            <a:ext cx="309067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基準｜20</a:t>
            </a:r>
          </a:p>
        </p:txBody>
      </p:sp>
      <p:sp>
        <p:nvSpPr>
          <p:cNvPr id="8" name="Three-way timeline stage body"/>
          <p:cNvSpPr txBox="1"/>
          <p:nvPr/>
        </p:nvSpPr>
        <p:spPr>
          <a:xfrm>
            <a:off x="795528" y="1975104"/>
            <a:ext cx="3072384" cy="14264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機制：較早允許急件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觀測：PASS／PASS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4／4；expired 0；10.66 J</a:t>
            </a:r>
          </a:p>
        </p:txBody>
      </p:sp>
      <p:sp>
        <p:nvSpPr>
          <p:cNvPr id="9" name="Three-way timeline stage"/>
          <p:cNvSpPr/>
          <p:nvPr/>
        </p:nvSpPr>
        <p:spPr>
          <a:xfrm>
            <a:off x="4315968" y="1481328"/>
            <a:ext cx="3346704" cy="2011680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hree-way timeline stage heading"/>
          <p:cNvSpPr txBox="1"/>
          <p:nvPr/>
        </p:nvSpPr>
        <p:spPr>
          <a:xfrm>
            <a:off x="4443983" y="1554480"/>
            <a:ext cx="309067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候選｜5</a:t>
            </a:r>
          </a:p>
        </p:txBody>
      </p:sp>
      <p:sp>
        <p:nvSpPr>
          <p:cNvPr id="11" name="Three-way timeline stage body"/>
          <p:cNvSpPr txBox="1"/>
          <p:nvPr/>
        </p:nvSpPr>
        <p:spPr>
          <a:xfrm>
            <a:off x="4453128" y="1975104"/>
            <a:ext cx="3072384" cy="14264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機制：較晚允許急件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觀測：FAIL／FAIL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3／4；expired 1；9.74 J</a:t>
            </a:r>
          </a:p>
        </p:txBody>
      </p:sp>
      <p:sp>
        <p:nvSpPr>
          <p:cNvPr id="12" name="Three-way timeline stage"/>
          <p:cNvSpPr/>
          <p:nvPr/>
        </p:nvSpPr>
        <p:spPr>
          <a:xfrm>
            <a:off x="7973568" y="1481328"/>
            <a:ext cx="3346704" cy="2011680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hree-way timeline stage heading"/>
          <p:cNvSpPr txBox="1"/>
          <p:nvPr/>
        </p:nvSpPr>
        <p:spPr>
          <a:xfrm>
            <a:off x="8101584" y="1554480"/>
            <a:ext cx="309067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修訂｜30</a:t>
            </a:r>
          </a:p>
        </p:txBody>
      </p:sp>
      <p:sp>
        <p:nvSpPr>
          <p:cNvPr id="14" name="Three-way timeline stage body"/>
          <p:cNvSpPr txBox="1"/>
          <p:nvPr/>
        </p:nvSpPr>
        <p:spPr>
          <a:xfrm>
            <a:off x="8110728" y="1975104"/>
            <a:ext cx="3072384" cy="14264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機制：更早允許急件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觀測：PASS／PASS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4／4；expired 0；10.66 J</a:t>
            </a:r>
          </a:p>
        </p:txBody>
      </p:sp>
      <p:cxnSp>
        <p:nvCxnSpPr>
          <p:cNvPr id="15" name="Three-way time axis"/>
          <p:cNvCxnSpPr/>
          <p:nvPr/>
        </p:nvCxnSpPr>
        <p:spPr>
          <a:xfrm>
            <a:off x="1060704" y="3785615"/>
            <a:ext cx="9985248" cy="0"/>
          </a:xfrm>
          <a:prstGeom prst="line">
            <a:avLst/>
          </a:prstGeom>
          <a:ln w="3048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hree-way time marker"/>
          <p:cNvSpPr/>
          <p:nvPr/>
        </p:nvSpPr>
        <p:spPr>
          <a:xfrm>
            <a:off x="1243584" y="3584448"/>
            <a:ext cx="402336" cy="402336"/>
          </a:xfrm>
          <a:prstGeom prst="ellipse">
            <a:avLst/>
          </a:prstGeom>
          <a:solidFill>
            <a:srgbClr val="4967C2"/>
          </a:solidFill>
          <a:ln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hree-way time label"/>
          <p:cNvSpPr txBox="1"/>
          <p:nvPr/>
        </p:nvSpPr>
        <p:spPr>
          <a:xfrm>
            <a:off x="914400" y="3968496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20｜primary</a:t>
            </a:r>
          </a:p>
        </p:txBody>
      </p:sp>
      <p:sp>
        <p:nvSpPr>
          <p:cNvPr id="18" name="Three-way time marker"/>
          <p:cNvSpPr/>
          <p:nvPr/>
        </p:nvSpPr>
        <p:spPr>
          <a:xfrm>
            <a:off x="4901184" y="3584448"/>
            <a:ext cx="402336" cy="402336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hree-way time label"/>
          <p:cNvSpPr txBox="1"/>
          <p:nvPr/>
        </p:nvSpPr>
        <p:spPr>
          <a:xfrm>
            <a:off x="4572000" y="3968496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5｜late</a:t>
            </a:r>
          </a:p>
        </p:txBody>
      </p:sp>
      <p:sp>
        <p:nvSpPr>
          <p:cNvPr id="20" name="Three-way time marker"/>
          <p:cNvSpPr/>
          <p:nvPr/>
        </p:nvSpPr>
        <p:spPr>
          <a:xfrm>
            <a:off x="8558784" y="3584448"/>
            <a:ext cx="402336" cy="40233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hree-way time label"/>
          <p:cNvSpPr txBox="1"/>
          <p:nvPr/>
        </p:nvSpPr>
        <p:spPr>
          <a:xfrm>
            <a:off x="8229600" y="3968496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30｜early</a:t>
            </a:r>
          </a:p>
        </p:txBody>
      </p:sp>
      <p:sp>
        <p:nvSpPr>
          <p:cNvPr id="22" name="Three-way causal sentence"/>
          <p:cNvSpPr/>
          <p:nvPr/>
        </p:nvSpPr>
        <p:spPr>
          <a:xfrm>
            <a:off x="877824" y="4352544"/>
            <a:ext cx="10387584" cy="621792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Observed result｜5 少交付且兩個 gate FAIL；20 與 30 在固定 primary case 都在剩餘 10 秒時觸發，可能形成相同結果（null contrast）。</a:t>
            </a:r>
          </a:p>
        </p:txBody>
      </p:sp>
      <p:sp>
        <p:nvSpPr>
          <p:cNvPr id="23" name="Three-way evidence source"/>
          <p:cNvSpPr/>
          <p:nvPr/>
        </p:nvSpPr>
        <p:spPr>
          <a:xfrm>
            <a:off x="749808" y="5029200"/>
            <a:ext cx="10698480" cy="804672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機制 ≠ 觀測｜來源與判讀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J 的差異回到 action、WAKE／TX／RX、retry、delivery、expiry；數值取自 stdout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配對檔。20／30 相同不代表 30 永遠最佳。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Surprise：沿用 30，保留失敗邊界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另一個情境沿用原程式；低端點能量不代表服務成功。</a:t>
            </a:r>
          </a:p>
        </p:txBody>
      </p:sp>
      <p:sp>
        <p:nvSpPr>
          <p:cNvPr id="6" name="Frozen policy card"/>
          <p:cNvSpPr/>
          <p:nvPr/>
        </p:nvSpPr>
        <p:spPr>
          <a:xfrm>
            <a:off x="768096" y="1609344"/>
            <a:ext cx="5084064" cy="2468880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Frozen policy card heading"/>
          <p:cNvSpPr txBox="1"/>
          <p:nvPr/>
        </p:nvSpPr>
        <p:spPr>
          <a:xfrm>
            <a:off x="896112" y="1682496"/>
            <a:ext cx="4828031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凍結修訂｜revision</a:t>
            </a:r>
          </a:p>
        </p:txBody>
      </p:sp>
      <p:sp>
        <p:nvSpPr>
          <p:cNvPr id="8" name="Frozen policy card body"/>
          <p:cNvSpPr txBox="1"/>
          <p:nvPr/>
        </p:nvSpPr>
        <p:spPr>
          <a:xfrm>
            <a:off x="905256" y="2103120"/>
            <a:ext cx="4809744" cy="18836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 = 30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程式內容不變，沿用原條件</a:t>
            </a:r>
          </a:p>
        </p:txBody>
      </p:sp>
      <p:cxnSp>
        <p:nvCxnSpPr>
          <p:cNvPr id="9" name="Withheld boundary connector"/>
          <p:cNvCxnSpPr/>
          <p:nvPr/>
        </p:nvCxnSpPr>
        <p:spPr>
          <a:xfrm>
            <a:off x="5998464" y="2834640"/>
            <a:ext cx="274319" cy="0"/>
          </a:xfrm>
          <a:prstGeom prst="line">
            <a:avLst/>
          </a:prstGeom>
          <a:ln w="25400">
            <a:solidFill>
              <a:srgbClr val="99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urprise evidence card"/>
          <p:cNvSpPr/>
          <p:nvPr/>
        </p:nvSpPr>
        <p:spPr>
          <a:xfrm>
            <a:off x="6364224" y="1609344"/>
            <a:ext cx="5084064" cy="2468880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Surprise evidence card heading"/>
          <p:cNvSpPr txBox="1"/>
          <p:nvPr/>
        </p:nvSpPr>
        <p:spPr>
          <a:xfrm>
            <a:off x="6492240" y="1682496"/>
            <a:ext cx="4828031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保留情境｜same policy</a:t>
            </a:r>
          </a:p>
        </p:txBody>
      </p:sp>
      <p:sp>
        <p:nvSpPr>
          <p:cNvPr id="12" name="Surprise evidence card body"/>
          <p:cNvSpPr txBox="1"/>
          <p:nvPr/>
        </p:nvSpPr>
        <p:spPr>
          <a:xfrm>
            <a:off x="6501384" y="2103120"/>
            <a:ext cx="4809744" cy="18836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服務／期限：FAIL／FAIL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送達：1／4；過期：3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retries：3；collisions：2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端點能量：5.41 J</a:t>
            </a:r>
          </a:p>
        </p:txBody>
      </p:sp>
      <p:sp>
        <p:nvSpPr>
          <p:cNvPr id="13" name="Withheld boundary sentence"/>
          <p:cNvSpPr/>
          <p:nvPr/>
        </p:nvSpPr>
        <p:spPr>
          <a:xfrm>
            <a:off x="877824" y="4261104"/>
            <a:ext cx="10387584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BOUNDARY READING｜surprise 低 J 仍是 failure；保存為 frozen policy 的適用邊界。</a:t>
            </a:r>
          </a:p>
        </p:txBody>
      </p:sp>
      <p:sp>
        <p:nvSpPr>
          <p:cNvPr id="14" name="Withheld evidence source"/>
          <p:cNvSpPr/>
          <p:nvPr/>
        </p:nvSpPr>
        <p:spPr>
          <a:xfrm>
            <a:off x="749808" y="4882896"/>
            <a:ext cx="10698480" cy="914400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來源範圍｜數值判讀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+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delivered_packets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是 1／4，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expired_packets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是 3，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retries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是 3，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collisions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是 2；endpoint J 低仍不等於成功。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C 結語：服務與期限先於端點 J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四道門依序檢查；最後才描述端點能量。</a:t>
            </a:r>
          </a:p>
        </p:txBody>
      </p:sp>
      <p:sp>
        <p:nvSpPr>
          <p:cNvPr id="6" name="Gate-first ladder"/>
          <p:cNvSpPr/>
          <p:nvPr/>
        </p:nvSpPr>
        <p:spPr>
          <a:xfrm>
            <a:off x="640080" y="1627632"/>
            <a:ext cx="2542032" cy="148132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Gate-first ladder heading"/>
          <p:cNvSpPr txBox="1"/>
          <p:nvPr/>
        </p:nvSpPr>
        <p:spPr>
          <a:xfrm>
            <a:off x="768096" y="1700784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1｜服務</a:t>
            </a:r>
          </a:p>
        </p:txBody>
      </p:sp>
      <p:sp>
        <p:nvSpPr>
          <p:cNvPr id="8" name="Gate-first ladder body"/>
          <p:cNvSpPr txBox="1"/>
          <p:nvPr/>
        </p:nvSpPr>
        <p:spPr>
          <a:xfrm>
            <a:off x="777240" y="2121408"/>
            <a:ext cx="2267712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service：是否完成</a:t>
            </a:r>
          </a:p>
        </p:txBody>
      </p:sp>
      <p:cxnSp>
        <p:nvCxnSpPr>
          <p:cNvPr id="9" name="Gate-first connector"/>
          <p:cNvCxnSpPr/>
          <p:nvPr/>
        </p:nvCxnSpPr>
        <p:spPr>
          <a:xfrm>
            <a:off x="3218687" y="2359152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Gate-first ladder"/>
          <p:cNvSpPr/>
          <p:nvPr/>
        </p:nvSpPr>
        <p:spPr>
          <a:xfrm>
            <a:off x="3493008" y="1627632"/>
            <a:ext cx="2542032" cy="1481328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Gate-first ladder heading"/>
          <p:cNvSpPr txBox="1"/>
          <p:nvPr/>
        </p:nvSpPr>
        <p:spPr>
          <a:xfrm>
            <a:off x="3621024" y="1700784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2｜期限</a:t>
            </a:r>
          </a:p>
        </p:txBody>
      </p:sp>
      <p:sp>
        <p:nvSpPr>
          <p:cNvPr id="12" name="Gate-first ladder body"/>
          <p:cNvSpPr txBox="1"/>
          <p:nvPr/>
        </p:nvSpPr>
        <p:spPr>
          <a:xfrm>
            <a:off x="3630168" y="2121408"/>
            <a:ext cx="2267712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deadline：是否達標</a:t>
            </a:r>
          </a:p>
        </p:txBody>
      </p:sp>
      <p:cxnSp>
        <p:nvCxnSpPr>
          <p:cNvPr id="13" name="Gate-first connector"/>
          <p:cNvCxnSpPr/>
          <p:nvPr/>
        </p:nvCxnSpPr>
        <p:spPr>
          <a:xfrm>
            <a:off x="6071616" y="2359152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Gate-first ladder"/>
          <p:cNvSpPr/>
          <p:nvPr/>
        </p:nvSpPr>
        <p:spPr>
          <a:xfrm>
            <a:off x="6345936" y="1627632"/>
            <a:ext cx="2542032" cy="148132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Gate-first ladder heading"/>
          <p:cNvSpPr txBox="1"/>
          <p:nvPr/>
        </p:nvSpPr>
        <p:spPr>
          <a:xfrm>
            <a:off x="6473952" y="1700784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3｜交付</a:t>
            </a:r>
          </a:p>
        </p:txBody>
      </p:sp>
      <p:sp>
        <p:nvSpPr>
          <p:cNvPr id="16" name="Gate-first ladder body"/>
          <p:cNvSpPr txBox="1"/>
          <p:nvPr/>
        </p:nvSpPr>
        <p:spPr>
          <a:xfrm>
            <a:off x="6483096" y="2121408"/>
            <a:ext cx="2267712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delivery：送達／過期</a:t>
            </a:r>
          </a:p>
        </p:txBody>
      </p:sp>
      <p:cxnSp>
        <p:nvCxnSpPr>
          <p:cNvPr id="17" name="Gate-first connector"/>
          <p:cNvCxnSpPr/>
          <p:nvPr/>
        </p:nvCxnSpPr>
        <p:spPr>
          <a:xfrm>
            <a:off x="8924544" y="2359152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Gate-first ladder"/>
          <p:cNvSpPr/>
          <p:nvPr/>
        </p:nvSpPr>
        <p:spPr>
          <a:xfrm>
            <a:off x="9198863" y="1627632"/>
            <a:ext cx="2542032" cy="148132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Gate-first ladder heading"/>
          <p:cNvSpPr txBox="1"/>
          <p:nvPr/>
        </p:nvSpPr>
        <p:spPr>
          <a:xfrm>
            <a:off x="9326880" y="1700784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4｜端點 J</a:t>
            </a:r>
          </a:p>
        </p:txBody>
      </p:sp>
      <p:sp>
        <p:nvSpPr>
          <p:cNvPr id="20" name="Gate-first ladder body"/>
          <p:cNvSpPr txBox="1"/>
          <p:nvPr/>
        </p:nvSpPr>
        <p:spPr>
          <a:xfrm>
            <a:off x="9336024" y="2121408"/>
            <a:ext cx="2267712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最後看能量</a:t>
            </a:r>
          </a:p>
        </p:txBody>
      </p:sp>
      <p:sp>
        <p:nvSpPr>
          <p:cNvPr id="21" name="Debrief conclusion"/>
          <p:cNvSpPr/>
          <p:nvPr/>
        </p:nvSpPr>
        <p:spPr>
          <a:xfrm>
            <a:off x="877824" y="3547872"/>
            <a:ext cx="10387584" cy="74980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結論｜margin 5 低 J 但 gate FAIL；margin 30 恢復固定條件 gate；surprise 暴露窗口限制。</a:t>
            </a:r>
          </a:p>
        </p:txBody>
      </p:sp>
      <p:sp>
        <p:nvSpPr>
          <p:cNvPr id="22" name="Claim ceiling"/>
          <p:cNvSpPr/>
          <p:nvPr/>
        </p:nvSpPr>
        <p:spPr>
          <a:xfrm>
            <a:off x="749808" y="4882896"/>
            <a:ext cx="10698480" cy="877824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主張邊界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SIMULATED TEACHING DATA；NOT LIVE；NOT MEASURED；NOT CANONICAL-PARITY-VERIFIED。低 J 不覆蓋服務 FAIL。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網站責任：匯入、重播、保存比較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本機先產生資料；網站只驗證、重播、保存比較。</a:t>
            </a:r>
          </a:p>
        </p:txBody>
      </p:sp>
      <p:sp>
        <p:nvSpPr>
          <p:cNvPr id="6" name="Website responsibility node"/>
          <p:cNvSpPr/>
          <p:nvPr/>
        </p:nvSpPr>
        <p:spPr>
          <a:xfrm>
            <a:off x="621792" y="1627632"/>
            <a:ext cx="2395728" cy="1792224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Website responsibility node heading"/>
          <p:cNvSpPr txBox="1"/>
          <p:nvPr/>
        </p:nvSpPr>
        <p:spPr>
          <a:xfrm>
            <a:off x="749808" y="1700784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本機 runner</a:t>
            </a:r>
          </a:p>
        </p:txBody>
      </p:sp>
      <p:sp>
        <p:nvSpPr>
          <p:cNvPr id="8" name="Website responsibility node body"/>
          <p:cNvSpPr txBox="1"/>
          <p:nvPr/>
        </p:nvSpPr>
        <p:spPr>
          <a:xfrm>
            <a:off x="758952" y="2121408"/>
            <a:ext cx="2121408" cy="1207007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</p:txBody>
      </p:sp>
      <p:cxnSp>
        <p:nvCxnSpPr>
          <p:cNvPr id="9" name="Website boundary connector"/>
          <p:cNvCxnSpPr/>
          <p:nvPr/>
        </p:nvCxnSpPr>
        <p:spPr>
          <a:xfrm>
            <a:off x="3072384" y="2523744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Website responsibility node"/>
          <p:cNvSpPr/>
          <p:nvPr/>
        </p:nvSpPr>
        <p:spPr>
          <a:xfrm>
            <a:off x="3474720" y="1627632"/>
            <a:ext cx="2395728" cy="1792224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Website responsibility node heading"/>
          <p:cNvSpPr txBox="1"/>
          <p:nvPr/>
        </p:nvSpPr>
        <p:spPr>
          <a:xfrm>
            <a:off x="3602736" y="1700784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匯入｜JSON</a:t>
            </a:r>
          </a:p>
        </p:txBody>
      </p:sp>
      <p:sp>
        <p:nvSpPr>
          <p:cNvPr id="12" name="Website responsibility node body"/>
          <p:cNvSpPr txBox="1"/>
          <p:nvPr/>
        </p:nvSpPr>
        <p:spPr>
          <a:xfrm>
            <a:off x="3611879" y="2121408"/>
            <a:ext cx="2121408" cy="1207007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schema／identity／units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不執行 Python</a:t>
            </a:r>
          </a:p>
        </p:txBody>
      </p:sp>
      <p:cxnSp>
        <p:nvCxnSpPr>
          <p:cNvPr id="13" name="Website boundary connector"/>
          <p:cNvCxnSpPr/>
          <p:nvPr/>
        </p:nvCxnSpPr>
        <p:spPr>
          <a:xfrm>
            <a:off x="5925312" y="2523744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Website responsibility node"/>
          <p:cNvSpPr/>
          <p:nvPr/>
        </p:nvSpPr>
        <p:spPr>
          <a:xfrm>
            <a:off x="6327648" y="1627632"/>
            <a:ext cx="2395728" cy="1792224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Website responsibility node heading"/>
          <p:cNvSpPr txBox="1"/>
          <p:nvPr/>
        </p:nvSpPr>
        <p:spPr>
          <a:xfrm>
            <a:off x="6455664" y="1700784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重播｜REPLAY</a:t>
            </a:r>
          </a:p>
        </p:txBody>
      </p:sp>
      <p:sp>
        <p:nvSpPr>
          <p:cNvPr id="16" name="Website responsibility node body"/>
          <p:cNvSpPr txBox="1"/>
          <p:nvPr/>
        </p:nvSpPr>
        <p:spPr>
          <a:xfrm>
            <a:off x="6464808" y="2121408"/>
            <a:ext cx="2121408" cy="1207007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queue／state／packet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不重跑 policy</a:t>
            </a:r>
          </a:p>
        </p:txBody>
      </p:sp>
      <p:cxnSp>
        <p:nvCxnSpPr>
          <p:cNvPr id="17" name="Website boundary connector"/>
          <p:cNvCxnSpPr/>
          <p:nvPr/>
        </p:nvCxnSpPr>
        <p:spPr>
          <a:xfrm>
            <a:off x="8778240" y="2523744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Website responsibility node"/>
          <p:cNvSpPr/>
          <p:nvPr/>
        </p:nvSpPr>
        <p:spPr>
          <a:xfrm>
            <a:off x="9180576" y="1627632"/>
            <a:ext cx="2395728" cy="1792224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Website responsibility node heading"/>
          <p:cNvSpPr txBox="1"/>
          <p:nvPr/>
        </p:nvSpPr>
        <p:spPr>
          <a:xfrm>
            <a:off x="9308592" y="1700784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比較｜表單</a:t>
            </a:r>
          </a:p>
        </p:txBody>
      </p:sp>
      <p:sp>
        <p:nvSpPr>
          <p:cNvPr id="20" name="Website responsibility node body"/>
          <p:cNvSpPr txBox="1"/>
          <p:nvPr/>
        </p:nvSpPr>
        <p:spPr>
          <a:xfrm>
            <a:off x="9317736" y="2121408"/>
            <a:ext cx="2121408" cy="1207007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四個 role + prediction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保留來源鏈</a:t>
            </a:r>
          </a:p>
        </p:txBody>
      </p:sp>
      <p:sp>
        <p:nvSpPr>
          <p:cNvPr id="21" name="Website boundary sentence"/>
          <p:cNvSpPr/>
          <p:nvPr/>
        </p:nvSpPr>
        <p:spPr>
          <a:xfrm>
            <a:off x="877824" y="3895344"/>
            <a:ext cx="10387584" cy="64008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責任邊界｜網站只接受 JSON artifact；Python policy 與 endpoint result 留在本機 runner。</a:t>
            </a:r>
          </a:p>
        </p:txBody>
      </p:sp>
      <p:sp>
        <p:nvSpPr>
          <p:cNvPr id="22" name="Website evidence source"/>
          <p:cNvSpPr/>
          <p:nvPr/>
        </p:nvSpPr>
        <p:spPr>
          <a:xfrm>
            <a:off x="749808" y="4791456"/>
            <a:ext cx="10698480" cy="950976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657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網站讀法｜現有 browser record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先讀 service／deadline，再讀 packet delivery／expiry，再讀 Radio／state event，最後讀 endpoint J 與 bit/J；browser accepted 不等同 live measurement，fresh runner parity 待取得。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匯入檢查：identity、units、事件逐層驗證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匯入檔案先逐層驗證；任何失敗都保留原狀。</a:t>
            </a:r>
          </a:p>
        </p:txBody>
      </p:sp>
      <p:sp>
        <p:nvSpPr>
          <p:cNvPr id="6" name="Import validation step"/>
          <p:cNvSpPr/>
          <p:nvPr/>
        </p:nvSpPr>
        <p:spPr>
          <a:xfrm>
            <a:off x="621792" y="1627632"/>
            <a:ext cx="2395728" cy="202996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Import validation step heading"/>
          <p:cNvSpPr txBox="1"/>
          <p:nvPr/>
        </p:nvSpPr>
        <p:spPr>
          <a:xfrm>
            <a:off x="749808" y="1700784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01–02｜檔案</a:t>
            </a:r>
          </a:p>
        </p:txBody>
      </p:sp>
      <p:sp>
        <p:nvSpPr>
          <p:cNvPr id="8" name="Import validation step body"/>
          <p:cNvSpPr txBox="1"/>
          <p:nvPr/>
        </p:nvSpPr>
        <p:spPr>
          <a:xfrm>
            <a:off x="758952" y="2121408"/>
            <a:ext cx="2121408" cy="14447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schema／scenario_id</a:t>
            </a:r>
          </a:p>
        </p:txBody>
      </p:sp>
      <p:cxnSp>
        <p:nvCxnSpPr>
          <p:cNvPr id="9" name="Validation progression"/>
          <p:cNvCxnSpPr/>
          <p:nvPr/>
        </p:nvCxnSpPr>
        <p:spPr>
          <a:xfrm>
            <a:off x="3072384" y="2642616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mport validation step"/>
          <p:cNvSpPr/>
          <p:nvPr/>
        </p:nvSpPr>
        <p:spPr>
          <a:xfrm>
            <a:off x="3474720" y="1627632"/>
            <a:ext cx="2395728" cy="2029968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Import validation step heading"/>
          <p:cNvSpPr txBox="1"/>
          <p:nvPr/>
        </p:nvSpPr>
        <p:spPr>
          <a:xfrm>
            <a:off x="3602736" y="1700784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03–04｜來源</a:t>
            </a:r>
          </a:p>
        </p:txBody>
      </p:sp>
      <p:sp>
        <p:nvSpPr>
          <p:cNvPr id="12" name="Import validation step body"/>
          <p:cNvSpPr txBox="1"/>
          <p:nvPr/>
        </p:nvSpPr>
        <p:spPr>
          <a:xfrm>
            <a:off x="3611879" y="2121408"/>
            <a:ext cx="2121408" cy="14447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lineage／policy block</a:t>
            </a:r>
          </a:p>
        </p:txBody>
      </p:sp>
      <p:cxnSp>
        <p:nvCxnSpPr>
          <p:cNvPr id="13" name="Validation progression"/>
          <p:cNvCxnSpPr/>
          <p:nvPr/>
        </p:nvCxnSpPr>
        <p:spPr>
          <a:xfrm>
            <a:off x="5925312" y="2642616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mport validation step"/>
          <p:cNvSpPr/>
          <p:nvPr/>
        </p:nvSpPr>
        <p:spPr>
          <a:xfrm>
            <a:off x="6327648" y="1627632"/>
            <a:ext cx="2395728" cy="202996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Import validation step heading"/>
          <p:cNvSpPr txBox="1"/>
          <p:nvPr/>
        </p:nvSpPr>
        <p:spPr>
          <a:xfrm>
            <a:off x="6455664" y="1700784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05–06｜單位</a:t>
            </a:r>
          </a:p>
        </p:txBody>
      </p:sp>
      <p:sp>
        <p:nvSpPr>
          <p:cNvPr id="16" name="Import validation step body"/>
          <p:cNvSpPr txBox="1"/>
          <p:nvPr/>
        </p:nvSpPr>
        <p:spPr>
          <a:xfrm>
            <a:off x="6464808" y="2121408"/>
            <a:ext cx="2121408" cy="14447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energy sum／packet legality</a:t>
            </a:r>
          </a:p>
        </p:txBody>
      </p:sp>
      <p:cxnSp>
        <p:nvCxnSpPr>
          <p:cNvPr id="17" name="Validation progression"/>
          <p:cNvCxnSpPr/>
          <p:nvPr/>
        </p:nvCxnSpPr>
        <p:spPr>
          <a:xfrm>
            <a:off x="8778240" y="2642616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mport validation step"/>
          <p:cNvSpPr/>
          <p:nvPr/>
        </p:nvSpPr>
        <p:spPr>
          <a:xfrm>
            <a:off x="9180576" y="1627632"/>
            <a:ext cx="2395728" cy="202996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Import validation step heading"/>
          <p:cNvSpPr txBox="1"/>
          <p:nvPr/>
        </p:nvSpPr>
        <p:spPr>
          <a:xfrm>
            <a:off x="9308592" y="1700784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07｜主張</a:t>
            </a:r>
          </a:p>
        </p:txBody>
      </p:sp>
      <p:sp>
        <p:nvSpPr>
          <p:cNvPr id="20" name="Import validation step body"/>
          <p:cNvSpPr txBox="1"/>
          <p:nvPr/>
        </p:nvSpPr>
        <p:spPr>
          <a:xfrm>
            <a:off x="9317736" y="2121408"/>
            <a:ext cx="2121408" cy="14447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scope／workbook record</a:t>
            </a:r>
          </a:p>
        </p:txBody>
      </p:sp>
      <p:sp>
        <p:nvSpPr>
          <p:cNvPr id="21" name="Fail closed boundary"/>
          <p:cNvSpPr/>
          <p:nvPr/>
        </p:nvSpPr>
        <p:spPr>
          <a:xfrm>
            <a:off x="877824" y="4023360"/>
            <a:ext cx="10387584" cy="640080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FAIL CLOSED｜任一層失敗：session／workbook 不變；保存錯誤與 path，回 matching artifact。</a:t>
            </a:r>
          </a:p>
        </p:txBody>
      </p:sp>
      <p:sp>
        <p:nvSpPr>
          <p:cNvPr id="22" name="Scenario identity field"/>
          <p:cNvSpPr/>
          <p:nvPr/>
        </p:nvSpPr>
        <p:spPr>
          <a:xfrm>
            <a:off x="749808" y="4846320"/>
            <a:ext cx="10698480" cy="914400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｜情境識別碼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 scenario package；值型態 identifier；作用 綁定同一情境；相同才可比較，缺失或不符即停止。七層驗證完整後才 materialize replay。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事件重播：佇列 → 動作 → 狀態 → 封包 → J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畫面每一格都對應同一條事件記錄；一起讀動作與封包結果。</a:t>
            </a:r>
          </a:p>
        </p:txBody>
      </p:sp>
      <p:sp>
        <p:nvSpPr>
          <p:cNvPr id="6" name="Replay screenshot panel"/>
          <p:cNvSpPr/>
          <p:nvPr/>
        </p:nvSpPr>
        <p:spPr>
          <a:xfrm>
            <a:off x="694944" y="1609344"/>
            <a:ext cx="5522976" cy="2395728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pic>
        <p:nvPicPr>
          <p:cNvPr id="7" name="Current replay frame crop" descr="replay-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55648"/>
            <a:ext cx="5266944" cy="2066543"/>
          </a:xfrm>
          <a:prstGeom prst="rect">
            <a:avLst/>
          </a:prstGeom>
        </p:spPr>
      </p:pic>
      <p:sp>
        <p:nvSpPr>
          <p:cNvPr id="8" name="Replay causal path"/>
          <p:cNvSpPr/>
          <p:nvPr/>
        </p:nvSpPr>
        <p:spPr>
          <a:xfrm>
            <a:off x="6510528" y="1609344"/>
            <a:ext cx="4937760" cy="239572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Replay path heading"/>
          <p:cNvSpPr txBox="1"/>
          <p:nvPr/>
        </p:nvSpPr>
        <p:spPr>
          <a:xfrm>
            <a:off x="6748272" y="1792224"/>
            <a:ext cx="446227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事件讀法</a:t>
            </a:r>
          </a:p>
        </p:txBody>
      </p:sp>
      <p:sp>
        <p:nvSpPr>
          <p:cNvPr id="10" name="Replay path step"/>
          <p:cNvSpPr/>
          <p:nvPr/>
        </p:nvSpPr>
        <p:spPr>
          <a:xfrm>
            <a:off x="6821424" y="2212848"/>
            <a:ext cx="4315968" cy="5303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Queue／Action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佇列 → policy 動作</a:t>
            </a:r>
          </a:p>
        </p:txBody>
      </p:sp>
      <p:sp>
        <p:nvSpPr>
          <p:cNvPr id="11" name="Replay path step"/>
          <p:cNvSpPr/>
          <p:nvPr/>
        </p:nvSpPr>
        <p:spPr>
          <a:xfrm>
            <a:off x="6821424" y="2779776"/>
            <a:ext cx="4315968" cy="5303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Radio／state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狀態：SLEEP／TX／RX</a:t>
            </a:r>
          </a:p>
        </p:txBody>
      </p:sp>
      <p:sp>
        <p:nvSpPr>
          <p:cNvPr id="12" name="Replay path step"/>
          <p:cNvSpPr/>
          <p:nvPr/>
        </p:nvSpPr>
        <p:spPr>
          <a:xfrm>
            <a:off x="6821424" y="3346704"/>
            <a:ext cx="4315968" cy="5303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Packet／service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送達／過期 → 期限／J</a:t>
            </a:r>
          </a:p>
        </p:txBody>
      </p:sp>
      <p:sp>
        <p:nvSpPr>
          <p:cNvPr id="13" name="Replay boundary"/>
          <p:cNvSpPr/>
          <p:nvPr/>
        </p:nvSpPr>
        <p:spPr>
          <a:xfrm>
            <a:off x="877824" y="4242816"/>
            <a:ext cx="10387584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重播邊界｜讀取已驗證 event ledger，不重新執行 policy，也不在瀏覽器推導新數值。</a:t>
            </a:r>
          </a:p>
        </p:txBody>
      </p:sp>
      <p:sp>
        <p:nvSpPr>
          <p:cNvPr id="14" name="Replay fields"/>
          <p:cNvSpPr/>
          <p:nvPr/>
        </p:nvSpPr>
        <p:spPr>
          <a:xfrm>
            <a:off x="749808" y="4846320"/>
            <a:ext cx="10698480" cy="914400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欄位讀法｜來源、單位、高低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：frame，count，越高待處理越多；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：policy token，對回程式分支；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Radio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：frame event，確認 SLEEP／TX／RX；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：ledger，J，越低耗能較少，但服務 FAIL 仍先保留。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Workbook：保存四個角色的來源鏈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比較紀錄把四個角色放在同一條來源鏈，方便重開核對。</a:t>
            </a:r>
          </a:p>
        </p:txBody>
      </p:sp>
      <p:sp>
        <p:nvSpPr>
          <p:cNvPr id="6" name="Ledger screenshot panel"/>
          <p:cNvSpPr/>
          <p:nvPr/>
        </p:nvSpPr>
        <p:spPr>
          <a:xfrm>
            <a:off x="694944" y="1609344"/>
            <a:ext cx="5522976" cy="2395728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pic>
        <p:nvPicPr>
          <p:cNvPr id="7" name="Current execution ledger crop" descr="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73936"/>
            <a:ext cx="5266944" cy="1389888"/>
          </a:xfrm>
          <a:prstGeom prst="rect">
            <a:avLst/>
          </a:prstGeom>
        </p:spPr>
      </p:pic>
      <p:sp>
        <p:nvSpPr>
          <p:cNvPr id="8" name="Ledger evidence label"/>
          <p:cNvSpPr txBox="1"/>
          <p:nvPr/>
        </p:nvSpPr>
        <p:spPr>
          <a:xfrm>
            <a:off x="877824" y="3273552"/>
            <a:ext cx="515721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current browser record｜execution ledger</a:t>
            </a:r>
          </a:p>
        </p:txBody>
      </p:sp>
      <p:sp>
        <p:nvSpPr>
          <p:cNvPr id="9" name="Workbook spread"/>
          <p:cNvSpPr/>
          <p:nvPr/>
        </p:nvSpPr>
        <p:spPr>
          <a:xfrm>
            <a:off x="6510528" y="1609344"/>
            <a:ext cx="4937760" cy="239572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Workbook spread heading"/>
          <p:cNvSpPr txBox="1"/>
          <p:nvPr/>
        </p:nvSpPr>
        <p:spPr>
          <a:xfrm>
            <a:off x="6784848" y="1792224"/>
            <a:ext cx="438912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四個角色</a:t>
            </a:r>
          </a:p>
        </p:txBody>
      </p:sp>
      <p:sp>
        <p:nvSpPr>
          <p:cNvPr id="11" name="Workbook role"/>
          <p:cNvSpPr/>
          <p:nvPr/>
        </p:nvSpPr>
        <p:spPr>
          <a:xfrm>
            <a:off x="6803136" y="2267712"/>
            <a:ext cx="1956816" cy="5303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基準組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baseline 結果</a:t>
            </a:r>
          </a:p>
        </p:txBody>
      </p:sp>
      <p:sp>
        <p:nvSpPr>
          <p:cNvPr id="12" name="Workbook role"/>
          <p:cNvSpPr/>
          <p:nvPr/>
        </p:nvSpPr>
        <p:spPr>
          <a:xfrm>
            <a:off x="9015984" y="2267712"/>
            <a:ext cx="1956816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候選組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candidate 修改</a:t>
            </a:r>
          </a:p>
        </p:txBody>
      </p:sp>
      <p:sp>
        <p:nvSpPr>
          <p:cNvPr id="13" name="Workbook role"/>
          <p:cNvSpPr/>
          <p:nvPr/>
        </p:nvSpPr>
        <p:spPr>
          <a:xfrm>
            <a:off x="6803136" y="2962656"/>
            <a:ext cx="1956816" cy="5303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修訂組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revision gate</a:t>
            </a:r>
          </a:p>
        </p:txBody>
      </p:sp>
      <p:sp>
        <p:nvSpPr>
          <p:cNvPr id="14" name="Workbook role"/>
          <p:cNvSpPr/>
          <p:nvPr/>
        </p:nvSpPr>
        <p:spPr>
          <a:xfrm>
            <a:off x="9015984" y="2962656"/>
            <a:ext cx="1956816" cy="5303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保留組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surprise 邊界</a:t>
            </a:r>
          </a:p>
        </p:txBody>
      </p:sp>
      <p:sp>
        <p:nvSpPr>
          <p:cNvPr id="15" name="Workbook record fields"/>
          <p:cNvSpPr/>
          <p:nvPr/>
        </p:nvSpPr>
        <p:spPr>
          <a:xfrm>
            <a:off x="877824" y="4242816"/>
            <a:ext cx="10387584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比較紀錄｜保存 prediction、changed line、result_path、replay、gate、endpoint scope 與 recovery note。</a:t>
            </a:r>
          </a:p>
        </p:txBody>
      </p:sp>
      <p:sp>
        <p:nvSpPr>
          <p:cNvPr id="16" name="Workbook definition"/>
          <p:cNvSpPr/>
          <p:nvPr/>
        </p:nvSpPr>
        <p:spPr>
          <a:xfrm>
            <a:off x="749808" y="4846320"/>
            <a:ext cx="10698480" cy="914400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provenance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｜來源鏈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 /course workbook；值型態 saved record；作用 保存四個角色的 lineage；缺必要 evidence 就維持 INCOMPLETE，不補寫答案。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保存與重開：核對身份，不補造結果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保存、關閉、重開都先核對身份，再恢復同一條來源鏈。</a:t>
            </a:r>
          </a:p>
        </p:txBody>
      </p:sp>
      <p:sp>
        <p:nvSpPr>
          <p:cNvPr id="6" name="Reopen loop step"/>
          <p:cNvSpPr/>
          <p:nvPr/>
        </p:nvSpPr>
        <p:spPr>
          <a:xfrm>
            <a:off x="768096" y="1627632"/>
            <a:ext cx="3273552" cy="162763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Reopen loop step heading"/>
          <p:cNvSpPr txBox="1"/>
          <p:nvPr/>
        </p:nvSpPr>
        <p:spPr>
          <a:xfrm>
            <a:off x="896112" y="1700784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01｜保存 SAVE</a:t>
            </a:r>
          </a:p>
        </p:txBody>
      </p:sp>
      <p:sp>
        <p:nvSpPr>
          <p:cNvPr id="8" name="Reopen loop step body"/>
          <p:cNvSpPr txBox="1"/>
          <p:nvPr/>
        </p:nvSpPr>
        <p:spPr>
          <a:xfrm>
            <a:off x="905256" y="2121408"/>
            <a:ext cx="2999232" cy="104241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保存預測＋結果／重播</a:t>
            </a:r>
          </a:p>
        </p:txBody>
      </p:sp>
      <p:cxnSp>
        <p:nvCxnSpPr>
          <p:cNvPr id="9" name="Reopen loop connector"/>
          <p:cNvCxnSpPr/>
          <p:nvPr/>
        </p:nvCxnSpPr>
        <p:spPr>
          <a:xfrm>
            <a:off x="4114800" y="2441448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open loop step"/>
          <p:cNvSpPr/>
          <p:nvPr/>
        </p:nvSpPr>
        <p:spPr>
          <a:xfrm>
            <a:off x="4425696" y="1627632"/>
            <a:ext cx="3273552" cy="162763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Reopen loop step heading"/>
          <p:cNvSpPr txBox="1"/>
          <p:nvPr/>
        </p:nvSpPr>
        <p:spPr>
          <a:xfrm>
            <a:off x="4553712" y="1700784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02｜關閉 CLOSE</a:t>
            </a:r>
          </a:p>
        </p:txBody>
      </p:sp>
      <p:sp>
        <p:nvSpPr>
          <p:cNvPr id="12" name="Reopen loop step body"/>
          <p:cNvSpPr txBox="1"/>
          <p:nvPr/>
        </p:nvSpPr>
        <p:spPr>
          <a:xfrm>
            <a:off x="4562856" y="2121408"/>
            <a:ext cx="2999232" cy="104241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不改 runner 檔案</a:t>
            </a:r>
          </a:p>
        </p:txBody>
      </p:sp>
      <p:cxnSp>
        <p:nvCxnSpPr>
          <p:cNvPr id="13" name="Reopen loop connector"/>
          <p:cNvCxnSpPr/>
          <p:nvPr/>
        </p:nvCxnSpPr>
        <p:spPr>
          <a:xfrm>
            <a:off x="7772400" y="2441448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open loop step"/>
          <p:cNvSpPr/>
          <p:nvPr/>
        </p:nvSpPr>
        <p:spPr>
          <a:xfrm>
            <a:off x="8083296" y="1627632"/>
            <a:ext cx="3273552" cy="162763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Reopen loop step heading"/>
          <p:cNvSpPr txBox="1"/>
          <p:nvPr/>
        </p:nvSpPr>
        <p:spPr>
          <a:xfrm>
            <a:off x="8211312" y="1700784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03｜重開</a:t>
            </a:r>
          </a:p>
        </p:txBody>
      </p:sp>
      <p:sp>
        <p:nvSpPr>
          <p:cNvPr id="16" name="Reopen loop step body"/>
          <p:cNvSpPr txBox="1"/>
          <p:nvPr/>
        </p:nvSpPr>
        <p:spPr>
          <a:xfrm>
            <a:off x="8220456" y="2121408"/>
            <a:ext cx="2999232" cy="104241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OPEN／REBIND：核對情境＋端點</a:t>
            </a:r>
          </a:p>
        </p:txBody>
      </p:sp>
      <p:sp>
        <p:nvSpPr>
          <p:cNvPr id="17" name="Reopen status"/>
          <p:cNvSpPr/>
          <p:nvPr/>
        </p:nvSpPr>
        <p:spPr>
          <a:xfrm>
            <a:off x="877824" y="3822191"/>
            <a:ext cx="10387584" cy="74980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完成度｜身份、prediction、result／replay 齊全才 COMPLETE；缺件維持 INCOMPLETE 並 recovery，不改寫 FAIL。</a:t>
            </a:r>
          </a:p>
        </p:txBody>
      </p:sp>
      <p:sp>
        <p:nvSpPr>
          <p:cNvPr id="18" name="Workbook status definition"/>
          <p:cNvSpPr/>
          <p:nvPr/>
        </p:nvSpPr>
        <p:spPr>
          <a:xfrm>
            <a:off x="749808" y="4846320"/>
            <a:ext cx="10698480" cy="914400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COMPLETE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INCOMPLETE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｜完成度狀態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 workbook validator；值型態 status enum；作用 反映必要 evidence 是否齊全；判讀 COMPLETE 不等於 service PASS，也不等於 scientific parity。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