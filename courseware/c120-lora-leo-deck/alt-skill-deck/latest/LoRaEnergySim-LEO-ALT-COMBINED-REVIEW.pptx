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p15="http://schemas.microsoft.com/office/powerpoint/2012/main" xmlns:r="http://schemas.openxmlformats.org/officeDocument/2006/relationships" saveSubsetFonts="1">
  <p:sldMasterIdLst>
    <p:sldMasterId id="2147483708" r:id="rId1"/>
  </p:sldMasterIdLst>
  <p:notesMasterIdLst>
    <p:notesMasterId r:id="rId4"/>
  </p:notesMasterIdLst>
  <p:sldIdLst>
    <p:sldId id="256" r:id="rId3"/>
    <p:sldId id="257" r:id="rId2"/>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Lst>
  <p:sldSz cx="12192000" cy="6858000"/>
  <p:notesSz cx="7104063"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5169CF"/>
    <a:srgbClr val="A1A1A1"/>
    <a:srgbClr val="5F75D3"/>
    <a:srgbClr val="EFA5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46" autoAdjust="0"/>
    <p:restoredTop sz="76848" autoAdjust="0"/>
  </p:normalViewPr>
  <p:slideViewPr>
    <p:cSldViewPr snapToGrid="0">
      <p:cViewPr varScale="1">
        <p:scale>
          <a:sx n="88" d="100"/>
          <a:sy n="88" d="100"/>
        </p:scale>
        <p:origin x="153" y="42"/>
      </p:cViewPr>
      <p:guideLst/>
    </p:cSldViewPr>
  </p:slideViewPr>
  <p:notesTextViewPr>
    <p:cViewPr>
      <p:scale>
        <a:sx n="150" d="100"/>
        <a:sy n="150" d="100"/>
      </p:scale>
      <p:origin x="0" y="0"/>
    </p:cViewPr>
  </p:notesTextViewPr>
  <p:sorterViewPr>
    <p:cViewPr varScale="1">
      <p:scale>
        <a:sx n="100" d="100"/>
        <a:sy n="100" d="100"/>
      </p:scale>
      <p:origin x="0" y="0"/>
    </p:cViewPr>
  </p:sorter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2.xml" /><Relationship Id="rId3" Type="http://schemas.openxmlformats.org/officeDocument/2006/relationships/slide" Target="slides/slide1.xml" /><Relationship Id="rId4" Type="http://schemas.openxmlformats.org/officeDocument/2006/relationships/notesMaster" Target="notesMasters/notesMaster1.xml" /><Relationship Id="rId5" Type="http://schemas.openxmlformats.org/officeDocument/2006/relationships/presProps" Target="presProps.xml" /><Relationship Id="rId6" Type="http://schemas.openxmlformats.org/officeDocument/2006/relationships/viewProps" Target="viewProps.xml" /><Relationship Id="rId7" Type="http://schemas.openxmlformats.org/officeDocument/2006/relationships/theme" Target="theme/theme1.xml" /><Relationship Id="rId8" Type="http://schemas.openxmlformats.org/officeDocument/2006/relationships/tableStyles" Target="tableStyles.xml" /><Relationship Id="rId9" Type="http://schemas.openxmlformats.org/officeDocument/2006/relationships/slide" Target="slides/slide3.xml" /><Relationship Id="rId10" Type="http://schemas.openxmlformats.org/officeDocument/2006/relationships/slide" Target="slides/slide4.xml" /><Relationship Id="rId11" Type="http://schemas.openxmlformats.org/officeDocument/2006/relationships/slide" Target="slides/slide5.xml" /><Relationship Id="rId12" Type="http://schemas.openxmlformats.org/officeDocument/2006/relationships/slide" Target="slides/slide6.xml" /><Relationship Id="rId13" Type="http://schemas.openxmlformats.org/officeDocument/2006/relationships/slide" Target="slides/slide7.xml" /><Relationship Id="rId14" Type="http://schemas.openxmlformats.org/officeDocument/2006/relationships/slide" Target="slides/slide8.xml" /><Relationship Id="rId15" Type="http://schemas.openxmlformats.org/officeDocument/2006/relationships/slide" Target="slides/slide9.xml" /><Relationship Id="rId16" Type="http://schemas.openxmlformats.org/officeDocument/2006/relationships/slide" Target="slides/slide10.xml" /><Relationship Id="rId17" Type="http://schemas.openxmlformats.org/officeDocument/2006/relationships/slide" Target="slides/slide11.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 Id="rId28" Type="http://schemas.openxmlformats.org/officeDocument/2006/relationships/slide" Target="slides/slide22.xml" /><Relationship Id="rId29" Type="http://schemas.openxmlformats.org/officeDocument/2006/relationships/slide" Target="slides/slide23.xml" /><Relationship Id="rId30" Type="http://schemas.openxmlformats.org/officeDocument/2006/relationships/slide" Target="slides/slide24.xml" /><Relationship Id="rId31" Type="http://schemas.openxmlformats.org/officeDocument/2006/relationships/slide" Target="slides/slide25.xml" /><Relationship Id="rId32" Type="http://schemas.openxmlformats.org/officeDocument/2006/relationships/slide" Target="slides/slide26.xml" /><Relationship Id="rId33" Type="http://schemas.openxmlformats.org/officeDocument/2006/relationships/slide" Target="slides/slide27.xml" /><Relationship Id="rId34" Type="http://schemas.openxmlformats.org/officeDocument/2006/relationships/slide" Target="slides/slide28.xml" /><Relationship Id="rId35" Type="http://schemas.openxmlformats.org/officeDocument/2006/relationships/slide" Target="slides/slide29.xml" /><Relationship Id="rId36" Type="http://schemas.openxmlformats.org/officeDocument/2006/relationships/slide" Target="slides/slide30.xml" /><Relationship Id="rId37" Type="http://schemas.openxmlformats.org/officeDocument/2006/relationships/slide" Target="slides/slide31.xml" /><Relationship Id="rId38" Type="http://schemas.openxmlformats.org/officeDocument/2006/relationships/slide" Target="slides/slide32.xml" /><Relationship Id="rId39" Type="http://schemas.openxmlformats.org/officeDocument/2006/relationships/slide" Target="slides/slide33.xml" /><Relationship Id="rId40" Type="http://schemas.openxmlformats.org/officeDocument/2006/relationships/slide" Target="slides/slide34.xml" /><Relationship Id="rId41" Type="http://schemas.openxmlformats.org/officeDocument/2006/relationships/slide" Target="slides/slide35.xml" /><Relationship Id="rId42" Type="http://schemas.openxmlformats.org/officeDocument/2006/relationships/slide" Target="slides/slide36.xml" /><Relationship Id="rId43" Type="http://schemas.openxmlformats.org/officeDocument/2006/relationships/slide" Target="slides/slide37.xml" /><Relationship Id="rId44" Type="http://schemas.openxmlformats.org/officeDocument/2006/relationships/slide" Target="slides/slide38.xml" /><Relationship Id="rId45" Type="http://schemas.openxmlformats.org/officeDocument/2006/relationships/slide" Target="slides/slide39.xml" /><Relationship Id="rId46" Type="http://schemas.openxmlformats.org/officeDocument/2006/relationships/slide" Target="slides/slide40.xml" /><Relationship Id="rId47" Type="http://schemas.openxmlformats.org/officeDocument/2006/relationships/slide" Target="slides/slide41.xml" /><Relationship Id="rId48" Type="http://schemas.openxmlformats.org/officeDocument/2006/relationships/slide" Target="slides/slide42.xml" /><Relationship Id="rId49" Type="http://schemas.openxmlformats.org/officeDocument/2006/relationships/slide" Target="slides/slide43.xml" /><Relationship Id="rId50" Type="http://schemas.openxmlformats.org/officeDocument/2006/relationships/slide" Target="slides/slide44.xml" /><Relationship Id="rId51" Type="http://schemas.openxmlformats.org/officeDocument/2006/relationships/slide" Target="slides/slide45.xml" /><Relationship Id="rId52" Type="http://schemas.openxmlformats.org/officeDocument/2006/relationships/slide" Target="slides/slide46.xml" /><Relationship Id="rId53" Type="http://schemas.openxmlformats.org/officeDocument/2006/relationships/slide" Target="slides/slide47.xml" /><Relationship Id="rId54" Type="http://schemas.openxmlformats.org/officeDocument/2006/relationships/slide" Target="slides/slide48.xml" /><Relationship Id="rId55" Type="http://schemas.openxmlformats.org/officeDocument/2006/relationships/slide" Target="slides/slide49.xml" /><Relationship Id="rId56" Type="http://schemas.openxmlformats.org/officeDocument/2006/relationships/slide" Target="slides/slide50.xml" /><Relationship Id="rId57" Type="http://schemas.openxmlformats.org/officeDocument/2006/relationships/slide" Target="slides/slide51.xml" /><Relationship Id="rId58" Type="http://schemas.openxmlformats.org/officeDocument/2006/relationships/slide" Target="slides/slide52.xml" /><Relationship Id="rId59" Type="http://schemas.openxmlformats.org/officeDocument/2006/relationships/slide" Target="slides/slide53.xml" /><Relationship Id="rId60" Type="http://schemas.openxmlformats.org/officeDocument/2006/relationships/slide" Target="slides/slide54.xml" /><Relationship Id="rId61" Type="http://schemas.openxmlformats.org/officeDocument/2006/relationships/slide" Target="slides/slide55.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 Id="rId70" Type="http://schemas.openxmlformats.org/officeDocument/2006/relationships/slide" Target="slides/slide64.xml" /><Relationship Id="rId71" Type="http://schemas.openxmlformats.org/officeDocument/2006/relationships/slide" Target="slides/slide65.xml" /><Relationship Id="rId72" Type="http://schemas.openxmlformats.org/officeDocument/2006/relationships/slide" Target="slides/slide66.xml" /><Relationship Id="rId73" Type="http://schemas.openxmlformats.org/officeDocument/2006/relationships/slide" Target="slides/slide67.xml" /><Relationship Id="rId74" Type="http://schemas.openxmlformats.org/officeDocument/2006/relationships/slide" Target="slides/slide68.xml" /><Relationship Id="rId75" Type="http://schemas.openxmlformats.org/officeDocument/2006/relationships/slide" Target="slides/slide69.xml" /><Relationship Id="rId76" Type="http://schemas.openxmlformats.org/officeDocument/2006/relationships/slide" Target="slides/slide70.xml" /><Relationship Id="rId77" Type="http://schemas.openxmlformats.org/officeDocument/2006/relationships/slide" Target="slides/slide71.xml" /><Relationship Id="rId78" Type="http://schemas.openxmlformats.org/officeDocument/2006/relationships/slide" Target="slides/slide72.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 Id="rId88" Type="http://schemas.openxmlformats.org/officeDocument/2006/relationships/slide" Target="slides/slide82.xml" /><Relationship Id="rId89" Type="http://schemas.openxmlformats.org/officeDocument/2006/relationships/slide" Target="slides/slide83.xml" /><Relationship Id="rId90" Type="http://schemas.openxmlformats.org/officeDocument/2006/relationships/slide" Target="slides/slide84.xml" /><Relationship Id="rId91" Type="http://schemas.openxmlformats.org/officeDocument/2006/relationships/slide" Target="slides/slide85.xml" /><Relationship Id="rId92" Type="http://schemas.openxmlformats.org/officeDocument/2006/relationships/slide" Target="slides/slide86.xml" /><Relationship Id="rId93" Type="http://schemas.openxmlformats.org/officeDocument/2006/relationships/slide" Target="slides/slide87.xml" /><Relationship Id="rId94" Type="http://schemas.openxmlformats.org/officeDocument/2006/relationships/slide" Target="slides/slide88.xml" /><Relationship Id="rId95" Type="http://schemas.openxmlformats.org/officeDocument/2006/relationships/slide" Target="slides/slide89.xml" /><Relationship Id="rId96" Type="http://schemas.openxmlformats.org/officeDocument/2006/relationships/slide" Target="slides/slide90.xml" /><Relationship Id="rId97" Type="http://schemas.openxmlformats.org/officeDocument/2006/relationships/slide" Target="slides/slide91.xml" /><Relationship Id="rId98" Type="http://schemas.openxmlformats.org/officeDocument/2006/relationships/slide" Target="slides/slide92.xml" /><Relationship Id="rId99" Type="http://schemas.openxmlformats.org/officeDocument/2006/relationships/slide" Target="slides/slide93.xml" /><Relationship Id="rId100" Type="http://schemas.openxmlformats.org/officeDocument/2006/relationships/slide" Target="slides/slide94.xml" /><Relationship Id="rId101" Type="http://schemas.openxmlformats.org/officeDocument/2006/relationships/slide" Target="slides/slide95.xml" /><Relationship Id="rId102" Type="http://schemas.openxmlformats.org/officeDocument/2006/relationships/slide" Target="slides/slide96.xml" /><Relationship Id="rId103" Type="http://schemas.openxmlformats.org/officeDocument/2006/relationships/slide" Target="slides/slide97.xml" /><Relationship Id="rId104" Type="http://schemas.openxmlformats.org/officeDocument/2006/relationships/slide" Target="slides/slide98.xml" /><Relationship Id="rId105" Type="http://schemas.openxmlformats.org/officeDocument/2006/relationships/slide" Target="slides/slide99.xml" /><Relationship Id="rId106" Type="http://schemas.openxmlformats.org/officeDocument/2006/relationships/slide" Target="slides/slide100.xml" /><Relationship Id="rId107" Type="http://schemas.openxmlformats.org/officeDocument/2006/relationships/slide" Target="slides/slide101.xml" /><Relationship Id="rId108" Type="http://schemas.openxmlformats.org/officeDocument/2006/relationships/slide" Target="slides/slide102.xml" /><Relationship Id="rId109" Type="http://schemas.openxmlformats.org/officeDocument/2006/relationships/slide" Target="slides/slide10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3078427" cy="513508"/>
          </a:xfrm>
          <a:prstGeom prst="rect">
            <a:avLst/>
          </a:prstGeom>
        </p:spPr>
        <p:txBody>
          <a:bodyPr vert="horz" lIns="94787" tIns="47393" rIns="94787" bIns="47393" rtlCol="0"/>
          <a:lstStyle>
            <a:lvl1pPr algn="l">
              <a:defRPr sz="1200"/>
            </a:lvl1pPr>
          </a:lstStyle>
          <a:p>
            <a:endParaRPr lang="zh-TW" altLang="en-US"/>
          </a:p>
        </p:txBody>
      </p:sp>
      <p:sp>
        <p:nvSpPr>
          <p:cNvPr id="3" name="日期版面配置區 2"/>
          <p:cNvSpPr>
            <a:spLocks noGrp="1"/>
          </p:cNvSpPr>
          <p:nvPr>
            <p:ph type="dt" idx="1"/>
          </p:nvPr>
        </p:nvSpPr>
        <p:spPr>
          <a:xfrm>
            <a:off x="4023993" y="0"/>
            <a:ext cx="3078427" cy="513508"/>
          </a:xfrm>
          <a:prstGeom prst="rect">
            <a:avLst/>
          </a:prstGeom>
        </p:spPr>
        <p:txBody>
          <a:bodyPr vert="horz" lIns="94787" tIns="47393" rIns="94787" bIns="47393" rtlCol="0"/>
          <a:lstStyle>
            <a:lvl1pPr algn="r">
              <a:defRPr sz="1200"/>
            </a:lvl1pPr>
          </a:lstStyle>
          <a:p>
            <a:fld id="{6E184DA3-7456-445E-B789-C4A3C11A868B}" type="datetimeFigureOut">
              <a:rPr lang="zh-TW" altLang="en-US" smtClean="0"/>
              <a:t>2025/12/10</a:t>
            </a:fld>
            <a:endParaRPr lang="zh-TW" altLang="en-US"/>
          </a:p>
        </p:txBody>
      </p:sp>
      <p:sp>
        <p:nvSpPr>
          <p:cNvPr id="4" name="投影片圖像版面配置區 3"/>
          <p:cNvSpPr>
            <a:spLocks noGrp="1" noRot="1" noChangeAspect="1"/>
          </p:cNvSpPr>
          <p:nvPr>
            <p:ph type="sldImg" idx="2"/>
          </p:nvPr>
        </p:nvSpPr>
        <p:spPr>
          <a:xfrm>
            <a:off x="482600" y="1279525"/>
            <a:ext cx="6138863" cy="3452813"/>
          </a:xfrm>
          <a:prstGeom prst="rect">
            <a:avLst/>
          </a:prstGeom>
          <a:noFill/>
          <a:ln w="12700">
            <a:solidFill>
              <a:prstClr val="black"/>
            </a:solidFill>
          </a:ln>
        </p:spPr>
        <p:txBody>
          <a:bodyPr vert="horz" lIns="94787" tIns="47393" rIns="94787" bIns="47393" rtlCol="0" anchor="ctr"/>
          <a:lstStyle/>
          <a:p>
            <a:endParaRPr lang="zh-TW" altLang="en-US"/>
          </a:p>
        </p:txBody>
      </p:sp>
      <p:sp>
        <p:nvSpPr>
          <p:cNvPr id="5" name="備忘稿版面配置區 4"/>
          <p:cNvSpPr>
            <a:spLocks noGrp="1"/>
          </p:cNvSpPr>
          <p:nvPr>
            <p:ph type="body" sz="quarter" idx="3"/>
          </p:nvPr>
        </p:nvSpPr>
        <p:spPr>
          <a:xfrm>
            <a:off x="710407" y="4925408"/>
            <a:ext cx="5683250" cy="4029879"/>
          </a:xfrm>
          <a:prstGeom prst="rect">
            <a:avLst/>
          </a:prstGeom>
        </p:spPr>
        <p:txBody>
          <a:bodyPr vert="horz" lIns="94787" tIns="47393" rIns="94787" bIns="47393"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721106"/>
            <a:ext cx="3078427" cy="513507"/>
          </a:xfrm>
          <a:prstGeom prst="rect">
            <a:avLst/>
          </a:prstGeom>
        </p:spPr>
        <p:txBody>
          <a:bodyPr vert="horz" lIns="94787" tIns="47393" rIns="94787" bIns="47393"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023993" y="9721106"/>
            <a:ext cx="3078427" cy="513507"/>
          </a:xfrm>
          <a:prstGeom prst="rect">
            <a:avLst/>
          </a:prstGeom>
        </p:spPr>
        <p:txBody>
          <a:bodyPr vert="horz" lIns="94787" tIns="47393" rIns="94787" bIns="47393" rtlCol="0" anchor="b"/>
          <a:lstStyle>
            <a:lvl1pPr algn="r">
              <a:defRPr sz="1200"/>
            </a:lvl1pPr>
          </a:lstStyle>
          <a:p>
            <a:fld id="{E0BAEFB6-4136-4525-B476-790D9DDC5129}" type="slidenum">
              <a:rPr lang="zh-TW" altLang="en-US" smtClean="0"/>
              <a:t>‹#›</a:t>
            </a:fld>
            <a:endParaRPr lang="zh-TW" altLang="en-US"/>
          </a:p>
        </p:txBody>
      </p:sp>
    </p:spTree>
    <p:extLst>
      <p:ext uri="{BB962C8B-B14F-4D97-AF65-F5344CB8AC3E}">
        <p14:creationId xmlns:p14="http://schemas.microsoft.com/office/powerpoint/2010/main" val="282060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87.xml" />
		</Relationships>
</file>

<file path=ppt/notesSlides/_rels/notesSlide88.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88.xml" />
		</Relationships>
</file>

<file path=ppt/notesSlides/_rels/notesSlide89.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89.xml" />
		</Relationships>
</file>

<file path=ppt/notesSlides/_rels/notesSlide90.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0.xml" />
		</Relationships>
</file>

<file path=ppt/notesSlides/_rels/notesSlide91.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1.xml" />
		</Relationships>
</file>

<file path=ppt/notesSlides/_rels/notesSlide92.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2.xml" />
		</Relationships>
</file>

<file path=ppt/notesSlides/_rels/notesSlide93.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3.xml" />
		</Relationships>
</file>

<file path=ppt/notesSlides/_rels/notesSlide94.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4.xml" />
		</Relationships>
</file>

<file path=ppt/notesSlides/_rels/notesSlide95.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5.xml" />
		</Relationships>
</file>

<file path=ppt/notesSlides/_rels/notesSlide96.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6.xml" />
		</Relationships>
</file>

<file path=ppt/notesSlides/_rels/notesSlide97.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7.xml" />
		</Relationships>
</file>

<file path=ppt/notesSlides/_rels/notesSlide98.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8.xml" />
		</Relationships>
</file>

<file path=ppt/notesSlides/_rels/notesSlide99.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99.xml" />
		</Relationships>
</file>

<file path=ppt/notesSlides/_rels/notesSlide100.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100.xml" />
		</Relationships>
</file>

<file path=ppt/notesSlides/_rels/notesSlide101.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101.xml" />
		</Relationships>
</file>

<file path=ppt/notesSlides/_rels/notesSlide102.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102.xml" />
		</Relationships>
</file>

<file path=ppt/notesSlides/_rels/notesSlide103.xml.rels><?xml version='1.0' encoding='utf-8'?>
<Relationships xmlns="http://schemas.openxmlformats.org/package/2006/relationships">
			<Relationship Id="rId1" Type="http://schemas.openxmlformats.org/officeDocument/2006/relationships/notesMaster" Target="../notesMasters/notesMaster1.xml" />
			<Relationship Id="rId2" Type="http://schemas.openxmlformats.org/officeDocument/2006/relationships/slide" Target="../slides/slide103.xml" />
		</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本頁建立課程的固定情境。環境感測端點以有限電池運作，服務窗口依固定軌跡開啟、關閉或縮短。情境定義 scenario 來自 course package，作用是固定端點、窗口與資料規則，單位為 identifier；相同輸入應產生可重跑的比較。後續判讀依序確認窗口、策略動作、服務結果與端點能量。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本頁說明策略動作的三條主要路徑。SLEEP 降低休息功率，但必須支付喚醒延遲與喚醒能量；WAIT 保留反應能力，但會累積清醒閒置能量；SEND 類動作建立服務機會，也會增加處理、發射、接收或重試事件。策略動作 action 來自 policy API，作用是提供每次決策的唯一輸出，單位為 enum；判讀時以其觸發的狀態與封包轉移為準。</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本頁建立結果歸因的順序。先確認服務窗口與策略動作，再讀取無線狀態和封包事件，最後判讀服務與端點能量。窗口關閉時，傳輸類動作不進入執行器，安全分支為 SLEEP。無線狀態 radio_state 來自 runner event ledger，作用是表示各狀態區間，單位為 state enum 加 duration；其判讀用途是提供端點能量的時間分段。</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本頁定義固定情境中的操作閉環。可編輯面限於 student_policy.py 的 marked block，且一次只修改一個受控常數。執行固定 case 後，依序讀取狀態、封包、服務與能量，再以動作、事件與結果的關係說明差異。結果資料檔 result.json 由 package runner 產生，作用是保存 run identity、狀態、封包、服務與能量，單位為 JSON artifact；其判讀用途是作為 replay 與 import 的輸入。</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本頁將因果歸因具體化。基準策略與候選策略必須接收相同觀測，差異由策略動作開始，並經由不同的事件路徑傳到服務與端點能量。若事件路徑沒有差異，最終數值差異不得歸因於策略修改。封包進度 packet_progress 來自 result 或 replay artifact，作用是記錄產生、佇列、嘗試、重試、送達與逾期，單位為 event count 加 time；其判讀用途是連接策略動作與服務結果。</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本頁界定執行器可支持的證據範圍。固定 scenario、policy 與 seed 可使事件順序重跑，並支持端點狀態、封包、服務與端點能量的比較。這些結果不等同於 LEO 或 system energy，也不等同於 canonical efficiency、實測或即時 KPI。端點能量 endpoint_energy_j 來自 endpoint radio 與 processing model，作用是累積狀態能量，單位為 J；判讀時只屬於 endpoint evidence layer。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本頁將低地球軌道視為變動服務窗口的工作範例。LEO 的作用是改變服務機會；主要控制仍是端點策略在等待、休息與送出之間做選擇。暖通空調、邊緣閘道與物流追蹤可以沿用相同機制，但各情境必須重新定義窗口、期限與能量邊界。服務窗口 service_window 來自 fixed scenario trace，作用是定義合法傳輸區間，單位為 trace time；判讀時決定動作是否具有服務機會。</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本頁把預測、執行與反例放在同一個證據脈絡。執行前先記錄狀態、封包、服務或端點能量的預期方向，再進行一次一個常數的受控修改與固定 case 執行。結果不符合預測時，反例仍須保存。預測 prediction 來自 workbook record，作用是指定可反駁的變化方向，單位為 statement；判讀時作為執行前的比較基準。</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本頁先建立教學邊界。套件已完成固定情境、策略介面、啟動器與契約的封裝；這一段只改 student_policy.py 的指定 marked block，使用同一個情境執行，不修改封裝本身。完成後先確認有結果檔，再依序讀取 state、packet、service 與 endpoint energy；只有能說明中間事件如何導向結果，才算完成判讀。provenance 是由 package receipt、scenario、policy identity 與 run artifact 組成的來源鏈，作用是追溯 evidence scope，單位是 structured record；判讀時若 identity 或 source mode 不一致，停止比較。source mode 只保留兩種原值：student-run 與 same-scenario-fallback。兩者都可以進入教學解釋，但來源分類不能互換。本課程的 claim ceiling 是模擬教學資料，明示非 live、非 measured、非 canonical parity；READY 只表示環境與契約 gate 通過，並不等於 energy experiment 已完成。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本頁先確認 package identity。release asset 是課程封裝檔，來源是 course package distribution，作用是提供同一組 runner files，單位是 archive file。解開後的唯一 package root 是 lora-energy-lab/，其中包含 README、setup.sh、setup.cmd、course.sh、course.cmd、student_policy.py、schemas 與 fallback_artifacts。先檢查 root inventory，再進入 interpreter gate。若根目錄或必要檔案不完整，問題仍在 artifact identity；保留錯誤並重新取得同一封裝，不從其他 branch 或 checkout 拼接檔案。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本頁是 archive identity gate。先以 release sidecar 與封裝本身確認是同一組 bytes，再做完整性檢查；顯示 OK 且沒有錯誤後，才解開並進入 lora-energy-lab/。archive_identity 是封裝識別，來源是 release sidecar 與 archive bytes，作用是確認交付內容未被替換，單位是 content identity。這個 gate 只回答 package bytes 是否可追溯，不回答 setup、case run 或網站匯入是否成功。若不一致或解開失敗，保留錯誤並重新取得成對封裝，不混用舊檔。</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 的 CMD、PowerShell 與 WSL 不是同一個 shell。CMD 與 PowerShell 都可以先用 py --list，再用 py -3.11 --version 檢查 exact minor version；看到 Python 3.11.x 才進入 setup。Python 3.11.x 是固定直譯器版本，來源是 runner frozen contract，作用是建立 package-local .venv，單位是 version。版本正確只表示可以進入 setup，還沒有 READY receipt 或 case result。如果 3.11 不在清單，保留版本錯誤，依下一頁的 recovery path 取得精確 interpreter；不要把其他 minor version 當成通過。</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如果 py --list 沒有 3.11，先使用 Python 3.11.x 的 64-bit Windows installer，並保留 Python Launcher；安裝後關閉並重新開啟 shell，再重跑 py --list 與 py -3.11 --version。若官方安裝路徑仍找不到 3.11，才改走 uv recovery。畫面上的三步只處理版本來源：uv --version 讀取工具是否可用，不改課程檔案；uv python install 3.11 取得指定直譯器，不建立 package-local .venv；uv python find 3.11 讀取可執行路徑，再把路徑交給後續環境建立。interpreter 是直譯器，來源是 Python 3.11.x installer、Launcher 或 uv recovery，作用是提供環境建立使用的 exact runtime，單位是 executable path。這一頁只修版本檢查；即使版本命令成功，也還沒有 READY 或案例結果。若 installer、uv 或網路失敗，保留錯誤並留在版本邊界，不把 PATH 指到其他 minor version。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uv 是 interpreter recovery tool。Windows 可先安裝 uv，再執行 uv --version、uv python install 3.11 與 uv python find 3.11；Linux、macOS 與 WSL 也使用同一組 uv 命令。uv 的作用是取得並定位 Python 3.11，單位是 tool 或 executable path；find 回傳的 path 交給後面的 setup。uv 不建立 package-local .venv、不寫入 READY receipt，也不產生 case result。若 POSIX／WSL 尚未有 uv，先依官方 installer 完成安裝並重新開 shell；不要把 Windows 的 venv 帶進 WSL。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每個 package 都要有自己的 .venv，目錄位於 lora-energy-lab/ package root 內。`.venv` 的來源是 Python venv module，作用是隔離 lock、policy、scenario 與 runner，單位是 directory。Windows 使用 .venv\Scripts\python.exe；POSIX、Linux、macOS 與 WSL 使用 .venv/bin/python。兩者都必須顯示 Python 3.11.x，不能互換或共用另一個專案的 venv。正常 launcher 會優先使用 package-local interpreter；若現有 .venv 的 minor version 不符，修正範圍只限目前 package root 內的 .venv，不刪除 package root。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 package root 內，CMD 使用 set PYTHON_BIN=py -3.11、setup.cmd 與 course.cmd verify；PowerShell 使用環境變數、.\setup.cmd 與 .\course.cmd verify。setup 建立 package-local .venv 並依 lock 安裝，verify 重新核對 Python、lock、scenario、policy API 與 claim boundary。READY 的來源是 course.cmd verify 與 verify receipt，作用是表示這些環境與契約 gate 通過，單位是 enum。預期輸出包含 status: READY、python_version: 3.11.x，並寫入 artifacts\verify-receipt.json。READY 只允許進入 case，不代表 case 已經執行，也不等同 service_pass 或 energy result。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WSL 不是 Windows shell 的別名，而是另一個 Linux environment。先在 PowerShell 用 wsl -l -v 確認 Ubuntu；只有 distribution 不存在時才使用 wsl --install -d Ubuntu。接著用 wsl -d Ubuntu 進入 Linux shell，以 pwd 確認 Linux home path，以 uname -a 確認 Linux identity。Ubuntu 是 Linux 發行版，來源是 WSL distribution，作用是提供獨立 Linux shell 與 filesystem，單位是 distribution name。看到 Linux path 後，後續才使用 setup.sh、course.sh、apt 與 .venv/bin/python；Windows 的 .cmd 與 .venv\Scripts\python.exe 留在另一條路徑。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在已確認的 Ubuntu shell，先執行 sudo apt update，再執行 sudo apt install -y curl unzip。curl 是命令列傳輸工具，unzip 是封裝解壓工具；兩者先把 release extraction 與 installer 的前置條件準備好。接著依官方 installer 安裝 uv，重新開一個 Ubuntu shell，執行 uv --version、uv python install 3.11 與 uv python find 3.11。toolchain 是工具鏈，來源是 Ubuntu shell，作用是依序建立 extraction 與 runtime prerequisites，單位是 ordered command set。預期 uv --version 有版本字串，find 回傳 Python 3.11 interpreter path。這些命令只準備工具，尚未解壓 release、建立 package-local .venv 或寫入 READY receipt。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命令先讀取 Windows Downloads，再把 release 副本寫到 Linux staging；它不修改 Windows 原檔、`student_policy.py` 或任何 marked block。下一步進入 `lora-energy-lab/`，用 `pwd` 讀取目前位置；要檢查的 website／artifact field 是 package root 與來源路徑，路徑不一致時不要進入 setup。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`setup.sh` 讀取 `PYTHON_BIN` 指定的 Python 3.11，建立 package-local `.venv`；`course.sh verify` 再讀取 interpreter 與契約並寫入 READY receipt。這些命令不改 `/home/u24/lora-energy-lab/student_policy.py`、三個 marked blocks 或 runner；下一步只有在 READY、版本與 root 都正確時才 run lab。</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`verify-receipt.json` 是 setup／verify 寫入的環境收據。POSIX 的 `sed`、PowerShell 的 `Get-Content` 與 CMD 的 `type` 都只讀取它，不改檔、不執行案例。下一步核對 status／Python／scenario identity；若收據不一致，先修 setup，不要改 policy 或把收據當成 case result。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READY receipt 的 `status`、Python 版本、`scenario_id` 與 policy API version 只描述 environment、固定情境和允許契約。這一頁沒有檔案／block／value 變更；下一步執行案例後才看 `result.json` 的 service、packet 與 energy 欄位。READY 不宣稱已有 case result。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`engine_mode`、`upstream_execution` 與 claim boundary 只標註資料產生方式；讀取它們不改檔。`false` 明確表示沒有執行上游程式。下一步 run 後檢查 `artifact_source`、result identity 與 claim boundary；本頁沒有 student_policy.py 的 file／block／value 變更。</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或 verify 受阻時，只修復 Python minor、package root、lock 或 policy boundary；不能把回復資料說成本機執行。下一步依 `artifact_source` 判斷是否可進 run；讀取同一 lab／case 的 `result.json` 與 `endpoint-replay.json` pair，再按 service → packet → state → endpoint J → efficiency 判讀。本頁不改 student_policy.py 或任何 marked block。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實際 `/home/u24/lora-energy-lab/student_policy.py` 現在包含中文註解；本頁只鏡像說明，不能把投影片文字貼回程式。UTF-8/LF bytes 參與 policy identity，outside-block 的註解、函式、runner、scenario、schemas 與輸出契約都不改；可編輯面只有 `lab-a-pace-rest`、`lab-b-enter-exit-hold`、`lab-c-batch-urgent`。下一步只改當前 block 的一個 value，再看成對 result／replay 證據。</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`observation` 是 runner 每個固定 step 提供的唯讀快照，實際使用窗口、急件、期限、距上次傳送步數、傳送模式、品質、穩定步數與佇列數。此頁是中文說明，不可貼回 `/home/u24/lora-energy-lab/student_policy.py`；沒有 file／block／value 變更。下一步由 `choose_action(observation)` 回傳合法 action，再從 result／replay 讀 state／event、packet／delivery、service 與 endpoint J。</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這一頁是 `choose_action()` 的 read-only 中文註解鏡像，不可貼回程式。實際順序是窗口關閉回傳 `SLEEP`；urgent deadline 回傳 `SEND_URGENT`；pacing gap 回傳 `REST_DURING_GAP`；品質 hold 未滿足回傳 `WAIT`；quality ready 且 queue 足量回傳 `FLUSH_BATCH`，否則 `SEND_ONE`；所有條件都不要求傳送時回傳 `WAIT`。沒有 file／block／value 變更；下一步 run 後按 service → packet／delivery → state／event → endpoint J → efficiency 判讀。</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A 的 exact file 是 `/home/u24/lora-energy-lab/student_policy.py`，exact block 是 `lab-a-pace-rest`；mirror 顯示 Before `SLEEP`、After `WAIT`，只改一個 value。`PACE_GAP_STEPS = 2`、Lab B/C、runner、scenario、schemas、中文註解與函式都不變。機制是 action 改變 sleep／awake-idle／wake 分布。下一步 baseline → candidate with freeze → hidden frozen policy；每次保留 `result.json` + `endpoint-replay.json`，網站先看 service，再看 packet／state／endpoint J／efficiency。較低 J 但 service fail 仍是 trade-off。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C 的 exact file 是 `/home/u24/lora-energy-lab/student_policy.py`，exact block 是 `lab-c-batch-urgent`；Before 20、candidate 5、revision 30，只有這個 value 變更。`BATCH_SIZE = 3`、frozen A/B、runner、scenario、schemas、中文註解與函式均不變。機制是 threshold 改變 `SEND_URGENT` 提前量。下一步 baseline → candidate → revision with freeze → withheld surprise；保存 result／replay pair，先看 service，再看 deadline／delivery／state／endpoint J／efficiency。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B 的 exact file 是 `/home/u24/lora-energy-lab/student_policy.py`，exact block 是 `lab-b-enter-exit-hold`；Before `STABLE_STEPS = 2`，After 只改 1。`ENTER_QUALITY = 2`、`EXIT_QUALITY = 1`、frozen A/C、runner、scenario、schemas、中文註解與函式均不變。機制是 stable observations 改變 quality_ready，因而改變 send-ready transition timing。下一步 Trace A baseline → candidate with freeze → withheld Trace B；保留 result／replay pair，先看 service，再看 packet／state／endpoint J／efficiency。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`WAIT` 會留下 awake-idle，`SLEEP` 會留下 sleep 並在恢復時產生 wake；send action 沿 process、TX、RX 形成 attempt／retry／delivery／expiry。下一步依 service → packet → state → endpoint J → efficiency 讀取。`endpoint_energy_j` 只屬 endpoint layer，與 LEO／system／canonical energy 分開；較低 J 且 service fail 只能說明 trade-off。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 `/home/u24/lora-energy-lab/student_policy.py` 的中文註解已說明每個 branch。這一頁只顯示小段可讀鏡像：窗口關閉時由 `if ...` 進入 `return SLEEP`；縮排決定 statement 屬於哪個條件。`.venv/bin/python -m py_compile student_policy.py` 只檢查語法，不改檔；若錯，只修目前 active marked block，中文註解、函式、runner、scenario 與 schemas 不動。下一步才執行 P027b baseline，讀成對 result／replay。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POSIX exact command 是 `bash course.sh run --lab A --case baseline`；Windows 是 `course.cmd run --lab A --case baseline`。它讀 packaged `student_policy.py` 與 fixed scenario，只在 run directory 寫 `result.json`、`endpoint-replay.json`，不修改 policy source、marked blocks、runner、scenario 或 schemas。下一步確認 `status: OK`、run identity、`result_path`，網站先看 service，再看 packet／state／endpoint J／efficiency；Lab A／B／C 後續依各自 baseline → candidate → freeze → withheld 順序比較。</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P028。Radio state 與停留時間構成 endpoint energy 的狀態積分基礎。策略 action 是一次決策輸出；runner events 以 STATE_INTERVAL 保存 state、起訖時間與 event energy，energy_breakdown_j 再按 sleep、awake_idle、wake、process、tx、rx 分桶。SLEEP 是低功耗休息，WAIT 是清醒閒置，WAKE、PROCESS、TX、RX 是送出流程中的 transition 或 radio state。判讀時把 action 與完整 state ledger 分開。</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P029。Lab A 固定同一份工作、服務窗口、traffic、seed 與 endpoint boundary，只比較空檔的 SLEEP 與 WAIT。SLEEP 降低 idle power，但後續可能支付 WAKE latency 與 wake energy；WAIT 保持 awake idle，可能減少部分 wake transition，卻增加 awake-idle 停留。service_pass 先由 delivered、deadline 與 freshness 形成，再讀整段 endpoint_energy_j。改前預測允許兩個方向，結果用 baseline、candidate 與 withheld evidence 來檢驗。</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P030。封包從 generated 進入 queue，policy action 讓它進入 attempt；collision 可能產生 retry，之後才有 delivered 或 expired。attempted_packets、retransmissions、unique_delivered_packets 與 expired_packets 來自 result summary，單位是 count；delivered_bits 來自交付 payload，單位是 bit。service_pass 需要完整 packet outcome、deadline 與 freshness，SEND 次數不取代服務判定。</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P031。公平比較先固定 scenario、seed、traffic、window 與 endpoint scope，再讀 delivered_bits、deadline_pass、freshness_status 與 service_pass。service_pass 是 result summary 的布林狀態，表示 required packet、期限、最小交付量、逾期數與 freshness 條件共同通過。只有在相同邊界下，endpoint_energy_j 才能被放進同一個 trade-off 句子；較低 J 不自動成為服務成功。</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P032。W 是某個 state 當下的功率，J 是功率在時間上的累積。WAIT 與 SLEEP 使用固定 10 s clock step；PROCESS、TX、RX 與 WAKE 依 transition profile 另行累加。energy_breakdown_j 以 J 保存每個 bucket，能把 total endpoint energy 拆回 state interval 與 transition。讀值時同時保留功率、時間與 bucket，避免以單一峰值代替整段累積。</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P033。Office Math 公式 E_endpoint = Σ P_s t_s 表示 endpoint state 的功率與停留時間如何累加。P_s 是 state power，單位 W；t_s 是 state interval 的停留時間，單位 s；E_endpoint 是 result summary 的端點能量，單位 J。endpoint scope 只涵蓋宣告的 radio 與 processing 假設，satellite、gateway 與 whole-system wall-plug 不進入這個分母。</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P034。Office Math 公式 η_E = D_delivered / E_endpoint 把交付資料與端點能量放在同一個 endpoint boundary。D_delivered 來自 result summary 的 delivered_bits，單位 bit；E_endpoint 來自同一筆 result 的 endpoint_energy_j，單位 J；η_E 的單位是 bit/J。service_pass 與 deadline_pass 仍是獨立 verdict，因此 bit/J 的升高不會自動改寫服務結果。</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P035。Source 是 provenance 參考；model 是 coherent-course-simulated-adapter；course layer 固定 scenario、contact window、traffic 與 endpoint profile；result layer 保存這次 run 的 JSON 與 replay。runner_provenance.upstream_execution 固定為 false，claim boundary 也隨 artifact 保存。這些資料可追溯 input、policy 與 output 的關聯，證據類型維持 coherent simulated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P036。RUN 是 runner 以指定 scenario、case 與 policy 產生 result.json 與同目錄 endpoint-replay.json。REPLAY 依同一次 run 的 events 顯示 action、radio state、queue 與 packet 時序，不重新執行 policy。WORKBOOK 是保存 prediction、baseline、candidate、freeze、withheld 與 result／replay lineage 的比較紀錄。scenario_id 是情境識別碼，run_id、policy identity、units 與 provenance 共同形成一致性核對；任一 mismatch 使匯入維持 fail closed。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P037。Baseline 使用固定 scenario、seed、traffic、window 與 endpoint scope，並保留 release policy 作為對照執行。Candidate 只改目前 lab 的一個 marked block，觀察 state duration、packet outcome、service verdict 與 endpoint J。policy identity 來自 result 的 policy 欄位，單位是識別碼；它與 scenario、seed、units、provenance 一起建立公平比較。</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P038。LEO 在本模組只提供 changing-service-window trace。contact_open 是服務窗口布林狀態，quality_band 是 0 到 3 的品質分類，contact_remaining_s 是窗口剩餘時間，三者都由 fixed scenario trace 進入 policy observation。窗口關閉時 runner 只接受 SLEEP；窗口開啟時，quality 與剩餘時間共同改變 action 的服務機會。</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P039。Lab A 的固定條件包含 scenario、case workload、service window、seed、endpoint energy model 與 PACE_GAP_STEPS = 2。baseline 的 REST_DURING_GAP = SLEEP；candidate 的唯一 edit 是 REST_DURING_GAP = WAIT。這個 edit 先改變空檔的 radio state，再由 state interval 影響 packet timing、service gate 與 endpoint J。改前先保存 WAIT 可能減少 WAKE、也可能增加 awake idle 的可反駁預測。</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P040。Baseline decision 在 contact_open 為 false 時回傳 SLEEP；steps_since_send 小於 PACE_GAP_STEPS 時回傳 REST_DURING_GAP，因此 release baseline 的 gap action 仍是 SLEEP。A / baseline 的 control evidence 使用 P042 第一條 stdout result_path，參考 summary 是 endpoint_energy_j 6.92 J、delivered_bits 4,800 bit、service_pass false。current /course metrics element capture 標示同情境備用資料；實際教學判讀仍以 stdout path 的 result.json 與同 run replay 為準。</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P041。可編輯檔案是 student_policy.py，標記區段是 lab-a-pace-rest。PACE_GAP_STEPS = 2 保持原值；REST_DURING_GAP 從 SLEEP 改為 WAIT，其他 marked block、runner、scenario、schema 與 generated JSON 保持原狀。備份命令先保存原始 policy，py_compile 只確認語法與編譯回傳碼。機制預測是 WAIT 先改變 awake-idle state，再可能改變 wake、packet、service 與 endpoint J。</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P042。第一條命令以 baseline 建立 control；完成 REST_DURING_GAP = WAIT 後，第二條命令以 candidate --freeze 建立 frozen policy 與 checkpoint；第三條命令保持 frozen policy 執行 hidden。POSIX 使用 bash course.sh，Windows Command Prompt 使用 course.cmd。每次成功 stdout 都提供新的 result_path，配對的 endpoint-replay.json 位於同一 generated run 目錄，candidate 另保存 lab-a-frozen checkpoint。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P043。baseline 與 candidate 都從 P042 stdout result_path 開啟。比較前核對 scenario_id、seed、policy identity、units、provenance 與 endpoint scope，確定兩筆結果仍屬同一 boundary。參考 summary 為 baseline 6.92 J／4,800 bit、candidate 8.86 J／4,800 bit，兩者 service_pass 都是 false；因此解釋必須回到 state 與 packet evidence，而不是只報 J。</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P044。Candidate result 的 events 先找 STATE_INTERVAL 與 WAKE，再對照 energy_breakdown_j。參考 bucket 是 awake_idle 6.00 J、sleep 0.04 J、wake 0.02 J、process 0.16 J、tx 2.40 J、rx 0.24 J；這些值要以該次 stdout result_path 的 artifact 為準。current /course replay-frame element capture 是同情境備用資料，用來對齊 state、queue、contact 與累積 J 的畫面 vocabulary，不冒充 candidate 的新 run。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P045。Candidate packet ledger 的參考摘要是 attempted_packets 2、retransmissions 1、delivered_bits 4,800 bit、expired_packets 3、deadline_pass false、service_pass false。current /course execution-ledger element capture 顯示同情境備用資料的 baseline row，candidate 的數值仍由 P042 stdout result_path 的 result.json 取得。因果解釋要指出 action 先改變 state，再改變 packet outcome，最後由 service gate 決定 endpoint J 的解讀層級。</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P046。本頁說明 A freeze 的作用。candidate 的 A marked block 已改為 WAIT，freeze receipt 同時記錄目前 policy、前序 policy、scenario、seed role 與作用區塊。checkpoint 是可復原的 policy source，並與 receipt identity 配對。hidden 不是新的調參階段，而是 frozen policy 在另一個 case 條件下的檢驗。 目前 evidence 尚待取得，數值欄位維持待補；讀取時使用本次 stdout 印出的 result_path，並以同一產物目錄的 endpoint-replay.json 配對。若 receipt 或 checkpoint 缺失，從 baseline policy 還原後重新執行 A candidate 的 `--freeze`；不得直接進入 hidden。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P047。本頁讀取 hidden 結果。withheld case 是預先定義的新 contact 或 traffic 條件，frozen policy identity 保持不變，所以差異歸因於 case，而不是新的 edit。counterexample 是使原先方向失去普遍性的結果；它會降低 claim ceiling，並保留在 workbook 的 lineage 中。 目前 evidence 尚待取得，數值欄位維持待補；讀取時使用本次 stdout 印出的 result_path，並以同一產物目錄的 endpoint-replay.json 配對。若 hidden path 缺失，從 `artifacts/checkpoints/lab-a-frozen.py` 還原 policy，重新執行 exact hidden case，使用新 stdout result_path。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P048。本頁收束 Lab A。`state_interval`（狀態區間）來源是 result events，單位為秒，作用是把 action 連到時間與 energy bucket。packet outcome 來源是 result summary 與 replay，service_pass 來源是 service gate；`endpoint_energy_j` 來源是同一 result 的 endpoint energy breakdown，單位為 J。結論不以單一數字代替機制，也保留 hidden 的反例條件。 目前 evidence 尚待取得，數值欄位維持待補；讀取時使用本次 stdout 印出的 result_path，並以同一產物目錄的 endpoint-replay.json 配對。若三個 result／replay pair 的 identity 無法配對，回到 A freeze gate，重新取得正確 stdout result_path；不手改 JSON。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P049。Lab B 的輸入是 quality trace，來源為固定 scenario package，數值是 quality band 與 elapsed time。service window 來源為 scenario contact windows，單位是秒，作用是界定合法傳輸機會。enter、hold、exit 描述 send-ready mode 的三個 transition 條件。實驗的唯一控制點是 stable hold，結果要沿 MODE_CHANGE、packet、service 與 endpoint J 讀取。 目前 evidence 尚待取得，數值欄位維持待補；讀取時使用本次 stdout 印出的 result_path，並以同一產物目錄的 endpoint-replay.json 配對。若 A predecessor 不是 frozen，先還原 `artifacts/checkpoints/lab-a-frozen.py`，完成 compile 後再開始 B。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P050。`ENTER_QUALITY` 是 policy constant，來源是 `student_policy.py` 的 B marked block，單位為 quality band，作用是設定進入 send-ready 的最低 quality。`stable_steps` 是 runner observation，單位為連續 step，作用是抑制短暫尖峰。`send_mode_active` 是 policy mode 的布林狀態，來源是 MODE_CHANGE event。baseline 值是 2、1、2；本實驗的唯一修改會放在 STABLE_STEPS。 目前 evidence 尚待取得，數值欄位維持待補；讀取時使用本次 stdout 印出的 result_path，並以同一產物目錄的 endpoint-replay.json 配對。若 B block 的 baseline 值與頁面不一致，停止並恢復 A frozen predecessor，再檢查 release policy。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P051。`EXIT_QUALITY` 來源是 B marked block，單位為 quality band，作用是設定已進入 send-ready 後的退出門檻。ENTER=2 與 EXIT=1 形成 hysteresis：未進入要達到 2，已進入只要維持 1 或以上。這個設計預期減少 mode ping-pong，但是否改變 retry、service 或 endpoint J，必須由 MODE_CHANGE 與 result evidence 驗證。 目前 evidence 尚待取得，數值欄位維持待補；讀取時使用本次 stdout 印出的 result_path，並以同一產物目錄的 endpoint-replay.json 配對。若 transition evidence 缺失，保留 result 與 replay，回到同一次 stdout result_path 重新選取 pair；不改寫 JSON。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P052。`STABLE_STEPS` 來源是 `student_policy.py` B marked block，單位是連續 clock steps。runner 每個固定 10 s step 更新 stable count；達到 2 才能切換 `send_mode_active`。candidate 只將 2 改為 1，所以預測是 enter transition 可能提早一個 step，後續再觀察 packet attempt、deadline、service 與 endpoint J。 目前 evidence 尚待取得，數值欄位維持待補；讀取時使用本次 stdout 印出的 result_path，並以同一產物目錄的 endpoint-replay.json 配對。若 prediction 尚未記錄，不先解讀結果；保留目前 policy，完成 prediction 後再進入 Trace A baseline。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P053。本頁在 Trace A 上記錄預測。`quality_band` 的單位是 teaching band，`MODE_CHANGE` 來源是 result events，單位是 event record；prediction 要指出第一次達到 enter 門檻的 step、hold 所需的連續 steps、exit 的 quality 條件，以及 packet／service／J 的方向。policy 只能使用當下與過去 observation，不使用 future trace 或 result summary。 目前 evidence 尚待取得，數值欄位維持待補；讀取時使用本次 stdout 印出的 result_path，並以同一產物目錄的 endpoint-replay.json 配對。若 A policy 不是 frozen，從 `artifacts/checkpoints/lab-a-frozen.py` 還原並完成 compile；B edit 在後續 operation page 執行。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P054。Trace A baseline 使用 A frozen predecessor 與 B 的原始 STABLE_STEPS=2。`result_path` 來源是 runner stdout，資料型態是字串路徑；配對的 endpoint-replay.json 必須來自同一個產物目錄。讀取順序是 MODE_CHANGE、packet outcome、service_pass 與 endpoint_energy_j。baseline 只建立 control，不回答 hold=1 是否更好。 目前 evidence 尚待取得，數值欄位維持待補；讀取時使用本次 stdout 印出的 result_path，並以同一產物目錄的 endpoint-replay.json 配對。若 baseline pair 缺失，重新執行 `bash course.sh run --lab B --case trace-a-baseline` 或 Windows 等價命令，接受新的 stdout result_path。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P055。本頁只改 `student_policy.py` 的 `lab-b-enter-exit-hold` marked block。ENTER=2 與 EXIT=1 定義進出 threshold，STABLE_STEPS 定義進入前的連續 observation 數；因此將 2 改為 1，能把 transition timing 的變化連到 hold，而不混入其他 policy。備份與 py_compile 只驗證檔案可恢復及語法成立，不產生結果數值。 目前 evidence 尚待取得，數值欄位維持待補；讀取時使用本次 stdout 印出的 result_path，並以同一產物目錄的 endpoint-replay.json 配對。若 compile 失敗，從 `student_policy.before-B-edit.py` 還原；A frozen block 與 runner 不作修改。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P056。本頁集中 Lab B 的三條 exact command。第一條建立 Trace A baseline；第二條在 STABLE_STEPS=1 後執行 candidate 並建立 B freeze checkpoint；第三條保持 B frozen 執行 Trace B。每次成功 stdout 都提供新的 `result_path`，它是該次 result.json 的字串入口；配對 replay 必須在同一個產物目錄。candidate 的 status、artifact source 與 checkpoint 狀態均以實際 stdout 和檔案為準。 目前 evidence 尚待取得，數值欄位維持待補；讀取時使用本次 stdout 印出的 result_path，並以同一產物目錄的 endpoint-replay.json 配對。任一步失敗都保留 stdout／stderr；若 candidate freeze 缺失，不進 Trace B，先從 A checkpoint 還原並重跑 candidate freeze。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P057。本頁沿 candidate 的 result_path 觀察。`MODE_CHANGE` 是事件，描述 REST 與 SEND_READY 的切換；`PACKET_ATTEMPT` 是一次封包傳輸嘗試；attempted、retransmissions、delivered_bits 與 expired_packets 的單位分別是 count、count、bit、count。service_pass 與 deadline_pass 是獨立的布林 gate，endpoint_energy_j 是同一 endpoint scope 的 J。品質上升本身不等於服務成功。 目前 evidence 尚待取得，數值欄位維持待補；讀取時使用本次 stdout 印出的 result_path，並以同一產物目錄的 endpoint-replay.json 配對。若 MODE_CHANGE、packet 或 service 欄位不存在，重新從 P056 選取同一 result／replay pair；不要修改產物內容。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P058。B freeze evidence 不是另一張結果頁，而是 Trace B 的 lineage gate。A predecessor 提供 Lab B 的固定前序 policy；B checkpoint 保存 STABLE_STEPS=1 的 frozen source；Trace B 只能使用同一 frozen policy。active_block_id 是作用區塊識別碼，seed role 是案例角色，receipt identity 是 candidate freeze 的收據識別，這些欄位一起決定是否具備 withheld 閱讀資格。 目前 evidence 尚待取得，數值欄位維持待補；讀取時使用本次 stdout 印出的 result_path，並以同一產物目錄的 endpoint-replay.json 配對。若 B checkpoint 缺失或 predecessor 不符，從 `artifacts/checkpoints/lab-a-frozen.py` 還原，重做 P056 candidate `--freeze`；不得直接執行 Trace B。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P059。Trace B 使用 P056 第三條 stdout result_path 與同目錄 replay。frozen policy 的 A、B 兩個 marked block 都不變，Trace B 的 case 條件才是新的因素。讀取 expired_packets、delivered_bits、service_pass 與 endpoint_energy_j，並把它們與 Trace A candidate 的 transition evidence 對照。Trace B 是 claim ceiling 的 evidence，不是要被調參消除的錯誤。 目前 evidence 尚待取得，數值欄位維持待補；讀取時使用本次 stdout 印出的 result_path，並以同一產物目錄的 endpoint-replay.json 配對。若 Trace B path 缺失，從 `artifacts/checkpoints/lab-b-frozen.py` 還原，重新執行 `bash course.sh run --lab B --case trace-b` 或 Windows 等價命令。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P060。too-slow 與 ping-pong 使用不同的事件判定。too-slow 是 hold 長度使 send-ready 進入過晚，導致窗口或 deadline 失去機會；ping-pong 是 enter 與 exit 間隔太近，造成多次 MODE_CHANGE、retry 或 transition cost。兩者都必須以 event ledger、packet outcome、service verdict 與 endpoint energy 支持，不能只看一條 quality 曲線。 目前 evidence 尚待取得，數值欄位維持待補；讀取時使用本次 stdout 印出的 result_path，並以同一產物目錄的 endpoint-replay.json 配對。若比較的兩筆結果 policy identity 不同，回到 B freeze，使用同一個 checkpoint 重新取得可配對的 result／replay。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P061。Lab B 結論要同時讀 P056 的 Trace A 與 Trace B result_path、policy identity、scenario identity、transition 與 service verdict。若 hold=1 在 Trace A 改善某個 packet 欄位，但 service_pass 仍未通過，結論只能描述該 trade-off；Trace B 的窗口或 traffic 限制會進一步縮小適用範圍。hysteresis 是條件設計，不是跨所有窗口的保證。 目前 evidence 尚待取得，數值欄位維持待補；讀取時使用本次 stdout 印出的 result_path，並以同一產物目錄的 endpoint-replay.json 配對。若任一 result／replay pair 缺失，保留 B freeze，回到 stdout path 重新選檔，不重新執行或改寫 policy。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P062。復原分成四個資料變化。copy 將最後一個 identity 正確的 policy checkpoint 放回 `student_policy.py`；compile 確認語法；exact rerun 在同一 scenario 與 case contract 下重新產生結果；新的 stdout result_path 與同目錄 endpoint-replay.json 成為新的 evidence pair。policy checkpoint 不會復原遺失的 result。release baseline 檔名依 package 實際檔案為 `student_policy.baseline.py`。 目前 evidence 尚待取得，數值欄位維持待補；讀取時使用本次 stdout 印出的 result_path，並以同一產物目錄的 endpoint-replay.json 配對。若 result 或 replay 遺失，回到最後一個有效 checkpoint，先 compile，再重跑對應 case；主機受阻時保留 same-scenario fallback 的來源標籤。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P063。本頁將 result.json 接到 Leo /course。runner stdout 的 `result_path` 是輸入位置；validator 讀取 schema、scenario identity、case、units、policy lineage 與 provenance。通過後，網站讀取同一產物目錄的 endpoint-replay.json，materialize state、queue、packet 與 service evidence，並把 baseline、candidate、withheld record 放入 Energy Decision Workbook。網站不執行 `student_policy.py`，也不把 endpoint energy 對應為 current system/canonical energy。任何 mismatch 都 fail closed，原 workbook 維持不變。 目前 evidence 尚待取得，數值欄位維持待補；讀取時使用本次 stdout 印出的 result_path，並以同一產物目錄的 endpoint-replay.json 配對。匯入失敗時保留錯誤與原始 stdout path，從 P062 checkpoint 重跑 exact case，再以新的 result/replay pair 重試；不手改 JSON。 資料分類維持 SIMULATED TEACHING DATA / NOT LIVE / NOT MEASURED / NOT CANONICAL-PARITY-VERIFIED。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先問一個白話問題：急件應提前多久送出，才不會為省能量而誤期？本頁只建立批次等待、急件期限與服務窗口的觀察框架；下一頁開啟實際 student_policy.py 的 Lab C 區塊。queue age 顯示等待成本，service gate 判定必要資料是否在期限與 freshness 規則內完成，endpoint J 只描述宣告的端點範圍。</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source truth 為 /home/u24/lora-energy-lab/student_policy.py。只讀鏡像指向 LORA EDITABLE: lab-c-batch-urgent；實際行為由 BATCH_SIZE = 3、URGENT_MARGIN_S = 20 與 choose_action() 的急件條件共同決定。窗口關閉、急件、pacing、品質、批次與 WAIT 的固定順序完整呈現；Lab A/B blocks、runner、scenario、schemas、其他常數／函式／檔案維持原樣。</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執行順序固定為 baseline 20，再完成唯一門檻修改後執行 candidate 5。兩條 platform launcher 路徑都在同一個 package root；每次 stdout 印出本次 result_path，且同一 run 目錄保存配對 result.json 與 endpoint-replay.json，先保存 baseline，再保存 candidate。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URGENT_MARGIN_S 是 /home/u24/lora-energy-lab/student_policy.py 的 LORA EDITABLE: lab-c-batch-urgent 中，距離期限剩餘秒數的門檻。候選只把 20 改成 5；BATCH_SIZE = 3、Lab A/B frozen blocks、runner、scenario、schemas、其他常數／函式／檔案均維持不變。機制是距限必須更接近期限才回傳 SEND_URGENT，因此 action timing 變晚，delivery／deadline 可能受壓。</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5 的可反駁預測是：急件分支較晚出現，可能減少早期 wake／TX energy，也可能使封包更接近 deadline 或失去 delivery。urgent_due_in_s、queue_size、service_pass／deadline_pass 與 endpoint_energy_j 分別代表距限、佇列壓力、服務結果與端點能量；若服務或期限 FAIL，純省能量說法即不成立。</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20 與 candidate 5 共用同一 scenario、seed role 與 endpoint boundary。比較先讀 service_pass／deadline_pass，再讀 delivered_bits、endpoint_energy_j 與 endpoint bit/J；candidate 少交付 800 bit 且兩個 gate 均 FAIL，即使 J 與 bit/J 較低／較高，也不能改稱服務成功。fresh run 數值仍以 stdout result_path 為準。</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candidate 5 保留為 failure evidence；revision 只把同一 marked block 的 5 改成 30。BATCH_SIZE = 3、Lab A/B frozen blocks、runner、scenario、schemas、其他常數／函式／檔案均維持不變。較大門檻表示距限尚有餘裕便回傳 SEND_URGENT，action timing 變早；只允許這一次 revision。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revision 30 保留 candidate 5 的 failure evidence，再提出條件式預測：較早 SEND_URGENT 可能增加 wake／TX energy，也可能讓 required packet 在期限前完成。只有 delivery、deadline、state ledger 與 endpoint J 同時對得上，服務／能量取捨才成立。</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執行順序固定為 revision 30 --freeze，再以完全相同的 policy bytes 執行 surprise withheld。兩個 command 都保存 stdout result_path；每個 run 目錄均需有配對 result.json 與 endpoint-replay.json。surprise 不新增 edit、不重新調參，僅檢查新情境的 claim boundary。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20、candidate 5 與 revision 30 共用相同情境邊界。門檻只改變 urgent branch 的觸發時機；J 的差異必須回到 urgent send、wake／TX／RX、retry、delivery 與 expiry 事件解釋。revision 在固定條件下恢復 gate，不延伸為所有窗口都適用。</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surprise 沿用 frozen margin 30 policy，在新的 service condition 下交付 2,400 bit，endpoint J 為 5.41 J，endpoint bit/J 為 443.622921，並出現 3 次 retransmission 與 3 張 expired packet；service 與 deadline 均 FAIL。這筆 withheld record 不建立第三次 edit，而是保存 margin 30 的適用邊界與 provenance。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C 的結論是 urgent margin 會改變 deadline／energy trade-off，效果依 service condition 而定。margin 5 的 candidate 以較低 endpoint J 失去 service 與 deadline；margin 30 的 revision 在固定 fallback 中恢復 gate；surprise 則顯示新的窗口條件仍可能失敗。最終 claim 必須保留在 endpoint evidence layer。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本機 runner 讀取 /home/u24/lora-energy-lab/student_policy.py 並產生 result.json 與配對 endpoint-replay.json；網站只接受已產生的 JSON artifact，驗證 schema、identity、units、policy lineage 與 provenance，materialize replay，並把比較保存到 workbook。網站不執行本機 Python；browser record 不取代 runner receipt。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匯入驗證依序檢查 JSON 與 schema、scenario identity、runner provenance、lab／case／seed、policy lineage、units 與 energy sum、event legality、claim boundary，再 materialize replay。任何一層失敗時，原有 session 與 workbook 維持不變；來源修正後重新匯入或使用 matching fallback。</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REPLAY（事件重播）讀取已驗證 endpoint-replay.json 的 event ledger，不重新執行 policy，也不在瀏覽器推導新的科學數值。frame selector 只改變同一條 endpoint timeline；Radio、Action、queue、累積 endpoint J、Elapsed、Contact 與 Quality 必須一起閱讀，才能把 action 對回 packet delivery 或 expiry。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WORKBOOK（比較紀錄）保存 baseline、candidate、revision 與 surprise 的 prediction、edit、result_path、replay、service／deadline、endpoint scope、recovery note 與 claim boundary。它保存比較與 lineage；surprise 即使 FAIL 也保留為 withheld record，缺 evidence 時維持 INCOMPLETE。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保存 workbook 後關閉頁面，再重新開啟並核對 scenario、anchor、policy／predecessor identity、endpoint scope、prediction、result 與 replay。重新開啟只重新驗證身份與完成度，不執行 student_policy.py，也不把失敗的 surprise 改寫為成功。必要 evidence 缺少時，狀態維持 INCOMPLETE，並沿 matching artifact 或 release backup recovery。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智慧農場把 LEO 的 changing-service-window trace 映射成閘道可用時段。queue age 來自排隊事件，單位是 elapsed time；它用來判讀批次等待與資料新鮮度。urgent margin 來自 policy constant，單位是秒；它決定告警何時取得優先送出機會。service gate 讀取 required delivery 與 freshness，endpoint J 只描述宣告的端點邊界。農場現場 KPI 待補，這裡保存的是可檢驗的 transfer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ns2:creationId val="3000000001"/>
      </p:ext>
    </p:extLst>
  </p:cSld>
  <p:clrMapOvr>
    <a:masterClrMapping/>
  </p:clrMapOvr>
</p:notes>
</file>

<file path=ppt/notesSlides/notesSlide8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HVAC 的低負載或可連線時段可作為 changing-service-window trace。normal telemetry 進入 queue 後可以等待 batch flush；urgent alarm 以 deadline 與 freshness 取得較早的 SEND_URGENT 機會。endpoint ledger 分解 awake idle、wake、process、TX、RX 與 sleep，單位是 J；service gate 先描述告警完成與 freshness，再描述能量取捨。HVAC 現場資料待補，畫面只保留機制映射。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ns2:creationId val="3000000010"/>
      </p:ext>
    </p:extLst>
  </p:cSld>
  <p:clrMapOvr>
    <a:masterClrMapping/>
  </p:clrMapOvr>
</p:notes>
</file>

<file path=ppt/notesSlides/notesSlide8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device 的 observation 讀取 queue、deadline、quality 與可用窗口，來源是 endpoint trace。policy action 是 enum，作用是選擇 WAIT、SLEEP、SEND_URGENT 或 FLUSH_BATCH。event ledger 以 state、packet 與 service event 連接 action 與 endpoint J；J 的單位是焦耳，只屬於宣告的 endpoint scope。轉移假說必須保留一個 held-out condition，例如窗口縮短或 traffic 增加，作為可推翻條件。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ns2:creationId val="3000000011"/>
      </p:ext>
    </p:extLst>
  </p:cSld>
  <p:clrMapOvr>
    <a:masterClrMapping/>
  </p:clrMapOvr>
</p:notes>
</file>

<file path=ppt/notesSlides/notesSlide9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離開 Lab C 時保存的是可重跑、可回放、可比較的 policy hypothesis。workbook record 連結 condition、policy branch、event evidence、service gate、endpoint scope 與 claim boundary；每個欄位的來源與 identity 都要保留。transfer 的現場能量與服務 KPI 待補，不能把模擬結果外推成 live measurement。若需要 fresh run，先保存目前 lineage，再依核准流程建立新的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ns2:creationId val="3000000012"/>
      </p:ext>
    </p:extLst>
  </p:cSld>
  <p:clrMapOvr>
    <a:masterClrMapping/>
  </p:clrMapOvr>
</p:notes>
</file>

<file path=ppt/notesSlides/notesSlide9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browser session 的 identifier-free metrics crop 可用來讀取 endpoint summary；source header crop 目前待補，因此來源身份以文字 record 明示。actual upload 與 same-scenario fallback 分開保存，case、role、service 與 source 是比較前的 identity 欄位。匯入 gate 讀取 schema、scenario identity、units、policy lineage 與 provenance；通過後才更新 replay 與 workbook。fallback 只作同情境教學資料，不能改寫本機 runner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ns2:creationId val="3000000013"/>
      </p:ext>
    </p:extLst>
  </p:cSld>
  <p:clrMapOvr>
    <a:masterClrMapping/>
  </p:clrMapOvr>
</p:notes>
</file>

<file path=ppt/notesSlides/notesSlide9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 identifier-free metrics crop 目前顯示 service FAIL、endpoint energy 6.92 J、delivered data 4800 bit 與 endpoint bit/J 693.641618。服務欄位來自 accepted endpoint teaching record，FAIL 是 gate verdict；delivered data 的單位是 bit，描述資料完成量；endpoint energy 的單位是 J，描述端點邊界累積能量；bit/J 是 efficiency ratio。閱讀順序是 service、delivery、endpoint J、bit/J，因此較高的效率數字不能改寫服務失敗。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ns2:creationId val="3000000014"/>
      </p:ext>
    </p:extLst>
  </p:cSld>
  <p:clrMapOvr>
    <a:masterClrMapping/>
  </p:clrMapOvr>
</p:notes>
</file>

<file path=ppt/notesSlides/notesSlide9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identifier-free replay-frame crop 顯示 endpoint frame selector 與八個欄位。Radio 來自 endpoint state ledger，值是 state enum；Action 來自 policy API，值是 action enum；queue count 來自 frame queue，單位是 packet count；累積 endpoint energy 來自 endpoint ledger，單位是 J。Elapsed 來自 endpoint trace，單位是時間；Contact ID 是 contact trace 的字串識別碼；Contact 是 contact event 的開啟或關閉狀態；Quality 來自 runner quality trace，是 ordinal quality_band 分類，不換算成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ns2:creationId val="3000000015"/>
      </p:ext>
    </p:extLst>
  </p:cSld>
  <p:clrMapOvr>
    <a:masterClrMapping/>
  </p:clrMapOvr>
</p:notes>
</file>

<file path=ppt/notesSlides/notesSlide9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item 來自目前 endpoint frame，描述仍待處理的工作；packet event 來自 event ledger，描述該 frame 的事件類型與 identity。current clean crop 沒有包含 queue/event 區塊，因此該 panel 標示待補，事件讀法以可編輯 trace 呈現。沿生成、入列、attempt、retry、delivered 或 expired 的順序回到 service 與 deadline。queue 變空只是狀態變化，delivery 必須由 delivered event 或相應 service record 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ns2:creationId val="3000000016"/>
      </p:ext>
    </p:extLst>
  </p:cSld>
  <p:clrMapOvr>
    <a:masterClrMapping/>
  </p:clrMapOvr>
</p:notes>
</file>

<file path=ppt/notesSlides/notesSlide9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radio/contact timeline 的來源是 endpoint frame sequence；它用 elapsed、contact、quality、radio state 與 action 排列 transition。timeline 的格子描述事件順序，不描述連續功率。每個 transition 對回 student_policy.py 的 contact、urgent、pacing、batch 或 wait branch；Action 顯示當前 policy decision，Radio 顯示 state interval。current timeline crop 待補，畫面以可編輯 transition strip 與 branch map 保存判讀方法。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ns2:creationId val="3000000017"/>
      </p:ext>
    </p:extLst>
  </p:cSld>
  <p:clrMapOvr>
    <a:masterClrMapping/>
  </p:clrMapOvr>
</p:notes>
</file>

<file path=ppt/notesSlides/notesSlide9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identifier-free ledger crop 顯示 experiment/case、display、role、service、endpoint energy J 與 source 六欄。experiment/case 來自 workbook record，role 是 baseline、candidate、revision 或 withheld 的分類；display 只表示目前選取狀態。service 是 gate verdict，endpoint energy 的單位是 J，source 區分 browser record 與 same-scenario fallback。公平比較要核對這些欄位與 run identity，best strategy 由 matched source 與 service gate 定義。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ns2:creationId val="3000000002"/>
      </p:ext>
    </p:extLst>
  </p:cSld>
  <p:clrMapOvr>
    <a:masterClrMapping/>
  </p:clrMapOvr>
</p:notes>
</file>

<file path=ppt/notesSlides/notesSlide9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layer 的來源是 LEO scenario context，欄位包括 TLE source、provider time、contact status、cell、frequency 與 dB；它說明 service opportunity。endpoint layer 的來源是 imported result.json 與 endpoint-replay.json，欄位包括 source、run identity、summary、replay、ledger 與 endpoint scope。兩層各自保留 frame identity 與 provenance；provider context 不會重新計算 endpoint result，endpoint J 也不升格為 system 或 canonical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ns2:creationId val="3000000003"/>
      </p:ext>
    </p:extLst>
  </p:cSld>
  <p:clrMapOvr>
    <a:masterClrMapping/>
  </p:clrMapOvr>
</p:notes>
</file>

<file path=ppt/notesSlides/notesSlide9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controls 的作用是保存與重開 evidence chain。建立 checkpoint 讀取 prediction、result/replay lineage、source 與 role，寫入可恢復狀態；restore 讀取已保存 checkpoint，成功後更新目前 record。reset/undo 讀寫 browser-local progress；export/reopen 讀寫 workbook lineage 與檔案狀態。驗證失敗時原 workbook 與 progress 維持；0/10 是完成段落計數，不是 service、J 或 bit/J。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ns2:creationId val="3000000004"/>
      </p:ext>
    </p:extLst>
  </p:cSld>
  <p:clrMapOvr>
    <a:masterClrMapping/>
  </p:clrMapOvr>
</p:notes>
</file>

<file path=ppt/notesSlides/notesSlide9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 gate 依序處理 format/schema、identity/lineage 與 immutable duplicate。每個 gate 的來源是 import validator，失敗時原 session、workbook 與既有 record 保持。recovery 只回 matching artifact、release backup 或明示 same-scenario fallback，並保存 recovery note 與新的 result_path。current rejection screenshot 待補；畫面使用可編輯 fork 表達狀態邊界，不手改 JSON、不替換 case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ns2:creationId val="3000000005"/>
      </p:ext>
    </p:extLst>
  </p:cSld>
  <p:clrMapOvr>
    <a:masterClrMapping/>
  </p:clrMapOvr>
</p:notes>
</file>

<file path=ppt/notesSlides/notesSlide10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READY control 讀取 terminal 的 machine-readable receipt，寫入 browser-local setup status；成功後顯示已就緒，失敗時原 status 保持。記錄備用環境讀取 fallback choice，寫入 browser-local source。terminal runner 負責 setup、verify、run 與 result artifact；browser route 負責記錄狀態與匯入。current Prepare crop 待補，這裡以 editable state split 說明控制項的 read/write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ns2:creationId val="3000000006"/>
      </p:ext>
    </p:extLst>
  </p:cSld>
  <p:clrMapOvr>
    <a:masterClrMapping/>
  </p:clrMapOvr>
</p:notes>
</file>

<file path=ppt/notesSlides/notesSlide10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導覽控制讀取 navigation state，寫入 focus、language 或 route。直接前往操作區與返回首頁只改 focus；繁中/EN 只改畫面語言；準備、實驗 A/B/C、證據與學習單只切換工作台。fallback loader 讀取 experiment order，寫入 selected fallback；成功後更新 selected source，identity 不符時原 result 保持。current navigation crop 待補，畫面用 editable navigation map 說明責任邊界。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ns2:creationId val="3000000007"/>
      </p:ext>
    </p:extLst>
  </p:cSld>
  <p:clrMapOvr>
    <a:masterClrMapping/>
  </p:clrMapOvr>
</p:notes>
</file>

<file path=ppt/notesSlides/notesSlide10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controls 讀取目前段落 evidence，寫入 completion 與 lock。Task 1–10 的勾選表示保存完成；檢查證據並繼續檢查該段要求，成功後保存並解鎖下一段；證據已鎖定顯示保存狀態。條件不足時原 task、原 evidence 與原 workbook 保持。current task-control crop 待補，editable staircase 保留可見的段落狀態與控制語義。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ns2:creationId val="3000000008"/>
      </p:ext>
    </p:extLst>
  </p:cSld>
  <p:clrMapOvr>
    <a:masterClrMapping/>
  </p:clrMapOvr>
</p:notes>
</file>

<file path=ppt/notesSlides/notesSlide10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provider replay controls 讀取 provider frame sequence，寫入 playback cursor；播放、暫停、slider、上一畫面與下一個畫面只改 provider cursor。endpoint selector 讀取 endpoint frame sequence，寫入 selected frame，成功後更新八個欄位、queue 與 event。兩層 frame identity 各自保存；provider frame 移動不會自動改寫 endpoint Action。current provider control crop 待補，identifier-free endpoint frame crop 用來示範獨立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ns2:creationId val="30000000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805DCD4E-0403-46F3-858B-5BF02EA5CC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Line 12">
            <a:extLst>
              <a:ext uri="{FF2B5EF4-FFF2-40B4-BE49-F238E27FC236}">
                <a16:creationId xmlns:a16="http://schemas.microsoft.com/office/drawing/2014/main" id="{C41B0D54-DF44-4127-9A39-B15ADA472D5D}"/>
              </a:ext>
            </a:extLst>
          </p:cNvPr>
          <p:cNvSpPr>
            <a:spLocks noChangeShapeType="1"/>
          </p:cNvSpPr>
          <p:nvPr/>
        </p:nvSpPr>
        <p:spPr bwMode="auto">
          <a:xfrm>
            <a:off x="1001184" y="2312353"/>
            <a:ext cx="0" cy="76200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5" name="Line 13">
            <a:extLst>
              <a:ext uri="{FF2B5EF4-FFF2-40B4-BE49-F238E27FC236}">
                <a16:creationId xmlns:a16="http://schemas.microsoft.com/office/drawing/2014/main" id="{B2658828-45E5-4D11-9E76-B8625DD6F827}"/>
              </a:ext>
            </a:extLst>
          </p:cNvPr>
          <p:cNvSpPr>
            <a:spLocks noChangeShapeType="1"/>
          </p:cNvSpPr>
          <p:nvPr/>
        </p:nvSpPr>
        <p:spPr bwMode="auto">
          <a:xfrm>
            <a:off x="683685" y="2844165"/>
            <a:ext cx="10943167"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9508" name="Rectangle 4"/>
          <p:cNvSpPr>
            <a:spLocks noGrp="1" noChangeArrowheads="1"/>
          </p:cNvSpPr>
          <p:nvPr>
            <p:ph type="ctrTitle"/>
          </p:nvPr>
        </p:nvSpPr>
        <p:spPr>
          <a:xfrm>
            <a:off x="1132417" y="1581209"/>
            <a:ext cx="10363200" cy="1143000"/>
          </a:xfrm>
        </p:spPr>
        <p:txBody>
          <a:bodyPr/>
          <a:lstStyle>
            <a:lvl1pPr>
              <a:defRPr sz="3200" b="0" baseline="0">
                <a:solidFill>
                  <a:schemeClr val="tx1"/>
                </a:solidFill>
                <a:latin typeface="Times New Roman" panose="02020603050405020304" pitchFamily="18" charset="0"/>
                <a:ea typeface="標楷體" panose="03000509000000000000" pitchFamily="65" charset="-120"/>
              </a:defRPr>
            </a:lvl1pPr>
          </a:lstStyle>
          <a:p>
            <a:r>
              <a:rPr lang="zh-TW" altLang="en-US"/>
              <a:t>按一下以編輯母片標題樣式</a:t>
            </a:r>
            <a:endParaRPr lang="de-DE"/>
          </a:p>
        </p:txBody>
      </p:sp>
      <p:sp>
        <p:nvSpPr>
          <p:cNvPr id="149509" name="Rectangle 5"/>
          <p:cNvSpPr>
            <a:spLocks noGrp="1" noChangeArrowheads="1"/>
          </p:cNvSpPr>
          <p:nvPr>
            <p:ph type="subTitle" idx="1"/>
          </p:nvPr>
        </p:nvSpPr>
        <p:spPr>
          <a:xfrm>
            <a:off x="1780117" y="2935777"/>
            <a:ext cx="8534400" cy="1438103"/>
          </a:xfrm>
        </p:spPr>
        <p:txBody>
          <a:bodyPr/>
          <a:lstStyle>
            <a:lvl1pPr marL="0" indent="0" algn="ctr">
              <a:buFont typeface="Symbol" pitchFamily="18" charset="2"/>
              <a:buNone/>
              <a:defRPr sz="2800" baseline="0">
                <a:latin typeface="Times New Roman" panose="02020603050405020304" pitchFamily="18" charset="0"/>
                <a:ea typeface="標楷體" panose="03000509000000000000" pitchFamily="65" charset="-120"/>
              </a:defRPr>
            </a:lvl1pPr>
          </a:lstStyle>
          <a:p>
            <a:r>
              <a:rPr lang="zh-TW" altLang="en-US"/>
              <a:t>按一下以編輯母片副標題樣式</a:t>
            </a:r>
            <a:endParaRPr lang="de-DE" dirty="0"/>
          </a:p>
        </p:txBody>
      </p:sp>
      <p:sp>
        <p:nvSpPr>
          <p:cNvPr id="10" name="Rectangle 28">
            <a:extLst>
              <a:ext uri="{FF2B5EF4-FFF2-40B4-BE49-F238E27FC236}">
                <a16:creationId xmlns:a16="http://schemas.microsoft.com/office/drawing/2014/main" id="{8B435778-36B6-470A-939D-7E55FA1407F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pic>
        <p:nvPicPr>
          <p:cNvPr id="11" name="圖片 10">
            <a:extLst>
              <a:ext uri="{FF2B5EF4-FFF2-40B4-BE49-F238E27FC236}">
                <a16:creationId xmlns:a16="http://schemas.microsoft.com/office/drawing/2014/main" id="{7F80F928-0BFD-43F3-B309-F20FD4B2E042}"/>
              </a:ext>
            </a:extLst>
          </p:cNvPr>
          <p:cNvPicPr>
            <a:picLocks noChangeAspect="1"/>
          </p:cNvPicPr>
          <p:nvPr userDrawn="1"/>
        </p:nvPicPr>
        <p:blipFill>
          <a:blip r:embed="rId3"/>
          <a:stretch>
            <a:fillRect/>
          </a:stretch>
        </p:blipFill>
        <p:spPr>
          <a:xfrm>
            <a:off x="0" y="6113509"/>
            <a:ext cx="12192000" cy="216208"/>
          </a:xfrm>
          <a:prstGeom prst="rect">
            <a:avLst/>
          </a:prstGeom>
        </p:spPr>
      </p:pic>
      <p:pic>
        <p:nvPicPr>
          <p:cNvPr id="12" name="圖片 11">
            <a:extLst>
              <a:ext uri="{FF2B5EF4-FFF2-40B4-BE49-F238E27FC236}">
                <a16:creationId xmlns:a16="http://schemas.microsoft.com/office/drawing/2014/main" id="{4DFD7906-056A-47BA-A5D9-39A4EA473B57}"/>
              </a:ext>
            </a:extLst>
          </p:cNvPr>
          <p:cNvPicPr>
            <a:picLocks noChangeAspect="1"/>
          </p:cNvPicPr>
          <p:nvPr userDrawn="1"/>
        </p:nvPicPr>
        <p:blipFill>
          <a:blip r:embed="rId4"/>
          <a:stretch>
            <a:fillRect/>
          </a:stretch>
        </p:blipFill>
        <p:spPr>
          <a:xfrm>
            <a:off x="9875182" y="0"/>
            <a:ext cx="2265448" cy="323636"/>
          </a:xfrm>
          <a:prstGeom prst="rect">
            <a:avLst/>
          </a:prstGeom>
        </p:spPr>
      </p:pic>
    </p:spTree>
    <p:extLst>
      <p:ext uri="{BB962C8B-B14F-4D97-AF65-F5344CB8AC3E}">
        <p14:creationId xmlns:p14="http://schemas.microsoft.com/office/powerpoint/2010/main" val="373328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5" name="Rectangle 28">
            <a:extLst>
              <a:ext uri="{FF2B5EF4-FFF2-40B4-BE49-F238E27FC236}">
                <a16:creationId xmlns:a16="http://schemas.microsoft.com/office/drawing/2014/main" id="{46B19FCD-9041-49CE-B2A7-94FA63606CE8}"/>
              </a:ext>
            </a:extLst>
          </p:cNvPr>
          <p:cNvSpPr txBox="1">
            <a:spLocks noChangeArrowheads="1"/>
          </p:cNvSpPr>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kumimoji="0" sz="1400" kern="1200">
                <a:solidFill>
                  <a:schemeClr val="tx1"/>
                </a:solidFill>
                <a:latin typeface="Arial" panose="020B0604020202020204" pitchFamily="34" charset="0"/>
                <a:ea typeface="新細明體" panose="02020500000000000000" pitchFamily="18" charset="-120"/>
                <a:cs typeface="+mn-cs"/>
              </a:defRPr>
            </a:lvl1pPr>
            <a:lvl2pPr marL="4572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2pPr>
            <a:lvl3pPr marL="9144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3pPr>
            <a:lvl4pPr marL="13716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4pPr>
            <a:lvl5pPr marL="1828800" algn="l" rtl="0" eaLnBrk="0" fontAlgn="base" hangingPunct="0">
              <a:spcBef>
                <a:spcPct val="0"/>
              </a:spcBef>
              <a:spcAft>
                <a:spcPct val="0"/>
              </a:spcAft>
              <a:defRPr kumimoji="1" sz="2000" kern="1200">
                <a:solidFill>
                  <a:schemeClr val="tx1"/>
                </a:solidFill>
                <a:latin typeface="Arial" panose="020B0604020202020204" pitchFamily="34" charset="0"/>
                <a:ea typeface="新細明體" panose="02020500000000000000" pitchFamily="18" charset="-120"/>
                <a:cs typeface="+mn-cs"/>
              </a:defRPr>
            </a:lvl5pPr>
            <a:lvl6pPr marL="22860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6pPr>
            <a:lvl7pPr marL="27432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7pPr>
            <a:lvl8pPr marL="32004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8pPr>
            <a:lvl9pPr marL="3657600" algn="l" defTabSz="914400" rtl="0" eaLnBrk="1" latinLnBrk="0" hangingPunct="1">
              <a:defRPr kumimoji="1" sz="2000" kern="1200">
                <a:solidFill>
                  <a:schemeClr val="tx1"/>
                </a:solidFill>
                <a:latin typeface="Arial" panose="020B0604020202020204" pitchFamily="34" charset="0"/>
                <a:ea typeface="新細明體" panose="02020500000000000000" pitchFamily="18" charset="-120"/>
                <a:cs typeface="+mn-cs"/>
              </a:defRPr>
            </a:lvl9pPr>
          </a:lstStyle>
          <a:p>
            <a:pPr>
              <a:defRPr/>
            </a:pPr>
            <a:fld id="{69B0E891-B98C-44D2-AD8F-C733BD4A6D71}" type="slidenum">
              <a:rPr lang="zh-TW" altLang="en-US" sz="1400" baseline="0" smtClean="0">
                <a:latin typeface="Times New Roman" panose="02020603050405020304" pitchFamily="18" charset="0"/>
                <a:ea typeface="標楷體" panose="03000509000000000000" pitchFamily="65" charset="-120"/>
              </a:rPr>
              <a:pPr>
                <a:defRPr/>
              </a:pPr>
              <a:t>‹#›</a:t>
            </a:fld>
            <a:endParaRPr lang="en-US" altLang="zh-TW" sz="1400" baseline="0" dirty="0">
              <a:latin typeface="Times New Roman" panose="02020603050405020304" pitchFamily="18" charset="0"/>
              <a:ea typeface="標楷體" panose="03000509000000000000" pitchFamily="65" charset="-120"/>
            </a:endParaRPr>
          </a:p>
        </p:txBody>
      </p:sp>
      <p:sp>
        <p:nvSpPr>
          <p:cNvPr id="2" name="標題 1"/>
          <p:cNvSpPr>
            <a:spLocks noGrp="1"/>
          </p:cNvSpPr>
          <p:nvPr>
            <p:ph type="title"/>
          </p:nvPr>
        </p:nvSpPr>
        <p:spPr/>
        <p:txBody>
          <a:bodyPr/>
          <a:lstStyle>
            <a:lvl1pPr>
              <a:defRPr sz="3200" baseline="0">
                <a:latin typeface="Times New Roman" panose="02020603050405020304" pitchFamily="18" charset="0"/>
                <a:ea typeface="標楷體" panose="03000509000000000000" pitchFamily="65" charset="-120"/>
              </a:defRPr>
            </a:lvl1pPr>
          </a:lstStyle>
          <a:p>
            <a:r>
              <a:rPr lang="zh-TW" altLang="en-US" dirty="0"/>
              <a:t>按一下以編輯母片標題樣式</a:t>
            </a:r>
          </a:p>
        </p:txBody>
      </p:sp>
      <p:sp>
        <p:nvSpPr>
          <p:cNvPr id="3" name="內容版面配置區 2"/>
          <p:cNvSpPr>
            <a:spLocks noGrp="1"/>
          </p:cNvSpPr>
          <p:nvPr>
            <p:ph idx="1"/>
          </p:nvPr>
        </p:nvSpPr>
        <p:spPr/>
        <p:txBody>
          <a:bodyPr/>
          <a:lstStyle>
            <a:lvl1pPr>
              <a:defRPr sz="28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vl3pPr>
              <a:defRPr sz="2200" baseline="0">
                <a:latin typeface="Times New Roman" panose="02020603050405020304" pitchFamily="18" charset="0"/>
                <a:ea typeface="標楷體" panose="03000509000000000000" pitchFamily="65" charset="-120"/>
              </a:defRPr>
            </a:lvl3pPr>
            <a:lvl4pPr>
              <a:defRPr sz="2000" baseline="0">
                <a:latin typeface="Times New Roman" panose="02020603050405020304" pitchFamily="18" charset="0"/>
                <a:ea typeface="標楷體" panose="03000509000000000000" pitchFamily="65" charset="-120"/>
              </a:defRPr>
            </a:lvl4pPr>
            <a:lvl5pPr>
              <a:defRPr sz="2000" baseline="0">
                <a:latin typeface="Times New Roman" panose="02020603050405020304" pitchFamily="18" charset="0"/>
                <a:ea typeface="標楷體" panose="03000509000000000000" pitchFamily="65"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6" name="圖片 5">
            <a:extLst>
              <a:ext uri="{FF2B5EF4-FFF2-40B4-BE49-F238E27FC236}">
                <a16:creationId xmlns:a16="http://schemas.microsoft.com/office/drawing/2014/main" id="{CB7FDDD4-34FF-4C30-A3FA-0C9DE9C65A82}"/>
              </a:ext>
            </a:extLst>
          </p:cNvPr>
          <p:cNvPicPr>
            <a:picLocks noChangeAspect="1"/>
          </p:cNvPicPr>
          <p:nvPr userDrawn="1"/>
        </p:nvPicPr>
        <p:blipFill>
          <a:blip r:embed="rId2"/>
          <a:stretch>
            <a:fillRect/>
          </a:stretch>
        </p:blipFill>
        <p:spPr>
          <a:xfrm>
            <a:off x="0" y="6121662"/>
            <a:ext cx="12192000" cy="216208"/>
          </a:xfrm>
          <a:prstGeom prst="rect">
            <a:avLst/>
          </a:prstGeom>
        </p:spPr>
      </p:pic>
      <p:pic>
        <p:nvPicPr>
          <p:cNvPr id="8" name="圖片 7">
            <a:extLst>
              <a:ext uri="{FF2B5EF4-FFF2-40B4-BE49-F238E27FC236}">
                <a16:creationId xmlns:a16="http://schemas.microsoft.com/office/drawing/2014/main" id="{7BBD6104-E76A-4DD4-96A1-B5DFE36EE11D}"/>
              </a:ext>
            </a:extLst>
          </p:cNvPr>
          <p:cNvPicPr>
            <a:picLocks noChangeAspect="1"/>
          </p:cNvPicPr>
          <p:nvPr userDrawn="1"/>
        </p:nvPicPr>
        <p:blipFill>
          <a:blip r:embed="rId3"/>
          <a:stretch>
            <a:fillRect/>
          </a:stretch>
        </p:blipFill>
        <p:spPr>
          <a:xfrm>
            <a:off x="10210800" y="0"/>
            <a:ext cx="1981200" cy="283029"/>
          </a:xfrm>
          <a:prstGeom prst="rect">
            <a:avLst/>
          </a:prstGeom>
        </p:spPr>
      </p:pic>
      <p:sp>
        <p:nvSpPr>
          <p:cNvPr id="9" name="內容版面配置區 2">
            <a:extLst>
              <a:ext uri="{FF2B5EF4-FFF2-40B4-BE49-F238E27FC236}">
                <a16:creationId xmlns:a16="http://schemas.microsoft.com/office/drawing/2014/main" id="{6537E7AB-D74C-4DDB-911A-5E4E55C8C56F}"/>
              </a:ext>
            </a:extLst>
          </p:cNvPr>
          <p:cNvSpPr>
            <a:spLocks noGrp="1"/>
          </p:cNvSpPr>
          <p:nvPr>
            <p:ph idx="10" hasCustomPrompt="1"/>
          </p:nvPr>
        </p:nvSpPr>
        <p:spPr>
          <a:xfrm>
            <a:off x="495728" y="6340475"/>
            <a:ext cx="10705672" cy="350555"/>
          </a:xfrm>
        </p:spPr>
        <p:txBody>
          <a:bodyPr/>
          <a:lstStyle>
            <a:lvl1pPr marL="0" indent="0">
              <a:buFontTx/>
              <a:buNone/>
              <a:defRPr sz="1400" baseline="0">
                <a:latin typeface="Times New Roman" panose="02020603050405020304" pitchFamily="18" charset="0"/>
                <a:ea typeface="標楷體" panose="03000509000000000000" pitchFamily="65" charset="-120"/>
              </a:defRPr>
            </a:lvl1pPr>
            <a:lvl2pPr>
              <a:defRPr sz="2400" baseline="0">
                <a:latin typeface="Times New Roman" panose="02020603050405020304" pitchFamily="18" charset="0"/>
                <a:ea typeface="標楷體" panose="03000509000000000000" pitchFamily="65" charset="-120"/>
              </a:defRPr>
            </a:lvl2pPr>
          </a:lstStyle>
          <a:p>
            <a:pPr lvl="0"/>
            <a:r>
              <a:rPr lang="zh-TW" altLang="en-US" dirty="0"/>
              <a:t>編輯母片文字樣式</a:t>
            </a:r>
          </a:p>
        </p:txBody>
      </p:sp>
    </p:spTree>
    <p:extLst>
      <p:ext uri="{BB962C8B-B14F-4D97-AF65-F5344CB8AC3E}">
        <p14:creationId xmlns:p14="http://schemas.microsoft.com/office/powerpoint/2010/main" val="3787340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aseline="0"/>
            </a:lvl1pPr>
          </a:lstStyle>
          <a:p>
            <a:r>
              <a:rPr lang="zh-TW" altLang="en-US"/>
              <a:t>按一下以編輯母片標題樣式</a:t>
            </a:r>
          </a:p>
        </p:txBody>
      </p:sp>
      <p:sp>
        <p:nvSpPr>
          <p:cNvPr id="3" name="內容版面配置區 2"/>
          <p:cNvSpPr>
            <a:spLocks noGrp="1"/>
          </p:cNvSpPr>
          <p:nvPr>
            <p:ph sz="half" idx="1"/>
          </p:nvPr>
        </p:nvSpPr>
        <p:spPr>
          <a:xfrm>
            <a:off x="565152" y="914400"/>
            <a:ext cx="5556249"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324601" y="914400"/>
            <a:ext cx="5558367" cy="5191125"/>
          </a:xfrm>
        </p:spPr>
        <p:txBody>
          <a:bodyPr/>
          <a:lstStyle>
            <a:lvl1pPr>
              <a:defRPr sz="2800" baseline="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Rectangle 28">
            <a:extLst>
              <a:ext uri="{FF2B5EF4-FFF2-40B4-BE49-F238E27FC236}">
                <a16:creationId xmlns:a16="http://schemas.microsoft.com/office/drawing/2014/main" id="{C777D388-01C3-486D-A87C-B924DC57D28F}"/>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6" name="圖片 5">
            <a:extLst>
              <a:ext uri="{FF2B5EF4-FFF2-40B4-BE49-F238E27FC236}">
                <a16:creationId xmlns:a16="http://schemas.microsoft.com/office/drawing/2014/main" id="{4D893B48-16BE-E45D-6372-999419BFA52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767308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609600" y="177801"/>
            <a:ext cx="10972800" cy="575732"/>
          </a:xfrm>
        </p:spPr>
        <p:txBody>
          <a:bodyPr/>
          <a:lstStyle>
            <a:lvl1pPr>
              <a:defRPr baseline="0"/>
            </a:lvl1pPr>
          </a:lstStyle>
          <a:p>
            <a:r>
              <a:rPr lang="zh-TW" altLang="en-US"/>
              <a:t>按一下以編輯母片標題樣式</a:t>
            </a:r>
          </a:p>
        </p:txBody>
      </p:sp>
      <p:sp>
        <p:nvSpPr>
          <p:cNvPr id="3" name="文字版面配置區 2"/>
          <p:cNvSpPr>
            <a:spLocks noGrp="1"/>
          </p:cNvSpPr>
          <p:nvPr>
            <p:ph type="body" idx="1"/>
          </p:nvPr>
        </p:nvSpPr>
        <p:spPr>
          <a:xfrm>
            <a:off x="609600" y="1535113"/>
            <a:ext cx="5386917"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609600" y="2174875"/>
            <a:ext cx="5386917"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93368" y="1535113"/>
            <a:ext cx="5389033" cy="639762"/>
          </a:xfrm>
        </p:spPr>
        <p:txBody>
          <a:bodyPr anchor="b"/>
          <a:lstStyle>
            <a:lvl1pPr marL="0" indent="0">
              <a:buNone/>
              <a:defRPr sz="24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93368" y="2174875"/>
            <a:ext cx="5389033" cy="3951288"/>
          </a:xfrm>
        </p:spPr>
        <p:txBody>
          <a:bodyPr/>
          <a:lstStyle>
            <a:lvl1pPr>
              <a:defRPr sz="2400" baseline="0"/>
            </a:lvl1pPr>
            <a:lvl2pPr>
              <a:defRPr sz="2000" baseline="0"/>
            </a:lvl2pPr>
            <a:lvl3pPr>
              <a:defRPr sz="1800" baseline="0"/>
            </a:lvl3pPr>
            <a:lvl4pPr>
              <a:defRPr sz="1600" baseline="0"/>
            </a:lvl4pPr>
            <a:lvl5pPr>
              <a:defRPr sz="1600" baseline="0"/>
            </a:lvl5pPr>
            <a:lvl6pPr>
              <a:defRPr sz="1600"/>
            </a:lvl6pPr>
            <a:lvl7pPr>
              <a:defRPr sz="1600"/>
            </a:lvl7pPr>
            <a:lvl8pPr>
              <a:defRPr sz="1600"/>
            </a:lvl8pPr>
            <a:lvl9pPr>
              <a:defRPr sz="16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Rectangle 28">
            <a:extLst>
              <a:ext uri="{FF2B5EF4-FFF2-40B4-BE49-F238E27FC236}">
                <a16:creationId xmlns:a16="http://schemas.microsoft.com/office/drawing/2014/main" id="{B243DEEE-11C0-45AB-B44D-DA0457D58046}"/>
              </a:ext>
            </a:extLst>
          </p:cNvPr>
          <p:cNvSpPr>
            <a:spLocks noGrp="1" noChangeArrowheads="1"/>
          </p:cNvSpPr>
          <p:nvPr>
            <p:ph type="sldNum" sz="quarter" idx="10"/>
          </p:nvPr>
        </p:nvSpPr>
        <p:spPr>
          <a:ln/>
        </p:spPr>
        <p:txBody>
          <a:bodyPr/>
          <a:lstStyle>
            <a:lvl1pPr>
              <a:defRPr baseline="0"/>
            </a:lvl1pPr>
          </a:lstStyle>
          <a:p>
            <a:fld id="{45D5892C-9710-48A3-8372-2122A7AD32EA}" type="slidenum">
              <a:rPr lang="zh-TW" altLang="en-US" smtClean="0"/>
              <a:pPr/>
              <a:t>‹#›</a:t>
            </a:fld>
            <a:endParaRPr lang="zh-TW" altLang="en-US"/>
          </a:p>
        </p:txBody>
      </p:sp>
      <p:pic>
        <p:nvPicPr>
          <p:cNvPr id="8" name="圖片 7">
            <a:extLst>
              <a:ext uri="{FF2B5EF4-FFF2-40B4-BE49-F238E27FC236}">
                <a16:creationId xmlns:a16="http://schemas.microsoft.com/office/drawing/2014/main" id="{B112EF57-5A2F-97E4-31F4-6B2593170BE7}"/>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8428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550333" y="150813"/>
            <a:ext cx="11438467" cy="571500"/>
          </a:xfrm>
        </p:spPr>
        <p:txBody>
          <a:bodyPr/>
          <a:lstStyle/>
          <a:p>
            <a:r>
              <a:rPr lang="zh-TW" altLang="en-US"/>
              <a:t>按一下以編輯母片標題樣式</a:t>
            </a:r>
          </a:p>
        </p:txBody>
      </p:sp>
      <p:sp>
        <p:nvSpPr>
          <p:cNvPr id="3" name="Rectangle 28">
            <a:extLst>
              <a:ext uri="{FF2B5EF4-FFF2-40B4-BE49-F238E27FC236}">
                <a16:creationId xmlns:a16="http://schemas.microsoft.com/office/drawing/2014/main" id="{C39D7682-F964-461A-AAAE-372642E0A382}"/>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4" name="圖片 3">
            <a:extLst>
              <a:ext uri="{FF2B5EF4-FFF2-40B4-BE49-F238E27FC236}">
                <a16:creationId xmlns:a16="http://schemas.microsoft.com/office/drawing/2014/main" id="{20D15BFF-517B-3F62-F57C-7D32F1722A2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10401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8">
            <a:extLst>
              <a:ext uri="{FF2B5EF4-FFF2-40B4-BE49-F238E27FC236}">
                <a16:creationId xmlns:a16="http://schemas.microsoft.com/office/drawing/2014/main" id="{F27029BD-E6AF-407F-ACA5-95E13AE34ACC}"/>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3" name="圖片 2">
            <a:extLst>
              <a:ext uri="{FF2B5EF4-FFF2-40B4-BE49-F238E27FC236}">
                <a16:creationId xmlns:a16="http://schemas.microsoft.com/office/drawing/2014/main" id="{76503788-F803-DC83-ED63-88E8F575E8A2}"/>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984151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599" y="228601"/>
            <a:ext cx="11356623" cy="505355"/>
          </a:xfrm>
        </p:spPr>
        <p:txBody>
          <a:bodyPr/>
          <a:lstStyle>
            <a:lvl1pPr algn="l">
              <a:defRPr sz="2000" b="1"/>
            </a:lvl1pPr>
          </a:lstStyle>
          <a:p>
            <a:r>
              <a:rPr lang="zh-TW" altLang="en-US"/>
              <a:t>按一下以編輯母片標題樣式</a:t>
            </a:r>
            <a:endParaRPr lang="zh-TW" altLang="en-US" dirty="0"/>
          </a:p>
        </p:txBody>
      </p:sp>
      <p:sp>
        <p:nvSpPr>
          <p:cNvPr id="3" name="內容版面配置區 2"/>
          <p:cNvSpPr>
            <a:spLocks noGrp="1"/>
          </p:cNvSpPr>
          <p:nvPr>
            <p:ph idx="1"/>
          </p:nvPr>
        </p:nvSpPr>
        <p:spPr>
          <a:xfrm>
            <a:off x="4766733" y="948267"/>
            <a:ext cx="7199488" cy="517789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609601" y="948268"/>
            <a:ext cx="4011084" cy="517789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E618970D-DD05-4ECF-8733-3A668C35F980}"/>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50F9C425-8EE6-52EC-F828-4140E6EFA47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1405324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594783" y="135466"/>
            <a:ext cx="11360151" cy="566738"/>
          </a:xfrm>
        </p:spPr>
        <p:txBody>
          <a:bodyPr/>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2389717" y="939800"/>
            <a:ext cx="7315200" cy="37877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TW" altLang="en-US" noProof="0"/>
              <a:t>按一下圖示以新增圖片</a:t>
            </a:r>
          </a:p>
        </p:txBody>
      </p:sp>
      <p:sp>
        <p:nvSpPr>
          <p:cNvPr id="4" name="文字版面配置區 3"/>
          <p:cNvSpPr>
            <a:spLocks noGrp="1"/>
          </p:cNvSpPr>
          <p:nvPr>
            <p:ph type="body" sz="half" idx="2"/>
          </p:nvPr>
        </p:nvSpPr>
        <p:spPr>
          <a:xfrm>
            <a:off x="2389717" y="502867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Rectangle 28">
            <a:extLst>
              <a:ext uri="{FF2B5EF4-FFF2-40B4-BE49-F238E27FC236}">
                <a16:creationId xmlns:a16="http://schemas.microsoft.com/office/drawing/2014/main" id="{C45A8477-25E2-4F3E-A2CA-70F6EA99A4A9}"/>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6" name="圖片 5">
            <a:extLst>
              <a:ext uri="{FF2B5EF4-FFF2-40B4-BE49-F238E27FC236}">
                <a16:creationId xmlns:a16="http://schemas.microsoft.com/office/drawing/2014/main" id="{302888C7-1B6B-55CD-3260-A183B3AD7E30}"/>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77736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28">
            <a:extLst>
              <a:ext uri="{FF2B5EF4-FFF2-40B4-BE49-F238E27FC236}">
                <a16:creationId xmlns:a16="http://schemas.microsoft.com/office/drawing/2014/main" id="{A425C922-DC02-4EB7-87C5-86932890B28B}"/>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BE837BF0-9322-459D-EC50-1D7F6B46FE5A}"/>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06884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9139063" y="931333"/>
            <a:ext cx="2842683" cy="5174192"/>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550334" y="931333"/>
            <a:ext cx="8329084" cy="5174192"/>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4" name="Rectangle 28">
            <a:extLst>
              <a:ext uri="{FF2B5EF4-FFF2-40B4-BE49-F238E27FC236}">
                <a16:creationId xmlns:a16="http://schemas.microsoft.com/office/drawing/2014/main" id="{42F45190-893E-4A4D-AC70-724C5AF4D211}"/>
              </a:ext>
            </a:extLst>
          </p:cNvPr>
          <p:cNvSpPr>
            <a:spLocks noGrp="1" noChangeArrowheads="1"/>
          </p:cNvSpPr>
          <p:nvPr>
            <p:ph type="sldNum" sz="quarter" idx="10"/>
          </p:nvPr>
        </p:nvSpPr>
        <p:spPr>
          <a:ln/>
        </p:spPr>
        <p:txBody>
          <a:bodyPr/>
          <a:lstStyle>
            <a:lvl1pPr>
              <a:defRPr/>
            </a:lvl1pPr>
          </a:lstStyle>
          <a:p>
            <a:fld id="{45D5892C-9710-48A3-8372-2122A7AD32EA}" type="slidenum">
              <a:rPr lang="zh-TW" altLang="en-US" smtClean="0"/>
              <a:t>‹#›</a:t>
            </a:fld>
            <a:endParaRPr lang="zh-TW" altLang="en-US"/>
          </a:p>
        </p:txBody>
      </p:sp>
      <p:pic>
        <p:nvPicPr>
          <p:cNvPr id="5" name="圖片 4">
            <a:extLst>
              <a:ext uri="{FF2B5EF4-FFF2-40B4-BE49-F238E27FC236}">
                <a16:creationId xmlns:a16="http://schemas.microsoft.com/office/drawing/2014/main" id="{5B2D1CF3-7FC4-BA66-E0BC-42D6639BC533}"/>
              </a:ext>
            </a:extLst>
          </p:cNvPr>
          <p:cNvPicPr>
            <a:picLocks noChangeAspect="1"/>
          </p:cNvPicPr>
          <p:nvPr userDrawn="1"/>
        </p:nvPicPr>
        <p:blipFill>
          <a:blip r:embed="rId2"/>
          <a:stretch>
            <a:fillRect/>
          </a:stretch>
        </p:blipFill>
        <p:spPr>
          <a:xfrm>
            <a:off x="0" y="6116283"/>
            <a:ext cx="12192000" cy="216208"/>
          </a:xfrm>
          <a:prstGeom prst="rect">
            <a:avLst/>
          </a:prstGeom>
        </p:spPr>
      </p:pic>
    </p:spTree>
    <p:extLst>
      <p:ext uri="{BB962C8B-B14F-4D97-AF65-F5344CB8AC3E}">
        <p14:creationId xmlns:p14="http://schemas.microsoft.com/office/powerpoint/2010/main" val="2318473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9ABF8AB-B0B8-4681-BD44-8CF5E845AA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26" name="Rectangle 4">
            <a:extLst>
              <a:ext uri="{FF2B5EF4-FFF2-40B4-BE49-F238E27FC236}">
                <a16:creationId xmlns:a16="http://schemas.microsoft.com/office/drawing/2014/main" id="{E37310E9-2521-4BB7-B15D-959B68467A8B}"/>
              </a:ext>
            </a:extLst>
          </p:cNvPr>
          <p:cNvSpPr>
            <a:spLocks noGrp="1" noChangeArrowheads="1"/>
          </p:cNvSpPr>
          <p:nvPr>
            <p:ph type="title"/>
          </p:nvPr>
        </p:nvSpPr>
        <p:spPr bwMode="auto">
          <a:xfrm>
            <a:off x="565151" y="141288"/>
            <a:ext cx="11417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endParaRPr lang="en-US" altLang="zh-TW" dirty="0"/>
          </a:p>
        </p:txBody>
      </p:sp>
      <p:sp>
        <p:nvSpPr>
          <p:cNvPr id="1027" name="Rectangle 5">
            <a:extLst>
              <a:ext uri="{FF2B5EF4-FFF2-40B4-BE49-F238E27FC236}">
                <a16:creationId xmlns:a16="http://schemas.microsoft.com/office/drawing/2014/main" id="{794864E5-9918-4FF7-9866-35661BF2624E}"/>
              </a:ext>
            </a:extLst>
          </p:cNvPr>
          <p:cNvSpPr>
            <a:spLocks noGrp="1" noChangeArrowheads="1"/>
          </p:cNvSpPr>
          <p:nvPr>
            <p:ph type="body" idx="1"/>
          </p:nvPr>
        </p:nvSpPr>
        <p:spPr bwMode="auto">
          <a:xfrm>
            <a:off x="565151" y="914400"/>
            <a:ext cx="114173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TW" dirty="0" err="1"/>
              <a:t>Klicken</a:t>
            </a:r>
            <a:r>
              <a:rPr lang="en-US" altLang="zh-TW" dirty="0"/>
              <a:t> Sie, um die </a:t>
            </a:r>
            <a:r>
              <a:rPr lang="en-US" altLang="zh-TW" dirty="0" err="1"/>
              <a:t>Formate</a:t>
            </a:r>
            <a:r>
              <a:rPr lang="en-US" altLang="zh-TW" dirty="0"/>
              <a:t> des </a:t>
            </a:r>
            <a:r>
              <a:rPr lang="en-US" altLang="zh-TW" dirty="0" err="1"/>
              <a:t>Vorlagentextes</a:t>
            </a:r>
            <a:r>
              <a:rPr lang="en-US" altLang="zh-TW" dirty="0"/>
              <a:t> </a:t>
            </a:r>
            <a:r>
              <a:rPr lang="en-US" altLang="zh-TW" dirty="0" err="1"/>
              <a:t>zu</a:t>
            </a:r>
            <a:r>
              <a:rPr lang="en-US" altLang="zh-TW" dirty="0"/>
              <a:t> </a:t>
            </a:r>
            <a:r>
              <a:rPr lang="en-US" altLang="zh-TW" dirty="0" err="1"/>
              <a:t>bearbeiten</a:t>
            </a:r>
            <a:endParaRPr lang="en-US" altLang="zh-TW" dirty="0"/>
          </a:p>
          <a:p>
            <a:pPr lvl="1"/>
            <a:r>
              <a:rPr lang="en-US" altLang="zh-TW" dirty="0" err="1"/>
              <a:t>Zweite</a:t>
            </a:r>
            <a:r>
              <a:rPr lang="en-US" altLang="zh-TW" dirty="0"/>
              <a:t> </a:t>
            </a:r>
            <a:r>
              <a:rPr lang="en-US" altLang="zh-TW" dirty="0" err="1"/>
              <a:t>Ebene</a:t>
            </a:r>
            <a:endParaRPr lang="en-US" altLang="zh-TW" dirty="0"/>
          </a:p>
          <a:p>
            <a:pPr lvl="2"/>
            <a:r>
              <a:rPr lang="en-US" altLang="zh-TW" dirty="0" err="1"/>
              <a:t>Dritte</a:t>
            </a:r>
            <a:r>
              <a:rPr lang="en-US" altLang="zh-TW" dirty="0"/>
              <a:t> </a:t>
            </a:r>
            <a:r>
              <a:rPr lang="en-US" altLang="zh-TW" dirty="0" err="1"/>
              <a:t>Ebene</a:t>
            </a:r>
            <a:endParaRPr lang="en-US" altLang="zh-TW" dirty="0"/>
          </a:p>
          <a:p>
            <a:pPr lvl="3"/>
            <a:r>
              <a:rPr lang="en-US" altLang="zh-TW" dirty="0" err="1"/>
              <a:t>Vierte</a:t>
            </a:r>
            <a:r>
              <a:rPr lang="en-US" altLang="zh-TW" dirty="0"/>
              <a:t> </a:t>
            </a:r>
            <a:r>
              <a:rPr lang="en-US" altLang="zh-TW" dirty="0" err="1"/>
              <a:t>Ebene</a:t>
            </a:r>
            <a:endParaRPr lang="en-US" altLang="zh-TW" dirty="0"/>
          </a:p>
          <a:p>
            <a:pPr lvl="4"/>
            <a:r>
              <a:rPr lang="en-US" altLang="zh-TW" dirty="0" err="1"/>
              <a:t>Fünfte</a:t>
            </a:r>
            <a:r>
              <a:rPr lang="en-US" altLang="zh-TW" dirty="0"/>
              <a:t> </a:t>
            </a:r>
            <a:r>
              <a:rPr lang="en-US" altLang="zh-TW" dirty="0" err="1"/>
              <a:t>Ebene</a:t>
            </a:r>
            <a:endParaRPr lang="en-US" altLang="zh-TW" dirty="0"/>
          </a:p>
        </p:txBody>
      </p:sp>
      <p:sp>
        <p:nvSpPr>
          <p:cNvPr id="1028" name="Line 22">
            <a:extLst>
              <a:ext uri="{FF2B5EF4-FFF2-40B4-BE49-F238E27FC236}">
                <a16:creationId xmlns:a16="http://schemas.microsoft.com/office/drawing/2014/main" id="{AB7F6124-04C7-45E8-AA65-7F9F759D65F9}"/>
              </a:ext>
            </a:extLst>
          </p:cNvPr>
          <p:cNvSpPr>
            <a:spLocks noChangeShapeType="1"/>
          </p:cNvSpPr>
          <p:nvPr/>
        </p:nvSpPr>
        <p:spPr bwMode="auto">
          <a:xfrm>
            <a:off x="425451" y="252413"/>
            <a:ext cx="0" cy="69215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29" name="Line 24">
            <a:extLst>
              <a:ext uri="{FF2B5EF4-FFF2-40B4-BE49-F238E27FC236}">
                <a16:creationId xmlns:a16="http://schemas.microsoft.com/office/drawing/2014/main" id="{C8074568-B491-4B67-9A93-41BE6E79B626}"/>
              </a:ext>
            </a:extLst>
          </p:cNvPr>
          <p:cNvSpPr>
            <a:spLocks noChangeShapeType="1"/>
          </p:cNvSpPr>
          <p:nvPr/>
        </p:nvSpPr>
        <p:spPr bwMode="auto">
          <a:xfrm>
            <a:off x="209551" y="784225"/>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030" name="Line 25">
            <a:extLst>
              <a:ext uri="{FF2B5EF4-FFF2-40B4-BE49-F238E27FC236}">
                <a16:creationId xmlns:a16="http://schemas.microsoft.com/office/drawing/2014/main" id="{311CE126-5E96-48EA-A8E4-423F29F2B71C}"/>
              </a:ext>
            </a:extLst>
          </p:cNvPr>
          <p:cNvSpPr>
            <a:spLocks noChangeShapeType="1"/>
          </p:cNvSpPr>
          <p:nvPr/>
        </p:nvSpPr>
        <p:spPr bwMode="auto">
          <a:xfrm>
            <a:off x="209551" y="6240463"/>
            <a:ext cx="11772900" cy="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TW" altLang="en-US" sz="2000" baseline="0">
              <a:latin typeface="Times New Roman" panose="02020603050405020304" pitchFamily="18" charset="0"/>
              <a:ea typeface="標楷體" panose="03000509000000000000" pitchFamily="65" charset="-120"/>
            </a:endParaRPr>
          </a:p>
        </p:txBody>
      </p:sp>
      <p:sp>
        <p:nvSpPr>
          <p:cNvPr id="148508" name="Rectangle 28">
            <a:extLst>
              <a:ext uri="{FF2B5EF4-FFF2-40B4-BE49-F238E27FC236}">
                <a16:creationId xmlns:a16="http://schemas.microsoft.com/office/drawing/2014/main" id="{87C75FDA-A8B1-4916-8A2B-A105EA9C4F4B}"/>
              </a:ext>
            </a:extLst>
          </p:cNvPr>
          <p:cNvSpPr>
            <a:spLocks noGrp="1" noChangeArrowheads="1"/>
          </p:cNvSpPr>
          <p:nvPr>
            <p:ph type="sldNum" sz="quarter" idx="4"/>
          </p:nvPr>
        </p:nvSpPr>
        <p:spPr bwMode="auto">
          <a:xfrm>
            <a:off x="10934700" y="6340475"/>
            <a:ext cx="889000" cy="47625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eaLnBrk="1" hangingPunct="1">
              <a:defRPr kumimoji="0" sz="1400" baseline="0">
                <a:latin typeface="Times New Roman" panose="02020603050405020304" pitchFamily="18" charset="0"/>
                <a:ea typeface="標楷體" panose="03000509000000000000" pitchFamily="65" charset="-120"/>
              </a:defRPr>
            </a:lvl1pPr>
          </a:lstStyle>
          <a:p>
            <a:fld id="{45D5892C-9710-48A3-8372-2122A7AD32EA}" type="slidenum">
              <a:rPr lang="zh-TW" altLang="en-US" smtClean="0"/>
              <a:pPr/>
              <a:t>‹#›</a:t>
            </a:fld>
            <a:endParaRPr lang="zh-TW" altLang="en-US"/>
          </a:p>
        </p:txBody>
      </p:sp>
      <p:pic>
        <p:nvPicPr>
          <p:cNvPr id="2" name="圖片 1">
            <a:extLst>
              <a:ext uri="{FF2B5EF4-FFF2-40B4-BE49-F238E27FC236}">
                <a16:creationId xmlns:a16="http://schemas.microsoft.com/office/drawing/2014/main" id="{70913959-438C-19FB-F2F8-1592E452ADC8}"/>
              </a:ext>
            </a:extLst>
          </p:cNvPr>
          <p:cNvPicPr>
            <a:picLocks noChangeAspect="1"/>
          </p:cNvPicPr>
          <p:nvPr userDrawn="1"/>
        </p:nvPicPr>
        <p:blipFill>
          <a:blip r:embed="rId13"/>
          <a:stretch>
            <a:fillRect/>
          </a:stretch>
        </p:blipFill>
        <p:spPr>
          <a:xfrm>
            <a:off x="0" y="6116283"/>
            <a:ext cx="12192000" cy="216208"/>
          </a:xfrm>
          <a:prstGeom prst="rect">
            <a:avLst/>
          </a:prstGeom>
        </p:spPr>
      </p:pic>
      <p:pic>
        <p:nvPicPr>
          <p:cNvPr id="4" name="圖片 3">
            <a:extLst>
              <a:ext uri="{FF2B5EF4-FFF2-40B4-BE49-F238E27FC236}">
                <a16:creationId xmlns:a16="http://schemas.microsoft.com/office/drawing/2014/main" id="{D03BE1FC-A522-6621-C15D-29238ADFB2C5}"/>
              </a:ext>
            </a:extLst>
          </p:cNvPr>
          <p:cNvPicPr>
            <a:picLocks noChangeAspect="1"/>
          </p:cNvPicPr>
          <p:nvPr userDrawn="1"/>
        </p:nvPicPr>
        <p:blipFill>
          <a:blip r:embed="rId14"/>
          <a:stretch>
            <a:fillRect/>
          </a:stretch>
        </p:blipFill>
        <p:spPr>
          <a:xfrm>
            <a:off x="10210800" y="0"/>
            <a:ext cx="1981200" cy="283029"/>
          </a:xfrm>
          <a:prstGeom prst="rect">
            <a:avLst/>
          </a:prstGeom>
        </p:spPr>
      </p:pic>
    </p:spTree>
    <p:extLst>
      <p:ext uri="{BB962C8B-B14F-4D97-AF65-F5344CB8AC3E}">
        <p14:creationId xmlns:p14="http://schemas.microsoft.com/office/powerpoint/2010/main" val="2030889740"/>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Lst>
  <p:txStyles>
    <p:titleStyle>
      <a:lvl1pPr algn="l" rtl="0" eaLnBrk="1" fontAlgn="base" hangingPunct="1">
        <a:spcBef>
          <a:spcPct val="0"/>
        </a:spcBef>
        <a:spcAft>
          <a:spcPct val="0"/>
        </a:spcAft>
        <a:defRPr sz="2800" b="1" baseline="0">
          <a:solidFill>
            <a:schemeClr val="tx1"/>
          </a:solidFill>
          <a:latin typeface="Times New Roman" panose="02020603050405020304" pitchFamily="18" charset="0"/>
          <a:ea typeface="標楷體" panose="03000509000000000000" pitchFamily="65" charset="-120"/>
          <a:cs typeface="+mj-cs"/>
        </a:defRPr>
      </a:lvl1pPr>
      <a:lvl2pPr algn="l" rtl="0" eaLnBrk="1" fontAlgn="base" hangingPunct="1">
        <a:spcBef>
          <a:spcPct val="0"/>
        </a:spcBef>
        <a:spcAft>
          <a:spcPct val="0"/>
        </a:spcAft>
        <a:defRPr sz="2800">
          <a:solidFill>
            <a:schemeClr val="tx1"/>
          </a:solidFill>
          <a:latin typeface="Arial" pitchFamily="34" charset="0"/>
        </a:defRPr>
      </a:lvl2pPr>
      <a:lvl3pPr algn="l" rtl="0" eaLnBrk="1" fontAlgn="base" hangingPunct="1">
        <a:spcBef>
          <a:spcPct val="0"/>
        </a:spcBef>
        <a:spcAft>
          <a:spcPct val="0"/>
        </a:spcAft>
        <a:defRPr sz="2800">
          <a:solidFill>
            <a:schemeClr val="tx1"/>
          </a:solidFill>
          <a:latin typeface="Arial" pitchFamily="34" charset="0"/>
        </a:defRPr>
      </a:lvl3pPr>
      <a:lvl4pPr algn="l" rtl="0" eaLnBrk="1" fontAlgn="base" hangingPunct="1">
        <a:spcBef>
          <a:spcPct val="0"/>
        </a:spcBef>
        <a:spcAft>
          <a:spcPct val="0"/>
        </a:spcAft>
        <a:defRPr sz="2800">
          <a:solidFill>
            <a:schemeClr val="tx1"/>
          </a:solidFill>
          <a:latin typeface="Arial" pitchFamily="34" charset="0"/>
        </a:defRPr>
      </a:lvl4pPr>
      <a:lvl5pPr algn="l" rtl="0" eaLnBrk="1" fontAlgn="base" hangingPunct="1">
        <a:spcBef>
          <a:spcPct val="0"/>
        </a:spcBef>
        <a:spcAft>
          <a:spcPct val="0"/>
        </a:spcAft>
        <a:defRPr sz="2800">
          <a:solidFill>
            <a:schemeClr val="tx1"/>
          </a:solidFill>
          <a:latin typeface="Arial" pitchFamily="34" charset="0"/>
        </a:defRPr>
      </a:lvl5pPr>
      <a:lvl6pPr marL="457200" algn="l" rtl="0" eaLnBrk="1" fontAlgn="base" hangingPunct="1">
        <a:spcBef>
          <a:spcPct val="0"/>
        </a:spcBef>
        <a:spcAft>
          <a:spcPct val="0"/>
        </a:spcAft>
        <a:defRPr sz="2800">
          <a:solidFill>
            <a:schemeClr val="tx1"/>
          </a:solidFill>
          <a:latin typeface="Arial" pitchFamily="34" charset="0"/>
        </a:defRPr>
      </a:lvl6pPr>
      <a:lvl7pPr marL="914400" algn="l" rtl="0" eaLnBrk="1" fontAlgn="base" hangingPunct="1">
        <a:spcBef>
          <a:spcPct val="0"/>
        </a:spcBef>
        <a:spcAft>
          <a:spcPct val="0"/>
        </a:spcAft>
        <a:defRPr sz="2800">
          <a:solidFill>
            <a:schemeClr val="tx1"/>
          </a:solidFill>
          <a:latin typeface="Arial" pitchFamily="34" charset="0"/>
        </a:defRPr>
      </a:lvl7pPr>
      <a:lvl8pPr marL="1371600" algn="l" rtl="0" eaLnBrk="1" fontAlgn="base" hangingPunct="1">
        <a:spcBef>
          <a:spcPct val="0"/>
        </a:spcBef>
        <a:spcAft>
          <a:spcPct val="0"/>
        </a:spcAft>
        <a:defRPr sz="2800">
          <a:solidFill>
            <a:schemeClr val="tx1"/>
          </a:solidFill>
          <a:latin typeface="Arial" pitchFamily="34" charset="0"/>
        </a:defRPr>
      </a:lvl8pPr>
      <a:lvl9pPr marL="1828800" algn="l" rtl="0" eaLnBrk="1" fontAlgn="base" hangingPunct="1">
        <a:spcBef>
          <a:spcPct val="0"/>
        </a:spcBef>
        <a:spcAft>
          <a:spcPct val="0"/>
        </a:spcAft>
        <a:defRPr sz="2800">
          <a:solidFill>
            <a:schemeClr val="tx1"/>
          </a:solidFill>
          <a:latin typeface="Arial" pitchFamily="34" charset="0"/>
        </a:defRPr>
      </a:lvl9pPr>
    </p:titleStyle>
    <p:bodyStyle>
      <a:lvl1pPr marL="2857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cs typeface="+mn-cs"/>
        </a:defRPr>
      </a:lvl1pPr>
      <a:lvl2pPr marL="762000" indent="-285750" algn="l" rtl="0" eaLnBrk="1" fontAlgn="base" hangingPunct="1">
        <a:spcBef>
          <a:spcPct val="20000"/>
        </a:spcBef>
        <a:spcAft>
          <a:spcPct val="0"/>
        </a:spcAft>
        <a:buClr>
          <a:schemeClr val="tx1"/>
        </a:buClr>
        <a:buFont typeface="Symbol" panose="05050102010706020507" pitchFamily="18" charset="2"/>
        <a:buChar char="·"/>
        <a:defRPr sz="2000" baseline="0">
          <a:solidFill>
            <a:srgbClr val="000000"/>
          </a:solidFill>
          <a:latin typeface="Times New Roman" panose="02020603050405020304" pitchFamily="18" charset="0"/>
          <a:ea typeface="標楷體" panose="03000509000000000000" pitchFamily="65" charset="-120"/>
        </a:defRPr>
      </a:lvl2pPr>
      <a:lvl3pPr marL="1238250" indent="-285750" algn="l" rtl="0" eaLnBrk="1" fontAlgn="base" hangingPunct="1">
        <a:spcBef>
          <a:spcPct val="20000"/>
        </a:spcBef>
        <a:spcAft>
          <a:spcPct val="0"/>
        </a:spcAft>
        <a:buClr>
          <a:schemeClr val="tx1"/>
        </a:buClr>
        <a:buFont typeface="Symbol" panose="05050102010706020507" pitchFamily="18" charset="2"/>
        <a:buChar char="·"/>
        <a:defRPr sz="2400" baseline="0">
          <a:solidFill>
            <a:srgbClr val="000000"/>
          </a:solidFill>
          <a:latin typeface="Times New Roman" panose="02020603050405020304" pitchFamily="18" charset="0"/>
          <a:ea typeface="標楷體" panose="03000509000000000000" pitchFamily="65" charset="-120"/>
        </a:defRPr>
      </a:lvl3pPr>
      <a:lvl4pPr marL="1619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4pPr>
      <a:lvl5pPr marL="2000250" indent="-190500" algn="l" rtl="0" eaLnBrk="1" fontAlgn="base" hangingPunct="1">
        <a:spcBef>
          <a:spcPct val="20000"/>
        </a:spcBef>
        <a:spcAft>
          <a:spcPct val="0"/>
        </a:spcAft>
        <a:buClr>
          <a:schemeClr val="tx1"/>
        </a:buClr>
        <a:buFont typeface="Symbol" panose="05050102010706020507" pitchFamily="18" charset="2"/>
        <a:buChar char="·"/>
        <a:defRPr sz="1600" baseline="0">
          <a:solidFill>
            <a:srgbClr val="000000"/>
          </a:solidFill>
          <a:latin typeface="Times New Roman" panose="02020603050405020304" pitchFamily="18" charset="0"/>
          <a:ea typeface="標楷體" panose="03000509000000000000" pitchFamily="65" charset="-120"/>
        </a:defRPr>
      </a:lvl5pPr>
      <a:lvl6pPr marL="24574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6pPr>
      <a:lvl7pPr marL="29146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7pPr>
      <a:lvl8pPr marL="33718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8pPr>
      <a:lvl9pPr marL="3829050" indent="-190500" algn="l" rtl="0" eaLnBrk="1" fontAlgn="base" hangingPunct="1">
        <a:spcBef>
          <a:spcPct val="20000"/>
        </a:spcBef>
        <a:spcAft>
          <a:spcPct val="0"/>
        </a:spcAft>
        <a:buClr>
          <a:schemeClr val="tx1"/>
        </a:buClr>
        <a:buFont typeface="Symbol" pitchFamily="18" charset="2"/>
        <a:buChar char="·"/>
        <a:defRPr sz="1600">
          <a:solidFill>
            <a:srgbClr val="000000"/>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merged_d6_1.png" /><Relationship Id="rId3"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merged_d6_2.png" /><Relationship Id="rId3"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image" Target="../media/merged_d7_3.png" /><Relationship Id="rId2" Type="http://schemas.openxmlformats.org/officeDocument/2006/relationships/slideLayout" Target="../slideLayouts/slideLayout2.xml" /><Relationship Id="rId3"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image" Target="../media/merged_d7_4.png" /><Relationship Id="rId2" Type="http://schemas.openxmlformats.org/officeDocument/2006/relationships/slideLayout" Target="../slideLayouts/slideLayout2.xml" /><Relationship Id="rId3"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image" Target="../media/merged_d7_5.png" /><Relationship Id="rId2" Type="http://schemas.openxmlformats.org/officeDocument/2006/relationships/slideLayout" Target="../slideLayouts/slideLayout2.xml" /><Relationship Id="rId3"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image" Target="../media/merged_d7_6.png" /><Relationship Id="rId2" Type="http://schemas.openxmlformats.org/officeDocument/2006/relationships/slideLayout" Target="../slideLayouts/slideLayout2.xml" /><Relationship Id="rId3"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image" Target="../media/merged_d7_7.png" /><Relationship Id="rId2" Type="http://schemas.openxmlformats.org/officeDocument/2006/relationships/slideLayout" Target="../slideLayouts/slideLayout2.xml" /><Relationship Id="rId3"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image" Target="../media/merged_d7_8.png" /><Relationship Id="rId2" Type="http://schemas.openxmlformats.org/officeDocument/2006/relationships/slideLayout" Target="../slideLayouts/slideLayout2.xml" /><Relationship Id="rId3"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image" Target="../media/merged_d7_9.png" /><Relationship Id="rId2" Type="http://schemas.openxmlformats.org/officeDocument/2006/relationships/slideLayout" Target="../slideLayouts/slideLayout2.xml" /><Relationship Id="rId3" Type="http://schemas.openxmlformats.org/officeDocument/2006/relationships/notesSlide" Target="../notesSlides/notesSlide103.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P001｜有限電池 × 變動服務窗口</a:t>
            </a:r>
          </a:p>
        </p:txBody>
      </p:sp>
      <p:sp>
        <p:nvSpPr>
          <p:cNvPr id="3" name="Finite battery endpoint"/>
          <p:cNvSpPr/>
          <p:nvPr/>
        </p:nvSpPr>
        <p:spPr>
          <a:xfrm>
            <a:off x="841248" y="1261872"/>
            <a:ext cx="2514600" cy="261518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bIns="164592"/>
          <a:lstStyle/>
          <a:p>
            <a:pPr algn="ctr">
              <a:lnSpc>
                <a:spcPct val="100000"/>
              </a:lnSpc>
              <a:spcBef>
                <a:spcPts val="0"/>
              </a:spcBef>
              <a:spcAft>
                <a:spcPts val="0"/>
              </a:spcAft>
            </a:pPr>
            <a:r>
              <a:rPr sz="3000" b="1" i="0">
                <a:solidFill>
                  <a:srgbClr val="25356B"/>
                </a:solidFill>
                <a:latin typeface="Times New Roman"/>
                <a:ea typeface="標楷體"/>
                <a:cs typeface="Times New Roman"/>
              </a:rPr>
              <a:t>有限電池</a:t>
            </a:r>
          </a:p>
          <a:p>
            <a:pPr algn="ctr">
              <a:lnSpc>
                <a:spcPct val="100000"/>
              </a:lnSpc>
              <a:spcBef>
                <a:spcPts val="0"/>
              </a:spcBef>
              <a:spcAft>
                <a:spcPts val="0"/>
              </a:spcAft>
            </a:pPr>
            <a:r>
              <a:rPr sz="3000" b="1" i="0">
                <a:solidFill>
                  <a:srgbClr val="25356B"/>
                </a:solidFill>
                <a:latin typeface="Times New Roman"/>
                <a:ea typeface="標楷體"/>
                <a:cs typeface="Times New Roman"/>
              </a:rPr>
              <a:t>端點</a:t>
            </a:r>
          </a:p>
        </p:txBody>
      </p:sp>
      <p:sp>
        <p:nvSpPr>
          <p:cNvPr id="4" name="Battery cell 1"/>
          <p:cNvSpPr/>
          <p:nvPr/>
        </p:nvSpPr>
        <p:spPr>
          <a:xfrm>
            <a:off x="1225296" y="3246120"/>
            <a:ext cx="402336" cy="201168"/>
          </a:xfrm>
          <a:prstGeom prst="rect">
            <a:avLst/>
          </a:prstGeom>
          <a:solidFill>
            <a:srgbClr val="9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attery cell 2"/>
          <p:cNvSpPr/>
          <p:nvPr/>
        </p:nvSpPr>
        <p:spPr>
          <a:xfrm>
            <a:off x="1773936" y="3246120"/>
            <a:ext cx="402336" cy="201168"/>
          </a:xfrm>
          <a:prstGeom prst="rect">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ttery cell 3"/>
          <p:cNvSpPr/>
          <p:nvPr/>
        </p:nvSpPr>
        <p:spPr>
          <a:xfrm>
            <a:off x="2322576" y="3246120"/>
            <a:ext cx="402336" cy="201168"/>
          </a:xfrm>
          <a:prstGeom prst="rect">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acket label"/>
          <p:cNvSpPr txBox="1"/>
          <p:nvPr/>
        </p:nvSpPr>
        <p:spPr>
          <a:xfrm>
            <a:off x="3685032" y="1481328"/>
            <a:ext cx="1554480"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資料封包</a:t>
            </a:r>
          </a:p>
        </p:txBody>
      </p:sp>
      <p:sp>
        <p:nvSpPr>
          <p:cNvPr id="8" name="Oval 7"/>
          <p:cNvSpPr/>
          <p:nvPr/>
        </p:nvSpPr>
        <p:spPr>
          <a:xfrm>
            <a:off x="3767328" y="2130552"/>
            <a:ext cx="292608" cy="292608"/>
          </a:xfrm>
          <a:prstGeom prst="ellipse">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42816" y="2130552"/>
            <a:ext cx="292608" cy="292608"/>
          </a:xfrm>
          <a:prstGeom prst="ellipse">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18304" y="2130552"/>
            <a:ext cx="292608" cy="292608"/>
          </a:xfrm>
          <a:prstGeom prst="ellipse">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evron 10"/>
          <p:cNvSpPr/>
          <p:nvPr/>
        </p:nvSpPr>
        <p:spPr>
          <a:xfrm>
            <a:off x="5074920" y="2039112"/>
            <a:ext cx="457200" cy="457200"/>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cket path"/>
          <p:cNvSpPr txBox="1"/>
          <p:nvPr/>
        </p:nvSpPr>
        <p:spPr>
          <a:xfrm>
            <a:off x="3611880" y="2688336"/>
            <a:ext cx="1938528" cy="53035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00" b="0" i="0">
                <a:solidFill>
                  <a:srgbClr val="65758B"/>
                </a:solidFill>
                <a:latin typeface="Times New Roman"/>
                <a:ea typeface="標楷體"/>
                <a:cs typeface="Times New Roman"/>
              </a:rPr>
              <a:t>產生 → 佇列 → 送出</a:t>
            </a:r>
          </a:p>
        </p:txBody>
      </p:sp>
      <p:sp>
        <p:nvSpPr>
          <p:cNvPr id="13" name="Changing service window"/>
          <p:cNvSpPr/>
          <p:nvPr/>
        </p:nvSpPr>
        <p:spPr>
          <a:xfrm>
            <a:off x="5870448" y="1225296"/>
            <a:ext cx="5321808" cy="268833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indow headline"/>
          <p:cNvSpPr txBox="1"/>
          <p:nvPr/>
        </p:nvSpPr>
        <p:spPr>
          <a:xfrm>
            <a:off x="6199632" y="1444752"/>
            <a:ext cx="4663440" cy="47548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700" b="1" i="0">
                <a:solidFill>
                  <a:srgbClr val="007374"/>
                </a:solidFill>
                <a:latin typeface="Times New Roman"/>
                <a:ea typeface="標楷體"/>
                <a:cs typeface="Times New Roman"/>
              </a:rPr>
              <a:t>會開、會關、品質會變</a:t>
            </a:r>
          </a:p>
        </p:txBody>
      </p:sp>
      <p:sp>
        <p:nvSpPr>
          <p:cNvPr id="15" name="Window segment 1"/>
          <p:cNvSpPr/>
          <p:nvPr/>
        </p:nvSpPr>
        <p:spPr>
          <a:xfrm>
            <a:off x="6291072" y="2304288"/>
            <a:ext cx="1243584" cy="658368"/>
          </a:xfrm>
          <a:prstGeom prst="rect">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lstStyle/>
          <a:p>
            <a:pPr algn="ctr">
              <a:lnSpc>
                <a:spcPct val="100000"/>
              </a:lnSpc>
              <a:spcBef>
                <a:spcPts val="0"/>
              </a:spcBef>
              <a:spcAft>
                <a:spcPts val="0"/>
              </a:spcAft>
            </a:pPr>
            <a:r>
              <a:rPr sz="1800" b="1" i="0">
                <a:solidFill>
                  <a:srgbClr val="FFFFFF"/>
                </a:solidFill>
                <a:latin typeface="Times New Roman"/>
                <a:ea typeface="標楷體"/>
                <a:cs typeface="Times New Roman"/>
              </a:rPr>
              <a:t>開啟</a:t>
            </a:r>
          </a:p>
        </p:txBody>
      </p:sp>
      <p:sp>
        <p:nvSpPr>
          <p:cNvPr id="16" name="Window segment 2"/>
          <p:cNvSpPr/>
          <p:nvPr/>
        </p:nvSpPr>
        <p:spPr>
          <a:xfrm>
            <a:off x="7598664" y="2304288"/>
            <a:ext cx="950976" cy="65836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lstStyle/>
          <a:p>
            <a:pPr algn="ctr">
              <a:lnSpc>
                <a:spcPct val="100000"/>
              </a:lnSpc>
              <a:spcBef>
                <a:spcPts val="0"/>
              </a:spcBef>
              <a:spcAft>
                <a:spcPts val="0"/>
              </a:spcAft>
            </a:pPr>
            <a:r>
              <a:rPr sz="1800" b="1" i="0">
                <a:solidFill>
                  <a:srgbClr val="25324A"/>
                </a:solidFill>
                <a:latin typeface="Times New Roman"/>
                <a:ea typeface="標楷體"/>
                <a:cs typeface="Times New Roman"/>
              </a:rPr>
              <a:t>關閉</a:t>
            </a:r>
          </a:p>
        </p:txBody>
      </p:sp>
      <p:sp>
        <p:nvSpPr>
          <p:cNvPr id="17" name="Window segment 3"/>
          <p:cNvSpPr/>
          <p:nvPr/>
        </p:nvSpPr>
        <p:spPr>
          <a:xfrm>
            <a:off x="8613648" y="2304288"/>
            <a:ext cx="1353312" cy="658368"/>
          </a:xfrm>
          <a:prstGeom prst="rect">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lstStyle/>
          <a:p>
            <a:pPr algn="ctr">
              <a:lnSpc>
                <a:spcPct val="100000"/>
              </a:lnSpc>
              <a:spcBef>
                <a:spcPts val="0"/>
              </a:spcBef>
              <a:spcAft>
                <a:spcPts val="0"/>
              </a:spcAft>
            </a:pPr>
            <a:r>
              <a:rPr sz="1800" b="1" i="0">
                <a:solidFill>
                  <a:srgbClr val="FFFFFF"/>
                </a:solidFill>
                <a:latin typeface="Times New Roman"/>
                <a:ea typeface="標楷體"/>
                <a:cs typeface="Times New Roman"/>
              </a:rPr>
              <a:t>開啟</a:t>
            </a:r>
          </a:p>
        </p:txBody>
      </p:sp>
      <p:sp>
        <p:nvSpPr>
          <p:cNvPr id="18" name="Window segment 4"/>
          <p:cNvSpPr/>
          <p:nvPr/>
        </p:nvSpPr>
        <p:spPr>
          <a:xfrm>
            <a:off x="10030968" y="2304288"/>
            <a:ext cx="1060704" cy="658368"/>
          </a:xfrm>
          <a:prstGeom prst="rect">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 tIns="9144" rIns="18288" bIns="9144"/>
          <a:lstStyle/>
          <a:p>
            <a:pPr algn="ctr">
              <a:lnSpc>
                <a:spcPct val="100000"/>
              </a:lnSpc>
              <a:spcBef>
                <a:spcPts val="0"/>
              </a:spcBef>
              <a:spcAft>
                <a:spcPts val="0"/>
              </a:spcAft>
            </a:pPr>
            <a:r>
              <a:rPr sz="1800" b="1" i="0">
                <a:solidFill>
                  <a:srgbClr val="FFFFFF"/>
                </a:solidFill>
                <a:latin typeface="Times New Roman"/>
                <a:ea typeface="標楷體"/>
                <a:cs typeface="Times New Roman"/>
              </a:rPr>
              <a:t>縮短</a:t>
            </a:r>
          </a:p>
        </p:txBody>
      </p:sp>
      <p:sp>
        <p:nvSpPr>
          <p:cNvPr id="19" name="Reading order"/>
          <p:cNvSpPr/>
          <p:nvPr/>
        </p:nvSpPr>
        <p:spPr>
          <a:xfrm>
            <a:off x="1143000" y="4169663"/>
            <a:ext cx="9784080" cy="53035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200" b="1" i="0">
                <a:solidFill>
                  <a:srgbClr val="25356B"/>
                </a:solidFill>
                <a:latin typeface="Times New Roman"/>
                <a:ea typeface="標楷體"/>
                <a:cs typeface="Times New Roman"/>
              </a:rPr>
              <a:t>先看窗口，再看動作；最後讀服務與端點能量</a:t>
            </a:r>
          </a:p>
        </p:txBody>
      </p:sp>
      <p:sp>
        <p:nvSpPr>
          <p:cNvPr id="20" name="Field contract scenario"/>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scenario</a:t>
            </a:r>
            <a:r>
              <a:rPr sz="1700" b="0" i="0">
                <a:solidFill>
                  <a:srgbClr val="25356B"/>
                </a:solidFill>
                <a:latin typeface="Times New Roman"/>
                <a:ea typeface="標楷體"/>
                <a:cs typeface="Times New Roman"/>
              </a:rPr>
              <a:t>（情境定義）｜來源：course package｜作用：固定端點、窗口與資料規則</a:t>
            </a:r>
          </a:p>
          <a:p>
            <a:pPr algn="l">
              <a:lnSpc>
                <a:spcPct val="92000"/>
              </a:lnSpc>
              <a:spcBef>
                <a:spcPts val="0"/>
              </a:spcBef>
              <a:spcAft>
                <a:spcPts val="0"/>
              </a:spcAft>
            </a:pPr>
            <a:r>
              <a:rPr sz="1700" b="0" i="0">
                <a:solidFill>
                  <a:srgbClr val="25356B"/>
                </a:solidFill>
                <a:latin typeface="Times New Roman"/>
                <a:ea typeface="標楷體"/>
                <a:cs typeface="Times New Roman"/>
              </a:rPr>
              <a:t>單位：identifier｜判讀：相同輸入可重跑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P002｜一次動作，同時改變服務與能量</a:t>
            </a:r>
          </a:p>
        </p:txBody>
      </p:sp>
      <p:sp>
        <p:nvSpPr>
          <p:cNvPr id="3" name="Action lead"/>
          <p:cNvSpPr txBox="1"/>
          <p:nvPr/>
        </p:nvSpPr>
        <p:spPr>
          <a:xfrm>
            <a:off x="960120" y="960120"/>
            <a:ext cx="10195560" cy="47548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同一個 </a:t>
            </a:r>
            <a:r>
              <a:rPr sz="2400" b="1" i="1">
                <a:solidFill>
                  <a:srgbClr val="25356B"/>
                </a:solidFill>
                <a:latin typeface="Times New Roman"/>
                <a:ea typeface="標楷體"/>
                <a:cs typeface="Times New Roman"/>
              </a:rPr>
              <a:t>action</a:t>
            </a:r>
            <a:r>
              <a:rPr sz="2400" b="1" i="0">
                <a:solidFill>
                  <a:srgbClr val="25356B"/>
                </a:solidFill>
                <a:latin typeface="Times New Roman"/>
                <a:ea typeface="標楷體"/>
                <a:cs typeface="Times New Roman"/>
              </a:rPr>
              <a:t> 會沿不同路徑留下可觀察後果</a:t>
            </a:r>
          </a:p>
        </p:txBody>
      </p:sp>
      <p:sp>
        <p:nvSpPr>
          <p:cNvPr id="4" name="Action card 1"/>
          <p:cNvSpPr/>
          <p:nvPr/>
        </p:nvSpPr>
        <p:spPr>
          <a:xfrm>
            <a:off x="841248" y="1664208"/>
            <a:ext cx="3236976" cy="246888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tion heading 1"/>
          <p:cNvSpPr txBox="1"/>
          <p:nvPr/>
        </p:nvSpPr>
        <p:spPr>
          <a:xfrm>
            <a:off x="1005840" y="1856231"/>
            <a:ext cx="2907792" cy="51206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1">
                <a:solidFill>
                  <a:srgbClr val="4967C2"/>
                </a:solidFill>
                <a:latin typeface="Times New Roman"/>
                <a:ea typeface="標楷體"/>
                <a:cs typeface="Times New Roman"/>
              </a:rPr>
              <a:t>SLEEP</a:t>
            </a:r>
            <a:r>
              <a:rPr sz="2300" b="1" i="0">
                <a:solidFill>
                  <a:srgbClr val="4967C2"/>
                </a:solidFill>
                <a:latin typeface="Times New Roman"/>
                <a:ea typeface="標楷體"/>
                <a:cs typeface="Times New Roman"/>
              </a:rPr>
              <a:t>｜低功耗休息</a:t>
            </a:r>
          </a:p>
        </p:txBody>
      </p:sp>
      <p:sp>
        <p:nvSpPr>
          <p:cNvPr id="6" name="Action body 1"/>
          <p:cNvSpPr txBox="1"/>
          <p:nvPr/>
        </p:nvSpPr>
        <p:spPr>
          <a:xfrm>
            <a:off x="1078992" y="2606040"/>
            <a:ext cx="2761488" cy="107899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休息功率降低</a:t>
            </a:r>
          </a:p>
          <a:p>
            <a:pPr algn="ctr">
              <a:lnSpc>
                <a:spcPct val="100000"/>
              </a:lnSpc>
              <a:spcBef>
                <a:spcPts val="0"/>
              </a:spcBef>
              <a:spcAft>
                <a:spcPts val="0"/>
              </a:spcAft>
            </a:pPr>
            <a:r>
              <a:rPr sz="2000" b="0" i="0">
                <a:solidFill>
                  <a:srgbClr val="25324A"/>
                </a:solidFill>
                <a:latin typeface="Times New Roman"/>
                <a:ea typeface="標楷體"/>
                <a:cs typeface="Times New Roman"/>
              </a:rPr>
              <a:t>喚醒延遲與能量增加</a:t>
            </a:r>
          </a:p>
        </p:txBody>
      </p:sp>
      <p:sp>
        <p:nvSpPr>
          <p:cNvPr id="7" name="Action card 2"/>
          <p:cNvSpPr/>
          <p:nvPr/>
        </p:nvSpPr>
        <p:spPr>
          <a:xfrm>
            <a:off x="4361688" y="1664208"/>
            <a:ext cx="3236976" cy="246888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tion heading 2"/>
          <p:cNvSpPr txBox="1"/>
          <p:nvPr/>
        </p:nvSpPr>
        <p:spPr>
          <a:xfrm>
            <a:off x="4526279" y="1856231"/>
            <a:ext cx="2907792" cy="51206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1">
                <a:solidFill>
                  <a:srgbClr val="846826"/>
                </a:solidFill>
                <a:latin typeface="Times New Roman"/>
                <a:ea typeface="標楷體"/>
                <a:cs typeface="Times New Roman"/>
              </a:rPr>
              <a:t>WAIT</a:t>
            </a:r>
            <a:r>
              <a:rPr sz="2300" b="1" i="0">
                <a:solidFill>
                  <a:srgbClr val="846826"/>
                </a:solidFill>
                <a:latin typeface="Times New Roman"/>
                <a:ea typeface="標楷體"/>
                <a:cs typeface="Times New Roman"/>
              </a:rPr>
              <a:t>｜清醒等待</a:t>
            </a:r>
          </a:p>
        </p:txBody>
      </p:sp>
      <p:sp>
        <p:nvSpPr>
          <p:cNvPr id="9" name="Action body 2"/>
          <p:cNvSpPr txBox="1"/>
          <p:nvPr/>
        </p:nvSpPr>
        <p:spPr>
          <a:xfrm>
            <a:off x="4599431" y="2606040"/>
            <a:ext cx="2761488" cy="107899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反應能力保留</a:t>
            </a:r>
          </a:p>
          <a:p>
            <a:pPr algn="ctr">
              <a:lnSpc>
                <a:spcPct val="100000"/>
              </a:lnSpc>
              <a:spcBef>
                <a:spcPts val="0"/>
              </a:spcBef>
              <a:spcAft>
                <a:spcPts val="0"/>
              </a:spcAft>
            </a:pPr>
            <a:r>
              <a:rPr sz="2000" b="0" i="0">
                <a:solidFill>
                  <a:srgbClr val="25324A"/>
                </a:solidFill>
                <a:latin typeface="Times New Roman"/>
                <a:ea typeface="標楷體"/>
                <a:cs typeface="Times New Roman"/>
              </a:rPr>
              <a:t>清醒閒置能量累積</a:t>
            </a:r>
          </a:p>
        </p:txBody>
      </p:sp>
      <p:sp>
        <p:nvSpPr>
          <p:cNvPr id="10" name="Action card 3"/>
          <p:cNvSpPr/>
          <p:nvPr/>
        </p:nvSpPr>
        <p:spPr>
          <a:xfrm>
            <a:off x="7882127" y="1664208"/>
            <a:ext cx="3236976" cy="246888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ction heading 3"/>
          <p:cNvSpPr txBox="1"/>
          <p:nvPr/>
        </p:nvSpPr>
        <p:spPr>
          <a:xfrm>
            <a:off x="8046719" y="1856231"/>
            <a:ext cx="2907792" cy="51206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1">
                <a:solidFill>
                  <a:srgbClr val="007374"/>
                </a:solidFill>
                <a:latin typeface="Times New Roman"/>
                <a:ea typeface="標楷體"/>
                <a:cs typeface="Times New Roman"/>
              </a:rPr>
              <a:t>SEND</a:t>
            </a:r>
            <a:r>
              <a:rPr sz="2300" b="1" i="0">
                <a:solidFill>
                  <a:srgbClr val="007374"/>
                </a:solidFill>
                <a:latin typeface="Times New Roman"/>
                <a:ea typeface="標楷體"/>
                <a:cs typeface="Times New Roman"/>
              </a:rPr>
              <a:t>｜送出封包</a:t>
            </a:r>
          </a:p>
        </p:txBody>
      </p:sp>
      <p:sp>
        <p:nvSpPr>
          <p:cNvPr id="12" name="Action body 3"/>
          <p:cNvSpPr txBox="1"/>
          <p:nvPr/>
        </p:nvSpPr>
        <p:spPr>
          <a:xfrm>
            <a:off x="8119871" y="2606040"/>
            <a:ext cx="2761488" cy="107899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服務機會增加</a:t>
            </a:r>
          </a:p>
          <a:p>
            <a:pPr algn="ctr">
              <a:lnSpc>
                <a:spcPct val="100000"/>
              </a:lnSpc>
              <a:spcBef>
                <a:spcPts val="0"/>
              </a:spcBef>
              <a:spcAft>
                <a:spcPts val="0"/>
              </a:spcAft>
            </a:pPr>
            <a:r>
              <a:rPr sz="2000" b="0" i="0">
                <a:solidFill>
                  <a:srgbClr val="25324A"/>
                </a:solidFill>
                <a:latin typeface="Times New Roman"/>
                <a:ea typeface="標楷體"/>
                <a:cs typeface="Times New Roman"/>
              </a:rPr>
              <a:t>處理與無線事件增加</a:t>
            </a:r>
          </a:p>
        </p:txBody>
      </p:sp>
      <p:sp>
        <p:nvSpPr>
          <p:cNvPr id="13" name="Service outcome"/>
          <p:cNvSpPr/>
          <p:nvPr/>
        </p:nvSpPr>
        <p:spPr>
          <a:xfrm>
            <a:off x="1847088" y="4325112"/>
            <a:ext cx="3794760" cy="438912"/>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服務結果</a:t>
            </a:r>
          </a:p>
        </p:txBody>
      </p:sp>
      <p:sp>
        <p:nvSpPr>
          <p:cNvPr id="14" name="Energy outcome"/>
          <p:cNvSpPr/>
          <p:nvPr/>
        </p:nvSpPr>
        <p:spPr>
          <a:xfrm>
            <a:off x="6556248" y="4325112"/>
            <a:ext cx="3794760" cy="438912"/>
          </a:xfrm>
          <a:prstGeom prst="roundRect">
            <a:avLst/>
          </a:prstGeom>
          <a:solidFill>
            <a:srgbClr val="F7F8FC"/>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端點能量（J）</a:t>
            </a:r>
          </a:p>
        </p:txBody>
      </p:sp>
      <p:sp>
        <p:nvSpPr>
          <p:cNvPr id="15" name="Field contract action"/>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action</a:t>
            </a:r>
            <a:r>
              <a:rPr sz="1700" b="0" i="0">
                <a:solidFill>
                  <a:srgbClr val="25356B"/>
                </a:solidFill>
                <a:latin typeface="Times New Roman"/>
                <a:ea typeface="標楷體"/>
                <a:cs typeface="Times New Roman"/>
              </a:rPr>
              <a:t>（策略動作）｜來源：policy API｜作用：每次決策的唯一輸出</a:t>
            </a:r>
          </a:p>
          <a:p>
            <a:pPr algn="l">
              <a:lnSpc>
                <a:spcPct val="92000"/>
              </a:lnSpc>
              <a:spcBef>
                <a:spcPts val="0"/>
              </a:spcBef>
              <a:spcAft>
                <a:spcPts val="0"/>
              </a:spcAft>
            </a:pPr>
            <a:r>
              <a:rPr sz="1700" b="0" i="0">
                <a:solidFill>
                  <a:srgbClr val="25356B"/>
                </a:solidFill>
                <a:latin typeface="Times New Roman"/>
                <a:ea typeface="標楷體"/>
                <a:cs typeface="Times New Roman"/>
              </a:rPr>
              <a:t>單位：enum｜判讀：觸發狀態與封包轉移</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P003｜先讀中間事件，再讀最終結果</a:t>
            </a:r>
          </a:p>
        </p:txBody>
      </p:sp>
      <p:sp>
        <p:nvSpPr>
          <p:cNvPr id="3" name="Causal lead"/>
          <p:cNvSpPr txBox="1"/>
          <p:nvPr/>
        </p:nvSpPr>
        <p:spPr>
          <a:xfrm>
            <a:off x="987552" y="941832"/>
            <a:ext cx="10149840"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能量或服務差異，必須由中間事件支持</a:t>
            </a:r>
          </a:p>
        </p:txBody>
      </p:sp>
      <p:sp>
        <p:nvSpPr>
          <p:cNvPr id="4" name="Causal node 1"/>
          <p:cNvSpPr/>
          <p:nvPr/>
        </p:nvSpPr>
        <p:spPr>
          <a:xfrm>
            <a:off x="768096" y="1755648"/>
            <a:ext cx="1892807" cy="133502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服務窗口</a:t>
            </a:r>
          </a:p>
        </p:txBody>
      </p:sp>
      <p:sp>
        <p:nvSpPr>
          <p:cNvPr id="5" name="Chevron 4"/>
          <p:cNvSpPr/>
          <p:nvPr/>
        </p:nvSpPr>
        <p:spPr>
          <a:xfrm>
            <a:off x="2734056" y="2167128"/>
            <a:ext cx="347472" cy="47548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usal node 2"/>
          <p:cNvSpPr/>
          <p:nvPr/>
        </p:nvSpPr>
        <p:spPr>
          <a:xfrm>
            <a:off x="3044952" y="1755648"/>
            <a:ext cx="1892807" cy="133502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策略動作</a:t>
            </a:r>
          </a:p>
        </p:txBody>
      </p:sp>
      <p:sp>
        <p:nvSpPr>
          <p:cNvPr id="7" name="Chevron 6"/>
          <p:cNvSpPr/>
          <p:nvPr/>
        </p:nvSpPr>
        <p:spPr>
          <a:xfrm>
            <a:off x="5010912" y="2167128"/>
            <a:ext cx="347472" cy="47548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usal node 3"/>
          <p:cNvSpPr/>
          <p:nvPr/>
        </p:nvSpPr>
        <p:spPr>
          <a:xfrm>
            <a:off x="5321808" y="1755648"/>
            <a:ext cx="1892807" cy="1335024"/>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無線狀態</a:t>
            </a:r>
          </a:p>
          <a:p>
            <a:pPr algn="ctr">
              <a:lnSpc>
                <a:spcPct val="95000"/>
              </a:lnSpc>
              <a:spcBef>
                <a:spcPts val="0"/>
              </a:spcBef>
              <a:spcAft>
                <a:spcPts val="0"/>
              </a:spcAft>
            </a:pPr>
            <a:r>
              <a:rPr sz="2100" b="1" i="0">
                <a:solidFill>
                  <a:srgbClr val="25356B"/>
                </a:solidFill>
                <a:latin typeface="Times New Roman"/>
                <a:ea typeface="標楷體"/>
                <a:cs typeface="Times New Roman"/>
              </a:rPr>
              <a:t>封包事件</a:t>
            </a:r>
          </a:p>
        </p:txBody>
      </p:sp>
      <p:sp>
        <p:nvSpPr>
          <p:cNvPr id="9" name="Chevron 8"/>
          <p:cNvSpPr/>
          <p:nvPr/>
        </p:nvSpPr>
        <p:spPr>
          <a:xfrm>
            <a:off x="7287768" y="2167128"/>
            <a:ext cx="347472" cy="475488"/>
          </a:xfrm>
          <a:prstGeom prst="chevron">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usal node 4"/>
          <p:cNvSpPr/>
          <p:nvPr/>
        </p:nvSpPr>
        <p:spPr>
          <a:xfrm>
            <a:off x="7598664" y="1755648"/>
            <a:ext cx="1892807" cy="1335024"/>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服務判定</a:t>
            </a:r>
          </a:p>
        </p:txBody>
      </p:sp>
      <p:sp>
        <p:nvSpPr>
          <p:cNvPr id="11" name="Chevron 10"/>
          <p:cNvSpPr/>
          <p:nvPr/>
        </p:nvSpPr>
        <p:spPr>
          <a:xfrm>
            <a:off x="9564624" y="2167128"/>
            <a:ext cx="347472" cy="47548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usal node 5"/>
          <p:cNvSpPr/>
          <p:nvPr/>
        </p:nvSpPr>
        <p:spPr>
          <a:xfrm>
            <a:off x="9875520" y="1755648"/>
            <a:ext cx="1892807" cy="1335024"/>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端點能量</a:t>
            </a:r>
          </a:p>
        </p:txBody>
      </p:sp>
      <p:sp>
        <p:nvSpPr>
          <p:cNvPr id="13" name="Closed-window branch"/>
          <p:cNvSpPr/>
          <p:nvPr/>
        </p:nvSpPr>
        <p:spPr>
          <a:xfrm>
            <a:off x="1024128" y="3447288"/>
            <a:ext cx="10104120" cy="658368"/>
          </a:xfrm>
          <a:prstGeom prst="roundRect">
            <a:avLst/>
          </a:prstGeom>
          <a:solidFill>
            <a:srgbClr val="F7F8FC"/>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200" b="1" i="0">
                <a:solidFill>
                  <a:srgbClr val="25356B"/>
                </a:solidFill>
                <a:latin typeface="Times New Roman"/>
                <a:ea typeface="標楷體"/>
                <a:cs typeface="Times New Roman"/>
              </a:rPr>
              <a:t>窗口關閉 → 傳輸類動作不執行 → 安全分支為 </a:t>
            </a:r>
            <a:r>
              <a:rPr sz="2200" b="1" i="1">
                <a:solidFill>
                  <a:srgbClr val="25356B"/>
                </a:solidFill>
                <a:latin typeface="Times New Roman"/>
                <a:ea typeface="標楷體"/>
                <a:cs typeface="Times New Roman"/>
              </a:rPr>
              <a:t>SLEEP</a:t>
            </a:r>
          </a:p>
        </p:txBody>
      </p:sp>
      <p:sp>
        <p:nvSpPr>
          <p:cNvPr id="14" name="Attribution rule"/>
          <p:cNvSpPr txBox="1"/>
          <p:nvPr/>
        </p:nvSpPr>
        <p:spPr>
          <a:xfrm>
            <a:off x="1133856" y="4288536"/>
            <a:ext cx="98938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992A2A"/>
                </a:solidFill>
                <a:latin typeface="Times New Roman"/>
                <a:ea typeface="標楷體"/>
                <a:cs typeface="Times New Roman"/>
              </a:rPr>
              <a:t>若中間事件沒有差異，最後的數值變化不得歸因於本次修改。</a:t>
            </a:r>
          </a:p>
        </p:txBody>
      </p:sp>
      <p:sp>
        <p:nvSpPr>
          <p:cNvPr id="15" name="Field contract radio_state"/>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radio_state</a:t>
            </a:r>
            <a:r>
              <a:rPr sz="1700" b="0" i="0">
                <a:solidFill>
                  <a:srgbClr val="25356B"/>
                </a:solidFill>
                <a:latin typeface="Times New Roman"/>
                <a:ea typeface="標楷體"/>
                <a:cs typeface="Times New Roman"/>
              </a:rPr>
              <a:t>（無線狀態）｜來源：runner event ledger｜作用：表示各狀態區間</a:t>
            </a:r>
          </a:p>
          <a:p>
            <a:pPr algn="l">
              <a:lnSpc>
                <a:spcPct val="92000"/>
              </a:lnSpc>
              <a:spcBef>
                <a:spcPts val="0"/>
              </a:spcBef>
              <a:spcAft>
                <a:spcPts val="0"/>
              </a:spcAft>
            </a:pPr>
            <a:r>
              <a:rPr sz="1700" b="0" i="0">
                <a:solidFill>
                  <a:srgbClr val="25356B"/>
                </a:solidFill>
                <a:latin typeface="Times New Roman"/>
                <a:ea typeface="標楷體"/>
                <a:cs typeface="Times New Roman"/>
              </a:rPr>
              <a:t>單位：state enum + duration｜判讀：提供端點能量的時間分段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P004｜固定情境中的四步操作閉環</a:t>
            </a:r>
          </a:p>
        </p:txBody>
      </p:sp>
      <p:sp>
        <p:nvSpPr>
          <p:cNvPr id="3" name="Loop lead"/>
          <p:cNvSpPr txBox="1"/>
          <p:nvPr/>
        </p:nvSpPr>
        <p:spPr>
          <a:xfrm>
            <a:off x="987552" y="932688"/>
            <a:ext cx="10131552"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只改一個受控常數，再沿同一條證據路徑比較</a:t>
            </a:r>
          </a:p>
        </p:txBody>
      </p:sp>
      <p:sp>
        <p:nvSpPr>
          <p:cNvPr id="4" name="Loop step 01"/>
          <p:cNvSpPr/>
          <p:nvPr/>
        </p:nvSpPr>
        <p:spPr>
          <a:xfrm>
            <a:off x="841248" y="1664208"/>
            <a:ext cx="2487168" cy="240487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oop number 01"/>
          <p:cNvSpPr txBox="1"/>
          <p:nvPr/>
        </p:nvSpPr>
        <p:spPr>
          <a:xfrm>
            <a:off x="1005840" y="1828800"/>
            <a:ext cx="502920" cy="4206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01</a:t>
            </a:r>
          </a:p>
        </p:txBody>
      </p:sp>
      <p:sp>
        <p:nvSpPr>
          <p:cNvPr id="6" name="Loop heading 01"/>
          <p:cNvSpPr txBox="1"/>
          <p:nvPr/>
        </p:nvSpPr>
        <p:spPr>
          <a:xfrm>
            <a:off x="1554480" y="1810512"/>
            <a:ext cx="1517904" cy="457200"/>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400" b="1" i="0">
                <a:solidFill>
                  <a:srgbClr val="25356B"/>
                </a:solidFill>
                <a:latin typeface="Times New Roman"/>
                <a:ea typeface="標楷體"/>
                <a:cs typeface="Times New Roman"/>
              </a:rPr>
              <a:t>修改</a:t>
            </a:r>
          </a:p>
        </p:txBody>
      </p:sp>
      <p:sp>
        <p:nvSpPr>
          <p:cNvPr id="7" name="Loop body 01"/>
          <p:cNvSpPr txBox="1"/>
          <p:nvPr/>
        </p:nvSpPr>
        <p:spPr>
          <a:xfrm>
            <a:off x="1042416" y="2542032"/>
            <a:ext cx="2084831" cy="9601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1">
                <a:solidFill>
                  <a:srgbClr val="25324A"/>
                </a:solidFill>
                <a:latin typeface="Times New Roman"/>
                <a:ea typeface="標楷體"/>
                <a:cs typeface="Times New Roman"/>
              </a:rPr>
              <a:t>student_policy.py</a:t>
            </a:r>
          </a:p>
          <a:p>
            <a:pPr algn="ctr">
              <a:lnSpc>
                <a:spcPct val="100000"/>
              </a:lnSpc>
              <a:spcBef>
                <a:spcPts val="0"/>
              </a:spcBef>
              <a:spcAft>
                <a:spcPts val="0"/>
              </a:spcAft>
            </a:pPr>
            <a:r>
              <a:rPr sz="2000" b="0" i="0">
                <a:solidFill>
                  <a:srgbClr val="25324A"/>
                </a:solidFill>
                <a:latin typeface="Times New Roman"/>
                <a:ea typeface="標楷體"/>
                <a:cs typeface="Times New Roman"/>
              </a:rPr>
              <a:t>marked block</a:t>
            </a:r>
          </a:p>
        </p:txBody>
      </p:sp>
      <p:sp>
        <p:nvSpPr>
          <p:cNvPr id="8" name="Chevron 7"/>
          <p:cNvSpPr/>
          <p:nvPr/>
        </p:nvSpPr>
        <p:spPr>
          <a:xfrm>
            <a:off x="3429000" y="2615184"/>
            <a:ext cx="329184"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oop step 02"/>
          <p:cNvSpPr/>
          <p:nvPr/>
        </p:nvSpPr>
        <p:spPr>
          <a:xfrm>
            <a:off x="3639312" y="1664208"/>
            <a:ext cx="2487168" cy="240487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oop number 02"/>
          <p:cNvSpPr txBox="1"/>
          <p:nvPr/>
        </p:nvSpPr>
        <p:spPr>
          <a:xfrm>
            <a:off x="3803904" y="1828800"/>
            <a:ext cx="502920" cy="4206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846826"/>
                </a:solidFill>
                <a:latin typeface="Times New Roman"/>
                <a:ea typeface="標楷體"/>
                <a:cs typeface="Times New Roman"/>
              </a:rPr>
              <a:t>02</a:t>
            </a:r>
          </a:p>
        </p:txBody>
      </p:sp>
      <p:sp>
        <p:nvSpPr>
          <p:cNvPr id="11" name="Loop heading 02"/>
          <p:cNvSpPr txBox="1"/>
          <p:nvPr/>
        </p:nvSpPr>
        <p:spPr>
          <a:xfrm>
            <a:off x="4352544" y="1810512"/>
            <a:ext cx="1517904" cy="457200"/>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400" b="1" i="0">
                <a:solidFill>
                  <a:srgbClr val="25356B"/>
                </a:solidFill>
                <a:latin typeface="Times New Roman"/>
                <a:ea typeface="標楷體"/>
                <a:cs typeface="Times New Roman"/>
              </a:rPr>
              <a:t>執行</a:t>
            </a:r>
          </a:p>
        </p:txBody>
      </p:sp>
      <p:sp>
        <p:nvSpPr>
          <p:cNvPr id="12" name="Loop body 02"/>
          <p:cNvSpPr txBox="1"/>
          <p:nvPr/>
        </p:nvSpPr>
        <p:spPr>
          <a:xfrm>
            <a:off x="3840480" y="2542032"/>
            <a:ext cx="2084831" cy="9601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固定 case</a:t>
            </a:r>
          </a:p>
          <a:p>
            <a:pPr algn="ctr">
              <a:lnSpc>
                <a:spcPct val="100000"/>
              </a:lnSpc>
              <a:spcBef>
                <a:spcPts val="0"/>
              </a:spcBef>
              <a:spcAft>
                <a:spcPts val="0"/>
              </a:spcAft>
            </a:pPr>
            <a:r>
              <a:rPr sz="2000" b="0" i="0">
                <a:solidFill>
                  <a:srgbClr val="25324A"/>
                </a:solidFill>
                <a:latin typeface="Times New Roman"/>
                <a:ea typeface="標楷體"/>
                <a:cs typeface="Times New Roman"/>
              </a:rPr>
              <a:t>固定輸入</a:t>
            </a:r>
          </a:p>
        </p:txBody>
      </p:sp>
      <p:sp>
        <p:nvSpPr>
          <p:cNvPr id="13" name="Chevron 12"/>
          <p:cNvSpPr/>
          <p:nvPr/>
        </p:nvSpPr>
        <p:spPr>
          <a:xfrm>
            <a:off x="6227064" y="2615184"/>
            <a:ext cx="329184" cy="420624"/>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oop step 03"/>
          <p:cNvSpPr/>
          <p:nvPr/>
        </p:nvSpPr>
        <p:spPr>
          <a:xfrm>
            <a:off x="6437376" y="1664208"/>
            <a:ext cx="2487168" cy="240487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oop number 03"/>
          <p:cNvSpPr txBox="1"/>
          <p:nvPr/>
        </p:nvSpPr>
        <p:spPr>
          <a:xfrm>
            <a:off x="6601968" y="1828800"/>
            <a:ext cx="502920" cy="4206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007374"/>
                </a:solidFill>
                <a:latin typeface="Times New Roman"/>
                <a:ea typeface="標楷體"/>
                <a:cs typeface="Times New Roman"/>
              </a:rPr>
              <a:t>03</a:t>
            </a:r>
          </a:p>
        </p:txBody>
      </p:sp>
      <p:sp>
        <p:nvSpPr>
          <p:cNvPr id="16" name="Loop heading 03"/>
          <p:cNvSpPr txBox="1"/>
          <p:nvPr/>
        </p:nvSpPr>
        <p:spPr>
          <a:xfrm>
            <a:off x="7150608" y="1810512"/>
            <a:ext cx="1517904" cy="457200"/>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400" b="1" i="0">
                <a:solidFill>
                  <a:srgbClr val="25356B"/>
                </a:solidFill>
                <a:latin typeface="Times New Roman"/>
                <a:ea typeface="標楷體"/>
                <a:cs typeface="Times New Roman"/>
              </a:rPr>
              <a:t>讀取</a:t>
            </a:r>
          </a:p>
        </p:txBody>
      </p:sp>
      <p:sp>
        <p:nvSpPr>
          <p:cNvPr id="17" name="Loop body 03"/>
          <p:cNvSpPr txBox="1"/>
          <p:nvPr/>
        </p:nvSpPr>
        <p:spPr>
          <a:xfrm>
            <a:off x="6638544" y="2542032"/>
            <a:ext cx="2084831" cy="9601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狀態、封包</a:t>
            </a:r>
          </a:p>
          <a:p>
            <a:pPr algn="ctr">
              <a:lnSpc>
                <a:spcPct val="100000"/>
              </a:lnSpc>
              <a:spcBef>
                <a:spcPts val="0"/>
              </a:spcBef>
              <a:spcAft>
                <a:spcPts val="0"/>
              </a:spcAft>
            </a:pPr>
            <a:r>
              <a:rPr sz="2000" b="0" i="0">
                <a:solidFill>
                  <a:srgbClr val="25324A"/>
                </a:solidFill>
                <a:latin typeface="Times New Roman"/>
                <a:ea typeface="標楷體"/>
                <a:cs typeface="Times New Roman"/>
              </a:rPr>
              <a:t>服務、能量</a:t>
            </a:r>
          </a:p>
        </p:txBody>
      </p:sp>
      <p:sp>
        <p:nvSpPr>
          <p:cNvPr id="18" name="Chevron 17"/>
          <p:cNvSpPr/>
          <p:nvPr/>
        </p:nvSpPr>
        <p:spPr>
          <a:xfrm>
            <a:off x="9025128" y="2615184"/>
            <a:ext cx="329184"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oop step 04"/>
          <p:cNvSpPr/>
          <p:nvPr/>
        </p:nvSpPr>
        <p:spPr>
          <a:xfrm>
            <a:off x="9235440" y="1664208"/>
            <a:ext cx="2487168" cy="240487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oop number 04"/>
          <p:cNvSpPr txBox="1"/>
          <p:nvPr/>
        </p:nvSpPr>
        <p:spPr>
          <a:xfrm>
            <a:off x="9400032" y="1828800"/>
            <a:ext cx="502920" cy="4206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660066"/>
                </a:solidFill>
                <a:latin typeface="Times New Roman"/>
                <a:ea typeface="標楷體"/>
                <a:cs typeface="Times New Roman"/>
              </a:rPr>
              <a:t>04</a:t>
            </a:r>
          </a:p>
        </p:txBody>
      </p:sp>
      <p:sp>
        <p:nvSpPr>
          <p:cNvPr id="21" name="Loop heading 04"/>
          <p:cNvSpPr txBox="1"/>
          <p:nvPr/>
        </p:nvSpPr>
        <p:spPr>
          <a:xfrm>
            <a:off x="9948672" y="1810512"/>
            <a:ext cx="1517904" cy="457200"/>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400" b="1" i="0">
                <a:solidFill>
                  <a:srgbClr val="25356B"/>
                </a:solidFill>
                <a:latin typeface="Times New Roman"/>
                <a:ea typeface="標楷體"/>
                <a:cs typeface="Times New Roman"/>
              </a:rPr>
              <a:t>解釋</a:t>
            </a:r>
          </a:p>
        </p:txBody>
      </p:sp>
      <p:sp>
        <p:nvSpPr>
          <p:cNvPr id="22" name="Loop body 04"/>
          <p:cNvSpPr txBox="1"/>
          <p:nvPr/>
        </p:nvSpPr>
        <p:spPr>
          <a:xfrm>
            <a:off x="9436608" y="2542032"/>
            <a:ext cx="2084831" cy="9601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動作 → 事件</a:t>
            </a:r>
          </a:p>
          <a:p>
            <a:pPr algn="ctr">
              <a:lnSpc>
                <a:spcPct val="100000"/>
              </a:lnSpc>
              <a:spcBef>
                <a:spcPts val="0"/>
              </a:spcBef>
              <a:spcAft>
                <a:spcPts val="0"/>
              </a:spcAft>
            </a:pPr>
            <a:r>
              <a:rPr sz="2000" b="0" i="0">
                <a:solidFill>
                  <a:srgbClr val="25324A"/>
                </a:solidFill>
                <a:latin typeface="Times New Roman"/>
                <a:ea typeface="標楷體"/>
                <a:cs typeface="Times New Roman"/>
              </a:rPr>
              <a:t>→ 結果</a:t>
            </a:r>
          </a:p>
        </p:txBody>
      </p:sp>
      <p:sp>
        <p:nvSpPr>
          <p:cNvPr id="23" name="Loop evidence rule"/>
          <p:cNvSpPr txBox="1"/>
          <p:nvPr/>
        </p:nvSpPr>
        <p:spPr>
          <a:xfrm>
            <a:off x="1078992" y="4315968"/>
            <a:ext cx="10021824"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預測與結果同時保存；反例保留為可檢驗證據。</a:t>
            </a:r>
          </a:p>
        </p:txBody>
      </p:sp>
      <p:sp>
        <p:nvSpPr>
          <p:cNvPr id="24" name="Field contract result.json"/>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result.json</a:t>
            </a:r>
            <a:r>
              <a:rPr sz="1700" b="0" i="0">
                <a:solidFill>
                  <a:srgbClr val="25356B"/>
                </a:solidFill>
                <a:latin typeface="Times New Roman"/>
                <a:ea typeface="標楷體"/>
                <a:cs typeface="Times New Roman"/>
              </a:rPr>
              <a:t>（結果資料檔）｜來源：package runner｜作用：保存 run identity、狀態、封包、服務與能量</a:t>
            </a:r>
          </a:p>
          <a:p>
            <a:pPr algn="l">
              <a:lnSpc>
                <a:spcPct val="92000"/>
              </a:lnSpc>
              <a:spcBef>
                <a:spcPts val="0"/>
              </a:spcBef>
              <a:spcAft>
                <a:spcPts val="0"/>
              </a:spcAft>
            </a:pPr>
            <a:r>
              <a:rPr sz="1700" b="0" i="0">
                <a:solidFill>
                  <a:srgbClr val="25356B"/>
                </a:solidFill>
                <a:latin typeface="Times New Roman"/>
                <a:ea typeface="標楷體"/>
                <a:cs typeface="Times New Roman"/>
              </a:rPr>
              <a:t>單位：JSON artifact｜判讀：作為 replay 與 import 的輸入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P005｜中間事件是因果歸因的必要橋樑</a:t>
            </a:r>
          </a:p>
        </p:txBody>
      </p:sp>
      <p:sp>
        <p:nvSpPr>
          <p:cNvPr id="3" name="Comparison lead"/>
          <p:cNvSpPr txBox="1"/>
          <p:nvPr/>
        </p:nvSpPr>
        <p:spPr>
          <a:xfrm>
            <a:off x="896112" y="941832"/>
            <a:ext cx="10405872"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同一觀測下，比較基準與候選策略的事件路徑</a:t>
            </a:r>
          </a:p>
        </p:txBody>
      </p:sp>
      <p:sp>
        <p:nvSpPr>
          <p:cNvPr id="4" name="Shared observation top"/>
          <p:cNvSpPr/>
          <p:nvPr/>
        </p:nvSpPr>
        <p:spPr>
          <a:xfrm>
            <a:off x="841248" y="1609344"/>
            <a:ext cx="1572768" cy="932688"/>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同一觀測</a:t>
            </a:r>
          </a:p>
        </p:txBody>
      </p:sp>
      <p:sp>
        <p:nvSpPr>
          <p:cNvPr id="5" name="Shared observation bottom"/>
          <p:cNvSpPr/>
          <p:nvPr/>
        </p:nvSpPr>
        <p:spPr>
          <a:xfrm>
            <a:off x="841248" y="2926080"/>
            <a:ext cx="1572768" cy="932688"/>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同一觀測</a:t>
            </a:r>
          </a:p>
        </p:txBody>
      </p:sp>
      <p:sp>
        <p:nvSpPr>
          <p:cNvPr id="6" name="Chevron 5"/>
          <p:cNvSpPr/>
          <p:nvPr/>
        </p:nvSpPr>
        <p:spPr>
          <a:xfrm>
            <a:off x="2496312" y="1810512"/>
            <a:ext cx="347472"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olicy lane 1"/>
          <p:cNvSpPr/>
          <p:nvPr/>
        </p:nvSpPr>
        <p:spPr>
          <a:xfrm>
            <a:off x="2871216" y="1572768"/>
            <a:ext cx="1938528" cy="100584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基準策略</a:t>
            </a:r>
          </a:p>
          <a:p>
            <a:pPr algn="ctr">
              <a:lnSpc>
                <a:spcPct val="95000"/>
              </a:lnSpc>
              <a:spcBef>
                <a:spcPts val="0"/>
              </a:spcBef>
              <a:spcAft>
                <a:spcPts val="0"/>
              </a:spcAft>
            </a:pPr>
            <a:r>
              <a:rPr sz="2000" b="1" i="0">
                <a:solidFill>
                  <a:srgbClr val="25356B"/>
                </a:solidFill>
                <a:latin typeface="Times New Roman"/>
                <a:ea typeface="標楷體"/>
                <a:cs typeface="Times New Roman"/>
              </a:rPr>
              <a:t>動作 A</a:t>
            </a:r>
          </a:p>
        </p:txBody>
      </p:sp>
      <p:sp>
        <p:nvSpPr>
          <p:cNvPr id="8" name="Chevron 7"/>
          <p:cNvSpPr/>
          <p:nvPr/>
        </p:nvSpPr>
        <p:spPr>
          <a:xfrm>
            <a:off x="4892040" y="1810512"/>
            <a:ext cx="347472"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vent lane 1"/>
          <p:cNvSpPr/>
          <p:nvPr/>
        </p:nvSpPr>
        <p:spPr>
          <a:xfrm>
            <a:off x="5285232" y="1572768"/>
            <a:ext cx="2304288" cy="1005840"/>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事件路徑 A</a:t>
            </a:r>
          </a:p>
        </p:txBody>
      </p:sp>
      <p:sp>
        <p:nvSpPr>
          <p:cNvPr id="10" name="Chevron 9"/>
          <p:cNvSpPr/>
          <p:nvPr/>
        </p:nvSpPr>
        <p:spPr>
          <a:xfrm>
            <a:off x="7680960" y="1810512"/>
            <a:ext cx="347472"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sult lane 1"/>
          <p:cNvSpPr/>
          <p:nvPr/>
        </p:nvSpPr>
        <p:spPr>
          <a:xfrm>
            <a:off x="8074152" y="1572768"/>
            <a:ext cx="3154680" cy="100584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服務／能量 A</a:t>
            </a:r>
          </a:p>
        </p:txBody>
      </p:sp>
      <p:sp>
        <p:nvSpPr>
          <p:cNvPr id="12" name="Chevron 11"/>
          <p:cNvSpPr/>
          <p:nvPr/>
        </p:nvSpPr>
        <p:spPr>
          <a:xfrm>
            <a:off x="2496312" y="3127248"/>
            <a:ext cx="347472"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licy lane 2"/>
          <p:cNvSpPr/>
          <p:nvPr/>
        </p:nvSpPr>
        <p:spPr>
          <a:xfrm>
            <a:off x="2871216" y="2889504"/>
            <a:ext cx="1938528" cy="100584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候選策略</a:t>
            </a:r>
          </a:p>
          <a:p>
            <a:pPr algn="ctr">
              <a:lnSpc>
                <a:spcPct val="95000"/>
              </a:lnSpc>
              <a:spcBef>
                <a:spcPts val="0"/>
              </a:spcBef>
              <a:spcAft>
                <a:spcPts val="0"/>
              </a:spcAft>
            </a:pPr>
            <a:r>
              <a:rPr sz="2000" b="1" i="0">
                <a:solidFill>
                  <a:srgbClr val="25356B"/>
                </a:solidFill>
                <a:latin typeface="Times New Roman"/>
                <a:ea typeface="標楷體"/>
                <a:cs typeface="Times New Roman"/>
              </a:rPr>
              <a:t>動作 B</a:t>
            </a:r>
          </a:p>
        </p:txBody>
      </p:sp>
      <p:sp>
        <p:nvSpPr>
          <p:cNvPr id="14" name="Chevron 13"/>
          <p:cNvSpPr/>
          <p:nvPr/>
        </p:nvSpPr>
        <p:spPr>
          <a:xfrm>
            <a:off x="4892040" y="3127248"/>
            <a:ext cx="347472"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Event lane 2"/>
          <p:cNvSpPr/>
          <p:nvPr/>
        </p:nvSpPr>
        <p:spPr>
          <a:xfrm>
            <a:off x="5285232" y="2889504"/>
            <a:ext cx="2304288" cy="1005840"/>
          </a:xfrm>
          <a:prstGeom prst="roundRect">
            <a:avLst/>
          </a:prstGeom>
          <a:solidFill>
            <a:srgbClr val="F7F8FC"/>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事件路徑 B</a:t>
            </a:r>
          </a:p>
        </p:txBody>
      </p:sp>
      <p:sp>
        <p:nvSpPr>
          <p:cNvPr id="16" name="Chevron 15"/>
          <p:cNvSpPr/>
          <p:nvPr/>
        </p:nvSpPr>
        <p:spPr>
          <a:xfrm>
            <a:off x="7680960" y="3127248"/>
            <a:ext cx="347472"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 lane 2"/>
          <p:cNvSpPr/>
          <p:nvPr/>
        </p:nvSpPr>
        <p:spPr>
          <a:xfrm>
            <a:off x="8074152" y="2889504"/>
            <a:ext cx="3154680" cy="100584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服務／能量 B</a:t>
            </a:r>
          </a:p>
        </p:txBody>
      </p:sp>
      <p:sp>
        <p:nvSpPr>
          <p:cNvPr id="18" name="Causal comparison rule"/>
          <p:cNvSpPr txBox="1"/>
          <p:nvPr/>
        </p:nvSpPr>
        <p:spPr>
          <a:xfrm>
            <a:off x="960120" y="4242816"/>
            <a:ext cx="10222992"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992A2A"/>
                </a:solidFill>
                <a:latin typeface="Times New Roman"/>
                <a:ea typeface="標楷體"/>
                <a:cs typeface="Times New Roman"/>
              </a:rPr>
              <a:t>先確認事件路徑不同，才比較服務與能量。</a:t>
            </a:r>
          </a:p>
        </p:txBody>
      </p:sp>
      <p:sp>
        <p:nvSpPr>
          <p:cNvPr id="19" name="Field contract packet_progress"/>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packet_progress</a:t>
            </a:r>
            <a:r>
              <a:rPr sz="1700" b="0" i="0">
                <a:solidFill>
                  <a:srgbClr val="25356B"/>
                </a:solidFill>
                <a:latin typeface="Times New Roman"/>
                <a:ea typeface="標楷體"/>
                <a:cs typeface="Times New Roman"/>
              </a:rPr>
              <a:t>（封包進度）｜來源：result／replay artifact｜作用：記錄產生、佇列、嘗試、重試、送達與逾期</a:t>
            </a:r>
          </a:p>
          <a:p>
            <a:pPr algn="l">
              <a:lnSpc>
                <a:spcPct val="92000"/>
              </a:lnSpc>
              <a:spcBef>
                <a:spcPts val="0"/>
              </a:spcBef>
              <a:spcAft>
                <a:spcPts val="0"/>
              </a:spcAft>
            </a:pPr>
            <a:r>
              <a:rPr sz="1700" b="0" i="0">
                <a:solidFill>
                  <a:srgbClr val="25356B"/>
                </a:solidFill>
                <a:latin typeface="Times New Roman"/>
                <a:ea typeface="標楷體"/>
                <a:cs typeface="Times New Roman"/>
              </a:rPr>
              <a:t>單位：event count + time｜判讀：連接策略動作與服務結果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P006｜Runner 證據有明確邊界</a:t>
            </a:r>
          </a:p>
        </p:txBody>
      </p:sp>
      <p:sp>
        <p:nvSpPr>
          <p:cNvPr id="3" name="Evidence lead"/>
          <p:cNvSpPr txBox="1"/>
          <p:nvPr/>
        </p:nvSpPr>
        <p:spPr>
          <a:xfrm>
            <a:off x="941832" y="932688"/>
            <a:ext cx="10259568"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可重跑，不等於可以外推到所有能量層級</a:t>
            </a:r>
          </a:p>
        </p:txBody>
      </p:sp>
      <p:sp>
        <p:nvSpPr>
          <p:cNvPr id="4" name="Supported evidence"/>
          <p:cNvSpPr/>
          <p:nvPr/>
        </p:nvSpPr>
        <p:spPr>
          <a:xfrm>
            <a:off x="841248" y="1627632"/>
            <a:ext cx="5084064" cy="290779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Unsupported evidence"/>
          <p:cNvSpPr/>
          <p:nvPr/>
        </p:nvSpPr>
        <p:spPr>
          <a:xfrm>
            <a:off x="6263640" y="1627632"/>
            <a:ext cx="5084064" cy="2907792"/>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upported heading"/>
          <p:cNvSpPr txBox="1"/>
          <p:nvPr/>
        </p:nvSpPr>
        <p:spPr>
          <a:xfrm>
            <a:off x="1115568" y="1828800"/>
            <a:ext cx="4535424" cy="47548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500" b="1" i="0">
                <a:solidFill>
                  <a:srgbClr val="007374"/>
                </a:solidFill>
                <a:latin typeface="Times New Roman"/>
                <a:ea typeface="標楷體"/>
                <a:cs typeface="Times New Roman"/>
              </a:rPr>
              <a:t>本套件可支持</a:t>
            </a:r>
          </a:p>
        </p:txBody>
      </p:sp>
      <p:sp>
        <p:nvSpPr>
          <p:cNvPr id="7" name="Supported body"/>
          <p:cNvSpPr txBox="1"/>
          <p:nvPr/>
        </p:nvSpPr>
        <p:spPr>
          <a:xfrm>
            <a:off x="1243584" y="2496312"/>
            <a:ext cx="4279392" cy="155448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0" i="0">
                <a:solidFill>
                  <a:srgbClr val="25324A"/>
                </a:solidFill>
                <a:latin typeface="Times New Roman"/>
                <a:ea typeface="標楷體"/>
                <a:cs typeface="Times New Roman"/>
              </a:rPr>
              <a:t>固定 scenario／seed</a:t>
            </a:r>
          </a:p>
          <a:p>
            <a:pPr algn="ctr">
              <a:lnSpc>
                <a:spcPct val="100000"/>
              </a:lnSpc>
              <a:spcBef>
                <a:spcPts val="0"/>
              </a:spcBef>
              <a:spcAft>
                <a:spcPts val="0"/>
              </a:spcAft>
            </a:pPr>
            <a:r>
              <a:rPr sz="2100" b="0" i="0">
                <a:solidFill>
                  <a:srgbClr val="25324A"/>
                </a:solidFill>
                <a:latin typeface="Times New Roman"/>
                <a:ea typeface="標楷體"/>
                <a:cs typeface="Times New Roman"/>
              </a:rPr>
              <a:t>端點狀態與封包事件</a:t>
            </a:r>
          </a:p>
          <a:p>
            <a:pPr algn="ctr">
              <a:lnSpc>
                <a:spcPct val="100000"/>
              </a:lnSpc>
              <a:spcBef>
                <a:spcPts val="0"/>
              </a:spcBef>
              <a:spcAft>
                <a:spcPts val="0"/>
              </a:spcAft>
            </a:pPr>
            <a:r>
              <a:rPr sz="2100" b="0" i="0">
                <a:solidFill>
                  <a:srgbClr val="25324A"/>
                </a:solidFill>
                <a:latin typeface="Times New Roman"/>
                <a:ea typeface="標楷體"/>
                <a:cs typeface="Times New Roman"/>
              </a:rPr>
              <a:t>服務判定與端點 J</a:t>
            </a:r>
          </a:p>
        </p:txBody>
      </p:sp>
      <p:sp>
        <p:nvSpPr>
          <p:cNvPr id="8" name="Unsupported heading"/>
          <p:cNvSpPr txBox="1"/>
          <p:nvPr/>
        </p:nvSpPr>
        <p:spPr>
          <a:xfrm>
            <a:off x="6537960" y="1828800"/>
            <a:ext cx="4535424" cy="47548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500" b="1" i="0">
                <a:solidFill>
                  <a:srgbClr val="992A2A"/>
                </a:solidFill>
                <a:latin typeface="Times New Roman"/>
                <a:ea typeface="標楷體"/>
                <a:cs typeface="Times New Roman"/>
              </a:rPr>
              <a:t>本套件不支持</a:t>
            </a:r>
          </a:p>
        </p:txBody>
      </p:sp>
      <p:sp>
        <p:nvSpPr>
          <p:cNvPr id="9" name="Unsupported body"/>
          <p:cNvSpPr txBox="1"/>
          <p:nvPr/>
        </p:nvSpPr>
        <p:spPr>
          <a:xfrm>
            <a:off x="6711696" y="2496312"/>
            <a:ext cx="4187952" cy="155448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0" i="0">
                <a:solidFill>
                  <a:srgbClr val="25324A"/>
                </a:solidFill>
                <a:latin typeface="Times New Roman"/>
                <a:ea typeface="標楷體"/>
                <a:cs typeface="Times New Roman"/>
              </a:rPr>
              <a:t>LEO／system energy</a:t>
            </a:r>
          </a:p>
          <a:p>
            <a:pPr algn="ctr">
              <a:lnSpc>
                <a:spcPct val="100000"/>
              </a:lnSpc>
              <a:spcBef>
                <a:spcPts val="0"/>
              </a:spcBef>
              <a:spcAft>
                <a:spcPts val="0"/>
              </a:spcAft>
            </a:pPr>
            <a:r>
              <a:rPr sz="2100" b="0" i="0">
                <a:solidFill>
                  <a:srgbClr val="25324A"/>
                </a:solidFill>
                <a:latin typeface="Times New Roman"/>
                <a:ea typeface="標楷體"/>
                <a:cs typeface="Times New Roman"/>
              </a:rPr>
              <a:t>canonical efficiency</a:t>
            </a:r>
          </a:p>
          <a:p>
            <a:pPr algn="ctr">
              <a:lnSpc>
                <a:spcPct val="100000"/>
              </a:lnSpc>
              <a:spcBef>
                <a:spcPts val="0"/>
              </a:spcBef>
              <a:spcAft>
                <a:spcPts val="0"/>
              </a:spcAft>
            </a:pPr>
            <a:r>
              <a:rPr sz="2100" b="0" i="0">
                <a:solidFill>
                  <a:srgbClr val="25324A"/>
                </a:solidFill>
                <a:latin typeface="Times New Roman"/>
                <a:ea typeface="標楷體"/>
                <a:cs typeface="Times New Roman"/>
              </a:rPr>
              <a:t>實測或即時 KPI</a:t>
            </a:r>
          </a:p>
        </p:txBody>
      </p:sp>
      <p:sp>
        <p:nvSpPr>
          <p:cNvPr id="10" name="Field contract endpoint_energy_j"/>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endpoint_energy_j</a:t>
            </a:r>
            <a:r>
              <a:rPr sz="1700" b="0" i="0">
                <a:solidFill>
                  <a:srgbClr val="25356B"/>
                </a:solidFill>
                <a:latin typeface="Times New Roman"/>
                <a:ea typeface="標楷體"/>
                <a:cs typeface="Times New Roman"/>
              </a:rPr>
              <a:t>（端點能量）｜來源：endpoint radio／processing model｜作用：累積狀態能量</a:t>
            </a:r>
          </a:p>
          <a:p>
            <a:pPr algn="l">
              <a:lnSpc>
                <a:spcPct val="92000"/>
              </a:lnSpc>
              <a:spcBef>
                <a:spcPts val="0"/>
              </a:spcBef>
              <a:spcAft>
                <a:spcPts val="0"/>
              </a:spcAft>
            </a:pPr>
            <a:r>
              <a:rPr sz="1700" b="0" i="0">
                <a:solidFill>
                  <a:srgbClr val="25356B"/>
                </a:solidFill>
                <a:latin typeface="Times New Roman"/>
                <a:ea typeface="標楷體"/>
                <a:cs typeface="Times New Roman"/>
              </a:rPr>
              <a:t>單位：J｜判讀：只屬於 endpoint evidence layer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P007｜LEO 是變動服務窗口的工作範例</a:t>
            </a:r>
          </a:p>
        </p:txBody>
      </p:sp>
      <p:sp>
        <p:nvSpPr>
          <p:cNvPr id="3" name="LEO lead"/>
          <p:cNvSpPr txBox="1"/>
          <p:nvPr/>
        </p:nvSpPr>
        <p:spPr>
          <a:xfrm>
            <a:off x="950976" y="932688"/>
            <a:ext cx="10241280"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LEO 改變可服務機會；主要控制仍在端點策略</a:t>
            </a:r>
          </a:p>
        </p:txBody>
      </p:sp>
      <p:sp>
        <p:nvSpPr>
          <p:cNvPr id="4" name="LEO opportunity"/>
          <p:cNvSpPr/>
          <p:nvPr/>
        </p:nvSpPr>
        <p:spPr>
          <a:xfrm>
            <a:off x="859536" y="1609344"/>
            <a:ext cx="1920240" cy="98755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低地球軌道</a:t>
            </a:r>
          </a:p>
          <a:p>
            <a:pPr algn="ctr">
              <a:lnSpc>
                <a:spcPct val="95000"/>
              </a:lnSpc>
              <a:spcBef>
                <a:spcPts val="0"/>
              </a:spcBef>
              <a:spcAft>
                <a:spcPts val="0"/>
              </a:spcAft>
            </a:pPr>
            <a:r>
              <a:rPr sz="2100" b="1" i="0">
                <a:solidFill>
                  <a:srgbClr val="25356B"/>
                </a:solidFill>
                <a:latin typeface="Times New Roman"/>
                <a:ea typeface="標楷體"/>
                <a:cs typeface="Times New Roman"/>
              </a:rPr>
              <a:t>服務機會</a:t>
            </a:r>
          </a:p>
        </p:txBody>
      </p:sp>
      <p:sp>
        <p:nvSpPr>
          <p:cNvPr id="5" name="Chevron 4"/>
          <p:cNvSpPr/>
          <p:nvPr/>
        </p:nvSpPr>
        <p:spPr>
          <a:xfrm>
            <a:off x="2907792" y="1865376"/>
            <a:ext cx="384048" cy="47548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O window timeline"/>
          <p:cNvSpPr/>
          <p:nvPr/>
        </p:nvSpPr>
        <p:spPr>
          <a:xfrm>
            <a:off x="3383280" y="1444752"/>
            <a:ext cx="5321808" cy="13167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O timeline segment 1"/>
          <p:cNvSpPr/>
          <p:nvPr/>
        </p:nvSpPr>
        <p:spPr>
          <a:xfrm>
            <a:off x="3611880" y="1837943"/>
            <a:ext cx="1371600" cy="512064"/>
          </a:xfrm>
          <a:prstGeom prst="rect">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lnSpc>
                <a:spcPct val="100000"/>
              </a:lnSpc>
              <a:spcBef>
                <a:spcPts val="0"/>
              </a:spcBef>
              <a:spcAft>
                <a:spcPts val="0"/>
              </a:spcAft>
            </a:pPr>
            <a:r>
              <a:rPr sz="1600" b="1" i="0">
                <a:solidFill>
                  <a:srgbClr val="FFFFFF"/>
                </a:solidFill>
                <a:latin typeface="Times New Roman"/>
                <a:ea typeface="標楷體"/>
                <a:cs typeface="Times New Roman"/>
              </a:rPr>
              <a:t>窗口開啟</a:t>
            </a:r>
          </a:p>
        </p:txBody>
      </p:sp>
      <p:sp>
        <p:nvSpPr>
          <p:cNvPr id="8" name="LEO timeline segment 2"/>
          <p:cNvSpPr/>
          <p:nvPr/>
        </p:nvSpPr>
        <p:spPr>
          <a:xfrm>
            <a:off x="5038344" y="1837943"/>
            <a:ext cx="1207008" cy="512064"/>
          </a:xfrm>
          <a:prstGeom prst="rect">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lnSpc>
                <a:spcPct val="100000"/>
              </a:lnSpc>
              <a:spcBef>
                <a:spcPts val="0"/>
              </a:spcBef>
              <a:spcAft>
                <a:spcPts val="0"/>
              </a:spcAft>
            </a:pPr>
            <a:r>
              <a:rPr sz="1600" b="1" i="0">
                <a:solidFill>
                  <a:srgbClr val="FFFFFF"/>
                </a:solidFill>
                <a:latin typeface="Times New Roman"/>
                <a:ea typeface="標楷體"/>
                <a:cs typeface="Times New Roman"/>
              </a:rPr>
              <a:t>品質下降</a:t>
            </a:r>
          </a:p>
        </p:txBody>
      </p:sp>
      <p:sp>
        <p:nvSpPr>
          <p:cNvPr id="9" name="LEO timeline segment 3"/>
          <p:cNvSpPr/>
          <p:nvPr/>
        </p:nvSpPr>
        <p:spPr>
          <a:xfrm>
            <a:off x="6300216" y="1837943"/>
            <a:ext cx="1152144" cy="51206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lnSpc>
                <a:spcPct val="100000"/>
              </a:lnSpc>
              <a:spcBef>
                <a:spcPts val="0"/>
              </a:spcBef>
              <a:spcAft>
                <a:spcPts val="0"/>
              </a:spcAft>
            </a:pPr>
            <a:r>
              <a:rPr sz="1600" b="1" i="0">
                <a:solidFill>
                  <a:srgbClr val="25324A"/>
                </a:solidFill>
                <a:latin typeface="Times New Roman"/>
                <a:ea typeface="標楷體"/>
                <a:cs typeface="Times New Roman"/>
              </a:rPr>
              <a:t>窗口關閉</a:t>
            </a:r>
          </a:p>
        </p:txBody>
      </p:sp>
      <p:sp>
        <p:nvSpPr>
          <p:cNvPr id="10" name="LEO timeline segment 4"/>
          <p:cNvSpPr/>
          <p:nvPr/>
        </p:nvSpPr>
        <p:spPr>
          <a:xfrm>
            <a:off x="7507223" y="1837943"/>
            <a:ext cx="1243584" cy="512064"/>
          </a:xfrm>
          <a:prstGeom prst="rect">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 tIns="9144" rIns="9144" bIns="9144"/>
          <a:lstStyle/>
          <a:p>
            <a:pPr algn="ctr">
              <a:lnSpc>
                <a:spcPct val="100000"/>
              </a:lnSpc>
              <a:spcBef>
                <a:spcPts val="0"/>
              </a:spcBef>
              <a:spcAft>
                <a:spcPts val="0"/>
              </a:spcAft>
            </a:pPr>
            <a:r>
              <a:rPr sz="1600" b="1" i="0">
                <a:solidFill>
                  <a:srgbClr val="FFFFFF"/>
                </a:solidFill>
                <a:latin typeface="Times New Roman"/>
                <a:ea typeface="標楷體"/>
                <a:cs typeface="Times New Roman"/>
              </a:rPr>
              <a:t>再度開啟</a:t>
            </a:r>
          </a:p>
        </p:txBody>
      </p:sp>
      <p:sp>
        <p:nvSpPr>
          <p:cNvPr id="11" name="Chevron 10"/>
          <p:cNvSpPr/>
          <p:nvPr/>
        </p:nvSpPr>
        <p:spPr>
          <a:xfrm>
            <a:off x="8833104" y="1865376"/>
            <a:ext cx="384048" cy="47548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ndpoint choice"/>
          <p:cNvSpPr/>
          <p:nvPr/>
        </p:nvSpPr>
        <p:spPr>
          <a:xfrm>
            <a:off x="9326880" y="1609344"/>
            <a:ext cx="1975104" cy="98755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100" b="1" i="0">
                <a:solidFill>
                  <a:srgbClr val="25356B"/>
                </a:solidFill>
                <a:latin typeface="Times New Roman"/>
                <a:ea typeface="標楷體"/>
                <a:cs typeface="Times New Roman"/>
              </a:rPr>
              <a:t>等待／休息</a:t>
            </a:r>
          </a:p>
          <a:p>
            <a:pPr algn="ctr">
              <a:lnSpc>
                <a:spcPct val="95000"/>
              </a:lnSpc>
              <a:spcBef>
                <a:spcPts val="0"/>
              </a:spcBef>
              <a:spcAft>
                <a:spcPts val="0"/>
              </a:spcAft>
            </a:pPr>
            <a:r>
              <a:rPr sz="2100" b="1" i="0">
                <a:solidFill>
                  <a:srgbClr val="25356B"/>
                </a:solidFill>
                <a:latin typeface="Times New Roman"/>
                <a:ea typeface="標楷體"/>
                <a:cs typeface="Times New Roman"/>
              </a:rPr>
              <a:t>／送出</a:t>
            </a:r>
          </a:p>
        </p:txBody>
      </p:sp>
      <p:sp>
        <p:nvSpPr>
          <p:cNvPr id="13" name="Transfer rule"/>
          <p:cNvSpPr txBox="1"/>
          <p:nvPr/>
        </p:nvSpPr>
        <p:spPr>
          <a:xfrm>
            <a:off x="914400" y="3035808"/>
            <a:ext cx="1031443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25356B"/>
                </a:solidFill>
                <a:latin typeface="Times New Roman"/>
                <a:ea typeface="標楷體"/>
                <a:cs typeface="Times New Roman"/>
              </a:rPr>
              <a:t>相同機制可以轉移；窗口、期限與能量邊界必須重新定義。</a:t>
            </a:r>
          </a:p>
        </p:txBody>
      </p:sp>
      <p:sp>
        <p:nvSpPr>
          <p:cNvPr id="14" name="Transfer example 1"/>
          <p:cNvSpPr/>
          <p:nvPr/>
        </p:nvSpPr>
        <p:spPr>
          <a:xfrm>
            <a:off x="1060704" y="3584448"/>
            <a:ext cx="2788920" cy="78638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1900" b="1" i="0">
                <a:solidFill>
                  <a:srgbClr val="25356B"/>
                </a:solidFill>
                <a:latin typeface="Times New Roman"/>
                <a:ea typeface="標楷體"/>
                <a:cs typeface="Times New Roman"/>
              </a:rPr>
              <a:t>暖通空調｜低負載時段</a:t>
            </a:r>
          </a:p>
        </p:txBody>
      </p:sp>
      <p:sp>
        <p:nvSpPr>
          <p:cNvPr id="15" name="Transfer example 2"/>
          <p:cNvSpPr/>
          <p:nvPr/>
        </p:nvSpPr>
        <p:spPr>
          <a:xfrm>
            <a:off x="4297680" y="3584448"/>
            <a:ext cx="2788920" cy="78638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1900" b="1" i="0">
                <a:solidFill>
                  <a:srgbClr val="25356B"/>
                </a:solidFill>
                <a:latin typeface="Times New Roman"/>
                <a:ea typeface="標楷體"/>
                <a:cs typeface="Times New Roman"/>
              </a:rPr>
              <a:t>邊緣閘道｜可連線時段</a:t>
            </a:r>
          </a:p>
        </p:txBody>
      </p:sp>
      <p:sp>
        <p:nvSpPr>
          <p:cNvPr id="16" name="Transfer example 3"/>
          <p:cNvSpPr/>
          <p:nvPr/>
        </p:nvSpPr>
        <p:spPr>
          <a:xfrm>
            <a:off x="7534656" y="3584448"/>
            <a:ext cx="2788920" cy="786384"/>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1900" b="1" i="0">
                <a:solidFill>
                  <a:srgbClr val="25356B"/>
                </a:solidFill>
                <a:latin typeface="Times New Roman"/>
                <a:ea typeface="標楷體"/>
                <a:cs typeface="Times New Roman"/>
              </a:rPr>
              <a:t>物流追蹤｜回報機會</a:t>
            </a:r>
          </a:p>
        </p:txBody>
      </p:sp>
      <p:sp>
        <p:nvSpPr>
          <p:cNvPr id="17" name="Field contract service_window"/>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service_window</a:t>
            </a:r>
            <a:r>
              <a:rPr sz="1700" b="0" i="0">
                <a:solidFill>
                  <a:srgbClr val="25356B"/>
                </a:solidFill>
                <a:latin typeface="Times New Roman"/>
                <a:ea typeface="標楷體"/>
                <a:cs typeface="Times New Roman"/>
              </a:rPr>
              <a:t>（服務窗口）｜來源：fixed scenario trace｜作用：定義合法傳輸區間</a:t>
            </a:r>
          </a:p>
          <a:p>
            <a:pPr algn="l">
              <a:lnSpc>
                <a:spcPct val="92000"/>
              </a:lnSpc>
              <a:spcBef>
                <a:spcPts val="0"/>
              </a:spcBef>
              <a:spcAft>
                <a:spcPts val="0"/>
              </a:spcAft>
            </a:pPr>
            <a:r>
              <a:rPr sz="1700" b="0" i="0">
                <a:solidFill>
                  <a:srgbClr val="25356B"/>
                </a:solidFill>
                <a:latin typeface="Times New Roman"/>
                <a:ea typeface="標楷體"/>
                <a:cs typeface="Times New Roman"/>
              </a:rPr>
              <a:t>單位：trace time｜判讀：決定動作是否具有服務機會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P008｜從預測到結果，保留可反駁路徑</a:t>
            </a:r>
          </a:p>
        </p:txBody>
      </p:sp>
      <p:sp>
        <p:nvSpPr>
          <p:cNvPr id="3" name="Prediction lead"/>
          <p:cNvSpPr txBox="1"/>
          <p:nvPr/>
        </p:nvSpPr>
        <p:spPr>
          <a:xfrm>
            <a:off x="950976" y="932688"/>
            <a:ext cx="10241280" cy="43891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先寫下方向，再執行；結果不符時保留反例</a:t>
            </a:r>
          </a:p>
        </p:txBody>
      </p:sp>
      <p:sp>
        <p:nvSpPr>
          <p:cNvPr id="4" name="Prediction step 01"/>
          <p:cNvSpPr/>
          <p:nvPr/>
        </p:nvSpPr>
        <p:spPr>
          <a:xfrm>
            <a:off x="841248" y="1645920"/>
            <a:ext cx="2286000" cy="23317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ediction number 01"/>
          <p:cNvSpPr txBox="1"/>
          <p:nvPr/>
        </p:nvSpPr>
        <p:spPr>
          <a:xfrm>
            <a:off x="1005840" y="1847088"/>
            <a:ext cx="475488" cy="402336"/>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01</a:t>
            </a:r>
          </a:p>
        </p:txBody>
      </p:sp>
      <p:sp>
        <p:nvSpPr>
          <p:cNvPr id="6" name="Prediction heading 01"/>
          <p:cNvSpPr txBox="1"/>
          <p:nvPr/>
        </p:nvSpPr>
        <p:spPr>
          <a:xfrm>
            <a:off x="1499616" y="1828800"/>
            <a:ext cx="1417320" cy="438912"/>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100" b="1" i="0">
                <a:solidFill>
                  <a:srgbClr val="25356B"/>
                </a:solidFill>
                <a:latin typeface="Times New Roman"/>
                <a:ea typeface="標楷體"/>
                <a:cs typeface="Times New Roman"/>
              </a:rPr>
              <a:t>記錄預測</a:t>
            </a:r>
          </a:p>
        </p:txBody>
      </p:sp>
      <p:sp>
        <p:nvSpPr>
          <p:cNvPr id="7" name="Prediction body 01"/>
          <p:cNvSpPr txBox="1"/>
          <p:nvPr/>
        </p:nvSpPr>
        <p:spPr>
          <a:xfrm>
            <a:off x="1042416" y="2578608"/>
            <a:ext cx="1883664" cy="8778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0">
                <a:solidFill>
                  <a:srgbClr val="25324A"/>
                </a:solidFill>
                <a:latin typeface="Times New Roman"/>
                <a:ea typeface="標楷體"/>
                <a:cs typeface="Times New Roman"/>
              </a:rPr>
              <a:t>狀態／封包／服務／J</a:t>
            </a:r>
          </a:p>
        </p:txBody>
      </p:sp>
      <p:sp>
        <p:nvSpPr>
          <p:cNvPr id="8" name="Chevron 7"/>
          <p:cNvSpPr/>
          <p:nvPr/>
        </p:nvSpPr>
        <p:spPr>
          <a:xfrm>
            <a:off x="3200400" y="2532888"/>
            <a:ext cx="292608" cy="40233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ediction step 02"/>
          <p:cNvSpPr/>
          <p:nvPr/>
        </p:nvSpPr>
        <p:spPr>
          <a:xfrm>
            <a:off x="3566160" y="1645920"/>
            <a:ext cx="2286000" cy="23317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ediction number 02"/>
          <p:cNvSpPr txBox="1"/>
          <p:nvPr/>
        </p:nvSpPr>
        <p:spPr>
          <a:xfrm>
            <a:off x="3730752" y="1847088"/>
            <a:ext cx="475488" cy="402336"/>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02</a:t>
            </a:r>
          </a:p>
        </p:txBody>
      </p:sp>
      <p:sp>
        <p:nvSpPr>
          <p:cNvPr id="11" name="Prediction heading 02"/>
          <p:cNvSpPr txBox="1"/>
          <p:nvPr/>
        </p:nvSpPr>
        <p:spPr>
          <a:xfrm>
            <a:off x="4224528" y="1828800"/>
            <a:ext cx="1417320" cy="438912"/>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100" b="1" i="0">
                <a:solidFill>
                  <a:srgbClr val="25356B"/>
                </a:solidFill>
                <a:latin typeface="Times New Roman"/>
                <a:ea typeface="標楷體"/>
                <a:cs typeface="Times New Roman"/>
              </a:rPr>
              <a:t>受控修改</a:t>
            </a:r>
          </a:p>
        </p:txBody>
      </p:sp>
      <p:sp>
        <p:nvSpPr>
          <p:cNvPr id="12" name="Prediction body 02"/>
          <p:cNvSpPr txBox="1"/>
          <p:nvPr/>
        </p:nvSpPr>
        <p:spPr>
          <a:xfrm>
            <a:off x="3767328" y="2578608"/>
            <a:ext cx="1883664" cy="8778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0">
                <a:solidFill>
                  <a:srgbClr val="25324A"/>
                </a:solidFill>
                <a:latin typeface="Times New Roman"/>
                <a:ea typeface="標楷體"/>
                <a:cs typeface="Times New Roman"/>
              </a:rPr>
              <a:t>一次一個常數</a:t>
            </a:r>
          </a:p>
        </p:txBody>
      </p:sp>
      <p:sp>
        <p:nvSpPr>
          <p:cNvPr id="13" name="Chevron 12"/>
          <p:cNvSpPr/>
          <p:nvPr/>
        </p:nvSpPr>
        <p:spPr>
          <a:xfrm>
            <a:off x="5925312" y="2532888"/>
            <a:ext cx="292608" cy="402336"/>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rediction step 03"/>
          <p:cNvSpPr/>
          <p:nvPr/>
        </p:nvSpPr>
        <p:spPr>
          <a:xfrm>
            <a:off x="6291072" y="1645920"/>
            <a:ext cx="2286000" cy="23317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rediction number 03"/>
          <p:cNvSpPr txBox="1"/>
          <p:nvPr/>
        </p:nvSpPr>
        <p:spPr>
          <a:xfrm>
            <a:off x="6455664" y="1847088"/>
            <a:ext cx="475488" cy="402336"/>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03</a:t>
            </a:r>
          </a:p>
        </p:txBody>
      </p:sp>
      <p:sp>
        <p:nvSpPr>
          <p:cNvPr id="16" name="Prediction heading 03"/>
          <p:cNvSpPr txBox="1"/>
          <p:nvPr/>
        </p:nvSpPr>
        <p:spPr>
          <a:xfrm>
            <a:off x="6949440" y="1828800"/>
            <a:ext cx="1417320" cy="438912"/>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100" b="1" i="0">
                <a:solidFill>
                  <a:srgbClr val="25356B"/>
                </a:solidFill>
                <a:latin typeface="Times New Roman"/>
                <a:ea typeface="標楷體"/>
                <a:cs typeface="Times New Roman"/>
              </a:rPr>
              <a:t>精確執行</a:t>
            </a:r>
          </a:p>
        </p:txBody>
      </p:sp>
      <p:sp>
        <p:nvSpPr>
          <p:cNvPr id="17" name="Prediction body 03"/>
          <p:cNvSpPr txBox="1"/>
          <p:nvPr/>
        </p:nvSpPr>
        <p:spPr>
          <a:xfrm>
            <a:off x="6492240" y="2578608"/>
            <a:ext cx="1883664" cy="8778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0">
                <a:solidFill>
                  <a:srgbClr val="25324A"/>
                </a:solidFill>
                <a:latin typeface="Times New Roman"/>
                <a:ea typeface="標楷體"/>
                <a:cs typeface="Times New Roman"/>
              </a:rPr>
              <a:t>固定 case 與輸入</a:t>
            </a:r>
          </a:p>
        </p:txBody>
      </p:sp>
      <p:sp>
        <p:nvSpPr>
          <p:cNvPr id="18" name="Chevron 17"/>
          <p:cNvSpPr/>
          <p:nvPr/>
        </p:nvSpPr>
        <p:spPr>
          <a:xfrm>
            <a:off x="8650224" y="2532888"/>
            <a:ext cx="292608" cy="402336"/>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rediction step 04"/>
          <p:cNvSpPr/>
          <p:nvPr/>
        </p:nvSpPr>
        <p:spPr>
          <a:xfrm>
            <a:off x="9015984" y="1645920"/>
            <a:ext cx="2286000" cy="233172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rediction number 04"/>
          <p:cNvSpPr txBox="1"/>
          <p:nvPr/>
        </p:nvSpPr>
        <p:spPr>
          <a:xfrm>
            <a:off x="9180576" y="1847088"/>
            <a:ext cx="475488" cy="402336"/>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660066"/>
                </a:solidFill>
                <a:latin typeface="Times New Roman"/>
                <a:ea typeface="標楷體"/>
                <a:cs typeface="Times New Roman"/>
              </a:rPr>
              <a:t>04</a:t>
            </a:r>
          </a:p>
        </p:txBody>
      </p:sp>
      <p:sp>
        <p:nvSpPr>
          <p:cNvPr id="21" name="Prediction heading 04"/>
          <p:cNvSpPr txBox="1"/>
          <p:nvPr/>
        </p:nvSpPr>
        <p:spPr>
          <a:xfrm>
            <a:off x="9674352" y="1828800"/>
            <a:ext cx="1417320" cy="438912"/>
          </a:xfrm>
          <a:prstGeom prst="rect">
            <a:avLst/>
          </a:prstGeom>
          <a:noFill/>
        </p:spPr>
        <p:txBody>
          <a:bodyPr wrap="square" anchor="ctr" lIns="18288" tIns="9144" rIns="18288" bIns="9144">
            <a:spAutoFit/>
          </a:bodyPr>
          <a:lstStyle/>
          <a:p>
            <a:pPr algn="l">
              <a:lnSpc>
                <a:spcPct val="100000"/>
              </a:lnSpc>
              <a:spcBef>
                <a:spcPts val="0"/>
              </a:spcBef>
              <a:spcAft>
                <a:spcPts val="0"/>
              </a:spcAft>
            </a:pPr>
            <a:r>
              <a:rPr sz="2100" b="1" i="0">
                <a:solidFill>
                  <a:srgbClr val="25356B"/>
                </a:solidFill>
                <a:latin typeface="Times New Roman"/>
                <a:ea typeface="標楷體"/>
                <a:cs typeface="Times New Roman"/>
              </a:rPr>
              <a:t>比較與保存</a:t>
            </a:r>
          </a:p>
        </p:txBody>
      </p:sp>
      <p:sp>
        <p:nvSpPr>
          <p:cNvPr id="22" name="Prediction body 04"/>
          <p:cNvSpPr txBox="1"/>
          <p:nvPr/>
        </p:nvSpPr>
        <p:spPr>
          <a:xfrm>
            <a:off x="9217152" y="2578608"/>
            <a:ext cx="1883664" cy="87782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0">
                <a:solidFill>
                  <a:srgbClr val="25324A"/>
                </a:solidFill>
                <a:latin typeface="Times New Roman"/>
                <a:ea typeface="標楷體"/>
                <a:cs typeface="Times New Roman"/>
              </a:rPr>
              <a:t>結果、解釋、反例</a:t>
            </a:r>
          </a:p>
        </p:txBody>
      </p:sp>
      <p:sp>
        <p:nvSpPr>
          <p:cNvPr id="23" name="Withheld case"/>
          <p:cNvSpPr/>
          <p:nvPr/>
        </p:nvSpPr>
        <p:spPr>
          <a:xfrm>
            <a:off x="1225296" y="4224528"/>
            <a:ext cx="9747504" cy="512064"/>
          </a:xfrm>
          <a:prstGeom prst="roundRect">
            <a:avLst/>
          </a:prstGeom>
          <a:solidFill>
            <a:srgbClr val="F7F8FC"/>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lnSpc>
                <a:spcPct val="95000"/>
              </a:lnSpc>
              <a:spcBef>
                <a:spcPts val="0"/>
              </a:spcBef>
              <a:spcAft>
                <a:spcPts val="0"/>
              </a:spcAft>
            </a:pPr>
            <a:r>
              <a:rPr sz="2000" b="1" i="0">
                <a:solidFill>
                  <a:srgbClr val="25356B"/>
                </a:solidFill>
                <a:latin typeface="Times New Roman"/>
                <a:ea typeface="標楷體"/>
                <a:cs typeface="Times New Roman"/>
              </a:rPr>
              <a:t>保留條件案例維持 frozen policy，用來檢查機制是否可轉移。</a:t>
            </a:r>
          </a:p>
        </p:txBody>
      </p:sp>
      <p:sp>
        <p:nvSpPr>
          <p:cNvPr id="24" name="Field contract prediction"/>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92000"/>
              </a:lnSpc>
              <a:spcBef>
                <a:spcPts val="0"/>
              </a:spcBef>
              <a:spcAft>
                <a:spcPts val="0"/>
              </a:spcAft>
            </a:pPr>
            <a:r>
              <a:rPr sz="1700" b="0" i="1">
                <a:solidFill>
                  <a:srgbClr val="25356B"/>
                </a:solidFill>
                <a:latin typeface="Times New Roman"/>
                <a:ea typeface="標楷體"/>
                <a:cs typeface="Times New Roman"/>
              </a:rPr>
              <a:t>prediction</a:t>
            </a:r>
            <a:r>
              <a:rPr sz="1700" b="0" i="0">
                <a:solidFill>
                  <a:srgbClr val="25356B"/>
                </a:solidFill>
                <a:latin typeface="Times New Roman"/>
                <a:ea typeface="標楷體"/>
                <a:cs typeface="Times New Roman"/>
              </a:rPr>
              <a:t>（預測）｜來源：workbook record｜作用：指定可反駁的變化方向</a:t>
            </a:r>
          </a:p>
          <a:p>
            <a:pPr algn="l">
              <a:lnSpc>
                <a:spcPct val="92000"/>
              </a:lnSpc>
              <a:spcBef>
                <a:spcPts val="0"/>
              </a:spcBef>
              <a:spcAft>
                <a:spcPts val="0"/>
              </a:spcAft>
            </a:pPr>
            <a:r>
              <a:rPr sz="1700" b="0" i="0">
                <a:solidFill>
                  <a:srgbClr val="25356B"/>
                </a:solidFill>
                <a:latin typeface="Times New Roman"/>
                <a:ea typeface="標楷體"/>
                <a:cs typeface="Times New Roman"/>
              </a:rPr>
              <a:t>單位：statement｜判讀：作為執行前的比較基準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P009｜先確認來源，再限制可說的結論</a:t>
            </a:r>
          </a:p>
        </p:txBody>
      </p:sp>
      <p:sp>
        <p:nvSpPr>
          <p:cNvPr id="3" name="P009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先把同一筆證據的來源綁好，再判斷能否比較</a:t>
            </a:r>
          </a:p>
        </p:txBody>
      </p:sp>
      <p:sp>
        <p:nvSpPr>
          <p:cNvPr id="4" name="P009 package card"/>
          <p:cNvSpPr/>
          <p:nvPr/>
        </p:nvSpPr>
        <p:spPr>
          <a:xfrm>
            <a:off x="841248" y="1554480"/>
            <a:ext cx="3246120" cy="204825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09 package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套件已完成</a:t>
            </a:r>
          </a:p>
        </p:txBody>
      </p:sp>
      <p:sp>
        <p:nvSpPr>
          <p:cNvPr id="6" name="P009 package card body"/>
          <p:cNvSpPr txBox="1"/>
          <p:nvPr/>
        </p:nvSpPr>
        <p:spPr>
          <a:xfrm>
            <a:off x="1042416" y="2359152"/>
            <a:ext cx="2843784" cy="106070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固定情境與策略</a:t>
            </a:r>
          </a:p>
          <a:p>
            <a:pPr algn="ctr">
              <a:lnSpc>
                <a:spcPct val="100000"/>
              </a:lnSpc>
              <a:spcBef>
                <a:spcPts val="0"/>
              </a:spcBef>
              <a:spcAft>
                <a:spcPts val="0"/>
              </a:spcAft>
            </a:pPr>
            <a:r>
              <a:rPr sz="2200" b="0" i="0">
                <a:solidFill>
                  <a:srgbClr val="25324A"/>
                </a:solidFill>
                <a:latin typeface="Times New Roman"/>
                <a:ea typeface="標楷體"/>
                <a:cs typeface="Times New Roman"/>
              </a:rPr>
              <a:t>啟動器、契約已封裝</a:t>
            </a:r>
          </a:p>
        </p:txBody>
      </p:sp>
      <p:sp>
        <p:nvSpPr>
          <p:cNvPr id="7" name="Chevron 6"/>
          <p:cNvSpPr/>
          <p:nvPr/>
        </p:nvSpPr>
        <p:spPr>
          <a:xfrm>
            <a:off x="4261104" y="235915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09 edit card"/>
          <p:cNvSpPr/>
          <p:nvPr/>
        </p:nvSpPr>
        <p:spPr>
          <a:xfrm>
            <a:off x="4828032" y="1554480"/>
            <a:ext cx="3246120" cy="204825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09 edit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本次只做</a:t>
            </a:r>
          </a:p>
        </p:txBody>
      </p:sp>
      <p:sp>
        <p:nvSpPr>
          <p:cNvPr id="10" name="P009 edit card body"/>
          <p:cNvSpPr txBox="1"/>
          <p:nvPr/>
        </p:nvSpPr>
        <p:spPr>
          <a:xfrm>
            <a:off x="5029200" y="2359152"/>
            <a:ext cx="2843784" cy="106070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1">
                <a:solidFill>
                  <a:srgbClr val="25324A"/>
                </a:solidFill>
                <a:latin typeface="Times New Roman"/>
                <a:ea typeface="標楷體"/>
                <a:cs typeface="Times New Roman"/>
              </a:rPr>
              <a:t>student_policy.py</a:t>
            </a:r>
            <a:r>
              <a:rPr sz="1850" b="0" i="0">
                <a:solidFill>
                  <a:srgbClr val="25324A"/>
                </a:solidFill>
                <a:latin typeface="Times New Roman"/>
                <a:ea typeface="標楷體"/>
                <a:cs typeface="Times New Roman"/>
              </a:rPr>
              <a:t> 指定區塊</a:t>
            </a:r>
          </a:p>
          <a:p>
            <a:pPr algn="ctr">
              <a:lnSpc>
                <a:spcPct val="100000"/>
              </a:lnSpc>
              <a:spcBef>
                <a:spcPts val="0"/>
              </a:spcBef>
              <a:spcAft>
                <a:spcPts val="0"/>
              </a:spcAft>
            </a:pPr>
            <a:r>
              <a:rPr sz="1850" b="0" i="0">
                <a:solidFill>
                  <a:srgbClr val="25324A"/>
                </a:solidFill>
                <a:latin typeface="Times New Roman"/>
                <a:ea typeface="標楷體"/>
                <a:cs typeface="Times New Roman"/>
              </a:rPr>
              <a:t>只改一處，保留註解</a:t>
            </a:r>
          </a:p>
        </p:txBody>
      </p:sp>
      <p:sp>
        <p:nvSpPr>
          <p:cNvPr id="11" name="Chevron 10"/>
          <p:cNvSpPr/>
          <p:nvPr/>
        </p:nvSpPr>
        <p:spPr>
          <a:xfrm>
            <a:off x="8247888" y="2359152"/>
            <a:ext cx="420624" cy="493776"/>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09 result card"/>
          <p:cNvSpPr/>
          <p:nvPr/>
        </p:nvSpPr>
        <p:spPr>
          <a:xfrm>
            <a:off x="8814816" y="1554480"/>
            <a:ext cx="2450592" cy="2048256"/>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09 result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完成後看什麼</a:t>
            </a:r>
          </a:p>
        </p:txBody>
      </p:sp>
      <p:sp>
        <p:nvSpPr>
          <p:cNvPr id="14" name="P009 result card body"/>
          <p:cNvSpPr txBox="1"/>
          <p:nvPr/>
        </p:nvSpPr>
        <p:spPr>
          <a:xfrm>
            <a:off x="9015984" y="2359152"/>
            <a:ext cx="2048256" cy="106070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0">
                <a:solidFill>
                  <a:srgbClr val="25324A"/>
                </a:solidFill>
                <a:latin typeface="Times New Roman"/>
                <a:ea typeface="標楷體"/>
                <a:cs typeface="Times New Roman"/>
              </a:rPr>
              <a:t>先看封包與服務</a:t>
            </a:r>
          </a:p>
          <a:p>
            <a:pPr algn="ctr">
              <a:lnSpc>
                <a:spcPct val="100000"/>
              </a:lnSpc>
              <a:spcBef>
                <a:spcPts val="0"/>
              </a:spcBef>
              <a:spcAft>
                <a:spcPts val="0"/>
              </a:spcAft>
            </a:pPr>
            <a:r>
              <a:rPr sz="1850" b="0" i="0">
                <a:solidFill>
                  <a:srgbClr val="25324A"/>
                </a:solidFill>
                <a:latin typeface="Times New Roman"/>
                <a:ea typeface="標楷體"/>
                <a:cs typeface="Times New Roman"/>
              </a:rPr>
              <a:t>再判讀端點能量</a:t>
            </a:r>
          </a:p>
        </p:txBody>
      </p:sp>
      <p:sp>
        <p:nvSpPr>
          <p:cNvPr id="15" name="P009 claim ceiling"/>
          <p:cNvSpPr/>
          <p:nvPr/>
        </p:nvSpPr>
        <p:spPr>
          <a:xfrm>
            <a:off x="932688" y="3877056"/>
            <a:ext cx="10314432" cy="5486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1850" b="1" i="0">
                <a:solidFill>
                  <a:srgbClr val="25356B"/>
                </a:solidFill>
                <a:latin typeface="Times New Roman"/>
                <a:ea typeface="標楷體"/>
                <a:cs typeface="Times New Roman"/>
              </a:rPr>
              <a:t>完成判斷：有結果檔，且能說明狀態／封包／服務如何導向端點能量；不當成實機量測</a:t>
            </a:r>
          </a:p>
        </p:txBody>
      </p:sp>
      <p:sp>
        <p:nvSpPr>
          <p:cNvPr id="16" name="P009 provenance field"/>
          <p:cNvSpPr/>
          <p:nvPr/>
        </p:nvSpPr>
        <p:spPr>
          <a:xfrm>
            <a:off x="804672" y="5120640"/>
            <a:ext cx="10561320" cy="768096"/>
          </a:xfrm>
          <a:prstGeom prst="roundRect">
            <a:avLst/>
          </a:prstGeom>
          <a:solidFill>
            <a:srgbClr val="F7F8FC"/>
          </a:solidFill>
          <a:ln w="1270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provenance</a:t>
            </a:r>
            <a:r>
              <a:rPr sz="1800" b="0" i="0">
                <a:solidFill>
                  <a:srgbClr val="25356B"/>
                </a:solidFill>
                <a:latin typeface="Times New Roman"/>
                <a:ea typeface="標楷體"/>
                <a:cs typeface="Times New Roman"/>
              </a:rPr>
              <a:t>（來源鏈）｜來源：封裝收據、固定情境、策略與結果檔｜作用：綁定同一筆證據</a:t>
            </a:r>
          </a:p>
          <a:p>
            <a:pPr algn="l">
              <a:lnSpc>
                <a:spcPct val="90000"/>
              </a:lnSpc>
              <a:spcBef>
                <a:spcPts val="0"/>
              </a:spcBef>
              <a:spcAft>
                <a:spcPts val="0"/>
              </a:spcAft>
            </a:pPr>
            <a:r>
              <a:rPr sz="1800" b="0" i="0">
                <a:solidFill>
                  <a:srgbClr val="25356B"/>
                </a:solidFill>
                <a:latin typeface="Times New Roman"/>
                <a:ea typeface="標楷體"/>
                <a:cs typeface="Times New Roman"/>
              </a:rPr>
              <a:t>單位：紀錄｜判讀：來源不一致時停止比較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P010｜一份封裝，一個根目錄</a:t>
            </a:r>
          </a:p>
        </p:txBody>
      </p:sp>
      <p:sp>
        <p:nvSpPr>
          <p:cNvPr id="3" name="P010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先確認封裝是同一份，再檢查解開後的根目錄；此步不改程式</a:t>
            </a:r>
          </a:p>
        </p:txBody>
      </p:sp>
      <p:sp>
        <p:nvSpPr>
          <p:cNvPr id="4" name="P010 release card"/>
          <p:cNvSpPr/>
          <p:nvPr/>
        </p:nvSpPr>
        <p:spPr>
          <a:xfrm>
            <a:off x="841248" y="155448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0 release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發布封裝</a:t>
            </a:r>
          </a:p>
        </p:txBody>
      </p:sp>
      <p:sp>
        <p:nvSpPr>
          <p:cNvPr id="6" name="P010 release card body"/>
          <p:cNvSpPr txBox="1"/>
          <p:nvPr/>
        </p:nvSpPr>
        <p:spPr>
          <a:xfrm>
            <a:off x="1042416"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同一份 ZIP</a:t>
            </a:r>
          </a:p>
          <a:p>
            <a:pPr algn="ctr">
              <a:lnSpc>
                <a:spcPct val="100000"/>
              </a:lnSpc>
              <a:spcBef>
                <a:spcPts val="0"/>
              </a:spcBef>
              <a:spcAft>
                <a:spcPts val="0"/>
              </a:spcAft>
            </a:pPr>
            <a:r>
              <a:rPr sz="2200" b="0" i="0">
                <a:solidFill>
                  <a:srgbClr val="25324A"/>
                </a:solidFill>
                <a:latin typeface="Times New Roman"/>
                <a:ea typeface="標楷體"/>
                <a:cs typeface="Times New Roman"/>
              </a:rPr>
              <a:t>先確認來源，再解開</a:t>
            </a:r>
          </a:p>
        </p:txBody>
      </p:sp>
      <p:sp>
        <p:nvSpPr>
          <p:cNvPr id="7" name="Chevron 6"/>
          <p:cNvSpPr/>
          <p:nvPr/>
        </p:nvSpPr>
        <p:spPr>
          <a:xfrm>
            <a:off x="4261104" y="254203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0 root card"/>
          <p:cNvSpPr/>
          <p:nvPr/>
        </p:nvSpPr>
        <p:spPr>
          <a:xfrm>
            <a:off x="4828032" y="1554480"/>
            <a:ext cx="324612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0 root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007374"/>
                </a:solidFill>
                <a:latin typeface="Times New Roman"/>
                <a:ea typeface="標楷體"/>
                <a:cs typeface="Times New Roman"/>
              </a:rPr>
              <a:t>根目錄</a:t>
            </a:r>
          </a:p>
        </p:txBody>
      </p:sp>
      <p:sp>
        <p:nvSpPr>
          <p:cNvPr id="10" name="P010 root card body"/>
          <p:cNvSpPr txBox="1"/>
          <p:nvPr/>
        </p:nvSpPr>
        <p:spPr>
          <a:xfrm>
            <a:off x="5029200"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lora-energy-lab/</a:t>
            </a:r>
          </a:p>
          <a:p>
            <a:pPr algn="ctr">
              <a:lnSpc>
                <a:spcPct val="100000"/>
              </a:lnSpc>
              <a:spcBef>
                <a:spcPts val="0"/>
              </a:spcBef>
              <a:spcAft>
                <a:spcPts val="0"/>
              </a:spcAft>
            </a:pPr>
            <a:r>
              <a:rPr sz="2200" b="0" i="0">
                <a:solidFill>
                  <a:srgbClr val="25324A"/>
                </a:solidFill>
                <a:latin typeface="Times New Roman"/>
                <a:ea typeface="標楷體"/>
                <a:cs typeface="Times New Roman"/>
              </a:rPr>
              <a:t>後續命令都在此目錄</a:t>
            </a:r>
          </a:p>
        </p:txBody>
      </p:sp>
      <p:sp>
        <p:nvSpPr>
          <p:cNvPr id="11" name="Chevron 10"/>
          <p:cNvSpPr/>
          <p:nvPr/>
        </p:nvSpPr>
        <p:spPr>
          <a:xfrm>
            <a:off x="8247888" y="2542032"/>
            <a:ext cx="420624" cy="493776"/>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0 inventory card"/>
          <p:cNvSpPr/>
          <p:nvPr/>
        </p:nvSpPr>
        <p:spPr>
          <a:xfrm>
            <a:off x="8814816" y="1554480"/>
            <a:ext cx="2450592" cy="210312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0 inventory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660066"/>
                </a:solidFill>
                <a:latin typeface="Times New Roman"/>
                <a:ea typeface="標楷體"/>
                <a:cs typeface="Times New Roman"/>
              </a:rPr>
              <a:t>完整清單</a:t>
            </a:r>
          </a:p>
        </p:txBody>
      </p:sp>
      <p:sp>
        <p:nvSpPr>
          <p:cNvPr id="14" name="P010 inventory card body"/>
          <p:cNvSpPr txBox="1"/>
          <p:nvPr/>
        </p:nvSpPr>
        <p:spPr>
          <a:xfrm>
            <a:off x="9015984" y="2359152"/>
            <a:ext cx="204825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契約／回退資料</a:t>
            </a:r>
          </a:p>
          <a:p>
            <a:pPr algn="ctr">
              <a:lnSpc>
                <a:spcPct val="100000"/>
              </a:lnSpc>
              <a:spcBef>
                <a:spcPts val="0"/>
              </a:spcBef>
              <a:spcAft>
                <a:spcPts val="0"/>
              </a:spcAft>
            </a:pPr>
            <a:r>
              <a:rPr sz="2000" b="0" i="0">
                <a:solidFill>
                  <a:srgbClr val="25324A"/>
                </a:solidFill>
                <a:latin typeface="Times New Roman"/>
                <a:ea typeface="標楷體"/>
                <a:cs typeface="Times New Roman"/>
              </a:rPr>
              <a:t>缺一項就停</a:t>
            </a:r>
          </a:p>
        </p:txBody>
      </p:sp>
      <p:sp>
        <p:nvSpPr>
          <p:cNvPr id="15" name="P010 recovery strip"/>
          <p:cNvSpPr/>
          <p:nvPr/>
        </p:nvSpPr>
        <p:spPr>
          <a:xfrm>
            <a:off x="932688" y="3968496"/>
            <a:ext cx="10314432"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1950" b="1" i="0">
                <a:solidFill>
                  <a:srgbClr val="25356B"/>
                </a:solidFill>
                <a:latin typeface="Times New Roman"/>
                <a:ea typeface="標楷體"/>
                <a:cs typeface="Times New Roman"/>
              </a:rPr>
              <a:t>完成判斷：只有一個 </a:t>
            </a:r>
            <a:r>
              <a:rPr sz="1950" b="1" i="1">
                <a:solidFill>
                  <a:srgbClr val="25356B"/>
                </a:solidFill>
                <a:latin typeface="Times New Roman"/>
                <a:ea typeface="標楷體"/>
                <a:cs typeface="Times New Roman"/>
              </a:rPr>
              <a:t>lora-energy-lab/</a:t>
            </a:r>
            <a:r>
              <a:rPr sz="1950" b="1" i="0">
                <a:solidFill>
                  <a:srgbClr val="25356B"/>
                </a:solidFill>
                <a:latin typeface="Times New Roman"/>
                <a:ea typeface="標楷體"/>
                <a:cs typeface="Times New Roman"/>
              </a:rPr>
              <a:t> 根目錄，必要內容都在；不完整就停止</a:t>
            </a:r>
          </a:p>
        </p:txBody>
      </p:sp>
      <p:sp>
        <p:nvSpPr>
          <p:cNvPr id="16" name="P010 release field"/>
          <p:cNvSpPr/>
          <p:nvPr/>
        </p:nvSpPr>
        <p:spPr>
          <a:xfrm>
            <a:off x="804672" y="5120640"/>
            <a:ext cx="10561320" cy="768096"/>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release asset</a:t>
            </a:r>
            <a:r>
              <a:rPr sz="1800" b="0" i="0">
                <a:solidFill>
                  <a:srgbClr val="25356B"/>
                </a:solidFill>
                <a:latin typeface="Times New Roman"/>
                <a:ea typeface="標楷體"/>
                <a:cs typeface="Times New Roman"/>
              </a:rPr>
              <a:t>（發布封裝）｜來源：課程封裝配送｜作用：提供同一組啟動檔與契約</a:t>
            </a:r>
          </a:p>
          <a:p>
            <a:pPr algn="l">
              <a:lnSpc>
                <a:spcPct val="90000"/>
              </a:lnSpc>
              <a:spcBef>
                <a:spcPts val="0"/>
              </a:spcBef>
              <a:spcAft>
                <a:spcPts val="0"/>
              </a:spcAft>
            </a:pPr>
            <a:r>
              <a:rPr sz="1800" b="0" i="0">
                <a:solidFill>
                  <a:srgbClr val="25356B"/>
                </a:solidFill>
                <a:latin typeface="Times New Roman"/>
                <a:ea typeface="標楷體"/>
                <a:cs typeface="Times New Roman"/>
              </a:rPr>
              <a:t>單位：封裝檔｜判讀：解開後只有一個 </a:t>
            </a:r>
            <a:r>
              <a:rPr sz="1800" b="0" i="1">
                <a:solidFill>
                  <a:srgbClr val="25356B"/>
                </a:solidFill>
                <a:latin typeface="Times New Roman"/>
                <a:ea typeface="標楷體"/>
                <a:cs typeface="Times New Roman"/>
              </a:rPr>
              <a:t>lora-energy-lab/</a:t>
            </a:r>
            <a:r>
              <a:rPr sz="1800" b="0" i="0">
                <a:solidFill>
                  <a:srgbClr val="25356B"/>
                </a:solidFill>
                <a:latin typeface="Times New Roman"/>
                <a:ea typeface="標楷體"/>
                <a:cs typeface="Times New Roman"/>
              </a:rPr>
              <a:t> 根目錄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P011｜清單完整，才進入版本檢查</a:t>
            </a:r>
          </a:p>
        </p:txBody>
      </p:sp>
      <p:sp>
        <p:nvSpPr>
          <p:cNvPr id="3" name="P011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先確認必要檔案同屬一份封裝，再查看版本；此步不建立環境</a:t>
            </a:r>
          </a:p>
        </p:txBody>
      </p:sp>
      <p:sp>
        <p:nvSpPr>
          <p:cNvPr id="4" name="P011 identity card"/>
          <p:cNvSpPr/>
          <p:nvPr/>
        </p:nvSpPr>
        <p:spPr>
          <a:xfrm>
            <a:off x="841248" y="155448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1 identity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① 必要檔案</a:t>
            </a:r>
          </a:p>
        </p:txBody>
      </p:sp>
      <p:sp>
        <p:nvSpPr>
          <p:cNvPr id="6" name="P011 identity card body"/>
          <p:cNvSpPr txBox="1"/>
          <p:nvPr/>
        </p:nvSpPr>
        <p:spPr>
          <a:xfrm>
            <a:off x="1042416"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說明／啟動器／策略</a:t>
            </a:r>
          </a:p>
          <a:p>
            <a:pPr algn="ctr">
              <a:lnSpc>
                <a:spcPct val="100000"/>
              </a:lnSpc>
              <a:spcBef>
                <a:spcPts val="0"/>
              </a:spcBef>
              <a:spcAft>
                <a:spcPts val="0"/>
              </a:spcAft>
            </a:pPr>
            <a:r>
              <a:rPr sz="2200" b="0" i="0">
                <a:solidFill>
                  <a:srgbClr val="25324A"/>
                </a:solidFill>
                <a:latin typeface="Times New Roman"/>
                <a:ea typeface="標楷體"/>
                <a:cs typeface="Times New Roman"/>
              </a:rPr>
              <a:t>契約／回退資料都在此</a:t>
            </a:r>
          </a:p>
        </p:txBody>
      </p:sp>
      <p:sp>
        <p:nvSpPr>
          <p:cNvPr id="7" name="Chevron 6"/>
          <p:cNvSpPr/>
          <p:nvPr/>
        </p:nvSpPr>
        <p:spPr>
          <a:xfrm>
            <a:off x="4261104" y="254203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1 integrity card"/>
          <p:cNvSpPr/>
          <p:nvPr/>
        </p:nvSpPr>
        <p:spPr>
          <a:xfrm>
            <a:off x="4828032" y="1554480"/>
            <a:ext cx="3246120"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1 integrity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846826"/>
                </a:solidFill>
                <a:latin typeface="Times New Roman"/>
                <a:ea typeface="標楷體"/>
                <a:cs typeface="Times New Roman"/>
              </a:rPr>
              <a:t>② 不完整</a:t>
            </a:r>
          </a:p>
        </p:txBody>
      </p:sp>
      <p:sp>
        <p:nvSpPr>
          <p:cNvPr id="10" name="P011 integrity card body"/>
          <p:cNvSpPr txBox="1"/>
          <p:nvPr/>
        </p:nvSpPr>
        <p:spPr>
          <a:xfrm>
            <a:off x="5029200"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保留錯誤訊息</a:t>
            </a:r>
          </a:p>
          <a:p>
            <a:pPr algn="ctr">
              <a:lnSpc>
                <a:spcPct val="100000"/>
              </a:lnSpc>
              <a:spcBef>
                <a:spcPts val="0"/>
              </a:spcBef>
              <a:spcAft>
                <a:spcPts val="0"/>
              </a:spcAft>
            </a:pPr>
            <a:r>
              <a:rPr sz="2200" b="0" i="0">
                <a:solidFill>
                  <a:srgbClr val="25324A"/>
                </a:solidFill>
                <a:latin typeface="Times New Roman"/>
                <a:ea typeface="標楷體"/>
                <a:cs typeface="Times New Roman"/>
              </a:rPr>
              <a:t>不補檔、不進下一關</a:t>
            </a:r>
          </a:p>
        </p:txBody>
      </p:sp>
      <p:sp>
        <p:nvSpPr>
          <p:cNvPr id="11" name="Chevron 10"/>
          <p:cNvSpPr/>
          <p:nvPr/>
        </p:nvSpPr>
        <p:spPr>
          <a:xfrm>
            <a:off x="8247888" y="2542032"/>
            <a:ext cx="420624" cy="493776"/>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1 root card"/>
          <p:cNvSpPr/>
          <p:nvPr/>
        </p:nvSpPr>
        <p:spPr>
          <a:xfrm>
            <a:off x="8814816" y="1554480"/>
            <a:ext cx="2450592"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1 root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③ 下一關</a:t>
            </a:r>
          </a:p>
        </p:txBody>
      </p:sp>
      <p:sp>
        <p:nvSpPr>
          <p:cNvPr id="14" name="P011 root card body"/>
          <p:cNvSpPr txBox="1"/>
          <p:nvPr/>
        </p:nvSpPr>
        <p:spPr>
          <a:xfrm>
            <a:off x="9015984" y="2359152"/>
            <a:ext cx="204825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版本檢查可開始</a:t>
            </a:r>
          </a:p>
          <a:p>
            <a:pPr algn="ctr">
              <a:lnSpc>
                <a:spcPct val="100000"/>
              </a:lnSpc>
              <a:spcBef>
                <a:spcPts val="0"/>
              </a:spcBef>
              <a:spcAft>
                <a:spcPts val="0"/>
              </a:spcAft>
            </a:pPr>
            <a:r>
              <a:rPr sz="2000" b="0" i="0">
                <a:solidFill>
                  <a:srgbClr val="25324A"/>
                </a:solidFill>
                <a:latin typeface="Times New Roman"/>
                <a:ea typeface="標楷體"/>
                <a:cs typeface="Times New Roman"/>
              </a:rPr>
              <a:t>環境仍未建立</a:t>
            </a:r>
          </a:p>
        </p:txBody>
      </p:sp>
      <p:sp>
        <p:nvSpPr>
          <p:cNvPr id="15" name="P011 boundary strip"/>
          <p:cNvSpPr/>
          <p:nvPr/>
        </p:nvSpPr>
        <p:spPr>
          <a:xfrm>
            <a:off x="932688" y="3968496"/>
            <a:ext cx="10314432"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完成判斷：必要檔案同屬一份封裝；不完整就停在這一頁</a:t>
            </a:r>
          </a:p>
        </p:txBody>
      </p:sp>
      <p:sp>
        <p:nvSpPr>
          <p:cNvPr id="16" name="P011 archive field"/>
          <p:cNvSpPr/>
          <p:nvPr/>
        </p:nvSpPr>
        <p:spPr>
          <a:xfrm>
            <a:off x="804672" y="5120640"/>
            <a:ext cx="10561320" cy="768096"/>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identity gate</a:t>
            </a:r>
            <a:r>
              <a:rPr sz="1800" b="0" i="0">
                <a:solidFill>
                  <a:srgbClr val="25356B"/>
                </a:solidFill>
                <a:latin typeface="Times New Roman"/>
                <a:ea typeface="標楷體"/>
                <a:cs typeface="Times New Roman"/>
              </a:rPr>
              <a:t>（封裝身分檢查）｜來源：發布清單與解壓目錄｜作用：確認必要檔案同屬一份封裝</a:t>
            </a:r>
          </a:p>
          <a:p>
            <a:pPr algn="l">
              <a:lnSpc>
                <a:spcPct val="90000"/>
              </a:lnSpc>
              <a:spcBef>
                <a:spcPts val="0"/>
              </a:spcBef>
              <a:spcAft>
                <a:spcPts val="0"/>
              </a:spcAft>
            </a:pPr>
            <a:r>
              <a:rPr sz="1800" b="0" i="0">
                <a:solidFill>
                  <a:srgbClr val="25356B"/>
                </a:solidFill>
                <a:latin typeface="Times New Roman"/>
                <a:ea typeface="標楷體"/>
                <a:cs typeface="Times New Roman"/>
              </a:rPr>
              <a:t>單位：檢查｜判讀：內容不一致時停止，不進入後續環境</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P012｜先辨識 Windows 命令殼，再確認版本</a:t>
            </a:r>
          </a:p>
        </p:txBody>
      </p:sp>
      <p:sp>
        <p:nvSpPr>
          <p:cNvPr id="3" name="P012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兩種命令殼的入口不同；這兩行只讀版本，不改程式與環境</a:t>
            </a:r>
          </a:p>
        </p:txBody>
      </p:sp>
      <p:sp>
        <p:nvSpPr>
          <p:cNvPr id="4" name="P012 CMD card"/>
          <p:cNvSpPr/>
          <p:nvPr/>
        </p:nvSpPr>
        <p:spPr>
          <a:xfrm>
            <a:off x="841248" y="1554480"/>
            <a:ext cx="498348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2 CMD card heading"/>
          <p:cNvSpPr txBox="1"/>
          <p:nvPr/>
        </p:nvSpPr>
        <p:spPr>
          <a:xfrm>
            <a:off x="1005840" y="1737360"/>
            <a:ext cx="465429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命令提示字元</a:t>
            </a:r>
          </a:p>
        </p:txBody>
      </p:sp>
      <p:sp>
        <p:nvSpPr>
          <p:cNvPr id="6" name="P012 CMD card body"/>
          <p:cNvSpPr txBox="1"/>
          <p:nvPr/>
        </p:nvSpPr>
        <p:spPr>
          <a:xfrm>
            <a:off x="1042416" y="2359152"/>
            <a:ext cx="458114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先讀清單再讀版本</a:t>
            </a:r>
          </a:p>
          <a:p>
            <a:pPr algn="ctr">
              <a:lnSpc>
                <a:spcPct val="100000"/>
              </a:lnSpc>
              <a:spcBef>
                <a:spcPts val="0"/>
              </a:spcBef>
              <a:spcAft>
                <a:spcPts val="0"/>
              </a:spcAft>
            </a:pPr>
            <a:r>
              <a:rPr sz="2200" b="0" i="0">
                <a:solidFill>
                  <a:srgbClr val="25324A"/>
                </a:solidFill>
                <a:latin typeface="Times New Roman"/>
                <a:ea typeface="標楷體"/>
                <a:cs typeface="Times New Roman"/>
              </a:rPr>
              <a:t>py --list → py -3.11 --version</a:t>
            </a:r>
          </a:p>
        </p:txBody>
      </p:sp>
      <p:sp>
        <p:nvSpPr>
          <p:cNvPr id="7" name="P012 PowerShell card"/>
          <p:cNvSpPr/>
          <p:nvPr/>
        </p:nvSpPr>
        <p:spPr>
          <a:xfrm>
            <a:off x="6272784" y="1554480"/>
            <a:ext cx="498348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2 PowerShell card heading"/>
          <p:cNvSpPr txBox="1"/>
          <p:nvPr/>
        </p:nvSpPr>
        <p:spPr>
          <a:xfrm>
            <a:off x="6437376" y="1737360"/>
            <a:ext cx="465429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管理命令殼</a:t>
            </a:r>
          </a:p>
        </p:txBody>
      </p:sp>
      <p:sp>
        <p:nvSpPr>
          <p:cNvPr id="9" name="P012 PowerShell card body"/>
          <p:cNvSpPr txBox="1"/>
          <p:nvPr/>
        </p:nvSpPr>
        <p:spPr>
          <a:xfrm>
            <a:off x="6473952" y="2359152"/>
            <a:ext cx="458114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先讀清單再讀版本</a:t>
            </a:r>
          </a:p>
          <a:p>
            <a:pPr algn="ctr">
              <a:lnSpc>
                <a:spcPct val="100000"/>
              </a:lnSpc>
              <a:spcBef>
                <a:spcPts val="0"/>
              </a:spcBef>
              <a:spcAft>
                <a:spcPts val="0"/>
              </a:spcAft>
            </a:pPr>
            <a:r>
              <a:rPr sz="2200" b="0" i="0">
                <a:solidFill>
                  <a:srgbClr val="25324A"/>
                </a:solidFill>
                <a:latin typeface="Times New Roman"/>
                <a:ea typeface="標楷體"/>
                <a:cs typeface="Times New Roman"/>
              </a:rPr>
              <a:t>py --list → py -3.11 --version</a:t>
            </a:r>
          </a:p>
        </p:txBody>
      </p:sp>
      <p:sp>
        <p:nvSpPr>
          <p:cNvPr id="10" name="P012 expected strip"/>
          <p:cNvSpPr/>
          <p:nvPr/>
        </p:nvSpPr>
        <p:spPr>
          <a:xfrm>
            <a:off x="932688" y="3968496"/>
            <a:ext cx="10314432" cy="5486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完成判斷：清單有 3.11，版本行顯示 Python 3.11.x；此步不建環境</a:t>
            </a:r>
          </a:p>
        </p:txBody>
      </p:sp>
      <p:sp>
        <p:nvSpPr>
          <p:cNvPr id="11" name="P012 Python field"/>
          <p:cNvSpPr/>
          <p:nvPr/>
        </p:nvSpPr>
        <p:spPr>
          <a:xfrm>
            <a:off x="804672" y="5120640"/>
            <a:ext cx="10561320" cy="768096"/>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Python 3.11.x</a:t>
            </a:r>
            <a:r>
              <a:rPr sz="1800" b="0" i="0">
                <a:solidFill>
                  <a:srgbClr val="25356B"/>
                </a:solidFill>
                <a:latin typeface="Times New Roman"/>
                <a:ea typeface="標楷體"/>
                <a:cs typeface="Times New Roman"/>
              </a:rPr>
              <a:t>（固定版本）｜來源：課程執行契約｜作用：提供環境建立使用的版本</a:t>
            </a:r>
          </a:p>
          <a:p>
            <a:pPr algn="l">
              <a:lnSpc>
                <a:spcPct val="90000"/>
              </a:lnSpc>
              <a:spcBef>
                <a:spcPts val="0"/>
              </a:spcBef>
              <a:spcAft>
                <a:spcPts val="0"/>
              </a:spcAft>
            </a:pPr>
            <a:r>
              <a:rPr sz="1800" b="0" i="0">
                <a:solidFill>
                  <a:srgbClr val="25356B"/>
                </a:solidFill>
                <a:latin typeface="Times New Roman"/>
                <a:ea typeface="標楷體"/>
                <a:cs typeface="Times New Roman"/>
              </a:rPr>
              <a:t>單位：版本｜判讀：其他小版本不通過版本檢查</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P013｜沒有 3.11，就補一個正確版本</a:t>
            </a:r>
          </a:p>
        </p:txBody>
      </p:sp>
      <p:sp>
        <p:nvSpPr>
          <p:cNvPr id="3" name="P013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只修正版本來源；不改課程程式，也不執行案例</a:t>
            </a:r>
          </a:p>
        </p:txBody>
      </p:sp>
      <p:sp>
        <p:nvSpPr>
          <p:cNvPr id="4" name="P013 check card"/>
          <p:cNvSpPr/>
          <p:nvPr/>
        </p:nvSpPr>
        <p:spPr>
          <a:xfrm>
            <a:off x="841248" y="1554480"/>
            <a:ext cx="3246120" cy="210312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3 check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992A2A"/>
                </a:solidFill>
                <a:latin typeface="Times New Roman"/>
                <a:ea typeface="標楷體"/>
                <a:cs typeface="Times New Roman"/>
              </a:rPr>
              <a:t>先取得工具</a:t>
            </a:r>
          </a:p>
        </p:txBody>
      </p:sp>
      <p:sp>
        <p:nvSpPr>
          <p:cNvPr id="6" name="P013 check card body"/>
          <p:cNvSpPr txBox="1"/>
          <p:nvPr/>
        </p:nvSpPr>
        <p:spPr>
          <a:xfrm>
            <a:off x="1042416"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先確認工具可用</a:t>
            </a:r>
          </a:p>
          <a:p>
            <a:pPr algn="ctr">
              <a:lnSpc>
                <a:spcPct val="100000"/>
              </a:lnSpc>
              <a:spcBef>
                <a:spcPts val="0"/>
              </a:spcBef>
              <a:spcAft>
                <a:spcPts val="0"/>
              </a:spcAft>
            </a:pPr>
            <a:r>
              <a:rPr sz="2200" b="0" i="0">
                <a:solidFill>
                  <a:srgbClr val="25324A"/>
                </a:solidFill>
                <a:latin typeface="Times New Roman"/>
                <a:ea typeface="標楷體"/>
                <a:cs typeface="Times New Roman"/>
              </a:rPr>
              <a:t>uv --version</a:t>
            </a:r>
          </a:p>
        </p:txBody>
      </p:sp>
      <p:sp>
        <p:nvSpPr>
          <p:cNvPr id="7" name="Chevron 6"/>
          <p:cNvSpPr/>
          <p:nvPr/>
        </p:nvSpPr>
        <p:spPr>
          <a:xfrm>
            <a:off x="4261104" y="2542032"/>
            <a:ext cx="420624" cy="493776"/>
          </a:xfrm>
          <a:prstGeom prst="chevron">
            <a:avLst/>
          </a:prstGeom>
          <a:solidFill>
            <a:srgbClr val="99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3 installer card"/>
          <p:cNvSpPr/>
          <p:nvPr/>
        </p:nvSpPr>
        <p:spPr>
          <a:xfrm>
            <a:off x="4828032" y="155448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3 installer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安裝指定版本</a:t>
            </a:r>
          </a:p>
        </p:txBody>
      </p:sp>
      <p:sp>
        <p:nvSpPr>
          <p:cNvPr id="10" name="P013 installer card body"/>
          <p:cNvSpPr txBox="1"/>
          <p:nvPr/>
        </p:nvSpPr>
        <p:spPr>
          <a:xfrm>
            <a:off x="5029200"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取得指定直譯器</a:t>
            </a:r>
          </a:p>
          <a:p>
            <a:pPr algn="ctr">
              <a:lnSpc>
                <a:spcPct val="100000"/>
              </a:lnSpc>
              <a:spcBef>
                <a:spcPts val="0"/>
              </a:spcBef>
              <a:spcAft>
                <a:spcPts val="0"/>
              </a:spcAft>
            </a:pPr>
            <a:r>
              <a:rPr sz="2200" b="0" i="0">
                <a:solidFill>
                  <a:srgbClr val="25324A"/>
                </a:solidFill>
                <a:latin typeface="Times New Roman"/>
                <a:ea typeface="標楷體"/>
                <a:cs typeface="Times New Roman"/>
              </a:rPr>
              <a:t>uv python install 3.11</a:t>
            </a:r>
          </a:p>
        </p:txBody>
      </p:sp>
      <p:sp>
        <p:nvSpPr>
          <p:cNvPr id="11" name="Chevron 10"/>
          <p:cNvSpPr/>
          <p:nvPr/>
        </p:nvSpPr>
        <p:spPr>
          <a:xfrm>
            <a:off x="8247888" y="254203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3 reopen card"/>
          <p:cNvSpPr/>
          <p:nvPr/>
        </p:nvSpPr>
        <p:spPr>
          <a:xfrm>
            <a:off x="8814816" y="1554480"/>
            <a:ext cx="2450592"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3 reopen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找到可執行路徑</a:t>
            </a:r>
          </a:p>
        </p:txBody>
      </p:sp>
      <p:sp>
        <p:nvSpPr>
          <p:cNvPr id="14" name="P013 reopen card body"/>
          <p:cNvSpPr txBox="1"/>
          <p:nvPr/>
        </p:nvSpPr>
        <p:spPr>
          <a:xfrm>
            <a:off x="9015984" y="2359152"/>
            <a:ext cx="204825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讀取可執行位置</a:t>
            </a:r>
          </a:p>
          <a:p>
            <a:pPr algn="ctr">
              <a:lnSpc>
                <a:spcPct val="100000"/>
              </a:lnSpc>
              <a:spcBef>
                <a:spcPts val="0"/>
              </a:spcBef>
              <a:spcAft>
                <a:spcPts val="0"/>
              </a:spcAft>
            </a:pPr>
            <a:r>
              <a:rPr sz="2000" b="0" i="0">
                <a:solidFill>
                  <a:srgbClr val="25324A"/>
                </a:solidFill>
                <a:latin typeface="Times New Roman"/>
                <a:ea typeface="標楷體"/>
                <a:cs typeface="Times New Roman"/>
              </a:rPr>
              <a:t>uv python find 3.11</a:t>
            </a:r>
          </a:p>
        </p:txBody>
      </p:sp>
      <p:sp>
        <p:nvSpPr>
          <p:cNvPr id="15" name="P013 expected strip"/>
          <p:cNvSpPr/>
          <p:nvPr/>
        </p:nvSpPr>
        <p:spPr>
          <a:xfrm>
            <a:off x="932688" y="3968496"/>
            <a:ext cx="10314432" cy="5486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完成判斷：找到 3.11 路徑；版本工具成功不等於環境成功</a:t>
            </a:r>
          </a:p>
        </p:txBody>
      </p:sp>
      <p:sp>
        <p:nvSpPr>
          <p:cNvPr id="16" name="P013 interpreter field"/>
          <p:cNvSpPr/>
          <p:nvPr/>
        </p:nvSpPr>
        <p:spPr>
          <a:xfrm>
            <a:off x="804672" y="5120640"/>
            <a:ext cx="10561320" cy="768096"/>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uv</a:t>
            </a:r>
            <a:r>
              <a:rPr sz="1800" b="0" i="0">
                <a:solidFill>
                  <a:srgbClr val="25356B"/>
                </a:solidFill>
                <a:latin typeface="Times New Roman"/>
                <a:ea typeface="標楷體"/>
                <a:cs typeface="Times New Roman"/>
              </a:rPr>
              <a:t>（版本工具）｜來源：主機恢復路徑｜作用：取得並定位 Python 3.11</a:t>
            </a:r>
          </a:p>
          <a:p>
            <a:pPr algn="l">
              <a:lnSpc>
                <a:spcPct val="90000"/>
              </a:lnSpc>
              <a:spcBef>
                <a:spcPts val="0"/>
              </a:spcBef>
              <a:spcAft>
                <a:spcPts val="0"/>
              </a:spcAft>
            </a:pPr>
            <a:r>
              <a:rPr sz="1800" b="0" i="0">
                <a:solidFill>
                  <a:srgbClr val="25356B"/>
                </a:solidFill>
                <a:latin typeface="Times New Roman"/>
                <a:ea typeface="標楷體"/>
                <a:cs typeface="Times New Roman"/>
              </a:rPr>
              <a:t>單位：工具／路徑｜判讀：只處理版本，不產生 READY 或案例結果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P014｜工具相同，平台路徑不同</a:t>
            </a:r>
          </a:p>
        </p:txBody>
      </p:sp>
      <p:sp>
        <p:nvSpPr>
          <p:cNvPr id="3" name="P014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版本工具成功後，Windows 與 Linux 各走自己的路徑；不互換環境</a:t>
            </a:r>
          </a:p>
        </p:txBody>
      </p:sp>
      <p:sp>
        <p:nvSpPr>
          <p:cNvPr id="4" name="P014 Windows card"/>
          <p:cNvSpPr/>
          <p:nvPr/>
        </p:nvSpPr>
        <p:spPr>
          <a:xfrm>
            <a:off x="841248" y="155448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4 Windows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Windows 路徑</a:t>
            </a:r>
          </a:p>
        </p:txBody>
      </p:sp>
      <p:sp>
        <p:nvSpPr>
          <p:cNvPr id="6" name="P014 Windows card body"/>
          <p:cNvSpPr txBox="1"/>
          <p:nvPr/>
        </p:nvSpPr>
        <p:spPr>
          <a:xfrm>
            <a:off x="1042416"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反斜線路徑</a:t>
            </a:r>
          </a:p>
          <a:p>
            <a:pPr algn="ctr">
              <a:lnSpc>
                <a:spcPct val="100000"/>
              </a:lnSpc>
              <a:spcBef>
                <a:spcPts val="0"/>
              </a:spcBef>
              <a:spcAft>
                <a:spcPts val="0"/>
              </a:spcAft>
            </a:pPr>
            <a:r>
              <a:rPr sz="2200" b="0" i="1">
                <a:solidFill>
                  <a:srgbClr val="25324A"/>
                </a:solidFill>
                <a:latin typeface="Times New Roman"/>
                <a:ea typeface="標楷體"/>
                <a:cs typeface="Times New Roman"/>
              </a:rPr>
              <a:t>.venv\Scripts\python.exe</a:t>
            </a:r>
          </a:p>
        </p:txBody>
      </p:sp>
      <p:sp>
        <p:nvSpPr>
          <p:cNvPr id="7" name="Chevron 6"/>
          <p:cNvSpPr/>
          <p:nvPr/>
        </p:nvSpPr>
        <p:spPr>
          <a:xfrm>
            <a:off x="4261104" y="254203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4 POSIX card"/>
          <p:cNvSpPr/>
          <p:nvPr/>
        </p:nvSpPr>
        <p:spPr>
          <a:xfrm>
            <a:off x="4828032" y="1554480"/>
            <a:ext cx="324612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4 POSIX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007374"/>
                </a:solidFill>
                <a:latin typeface="Times New Roman"/>
                <a:ea typeface="標楷體"/>
                <a:cs typeface="Times New Roman"/>
              </a:rPr>
              <a:t>Linux／macOS／WSL</a:t>
            </a:r>
          </a:p>
        </p:txBody>
      </p:sp>
      <p:sp>
        <p:nvSpPr>
          <p:cNvPr id="10" name="P014 POSIX card body"/>
          <p:cNvSpPr txBox="1"/>
          <p:nvPr/>
        </p:nvSpPr>
        <p:spPr>
          <a:xfrm>
            <a:off x="5029200"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斜線路徑</a:t>
            </a:r>
          </a:p>
          <a:p>
            <a:pPr algn="ctr">
              <a:lnSpc>
                <a:spcPct val="100000"/>
              </a:lnSpc>
              <a:spcBef>
                <a:spcPts val="0"/>
              </a:spcBef>
              <a:spcAft>
                <a:spcPts val="0"/>
              </a:spcAft>
            </a:pPr>
            <a:r>
              <a:rPr sz="2200" b="0" i="1">
                <a:solidFill>
                  <a:srgbClr val="25324A"/>
                </a:solidFill>
                <a:latin typeface="Times New Roman"/>
                <a:ea typeface="標楷體"/>
                <a:cs typeface="Times New Roman"/>
              </a:rPr>
              <a:t>.venv/bin/python</a:t>
            </a:r>
          </a:p>
        </p:txBody>
      </p:sp>
      <p:sp>
        <p:nvSpPr>
          <p:cNvPr id="11" name="Chevron 10"/>
          <p:cNvSpPr/>
          <p:nvPr/>
        </p:nvSpPr>
        <p:spPr>
          <a:xfrm>
            <a:off x="8247888" y="2542032"/>
            <a:ext cx="420624" cy="493776"/>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4 find card"/>
          <p:cNvSpPr/>
          <p:nvPr/>
        </p:nvSpPr>
        <p:spPr>
          <a:xfrm>
            <a:off x="8814816" y="1554480"/>
            <a:ext cx="2450592" cy="210312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4 find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660066"/>
                </a:solidFill>
                <a:latin typeface="Times New Roman"/>
                <a:ea typeface="標楷體"/>
                <a:cs typeface="Times New Roman"/>
              </a:rPr>
              <a:t>交接</a:t>
            </a:r>
          </a:p>
        </p:txBody>
      </p:sp>
      <p:sp>
        <p:nvSpPr>
          <p:cNvPr id="14" name="P014 find card body"/>
          <p:cNvSpPr txBox="1"/>
          <p:nvPr/>
        </p:nvSpPr>
        <p:spPr>
          <a:xfrm>
            <a:off x="9015984" y="2359152"/>
            <a:ext cx="204825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回傳 3.11</a:t>
            </a:r>
          </a:p>
          <a:p>
            <a:pPr algn="ctr">
              <a:lnSpc>
                <a:spcPct val="100000"/>
              </a:lnSpc>
              <a:spcBef>
                <a:spcPts val="0"/>
              </a:spcBef>
              <a:spcAft>
                <a:spcPts val="0"/>
              </a:spcAft>
            </a:pPr>
            <a:r>
              <a:rPr sz="2000" b="0" i="0">
                <a:solidFill>
                  <a:srgbClr val="25324A"/>
                </a:solidFill>
                <a:latin typeface="Times New Roman"/>
                <a:ea typeface="標楷體"/>
                <a:cs typeface="Times New Roman"/>
              </a:rPr>
              <a:t>不產生案例結果</a:t>
            </a:r>
          </a:p>
        </p:txBody>
      </p:sp>
      <p:sp>
        <p:nvSpPr>
          <p:cNvPr id="15" name="P014 boundary strip"/>
          <p:cNvSpPr/>
          <p:nvPr/>
        </p:nvSpPr>
        <p:spPr>
          <a:xfrm>
            <a:off x="932688" y="3968496"/>
            <a:ext cx="10314432"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完成判斷：各平台只使用自己的環境；版本工具不產生案例結果</a:t>
            </a:r>
          </a:p>
        </p:txBody>
      </p:sp>
      <p:sp>
        <p:nvSpPr>
          <p:cNvPr id="16" name="P014 uv field"/>
          <p:cNvSpPr/>
          <p:nvPr/>
        </p:nvSpPr>
        <p:spPr>
          <a:xfrm>
            <a:off x="804672" y="5120640"/>
            <a:ext cx="10561320" cy="768096"/>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WSL</a:t>
            </a:r>
            <a:r>
              <a:rPr sz="1800" b="0" i="0">
                <a:solidFill>
                  <a:srgbClr val="25356B"/>
                </a:solidFill>
                <a:latin typeface="Times New Roman"/>
                <a:ea typeface="標楷體"/>
                <a:cs typeface="Times New Roman"/>
              </a:rPr>
              <a:t>（Windows 的 Linux 執行層）｜來源：主機平台｜作用：提供獨立 Linux 命令殼</a:t>
            </a:r>
          </a:p>
          <a:p>
            <a:pPr algn="l">
              <a:lnSpc>
                <a:spcPct val="90000"/>
              </a:lnSpc>
              <a:spcBef>
                <a:spcPts val="0"/>
              </a:spcBef>
              <a:spcAft>
                <a:spcPts val="0"/>
              </a:spcAft>
            </a:pPr>
            <a:r>
              <a:rPr sz="1800" b="0" i="0">
                <a:solidFill>
                  <a:srgbClr val="25356B"/>
                </a:solidFill>
                <a:latin typeface="Times New Roman"/>
                <a:ea typeface="標楷體"/>
                <a:cs typeface="Times New Roman"/>
              </a:rPr>
              <a:t>單位：環境類別｜判讀：WSL 擁有自己的 </a:t>
            </a:r>
            <a:r>
              <a:rPr sz="1800" b="0" i="1">
                <a:solidFill>
                  <a:srgbClr val="25356B"/>
                </a:solidFill>
                <a:latin typeface="Times New Roman"/>
                <a:ea typeface="標楷體"/>
                <a:cs typeface="Times New Roman"/>
              </a:rPr>
              <a:t>.venv</a:t>
            </a:r>
            <a:r>
              <a:rPr sz="1800" b="0" i="0">
                <a:solidFill>
                  <a:srgbClr val="25356B"/>
                </a:solidFill>
                <a:latin typeface="Times New Roman"/>
                <a:ea typeface="標楷體"/>
                <a:cs typeface="Times New Roman"/>
              </a:rPr>
              <a:t>，不與 Windows 互換</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P015｜每個封裝都要有自己的虛擬環境</a:t>
            </a:r>
          </a:p>
        </p:txBody>
      </p:sp>
      <p:sp>
        <p:nvSpPr>
          <p:cNvPr id="3" name="P015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把版本、依賴與策略關在同一個目錄；不共用別的專案</a:t>
            </a:r>
          </a:p>
        </p:txBody>
      </p:sp>
      <p:sp>
        <p:nvSpPr>
          <p:cNvPr id="4" name="P015 root card"/>
          <p:cNvSpPr/>
          <p:nvPr/>
        </p:nvSpPr>
        <p:spPr>
          <a:xfrm>
            <a:off x="841248" y="155448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5 root card heading"/>
          <p:cNvSpPr txBox="1"/>
          <p:nvPr/>
        </p:nvSpPr>
        <p:spPr>
          <a:xfrm>
            <a:off x="1005840"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課程根目錄</a:t>
            </a:r>
          </a:p>
        </p:txBody>
      </p:sp>
      <p:sp>
        <p:nvSpPr>
          <p:cNvPr id="6" name="P015 root card body"/>
          <p:cNvSpPr txBox="1"/>
          <p:nvPr/>
        </p:nvSpPr>
        <p:spPr>
          <a:xfrm>
            <a:off x="1042416"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lora-energy-lab/</a:t>
            </a:r>
          </a:p>
          <a:p>
            <a:pPr algn="ctr">
              <a:lnSpc>
                <a:spcPct val="100000"/>
              </a:lnSpc>
              <a:spcBef>
                <a:spcPts val="0"/>
              </a:spcBef>
              <a:spcAft>
                <a:spcPts val="0"/>
              </a:spcAft>
            </a:pPr>
            <a:r>
              <a:rPr sz="2200" b="0" i="1">
                <a:solidFill>
                  <a:srgbClr val="25324A"/>
                </a:solidFill>
                <a:latin typeface="Times New Roman"/>
                <a:ea typeface="標楷體"/>
                <a:cs typeface="Times New Roman"/>
              </a:rPr>
              <a:t>.venv</a:t>
            </a:r>
            <a:r>
              <a:rPr sz="2200" b="0" i="0">
                <a:solidFill>
                  <a:srgbClr val="25324A"/>
                </a:solidFill>
                <a:latin typeface="Times New Roman"/>
                <a:ea typeface="標楷體"/>
                <a:cs typeface="Times New Roman"/>
              </a:rPr>
              <a:t> 必須留在此</a:t>
            </a:r>
          </a:p>
        </p:txBody>
      </p:sp>
      <p:sp>
        <p:nvSpPr>
          <p:cNvPr id="7" name="Chevron 6"/>
          <p:cNvSpPr/>
          <p:nvPr/>
        </p:nvSpPr>
        <p:spPr>
          <a:xfrm>
            <a:off x="4261104" y="2542032"/>
            <a:ext cx="420624" cy="493776"/>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5 Windows path card"/>
          <p:cNvSpPr/>
          <p:nvPr/>
        </p:nvSpPr>
        <p:spPr>
          <a:xfrm>
            <a:off x="4828032" y="1554480"/>
            <a:ext cx="324612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5 Windows path card heading"/>
          <p:cNvSpPr txBox="1"/>
          <p:nvPr/>
        </p:nvSpPr>
        <p:spPr>
          <a:xfrm>
            <a:off x="4992624" y="1737360"/>
            <a:ext cx="291693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Windows 路徑</a:t>
            </a:r>
          </a:p>
        </p:txBody>
      </p:sp>
      <p:sp>
        <p:nvSpPr>
          <p:cNvPr id="10" name="P015 Windows path card body"/>
          <p:cNvSpPr txBox="1"/>
          <p:nvPr/>
        </p:nvSpPr>
        <p:spPr>
          <a:xfrm>
            <a:off x="5029200" y="2359152"/>
            <a:ext cx="284378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1">
                <a:solidFill>
                  <a:srgbClr val="25324A"/>
                </a:solidFill>
                <a:latin typeface="Times New Roman"/>
                <a:ea typeface="標楷體"/>
                <a:cs typeface="Times New Roman"/>
              </a:rPr>
              <a:t>.venv\Scripts\python.exe</a:t>
            </a:r>
          </a:p>
          <a:p>
            <a:pPr algn="ctr">
              <a:lnSpc>
                <a:spcPct val="100000"/>
              </a:lnSpc>
              <a:spcBef>
                <a:spcPts val="0"/>
              </a:spcBef>
              <a:spcAft>
                <a:spcPts val="0"/>
              </a:spcAft>
            </a:pPr>
            <a:r>
              <a:rPr sz="2000" b="0" i="0">
                <a:solidFill>
                  <a:srgbClr val="25324A"/>
                </a:solidFill>
                <a:latin typeface="Times New Roman"/>
                <a:ea typeface="標楷體"/>
                <a:cs typeface="Times New Roman"/>
              </a:rPr>
              <a:t>顯示 Python 3.11.x</a:t>
            </a:r>
          </a:p>
        </p:txBody>
      </p:sp>
      <p:sp>
        <p:nvSpPr>
          <p:cNvPr id="11" name="Chevron 10"/>
          <p:cNvSpPr/>
          <p:nvPr/>
        </p:nvSpPr>
        <p:spPr>
          <a:xfrm>
            <a:off x="8247888" y="2542032"/>
            <a:ext cx="420624" cy="493776"/>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5 POSIX path card"/>
          <p:cNvSpPr/>
          <p:nvPr/>
        </p:nvSpPr>
        <p:spPr>
          <a:xfrm>
            <a:off x="8814816" y="1554480"/>
            <a:ext cx="2450592"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5 POSIX path card heading"/>
          <p:cNvSpPr txBox="1"/>
          <p:nvPr/>
        </p:nvSpPr>
        <p:spPr>
          <a:xfrm>
            <a:off x="8979408" y="1737360"/>
            <a:ext cx="212140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Linux 路徑</a:t>
            </a:r>
          </a:p>
        </p:txBody>
      </p:sp>
      <p:sp>
        <p:nvSpPr>
          <p:cNvPr id="14" name="P015 POSIX path card body"/>
          <p:cNvSpPr txBox="1"/>
          <p:nvPr/>
        </p:nvSpPr>
        <p:spPr>
          <a:xfrm>
            <a:off x="9015984" y="2359152"/>
            <a:ext cx="204825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0" i="1">
                <a:solidFill>
                  <a:srgbClr val="25324A"/>
                </a:solidFill>
                <a:latin typeface="Times New Roman"/>
                <a:ea typeface="標楷體"/>
                <a:cs typeface="Times New Roman"/>
              </a:rPr>
              <a:t>.venv/bin/python</a:t>
            </a:r>
          </a:p>
          <a:p>
            <a:pPr algn="ctr">
              <a:lnSpc>
                <a:spcPct val="100000"/>
              </a:lnSpc>
              <a:spcBef>
                <a:spcPts val="0"/>
              </a:spcBef>
              <a:spcAft>
                <a:spcPts val="0"/>
              </a:spcAft>
            </a:pPr>
            <a:r>
              <a:rPr sz="2000" b="0" i="0">
                <a:solidFill>
                  <a:srgbClr val="25324A"/>
                </a:solidFill>
                <a:latin typeface="Times New Roman"/>
                <a:ea typeface="標楷體"/>
                <a:cs typeface="Times New Roman"/>
              </a:rPr>
              <a:t>版本 3.11.x</a:t>
            </a:r>
          </a:p>
        </p:txBody>
      </p:sp>
      <p:sp>
        <p:nvSpPr>
          <p:cNvPr id="15" name="P015 isolation strip"/>
          <p:cNvSpPr/>
          <p:nvPr/>
        </p:nvSpPr>
        <p:spPr>
          <a:xfrm>
            <a:off x="932688" y="3968496"/>
            <a:ext cx="10314432"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完成判斷：兩個路徑都顯示 3.11.x；不互換，也不共用別的專案</a:t>
            </a:r>
          </a:p>
        </p:txBody>
      </p:sp>
      <p:sp>
        <p:nvSpPr>
          <p:cNvPr id="16" name="P015 venv field"/>
          <p:cNvSpPr/>
          <p:nvPr/>
        </p:nvSpPr>
        <p:spPr>
          <a:xfrm>
            <a:off x="804672" y="5120640"/>
            <a:ext cx="10561320" cy="768096"/>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.venv</a:t>
            </a:r>
            <a:r>
              <a:rPr sz="1800" b="0" i="0">
                <a:solidFill>
                  <a:srgbClr val="25356B"/>
                </a:solidFill>
                <a:latin typeface="Times New Roman"/>
                <a:ea typeface="標楷體"/>
                <a:cs typeface="Times New Roman"/>
              </a:rPr>
              <a:t>（套件本地虛擬環境）｜來源：Python </a:t>
            </a:r>
            <a:r>
              <a:rPr sz="1800" b="0" i="1">
                <a:solidFill>
                  <a:srgbClr val="25356B"/>
                </a:solidFill>
                <a:latin typeface="Times New Roman"/>
                <a:ea typeface="標楷體"/>
                <a:cs typeface="Times New Roman"/>
              </a:rPr>
              <a:t>venv</a:t>
            </a:r>
            <a:r>
              <a:rPr sz="1800" b="0" i="0">
                <a:solidFill>
                  <a:srgbClr val="25356B"/>
                </a:solidFill>
                <a:latin typeface="Times New Roman"/>
                <a:ea typeface="標楷體"/>
                <a:cs typeface="Times New Roman"/>
              </a:rPr>
              <a:t> 模組｜作用：隔離版本、依賴、策略與啟動器</a:t>
            </a:r>
          </a:p>
          <a:p>
            <a:pPr algn="l">
              <a:lnSpc>
                <a:spcPct val="90000"/>
              </a:lnSpc>
              <a:spcBef>
                <a:spcPts val="0"/>
              </a:spcBef>
              <a:spcAft>
                <a:spcPts val="0"/>
              </a:spcAft>
            </a:pPr>
            <a:r>
              <a:rPr sz="1800" b="0" i="0">
                <a:solidFill>
                  <a:srgbClr val="25356B"/>
                </a:solidFill>
                <a:latin typeface="Times New Roman"/>
                <a:ea typeface="標楷體"/>
                <a:cs typeface="Times New Roman"/>
              </a:rPr>
              <a:t>單位：目錄｜判讀：啟動器只使用目前封裝內的版本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P016｜Windows：建立環境，驗證後才進案例</a:t>
            </a:r>
          </a:p>
        </p:txBody>
      </p:sp>
      <p:sp>
        <p:nvSpPr>
          <p:cNvPr id="3" name="P016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下面兩組命令會建立隔離環境並讀取驗證結果；不修改案例程式</a:t>
            </a:r>
          </a:p>
        </p:txBody>
      </p:sp>
      <p:sp>
        <p:nvSpPr>
          <p:cNvPr id="4" name="P016 CMD card"/>
          <p:cNvSpPr/>
          <p:nvPr/>
        </p:nvSpPr>
        <p:spPr>
          <a:xfrm>
            <a:off x="841248" y="1554480"/>
            <a:ext cx="498348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6 CMD card heading"/>
          <p:cNvSpPr txBox="1"/>
          <p:nvPr/>
        </p:nvSpPr>
        <p:spPr>
          <a:xfrm>
            <a:off x="1005840" y="1737360"/>
            <a:ext cx="465429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CMD</a:t>
            </a:r>
          </a:p>
        </p:txBody>
      </p:sp>
      <p:sp>
        <p:nvSpPr>
          <p:cNvPr id="6" name="P016 CMD card body"/>
          <p:cNvSpPr txBox="1"/>
          <p:nvPr/>
        </p:nvSpPr>
        <p:spPr>
          <a:xfrm>
            <a:off x="1042416" y="2359152"/>
            <a:ext cx="458114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0">
                <a:solidFill>
                  <a:srgbClr val="25324A"/>
                </a:solidFill>
                <a:latin typeface="Times New Roman"/>
                <a:ea typeface="標楷體"/>
                <a:cs typeface="Times New Roman"/>
              </a:rPr>
              <a:t>先固定 3.11</a:t>
            </a:r>
          </a:p>
          <a:p>
            <a:pPr algn="ctr">
              <a:lnSpc>
                <a:spcPct val="100000"/>
              </a:lnSpc>
              <a:spcBef>
                <a:spcPts val="0"/>
              </a:spcBef>
              <a:spcAft>
                <a:spcPts val="0"/>
              </a:spcAft>
            </a:pPr>
            <a:r>
              <a:rPr sz="1850" b="0" i="0">
                <a:solidFill>
                  <a:srgbClr val="25324A"/>
                </a:solidFill>
                <a:latin typeface="Times New Roman"/>
                <a:ea typeface="標楷體"/>
                <a:cs typeface="Times New Roman"/>
              </a:rPr>
              <a:t>set PYTHON_BIN=py -3.11</a:t>
            </a:r>
          </a:p>
          <a:p>
            <a:pPr algn="ctr">
              <a:lnSpc>
                <a:spcPct val="100000"/>
              </a:lnSpc>
              <a:spcBef>
                <a:spcPts val="0"/>
              </a:spcBef>
              <a:spcAft>
                <a:spcPts val="0"/>
              </a:spcAft>
            </a:pPr>
            <a:r>
              <a:rPr sz="1850" b="0" i="0">
                <a:solidFill>
                  <a:srgbClr val="25324A"/>
                </a:solidFill>
                <a:latin typeface="Times New Roman"/>
                <a:ea typeface="標楷體"/>
                <a:cs typeface="Times New Roman"/>
              </a:rPr>
              <a:t>setup.cmd → course.cmd verify</a:t>
            </a:r>
          </a:p>
        </p:txBody>
      </p:sp>
      <p:sp>
        <p:nvSpPr>
          <p:cNvPr id="7" name="P016 PowerShell card"/>
          <p:cNvSpPr/>
          <p:nvPr/>
        </p:nvSpPr>
        <p:spPr>
          <a:xfrm>
            <a:off x="6272784" y="1554480"/>
            <a:ext cx="498348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6 PowerShell card heading"/>
          <p:cNvSpPr txBox="1"/>
          <p:nvPr/>
        </p:nvSpPr>
        <p:spPr>
          <a:xfrm>
            <a:off x="6437376" y="1737360"/>
            <a:ext cx="4654296"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PowerShell</a:t>
            </a:r>
          </a:p>
        </p:txBody>
      </p:sp>
      <p:sp>
        <p:nvSpPr>
          <p:cNvPr id="9" name="P016 PowerShell card body"/>
          <p:cNvSpPr txBox="1"/>
          <p:nvPr/>
        </p:nvSpPr>
        <p:spPr>
          <a:xfrm>
            <a:off x="6473952" y="2359152"/>
            <a:ext cx="4581144"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00" b="0" i="0">
                <a:solidFill>
                  <a:srgbClr val="25324A"/>
                </a:solidFill>
                <a:latin typeface="Times New Roman"/>
                <a:ea typeface="標楷體"/>
                <a:cs typeface="Times New Roman"/>
              </a:rPr>
              <a:t>先固定 3.11</a:t>
            </a:r>
          </a:p>
          <a:p>
            <a:pPr algn="ctr">
              <a:lnSpc>
                <a:spcPct val="100000"/>
              </a:lnSpc>
              <a:spcBef>
                <a:spcPts val="0"/>
              </a:spcBef>
              <a:spcAft>
                <a:spcPts val="0"/>
              </a:spcAft>
            </a:pPr>
            <a:r>
              <a:rPr sz="1800" b="0" i="0">
                <a:solidFill>
                  <a:srgbClr val="25324A"/>
                </a:solidFill>
                <a:latin typeface="Times New Roman"/>
                <a:ea typeface="標楷體"/>
                <a:cs typeface="Times New Roman"/>
              </a:rPr>
              <a:t>$env:PYTHON_BIN = "py -3.11"</a:t>
            </a:r>
          </a:p>
          <a:p>
            <a:pPr algn="ctr">
              <a:lnSpc>
                <a:spcPct val="100000"/>
              </a:lnSpc>
              <a:spcBef>
                <a:spcPts val="0"/>
              </a:spcBef>
              <a:spcAft>
                <a:spcPts val="0"/>
              </a:spcAft>
            </a:pPr>
            <a:r>
              <a:rPr sz="1800" b="0" i="0">
                <a:solidFill>
                  <a:srgbClr val="25324A"/>
                </a:solidFill>
                <a:latin typeface="Times New Roman"/>
                <a:ea typeface="標楷體"/>
                <a:cs typeface="Times New Roman"/>
              </a:rPr>
              <a:t>.\setup.cmd → .\course.cmd verify</a:t>
            </a:r>
          </a:p>
        </p:txBody>
      </p:sp>
      <p:sp>
        <p:nvSpPr>
          <p:cNvPr id="10" name="P016 READY strip"/>
          <p:cNvSpPr/>
          <p:nvPr/>
        </p:nvSpPr>
        <p:spPr>
          <a:xfrm>
            <a:off x="932688" y="3968496"/>
            <a:ext cx="10314432" cy="5486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完成判斷：狀態為 READY，並寫入驗證收據；這不是案例結果</a:t>
            </a:r>
          </a:p>
        </p:txBody>
      </p:sp>
      <p:sp>
        <p:nvSpPr>
          <p:cNvPr id="11" name="P016 READY field"/>
          <p:cNvSpPr/>
          <p:nvPr/>
        </p:nvSpPr>
        <p:spPr>
          <a:xfrm>
            <a:off x="804672" y="5120640"/>
            <a:ext cx="10561320" cy="768096"/>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READY</a:t>
            </a:r>
            <a:r>
              <a:rPr sz="1800" b="0" i="0">
                <a:solidFill>
                  <a:srgbClr val="25356B"/>
                </a:solidFill>
                <a:latin typeface="Times New Roman"/>
                <a:ea typeface="標楷體"/>
                <a:cs typeface="Times New Roman"/>
              </a:rPr>
              <a:t>（環境就緒狀態）｜來源：驗證收據｜作用：表示版本、依賴、情境與策略介面通過</a:t>
            </a:r>
          </a:p>
          <a:p>
            <a:pPr algn="l">
              <a:lnSpc>
                <a:spcPct val="90000"/>
              </a:lnSpc>
              <a:spcBef>
                <a:spcPts val="0"/>
              </a:spcBef>
              <a:spcAft>
                <a:spcPts val="0"/>
              </a:spcAft>
            </a:pPr>
            <a:r>
              <a:rPr sz="1800" b="0" i="0">
                <a:solidFill>
                  <a:srgbClr val="25356B"/>
                </a:solidFill>
                <a:latin typeface="Times New Roman"/>
                <a:ea typeface="標楷體"/>
                <a:cs typeface="Times New Roman"/>
              </a:rPr>
              <a:t>單位：狀態值｜判讀：READY 才能進案例，仍不代表案例已執行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P017｜WSL：先進入 Ubuntu，再用 Linux 命令</a:t>
            </a:r>
          </a:p>
        </p:txBody>
      </p:sp>
      <p:sp>
        <p:nvSpPr>
          <p:cNvPr id="3" name="P017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先確認命令殼身分；看到 Linux 路徑後才執行 </a:t>
            </a:r>
            <a:r>
              <a:rPr sz="2400" b="1" i="1">
                <a:solidFill>
                  <a:srgbClr val="25356B"/>
                </a:solidFill>
                <a:latin typeface="Times New Roman"/>
                <a:ea typeface="標楷體"/>
                <a:cs typeface="Times New Roman"/>
              </a:rPr>
              <a:t>.sh</a:t>
            </a:r>
          </a:p>
        </p:txBody>
      </p:sp>
      <p:sp>
        <p:nvSpPr>
          <p:cNvPr id="4" name="P017 step 1"/>
          <p:cNvSpPr/>
          <p:nvPr/>
        </p:nvSpPr>
        <p:spPr>
          <a:xfrm>
            <a:off x="841248" y="1554480"/>
            <a:ext cx="2176272"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7 step 1 heading"/>
          <p:cNvSpPr txBox="1"/>
          <p:nvPr/>
        </p:nvSpPr>
        <p:spPr>
          <a:xfrm>
            <a:off x="1005840"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4967C2"/>
                </a:solidFill>
                <a:latin typeface="Times New Roman"/>
                <a:ea typeface="標楷體"/>
                <a:cs typeface="Times New Roman"/>
              </a:rPr>
              <a:t>先看清單</a:t>
            </a:r>
          </a:p>
        </p:txBody>
      </p:sp>
      <p:sp>
        <p:nvSpPr>
          <p:cNvPr id="6" name="P017 step 1 body"/>
          <p:cNvSpPr txBox="1"/>
          <p:nvPr/>
        </p:nvSpPr>
        <p:spPr>
          <a:xfrm>
            <a:off x="1042416"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0">
                <a:solidFill>
                  <a:srgbClr val="25324A"/>
                </a:solidFill>
                <a:latin typeface="Times New Roman"/>
                <a:ea typeface="標楷體"/>
                <a:cs typeface="Times New Roman"/>
              </a:rPr>
              <a:t>清單確認</a:t>
            </a:r>
          </a:p>
          <a:p>
            <a:pPr algn="ctr">
              <a:lnSpc>
                <a:spcPct val="100000"/>
              </a:lnSpc>
              <a:spcBef>
                <a:spcPts val="0"/>
              </a:spcBef>
              <a:spcAft>
                <a:spcPts val="0"/>
              </a:spcAft>
            </a:pPr>
            <a:r>
              <a:rPr sz="1900" b="0" i="1">
                <a:solidFill>
                  <a:srgbClr val="25324A"/>
                </a:solidFill>
                <a:latin typeface="Times New Roman"/>
                <a:ea typeface="標楷體"/>
                <a:cs typeface="Times New Roman"/>
              </a:rPr>
              <a:t>wsl -l -v</a:t>
            </a:r>
          </a:p>
        </p:txBody>
      </p:sp>
      <p:sp>
        <p:nvSpPr>
          <p:cNvPr id="7" name="Chevron 6"/>
          <p:cNvSpPr/>
          <p:nvPr/>
        </p:nvSpPr>
        <p:spPr>
          <a:xfrm>
            <a:off x="3108960" y="2542032"/>
            <a:ext cx="320040"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7 step 2"/>
          <p:cNvSpPr/>
          <p:nvPr/>
        </p:nvSpPr>
        <p:spPr>
          <a:xfrm>
            <a:off x="3602736" y="1554480"/>
            <a:ext cx="2176272"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7 step 2 heading"/>
          <p:cNvSpPr txBox="1"/>
          <p:nvPr/>
        </p:nvSpPr>
        <p:spPr>
          <a:xfrm>
            <a:off x="3767328"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846826"/>
                </a:solidFill>
                <a:latin typeface="Times New Roman"/>
                <a:ea typeface="標楷體"/>
                <a:cs typeface="Times New Roman"/>
              </a:rPr>
              <a:t>進入 Ubuntu</a:t>
            </a:r>
          </a:p>
        </p:txBody>
      </p:sp>
      <p:sp>
        <p:nvSpPr>
          <p:cNvPr id="10" name="P017 step 2 body"/>
          <p:cNvSpPr txBox="1"/>
          <p:nvPr/>
        </p:nvSpPr>
        <p:spPr>
          <a:xfrm>
            <a:off x="3803904"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1">
                <a:solidFill>
                  <a:srgbClr val="25324A"/>
                </a:solidFill>
                <a:latin typeface="Times New Roman"/>
                <a:ea typeface="標楷體"/>
                <a:cs typeface="Times New Roman"/>
              </a:rPr>
              <a:t>wsl -d Ubuntu</a:t>
            </a:r>
          </a:p>
          <a:p>
            <a:pPr algn="ctr">
              <a:lnSpc>
                <a:spcPct val="100000"/>
              </a:lnSpc>
              <a:spcBef>
                <a:spcPts val="0"/>
              </a:spcBef>
              <a:spcAft>
                <a:spcPts val="0"/>
              </a:spcAft>
            </a:pPr>
            <a:r>
              <a:rPr sz="1900" b="0" i="0">
                <a:solidFill>
                  <a:srgbClr val="25324A"/>
                </a:solidFill>
                <a:latin typeface="Times New Roman"/>
                <a:ea typeface="標楷體"/>
                <a:cs typeface="Times New Roman"/>
              </a:rPr>
              <a:t>進入 Linux</a:t>
            </a:r>
          </a:p>
        </p:txBody>
      </p:sp>
      <p:sp>
        <p:nvSpPr>
          <p:cNvPr id="11" name="Chevron 10"/>
          <p:cNvSpPr/>
          <p:nvPr/>
        </p:nvSpPr>
        <p:spPr>
          <a:xfrm>
            <a:off x="5870448" y="2542032"/>
            <a:ext cx="320040" cy="420624"/>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7 step 3"/>
          <p:cNvSpPr/>
          <p:nvPr/>
        </p:nvSpPr>
        <p:spPr>
          <a:xfrm>
            <a:off x="6364224" y="1554480"/>
            <a:ext cx="2176272"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7 step 3 heading"/>
          <p:cNvSpPr txBox="1"/>
          <p:nvPr/>
        </p:nvSpPr>
        <p:spPr>
          <a:xfrm>
            <a:off x="6528816"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007374"/>
                </a:solidFill>
                <a:latin typeface="Times New Roman"/>
                <a:ea typeface="標楷體"/>
                <a:cs typeface="Times New Roman"/>
              </a:rPr>
              <a:t>確認路徑</a:t>
            </a:r>
          </a:p>
        </p:txBody>
      </p:sp>
      <p:sp>
        <p:nvSpPr>
          <p:cNvPr id="14" name="P017 step 3 body"/>
          <p:cNvSpPr txBox="1"/>
          <p:nvPr/>
        </p:nvSpPr>
        <p:spPr>
          <a:xfrm>
            <a:off x="6565392"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1">
                <a:solidFill>
                  <a:srgbClr val="25324A"/>
                </a:solidFill>
                <a:latin typeface="Times New Roman"/>
                <a:ea typeface="標楷體"/>
                <a:cs typeface="Times New Roman"/>
              </a:rPr>
              <a:t>pwd</a:t>
            </a:r>
            <a:r>
              <a:rPr sz="1900" b="0" i="0">
                <a:solidFill>
                  <a:srgbClr val="25324A"/>
                </a:solidFill>
                <a:latin typeface="Times New Roman"/>
                <a:ea typeface="標楷體"/>
                <a:cs typeface="Times New Roman"/>
              </a:rPr>
              <a:t>／</a:t>
            </a:r>
            <a:r>
              <a:rPr sz="1900" b="0" i="1">
                <a:solidFill>
                  <a:srgbClr val="25324A"/>
                </a:solidFill>
                <a:latin typeface="Times New Roman"/>
                <a:ea typeface="標楷體"/>
                <a:cs typeface="Times New Roman"/>
              </a:rPr>
              <a:t>uname</a:t>
            </a:r>
          </a:p>
          <a:p>
            <a:pPr algn="ctr">
              <a:lnSpc>
                <a:spcPct val="100000"/>
              </a:lnSpc>
              <a:spcBef>
                <a:spcPts val="0"/>
              </a:spcBef>
              <a:spcAft>
                <a:spcPts val="0"/>
              </a:spcAft>
            </a:pPr>
            <a:r>
              <a:rPr sz="1900" b="0" i="0">
                <a:solidFill>
                  <a:srgbClr val="25324A"/>
                </a:solidFill>
                <a:latin typeface="Times New Roman"/>
                <a:ea typeface="標楷體"/>
                <a:cs typeface="Times New Roman"/>
              </a:rPr>
              <a:t>看到 Linux path</a:t>
            </a:r>
          </a:p>
        </p:txBody>
      </p:sp>
      <p:sp>
        <p:nvSpPr>
          <p:cNvPr id="15" name="Chevron 14"/>
          <p:cNvSpPr/>
          <p:nvPr/>
        </p:nvSpPr>
        <p:spPr>
          <a:xfrm>
            <a:off x="8631936" y="2542032"/>
            <a:ext cx="320040"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17 step 4"/>
          <p:cNvSpPr/>
          <p:nvPr/>
        </p:nvSpPr>
        <p:spPr>
          <a:xfrm>
            <a:off x="9125712" y="1554480"/>
            <a:ext cx="2176272" cy="210312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17 step 4 heading"/>
          <p:cNvSpPr txBox="1"/>
          <p:nvPr/>
        </p:nvSpPr>
        <p:spPr>
          <a:xfrm>
            <a:off x="9290304"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後續路徑</a:t>
            </a:r>
          </a:p>
        </p:txBody>
      </p:sp>
      <p:sp>
        <p:nvSpPr>
          <p:cNvPr id="18" name="P017 step 4 body"/>
          <p:cNvSpPr txBox="1"/>
          <p:nvPr/>
        </p:nvSpPr>
        <p:spPr>
          <a:xfrm>
            <a:off x="9326880"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0" i="1">
                <a:solidFill>
                  <a:srgbClr val="25324A"/>
                </a:solidFill>
                <a:latin typeface="Times New Roman"/>
                <a:ea typeface="標楷體"/>
                <a:cs typeface="Times New Roman"/>
              </a:rPr>
              <a:t>.sh</a:t>
            </a:r>
            <a:r>
              <a:rPr sz="1900" b="0" i="0">
                <a:solidFill>
                  <a:srgbClr val="25324A"/>
                </a:solidFill>
                <a:latin typeface="Times New Roman"/>
                <a:ea typeface="標楷體"/>
                <a:cs typeface="Times New Roman"/>
              </a:rPr>
              <a:t>／</a:t>
            </a:r>
            <a:r>
              <a:rPr sz="1900" b="0" i="1">
                <a:solidFill>
                  <a:srgbClr val="25324A"/>
                </a:solidFill>
                <a:latin typeface="Times New Roman"/>
                <a:ea typeface="標楷體"/>
                <a:cs typeface="Times New Roman"/>
              </a:rPr>
              <a:t>apt</a:t>
            </a:r>
          </a:p>
          <a:p>
            <a:pPr algn="ctr">
              <a:lnSpc>
                <a:spcPct val="100000"/>
              </a:lnSpc>
              <a:spcBef>
                <a:spcPts val="0"/>
              </a:spcBef>
              <a:spcAft>
                <a:spcPts val="0"/>
              </a:spcAft>
            </a:pPr>
            <a:r>
              <a:rPr sz="1900" b="0" i="0">
                <a:solidFill>
                  <a:srgbClr val="25324A"/>
                </a:solidFill>
                <a:latin typeface="Times New Roman"/>
                <a:ea typeface="標楷體"/>
                <a:cs typeface="Times New Roman"/>
              </a:rPr>
              <a:t>不使用 </a:t>
            </a:r>
            <a:r>
              <a:rPr sz="1900" b="0" i="1">
                <a:solidFill>
                  <a:srgbClr val="25324A"/>
                </a:solidFill>
                <a:latin typeface="Times New Roman"/>
                <a:ea typeface="標楷體"/>
                <a:cs typeface="Times New Roman"/>
              </a:rPr>
              <a:t>.cmd</a:t>
            </a:r>
          </a:p>
        </p:txBody>
      </p:sp>
      <p:sp>
        <p:nvSpPr>
          <p:cNvPr id="19" name="P017 shell strip"/>
          <p:cNvSpPr/>
          <p:nvPr/>
        </p:nvSpPr>
        <p:spPr>
          <a:xfrm>
            <a:off x="932688" y="3968496"/>
            <a:ext cx="10314432"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1950" b="1" i="0">
                <a:solidFill>
                  <a:srgbClr val="25356B"/>
                </a:solidFill>
                <a:latin typeface="Times New Roman"/>
                <a:ea typeface="標楷體"/>
                <a:cs typeface="Times New Roman"/>
              </a:rPr>
              <a:t>完成判斷：看到 Linux 路徑後才用 </a:t>
            </a:r>
            <a:r>
              <a:rPr sz="1950" b="1" i="1">
                <a:solidFill>
                  <a:srgbClr val="25356B"/>
                </a:solidFill>
                <a:latin typeface="Times New Roman"/>
                <a:ea typeface="標楷體"/>
                <a:cs typeface="Times New Roman"/>
              </a:rPr>
              <a:t>.sh</a:t>
            </a:r>
            <a:r>
              <a:rPr sz="1950" b="1" i="0">
                <a:solidFill>
                  <a:srgbClr val="25356B"/>
                </a:solidFill>
                <a:latin typeface="Times New Roman"/>
                <a:ea typeface="標楷體"/>
                <a:cs typeface="Times New Roman"/>
              </a:rPr>
              <a:t>；不要重複安裝，也不執行 Windows 命令</a:t>
            </a:r>
          </a:p>
        </p:txBody>
      </p:sp>
      <p:sp>
        <p:nvSpPr>
          <p:cNvPr id="20" name="P017 Ubuntu field"/>
          <p:cNvSpPr/>
          <p:nvPr/>
        </p:nvSpPr>
        <p:spPr>
          <a:xfrm>
            <a:off x="804672" y="5120640"/>
            <a:ext cx="10561320" cy="768096"/>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Ubuntu</a:t>
            </a:r>
            <a:r>
              <a:rPr sz="1800" b="0" i="0">
                <a:solidFill>
                  <a:srgbClr val="25356B"/>
                </a:solidFill>
                <a:latin typeface="Times New Roman"/>
                <a:ea typeface="標楷體"/>
                <a:cs typeface="Times New Roman"/>
              </a:rPr>
              <a:t>（Linux 發行版）｜來源：WSL 執行層｜作用：提供獨立 Linux 命令殼與檔案系統</a:t>
            </a:r>
          </a:p>
          <a:p>
            <a:pPr algn="l">
              <a:lnSpc>
                <a:spcPct val="90000"/>
              </a:lnSpc>
              <a:spcBef>
                <a:spcPts val="0"/>
              </a:spcBef>
              <a:spcAft>
                <a:spcPts val="0"/>
              </a:spcAft>
            </a:pPr>
            <a:r>
              <a:rPr sz="1800" b="0" i="0">
                <a:solidFill>
                  <a:srgbClr val="25356B"/>
                </a:solidFill>
                <a:latin typeface="Times New Roman"/>
                <a:ea typeface="標楷體"/>
                <a:cs typeface="Times New Roman"/>
              </a:rPr>
              <a:t>單位：發行版名稱｜判讀：看到 Linux </a:t>
            </a:r>
            <a:r>
              <a:rPr sz="1800" b="0" i="1">
                <a:solidFill>
                  <a:srgbClr val="25356B"/>
                </a:solidFill>
                <a:latin typeface="Times New Roman"/>
                <a:ea typeface="標楷體"/>
                <a:cs typeface="Times New Roman"/>
              </a:rPr>
              <a:t>pwd</a:t>
            </a:r>
            <a:r>
              <a:rPr sz="1800" b="0" i="0">
                <a:solidFill>
                  <a:srgbClr val="25356B"/>
                </a:solidFill>
                <a:latin typeface="Times New Roman"/>
                <a:ea typeface="標楷體"/>
                <a:cs typeface="Times New Roman"/>
              </a:rPr>
              <a:t> 後才使用 </a:t>
            </a:r>
            <a:r>
              <a:rPr sz="1800" b="0" i="1">
                <a:solidFill>
                  <a:srgbClr val="25356B"/>
                </a:solidFill>
                <a:latin typeface="Times New Roman"/>
                <a:ea typeface="標楷體"/>
                <a:cs typeface="Times New Roman"/>
              </a:rPr>
              <a:t>setup.sh</a:t>
            </a:r>
            <a:r>
              <a:rPr sz="1800" b="0" i="0">
                <a:solidFill>
                  <a:srgbClr val="25356B"/>
                </a:solidFill>
                <a:latin typeface="Times New Roman"/>
                <a:ea typeface="標楷體"/>
                <a:cs typeface="Times New Roman"/>
              </a:rPr>
              <a:t>／</a:t>
            </a:r>
            <a:r>
              <a:rPr sz="1800" b="0" i="1">
                <a:solidFill>
                  <a:srgbClr val="25356B"/>
                </a:solidFill>
                <a:latin typeface="Times New Roman"/>
                <a:ea typeface="標楷體"/>
                <a:cs typeface="Times New Roman"/>
              </a:rPr>
              <a:t>course.sh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P018｜在 Ubuntu 依序備妥工具與 Python</a:t>
            </a:r>
          </a:p>
        </p:txBody>
      </p:sp>
      <p:sp>
        <p:nvSpPr>
          <p:cNvPr id="3" name="P018 lead"/>
          <p:cNvSpPr txBox="1"/>
          <p:nvPr/>
        </p:nvSpPr>
        <p:spPr>
          <a:xfrm>
            <a:off x="932688" y="932688"/>
            <a:ext cx="10314432" cy="36576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先準備解壓工具，再取得 Python 3.11；尚未解壓封裝</a:t>
            </a:r>
          </a:p>
        </p:txBody>
      </p:sp>
      <p:sp>
        <p:nvSpPr>
          <p:cNvPr id="4" name="P018 step 1"/>
          <p:cNvSpPr/>
          <p:nvPr/>
        </p:nvSpPr>
        <p:spPr>
          <a:xfrm>
            <a:off x="841248" y="1554480"/>
            <a:ext cx="2176272"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18 step 1 heading"/>
          <p:cNvSpPr txBox="1"/>
          <p:nvPr/>
        </p:nvSpPr>
        <p:spPr>
          <a:xfrm>
            <a:off x="1005840"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更新清單</a:t>
            </a:r>
          </a:p>
        </p:txBody>
      </p:sp>
      <p:sp>
        <p:nvSpPr>
          <p:cNvPr id="6" name="P018 step 1 body"/>
          <p:cNvSpPr txBox="1"/>
          <p:nvPr/>
        </p:nvSpPr>
        <p:spPr>
          <a:xfrm>
            <a:off x="1042416"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1">
                <a:solidFill>
                  <a:srgbClr val="25324A"/>
                </a:solidFill>
                <a:latin typeface="Times New Roman"/>
                <a:ea typeface="標楷體"/>
                <a:cs typeface="Times New Roman"/>
              </a:rPr>
              <a:t>sudo apt update</a:t>
            </a:r>
          </a:p>
          <a:p>
            <a:pPr algn="ctr">
              <a:lnSpc>
                <a:spcPct val="100000"/>
              </a:lnSpc>
              <a:spcBef>
                <a:spcPts val="0"/>
              </a:spcBef>
              <a:spcAft>
                <a:spcPts val="0"/>
              </a:spcAft>
            </a:pPr>
            <a:r>
              <a:rPr sz="1850" b="0" i="0">
                <a:solidFill>
                  <a:srgbClr val="25324A"/>
                </a:solidFill>
                <a:latin typeface="Times New Roman"/>
                <a:ea typeface="標楷體"/>
                <a:cs typeface="Times New Roman"/>
              </a:rPr>
              <a:t>只更新套件清單</a:t>
            </a:r>
          </a:p>
        </p:txBody>
      </p:sp>
      <p:sp>
        <p:nvSpPr>
          <p:cNvPr id="7" name="Chevron 6"/>
          <p:cNvSpPr/>
          <p:nvPr/>
        </p:nvSpPr>
        <p:spPr>
          <a:xfrm>
            <a:off x="3108960" y="2542032"/>
            <a:ext cx="320040" cy="42062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18 step 2"/>
          <p:cNvSpPr/>
          <p:nvPr/>
        </p:nvSpPr>
        <p:spPr>
          <a:xfrm>
            <a:off x="3602736" y="1554480"/>
            <a:ext cx="2176272"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18 step 2 heading"/>
          <p:cNvSpPr txBox="1"/>
          <p:nvPr/>
        </p:nvSpPr>
        <p:spPr>
          <a:xfrm>
            <a:off x="3767328"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準備解壓工具</a:t>
            </a:r>
          </a:p>
        </p:txBody>
      </p:sp>
      <p:sp>
        <p:nvSpPr>
          <p:cNvPr id="10" name="P018 step 2 body"/>
          <p:cNvSpPr txBox="1"/>
          <p:nvPr/>
        </p:nvSpPr>
        <p:spPr>
          <a:xfrm>
            <a:off x="3803904"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0">
                <a:solidFill>
                  <a:srgbClr val="25324A"/>
                </a:solidFill>
                <a:latin typeface="Times New Roman"/>
                <a:ea typeface="標楷體"/>
                <a:cs typeface="Times New Roman"/>
              </a:rPr>
              <a:t>取得傳輸與解壓</a:t>
            </a:r>
          </a:p>
          <a:p>
            <a:pPr algn="ctr">
              <a:lnSpc>
                <a:spcPct val="100000"/>
              </a:lnSpc>
              <a:spcBef>
                <a:spcPts val="0"/>
              </a:spcBef>
              <a:spcAft>
                <a:spcPts val="0"/>
              </a:spcAft>
            </a:pPr>
            <a:r>
              <a:rPr sz="1850" b="0" i="0">
                <a:solidFill>
                  <a:srgbClr val="25324A"/>
                </a:solidFill>
                <a:latin typeface="Times New Roman"/>
                <a:ea typeface="標楷體"/>
                <a:cs typeface="Times New Roman"/>
              </a:rPr>
              <a:t>不進案例</a:t>
            </a:r>
          </a:p>
        </p:txBody>
      </p:sp>
      <p:sp>
        <p:nvSpPr>
          <p:cNvPr id="11" name="Chevron 10"/>
          <p:cNvSpPr/>
          <p:nvPr/>
        </p:nvSpPr>
        <p:spPr>
          <a:xfrm>
            <a:off x="5870448" y="2542032"/>
            <a:ext cx="320040" cy="420624"/>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18 step 3"/>
          <p:cNvSpPr/>
          <p:nvPr/>
        </p:nvSpPr>
        <p:spPr>
          <a:xfrm>
            <a:off x="6364224" y="1554480"/>
            <a:ext cx="2176272"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8 step 3 heading"/>
          <p:cNvSpPr txBox="1"/>
          <p:nvPr/>
        </p:nvSpPr>
        <p:spPr>
          <a:xfrm>
            <a:off x="6528816"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安裝版本工具</a:t>
            </a:r>
          </a:p>
        </p:txBody>
      </p:sp>
      <p:sp>
        <p:nvSpPr>
          <p:cNvPr id="14" name="P018 step 3 body"/>
          <p:cNvSpPr txBox="1"/>
          <p:nvPr/>
        </p:nvSpPr>
        <p:spPr>
          <a:xfrm>
            <a:off x="6565392"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0">
                <a:solidFill>
                  <a:srgbClr val="25324A"/>
                </a:solidFill>
                <a:latin typeface="Times New Roman"/>
                <a:ea typeface="標楷體"/>
                <a:cs typeface="Times New Roman"/>
              </a:rPr>
              <a:t>安裝 </a:t>
            </a:r>
            <a:r>
              <a:rPr sz="1850" b="0" i="1">
                <a:solidFill>
                  <a:srgbClr val="25324A"/>
                </a:solidFill>
                <a:latin typeface="Times New Roman"/>
                <a:ea typeface="標楷體"/>
                <a:cs typeface="Times New Roman"/>
              </a:rPr>
              <a:t>uv</a:t>
            </a:r>
          </a:p>
          <a:p>
            <a:pPr algn="ctr">
              <a:lnSpc>
                <a:spcPct val="100000"/>
              </a:lnSpc>
              <a:spcBef>
                <a:spcPts val="0"/>
              </a:spcBef>
              <a:spcAft>
                <a:spcPts val="0"/>
              </a:spcAft>
            </a:pPr>
            <a:r>
              <a:rPr sz="1850" b="0" i="0">
                <a:solidFill>
                  <a:srgbClr val="25324A"/>
                </a:solidFill>
                <a:latin typeface="Times New Roman"/>
                <a:ea typeface="標楷體"/>
                <a:cs typeface="Times New Roman"/>
              </a:rPr>
              <a:t>再開新命令殼</a:t>
            </a:r>
          </a:p>
        </p:txBody>
      </p:sp>
      <p:sp>
        <p:nvSpPr>
          <p:cNvPr id="15" name="Chevron 14"/>
          <p:cNvSpPr/>
          <p:nvPr/>
        </p:nvSpPr>
        <p:spPr>
          <a:xfrm>
            <a:off x="8631936" y="2542032"/>
            <a:ext cx="320040" cy="420624"/>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18 step 4"/>
          <p:cNvSpPr/>
          <p:nvPr/>
        </p:nvSpPr>
        <p:spPr>
          <a:xfrm>
            <a:off x="9125712" y="1554480"/>
            <a:ext cx="2176272" cy="210312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18 step 4 heading"/>
          <p:cNvSpPr txBox="1"/>
          <p:nvPr/>
        </p:nvSpPr>
        <p:spPr>
          <a:xfrm>
            <a:off x="9290304" y="1737360"/>
            <a:ext cx="1847088"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660066"/>
                </a:solidFill>
                <a:latin typeface="Times New Roman"/>
                <a:ea typeface="標楷體"/>
                <a:cs typeface="Times New Roman"/>
              </a:rPr>
              <a:t>確認 Python</a:t>
            </a:r>
          </a:p>
        </p:txBody>
      </p:sp>
      <p:sp>
        <p:nvSpPr>
          <p:cNvPr id="18" name="P018 step 4 body"/>
          <p:cNvSpPr txBox="1"/>
          <p:nvPr/>
        </p:nvSpPr>
        <p:spPr>
          <a:xfrm>
            <a:off x="9326880" y="2359152"/>
            <a:ext cx="1773936" cy="1115567"/>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0" i="1">
                <a:solidFill>
                  <a:srgbClr val="25324A"/>
                </a:solidFill>
                <a:latin typeface="Times New Roman"/>
                <a:ea typeface="標楷體"/>
                <a:cs typeface="Times New Roman"/>
              </a:rPr>
              <a:t>find 3.11</a:t>
            </a:r>
          </a:p>
          <a:p>
            <a:pPr algn="ctr">
              <a:lnSpc>
                <a:spcPct val="100000"/>
              </a:lnSpc>
              <a:spcBef>
                <a:spcPts val="0"/>
              </a:spcBef>
              <a:spcAft>
                <a:spcPts val="0"/>
              </a:spcAft>
            </a:pPr>
            <a:r>
              <a:rPr sz="1850" b="0" i="0">
                <a:solidFill>
                  <a:srgbClr val="25324A"/>
                </a:solidFill>
                <a:latin typeface="Times New Roman"/>
                <a:ea typeface="標楷體"/>
                <a:cs typeface="Times New Roman"/>
              </a:rPr>
              <a:t>回傳版本路徑</a:t>
            </a:r>
          </a:p>
        </p:txBody>
      </p:sp>
      <p:sp>
        <p:nvSpPr>
          <p:cNvPr id="19" name="P018 boundary strip"/>
          <p:cNvSpPr/>
          <p:nvPr/>
        </p:nvSpPr>
        <p:spPr>
          <a:xfrm>
            <a:off x="932688" y="3968496"/>
            <a:ext cx="10314432" cy="5486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完成判斷：工具可用、找到 3.11 路徑；尚未建立環境與就緒收據</a:t>
            </a:r>
          </a:p>
        </p:txBody>
      </p:sp>
      <p:sp>
        <p:nvSpPr>
          <p:cNvPr id="20" name="P018 toolchain field"/>
          <p:cNvSpPr/>
          <p:nvPr/>
        </p:nvSpPr>
        <p:spPr>
          <a:xfrm>
            <a:off x="804672" y="5120640"/>
            <a:ext cx="10561320" cy="768096"/>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36576" rIns="146304" bIns="36576"/>
          <a:lstStyle/>
          <a:p>
            <a:pPr algn="l">
              <a:lnSpc>
                <a:spcPct val="90000"/>
              </a:lnSpc>
              <a:spcBef>
                <a:spcPts val="0"/>
              </a:spcBef>
              <a:spcAft>
                <a:spcPts val="0"/>
              </a:spcAft>
            </a:pPr>
            <a:r>
              <a:rPr sz="1800" b="0" i="1">
                <a:solidFill>
                  <a:srgbClr val="25356B"/>
                </a:solidFill>
                <a:latin typeface="Times New Roman"/>
                <a:ea typeface="標楷體"/>
                <a:cs typeface="Times New Roman"/>
              </a:rPr>
              <a:t>uv</a:t>
            </a:r>
            <a:r>
              <a:rPr sz="1800" b="0" i="0">
                <a:solidFill>
                  <a:srgbClr val="25356B"/>
                </a:solidFill>
                <a:latin typeface="Times New Roman"/>
                <a:ea typeface="標楷體"/>
                <a:cs typeface="Times New Roman"/>
              </a:rPr>
              <a:t>（版本工具）｜來源：Ubuntu 命令殼｜作用：取得 Python 3.11 路徑</a:t>
            </a:r>
          </a:p>
          <a:p>
            <a:pPr algn="l">
              <a:lnSpc>
                <a:spcPct val="90000"/>
              </a:lnSpc>
              <a:spcBef>
                <a:spcPts val="0"/>
              </a:spcBef>
              <a:spcAft>
                <a:spcPts val="0"/>
              </a:spcAft>
            </a:pPr>
            <a:r>
              <a:rPr sz="1800" b="0" i="0">
                <a:solidFill>
                  <a:srgbClr val="25356B"/>
                </a:solidFill>
                <a:latin typeface="Times New Roman"/>
                <a:ea typeface="標楷體"/>
                <a:cs typeface="Times New Roman"/>
              </a:rPr>
              <a:t>單位：工具／路徑｜判讀：找到路徑後才進入環境建立，不當成案例結果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P019｜把下載資料搬進 Linux 課程資料夾</a:t>
            </a:r>
          </a:p>
        </p:txBody>
      </p:sp>
      <p:sp>
        <p:nvSpPr>
          <p:cNvPr id="4" name="Content Placeholder 3"/>
          <p:cNvSpPr>
            <a:spLocks noGrp="1"/>
          </p:cNvSpPr>
          <p:nvPr>
            <p:ph idx="10"/>
          </p:nvPr>
        </p:nvSpPr>
        <p:spPr/>
        <p:txBody>
          <a:bodyPr/>
          <a:lstStyle/>
          <a:p/>
        </p:txBody>
      </p:sp>
      <p:sp>
        <p:nvSpPr>
          <p:cNvPr id="5" name="P019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這一步只做路徑準備：把 release 帶進 Linux，再確認程式根目錄</a:t>
            </a:r>
          </a:p>
        </p:txBody>
      </p:sp>
      <p:sp>
        <p:nvSpPr>
          <p:cNvPr id="6" name="P019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19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① 這個工作區</a:t>
            </a:r>
          </a:p>
        </p:txBody>
      </p:sp>
      <p:sp>
        <p:nvSpPr>
          <p:cNvPr id="8" name="P019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WSL＝Windows 內的 Linux</a:t>
            </a:r>
          </a:p>
          <a:p>
            <a:pPr algn="ctr">
              <a:lnSpc>
                <a:spcPct val="94000"/>
              </a:lnSpc>
              <a:spcBef>
                <a:spcPts val="0"/>
              </a:spcBef>
              <a:spcAft>
                <a:spcPts val="0"/>
              </a:spcAft>
            </a:pPr>
            <a:r>
              <a:rPr sz="1700" b="0" i="0">
                <a:solidFill>
                  <a:srgbClr val="25324A"/>
                </a:solidFill>
                <a:latin typeface="Times New Roman"/>
                <a:ea typeface="標楷體"/>
                <a:cs typeface="Times New Roman"/>
              </a:rPr>
              <a:t>讀 </a:t>
            </a:r>
            <a:r>
              <a:rPr sz="1700" b="0" i="1">
                <a:solidFill>
                  <a:srgbClr val="25324A"/>
                </a:solidFill>
                <a:latin typeface="Times New Roman"/>
                <a:ea typeface="標楷體"/>
                <a:cs typeface="Times New Roman"/>
              </a:rPr>
              <a:t>/mnt/c/.../Downloads</a:t>
            </a:r>
          </a:p>
        </p:txBody>
      </p:sp>
      <p:sp>
        <p:nvSpPr>
          <p:cNvPr id="9" name="P019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19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② 程式不改</a:t>
            </a:r>
          </a:p>
        </p:txBody>
      </p:sp>
      <p:sp>
        <p:nvSpPr>
          <p:cNvPr id="11" name="P019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1">
                <a:solidFill>
                  <a:srgbClr val="25324A"/>
                </a:solidFill>
                <a:latin typeface="Times New Roman"/>
                <a:ea typeface="標楷體"/>
                <a:cs typeface="Times New Roman"/>
              </a:rPr>
              <a:t>student_policy.py</a:t>
            </a:r>
            <a:r>
              <a:rPr sz="1700" b="0" i="0">
                <a:solidFill>
                  <a:srgbClr val="25324A"/>
                </a:solidFill>
                <a:latin typeface="Times New Roman"/>
                <a:ea typeface="標楷體"/>
                <a:cs typeface="Times New Roman"/>
              </a:rPr>
              <a:t> 不動</a:t>
            </a:r>
          </a:p>
          <a:p>
            <a:pPr algn="ctr">
              <a:lnSpc>
                <a:spcPct val="94000"/>
              </a:lnSpc>
              <a:spcBef>
                <a:spcPts val="0"/>
              </a:spcBef>
              <a:spcAft>
                <a:spcPts val="0"/>
              </a:spcAft>
            </a:pPr>
            <a:r>
              <a:rPr sz="1700" b="0" i="0">
                <a:solidFill>
                  <a:srgbClr val="25324A"/>
                </a:solidFill>
                <a:latin typeface="Times New Roman"/>
                <a:ea typeface="標楷體"/>
                <a:cs typeface="Times New Roman"/>
              </a:rPr>
              <a:t>只複製 release 副本</a:t>
            </a:r>
          </a:p>
        </p:txBody>
      </p:sp>
      <p:sp>
        <p:nvSpPr>
          <p:cNvPr id="12" name="P019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19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③ 進入根目錄</a:t>
            </a:r>
          </a:p>
        </p:txBody>
      </p:sp>
      <p:sp>
        <p:nvSpPr>
          <p:cNvPr id="14" name="P019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下一步集中到 Linux</a:t>
            </a:r>
          </a:p>
          <a:p>
            <a:pPr algn="ctr">
              <a:lnSpc>
                <a:spcPct val="94000"/>
              </a:lnSpc>
              <a:spcBef>
                <a:spcPts val="0"/>
              </a:spcBef>
              <a:spcAft>
                <a:spcPts val="0"/>
              </a:spcAft>
            </a:pPr>
            <a:r>
              <a:rPr sz="1800" b="0" i="1">
                <a:solidFill>
                  <a:srgbClr val="25324A"/>
                </a:solidFill>
                <a:latin typeface="Times New Roman"/>
                <a:ea typeface="標楷體"/>
                <a:cs typeface="Times New Roman"/>
              </a:rPr>
              <a:t>lora-energy-lab/</a:t>
            </a:r>
          </a:p>
        </p:txBody>
      </p:sp>
      <p:sp>
        <p:nvSpPr>
          <p:cNvPr id="15" name="P019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19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④ 核對結果</a:t>
            </a:r>
          </a:p>
        </p:txBody>
      </p:sp>
      <p:sp>
        <p:nvSpPr>
          <p:cNvPr id="17" name="P019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執行 </a:t>
            </a:r>
            <a:r>
              <a:rPr sz="1700" b="0" i="1">
                <a:solidFill>
                  <a:srgbClr val="25324A"/>
                </a:solidFill>
                <a:latin typeface="Times New Roman"/>
                <a:ea typeface="標楷體"/>
                <a:cs typeface="Times New Roman"/>
              </a:rPr>
              <a:t>pwd</a:t>
            </a:r>
            <a:r>
              <a:rPr sz="1700" b="0" i="0">
                <a:solidFill>
                  <a:srgbClr val="25324A"/>
                </a:solidFill>
                <a:latin typeface="Times New Roman"/>
                <a:ea typeface="標楷體"/>
                <a:cs typeface="Times New Roman"/>
              </a:rPr>
              <a:t> 只讀位置</a:t>
            </a:r>
          </a:p>
          <a:p>
            <a:pPr algn="ctr">
              <a:lnSpc>
                <a:spcPct val="94000"/>
              </a:lnSpc>
              <a:spcBef>
                <a:spcPts val="0"/>
              </a:spcBef>
              <a:spcAft>
                <a:spcPts val="0"/>
              </a:spcAft>
            </a:pPr>
            <a:r>
              <a:rPr sz="1700" b="0" i="0">
                <a:solidFill>
                  <a:srgbClr val="25324A"/>
                </a:solidFill>
                <a:latin typeface="Times New Roman"/>
                <a:ea typeface="標楷體"/>
                <a:cs typeface="Times New Roman"/>
              </a:rPr>
              <a:t>路徑不對就先停止</a:t>
            </a:r>
          </a:p>
        </p:txBody>
      </p:sp>
      <p:sp>
        <p:nvSpPr>
          <p:cNvPr id="18" name="P019 beginner causal strip"/>
          <p:cNvSpPr/>
          <p:nvPr/>
        </p:nvSpPr>
        <p:spPr>
          <a:xfrm>
            <a:off x="1133856" y="4224528"/>
            <a:ext cx="9948672" cy="5303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先把下載副本放進 Linux，再確認根目錄；路徑錯會讓後續設定讀錯檔</a:t>
            </a:r>
          </a:p>
        </p:txBody>
      </p:sp>
      <p:sp>
        <p:nvSpPr>
          <p:cNvPr id="19" name="Field contract pwd"/>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pwd</a:t>
            </a:r>
            <a:r>
              <a:rPr sz="1800" b="0" i="0">
                <a:solidFill>
                  <a:srgbClr val="25356B"/>
                </a:solidFill>
                <a:latin typeface="Times New Roman"/>
                <a:ea typeface="標楷體"/>
                <a:cs typeface="Times New Roman"/>
              </a:rPr>
              <a:t>（目前目錄命令）｜來源：POSIX 命令工具｜作用：確認目前位置</a:t>
            </a:r>
          </a:p>
          <a:p>
            <a:pPr algn="l">
              <a:lnSpc>
                <a:spcPct val="90000"/>
              </a:lnSpc>
              <a:spcBef>
                <a:spcPts val="0"/>
              </a:spcBef>
              <a:spcAft>
                <a:spcPts val="0"/>
              </a:spcAft>
            </a:pPr>
            <a:r>
              <a:rPr sz="1800" b="0" i="0">
                <a:solidFill>
                  <a:srgbClr val="25356B"/>
                </a:solidFill>
                <a:latin typeface="Times New Roman"/>
                <a:ea typeface="標楷體"/>
                <a:cs typeface="Times New Roman"/>
              </a:rPr>
              <a:t>單位：路徑文字｜判讀：輸出應位於 Linux home 的課程資料夾</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P020｜建立環境並確認 READY</a:t>
            </a:r>
          </a:p>
        </p:txBody>
      </p:sp>
      <p:sp>
        <p:nvSpPr>
          <p:cNvPr id="4" name="Content Placeholder 3"/>
          <p:cNvSpPr>
            <a:spLocks noGrp="1"/>
          </p:cNvSpPr>
          <p:nvPr>
            <p:ph idx="10"/>
          </p:nvPr>
        </p:nvSpPr>
        <p:spPr/>
        <p:txBody>
          <a:bodyPr/>
          <a:lstStyle/>
          <a:p/>
        </p:txBody>
      </p:sp>
      <p:sp>
        <p:nvSpPr>
          <p:cNvPr id="5" name="P020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這一步建立可重現環境；沒有程式策略改動，先拿到 READY</a:t>
            </a:r>
          </a:p>
        </p:txBody>
      </p:sp>
      <p:sp>
        <p:nvSpPr>
          <p:cNvPr id="6" name="P020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0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做什麼</a:t>
            </a:r>
          </a:p>
        </p:txBody>
      </p:sp>
      <p:sp>
        <p:nvSpPr>
          <p:cNvPr id="8" name="P020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指定 Python 3.11</a:t>
            </a:r>
          </a:p>
          <a:p>
            <a:pPr algn="ctr">
              <a:lnSpc>
                <a:spcPct val="94000"/>
              </a:lnSpc>
              <a:spcBef>
                <a:spcPts val="0"/>
              </a:spcBef>
              <a:spcAft>
                <a:spcPts val="0"/>
              </a:spcAft>
            </a:pPr>
            <a:r>
              <a:rPr sz="1800" b="0" i="0">
                <a:solidFill>
                  <a:srgbClr val="25324A"/>
                </a:solidFill>
                <a:latin typeface="Times New Roman"/>
                <a:ea typeface="標楷體"/>
                <a:cs typeface="Times New Roman"/>
              </a:rPr>
              <a:t>建立隔離空間</a:t>
            </a:r>
          </a:p>
        </p:txBody>
      </p:sp>
      <p:sp>
        <p:nvSpPr>
          <p:cNvPr id="9" name="P020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0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007374"/>
                </a:solidFill>
                <a:latin typeface="Times New Roman"/>
                <a:ea typeface="標楷體"/>
                <a:cs typeface="Times New Roman"/>
              </a:rPr>
              <a:t>② 改哪裡</a:t>
            </a:r>
          </a:p>
        </p:txBody>
      </p:sp>
      <p:sp>
        <p:nvSpPr>
          <p:cNvPr id="11" name="P020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只執行 </a:t>
            </a:r>
            <a:r>
              <a:rPr sz="1800" b="0" i="1">
                <a:solidFill>
                  <a:srgbClr val="25324A"/>
                </a:solidFill>
                <a:latin typeface="Times New Roman"/>
                <a:ea typeface="標楷體"/>
                <a:cs typeface="Times New Roman"/>
              </a:rPr>
              <a:t>setup.sh</a:t>
            </a:r>
          </a:p>
          <a:p>
            <a:pPr algn="ctr">
              <a:lnSpc>
                <a:spcPct val="94000"/>
              </a:lnSpc>
              <a:spcBef>
                <a:spcPts val="0"/>
              </a:spcBef>
              <a:spcAft>
                <a:spcPts val="0"/>
              </a:spcAft>
            </a:pPr>
            <a:r>
              <a:rPr sz="1800" b="0" i="0">
                <a:solidFill>
                  <a:srgbClr val="25324A"/>
                </a:solidFill>
                <a:latin typeface="Times New Roman"/>
                <a:ea typeface="標楷體"/>
                <a:cs typeface="Times New Roman"/>
              </a:rPr>
              <a:t>不改 policy source</a:t>
            </a:r>
          </a:p>
        </p:txBody>
      </p:sp>
      <p:sp>
        <p:nvSpPr>
          <p:cNvPr id="12" name="P020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0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③ 下一步</a:t>
            </a:r>
          </a:p>
        </p:txBody>
      </p:sp>
      <p:sp>
        <p:nvSpPr>
          <p:cNvPr id="14" name="P020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執行 verify</a:t>
            </a:r>
          </a:p>
          <a:p>
            <a:pPr algn="ctr">
              <a:lnSpc>
                <a:spcPct val="94000"/>
              </a:lnSpc>
              <a:spcBef>
                <a:spcPts val="0"/>
              </a:spcBef>
              <a:spcAft>
                <a:spcPts val="0"/>
              </a:spcAft>
            </a:pPr>
            <a:r>
              <a:rPr sz="1800" b="0" i="0">
                <a:solidFill>
                  <a:srgbClr val="25324A"/>
                </a:solidFill>
                <a:latin typeface="Times New Roman"/>
                <a:ea typeface="標楷體"/>
                <a:cs typeface="Times New Roman"/>
              </a:rPr>
              <a:t>預期看到 </a:t>
            </a:r>
            <a:r>
              <a:rPr sz="1800" b="0" i="1">
                <a:solidFill>
                  <a:srgbClr val="25324A"/>
                </a:solidFill>
                <a:latin typeface="Times New Roman"/>
                <a:ea typeface="標楷體"/>
                <a:cs typeface="Times New Roman"/>
              </a:rPr>
              <a:t>READY</a:t>
            </a:r>
          </a:p>
        </p:txBody>
      </p:sp>
      <p:sp>
        <p:nvSpPr>
          <p:cNvPr id="15" name="P020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0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④ 看什麼</a:t>
            </a:r>
          </a:p>
        </p:txBody>
      </p:sp>
      <p:sp>
        <p:nvSpPr>
          <p:cNvPr id="17" name="P020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核對 </a:t>
            </a:r>
            <a:r>
              <a:rPr sz="1700" b="0" i="1">
                <a:solidFill>
                  <a:srgbClr val="25324A"/>
                </a:solidFill>
                <a:latin typeface="Times New Roman"/>
                <a:ea typeface="標楷體"/>
                <a:cs typeface="Times New Roman"/>
              </a:rPr>
              <a:t>PYTHON_BIN</a:t>
            </a:r>
          </a:p>
          <a:p>
            <a:pPr algn="ctr">
              <a:lnSpc>
                <a:spcPct val="94000"/>
              </a:lnSpc>
              <a:spcBef>
                <a:spcPts val="0"/>
              </a:spcBef>
              <a:spcAft>
                <a:spcPts val="0"/>
              </a:spcAft>
            </a:pPr>
            <a:r>
              <a:rPr sz="1700" b="0" i="0">
                <a:solidFill>
                  <a:srgbClr val="25324A"/>
                </a:solidFill>
                <a:latin typeface="Times New Roman"/>
                <a:ea typeface="標楷體"/>
                <a:cs typeface="Times New Roman"/>
              </a:rPr>
              <a:t>版本與路徑一致</a:t>
            </a:r>
          </a:p>
        </p:txBody>
      </p:sp>
      <p:sp>
        <p:nvSpPr>
          <p:cNvPr id="18" name="P020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指定版本 → 建立隔離環境 → READY；此時尚無案例結果</a:t>
            </a:r>
          </a:p>
        </p:txBody>
      </p:sp>
      <p:sp>
        <p:nvSpPr>
          <p:cNvPr id="19" name="Field contract PYTHON_BIN"/>
          <p:cNvSpPr/>
          <p:nvPr/>
        </p:nvSpPr>
        <p:spPr>
          <a:xfrm>
            <a:off x="804672" y="4956048"/>
            <a:ext cx="10561320" cy="822960"/>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PYTHON_BIN</a:t>
            </a:r>
            <a:r>
              <a:rPr sz="1800" b="0" i="0">
                <a:solidFill>
                  <a:srgbClr val="25356B"/>
                </a:solidFill>
                <a:latin typeface="Times New Roman"/>
                <a:ea typeface="標楷體"/>
                <a:cs typeface="Times New Roman"/>
              </a:rPr>
              <a:t>（Python 執行器路徑變數）｜來源：命令工具設定｜作用：指定要使用的版本</a:t>
            </a:r>
          </a:p>
          <a:p>
            <a:pPr algn="l">
              <a:lnSpc>
                <a:spcPct val="90000"/>
              </a:lnSpc>
              <a:spcBef>
                <a:spcPts val="0"/>
              </a:spcBef>
              <a:spcAft>
                <a:spcPts val="0"/>
              </a:spcAft>
            </a:pPr>
            <a:r>
              <a:rPr sz="1800" b="0" i="0">
                <a:solidFill>
                  <a:srgbClr val="25356B"/>
                </a:solidFill>
                <a:latin typeface="Times New Roman"/>
                <a:ea typeface="標楷體"/>
                <a:cs typeface="Times New Roman"/>
              </a:rPr>
              <a:t>單位：路徑文字｜判讀：供建立環境的命令讀取</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P021a｜READY 只代表環境可用</a:t>
            </a:r>
          </a:p>
        </p:txBody>
      </p:sp>
      <p:sp>
        <p:nvSpPr>
          <p:cNvPr id="4" name="Content Placeholder 3"/>
          <p:cNvSpPr>
            <a:spLocks noGrp="1"/>
          </p:cNvSpPr>
          <p:nvPr>
            <p:ph idx="10"/>
          </p:nvPr>
        </p:nvSpPr>
        <p:spPr/>
        <p:txBody>
          <a:bodyPr/>
          <a:lstStyle/>
          <a:p/>
        </p:txBody>
      </p:sp>
      <p:sp>
        <p:nvSpPr>
          <p:cNvPr id="5" name="P021a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這一步只讀環境收據；它不是案例結果，也不會改程式</a:t>
            </a:r>
          </a:p>
        </p:txBody>
      </p:sp>
      <p:sp>
        <p:nvSpPr>
          <p:cNvPr id="6" name="P021a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1a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做什麼</a:t>
            </a:r>
          </a:p>
        </p:txBody>
      </p:sp>
      <p:sp>
        <p:nvSpPr>
          <p:cNvPr id="8" name="P021a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讀取同一份收據</a:t>
            </a:r>
          </a:p>
          <a:p>
            <a:pPr algn="ctr">
              <a:lnSpc>
                <a:spcPct val="94000"/>
              </a:lnSpc>
              <a:spcBef>
                <a:spcPts val="0"/>
              </a:spcBef>
              <a:spcAft>
                <a:spcPts val="0"/>
              </a:spcAft>
            </a:pPr>
            <a:r>
              <a:rPr sz="1800" b="0" i="0">
                <a:solidFill>
                  <a:srgbClr val="25324A"/>
                </a:solidFill>
                <a:latin typeface="Times New Roman"/>
                <a:ea typeface="標楷體"/>
                <a:cs typeface="Times New Roman"/>
              </a:rPr>
              <a:t>不修改檔案</a:t>
            </a:r>
          </a:p>
        </p:txBody>
      </p:sp>
      <p:sp>
        <p:nvSpPr>
          <p:cNvPr id="9" name="P021a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1a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② 讀哪個檔</a:t>
            </a:r>
          </a:p>
        </p:txBody>
      </p:sp>
      <p:sp>
        <p:nvSpPr>
          <p:cNvPr id="11" name="P021a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環境收據</a:t>
            </a:r>
          </a:p>
          <a:p>
            <a:pPr algn="ctr">
              <a:lnSpc>
                <a:spcPct val="94000"/>
              </a:lnSpc>
              <a:spcBef>
                <a:spcPts val="0"/>
              </a:spcBef>
              <a:spcAft>
                <a:spcPts val="0"/>
              </a:spcAft>
            </a:pPr>
            <a:r>
              <a:rPr sz="1800" b="0" i="1">
                <a:solidFill>
                  <a:srgbClr val="25324A"/>
                </a:solidFill>
                <a:latin typeface="Times New Roman"/>
                <a:ea typeface="標楷體"/>
                <a:cs typeface="Times New Roman"/>
              </a:rPr>
              <a:t>verify-receipt.json</a:t>
            </a:r>
          </a:p>
        </p:txBody>
      </p:sp>
      <p:sp>
        <p:nvSpPr>
          <p:cNvPr id="12" name="P021a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1a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③ 下一步</a:t>
            </a:r>
          </a:p>
        </p:txBody>
      </p:sp>
      <p:sp>
        <p:nvSpPr>
          <p:cNvPr id="14" name="P021a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三種工具選一個</a:t>
            </a:r>
          </a:p>
          <a:p>
            <a:pPr algn="ctr">
              <a:lnSpc>
                <a:spcPct val="94000"/>
              </a:lnSpc>
              <a:spcBef>
                <a:spcPts val="0"/>
              </a:spcBef>
              <a:spcAft>
                <a:spcPts val="0"/>
              </a:spcAft>
            </a:pPr>
            <a:r>
              <a:rPr sz="1700" b="0" i="0">
                <a:solidFill>
                  <a:srgbClr val="25324A"/>
                </a:solidFill>
                <a:latin typeface="Times New Roman"/>
                <a:ea typeface="標楷體"/>
                <a:cs typeface="Times New Roman"/>
              </a:rPr>
              <a:t>只做讀取再進案例</a:t>
            </a:r>
          </a:p>
        </p:txBody>
      </p:sp>
      <p:sp>
        <p:nvSpPr>
          <p:cNvPr id="15" name="P021a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1a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④ 看什麼</a:t>
            </a:r>
          </a:p>
        </p:txBody>
      </p:sp>
      <p:sp>
        <p:nvSpPr>
          <p:cNvPr id="17" name="P021a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狀態、版本、身份</a:t>
            </a:r>
          </a:p>
          <a:p>
            <a:pPr algn="ctr">
              <a:lnSpc>
                <a:spcPct val="94000"/>
              </a:lnSpc>
              <a:spcBef>
                <a:spcPts val="0"/>
              </a:spcBef>
              <a:spcAft>
                <a:spcPts val="0"/>
              </a:spcAft>
            </a:pPr>
            <a:r>
              <a:rPr sz="1700" b="0" i="0">
                <a:solidFill>
                  <a:srgbClr val="25324A"/>
                </a:solidFill>
                <a:latin typeface="Times New Roman"/>
                <a:ea typeface="標楷體"/>
                <a:cs typeface="Times New Roman"/>
              </a:rPr>
              <a:t>一致才算 READY</a:t>
            </a:r>
          </a:p>
        </p:txBody>
      </p:sp>
      <p:sp>
        <p:nvSpPr>
          <p:cNvPr id="18" name="P021a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不同工具只是在讀同一張收據；檔案內容與來源不變</a:t>
            </a:r>
          </a:p>
        </p:txBody>
      </p:sp>
      <p:sp>
        <p:nvSpPr>
          <p:cNvPr id="19" name="Field contract verify-receipt.json"/>
          <p:cNvSpPr/>
          <p:nvPr/>
        </p:nvSpPr>
        <p:spPr>
          <a:xfrm>
            <a:off x="804672" y="4956048"/>
            <a:ext cx="10561320" cy="822960"/>
          </a:xfrm>
          <a:prstGeom prst="roundRect">
            <a:avLst/>
          </a:prstGeom>
          <a:solidFill>
            <a:srgbClr val="F7F8FC"/>
          </a:solidFill>
          <a:ln w="1270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verify-receipt.json</a:t>
            </a:r>
            <a:r>
              <a:rPr sz="1800" b="0" i="0">
                <a:solidFill>
                  <a:srgbClr val="25356B"/>
                </a:solidFill>
                <a:latin typeface="Times New Roman"/>
                <a:ea typeface="標楷體"/>
                <a:cs typeface="Times New Roman"/>
              </a:rPr>
              <a:t>（驗證收據檔）｜來源：環境檢查命令｜作用：記錄環境與契約關卡</a:t>
            </a:r>
          </a:p>
          <a:p>
            <a:pPr algn="l">
              <a:lnSpc>
                <a:spcPct val="90000"/>
              </a:lnSpc>
              <a:spcBef>
                <a:spcPts val="0"/>
              </a:spcBef>
              <a:spcAft>
                <a:spcPts val="0"/>
              </a:spcAft>
            </a:pPr>
            <a:r>
              <a:rPr sz="1800" b="0" i="0">
                <a:solidFill>
                  <a:srgbClr val="25356B"/>
                </a:solidFill>
                <a:latin typeface="Times New Roman"/>
                <a:ea typeface="標楷體"/>
                <a:cs typeface="Times New Roman"/>
              </a:rPr>
              <a:t>單位：JSON 檔案｜判讀：只解讀環境證據，不代替案例結果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P021b｜確認環境與案例身份</a:t>
            </a:r>
          </a:p>
        </p:txBody>
      </p:sp>
      <p:sp>
        <p:nvSpPr>
          <p:cNvPr id="4" name="Content Placeholder 3"/>
          <p:cNvSpPr>
            <a:spLocks noGrp="1"/>
          </p:cNvSpPr>
          <p:nvPr>
            <p:ph idx="10"/>
          </p:nvPr>
        </p:nvSpPr>
        <p:spPr/>
        <p:txBody>
          <a:bodyPr/>
          <a:lstStyle/>
          <a:p/>
        </p:txBody>
      </p:sp>
      <p:sp>
        <p:nvSpPr>
          <p:cNvPr id="5" name="P021b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這一步確認能不能進案例，以及案例是否綁定正確情境</a:t>
            </a:r>
          </a:p>
        </p:txBody>
      </p:sp>
      <p:sp>
        <p:nvSpPr>
          <p:cNvPr id="6" name="P021b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1b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狀態</a:t>
            </a:r>
          </a:p>
        </p:txBody>
      </p:sp>
      <p:sp>
        <p:nvSpPr>
          <p:cNvPr id="8" name="P021b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1">
                <a:solidFill>
                  <a:srgbClr val="25324A"/>
                </a:solidFill>
                <a:latin typeface="Times New Roman"/>
                <a:ea typeface="標楷體"/>
                <a:cs typeface="Times New Roman"/>
              </a:rPr>
              <a:t>status</a:t>
            </a:r>
            <a:r>
              <a:rPr sz="1800" b="0" i="0">
                <a:solidFill>
                  <a:srgbClr val="25324A"/>
                </a:solidFill>
                <a:latin typeface="Times New Roman"/>
                <a:ea typeface="標楷體"/>
                <a:cs typeface="Times New Roman"/>
              </a:rPr>
              <a:t> 必須 READY</a:t>
            </a:r>
          </a:p>
          <a:p>
            <a:pPr algn="ctr">
              <a:lnSpc>
                <a:spcPct val="94000"/>
              </a:lnSpc>
              <a:spcBef>
                <a:spcPts val="0"/>
              </a:spcBef>
              <a:spcAft>
                <a:spcPts val="0"/>
              </a:spcAft>
            </a:pPr>
            <a:r>
              <a:rPr sz="1800" b="0" i="0">
                <a:solidFill>
                  <a:srgbClr val="25324A"/>
                </a:solidFill>
                <a:latin typeface="Times New Roman"/>
                <a:ea typeface="標楷體"/>
                <a:cs typeface="Times New Roman"/>
              </a:rPr>
              <a:t>否則不能 run</a:t>
            </a:r>
          </a:p>
        </p:txBody>
      </p:sp>
      <p:sp>
        <p:nvSpPr>
          <p:cNvPr id="9" name="P021b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1b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007374"/>
                </a:solidFill>
                <a:latin typeface="Times New Roman"/>
                <a:ea typeface="標楷體"/>
                <a:cs typeface="Times New Roman"/>
              </a:rPr>
              <a:t>② 版本</a:t>
            </a:r>
          </a:p>
        </p:txBody>
      </p:sp>
      <p:sp>
        <p:nvSpPr>
          <p:cNvPr id="11" name="P021b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Python 必須 3.11.x</a:t>
            </a:r>
          </a:p>
          <a:p>
            <a:pPr algn="ctr">
              <a:lnSpc>
                <a:spcPct val="94000"/>
              </a:lnSpc>
              <a:spcBef>
                <a:spcPts val="0"/>
              </a:spcBef>
              <a:spcAft>
                <a:spcPts val="0"/>
              </a:spcAft>
            </a:pPr>
            <a:r>
              <a:rPr sz="1800" b="0" i="0">
                <a:solidFill>
                  <a:srgbClr val="25324A"/>
                </a:solidFill>
                <a:latin typeface="Times New Roman"/>
                <a:ea typeface="標楷體"/>
                <a:cs typeface="Times New Roman"/>
              </a:rPr>
              <a:t>不改 policy</a:t>
            </a:r>
          </a:p>
        </p:txBody>
      </p:sp>
      <p:sp>
        <p:nvSpPr>
          <p:cNvPr id="12" name="P021b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1b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③ 情境</a:t>
            </a:r>
          </a:p>
        </p:txBody>
      </p:sp>
      <p:sp>
        <p:nvSpPr>
          <p:cNvPr id="14" name="P021b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固定案例身份</a:t>
            </a:r>
          </a:p>
          <a:p>
            <a:pPr algn="ctr">
              <a:lnSpc>
                <a:spcPct val="94000"/>
              </a:lnSpc>
              <a:spcBef>
                <a:spcPts val="0"/>
              </a:spcBef>
              <a:spcAft>
                <a:spcPts val="0"/>
              </a:spcAft>
            </a:pPr>
            <a:r>
              <a:rPr sz="1800" b="0" i="1">
                <a:solidFill>
                  <a:srgbClr val="25324A"/>
                </a:solidFill>
                <a:latin typeface="Times New Roman"/>
                <a:ea typeface="標楷體"/>
                <a:cs typeface="Times New Roman"/>
              </a:rPr>
              <a:t>scenario_id</a:t>
            </a:r>
          </a:p>
        </p:txBody>
      </p:sp>
      <p:sp>
        <p:nvSpPr>
          <p:cNvPr id="15" name="P021b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1b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④ 下一步／證據</a:t>
            </a:r>
          </a:p>
        </p:txBody>
      </p:sp>
      <p:sp>
        <p:nvSpPr>
          <p:cNvPr id="17" name="P021b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一致才執行 run</a:t>
            </a:r>
          </a:p>
          <a:p>
            <a:pPr algn="ctr">
              <a:lnSpc>
                <a:spcPct val="94000"/>
              </a:lnSpc>
              <a:spcBef>
                <a:spcPts val="0"/>
              </a:spcBef>
              <a:spcAft>
                <a:spcPts val="0"/>
              </a:spcAft>
            </a:pPr>
            <a:r>
              <a:rPr sz="1700" b="0" i="0">
                <a:solidFill>
                  <a:srgbClr val="25324A"/>
                </a:solidFill>
                <a:latin typeface="Times New Roman"/>
                <a:ea typeface="標楷體"/>
                <a:cs typeface="Times New Roman"/>
              </a:rPr>
              <a:t>結果另看 </a:t>
            </a:r>
            <a:r>
              <a:rPr sz="1700" b="0" i="1">
                <a:solidFill>
                  <a:srgbClr val="25324A"/>
                </a:solidFill>
                <a:latin typeface="Times New Roman"/>
                <a:ea typeface="標楷體"/>
                <a:cs typeface="Times New Roman"/>
              </a:rPr>
              <a:t>result.json</a:t>
            </a:r>
          </a:p>
        </p:txBody>
      </p:sp>
      <p:sp>
        <p:nvSpPr>
          <p:cNvPr id="18" name="P021b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READY 只代表環境可用；服務與能量要等案例結果</a:t>
            </a:r>
          </a:p>
        </p:txBody>
      </p:sp>
      <p:sp>
        <p:nvSpPr>
          <p:cNvPr id="19" name="Field contract status"/>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status</a:t>
            </a:r>
            <a:r>
              <a:rPr sz="1800" b="0" i="0">
                <a:solidFill>
                  <a:srgbClr val="25356B"/>
                </a:solidFill>
                <a:latin typeface="Times New Roman"/>
                <a:ea typeface="標楷體"/>
                <a:cs typeface="Times New Roman"/>
              </a:rPr>
              <a:t>（狀態）｜來源：驗證收據｜作用：表示關卡是否可進入案例</a:t>
            </a:r>
          </a:p>
          <a:p>
            <a:pPr algn="l">
              <a:lnSpc>
                <a:spcPct val="90000"/>
              </a:lnSpc>
              <a:spcBef>
                <a:spcPts val="0"/>
              </a:spcBef>
              <a:spcAft>
                <a:spcPts val="0"/>
              </a:spcAft>
            </a:pPr>
            <a:r>
              <a:rPr sz="1800" b="0" i="0">
                <a:solidFill>
                  <a:srgbClr val="25356B"/>
                </a:solidFill>
                <a:latin typeface="Times New Roman"/>
                <a:ea typeface="標楷體"/>
                <a:cs typeface="Times New Roman"/>
              </a:rPr>
              <a:t>單位：狀態值｜判讀：通過只表示環境與契約一致</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P021c｜說清資料來源與主張邊界</a:t>
            </a:r>
          </a:p>
        </p:txBody>
      </p:sp>
      <p:sp>
        <p:nvSpPr>
          <p:cNvPr id="4" name="Content Placeholder 3"/>
          <p:cNvSpPr>
            <a:spLocks noGrp="1"/>
          </p:cNvSpPr>
          <p:nvPr>
            <p:ph idx="10"/>
          </p:nvPr>
        </p:nvSpPr>
        <p:spPr/>
        <p:txBody>
          <a:bodyPr/>
          <a:lstStyle/>
          <a:p/>
        </p:txBody>
      </p:sp>
      <p:sp>
        <p:nvSpPr>
          <p:cNvPr id="5" name="P021c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這一步標明資料來源；主張邊界比漂亮數字更重要</a:t>
            </a:r>
          </a:p>
        </p:txBody>
      </p:sp>
      <p:sp>
        <p:nvSpPr>
          <p:cNvPr id="6" name="P021c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1c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資料模式</a:t>
            </a:r>
          </a:p>
        </p:txBody>
      </p:sp>
      <p:sp>
        <p:nvSpPr>
          <p:cNvPr id="8" name="P021c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課程使用模擬資料</a:t>
            </a:r>
          </a:p>
          <a:p>
            <a:pPr algn="ctr">
              <a:lnSpc>
                <a:spcPct val="94000"/>
              </a:lnSpc>
              <a:spcBef>
                <a:spcPts val="0"/>
              </a:spcBef>
              <a:spcAft>
                <a:spcPts val="0"/>
              </a:spcAft>
            </a:pPr>
            <a:r>
              <a:rPr sz="1800" b="0" i="1">
                <a:solidFill>
                  <a:srgbClr val="25324A"/>
                </a:solidFill>
                <a:latin typeface="Times New Roman"/>
                <a:ea typeface="標楷體"/>
                <a:cs typeface="Times New Roman"/>
              </a:rPr>
              <a:t>engine_mode</a:t>
            </a:r>
          </a:p>
        </p:txBody>
      </p:sp>
      <p:sp>
        <p:nvSpPr>
          <p:cNvPr id="9" name="P021c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1c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② 是否實跑</a:t>
            </a:r>
          </a:p>
        </p:txBody>
      </p:sp>
      <p:sp>
        <p:nvSpPr>
          <p:cNvPr id="11" name="P021c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沒有執行上游程式</a:t>
            </a:r>
          </a:p>
          <a:p>
            <a:pPr algn="ctr">
              <a:lnSpc>
                <a:spcPct val="94000"/>
              </a:lnSpc>
              <a:spcBef>
                <a:spcPts val="0"/>
              </a:spcBef>
              <a:spcAft>
                <a:spcPts val="0"/>
              </a:spcAft>
            </a:pPr>
            <a:r>
              <a:rPr sz="1800" b="0" i="1">
                <a:solidFill>
                  <a:srgbClr val="25324A"/>
                </a:solidFill>
                <a:latin typeface="Times New Roman"/>
                <a:ea typeface="標楷體"/>
                <a:cs typeface="Times New Roman"/>
              </a:rPr>
              <a:t>false</a:t>
            </a:r>
          </a:p>
        </p:txBody>
      </p:sp>
      <p:sp>
        <p:nvSpPr>
          <p:cNvPr id="12" name="P021c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1c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③ 不可超出</a:t>
            </a:r>
          </a:p>
        </p:txBody>
      </p:sp>
      <p:sp>
        <p:nvSpPr>
          <p:cNvPr id="14" name="P021c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非即時、非實測</a:t>
            </a:r>
          </a:p>
          <a:p>
            <a:pPr algn="ctr">
              <a:lnSpc>
                <a:spcPct val="94000"/>
              </a:lnSpc>
              <a:spcBef>
                <a:spcPts val="0"/>
              </a:spcBef>
              <a:spcAft>
                <a:spcPts val="0"/>
              </a:spcAft>
            </a:pPr>
            <a:r>
              <a:rPr sz="1700" b="0" i="0">
                <a:solidFill>
                  <a:srgbClr val="25324A"/>
                </a:solidFill>
                <a:latin typeface="Times New Roman"/>
                <a:ea typeface="標楷體"/>
                <a:cs typeface="Times New Roman"/>
              </a:rPr>
              <a:t>不叫 canonical</a:t>
            </a:r>
          </a:p>
        </p:txBody>
      </p:sp>
      <p:sp>
        <p:nvSpPr>
          <p:cNvPr id="15" name="P021c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1c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④ 下一步／證據</a:t>
            </a:r>
          </a:p>
        </p:txBody>
      </p:sp>
      <p:sp>
        <p:nvSpPr>
          <p:cNvPr id="17" name="P021c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run 另產生 identity</a:t>
            </a:r>
          </a:p>
          <a:p>
            <a:pPr algn="ctr">
              <a:lnSpc>
                <a:spcPct val="94000"/>
              </a:lnSpc>
              <a:spcBef>
                <a:spcPts val="0"/>
              </a:spcBef>
              <a:spcAft>
                <a:spcPts val="0"/>
              </a:spcAft>
            </a:pPr>
            <a:r>
              <a:rPr sz="1700" b="0" i="0">
                <a:solidFill>
                  <a:srgbClr val="25324A"/>
                </a:solidFill>
                <a:latin typeface="Times New Roman"/>
                <a:ea typeface="標楷體"/>
                <a:cs typeface="Times New Roman"/>
              </a:rPr>
              <a:t>讀 </a:t>
            </a:r>
            <a:r>
              <a:rPr sz="1700" b="0" i="1">
                <a:solidFill>
                  <a:srgbClr val="25324A"/>
                </a:solidFill>
                <a:latin typeface="Times New Roman"/>
                <a:ea typeface="標楷體"/>
                <a:cs typeface="Times New Roman"/>
              </a:rPr>
              <a:t>artifact_source</a:t>
            </a:r>
          </a:p>
        </p:txBody>
      </p:sp>
      <p:sp>
        <p:nvSpPr>
          <p:cNvPr id="18" name="P021c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先標資料來源，再決定能說到哪裡；不能把模擬說成實測</a:t>
            </a:r>
          </a:p>
        </p:txBody>
      </p:sp>
      <p:sp>
        <p:nvSpPr>
          <p:cNvPr id="19" name="Field contract engine_mode"/>
          <p:cNvSpPr/>
          <p:nvPr/>
        </p:nvSpPr>
        <p:spPr>
          <a:xfrm>
            <a:off x="804672" y="4956048"/>
            <a:ext cx="10561320" cy="822960"/>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engine_mode</a:t>
            </a:r>
            <a:r>
              <a:rPr sz="1800" b="0" i="0">
                <a:solidFill>
                  <a:srgbClr val="25356B"/>
                </a:solidFill>
                <a:latin typeface="Times New Roman"/>
                <a:ea typeface="標楷體"/>
                <a:cs typeface="Times New Roman"/>
              </a:rPr>
              <a:t>（執行模式）｜來源：執行器紀錄｜作用：分類資料產生方式</a:t>
            </a:r>
          </a:p>
          <a:p>
            <a:pPr algn="l">
              <a:lnSpc>
                <a:spcPct val="90000"/>
              </a:lnSpc>
              <a:spcBef>
                <a:spcPts val="0"/>
              </a:spcBef>
              <a:spcAft>
                <a:spcPts val="0"/>
              </a:spcAft>
            </a:pPr>
            <a:r>
              <a:rPr sz="1800" b="0" i="0">
                <a:solidFill>
                  <a:srgbClr val="25356B"/>
                </a:solidFill>
                <a:latin typeface="Times New Roman"/>
                <a:ea typeface="標楷體"/>
                <a:cs typeface="Times New Roman"/>
              </a:rPr>
              <a:t>單位：模式值｜判讀：模擬資料不延伸成上游程式執行</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P022｜卡住時修復或保留來源</a:t>
            </a:r>
          </a:p>
        </p:txBody>
      </p:sp>
      <p:sp>
        <p:nvSpPr>
          <p:cNvPr id="4" name="Content Placeholder 3"/>
          <p:cNvSpPr>
            <a:spLocks noGrp="1"/>
          </p:cNvSpPr>
          <p:nvPr>
            <p:ph idx="10"/>
          </p:nvPr>
        </p:nvSpPr>
        <p:spPr/>
        <p:txBody>
          <a:bodyPr/>
          <a:lstStyle/>
          <a:p/>
        </p:txBody>
      </p:sp>
      <p:sp>
        <p:nvSpPr>
          <p:cNvPr id="5" name="P022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這一步處理卡關：修得好就重跑，修不好也不冒充本機執行</a:t>
            </a:r>
          </a:p>
        </p:txBody>
      </p:sp>
      <p:sp>
        <p:nvSpPr>
          <p:cNvPr id="6" name="P022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2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正常</a:t>
            </a:r>
          </a:p>
        </p:txBody>
      </p:sp>
      <p:sp>
        <p:nvSpPr>
          <p:cNvPr id="8" name="P022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READY 後執行案例</a:t>
            </a:r>
          </a:p>
          <a:p>
            <a:pPr algn="ctr">
              <a:lnSpc>
                <a:spcPct val="94000"/>
              </a:lnSpc>
              <a:spcBef>
                <a:spcPts val="0"/>
              </a:spcBef>
              <a:spcAft>
                <a:spcPts val="0"/>
              </a:spcAft>
            </a:pPr>
            <a:r>
              <a:rPr sz="1800" b="0" i="0">
                <a:solidFill>
                  <a:srgbClr val="25324A"/>
                </a:solidFill>
                <a:latin typeface="Times New Roman"/>
                <a:ea typeface="標楷體"/>
                <a:cs typeface="Times New Roman"/>
              </a:rPr>
              <a:t>產生新結果</a:t>
            </a:r>
          </a:p>
        </p:txBody>
      </p:sp>
      <p:sp>
        <p:nvSpPr>
          <p:cNvPr id="9" name="P022 beginner card 2"/>
          <p:cNvSpPr/>
          <p:nvPr/>
        </p:nvSpPr>
        <p:spPr>
          <a:xfrm>
            <a:off x="363016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2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② 修復什麼</a:t>
            </a:r>
          </a:p>
        </p:txBody>
      </p:sp>
      <p:sp>
        <p:nvSpPr>
          <p:cNvPr id="11" name="P022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只修 Python、root、lock</a:t>
            </a:r>
          </a:p>
          <a:p>
            <a:pPr algn="ctr">
              <a:lnSpc>
                <a:spcPct val="94000"/>
              </a:lnSpc>
              <a:spcBef>
                <a:spcPts val="0"/>
              </a:spcBef>
              <a:spcAft>
                <a:spcPts val="0"/>
              </a:spcAft>
            </a:pPr>
            <a:r>
              <a:rPr sz="1700" b="0" i="0">
                <a:solidFill>
                  <a:srgbClr val="25324A"/>
                </a:solidFill>
                <a:latin typeface="Times New Roman"/>
                <a:ea typeface="標楷體"/>
                <a:cs typeface="Times New Roman"/>
              </a:rPr>
              <a:t>不改 policy block</a:t>
            </a:r>
          </a:p>
        </p:txBody>
      </p:sp>
      <p:sp>
        <p:nvSpPr>
          <p:cNvPr id="12" name="P022 beginner card 3"/>
          <p:cNvSpPr/>
          <p:nvPr/>
        </p:nvSpPr>
        <p:spPr>
          <a:xfrm>
            <a:off x="641908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2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③ 回復什麼</a:t>
            </a:r>
          </a:p>
        </p:txBody>
      </p:sp>
      <p:sp>
        <p:nvSpPr>
          <p:cNvPr id="14" name="P022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同情境結果成對保存</a:t>
            </a:r>
          </a:p>
          <a:p>
            <a:pPr algn="ctr">
              <a:lnSpc>
                <a:spcPct val="94000"/>
              </a:lnSpc>
              <a:spcBef>
                <a:spcPts val="0"/>
              </a:spcBef>
              <a:spcAft>
                <a:spcPts val="0"/>
              </a:spcAft>
            </a:pPr>
            <a:r>
              <a:rPr sz="1600" b="0" i="1">
                <a:solidFill>
                  <a:srgbClr val="25324A"/>
                </a:solidFill>
                <a:latin typeface="Times New Roman"/>
                <a:ea typeface="標楷體"/>
                <a:cs typeface="Times New Roman"/>
              </a:rPr>
              <a:t>result.json</a:t>
            </a:r>
            <a:r>
              <a:rPr sz="1600" b="0" i="0">
                <a:solidFill>
                  <a:srgbClr val="25324A"/>
                </a:solidFill>
                <a:latin typeface="Times New Roman"/>
                <a:ea typeface="標楷體"/>
                <a:cs typeface="Times New Roman"/>
              </a:rPr>
              <a:t>／</a:t>
            </a:r>
            <a:r>
              <a:rPr sz="1600" b="0" i="1">
                <a:solidFill>
                  <a:srgbClr val="25324A"/>
                </a:solidFill>
                <a:latin typeface="Times New Roman"/>
                <a:ea typeface="標楷體"/>
                <a:cs typeface="Times New Roman"/>
              </a:rPr>
              <a:t>endpoint-replay.json</a:t>
            </a:r>
          </a:p>
        </p:txBody>
      </p:sp>
      <p:sp>
        <p:nvSpPr>
          <p:cNvPr id="15" name="P022 beginner card 4"/>
          <p:cNvSpPr/>
          <p:nvPr/>
        </p:nvSpPr>
        <p:spPr>
          <a:xfrm>
            <a:off x="920800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2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④ 看什麼</a:t>
            </a:r>
          </a:p>
        </p:txBody>
      </p:sp>
      <p:sp>
        <p:nvSpPr>
          <p:cNvPr id="17" name="P022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讀 </a:t>
            </a:r>
            <a:r>
              <a:rPr sz="1700" b="0" i="1">
                <a:solidFill>
                  <a:srgbClr val="25324A"/>
                </a:solidFill>
                <a:latin typeface="Times New Roman"/>
                <a:ea typeface="標楷體"/>
                <a:cs typeface="Times New Roman"/>
              </a:rPr>
              <a:t>artifact_source</a:t>
            </a:r>
          </a:p>
          <a:p>
            <a:pPr algn="ctr">
              <a:lnSpc>
                <a:spcPct val="94000"/>
              </a:lnSpc>
              <a:spcBef>
                <a:spcPts val="0"/>
              </a:spcBef>
              <a:spcAft>
                <a:spcPts val="0"/>
              </a:spcAft>
            </a:pPr>
            <a:r>
              <a:rPr sz="1700" b="0" i="0">
                <a:solidFill>
                  <a:srgbClr val="25324A"/>
                </a:solidFill>
                <a:latin typeface="Times New Roman"/>
                <a:ea typeface="標楷體"/>
                <a:cs typeface="Times New Roman"/>
              </a:rPr>
              <a:t>判斷本機或回復</a:t>
            </a:r>
          </a:p>
        </p:txBody>
      </p:sp>
      <p:sp>
        <p:nvSpPr>
          <p:cNvPr id="18" name="P022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修復不改策略；回復不冒充本機執行</a:t>
            </a:r>
          </a:p>
        </p:txBody>
      </p:sp>
      <p:sp>
        <p:nvSpPr>
          <p:cNvPr id="19" name="Field contract artifact_source"/>
          <p:cNvSpPr/>
          <p:nvPr/>
        </p:nvSpPr>
        <p:spPr>
          <a:xfrm>
            <a:off x="804672" y="4956048"/>
            <a:ext cx="10561320" cy="822960"/>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artifact_source</a:t>
            </a:r>
            <a:r>
              <a:rPr sz="1800" b="0" i="0">
                <a:solidFill>
                  <a:srgbClr val="25356B"/>
                </a:solidFill>
                <a:latin typeface="Times New Roman"/>
                <a:ea typeface="標楷體"/>
                <a:cs typeface="Times New Roman"/>
              </a:rPr>
              <a:t>（資料來源分類）｜來源：結果紀錄｜作用：標示本機執行或回復資料</a:t>
            </a:r>
          </a:p>
          <a:p>
            <a:pPr algn="l">
              <a:lnSpc>
                <a:spcPct val="90000"/>
              </a:lnSpc>
              <a:spcBef>
                <a:spcPts val="0"/>
              </a:spcBef>
              <a:spcAft>
                <a:spcPts val="0"/>
              </a:spcAft>
            </a:pPr>
            <a:r>
              <a:rPr sz="1800" b="0" i="0">
                <a:solidFill>
                  <a:srgbClr val="25356B"/>
                </a:solidFill>
                <a:latin typeface="Times New Roman"/>
                <a:ea typeface="標楷體"/>
                <a:cs typeface="Times New Roman"/>
              </a:rPr>
              <a:t>單位：來源值｜判讀：來源模式保持原值，不改寫成本機執行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P023｜只可修改三個標記區塊</a:t>
            </a:r>
          </a:p>
        </p:txBody>
      </p:sp>
      <p:sp>
        <p:nvSpPr>
          <p:cNvPr id="4" name="Content Placeholder 3"/>
          <p:cNvSpPr>
            <a:spLocks noGrp="1"/>
          </p:cNvSpPr>
          <p:nvPr>
            <p:ph idx="10"/>
          </p:nvPr>
        </p:nvSpPr>
        <p:spPr/>
        <p:txBody>
          <a:bodyPr/>
          <a:lstStyle/>
          <a:p/>
        </p:txBody>
      </p:sp>
      <p:sp>
        <p:nvSpPr>
          <p:cNvPr id="5" name="P023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這一步畫出可編輯邊界：三個實驗區可改，其他程式只讀</a:t>
            </a:r>
          </a:p>
        </p:txBody>
      </p:sp>
      <p:sp>
        <p:nvSpPr>
          <p:cNvPr id="6" name="P023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3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唯一檔案</a:t>
            </a:r>
          </a:p>
        </p:txBody>
      </p:sp>
      <p:sp>
        <p:nvSpPr>
          <p:cNvPr id="8" name="P023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只在這裡做實驗</a:t>
            </a:r>
          </a:p>
          <a:p>
            <a:pPr algn="ctr">
              <a:lnSpc>
                <a:spcPct val="94000"/>
              </a:lnSpc>
              <a:spcBef>
                <a:spcPts val="0"/>
              </a:spcBef>
              <a:spcAft>
                <a:spcPts val="0"/>
              </a:spcAft>
            </a:pPr>
            <a:r>
              <a:rPr sz="1800" b="0" i="1">
                <a:solidFill>
                  <a:srgbClr val="25324A"/>
                </a:solidFill>
                <a:latin typeface="Times New Roman"/>
                <a:ea typeface="標楷體"/>
                <a:cs typeface="Times New Roman"/>
              </a:rPr>
              <a:t>student_policy.py</a:t>
            </a:r>
          </a:p>
        </p:txBody>
      </p:sp>
      <p:sp>
        <p:nvSpPr>
          <p:cNvPr id="9" name="P023 beginner card 2"/>
          <p:cNvSpPr/>
          <p:nvPr/>
        </p:nvSpPr>
        <p:spPr>
          <a:xfrm>
            <a:off x="363016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3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② 可改區段</a:t>
            </a:r>
          </a:p>
        </p:txBody>
      </p:sp>
      <p:sp>
        <p:nvSpPr>
          <p:cNvPr id="11" name="P023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A／B／C 三個標記</a:t>
            </a:r>
          </a:p>
          <a:p>
            <a:pPr algn="ctr">
              <a:lnSpc>
                <a:spcPct val="94000"/>
              </a:lnSpc>
              <a:spcBef>
                <a:spcPts val="0"/>
              </a:spcBef>
              <a:spcAft>
                <a:spcPts val="0"/>
              </a:spcAft>
            </a:pPr>
            <a:r>
              <a:rPr sz="1800" b="0" i="1">
                <a:solidFill>
                  <a:srgbClr val="25324A"/>
                </a:solidFill>
                <a:latin typeface="Times New Roman"/>
                <a:ea typeface="標楷體"/>
                <a:cs typeface="Times New Roman"/>
              </a:rPr>
              <a:t>marked block</a:t>
            </a:r>
          </a:p>
        </p:txBody>
      </p:sp>
      <p:sp>
        <p:nvSpPr>
          <p:cNvPr id="12" name="P023 beginner card 3"/>
          <p:cNvSpPr/>
          <p:nvPr/>
        </p:nvSpPr>
        <p:spPr>
          <a:xfrm>
            <a:off x="641908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3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③ 保持不變</a:t>
            </a:r>
          </a:p>
        </p:txBody>
      </p:sp>
      <p:sp>
        <p:nvSpPr>
          <p:cNvPr id="14" name="P023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中文註解、函式、情境</a:t>
            </a:r>
          </a:p>
          <a:p>
            <a:pPr algn="ctr">
              <a:lnSpc>
                <a:spcPct val="94000"/>
              </a:lnSpc>
              <a:spcBef>
                <a:spcPts val="0"/>
              </a:spcBef>
              <a:spcAft>
                <a:spcPts val="0"/>
              </a:spcAft>
            </a:pPr>
            <a:r>
              <a:rPr sz="1700" b="0" i="0">
                <a:solidFill>
                  <a:srgbClr val="25324A"/>
                </a:solidFill>
                <a:latin typeface="Times New Roman"/>
                <a:ea typeface="標楷體"/>
                <a:cs typeface="Times New Roman"/>
              </a:rPr>
              <a:t>runner、schemas 不動</a:t>
            </a:r>
          </a:p>
        </p:txBody>
      </p:sp>
      <p:sp>
        <p:nvSpPr>
          <p:cNvPr id="15" name="P023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3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④ 下一步／證據</a:t>
            </a:r>
          </a:p>
        </p:txBody>
      </p:sp>
      <p:sp>
        <p:nvSpPr>
          <p:cNvPr id="17" name="P023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只開目前 lab</a:t>
            </a:r>
          </a:p>
          <a:p>
            <a:pPr algn="ctr">
              <a:lnSpc>
                <a:spcPct val="94000"/>
              </a:lnSpc>
              <a:spcBef>
                <a:spcPts val="0"/>
              </a:spcBef>
              <a:spcAft>
                <a:spcPts val="0"/>
              </a:spcAft>
            </a:pPr>
            <a:r>
              <a:rPr sz="1700" b="0" i="0">
                <a:solidFill>
                  <a:srgbClr val="25324A"/>
                </a:solidFill>
                <a:latin typeface="Times New Roman"/>
                <a:ea typeface="標楷體"/>
                <a:cs typeface="Times New Roman"/>
              </a:rPr>
              <a:t>結果仍看 result／replay</a:t>
            </a:r>
          </a:p>
        </p:txBody>
      </p:sp>
      <p:sp>
        <p:nvSpPr>
          <p:cNvPr id="18" name="P023 beginner causal strip"/>
          <p:cNvSpPr/>
          <p:nvPr/>
        </p:nvSpPr>
        <p:spPr>
          <a:xfrm>
            <a:off x="1133856" y="4224528"/>
            <a:ext cx="9948672" cy="5303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只開目前實驗區；其他檔案與輸出契約保持不變</a:t>
            </a:r>
          </a:p>
        </p:txBody>
      </p:sp>
      <p:sp>
        <p:nvSpPr>
          <p:cNvPr id="19" name="Field contract marked block"/>
          <p:cNvSpPr/>
          <p:nvPr/>
        </p:nvSpPr>
        <p:spPr>
          <a:xfrm>
            <a:off x="804672" y="4956048"/>
            <a:ext cx="10561320" cy="822960"/>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marked block</a:t>
            </a:r>
            <a:r>
              <a:rPr sz="1800" b="0" i="0">
                <a:solidFill>
                  <a:srgbClr val="25356B"/>
                </a:solidFill>
                <a:latin typeface="Times New Roman"/>
                <a:ea typeface="標楷體"/>
                <a:cs typeface="Times New Roman"/>
              </a:rPr>
              <a:t>（標記區段）｜來源：檔案標記｜作用：界定一個實驗的可編輯範圍</a:t>
            </a:r>
          </a:p>
          <a:p>
            <a:pPr algn="l">
              <a:lnSpc>
                <a:spcPct val="90000"/>
              </a:lnSpc>
              <a:spcBef>
                <a:spcPts val="0"/>
              </a:spcBef>
              <a:spcAft>
                <a:spcPts val="0"/>
              </a:spcAft>
            </a:pPr>
            <a:r>
              <a:rPr sz="1800" b="0" i="0">
                <a:solidFill>
                  <a:srgbClr val="25356B"/>
                </a:solidFill>
                <a:latin typeface="Times New Roman"/>
                <a:ea typeface="標楷體"/>
                <a:cs typeface="Times New Roman"/>
              </a:rPr>
              <a:t>單位：程式碼區段｜判讀：其他套件邊界維持唯讀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P024a｜程式每次判斷會看什麼</a:t>
            </a:r>
          </a:p>
        </p:txBody>
      </p:sp>
      <p:sp>
        <p:nvSpPr>
          <p:cNvPr id="4" name="Content Placeholder 3"/>
          <p:cNvSpPr>
            <a:spLocks noGrp="1"/>
          </p:cNvSpPr>
          <p:nvPr>
            <p:ph idx="10"/>
          </p:nvPr>
        </p:nvSpPr>
        <p:spPr/>
        <p:txBody>
          <a:bodyPr/>
          <a:lstStyle/>
          <a:p/>
        </p:txBody>
      </p:sp>
      <p:sp>
        <p:nvSpPr>
          <p:cNvPr id="5" name="P024a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這一步先說清楚輸入：每個 step 只看目前／過去資料</a:t>
            </a:r>
          </a:p>
        </p:txBody>
      </p:sp>
      <p:sp>
        <p:nvSpPr>
          <p:cNvPr id="6" name="P024a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4a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① 讀目前資料</a:t>
            </a:r>
          </a:p>
        </p:txBody>
      </p:sp>
      <p:sp>
        <p:nvSpPr>
          <p:cNvPr id="8" name="P024a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窗口、急件、間隔、品質</a:t>
            </a:r>
          </a:p>
          <a:p>
            <a:pPr algn="ctr">
              <a:lnSpc>
                <a:spcPct val="94000"/>
              </a:lnSpc>
              <a:spcBef>
                <a:spcPts val="0"/>
              </a:spcBef>
              <a:spcAft>
                <a:spcPts val="0"/>
              </a:spcAft>
            </a:pPr>
            <a:r>
              <a:rPr sz="1700" b="0" i="0">
                <a:solidFill>
                  <a:srgbClr val="25324A"/>
                </a:solidFill>
                <a:latin typeface="Times New Roman"/>
                <a:ea typeface="標楷體"/>
                <a:cs typeface="Times New Roman"/>
              </a:rPr>
              <a:t>都是當下 snapshot</a:t>
            </a:r>
          </a:p>
        </p:txBody>
      </p:sp>
      <p:sp>
        <p:nvSpPr>
          <p:cNvPr id="9" name="P024a beginner card 2"/>
          <p:cNvSpPr/>
          <p:nvPr/>
        </p:nvSpPr>
        <p:spPr>
          <a:xfrm>
            <a:off x="3630168" y="1664208"/>
            <a:ext cx="2505456" cy="23591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4a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992A2A"/>
                </a:solidFill>
                <a:latin typeface="Times New Roman"/>
                <a:ea typeface="標楷體"/>
                <a:cs typeface="Times New Roman"/>
              </a:rPr>
              <a:t>② 不讀未來</a:t>
            </a:r>
          </a:p>
        </p:txBody>
      </p:sp>
      <p:sp>
        <p:nvSpPr>
          <p:cNvPr id="11" name="P024a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不看結果摘要</a:t>
            </a:r>
          </a:p>
          <a:p>
            <a:pPr algn="ctr">
              <a:lnSpc>
                <a:spcPct val="94000"/>
              </a:lnSpc>
              <a:spcBef>
                <a:spcPts val="0"/>
              </a:spcBef>
              <a:spcAft>
                <a:spcPts val="0"/>
              </a:spcAft>
            </a:pPr>
            <a:r>
              <a:rPr sz="1800" b="0" i="0">
                <a:solidFill>
                  <a:srgbClr val="25324A"/>
                </a:solidFill>
                <a:latin typeface="Times New Roman"/>
                <a:ea typeface="標楷體"/>
                <a:cs typeface="Times New Roman"/>
              </a:rPr>
              <a:t>不回看 energy</a:t>
            </a:r>
          </a:p>
        </p:txBody>
      </p:sp>
      <p:sp>
        <p:nvSpPr>
          <p:cNvPr id="12" name="P024a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4a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③ 交給函式</a:t>
            </a:r>
          </a:p>
        </p:txBody>
      </p:sp>
      <p:sp>
        <p:nvSpPr>
          <p:cNvPr id="14" name="P024a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把目前資料交給 </a:t>
            </a:r>
            <a:r>
              <a:rPr sz="1700" b="0" i="1">
                <a:solidFill>
                  <a:srgbClr val="25324A"/>
                </a:solidFill>
                <a:latin typeface="Times New Roman"/>
                <a:ea typeface="標楷體"/>
                <a:cs typeface="Times New Roman"/>
              </a:rPr>
              <a:t>choose_action()</a:t>
            </a:r>
          </a:p>
          <a:p>
            <a:pPr algn="ctr">
              <a:lnSpc>
                <a:spcPct val="94000"/>
              </a:lnSpc>
              <a:spcBef>
                <a:spcPts val="0"/>
              </a:spcBef>
              <a:spcAft>
                <a:spcPts val="0"/>
              </a:spcAft>
            </a:pPr>
            <a:r>
              <a:rPr sz="1700" b="0" i="0">
                <a:solidFill>
                  <a:srgbClr val="25324A"/>
                </a:solidFill>
                <a:latin typeface="Times New Roman"/>
                <a:ea typeface="標楷體"/>
                <a:cs typeface="Times New Roman"/>
              </a:rPr>
              <a:t>再回一個合法動作</a:t>
            </a:r>
          </a:p>
        </p:txBody>
      </p:sp>
      <p:sp>
        <p:nvSpPr>
          <p:cNvPr id="15" name="P024a beginner card 4"/>
          <p:cNvSpPr/>
          <p:nvPr/>
        </p:nvSpPr>
        <p:spPr>
          <a:xfrm>
            <a:off x="920800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4a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④ 下一步／證據</a:t>
            </a:r>
          </a:p>
        </p:txBody>
      </p:sp>
      <p:sp>
        <p:nvSpPr>
          <p:cNvPr id="17" name="P024a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回一個合法動作</a:t>
            </a:r>
          </a:p>
          <a:p>
            <a:pPr algn="ctr">
              <a:lnSpc>
                <a:spcPct val="94000"/>
              </a:lnSpc>
              <a:spcBef>
                <a:spcPts val="0"/>
              </a:spcBef>
              <a:spcAft>
                <a:spcPts val="0"/>
              </a:spcAft>
            </a:pPr>
            <a:r>
              <a:rPr sz="1700" b="0" i="0">
                <a:solidFill>
                  <a:srgbClr val="25324A"/>
                </a:solidFill>
                <a:latin typeface="Times New Roman"/>
                <a:ea typeface="標楷體"/>
                <a:cs typeface="Times New Roman"/>
              </a:rPr>
              <a:t>runner 再記 event／result</a:t>
            </a:r>
          </a:p>
        </p:txBody>
      </p:sp>
      <p:sp>
        <p:nvSpPr>
          <p:cNvPr id="18" name="P024a beginner causal strip"/>
          <p:cNvSpPr/>
          <p:nvPr/>
        </p:nvSpPr>
        <p:spPr>
          <a:xfrm>
            <a:off x="1133856" y="4224528"/>
            <a:ext cx="9948672"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992A2A"/>
                </a:solidFill>
                <a:latin typeface="Times New Roman"/>
                <a:ea typeface="標楷體"/>
                <a:cs typeface="Times New Roman"/>
              </a:rPr>
              <a:t>當下觀察 → 合法動作；這一頁沒有程式值變更</a:t>
            </a:r>
          </a:p>
        </p:txBody>
      </p:sp>
      <p:sp>
        <p:nvSpPr>
          <p:cNvPr id="19" name="Field contract choose_action"/>
          <p:cNvSpPr/>
          <p:nvPr/>
        </p:nvSpPr>
        <p:spPr>
          <a:xfrm>
            <a:off x="804672" y="4956048"/>
            <a:ext cx="10561320" cy="822960"/>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choose_action</a:t>
            </a:r>
            <a:r>
              <a:rPr sz="1800" b="0" i="0">
                <a:solidFill>
                  <a:srgbClr val="25356B"/>
                </a:solidFill>
                <a:latin typeface="Times New Roman"/>
                <a:ea typeface="標楷體"/>
                <a:cs typeface="Times New Roman"/>
              </a:rPr>
              <a:t>（策略函式）｜來源：student_policy.py｜作用：依當下觀察回傳一個合法動作</a:t>
            </a:r>
          </a:p>
          <a:p>
            <a:pPr algn="l">
              <a:lnSpc>
                <a:spcPct val="90000"/>
              </a:lnSpc>
              <a:spcBef>
                <a:spcPts val="0"/>
              </a:spcBef>
              <a:spcAft>
                <a:spcPts val="0"/>
              </a:spcAft>
            </a:pPr>
            <a:r>
              <a:rPr sz="1800" b="0" i="0">
                <a:solidFill>
                  <a:srgbClr val="25356B"/>
                </a:solidFill>
                <a:latin typeface="Times New Roman"/>
                <a:ea typeface="標楷體"/>
                <a:cs typeface="Times New Roman"/>
              </a:rPr>
              <a:t>單位：函式契約｜判讀：只讀目前／過去欄位，不讀未來結果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P024b｜判斷順序如何產生動作</a:t>
            </a:r>
          </a:p>
        </p:txBody>
      </p:sp>
      <p:sp>
        <p:nvSpPr>
          <p:cNvPr id="4" name="Content Placeholder 3"/>
          <p:cNvSpPr>
            <a:spLocks noGrp="1"/>
          </p:cNvSpPr>
          <p:nvPr>
            <p:ph idx="10"/>
          </p:nvPr>
        </p:nvSpPr>
        <p:spPr/>
        <p:txBody>
          <a:bodyPr/>
          <a:lstStyle/>
          <a:p/>
        </p:txBody>
      </p:sp>
      <p:sp>
        <p:nvSpPr>
          <p:cNvPr id="5" name="P024b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這一步把合法動作順序翻成白話；鏡像可讀，不能貼回程式</a:t>
            </a:r>
          </a:p>
        </p:txBody>
      </p:sp>
      <p:sp>
        <p:nvSpPr>
          <p:cNvPr id="6" name="P024b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4b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窗口關閉</a:t>
            </a:r>
          </a:p>
        </p:txBody>
      </p:sp>
      <p:sp>
        <p:nvSpPr>
          <p:cNvPr id="8" name="P024b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不能送出，先休息</a:t>
            </a:r>
          </a:p>
          <a:p>
            <a:pPr algn="ctr">
              <a:lnSpc>
                <a:spcPct val="94000"/>
              </a:lnSpc>
              <a:spcBef>
                <a:spcPts val="0"/>
              </a:spcBef>
              <a:spcAft>
                <a:spcPts val="0"/>
              </a:spcAft>
            </a:pPr>
            <a:r>
              <a:rPr sz="1800" b="0" i="1">
                <a:solidFill>
                  <a:srgbClr val="25324A"/>
                </a:solidFill>
                <a:latin typeface="Times New Roman"/>
                <a:ea typeface="標楷體"/>
                <a:cs typeface="Times New Roman"/>
              </a:rPr>
              <a:t>SLEEP</a:t>
            </a:r>
          </a:p>
        </p:txBody>
      </p:sp>
      <p:sp>
        <p:nvSpPr>
          <p:cNvPr id="9" name="P024b beginner card 2"/>
          <p:cNvSpPr/>
          <p:nvPr/>
        </p:nvSpPr>
        <p:spPr>
          <a:xfrm>
            <a:off x="3630168" y="1664208"/>
            <a:ext cx="2505456" cy="23591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4b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992A2A"/>
                </a:solidFill>
                <a:latin typeface="Times New Roman"/>
                <a:ea typeface="標楷體"/>
                <a:cs typeface="Times New Roman"/>
              </a:rPr>
              <a:t>② 期限逼近</a:t>
            </a:r>
          </a:p>
        </p:txBody>
      </p:sp>
      <p:sp>
        <p:nvSpPr>
          <p:cNvPr id="11" name="P024b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急件先送出</a:t>
            </a:r>
          </a:p>
          <a:p>
            <a:pPr algn="ctr">
              <a:lnSpc>
                <a:spcPct val="94000"/>
              </a:lnSpc>
              <a:spcBef>
                <a:spcPts val="0"/>
              </a:spcBef>
              <a:spcAft>
                <a:spcPts val="0"/>
              </a:spcAft>
            </a:pPr>
            <a:r>
              <a:rPr sz="1800" b="0" i="1">
                <a:solidFill>
                  <a:srgbClr val="25324A"/>
                </a:solidFill>
                <a:latin typeface="Times New Roman"/>
                <a:ea typeface="標楷體"/>
                <a:cs typeface="Times New Roman"/>
              </a:rPr>
              <a:t>SEND_URGENT</a:t>
            </a:r>
          </a:p>
        </p:txBody>
      </p:sp>
      <p:sp>
        <p:nvSpPr>
          <p:cNvPr id="12" name="P024b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4b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③ 節奏／品質</a:t>
            </a:r>
          </a:p>
        </p:txBody>
      </p:sp>
      <p:sp>
        <p:nvSpPr>
          <p:cNvPr id="14" name="P024b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間隔未到休息；品質未穩等待</a:t>
            </a:r>
          </a:p>
          <a:p>
            <a:pPr algn="ctr">
              <a:lnSpc>
                <a:spcPct val="94000"/>
              </a:lnSpc>
              <a:spcBef>
                <a:spcPts val="0"/>
              </a:spcBef>
              <a:spcAft>
                <a:spcPts val="0"/>
              </a:spcAft>
            </a:pPr>
            <a:r>
              <a:rPr sz="1600" b="0" i="1">
                <a:solidFill>
                  <a:srgbClr val="25324A"/>
                </a:solidFill>
                <a:latin typeface="Times New Roman"/>
                <a:ea typeface="標楷體"/>
                <a:cs typeface="Times New Roman"/>
              </a:rPr>
              <a:t>REST_DURING_GAP</a:t>
            </a:r>
            <a:r>
              <a:rPr sz="1600" b="0" i="0">
                <a:solidFill>
                  <a:srgbClr val="25324A"/>
                </a:solidFill>
                <a:latin typeface="Times New Roman"/>
                <a:ea typeface="標楷體"/>
                <a:cs typeface="Times New Roman"/>
              </a:rPr>
              <a:t>／</a:t>
            </a:r>
            <a:r>
              <a:rPr sz="1600" b="0" i="1">
                <a:solidFill>
                  <a:srgbClr val="25324A"/>
                </a:solidFill>
                <a:latin typeface="Times New Roman"/>
                <a:ea typeface="標楷體"/>
                <a:cs typeface="Times New Roman"/>
              </a:rPr>
              <a:t>WAIT</a:t>
            </a:r>
          </a:p>
        </p:txBody>
      </p:sp>
      <p:sp>
        <p:nvSpPr>
          <p:cNvPr id="15" name="P024b beginner card 4"/>
          <p:cNvSpPr/>
          <p:nvPr/>
        </p:nvSpPr>
        <p:spPr>
          <a:xfrm>
            <a:off x="920800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4b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700" b="1" i="0">
                <a:solidFill>
                  <a:srgbClr val="007374"/>
                </a:solidFill>
                <a:latin typeface="Times New Roman"/>
                <a:ea typeface="標楷體"/>
                <a:cs typeface="Times New Roman"/>
              </a:rPr>
              <a:t>④ 佇列／保底</a:t>
            </a:r>
          </a:p>
        </p:txBody>
      </p:sp>
      <p:sp>
        <p:nvSpPr>
          <p:cNvPr id="17" name="P024b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夠量批次，否則單筆；無事等待</a:t>
            </a:r>
          </a:p>
          <a:p>
            <a:pPr algn="ctr">
              <a:lnSpc>
                <a:spcPct val="94000"/>
              </a:lnSpc>
              <a:spcBef>
                <a:spcPts val="0"/>
              </a:spcBef>
              <a:spcAft>
                <a:spcPts val="0"/>
              </a:spcAft>
            </a:pPr>
            <a:r>
              <a:rPr sz="1600" b="0" i="1">
                <a:solidFill>
                  <a:srgbClr val="25324A"/>
                </a:solidFill>
                <a:latin typeface="Times New Roman"/>
                <a:ea typeface="標楷體"/>
                <a:cs typeface="Times New Roman"/>
              </a:rPr>
              <a:t>FLUSH_BATCH</a:t>
            </a:r>
            <a:r>
              <a:rPr sz="1600" b="0" i="0">
                <a:solidFill>
                  <a:srgbClr val="25324A"/>
                </a:solidFill>
                <a:latin typeface="Times New Roman"/>
                <a:ea typeface="標楷體"/>
                <a:cs typeface="Times New Roman"/>
              </a:rPr>
              <a:t>／</a:t>
            </a:r>
            <a:r>
              <a:rPr sz="1600" b="0" i="1">
                <a:solidFill>
                  <a:srgbClr val="25324A"/>
                </a:solidFill>
                <a:latin typeface="Times New Roman"/>
                <a:ea typeface="標楷體"/>
                <a:cs typeface="Times New Roman"/>
              </a:rPr>
              <a:t>SEND_ONE</a:t>
            </a:r>
            <a:r>
              <a:rPr sz="1600" b="0" i="0">
                <a:solidFill>
                  <a:srgbClr val="25324A"/>
                </a:solidFill>
                <a:latin typeface="Times New Roman"/>
                <a:ea typeface="標楷體"/>
                <a:cs typeface="Times New Roman"/>
              </a:rPr>
              <a:t>／</a:t>
            </a:r>
            <a:r>
              <a:rPr sz="1600" b="0" i="1">
                <a:solidFill>
                  <a:srgbClr val="25324A"/>
                </a:solidFill>
                <a:latin typeface="Times New Roman"/>
                <a:ea typeface="標楷體"/>
                <a:cs typeface="Times New Roman"/>
              </a:rPr>
              <a:t>WAIT</a:t>
            </a:r>
          </a:p>
        </p:txBody>
      </p:sp>
      <p:sp>
        <p:nvSpPr>
          <p:cNvPr id="18" name="P024b beginner causal strip"/>
          <p:cNvSpPr/>
          <p:nvPr/>
        </p:nvSpPr>
        <p:spPr>
          <a:xfrm>
            <a:off x="1133856" y="4224528"/>
            <a:ext cx="9948672"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992A2A"/>
                </a:solidFill>
                <a:latin typeface="Times New Roman"/>
                <a:ea typeface="標楷體"/>
                <a:cs typeface="Times New Roman"/>
              </a:rPr>
              <a:t>先看窗口，再看期限、間隔、品質與佇列；順序會改變動作</a:t>
            </a:r>
          </a:p>
        </p:txBody>
      </p:sp>
      <p:sp>
        <p:nvSpPr>
          <p:cNvPr id="19" name="Field contract action"/>
          <p:cNvSpPr/>
          <p:nvPr/>
        </p:nvSpPr>
        <p:spPr>
          <a:xfrm>
            <a:off x="804672" y="4956048"/>
            <a:ext cx="10561320" cy="822960"/>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action</a:t>
            </a:r>
            <a:r>
              <a:rPr sz="1800" b="0" i="0">
                <a:solidFill>
                  <a:srgbClr val="25356B"/>
                </a:solidFill>
                <a:latin typeface="Times New Roman"/>
                <a:ea typeface="標楷體"/>
                <a:cs typeface="Times New Roman"/>
              </a:rPr>
              <a:t>（合法動作）｜來源：policy API｜作用：把條件轉成 runner 可執行的動作</a:t>
            </a:r>
          </a:p>
          <a:p>
            <a:pPr algn="l">
              <a:lnSpc>
                <a:spcPct val="90000"/>
              </a:lnSpc>
              <a:spcBef>
                <a:spcPts val="0"/>
              </a:spcBef>
              <a:spcAft>
                <a:spcPts val="0"/>
              </a:spcAft>
            </a:pPr>
            <a:r>
              <a:rPr sz="1800" b="0" i="0">
                <a:solidFill>
                  <a:srgbClr val="25356B"/>
                </a:solidFill>
                <a:latin typeface="Times New Roman"/>
                <a:ea typeface="標楷體"/>
                <a:cs typeface="Times New Roman"/>
              </a:rPr>
              <a:t>單位：enum｜判讀：下一步從 state／packet／service／endpoint J 讀後果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P025a｜Lab A：空檔休息與等待</a:t>
            </a:r>
          </a:p>
        </p:txBody>
      </p:sp>
      <p:sp>
        <p:nvSpPr>
          <p:cNvPr id="4" name="Content Placeholder 3"/>
          <p:cNvSpPr>
            <a:spLocks noGrp="1"/>
          </p:cNvSpPr>
          <p:nvPr>
            <p:ph idx="10"/>
          </p:nvPr>
        </p:nvSpPr>
        <p:spPr/>
        <p:txBody>
          <a:bodyPr/>
          <a:lstStyle/>
          <a:p/>
        </p:txBody>
      </p:sp>
      <p:sp>
        <p:nvSpPr>
          <p:cNvPr id="5" name="P025a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Lab A 的目的：比較空檔休息與清醒等待，找服務／能量取捨</a:t>
            </a:r>
          </a:p>
        </p:txBody>
      </p:sp>
      <p:sp>
        <p:nvSpPr>
          <p:cNvPr id="6" name="P025a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5a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① 改哪裡</a:t>
            </a:r>
          </a:p>
        </p:txBody>
      </p:sp>
      <p:sp>
        <p:nvSpPr>
          <p:cNvPr id="8" name="P025a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檔案：</a:t>
            </a:r>
            <a:r>
              <a:rPr sz="1600" b="0" i="1">
                <a:solidFill>
                  <a:srgbClr val="25324A"/>
                </a:solidFill>
                <a:latin typeface="Times New Roman"/>
                <a:ea typeface="標楷體"/>
                <a:cs typeface="Times New Roman"/>
              </a:rPr>
              <a:t>student_policy.py</a:t>
            </a:r>
          </a:p>
          <a:p>
            <a:pPr algn="ctr">
              <a:lnSpc>
                <a:spcPct val="94000"/>
              </a:lnSpc>
              <a:spcBef>
                <a:spcPts val="0"/>
              </a:spcBef>
              <a:spcAft>
                <a:spcPts val="0"/>
              </a:spcAft>
            </a:pPr>
            <a:r>
              <a:rPr sz="1600" b="0" i="0">
                <a:solidFill>
                  <a:srgbClr val="25324A"/>
                </a:solidFill>
                <a:latin typeface="Times New Roman"/>
                <a:ea typeface="標楷體"/>
                <a:cs typeface="Times New Roman"/>
              </a:rPr>
              <a:t>區段：</a:t>
            </a:r>
            <a:r>
              <a:rPr sz="1600" b="0" i="1">
                <a:solidFill>
                  <a:srgbClr val="25324A"/>
                </a:solidFill>
                <a:latin typeface="Times New Roman"/>
                <a:ea typeface="標楷體"/>
                <a:cs typeface="Times New Roman"/>
              </a:rPr>
              <a:t>lab-a-pace-rest</a:t>
            </a:r>
          </a:p>
        </p:txBody>
      </p:sp>
      <p:sp>
        <p:nvSpPr>
          <p:cNvPr id="9" name="P025a beginner card 2"/>
          <p:cNvSpPr/>
          <p:nvPr/>
        </p:nvSpPr>
        <p:spPr>
          <a:xfrm>
            <a:off x="363016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5a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② Before</a:t>
            </a:r>
          </a:p>
        </p:txBody>
      </p:sp>
      <p:sp>
        <p:nvSpPr>
          <p:cNvPr id="11" name="P025a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空檔進低功耗休息</a:t>
            </a:r>
          </a:p>
          <a:p>
            <a:pPr algn="ctr">
              <a:lnSpc>
                <a:spcPct val="94000"/>
              </a:lnSpc>
              <a:spcBef>
                <a:spcPts val="0"/>
              </a:spcBef>
              <a:spcAft>
                <a:spcPts val="0"/>
              </a:spcAft>
            </a:pPr>
            <a:r>
              <a:rPr sz="1600" b="0" i="1">
                <a:solidFill>
                  <a:srgbClr val="25324A"/>
                </a:solidFill>
                <a:latin typeface="Times New Roman"/>
                <a:ea typeface="標楷體"/>
                <a:cs typeface="Times New Roman"/>
              </a:rPr>
              <a:t>REST_DURING_GAP = SLEEP</a:t>
            </a:r>
          </a:p>
        </p:txBody>
      </p:sp>
      <p:sp>
        <p:nvSpPr>
          <p:cNvPr id="12" name="P025a beginner card 3"/>
          <p:cNvSpPr/>
          <p:nvPr/>
        </p:nvSpPr>
        <p:spPr>
          <a:xfrm>
            <a:off x="641908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5a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③ After</a:t>
            </a:r>
          </a:p>
        </p:txBody>
      </p:sp>
      <p:sp>
        <p:nvSpPr>
          <p:cNvPr id="14" name="P025a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空檔保持清醒等待</a:t>
            </a:r>
          </a:p>
          <a:p>
            <a:pPr algn="ctr">
              <a:lnSpc>
                <a:spcPct val="94000"/>
              </a:lnSpc>
              <a:spcBef>
                <a:spcPts val="0"/>
              </a:spcBef>
              <a:spcAft>
                <a:spcPts val="0"/>
              </a:spcAft>
            </a:pPr>
            <a:r>
              <a:rPr sz="1600" b="0" i="1">
                <a:solidFill>
                  <a:srgbClr val="25324A"/>
                </a:solidFill>
                <a:latin typeface="Times New Roman"/>
                <a:ea typeface="標楷體"/>
                <a:cs typeface="Times New Roman"/>
              </a:rPr>
              <a:t>REST_DURING_GAP = WAIT</a:t>
            </a:r>
          </a:p>
        </p:txBody>
      </p:sp>
      <p:sp>
        <p:nvSpPr>
          <p:cNvPr id="15" name="P025a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5a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700" b="1" i="0">
                <a:solidFill>
                  <a:srgbClr val="660066"/>
                </a:solidFill>
                <a:latin typeface="Times New Roman"/>
                <a:ea typeface="標楷體"/>
                <a:cs typeface="Times New Roman"/>
              </a:rPr>
              <a:t>④ 不變／看什麼</a:t>
            </a:r>
          </a:p>
        </p:txBody>
      </p:sp>
      <p:sp>
        <p:nvSpPr>
          <p:cNvPr id="17" name="P025a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間隔 2 步；A/B/C、runner 不動</a:t>
            </a:r>
          </a:p>
          <a:p>
            <a:pPr algn="ctr">
              <a:lnSpc>
                <a:spcPct val="94000"/>
              </a:lnSpc>
              <a:spcBef>
                <a:spcPts val="0"/>
              </a:spcBef>
              <a:spcAft>
                <a:spcPts val="0"/>
              </a:spcAft>
            </a:pPr>
            <a:r>
              <a:rPr sz="1600" b="0" i="0">
                <a:solidFill>
                  <a:srgbClr val="25324A"/>
                </a:solidFill>
                <a:latin typeface="Times New Roman"/>
                <a:ea typeface="標楷體"/>
                <a:cs typeface="Times New Roman"/>
              </a:rPr>
              <a:t>看 service／state／J</a:t>
            </a:r>
          </a:p>
        </p:txBody>
      </p:sp>
      <p:sp>
        <p:nvSpPr>
          <p:cNvPr id="18" name="P025a beginner causal strip"/>
          <p:cNvSpPr/>
          <p:nvPr/>
        </p:nvSpPr>
        <p:spPr>
          <a:xfrm>
            <a:off x="1133856" y="4224528"/>
            <a:ext cx="9948672" cy="5303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只改空檔動作 → 改變休息／清醒／喚醒 → 影響服務與端點焦耳</a:t>
            </a:r>
          </a:p>
        </p:txBody>
      </p:sp>
      <p:sp>
        <p:nvSpPr>
          <p:cNvPr id="19" name="Field contract REST_DURING_GAP"/>
          <p:cNvSpPr/>
          <p:nvPr/>
        </p:nvSpPr>
        <p:spPr>
          <a:xfrm>
            <a:off x="804672" y="4956048"/>
            <a:ext cx="10561320" cy="822960"/>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REST_DURING_GAP</a:t>
            </a:r>
            <a:r>
              <a:rPr sz="1800" b="0" i="0">
                <a:solidFill>
                  <a:srgbClr val="25356B"/>
                </a:solidFill>
                <a:latin typeface="Times New Roman"/>
                <a:ea typeface="標楷體"/>
                <a:cs typeface="Times New Roman"/>
              </a:rPr>
              <a:t>（空檔動作）｜來源：Lab A marked block｜作用：控制送出間隔中的狀態</a:t>
            </a:r>
          </a:p>
          <a:p>
            <a:pPr algn="l">
              <a:lnSpc>
                <a:spcPct val="90000"/>
              </a:lnSpc>
              <a:spcBef>
                <a:spcPts val="0"/>
              </a:spcBef>
              <a:spcAft>
                <a:spcPts val="0"/>
              </a:spcAft>
            </a:pPr>
            <a:r>
              <a:rPr sz="1800" b="0" i="0">
                <a:solidFill>
                  <a:srgbClr val="25356B"/>
                </a:solidFill>
                <a:latin typeface="Times New Roman"/>
                <a:ea typeface="標楷體"/>
                <a:cs typeface="Times New Roman"/>
              </a:rPr>
              <a:t>單位：action｜判讀：比較 SLEEP 與 WAIT 對狀態、服務、端點 J 的影響</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P025b｜Lab C：批次與期限餘裕</a:t>
            </a:r>
          </a:p>
        </p:txBody>
      </p:sp>
      <p:sp>
        <p:nvSpPr>
          <p:cNvPr id="4" name="Content Placeholder 3"/>
          <p:cNvSpPr>
            <a:spLocks noGrp="1"/>
          </p:cNvSpPr>
          <p:nvPr>
            <p:ph idx="10"/>
          </p:nvPr>
        </p:nvSpPr>
        <p:spPr/>
        <p:txBody>
          <a:bodyPr/>
          <a:lstStyle/>
          <a:p/>
        </p:txBody>
      </p:sp>
      <p:sp>
        <p:nvSpPr>
          <p:cNvPr id="5" name="P025b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Lab C 的目的：比較批次門檻與期限餘裕，找傳送時機代價</a:t>
            </a:r>
          </a:p>
        </p:txBody>
      </p:sp>
      <p:sp>
        <p:nvSpPr>
          <p:cNvPr id="6" name="P025b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5b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① 改哪裡</a:t>
            </a:r>
          </a:p>
        </p:txBody>
      </p:sp>
      <p:sp>
        <p:nvSpPr>
          <p:cNvPr id="8" name="P025b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檔案：</a:t>
            </a:r>
            <a:r>
              <a:rPr sz="1600" b="0" i="1">
                <a:solidFill>
                  <a:srgbClr val="25324A"/>
                </a:solidFill>
                <a:latin typeface="Times New Roman"/>
                <a:ea typeface="標楷體"/>
                <a:cs typeface="Times New Roman"/>
              </a:rPr>
              <a:t>student_policy.py</a:t>
            </a:r>
          </a:p>
          <a:p>
            <a:pPr algn="ctr">
              <a:lnSpc>
                <a:spcPct val="94000"/>
              </a:lnSpc>
              <a:spcBef>
                <a:spcPts val="0"/>
              </a:spcBef>
              <a:spcAft>
                <a:spcPts val="0"/>
              </a:spcAft>
            </a:pPr>
            <a:r>
              <a:rPr sz="1600" b="0" i="0">
                <a:solidFill>
                  <a:srgbClr val="25324A"/>
                </a:solidFill>
                <a:latin typeface="Times New Roman"/>
                <a:ea typeface="標楷體"/>
                <a:cs typeface="Times New Roman"/>
              </a:rPr>
              <a:t>區段：</a:t>
            </a:r>
            <a:r>
              <a:rPr sz="1600" b="0" i="1">
                <a:solidFill>
                  <a:srgbClr val="25324A"/>
                </a:solidFill>
                <a:latin typeface="Times New Roman"/>
                <a:ea typeface="標楷體"/>
                <a:cs typeface="Times New Roman"/>
              </a:rPr>
              <a:t>lab-c-batch-urgent</a:t>
            </a:r>
          </a:p>
        </p:txBody>
      </p:sp>
      <p:sp>
        <p:nvSpPr>
          <p:cNvPr id="9" name="P025b beginner card 2"/>
          <p:cNvSpPr/>
          <p:nvPr/>
        </p:nvSpPr>
        <p:spPr>
          <a:xfrm>
            <a:off x="363016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5b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② Before</a:t>
            </a:r>
          </a:p>
        </p:txBody>
      </p:sp>
      <p:sp>
        <p:nvSpPr>
          <p:cNvPr id="11" name="P025b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期限剩 20 秒才急送</a:t>
            </a:r>
          </a:p>
          <a:p>
            <a:pPr algn="ctr">
              <a:lnSpc>
                <a:spcPct val="94000"/>
              </a:lnSpc>
              <a:spcBef>
                <a:spcPts val="0"/>
              </a:spcBef>
              <a:spcAft>
                <a:spcPts val="0"/>
              </a:spcAft>
            </a:pPr>
            <a:r>
              <a:rPr sz="1600" b="0" i="1">
                <a:solidFill>
                  <a:srgbClr val="25324A"/>
                </a:solidFill>
                <a:latin typeface="Times New Roman"/>
                <a:ea typeface="標楷體"/>
                <a:cs typeface="Times New Roman"/>
              </a:rPr>
              <a:t>URGENT_MARGIN_S = 20</a:t>
            </a:r>
          </a:p>
        </p:txBody>
      </p:sp>
      <p:sp>
        <p:nvSpPr>
          <p:cNvPr id="12" name="P025b beginner card 3"/>
          <p:cNvSpPr/>
          <p:nvPr/>
        </p:nvSpPr>
        <p:spPr>
          <a:xfrm>
            <a:off x="6419088" y="1664208"/>
            <a:ext cx="2505456" cy="23591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5b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992A2A"/>
                </a:solidFill>
                <a:latin typeface="Times New Roman"/>
                <a:ea typeface="標楷體"/>
                <a:cs typeface="Times New Roman"/>
              </a:rPr>
              <a:t>③ Candidate／Revision</a:t>
            </a:r>
          </a:p>
        </p:txBody>
      </p:sp>
      <p:sp>
        <p:nvSpPr>
          <p:cNvPr id="14" name="P025b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候選 5 秒；修訂 30 秒</a:t>
            </a:r>
          </a:p>
          <a:p>
            <a:pPr algn="ctr">
              <a:lnSpc>
                <a:spcPct val="94000"/>
              </a:lnSpc>
              <a:spcBef>
                <a:spcPts val="0"/>
              </a:spcBef>
              <a:spcAft>
                <a:spcPts val="0"/>
              </a:spcAft>
            </a:pPr>
            <a:r>
              <a:rPr sz="1600" b="0" i="0">
                <a:solidFill>
                  <a:srgbClr val="25324A"/>
                </a:solidFill>
                <a:latin typeface="Times New Roman"/>
                <a:ea typeface="標楷體"/>
                <a:cs typeface="Times New Roman"/>
              </a:rPr>
              <a:t>同一個 value</a:t>
            </a:r>
          </a:p>
        </p:txBody>
      </p:sp>
      <p:sp>
        <p:nvSpPr>
          <p:cNvPr id="15" name="P025b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5b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600" b="1" i="0">
                <a:solidFill>
                  <a:srgbClr val="660066"/>
                </a:solidFill>
                <a:latin typeface="Times New Roman"/>
                <a:ea typeface="標楷體"/>
                <a:cs typeface="Times New Roman"/>
              </a:rPr>
              <a:t>④ 不變／看什麼</a:t>
            </a:r>
          </a:p>
        </p:txBody>
      </p:sp>
      <p:sp>
        <p:nvSpPr>
          <p:cNvPr id="17" name="P025b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1">
                <a:solidFill>
                  <a:srgbClr val="25324A"/>
                </a:solidFill>
                <a:latin typeface="Times New Roman"/>
                <a:ea typeface="標楷體"/>
                <a:cs typeface="Times New Roman"/>
              </a:rPr>
              <a:t>BATCH_SIZE = 3</a:t>
            </a:r>
            <a:r>
              <a:rPr sz="1600" b="0" i="0">
                <a:solidFill>
                  <a:srgbClr val="25324A"/>
                </a:solidFill>
                <a:latin typeface="Times New Roman"/>
                <a:ea typeface="標楷體"/>
                <a:cs typeface="Times New Roman"/>
              </a:rPr>
              <a:t>；A/B、runner 不動</a:t>
            </a:r>
          </a:p>
          <a:p>
            <a:pPr algn="ctr">
              <a:lnSpc>
                <a:spcPct val="94000"/>
              </a:lnSpc>
              <a:spcBef>
                <a:spcPts val="0"/>
              </a:spcBef>
              <a:spcAft>
                <a:spcPts val="0"/>
              </a:spcAft>
            </a:pPr>
            <a:r>
              <a:rPr sz="1600" b="0" i="0">
                <a:solidFill>
                  <a:srgbClr val="25324A"/>
                </a:solidFill>
                <a:latin typeface="Times New Roman"/>
                <a:ea typeface="標楷體"/>
                <a:cs typeface="Times New Roman"/>
              </a:rPr>
              <a:t>看 deadline／delivery／service／J</a:t>
            </a:r>
          </a:p>
        </p:txBody>
      </p:sp>
      <p:sp>
        <p:nvSpPr>
          <p:cNvPr id="18" name="P025b beginner causal strip"/>
          <p:cNvSpPr/>
          <p:nvPr/>
        </p:nvSpPr>
        <p:spPr>
          <a:xfrm>
            <a:off x="1133856" y="4224528"/>
            <a:ext cx="9948672"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992A2A"/>
                </a:solidFill>
                <a:latin typeface="Times New Roman"/>
                <a:ea typeface="標楷體"/>
                <a:cs typeface="Times New Roman"/>
              </a:rPr>
              <a:t>只改期限餘裕 → 改變緊急分支提早量 → 影響期限與送達</a:t>
            </a:r>
          </a:p>
        </p:txBody>
      </p:sp>
      <p:sp>
        <p:nvSpPr>
          <p:cNvPr id="19" name="Field contract URGENT_MARGIN_S"/>
          <p:cNvSpPr/>
          <p:nvPr/>
        </p:nvSpPr>
        <p:spPr>
          <a:xfrm>
            <a:off x="804672" y="4956048"/>
            <a:ext cx="10561320" cy="822960"/>
          </a:xfrm>
          <a:prstGeom prst="roundRect">
            <a:avLst/>
          </a:prstGeom>
          <a:solidFill>
            <a:srgbClr val="F7F8FC"/>
          </a:solidFill>
          <a:ln w="1270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URGENT_MARGIN_S</a:t>
            </a:r>
            <a:r>
              <a:rPr sz="1800" b="0" i="0">
                <a:solidFill>
                  <a:srgbClr val="25356B"/>
                </a:solidFill>
                <a:latin typeface="Times New Roman"/>
                <a:ea typeface="標楷體"/>
                <a:cs typeface="Times New Roman"/>
              </a:rPr>
              <a:t>（緊急餘裕秒數）｜來源：Lab C marked block｜作用：提供期限分支的比較值</a:t>
            </a:r>
          </a:p>
          <a:p>
            <a:pPr algn="l">
              <a:lnSpc>
                <a:spcPct val="90000"/>
              </a:lnSpc>
              <a:spcBef>
                <a:spcPts val="0"/>
              </a:spcBef>
              <a:spcAft>
                <a:spcPts val="0"/>
              </a:spcAft>
            </a:pPr>
            <a:r>
              <a:rPr sz="1800" b="0" i="0">
                <a:solidFill>
                  <a:srgbClr val="25356B"/>
                </a:solidFill>
                <a:latin typeface="Times New Roman"/>
                <a:ea typeface="標楷體"/>
                <a:cs typeface="Times New Roman"/>
              </a:rPr>
              <a:t>單位：秒｜判讀：觀察緊急動作、送達、期限與端點 J</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P026a｜Lab B：穩定觀察如何影響動作</a:t>
            </a:r>
          </a:p>
        </p:txBody>
      </p:sp>
      <p:sp>
        <p:nvSpPr>
          <p:cNvPr id="4" name="Content Placeholder 3"/>
          <p:cNvSpPr>
            <a:spLocks noGrp="1"/>
          </p:cNvSpPr>
          <p:nvPr>
            <p:ph idx="10"/>
          </p:nvPr>
        </p:nvSpPr>
        <p:spPr/>
        <p:txBody>
          <a:bodyPr/>
          <a:lstStyle/>
          <a:p/>
        </p:txBody>
      </p:sp>
      <p:sp>
        <p:nvSpPr>
          <p:cNvPr id="5" name="P026a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這一步用 Lab B 示範品質條件：穩定次數會改變 action 何時出現</a:t>
            </a:r>
          </a:p>
        </p:txBody>
      </p:sp>
      <p:sp>
        <p:nvSpPr>
          <p:cNvPr id="6" name="P026a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6a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① 改哪裡</a:t>
            </a:r>
          </a:p>
        </p:txBody>
      </p:sp>
      <p:sp>
        <p:nvSpPr>
          <p:cNvPr id="8" name="P026a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檔案：</a:t>
            </a:r>
            <a:r>
              <a:rPr sz="1600" b="0" i="1">
                <a:solidFill>
                  <a:srgbClr val="25324A"/>
                </a:solidFill>
                <a:latin typeface="Times New Roman"/>
                <a:ea typeface="標楷體"/>
                <a:cs typeface="Times New Roman"/>
              </a:rPr>
              <a:t>student_policy.py</a:t>
            </a:r>
          </a:p>
          <a:p>
            <a:pPr algn="ctr">
              <a:lnSpc>
                <a:spcPct val="94000"/>
              </a:lnSpc>
              <a:spcBef>
                <a:spcPts val="0"/>
              </a:spcBef>
              <a:spcAft>
                <a:spcPts val="0"/>
              </a:spcAft>
            </a:pPr>
            <a:r>
              <a:rPr sz="1600" b="0" i="0">
                <a:solidFill>
                  <a:srgbClr val="25324A"/>
                </a:solidFill>
                <a:latin typeface="Times New Roman"/>
                <a:ea typeface="標楷體"/>
                <a:cs typeface="Times New Roman"/>
              </a:rPr>
              <a:t>區段：</a:t>
            </a:r>
            <a:r>
              <a:rPr sz="1600" b="0" i="1">
                <a:solidFill>
                  <a:srgbClr val="25324A"/>
                </a:solidFill>
                <a:latin typeface="Times New Roman"/>
                <a:ea typeface="標楷體"/>
                <a:cs typeface="Times New Roman"/>
              </a:rPr>
              <a:t>lab-b-enter-exit-hold</a:t>
            </a:r>
          </a:p>
        </p:txBody>
      </p:sp>
      <p:sp>
        <p:nvSpPr>
          <p:cNvPr id="9" name="P026a beginner card 2"/>
          <p:cNvSpPr/>
          <p:nvPr/>
        </p:nvSpPr>
        <p:spPr>
          <a:xfrm>
            <a:off x="363016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6a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② Before</a:t>
            </a:r>
          </a:p>
        </p:txBody>
      </p:sp>
      <p:sp>
        <p:nvSpPr>
          <p:cNvPr id="11" name="P026a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連續穩定 2 步才保持</a:t>
            </a:r>
          </a:p>
          <a:p>
            <a:pPr algn="ctr">
              <a:lnSpc>
                <a:spcPct val="94000"/>
              </a:lnSpc>
              <a:spcBef>
                <a:spcPts val="0"/>
              </a:spcBef>
              <a:spcAft>
                <a:spcPts val="0"/>
              </a:spcAft>
            </a:pPr>
            <a:r>
              <a:rPr sz="1700" b="0" i="1">
                <a:solidFill>
                  <a:srgbClr val="25324A"/>
                </a:solidFill>
                <a:latin typeface="Times New Roman"/>
                <a:ea typeface="標楷體"/>
                <a:cs typeface="Times New Roman"/>
              </a:rPr>
              <a:t>STABLE_STEPS = 2</a:t>
            </a:r>
          </a:p>
        </p:txBody>
      </p:sp>
      <p:sp>
        <p:nvSpPr>
          <p:cNvPr id="12" name="P026a beginner card 3"/>
          <p:cNvSpPr/>
          <p:nvPr/>
        </p:nvSpPr>
        <p:spPr>
          <a:xfrm>
            <a:off x="641908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6a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③ After</a:t>
            </a:r>
          </a:p>
        </p:txBody>
      </p:sp>
      <p:sp>
        <p:nvSpPr>
          <p:cNvPr id="14" name="P026a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連續穩定 1 步即可</a:t>
            </a:r>
          </a:p>
          <a:p>
            <a:pPr algn="ctr">
              <a:lnSpc>
                <a:spcPct val="94000"/>
              </a:lnSpc>
              <a:spcBef>
                <a:spcPts val="0"/>
              </a:spcBef>
              <a:spcAft>
                <a:spcPts val="0"/>
              </a:spcAft>
            </a:pPr>
            <a:r>
              <a:rPr sz="1700" b="0" i="1">
                <a:solidFill>
                  <a:srgbClr val="25324A"/>
                </a:solidFill>
                <a:latin typeface="Times New Roman"/>
                <a:ea typeface="標楷體"/>
                <a:cs typeface="Times New Roman"/>
              </a:rPr>
              <a:t>STABLE_STEPS = 1</a:t>
            </a:r>
          </a:p>
        </p:txBody>
      </p:sp>
      <p:sp>
        <p:nvSpPr>
          <p:cNvPr id="15" name="P026a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6a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600" b="1" i="0">
                <a:solidFill>
                  <a:srgbClr val="660066"/>
                </a:solidFill>
                <a:latin typeface="Times New Roman"/>
                <a:ea typeface="標楷體"/>
                <a:cs typeface="Times New Roman"/>
              </a:rPr>
              <a:t>④ 不變／看什麼</a:t>
            </a:r>
          </a:p>
        </p:txBody>
      </p:sp>
      <p:sp>
        <p:nvSpPr>
          <p:cNvPr id="17" name="P026a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進入 2、退出 1；A/C、runner 不動</a:t>
            </a:r>
          </a:p>
          <a:p>
            <a:pPr algn="ctr">
              <a:lnSpc>
                <a:spcPct val="94000"/>
              </a:lnSpc>
              <a:spcBef>
                <a:spcPts val="0"/>
              </a:spcBef>
              <a:spcAft>
                <a:spcPts val="0"/>
              </a:spcAft>
            </a:pPr>
            <a:r>
              <a:rPr sz="1600" b="0" i="0">
                <a:solidFill>
                  <a:srgbClr val="25324A"/>
                </a:solidFill>
                <a:latin typeface="Times New Roman"/>
                <a:ea typeface="標楷體"/>
                <a:cs typeface="Times New Roman"/>
              </a:rPr>
              <a:t>看 action／transition／service／J</a:t>
            </a:r>
          </a:p>
        </p:txBody>
      </p:sp>
      <p:sp>
        <p:nvSpPr>
          <p:cNvPr id="18" name="P026a beginner causal strip"/>
          <p:cNvSpPr/>
          <p:nvPr/>
        </p:nvSpPr>
        <p:spPr>
          <a:xfrm>
            <a:off x="1133856" y="4224528"/>
            <a:ext cx="9948672" cy="5303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只改穩定步數 → 改變可送模式出現時間 → 影響送達與服務</a:t>
            </a:r>
          </a:p>
        </p:txBody>
      </p:sp>
      <p:sp>
        <p:nvSpPr>
          <p:cNvPr id="19" name="Field contract STABLE_STEPS"/>
          <p:cNvSpPr/>
          <p:nvPr/>
        </p:nvSpPr>
        <p:spPr>
          <a:xfrm>
            <a:off x="804672" y="4956048"/>
            <a:ext cx="10561320" cy="822960"/>
          </a:xfrm>
          <a:prstGeom prst="roundRect">
            <a:avLst/>
          </a:prstGeom>
          <a:solidFill>
            <a:srgbClr val="F7F8FC"/>
          </a:solidFill>
          <a:ln w="1270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STABLE_STEPS</a:t>
            </a:r>
            <a:r>
              <a:rPr sz="1800" b="0" i="0">
                <a:solidFill>
                  <a:srgbClr val="25356B"/>
                </a:solidFill>
                <a:latin typeface="Times New Roman"/>
                <a:ea typeface="標楷體"/>
                <a:cs typeface="Times New Roman"/>
              </a:rPr>
              <a:t>（穩定步數）｜來源：Lab B marked block｜作用：決定可送模式何時成立</a:t>
            </a:r>
          </a:p>
          <a:p>
            <a:pPr algn="l">
              <a:lnSpc>
                <a:spcPct val="90000"/>
              </a:lnSpc>
              <a:spcBef>
                <a:spcPts val="0"/>
              </a:spcBef>
              <a:spcAft>
                <a:spcPts val="0"/>
              </a:spcAft>
            </a:pPr>
            <a:r>
              <a:rPr sz="1800" b="0" i="0">
                <a:solidFill>
                  <a:srgbClr val="25356B"/>
                </a:solidFill>
                <a:latin typeface="Times New Roman"/>
                <a:ea typeface="標楷體"/>
                <a:cs typeface="Times New Roman"/>
              </a:rPr>
              <a:t>單位：steps｜判讀：比較 transition、送達、服務與端點 J</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P026b｜動作之後要讀哪些事件</a:t>
            </a:r>
          </a:p>
        </p:txBody>
      </p:sp>
      <p:sp>
        <p:nvSpPr>
          <p:cNvPr id="4" name="Content Placeholder 3"/>
          <p:cNvSpPr>
            <a:spLocks noGrp="1"/>
          </p:cNvSpPr>
          <p:nvPr>
            <p:ph idx="10"/>
          </p:nvPr>
        </p:nvSpPr>
        <p:spPr/>
        <p:txBody>
          <a:bodyPr/>
          <a:lstStyle/>
          <a:p/>
        </p:txBody>
      </p:sp>
      <p:sp>
        <p:nvSpPr>
          <p:cNvPr id="5" name="P026b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這一步把動作接到證據：先看到狀態事件，再判斷服務與成本</a:t>
            </a:r>
          </a:p>
        </p:txBody>
      </p:sp>
      <p:sp>
        <p:nvSpPr>
          <p:cNvPr id="6" name="P026b beginner card 1"/>
          <p:cNvSpPr/>
          <p:nvPr/>
        </p:nvSpPr>
        <p:spPr>
          <a:xfrm>
            <a:off x="84124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6b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007374"/>
                </a:solidFill>
                <a:latin typeface="Times New Roman"/>
                <a:ea typeface="標楷體"/>
                <a:cs typeface="Times New Roman"/>
              </a:rPr>
              <a:t>① WAIT 後</a:t>
            </a:r>
          </a:p>
        </p:txBody>
      </p:sp>
      <p:sp>
        <p:nvSpPr>
          <p:cNvPr id="8" name="P026b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清醒閒置時間增加</a:t>
            </a:r>
          </a:p>
          <a:p>
            <a:pPr algn="ctr">
              <a:lnSpc>
                <a:spcPct val="94000"/>
              </a:lnSpc>
              <a:spcBef>
                <a:spcPts val="0"/>
              </a:spcBef>
              <a:spcAft>
                <a:spcPts val="0"/>
              </a:spcAft>
            </a:pPr>
            <a:r>
              <a:rPr sz="1800" b="0" i="0">
                <a:solidFill>
                  <a:srgbClr val="25324A"/>
                </a:solidFill>
                <a:latin typeface="Times New Roman"/>
                <a:ea typeface="標楷體"/>
                <a:cs typeface="Times New Roman"/>
              </a:rPr>
              <a:t>改看 awake-idle</a:t>
            </a:r>
          </a:p>
        </p:txBody>
      </p:sp>
      <p:sp>
        <p:nvSpPr>
          <p:cNvPr id="9" name="P026b beginner card 2"/>
          <p:cNvSpPr/>
          <p:nvPr/>
        </p:nvSpPr>
        <p:spPr>
          <a:xfrm>
            <a:off x="363016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6b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② SLEEP 後</a:t>
            </a:r>
          </a:p>
        </p:txBody>
      </p:sp>
      <p:sp>
        <p:nvSpPr>
          <p:cNvPr id="11" name="P026b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休息再喚醒</a:t>
            </a:r>
          </a:p>
          <a:p>
            <a:pPr algn="ctr">
              <a:lnSpc>
                <a:spcPct val="94000"/>
              </a:lnSpc>
              <a:spcBef>
                <a:spcPts val="0"/>
              </a:spcBef>
              <a:spcAft>
                <a:spcPts val="0"/>
              </a:spcAft>
            </a:pPr>
            <a:r>
              <a:rPr sz="1800" b="0" i="0">
                <a:solidFill>
                  <a:srgbClr val="25324A"/>
                </a:solidFill>
                <a:latin typeface="Times New Roman"/>
                <a:ea typeface="標楷體"/>
                <a:cs typeface="Times New Roman"/>
              </a:rPr>
              <a:t>改看 sleep／wake</a:t>
            </a:r>
          </a:p>
        </p:txBody>
      </p:sp>
      <p:sp>
        <p:nvSpPr>
          <p:cNvPr id="12" name="P026b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6b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③ SEND 後</a:t>
            </a:r>
          </a:p>
        </p:txBody>
      </p:sp>
      <p:sp>
        <p:nvSpPr>
          <p:cNvPr id="14" name="P026b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處理、發射、接收</a:t>
            </a:r>
          </a:p>
          <a:p>
            <a:pPr algn="ctr">
              <a:lnSpc>
                <a:spcPct val="94000"/>
              </a:lnSpc>
              <a:spcBef>
                <a:spcPts val="0"/>
              </a:spcBef>
              <a:spcAft>
                <a:spcPts val="0"/>
              </a:spcAft>
            </a:pPr>
            <a:r>
              <a:rPr sz="1700" b="0" i="0">
                <a:solidFill>
                  <a:srgbClr val="25324A"/>
                </a:solidFill>
                <a:latin typeface="Times New Roman"/>
                <a:ea typeface="標楷體"/>
                <a:cs typeface="Times New Roman"/>
              </a:rPr>
              <a:t>再看 packet 是否送達</a:t>
            </a:r>
          </a:p>
        </p:txBody>
      </p:sp>
      <p:sp>
        <p:nvSpPr>
          <p:cNvPr id="15" name="P026b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6b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④ 結果</a:t>
            </a:r>
          </a:p>
        </p:txBody>
      </p:sp>
      <p:sp>
        <p:nvSpPr>
          <p:cNvPr id="17" name="P026b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服務成敗與端點焦耳</a:t>
            </a:r>
          </a:p>
          <a:p>
            <a:pPr algn="ctr">
              <a:lnSpc>
                <a:spcPct val="94000"/>
              </a:lnSpc>
              <a:spcBef>
                <a:spcPts val="0"/>
              </a:spcBef>
              <a:spcAft>
                <a:spcPts val="0"/>
              </a:spcAft>
            </a:pPr>
            <a:r>
              <a:rPr sz="1700" b="0" i="1">
                <a:solidFill>
                  <a:srgbClr val="25324A"/>
                </a:solidFill>
                <a:latin typeface="Times New Roman"/>
                <a:ea typeface="標楷體"/>
                <a:cs typeface="Times New Roman"/>
              </a:rPr>
              <a:t>endpoint_energy_j</a:t>
            </a:r>
          </a:p>
        </p:txBody>
      </p:sp>
      <p:sp>
        <p:nvSpPr>
          <p:cNvPr id="18" name="P026b beginner causal strip"/>
          <p:cNvSpPr/>
          <p:nvPr/>
        </p:nvSpPr>
        <p:spPr>
          <a:xfrm>
            <a:off x="1133856" y="4224528"/>
            <a:ext cx="9948672"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992A2A"/>
                </a:solidFill>
                <a:latin typeface="Times New Roman"/>
                <a:ea typeface="標楷體"/>
                <a:cs typeface="Times New Roman"/>
              </a:rPr>
              <a:t>動作 → 狀態／封包事件 → 服務結果 → 端點焦耳；不能倒過來</a:t>
            </a:r>
          </a:p>
        </p:txBody>
      </p:sp>
      <p:sp>
        <p:nvSpPr>
          <p:cNvPr id="19" name="Field contract endpoint_energy_j"/>
          <p:cNvSpPr/>
          <p:nvPr/>
        </p:nvSpPr>
        <p:spPr>
          <a:xfrm>
            <a:off x="804672" y="4956048"/>
            <a:ext cx="10561320" cy="822960"/>
          </a:xfrm>
          <a:prstGeom prst="roundRect">
            <a:avLst/>
          </a:prstGeom>
          <a:solidFill>
            <a:srgbClr val="F7F8FC"/>
          </a:solidFill>
          <a:ln w="1270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endpoint_energy_j</a:t>
            </a:r>
            <a:r>
              <a:rPr sz="1800" b="0" i="0">
                <a:solidFill>
                  <a:srgbClr val="25356B"/>
                </a:solidFill>
                <a:latin typeface="Times New Roman"/>
                <a:ea typeface="標楷體"/>
                <a:cs typeface="Times New Roman"/>
              </a:rPr>
              <a:t>（端點能量）｜來源：端點無線與處理模型｜作用：累積狀態與轉換能量</a:t>
            </a:r>
          </a:p>
          <a:p>
            <a:pPr algn="l">
              <a:lnSpc>
                <a:spcPct val="90000"/>
              </a:lnSpc>
              <a:spcBef>
                <a:spcPts val="0"/>
              </a:spcBef>
              <a:spcAft>
                <a:spcPts val="0"/>
              </a:spcAft>
            </a:pPr>
            <a:r>
              <a:rPr sz="1800" b="0" i="0">
                <a:solidFill>
                  <a:srgbClr val="25356B"/>
                </a:solidFill>
                <a:latin typeface="Times New Roman"/>
                <a:ea typeface="標楷體"/>
                <a:cs typeface="Times New Roman"/>
              </a:rPr>
              <a:t>單位：焦耳｜判讀：只屬端點證據，不等於系統能量</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P027a｜縮排與回傳決定程式走哪條路</a:t>
            </a:r>
          </a:p>
        </p:txBody>
      </p:sp>
      <p:sp>
        <p:nvSpPr>
          <p:cNvPr id="4" name="Content Placeholder 3"/>
          <p:cNvSpPr>
            <a:spLocks noGrp="1"/>
          </p:cNvSpPr>
          <p:nvPr>
            <p:ph idx="10"/>
          </p:nvPr>
        </p:nvSpPr>
        <p:spPr/>
        <p:txBody>
          <a:bodyPr/>
          <a:lstStyle/>
          <a:p/>
        </p:txBody>
      </p:sp>
      <p:sp>
        <p:nvSpPr>
          <p:cNvPr id="5" name="P027a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這一步只讀一小段程式：看縮排如何選分支，再把動作交回執行器</a:t>
            </a:r>
          </a:p>
        </p:txBody>
      </p:sp>
      <p:sp>
        <p:nvSpPr>
          <p:cNvPr id="6" name="P027a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7a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① 先看意思</a:t>
            </a:r>
          </a:p>
        </p:txBody>
      </p:sp>
      <p:sp>
        <p:nvSpPr>
          <p:cNvPr id="8" name="P027a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窗口關閉就不送</a:t>
            </a:r>
          </a:p>
          <a:p>
            <a:pPr algn="ctr">
              <a:lnSpc>
                <a:spcPct val="94000"/>
              </a:lnSpc>
              <a:spcBef>
                <a:spcPts val="0"/>
              </a:spcBef>
              <a:spcAft>
                <a:spcPts val="0"/>
              </a:spcAft>
            </a:pPr>
            <a:r>
              <a:rPr sz="1700" b="0" i="1">
                <a:solidFill>
                  <a:srgbClr val="25324A"/>
                </a:solidFill>
                <a:latin typeface="Times New Roman"/>
                <a:ea typeface="標楷體"/>
                <a:cs typeface="Times New Roman"/>
              </a:rPr>
              <a:t>if ...: return SLEEP</a:t>
            </a:r>
          </a:p>
        </p:txBody>
      </p:sp>
      <p:sp>
        <p:nvSpPr>
          <p:cNvPr id="9" name="P027a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7a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② 縮排做什麼</a:t>
            </a:r>
          </a:p>
        </p:txBody>
      </p:sp>
      <p:sp>
        <p:nvSpPr>
          <p:cNvPr id="11" name="P027a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把條件放進正確分支</a:t>
            </a:r>
          </a:p>
          <a:p>
            <a:pPr algn="ctr">
              <a:lnSpc>
                <a:spcPct val="94000"/>
              </a:lnSpc>
              <a:spcBef>
                <a:spcPts val="0"/>
              </a:spcBef>
              <a:spcAft>
                <a:spcPts val="0"/>
              </a:spcAft>
            </a:pPr>
            <a:r>
              <a:rPr sz="1700" b="0" i="0">
                <a:solidFill>
                  <a:srgbClr val="25324A"/>
                </a:solidFill>
                <a:latin typeface="Times New Roman"/>
                <a:ea typeface="標楷體"/>
                <a:cs typeface="Times New Roman"/>
              </a:rPr>
              <a:t>只修 active block</a:t>
            </a:r>
          </a:p>
        </p:txBody>
      </p:sp>
      <p:sp>
        <p:nvSpPr>
          <p:cNvPr id="12" name="P027a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7a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③ 先檢查</a:t>
            </a:r>
          </a:p>
        </p:txBody>
      </p:sp>
      <p:sp>
        <p:nvSpPr>
          <p:cNvPr id="14" name="P027a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執行 </a:t>
            </a:r>
            <a:r>
              <a:rPr sz="1700" b="0" i="1">
                <a:solidFill>
                  <a:srgbClr val="25324A"/>
                </a:solidFill>
                <a:latin typeface="Times New Roman"/>
                <a:ea typeface="標楷體"/>
                <a:cs typeface="Times New Roman"/>
              </a:rPr>
              <a:t>py_compile</a:t>
            </a:r>
          </a:p>
          <a:p>
            <a:pPr algn="ctr">
              <a:lnSpc>
                <a:spcPct val="94000"/>
              </a:lnSpc>
              <a:spcBef>
                <a:spcPts val="0"/>
              </a:spcBef>
              <a:spcAft>
                <a:spcPts val="0"/>
              </a:spcAft>
            </a:pPr>
            <a:r>
              <a:rPr sz="1700" b="0" i="0">
                <a:solidFill>
                  <a:srgbClr val="25324A"/>
                </a:solidFill>
                <a:latin typeface="Times New Roman"/>
                <a:ea typeface="標楷體"/>
                <a:cs typeface="Times New Roman"/>
              </a:rPr>
              <a:t>只檢查語法、不改檔</a:t>
            </a:r>
          </a:p>
        </p:txBody>
      </p:sp>
      <p:sp>
        <p:nvSpPr>
          <p:cNvPr id="15" name="P027a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7a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④ 下一步／看什麼</a:t>
            </a:r>
          </a:p>
        </p:txBody>
      </p:sp>
      <p:sp>
        <p:nvSpPr>
          <p:cNvPr id="17" name="P027a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通過後跑 baseline</a:t>
            </a:r>
          </a:p>
          <a:p>
            <a:pPr algn="ctr">
              <a:lnSpc>
                <a:spcPct val="94000"/>
              </a:lnSpc>
              <a:spcBef>
                <a:spcPts val="0"/>
              </a:spcBef>
              <a:spcAft>
                <a:spcPts val="0"/>
              </a:spcAft>
            </a:pPr>
            <a:r>
              <a:rPr sz="1700" b="0" i="0">
                <a:solidFill>
                  <a:srgbClr val="25324A"/>
                </a:solidFill>
                <a:latin typeface="Times New Roman"/>
                <a:ea typeface="標楷體"/>
                <a:cs typeface="Times New Roman"/>
              </a:rPr>
              <a:t>讀 result／replay pair</a:t>
            </a:r>
          </a:p>
        </p:txBody>
      </p:sp>
      <p:sp>
        <p:nvSpPr>
          <p:cNvPr id="18" name="P027a beginner causal strip"/>
          <p:cNvSpPr/>
          <p:nvPr/>
        </p:nvSpPr>
        <p:spPr>
          <a:xfrm>
            <a:off x="1133856" y="4224528"/>
            <a:ext cx="9948672"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縮排 → 分支 → 回傳 → runner 事件；語法檢查不改內容</a:t>
            </a:r>
          </a:p>
        </p:txBody>
      </p:sp>
      <p:sp>
        <p:nvSpPr>
          <p:cNvPr id="19" name="Field contract return"/>
          <p:cNvSpPr/>
          <p:nvPr/>
        </p:nvSpPr>
        <p:spPr>
          <a:xfrm>
            <a:off x="804672" y="4956048"/>
            <a:ext cx="10561320" cy="822960"/>
          </a:xfrm>
          <a:prstGeom prst="roundRect">
            <a:avLst/>
          </a:prstGeom>
          <a:solidFill>
            <a:srgbClr val="F7F8FC"/>
          </a:solidFill>
          <a:ln w="1270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return</a:t>
            </a:r>
            <a:r>
              <a:rPr sz="1800" b="0" i="0">
                <a:solidFill>
                  <a:srgbClr val="25356B"/>
                </a:solidFill>
                <a:latin typeface="Times New Roman"/>
                <a:ea typeface="標楷體"/>
                <a:cs typeface="Times New Roman"/>
              </a:rPr>
              <a:t>（回傳）｜來源：policy function｜作用：把一個合法動作交給執行器</a:t>
            </a:r>
          </a:p>
          <a:p>
            <a:pPr algn="l">
              <a:lnSpc>
                <a:spcPct val="90000"/>
              </a:lnSpc>
              <a:spcBef>
                <a:spcPts val="0"/>
              </a:spcBef>
              <a:spcAft>
                <a:spcPts val="0"/>
              </a:spcAft>
            </a:pPr>
            <a:r>
              <a:rPr sz="1800" b="0" i="0">
                <a:solidFill>
                  <a:srgbClr val="25356B"/>
                </a:solidFill>
                <a:latin typeface="Times New Roman"/>
                <a:ea typeface="標楷體"/>
                <a:cs typeface="Times New Roman"/>
              </a:rPr>
              <a:t>單位：動作值｜判讀：語法通過後再看 result／replay 的實際事件</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P027b｜先建立基準結果再比較</a:t>
            </a:r>
          </a:p>
        </p:txBody>
      </p:sp>
      <p:sp>
        <p:nvSpPr>
          <p:cNvPr id="4" name="Content Placeholder 3"/>
          <p:cNvSpPr>
            <a:spLocks noGrp="1"/>
          </p:cNvSpPr>
          <p:nvPr>
            <p:ph idx="10"/>
          </p:nvPr>
        </p:nvSpPr>
        <p:spPr/>
        <p:txBody>
          <a:bodyPr/>
          <a:lstStyle/>
          <a:p/>
        </p:txBody>
      </p:sp>
      <p:sp>
        <p:nvSpPr>
          <p:cNvPr id="5" name="P027b beginner takeaway"/>
          <p:cNvSpPr txBox="1"/>
          <p:nvPr/>
        </p:nvSpPr>
        <p:spPr>
          <a:xfrm>
            <a:off x="932688" y="960120"/>
            <a:ext cx="10332720" cy="475488"/>
          </a:xfrm>
          <a:prstGeom prst="rect">
            <a:avLst/>
          </a:prstGeom>
          <a:noFill/>
        </p:spPr>
        <p:txBody>
          <a:bodyPr wrap="square" anchor="ctr" lIns="18288" tIns="0" rIns="18288" bIns="0">
            <a:spAutoFit/>
          </a:bodyPr>
          <a:lstStyle/>
          <a:p>
            <a:pPr algn="ctr">
              <a:lnSpc>
                <a:spcPct val="96000"/>
              </a:lnSpc>
              <a:spcBef>
                <a:spcPts val="0"/>
              </a:spcBef>
              <a:spcAft>
                <a:spcPts val="0"/>
              </a:spcAft>
            </a:pPr>
            <a:r>
              <a:rPr sz="2400" b="1" i="0">
                <a:solidFill>
                  <a:srgbClr val="25356B"/>
                </a:solidFill>
                <a:latin typeface="Times New Roman"/>
                <a:ea typeface="標楷體"/>
                <a:cs typeface="Times New Roman"/>
              </a:rPr>
              <a:t>這一步先保存沒有改動的基準，下一步才比較候選值</a:t>
            </a:r>
          </a:p>
        </p:txBody>
      </p:sp>
      <p:sp>
        <p:nvSpPr>
          <p:cNvPr id="6" name="P027b beginner card 1"/>
          <p:cNvSpPr/>
          <p:nvPr/>
        </p:nvSpPr>
        <p:spPr>
          <a:xfrm>
            <a:off x="841248" y="1664208"/>
            <a:ext cx="2505456" cy="23591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27b beginner card 1 heading"/>
          <p:cNvSpPr txBox="1"/>
          <p:nvPr/>
        </p:nvSpPr>
        <p:spPr>
          <a:xfrm>
            <a:off x="98755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① 固定輸入</a:t>
            </a:r>
          </a:p>
        </p:txBody>
      </p:sp>
      <p:sp>
        <p:nvSpPr>
          <p:cNvPr id="8" name="P027b beginner card 1 body"/>
          <p:cNvSpPr txBox="1"/>
          <p:nvPr/>
        </p:nvSpPr>
        <p:spPr>
          <a:xfrm>
            <a:off x="100584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800" b="0" i="0">
                <a:solidFill>
                  <a:srgbClr val="25324A"/>
                </a:solidFill>
                <a:latin typeface="Times New Roman"/>
                <a:ea typeface="標楷體"/>
                <a:cs typeface="Times New Roman"/>
              </a:rPr>
              <a:t>packaged policy＋固定情境</a:t>
            </a:r>
          </a:p>
          <a:p>
            <a:pPr algn="ctr">
              <a:lnSpc>
                <a:spcPct val="94000"/>
              </a:lnSpc>
              <a:spcBef>
                <a:spcPts val="0"/>
              </a:spcBef>
              <a:spcAft>
                <a:spcPts val="0"/>
              </a:spcAft>
            </a:pPr>
            <a:r>
              <a:rPr sz="1800" b="0" i="0">
                <a:solidFill>
                  <a:srgbClr val="25324A"/>
                </a:solidFill>
                <a:latin typeface="Times New Roman"/>
                <a:ea typeface="標楷體"/>
                <a:cs typeface="Times New Roman"/>
              </a:rPr>
              <a:t>不讀未來結果</a:t>
            </a:r>
          </a:p>
        </p:txBody>
      </p:sp>
      <p:sp>
        <p:nvSpPr>
          <p:cNvPr id="9" name="P027b beginner card 2"/>
          <p:cNvSpPr/>
          <p:nvPr/>
        </p:nvSpPr>
        <p:spPr>
          <a:xfrm>
            <a:off x="3630168" y="1664208"/>
            <a:ext cx="2505456" cy="23591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27b beginner card 2 heading"/>
          <p:cNvSpPr txBox="1"/>
          <p:nvPr/>
        </p:nvSpPr>
        <p:spPr>
          <a:xfrm>
            <a:off x="377647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700" b="1" i="0">
                <a:solidFill>
                  <a:srgbClr val="007374"/>
                </a:solidFill>
                <a:latin typeface="Times New Roman"/>
                <a:ea typeface="標楷體"/>
                <a:cs typeface="Times New Roman"/>
              </a:rPr>
              <a:t>② 執行命令</a:t>
            </a:r>
          </a:p>
        </p:txBody>
      </p:sp>
      <p:sp>
        <p:nvSpPr>
          <p:cNvPr id="11" name="P027b beginner card 2 body"/>
          <p:cNvSpPr txBox="1"/>
          <p:nvPr/>
        </p:nvSpPr>
        <p:spPr>
          <a:xfrm>
            <a:off x="379476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只跑 baseline</a:t>
            </a:r>
          </a:p>
          <a:p>
            <a:pPr algn="ctr">
              <a:lnSpc>
                <a:spcPct val="94000"/>
              </a:lnSpc>
              <a:spcBef>
                <a:spcPts val="0"/>
              </a:spcBef>
              <a:spcAft>
                <a:spcPts val="0"/>
              </a:spcAft>
            </a:pPr>
            <a:r>
              <a:rPr sz="1600" b="0" i="1">
                <a:solidFill>
                  <a:srgbClr val="25324A"/>
                </a:solidFill>
                <a:latin typeface="Times New Roman"/>
                <a:ea typeface="標楷體"/>
                <a:cs typeface="Times New Roman"/>
              </a:rPr>
              <a:t>bash course.sh run --lab A --case baseline</a:t>
            </a:r>
          </a:p>
        </p:txBody>
      </p:sp>
      <p:sp>
        <p:nvSpPr>
          <p:cNvPr id="12" name="P027b beginner card 3"/>
          <p:cNvSpPr/>
          <p:nvPr/>
        </p:nvSpPr>
        <p:spPr>
          <a:xfrm>
            <a:off x="6419088" y="1664208"/>
            <a:ext cx="2505456" cy="23591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27b beginner card 3 heading"/>
          <p:cNvSpPr txBox="1"/>
          <p:nvPr/>
        </p:nvSpPr>
        <p:spPr>
          <a:xfrm>
            <a:off x="656539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③ 產生結果</a:t>
            </a:r>
          </a:p>
        </p:txBody>
      </p:sp>
      <p:sp>
        <p:nvSpPr>
          <p:cNvPr id="14" name="P027b beginner card 3 body"/>
          <p:cNvSpPr txBox="1"/>
          <p:nvPr/>
        </p:nvSpPr>
        <p:spPr>
          <a:xfrm>
            <a:off x="6583679"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700" b="0" i="0">
                <a:solidFill>
                  <a:srgbClr val="25324A"/>
                </a:solidFill>
                <a:latin typeface="Times New Roman"/>
                <a:ea typeface="標楷體"/>
                <a:cs typeface="Times New Roman"/>
              </a:rPr>
              <a:t>新增 result／replay pair</a:t>
            </a:r>
          </a:p>
          <a:p>
            <a:pPr algn="ctr">
              <a:lnSpc>
                <a:spcPct val="94000"/>
              </a:lnSpc>
              <a:spcBef>
                <a:spcPts val="0"/>
              </a:spcBef>
              <a:spcAft>
                <a:spcPts val="0"/>
              </a:spcAft>
            </a:pPr>
            <a:r>
              <a:rPr sz="1700" b="0" i="0">
                <a:solidFill>
                  <a:srgbClr val="25324A"/>
                </a:solidFill>
                <a:latin typeface="Times New Roman"/>
                <a:ea typeface="標楷體"/>
                <a:cs typeface="Times New Roman"/>
              </a:rPr>
              <a:t>原始程式不回寫</a:t>
            </a:r>
          </a:p>
        </p:txBody>
      </p:sp>
      <p:sp>
        <p:nvSpPr>
          <p:cNvPr id="15" name="P027b beginner card 4"/>
          <p:cNvSpPr/>
          <p:nvPr/>
        </p:nvSpPr>
        <p:spPr>
          <a:xfrm>
            <a:off x="9208008" y="1664208"/>
            <a:ext cx="2505456" cy="23591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27b beginner card 4 heading"/>
          <p:cNvSpPr txBox="1"/>
          <p:nvPr/>
        </p:nvSpPr>
        <p:spPr>
          <a:xfrm>
            <a:off x="9354312" y="1847088"/>
            <a:ext cx="2212848" cy="530352"/>
          </a:xfrm>
          <a:prstGeom prst="rect">
            <a:avLst/>
          </a:prstGeom>
          <a:noFill/>
        </p:spPr>
        <p:txBody>
          <a:bodyPr wrap="square" anchor="ctr" lIns="27432" tIns="9144" rIns="27432" bIns="9144">
            <a:spAutoFit/>
          </a:bodyPr>
          <a:lstStyle/>
          <a:p>
            <a:pPr algn="ctr">
              <a:lnSpc>
                <a:spcPct val="92000"/>
              </a:lnSpc>
              <a:spcBef>
                <a:spcPts val="0"/>
              </a:spcBef>
              <a:spcAft>
                <a:spcPts val="0"/>
              </a:spcAft>
            </a:pPr>
            <a:r>
              <a:rPr sz="1700" b="1" i="0">
                <a:solidFill>
                  <a:srgbClr val="660066"/>
                </a:solidFill>
                <a:latin typeface="Times New Roman"/>
                <a:ea typeface="標楷體"/>
                <a:cs typeface="Times New Roman"/>
              </a:rPr>
              <a:t>④ 下一步／看什麼</a:t>
            </a:r>
          </a:p>
        </p:txBody>
      </p:sp>
      <p:sp>
        <p:nvSpPr>
          <p:cNvPr id="17" name="P027b beginner card 4 body"/>
          <p:cNvSpPr txBox="1"/>
          <p:nvPr/>
        </p:nvSpPr>
        <p:spPr>
          <a:xfrm>
            <a:off x="9372600" y="2560320"/>
            <a:ext cx="2176272" cy="1280160"/>
          </a:xfrm>
          <a:prstGeom prst="rect">
            <a:avLst/>
          </a:prstGeom>
          <a:noFill/>
        </p:spPr>
        <p:txBody>
          <a:bodyPr wrap="square" anchor="ctr" lIns="45720" tIns="9144" rIns="45720" bIns="9144">
            <a:spAutoFit/>
          </a:bodyPr>
          <a:lstStyle/>
          <a:p>
            <a:pPr algn="ctr">
              <a:lnSpc>
                <a:spcPct val="94000"/>
              </a:lnSpc>
              <a:spcBef>
                <a:spcPts val="0"/>
              </a:spcBef>
              <a:spcAft>
                <a:spcPts val="0"/>
              </a:spcAft>
            </a:pPr>
            <a:r>
              <a:rPr sz="1600" b="0" i="0">
                <a:solidFill>
                  <a:srgbClr val="25324A"/>
                </a:solidFill>
                <a:latin typeface="Times New Roman"/>
                <a:ea typeface="標楷體"/>
                <a:cs typeface="Times New Roman"/>
              </a:rPr>
              <a:t>確認 </a:t>
            </a:r>
            <a:r>
              <a:rPr sz="1600" b="0" i="1">
                <a:solidFill>
                  <a:srgbClr val="25324A"/>
                </a:solidFill>
                <a:latin typeface="Times New Roman"/>
                <a:ea typeface="標楷體"/>
                <a:cs typeface="Times New Roman"/>
              </a:rPr>
              <a:t>status: OK</a:t>
            </a:r>
            <a:r>
              <a:rPr sz="1600" b="0" i="0">
                <a:solidFill>
                  <a:srgbClr val="25324A"/>
                </a:solidFill>
                <a:latin typeface="Times New Roman"/>
                <a:ea typeface="標楷體"/>
                <a:cs typeface="Times New Roman"/>
              </a:rPr>
              <a:t>、路徑</a:t>
            </a:r>
          </a:p>
          <a:p>
            <a:pPr algn="ctr">
              <a:lnSpc>
                <a:spcPct val="94000"/>
              </a:lnSpc>
              <a:spcBef>
                <a:spcPts val="0"/>
              </a:spcBef>
              <a:spcAft>
                <a:spcPts val="0"/>
              </a:spcAft>
            </a:pPr>
            <a:r>
              <a:rPr sz="1600" b="0" i="0">
                <a:solidFill>
                  <a:srgbClr val="25324A"/>
                </a:solidFill>
                <a:latin typeface="Times New Roman"/>
                <a:ea typeface="標楷體"/>
                <a:cs typeface="Times New Roman"/>
              </a:rPr>
              <a:t>先 service，再成本</a:t>
            </a:r>
          </a:p>
        </p:txBody>
      </p:sp>
      <p:sp>
        <p:nvSpPr>
          <p:cNvPr id="18" name="P027b beginner causal strip"/>
          <p:cNvSpPr/>
          <p:nvPr/>
        </p:nvSpPr>
        <p:spPr>
          <a:xfrm>
            <a:off x="1133856" y="4224528"/>
            <a:ext cx="9948672" cy="53035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09728" tIns="36576" rIns="109728" bIns="36576"/>
          <a:lstStyle/>
          <a:p>
            <a:pPr algn="ctr">
              <a:lnSpc>
                <a:spcPct val="95000"/>
              </a:lnSpc>
              <a:spcBef>
                <a:spcPts val="0"/>
              </a:spcBef>
              <a:spcAft>
                <a:spcPts val="0"/>
              </a:spcAft>
            </a:pPr>
            <a:r>
              <a:rPr sz="2000" b="1" i="0">
                <a:solidFill>
                  <a:srgbClr val="25356B"/>
                </a:solidFill>
                <a:latin typeface="Times New Roman"/>
                <a:ea typeface="標楷體"/>
                <a:cs typeface="Times New Roman"/>
              </a:rPr>
              <a:t>先保存基準，再凍結規則，最後比較候選；結果不能回頭改 block</a:t>
            </a:r>
          </a:p>
        </p:txBody>
      </p:sp>
      <p:sp>
        <p:nvSpPr>
          <p:cNvPr id="19" name="Field contract result_path"/>
          <p:cNvSpPr/>
          <p:nvPr/>
        </p:nvSpPr>
        <p:spPr>
          <a:xfrm>
            <a:off x="804672" y="4956048"/>
            <a:ext cx="10561320" cy="822960"/>
          </a:xfrm>
          <a:prstGeom prst="roundRect">
            <a:avLst/>
          </a:prstGeom>
          <a:solidFill>
            <a:srgbClr val="F7F8FC"/>
          </a:solidFill>
          <a:ln w="1270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164592" tIns="27432" rIns="164592" bIns="27432"/>
          <a:lstStyle/>
          <a:p>
            <a:pPr algn="l">
              <a:lnSpc>
                <a:spcPct val="90000"/>
              </a:lnSpc>
              <a:spcBef>
                <a:spcPts val="0"/>
              </a:spcBef>
              <a:spcAft>
                <a:spcPts val="0"/>
              </a:spcAft>
            </a:pPr>
            <a:r>
              <a:rPr sz="1800" b="0" i="1">
                <a:solidFill>
                  <a:srgbClr val="25356B"/>
                </a:solidFill>
                <a:latin typeface="Times New Roman"/>
                <a:ea typeface="標楷體"/>
                <a:cs typeface="Times New Roman"/>
              </a:rPr>
              <a:t>result_path</a:t>
            </a:r>
            <a:r>
              <a:rPr sz="1800" b="0" i="0">
                <a:solidFill>
                  <a:srgbClr val="25356B"/>
                </a:solidFill>
                <a:latin typeface="Times New Roman"/>
                <a:ea typeface="標楷體"/>
                <a:cs typeface="Times New Roman"/>
              </a:rPr>
              <a:t>（結果檔路徑）｜來源：命令輸出｜作用：定位 result.json</a:t>
            </a:r>
          </a:p>
          <a:p>
            <a:pPr algn="l">
              <a:lnSpc>
                <a:spcPct val="90000"/>
              </a:lnSpc>
              <a:spcBef>
                <a:spcPts val="0"/>
              </a:spcBef>
              <a:spcAft>
                <a:spcPts val="0"/>
              </a:spcAft>
            </a:pPr>
            <a:r>
              <a:rPr sz="1800" b="0" i="0">
                <a:solidFill>
                  <a:srgbClr val="25356B"/>
                </a:solidFill>
                <a:latin typeface="Times New Roman"/>
                <a:ea typeface="標楷體"/>
                <a:cs typeface="Times New Roman"/>
              </a:rPr>
              <a:t>單位：路徑文字｜判讀：與同一案例的 endpoint replay 配對</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P028｜Radio state 的停留與能量</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action 是一次決策；state interval 才留下時間與能量證據</a:t>
            </a:r>
          </a:p>
        </p:txBody>
      </p:sp>
      <p:sp>
        <p:nvSpPr>
          <p:cNvPr id="4" name="Radio state group 1"/>
          <p:cNvSpPr/>
          <p:nvPr/>
        </p:nvSpPr>
        <p:spPr>
          <a:xfrm>
            <a:off x="868680" y="1481328"/>
            <a:ext cx="3246120" cy="2084831"/>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adio state group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SLEEP／WAIT</a:t>
            </a:r>
          </a:p>
        </p:txBody>
      </p:sp>
      <p:sp>
        <p:nvSpPr>
          <p:cNvPr id="6" name="Radio state group 1 body"/>
          <p:cNvSpPr txBox="1"/>
          <p:nvPr/>
        </p:nvSpPr>
        <p:spPr>
          <a:xfrm>
            <a:off x="996695"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200" b="0" i="0">
                <a:solidFill>
                  <a:srgbClr val="25324A"/>
                </a:solidFill>
                <a:latin typeface="Times New Roman"/>
                <a:ea typeface="標楷體"/>
                <a:cs typeface="Times New Roman"/>
              </a:rPr>
              <a:t>SLEEP：低功耗休息</a:t>
            </a:r>
          </a:p>
          <a:p>
            <a:pPr algn="ctr">
              <a:lnSpc>
                <a:spcPct val="92000"/>
              </a:lnSpc>
              <a:spcBef>
                <a:spcPts val="0"/>
              </a:spcBef>
              <a:spcAft>
                <a:spcPts val="0"/>
              </a:spcAft>
            </a:pPr>
            <a:r>
              <a:rPr sz="2200" b="0" i="0">
                <a:solidFill>
                  <a:srgbClr val="25324A"/>
                </a:solidFill>
                <a:latin typeface="Times New Roman"/>
                <a:ea typeface="標楷體"/>
                <a:cs typeface="Times New Roman"/>
              </a:rPr>
              <a:t>WAIT：清醒閒置，累積 </a:t>
            </a:r>
            <a:r>
              <a:rPr sz="2200" b="0" i="1">
                <a:solidFill>
                  <a:srgbClr val="25324A"/>
                </a:solidFill>
                <a:latin typeface="Times New Roman"/>
                <a:ea typeface="標楷體"/>
                <a:cs typeface="Times New Roman"/>
              </a:rPr>
              <a:t>awake_idle</a:t>
            </a:r>
          </a:p>
        </p:txBody>
      </p:sp>
      <p:sp>
        <p:nvSpPr>
          <p:cNvPr id="7" name="State causal connector"/>
          <p:cNvSpPr/>
          <p:nvPr/>
        </p:nvSpPr>
        <p:spPr>
          <a:xfrm>
            <a:off x="4215384" y="2286000"/>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adio state group 2"/>
          <p:cNvSpPr/>
          <p:nvPr/>
        </p:nvSpPr>
        <p:spPr>
          <a:xfrm>
            <a:off x="4471416" y="1481328"/>
            <a:ext cx="3246120" cy="2084831"/>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adio state group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WAKE／PROCESS</a:t>
            </a:r>
          </a:p>
        </p:txBody>
      </p:sp>
      <p:sp>
        <p:nvSpPr>
          <p:cNvPr id="10" name="Radio state group 2 body"/>
          <p:cNvSpPr txBox="1"/>
          <p:nvPr/>
        </p:nvSpPr>
        <p:spPr>
          <a:xfrm>
            <a:off x="4599431"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200" b="0" i="0">
                <a:solidFill>
                  <a:srgbClr val="25324A"/>
                </a:solidFill>
                <a:latin typeface="Times New Roman"/>
                <a:ea typeface="標楷體"/>
                <a:cs typeface="Times New Roman"/>
              </a:rPr>
              <a:t>WAKE：回復成本</a:t>
            </a:r>
          </a:p>
          <a:p>
            <a:pPr algn="ctr">
              <a:lnSpc>
                <a:spcPct val="92000"/>
              </a:lnSpc>
              <a:spcBef>
                <a:spcPts val="0"/>
              </a:spcBef>
              <a:spcAft>
                <a:spcPts val="0"/>
              </a:spcAft>
            </a:pPr>
            <a:r>
              <a:rPr sz="2200" b="0" i="0">
                <a:solidFill>
                  <a:srgbClr val="25324A"/>
                </a:solidFill>
                <a:latin typeface="Times New Roman"/>
                <a:ea typeface="標楷體"/>
                <a:cs typeface="Times New Roman"/>
              </a:rPr>
              <a:t>PROCESS：封包處理區間</a:t>
            </a:r>
          </a:p>
        </p:txBody>
      </p:sp>
      <p:sp>
        <p:nvSpPr>
          <p:cNvPr id="11" name="State causal connector"/>
          <p:cNvSpPr/>
          <p:nvPr/>
        </p:nvSpPr>
        <p:spPr>
          <a:xfrm>
            <a:off x="7818120" y="2286000"/>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adio state group 3"/>
          <p:cNvSpPr/>
          <p:nvPr/>
        </p:nvSpPr>
        <p:spPr>
          <a:xfrm>
            <a:off x="8074152" y="1481328"/>
            <a:ext cx="3246120" cy="2084831"/>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adio state group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TX／RX</a:t>
            </a:r>
          </a:p>
        </p:txBody>
      </p:sp>
      <p:sp>
        <p:nvSpPr>
          <p:cNvPr id="14" name="Radio state group 3 body"/>
          <p:cNvSpPr txBox="1"/>
          <p:nvPr/>
        </p:nvSpPr>
        <p:spPr>
          <a:xfrm>
            <a:off x="8202168"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200" b="0" i="0">
                <a:solidFill>
                  <a:srgbClr val="25324A"/>
                </a:solidFill>
                <a:latin typeface="Times New Roman"/>
                <a:ea typeface="標楷體"/>
                <a:cs typeface="Times New Roman"/>
              </a:rPr>
              <a:t>TX：發射區間</a:t>
            </a:r>
          </a:p>
          <a:p>
            <a:pPr algn="ctr">
              <a:lnSpc>
                <a:spcPct val="92000"/>
              </a:lnSpc>
              <a:spcBef>
                <a:spcPts val="0"/>
              </a:spcBef>
              <a:spcAft>
                <a:spcPts val="0"/>
              </a:spcAft>
            </a:pPr>
            <a:r>
              <a:rPr sz="2200" b="0" i="0">
                <a:solidFill>
                  <a:srgbClr val="25324A"/>
                </a:solidFill>
                <a:latin typeface="Times New Roman"/>
                <a:ea typeface="標楷體"/>
                <a:cs typeface="Times New Roman"/>
              </a:rPr>
              <a:t>RX：接收區間</a:t>
            </a:r>
          </a:p>
        </p:txBody>
      </p:sp>
      <p:sp>
        <p:nvSpPr>
          <p:cNvPr id="15" name="State causal chain"/>
          <p:cNvSpPr/>
          <p:nvPr/>
        </p:nvSpPr>
        <p:spPr>
          <a:xfrm>
            <a:off x="932688" y="3968496"/>
            <a:ext cx="4882896" cy="713232"/>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100" b="1" i="0">
                <a:solidFill>
                  <a:srgbClr val="25356B"/>
                </a:solidFill>
                <a:latin typeface="Times New Roman"/>
                <a:ea typeface="標楷體"/>
                <a:cs typeface="Times New Roman"/>
              </a:rPr>
              <a:t>完整讀法：action → state interval → energy bucket</a:t>
            </a:r>
          </a:p>
        </p:txBody>
      </p:sp>
      <p:sp>
        <p:nvSpPr>
          <p:cNvPr id="16" name="State interpretation"/>
          <p:cNvSpPr/>
          <p:nvPr/>
        </p:nvSpPr>
        <p:spPr>
          <a:xfrm>
            <a:off x="6364224" y="3968496"/>
            <a:ext cx="4882896" cy="71323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000" b="1" i="0">
                <a:solidFill>
                  <a:srgbClr val="25356B"/>
                </a:solidFill>
                <a:latin typeface="Times New Roman"/>
                <a:ea typeface="標楷體"/>
                <a:cs typeface="Times New Roman"/>
              </a:rPr>
              <a:t>action 名稱只標記一次決策；duration 才形成 J</a:t>
            </a:r>
          </a:p>
        </p:txBody>
      </p:sp>
      <p:sp>
        <p:nvSpPr>
          <p:cNvPr id="17" name="Field contract radio_state"/>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radio_state</a:t>
            </a:r>
            <a:r>
              <a:rPr sz="1600" b="0" i="0">
                <a:solidFill>
                  <a:srgbClr val="25356B"/>
                </a:solidFill>
                <a:latin typeface="Times New Roman"/>
                <a:ea typeface="標楷體"/>
                <a:cs typeface="Times New Roman"/>
              </a:rPr>
              <a:t>（無線狀態）｜來源：runner events｜作用：標記停留區間</a:t>
            </a:r>
          </a:p>
          <a:p>
            <a:pPr algn="l">
              <a:lnSpc>
                <a:spcPct val="78000"/>
              </a:lnSpc>
              <a:spcBef>
                <a:spcPts val="0"/>
              </a:spcBef>
              <a:spcAft>
                <a:spcPts val="0"/>
              </a:spcAft>
            </a:pPr>
            <a:r>
              <a:rPr sz="1600" b="0" i="0">
                <a:solidFill>
                  <a:srgbClr val="25356B"/>
                </a:solidFill>
                <a:latin typeface="Times New Roman"/>
                <a:ea typeface="標楷體"/>
                <a:cs typeface="Times New Roman"/>
              </a:rPr>
              <a:t>單位：state＋s｜判讀：對回 energy bucket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P029｜Lab A：空檔 action 的服務與能量</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固定工作與服務窗口，只變更空檔 action 的因果假說</a:t>
            </a:r>
          </a:p>
        </p:txBody>
      </p:sp>
      <p:sp>
        <p:nvSpPr>
          <p:cNvPr id="4" name="Lab A purpose card 1"/>
          <p:cNvSpPr/>
          <p:nvPr/>
        </p:nvSpPr>
        <p:spPr>
          <a:xfrm>
            <a:off x="868680" y="1463040"/>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 A purpose card 1 heading"/>
          <p:cNvSpPr txBox="1"/>
          <p:nvPr/>
        </p:nvSpPr>
        <p:spPr>
          <a:xfrm>
            <a:off x="960120" y="1572768"/>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為何做</a:t>
            </a:r>
          </a:p>
        </p:txBody>
      </p:sp>
      <p:sp>
        <p:nvSpPr>
          <p:cNvPr id="6" name="Lab A purpose card 1 body"/>
          <p:cNvSpPr txBox="1"/>
          <p:nvPr/>
        </p:nvSpPr>
        <p:spPr>
          <a:xfrm>
            <a:off x="996695" y="1993392"/>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同一份 workload</a:t>
            </a:r>
          </a:p>
          <a:p>
            <a:pPr algn="ctr">
              <a:lnSpc>
                <a:spcPct val="92000"/>
              </a:lnSpc>
              <a:spcBef>
                <a:spcPts val="0"/>
              </a:spcBef>
              <a:spcAft>
                <a:spcPts val="0"/>
              </a:spcAft>
            </a:pPr>
            <a:r>
              <a:rPr sz="2100" b="0" i="0">
                <a:solidFill>
                  <a:srgbClr val="25324A"/>
                </a:solidFill>
                <a:latin typeface="Times New Roman"/>
                <a:ea typeface="標楷體"/>
                <a:cs typeface="Times New Roman"/>
              </a:rPr>
              <a:t>檢驗空檔 state 是否改變 service 與 J</a:t>
            </a:r>
          </a:p>
        </p:txBody>
      </p:sp>
      <p:sp>
        <p:nvSpPr>
          <p:cNvPr id="7" name="Lab A causal connector"/>
          <p:cNvSpPr/>
          <p:nvPr/>
        </p:nvSpPr>
        <p:spPr>
          <a:xfrm>
            <a:off x="4215384" y="2267712"/>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 A purpose card 2"/>
          <p:cNvSpPr/>
          <p:nvPr/>
        </p:nvSpPr>
        <p:spPr>
          <a:xfrm>
            <a:off x="4471416" y="1463040"/>
            <a:ext cx="3246120"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 A purpose card 2 heading"/>
          <p:cNvSpPr txBox="1"/>
          <p:nvPr/>
        </p:nvSpPr>
        <p:spPr>
          <a:xfrm>
            <a:off x="4562855" y="1572768"/>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Mechanism</a:t>
            </a:r>
          </a:p>
        </p:txBody>
      </p:sp>
      <p:sp>
        <p:nvSpPr>
          <p:cNvPr id="10" name="Lab A purpose card 2 body"/>
          <p:cNvSpPr txBox="1"/>
          <p:nvPr/>
        </p:nvSpPr>
        <p:spPr>
          <a:xfrm>
            <a:off x="4599431" y="1993392"/>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SLEEP：idle power ↓，後續 WAKE</a:t>
            </a:r>
          </a:p>
          <a:p>
            <a:pPr algn="ctr">
              <a:lnSpc>
                <a:spcPct val="92000"/>
              </a:lnSpc>
              <a:spcBef>
                <a:spcPts val="0"/>
              </a:spcBef>
              <a:spcAft>
                <a:spcPts val="0"/>
              </a:spcAft>
            </a:pPr>
            <a:r>
              <a:rPr sz="2100" b="0" i="0">
                <a:solidFill>
                  <a:srgbClr val="25324A"/>
                </a:solidFill>
                <a:latin typeface="Times New Roman"/>
                <a:ea typeface="標楷體"/>
                <a:cs typeface="Times New Roman"/>
              </a:rPr>
              <a:t>WAIT：awake idle ↑，部分 WAKE ↓</a:t>
            </a:r>
          </a:p>
        </p:txBody>
      </p:sp>
      <p:sp>
        <p:nvSpPr>
          <p:cNvPr id="11" name="Lab A causal connector"/>
          <p:cNvSpPr/>
          <p:nvPr/>
        </p:nvSpPr>
        <p:spPr>
          <a:xfrm>
            <a:off x="7818120" y="2267712"/>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A purpose card 3"/>
          <p:cNvSpPr/>
          <p:nvPr/>
        </p:nvSpPr>
        <p:spPr>
          <a:xfrm>
            <a:off x="8074152" y="1463040"/>
            <a:ext cx="324612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A purpose card 3 heading"/>
          <p:cNvSpPr txBox="1"/>
          <p:nvPr/>
        </p:nvSpPr>
        <p:spPr>
          <a:xfrm>
            <a:off x="8165592" y="1572768"/>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判讀順序</a:t>
            </a:r>
          </a:p>
        </p:txBody>
      </p:sp>
      <p:sp>
        <p:nvSpPr>
          <p:cNvPr id="14" name="Lab A purpose card 3 body"/>
          <p:cNvSpPr txBox="1"/>
          <p:nvPr/>
        </p:nvSpPr>
        <p:spPr>
          <a:xfrm>
            <a:off x="8202168" y="1993392"/>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先讀 delivered／deadline／freshness</a:t>
            </a:r>
          </a:p>
          <a:p>
            <a:pPr algn="ctr">
              <a:lnSpc>
                <a:spcPct val="92000"/>
              </a:lnSpc>
              <a:spcBef>
                <a:spcPts val="0"/>
              </a:spcBef>
              <a:spcAft>
                <a:spcPts val="0"/>
              </a:spcAft>
            </a:pPr>
            <a:r>
              <a:rPr sz="2100" b="0" i="0">
                <a:solidFill>
                  <a:srgbClr val="25324A"/>
                </a:solidFill>
                <a:latin typeface="Times New Roman"/>
                <a:ea typeface="標楷體"/>
                <a:cs typeface="Times New Roman"/>
              </a:rPr>
              <a:t>再讀 endpoint energy</a:t>
            </a:r>
          </a:p>
        </p:txBody>
      </p:sp>
      <p:sp>
        <p:nvSpPr>
          <p:cNvPr id="15" name="Lab A baseline contract"/>
          <p:cNvSpPr/>
          <p:nvPr/>
        </p:nvSpPr>
        <p:spPr>
          <a:xfrm>
            <a:off x="932688" y="3968496"/>
            <a:ext cx="4882896" cy="71323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100" b="1" i="0">
                <a:solidFill>
                  <a:srgbClr val="25356B"/>
                </a:solidFill>
                <a:latin typeface="Times New Roman"/>
                <a:ea typeface="標楷體"/>
                <a:cs typeface="Times New Roman"/>
              </a:rPr>
              <a:t>Baseline：</a:t>
            </a:r>
            <a:r>
              <a:rPr sz="2100" b="1" i="1">
                <a:solidFill>
                  <a:srgbClr val="25356B"/>
                </a:solidFill>
                <a:latin typeface="Times New Roman"/>
                <a:ea typeface="標楷體"/>
                <a:cs typeface="Times New Roman"/>
              </a:rPr>
              <a:t>REST_DURING_GAP = SLEEP</a:t>
            </a:r>
          </a:p>
        </p:txBody>
      </p:sp>
      <p:sp>
        <p:nvSpPr>
          <p:cNvPr id="16" name="Lab A candidate contract"/>
          <p:cNvSpPr/>
          <p:nvPr/>
        </p:nvSpPr>
        <p:spPr>
          <a:xfrm>
            <a:off x="6364224" y="3968496"/>
            <a:ext cx="4882896"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Candidate：</a:t>
            </a:r>
            <a:r>
              <a:rPr sz="1950" b="1" i="1">
                <a:solidFill>
                  <a:srgbClr val="25356B"/>
                </a:solidFill>
                <a:latin typeface="Times New Roman"/>
                <a:ea typeface="標楷體"/>
                <a:cs typeface="Times New Roman"/>
              </a:rPr>
              <a:t>REST_DURING_GAP = WAIT</a:t>
            </a:r>
            <a:r>
              <a:rPr sz="1950" b="1" i="0">
                <a:solidFill>
                  <a:srgbClr val="25356B"/>
                </a:solidFill>
                <a:latin typeface="Times New Roman"/>
                <a:ea typeface="標楷體"/>
                <a:cs typeface="Times New Roman"/>
              </a:rPr>
              <a:t>；結果可反駁預測</a:t>
            </a:r>
          </a:p>
        </p:txBody>
      </p:sp>
      <p:sp>
        <p:nvSpPr>
          <p:cNvPr id="17" name="Field contract service_pass"/>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service_pass</a:t>
            </a:r>
            <a:r>
              <a:rPr sz="1600" b="0" i="0">
                <a:solidFill>
                  <a:srgbClr val="25356B"/>
                </a:solidFill>
                <a:latin typeface="Times New Roman"/>
                <a:ea typeface="標楷體"/>
                <a:cs typeface="Times New Roman"/>
              </a:rPr>
              <a:t>（服務布林狀態）｜來源：result summary｜作用：required packet＋期限＋freshness</a:t>
            </a:r>
          </a:p>
          <a:p>
            <a:pPr algn="l">
              <a:lnSpc>
                <a:spcPct val="78000"/>
              </a:lnSpc>
              <a:spcBef>
                <a:spcPts val="0"/>
              </a:spcBef>
              <a:spcAft>
                <a:spcPts val="0"/>
              </a:spcAft>
            </a:pPr>
            <a:r>
              <a:rPr sz="1600" b="0" i="0">
                <a:solidFill>
                  <a:srgbClr val="25356B"/>
                </a:solidFill>
                <a:latin typeface="Times New Roman"/>
                <a:ea typeface="標楷體"/>
                <a:cs typeface="Times New Roman"/>
              </a:rPr>
              <a:t>單位：true／false｜判讀：先判 service，再讀 J</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P030｜封包生命週期：嘗試不等於交付</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packet outcome 要走完整生命週期；SEND 次數只是其中一段</a:t>
            </a:r>
          </a:p>
        </p:txBody>
      </p:sp>
      <p:sp>
        <p:nvSpPr>
          <p:cNvPr id="4" name="Packet lifecycle stage 1"/>
          <p:cNvSpPr/>
          <p:nvPr/>
        </p:nvSpPr>
        <p:spPr>
          <a:xfrm>
            <a:off x="868680" y="1481328"/>
            <a:ext cx="3246120" cy="2084831"/>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cket lifecycle stage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產生／排隊</a:t>
            </a:r>
          </a:p>
        </p:txBody>
      </p:sp>
      <p:sp>
        <p:nvSpPr>
          <p:cNvPr id="6" name="Packet lifecycle stage 1 body"/>
          <p:cNvSpPr txBox="1"/>
          <p:nvPr/>
        </p:nvSpPr>
        <p:spPr>
          <a:xfrm>
            <a:off x="996695"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1">
                <a:solidFill>
                  <a:srgbClr val="25324A"/>
                </a:solidFill>
                <a:latin typeface="Times New Roman"/>
                <a:ea typeface="標楷體"/>
                <a:cs typeface="Times New Roman"/>
              </a:rPr>
              <a:t>generated</a:t>
            </a:r>
            <a:r>
              <a:rPr sz="2100" b="0" i="0">
                <a:solidFill>
                  <a:srgbClr val="25324A"/>
                </a:solidFill>
                <a:latin typeface="Times New Roman"/>
                <a:ea typeface="標楷體"/>
                <a:cs typeface="Times New Roman"/>
              </a:rPr>
              <a:t> 建立 packet</a:t>
            </a:r>
          </a:p>
          <a:p>
            <a:pPr algn="ctr">
              <a:lnSpc>
                <a:spcPct val="92000"/>
              </a:lnSpc>
              <a:spcBef>
                <a:spcPts val="0"/>
              </a:spcBef>
              <a:spcAft>
                <a:spcPts val="0"/>
              </a:spcAft>
            </a:pPr>
            <a:r>
              <a:rPr sz="2100" b="0" i="1">
                <a:solidFill>
                  <a:srgbClr val="25324A"/>
                </a:solidFill>
                <a:latin typeface="Times New Roman"/>
                <a:ea typeface="標楷體"/>
                <a:cs typeface="Times New Roman"/>
              </a:rPr>
              <a:t>queue</a:t>
            </a:r>
            <a:r>
              <a:rPr sz="2100" b="0" i="0">
                <a:solidFill>
                  <a:srgbClr val="25324A"/>
                </a:solidFill>
                <a:latin typeface="Times New Roman"/>
                <a:ea typeface="標楷體"/>
                <a:cs typeface="Times New Roman"/>
              </a:rPr>
              <a:t> 等待合法窗口</a:t>
            </a:r>
          </a:p>
        </p:txBody>
      </p:sp>
      <p:sp>
        <p:nvSpPr>
          <p:cNvPr id="7" name="Packet lifecycle connector"/>
          <p:cNvSpPr/>
          <p:nvPr/>
        </p:nvSpPr>
        <p:spPr>
          <a:xfrm>
            <a:off x="4215384" y="2286000"/>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cket lifecycle stage 2"/>
          <p:cNvSpPr/>
          <p:nvPr/>
        </p:nvSpPr>
        <p:spPr>
          <a:xfrm>
            <a:off x="4471416" y="1481328"/>
            <a:ext cx="3246120" cy="2084831"/>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cket lifecycle stage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嘗試／重試</a:t>
            </a:r>
          </a:p>
        </p:txBody>
      </p:sp>
      <p:sp>
        <p:nvSpPr>
          <p:cNvPr id="10" name="Packet lifecycle stage 2 body"/>
          <p:cNvSpPr txBox="1"/>
          <p:nvPr/>
        </p:nvSpPr>
        <p:spPr>
          <a:xfrm>
            <a:off x="4599431"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1">
                <a:solidFill>
                  <a:srgbClr val="25324A"/>
                </a:solidFill>
                <a:latin typeface="Times New Roman"/>
                <a:ea typeface="標楷體"/>
                <a:cs typeface="Times New Roman"/>
              </a:rPr>
              <a:t>attempt</a:t>
            </a:r>
            <a:r>
              <a:rPr sz="2100" b="0" i="0">
                <a:solidFill>
                  <a:srgbClr val="25324A"/>
                </a:solidFill>
                <a:latin typeface="Times New Roman"/>
                <a:ea typeface="標楷體"/>
                <a:cs typeface="Times New Roman"/>
              </a:rPr>
              <a:t> 進入 PROCESS／TX／RX</a:t>
            </a:r>
          </a:p>
          <a:p>
            <a:pPr algn="ctr">
              <a:lnSpc>
                <a:spcPct val="92000"/>
              </a:lnSpc>
              <a:spcBef>
                <a:spcPts val="0"/>
              </a:spcBef>
              <a:spcAft>
                <a:spcPts val="0"/>
              </a:spcAft>
            </a:pPr>
            <a:r>
              <a:rPr sz="2100" b="0" i="0">
                <a:solidFill>
                  <a:srgbClr val="25324A"/>
                </a:solidFill>
                <a:latin typeface="Times New Roman"/>
                <a:ea typeface="標楷體"/>
                <a:cs typeface="Times New Roman"/>
              </a:rPr>
              <a:t>collision 可能形成 </a:t>
            </a:r>
            <a:r>
              <a:rPr sz="2100" b="0" i="1">
                <a:solidFill>
                  <a:srgbClr val="25324A"/>
                </a:solidFill>
                <a:latin typeface="Times New Roman"/>
                <a:ea typeface="標楷體"/>
                <a:cs typeface="Times New Roman"/>
              </a:rPr>
              <a:t>retry</a:t>
            </a:r>
          </a:p>
        </p:txBody>
      </p:sp>
      <p:sp>
        <p:nvSpPr>
          <p:cNvPr id="11" name="Packet lifecycle connector"/>
          <p:cNvSpPr/>
          <p:nvPr/>
        </p:nvSpPr>
        <p:spPr>
          <a:xfrm>
            <a:off x="7818120" y="2286000"/>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cket lifecycle stage 3"/>
          <p:cNvSpPr/>
          <p:nvPr/>
        </p:nvSpPr>
        <p:spPr>
          <a:xfrm>
            <a:off x="8074152" y="1481328"/>
            <a:ext cx="3246120" cy="2084831"/>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cket lifecycle stage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交付／服務</a:t>
            </a:r>
          </a:p>
        </p:txBody>
      </p:sp>
      <p:sp>
        <p:nvSpPr>
          <p:cNvPr id="14" name="Packet lifecycle stage 3 body"/>
          <p:cNvSpPr txBox="1"/>
          <p:nvPr/>
        </p:nvSpPr>
        <p:spPr>
          <a:xfrm>
            <a:off x="8202168" y="2011680"/>
            <a:ext cx="2990087"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1">
                <a:solidFill>
                  <a:srgbClr val="25324A"/>
                </a:solidFill>
                <a:latin typeface="Times New Roman"/>
                <a:ea typeface="標楷體"/>
                <a:cs typeface="Times New Roman"/>
              </a:rPr>
              <a:t>delivered</a:t>
            </a:r>
            <a:r>
              <a:rPr sz="2100" b="0" i="0">
                <a:solidFill>
                  <a:srgbClr val="25324A"/>
                </a:solidFill>
                <a:latin typeface="Times New Roman"/>
                <a:ea typeface="標楷體"/>
                <a:cs typeface="Times New Roman"/>
              </a:rPr>
              <a:t> 或 </a:t>
            </a:r>
            <a:r>
              <a:rPr sz="2100" b="0" i="1">
                <a:solidFill>
                  <a:srgbClr val="25324A"/>
                </a:solidFill>
                <a:latin typeface="Times New Roman"/>
                <a:ea typeface="標楷體"/>
                <a:cs typeface="Times New Roman"/>
              </a:rPr>
              <a:t>expired</a:t>
            </a:r>
          </a:p>
          <a:p>
            <a:pPr algn="ctr">
              <a:lnSpc>
                <a:spcPct val="92000"/>
              </a:lnSpc>
              <a:spcBef>
                <a:spcPts val="0"/>
              </a:spcBef>
              <a:spcAft>
                <a:spcPts val="0"/>
              </a:spcAft>
            </a:pPr>
            <a:r>
              <a:rPr sz="2100" b="0" i="0">
                <a:solidFill>
                  <a:srgbClr val="25324A"/>
                </a:solidFill>
                <a:latin typeface="Times New Roman"/>
                <a:ea typeface="標楷體"/>
                <a:cs typeface="Times New Roman"/>
              </a:rPr>
              <a:t>再形成 </a:t>
            </a:r>
            <a:r>
              <a:rPr sz="2100" b="0" i="1">
                <a:solidFill>
                  <a:srgbClr val="25324A"/>
                </a:solidFill>
                <a:latin typeface="Times New Roman"/>
                <a:ea typeface="標楷體"/>
                <a:cs typeface="Times New Roman"/>
              </a:rPr>
              <a:t>service_pass</a:t>
            </a:r>
          </a:p>
        </p:txBody>
      </p:sp>
      <p:sp>
        <p:nvSpPr>
          <p:cNvPr id="15" name="Packet transport fields"/>
          <p:cNvSpPr/>
          <p:nvPr/>
        </p:nvSpPr>
        <p:spPr>
          <a:xfrm>
            <a:off x="932688" y="3968496"/>
            <a:ext cx="4882896"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000" b="1" i="0">
                <a:solidFill>
                  <a:srgbClr val="25356B"/>
                </a:solidFill>
                <a:latin typeface="Times New Roman"/>
                <a:ea typeface="標楷體"/>
                <a:cs typeface="Times New Roman"/>
              </a:rPr>
              <a:t>傳輸段：attempted、collision、retransmissions</a:t>
            </a:r>
          </a:p>
        </p:txBody>
      </p:sp>
      <p:sp>
        <p:nvSpPr>
          <p:cNvPr id="16" name="Packet outcome fields"/>
          <p:cNvSpPr/>
          <p:nvPr/>
        </p:nvSpPr>
        <p:spPr>
          <a:xfrm>
            <a:off x="6364224" y="3968496"/>
            <a:ext cx="4882896" cy="71323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結果段：delivered_bits、expired、deadline、freshness</a:t>
            </a:r>
          </a:p>
        </p:txBody>
      </p:sp>
      <p:sp>
        <p:nvSpPr>
          <p:cNvPr id="17" name="Field contract attempted_packets"/>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attempted_packets</a:t>
            </a:r>
            <a:r>
              <a:rPr sz="1600" b="0" i="0">
                <a:solidFill>
                  <a:srgbClr val="25356B"/>
                </a:solidFill>
                <a:latin typeface="Times New Roman"/>
                <a:ea typeface="標楷體"/>
                <a:cs typeface="Times New Roman"/>
              </a:rPr>
              <a:t>（嘗試封包數）｜來源：result summary｜作用：統計進入無線嘗試</a:t>
            </a:r>
          </a:p>
          <a:p>
            <a:pPr algn="l">
              <a:lnSpc>
                <a:spcPct val="78000"/>
              </a:lnSpc>
              <a:spcBef>
                <a:spcPts val="0"/>
              </a:spcBef>
              <a:spcAft>
                <a:spcPts val="0"/>
              </a:spcAft>
            </a:pPr>
            <a:r>
              <a:rPr sz="1600" b="0" i="0">
                <a:solidFill>
                  <a:srgbClr val="25356B"/>
                </a:solidFill>
                <a:latin typeface="Times New Roman"/>
                <a:ea typeface="標楷體"/>
                <a:cs typeface="Times New Roman"/>
              </a:rPr>
              <a:t>單位：count｜判讀：對照 retry、expired、delivered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P031｜Service gate 先於 endpoint J</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同一比較邊界 → service gate → endpoint energy；順序決定 claim 強度</a:t>
            </a:r>
          </a:p>
        </p:txBody>
      </p:sp>
      <p:sp>
        <p:nvSpPr>
          <p:cNvPr id="4" name="Service ordering card 1"/>
          <p:cNvSpPr/>
          <p:nvPr/>
        </p:nvSpPr>
        <p:spPr>
          <a:xfrm>
            <a:off x="868680" y="1481328"/>
            <a:ext cx="3246120" cy="205740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ervice ordering card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4967C2"/>
                </a:solidFill>
                <a:latin typeface="Times New Roman"/>
                <a:ea typeface="標楷體"/>
                <a:cs typeface="Times New Roman"/>
              </a:rPr>
              <a:t>1｜比較邊界</a:t>
            </a:r>
          </a:p>
        </p:txBody>
      </p:sp>
      <p:sp>
        <p:nvSpPr>
          <p:cNvPr id="6" name="Service ordering card 1 body"/>
          <p:cNvSpPr txBox="1"/>
          <p:nvPr/>
        </p:nvSpPr>
        <p:spPr>
          <a:xfrm>
            <a:off x="996695" y="2011680"/>
            <a:ext cx="2990087" cy="141732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scenario／seed／traffic／window</a:t>
            </a:r>
          </a:p>
          <a:p>
            <a:pPr algn="ctr">
              <a:lnSpc>
                <a:spcPct val="92000"/>
              </a:lnSpc>
              <a:spcBef>
                <a:spcPts val="0"/>
              </a:spcBef>
              <a:spcAft>
                <a:spcPts val="0"/>
              </a:spcAft>
            </a:pPr>
            <a:r>
              <a:rPr sz="2100" b="0" i="0">
                <a:solidFill>
                  <a:srgbClr val="25324A"/>
                </a:solidFill>
                <a:latin typeface="Times New Roman"/>
                <a:ea typeface="標楷體"/>
                <a:cs typeface="Times New Roman"/>
              </a:rPr>
              <a:t>endpoint scope 一致</a:t>
            </a:r>
          </a:p>
        </p:txBody>
      </p:sp>
      <p:sp>
        <p:nvSpPr>
          <p:cNvPr id="7" name="Service ordering connector"/>
          <p:cNvSpPr/>
          <p:nvPr/>
        </p:nvSpPr>
        <p:spPr>
          <a:xfrm>
            <a:off x="4215384" y="2267712"/>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ervice ordering card 2"/>
          <p:cNvSpPr/>
          <p:nvPr/>
        </p:nvSpPr>
        <p:spPr>
          <a:xfrm>
            <a:off x="4471416" y="1481328"/>
            <a:ext cx="3246120" cy="205740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ervice ordering card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846826"/>
                </a:solidFill>
                <a:latin typeface="Times New Roman"/>
                <a:ea typeface="標楷體"/>
                <a:cs typeface="Times New Roman"/>
              </a:rPr>
              <a:t>2｜Service gate</a:t>
            </a:r>
          </a:p>
        </p:txBody>
      </p:sp>
      <p:sp>
        <p:nvSpPr>
          <p:cNvPr id="10" name="Service ordering card 2 body"/>
          <p:cNvSpPr txBox="1"/>
          <p:nvPr/>
        </p:nvSpPr>
        <p:spPr>
          <a:xfrm>
            <a:off x="4599431" y="2011680"/>
            <a:ext cx="2990087" cy="141732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1">
                <a:solidFill>
                  <a:srgbClr val="25324A"/>
                </a:solidFill>
                <a:latin typeface="Times New Roman"/>
                <a:ea typeface="標楷體"/>
                <a:cs typeface="Times New Roman"/>
              </a:rPr>
              <a:t>delivered_bits</a:t>
            </a:r>
          </a:p>
          <a:p>
            <a:pPr algn="ctr">
              <a:lnSpc>
                <a:spcPct val="92000"/>
              </a:lnSpc>
              <a:spcBef>
                <a:spcPts val="0"/>
              </a:spcBef>
              <a:spcAft>
                <a:spcPts val="0"/>
              </a:spcAft>
            </a:pPr>
            <a:r>
              <a:rPr sz="2100" b="0" i="1">
                <a:solidFill>
                  <a:srgbClr val="25324A"/>
                </a:solidFill>
                <a:latin typeface="Times New Roman"/>
                <a:ea typeface="標楷體"/>
                <a:cs typeface="Times New Roman"/>
              </a:rPr>
              <a:t>deadline_pass</a:t>
            </a:r>
            <a:r>
              <a:rPr sz="2100" b="0" i="0">
                <a:solidFill>
                  <a:srgbClr val="25324A"/>
                </a:solidFill>
                <a:latin typeface="Times New Roman"/>
                <a:ea typeface="標楷體"/>
                <a:cs typeface="Times New Roman"/>
              </a:rPr>
              <a:t>／</a:t>
            </a:r>
            <a:r>
              <a:rPr sz="2100" b="0" i="1">
                <a:solidFill>
                  <a:srgbClr val="25324A"/>
                </a:solidFill>
                <a:latin typeface="Times New Roman"/>
                <a:ea typeface="標楷體"/>
                <a:cs typeface="Times New Roman"/>
              </a:rPr>
              <a:t>freshness_status</a:t>
            </a:r>
          </a:p>
        </p:txBody>
      </p:sp>
      <p:sp>
        <p:nvSpPr>
          <p:cNvPr id="11" name="Service ordering connector"/>
          <p:cNvSpPr/>
          <p:nvPr/>
        </p:nvSpPr>
        <p:spPr>
          <a:xfrm>
            <a:off x="7818120" y="2267712"/>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ervice ordering card 3"/>
          <p:cNvSpPr/>
          <p:nvPr/>
        </p:nvSpPr>
        <p:spPr>
          <a:xfrm>
            <a:off x="8074152" y="1481328"/>
            <a:ext cx="3246120" cy="205740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rvice ordering card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3｜Endpoint J</a:t>
            </a:r>
          </a:p>
        </p:txBody>
      </p:sp>
      <p:sp>
        <p:nvSpPr>
          <p:cNvPr id="14" name="Service ordering card 3 body"/>
          <p:cNvSpPr txBox="1"/>
          <p:nvPr/>
        </p:nvSpPr>
        <p:spPr>
          <a:xfrm>
            <a:off x="8202168" y="2011680"/>
            <a:ext cx="2990087" cy="141732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1">
                <a:solidFill>
                  <a:srgbClr val="25324A"/>
                </a:solidFill>
                <a:latin typeface="Times New Roman"/>
                <a:ea typeface="標楷體"/>
                <a:cs typeface="Times New Roman"/>
              </a:rPr>
              <a:t>endpoint_energy_j</a:t>
            </a:r>
          </a:p>
          <a:p>
            <a:pPr algn="ctr">
              <a:lnSpc>
                <a:spcPct val="92000"/>
              </a:lnSpc>
              <a:spcBef>
                <a:spcPts val="0"/>
              </a:spcBef>
              <a:spcAft>
                <a:spcPts val="0"/>
              </a:spcAft>
            </a:pPr>
            <a:r>
              <a:rPr sz="2100" b="0" i="0">
                <a:solidFill>
                  <a:srgbClr val="25324A"/>
                </a:solidFill>
                <a:latin typeface="Times New Roman"/>
                <a:ea typeface="標楷體"/>
                <a:cs typeface="Times New Roman"/>
              </a:rPr>
              <a:t>整段 state ledger 的總和</a:t>
            </a:r>
          </a:p>
        </p:txBody>
      </p:sp>
      <p:sp>
        <p:nvSpPr>
          <p:cNvPr id="15" name="Service pass result"/>
          <p:cNvSpPr/>
          <p:nvPr/>
        </p:nvSpPr>
        <p:spPr>
          <a:xfrm>
            <a:off x="932688" y="3913632"/>
            <a:ext cx="4882896" cy="84124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000" b="1" i="0">
                <a:solidFill>
                  <a:srgbClr val="25356B"/>
                </a:solidFill>
                <a:latin typeface="Times New Roman"/>
                <a:ea typeface="標楷體"/>
                <a:cs typeface="Times New Roman"/>
              </a:rPr>
              <a:t>service_pass = true：J 可在相同工作邊界內比較</a:t>
            </a:r>
          </a:p>
        </p:txBody>
      </p:sp>
      <p:sp>
        <p:nvSpPr>
          <p:cNvPr id="16" name="Service fail result"/>
          <p:cNvSpPr/>
          <p:nvPr/>
        </p:nvSpPr>
        <p:spPr>
          <a:xfrm>
            <a:off x="6364224" y="3913632"/>
            <a:ext cx="4882896" cy="84124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000" b="1" i="0">
                <a:solidFill>
                  <a:srgbClr val="25356B"/>
                </a:solidFill>
                <a:latin typeface="Times New Roman"/>
                <a:ea typeface="標楷體"/>
                <a:cs typeface="Times New Roman"/>
              </a:rPr>
              <a:t>service_pass = false：J 只描述 trade-off evidence</a:t>
            </a:r>
          </a:p>
        </p:txBody>
      </p:sp>
      <p:sp>
        <p:nvSpPr>
          <p:cNvPr id="17" name="Field contract freshness_status"/>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freshness_status</a:t>
            </a:r>
            <a:r>
              <a:rPr sz="1600" b="0" i="0">
                <a:solidFill>
                  <a:srgbClr val="25356B"/>
                </a:solidFill>
                <a:latin typeface="Times New Roman"/>
                <a:ea typeface="標楷體"/>
                <a:cs typeface="Times New Roman"/>
              </a:rPr>
              <a:t>（新鮮度狀態）｜來源：result summary｜作用：required packet 是否新鮮</a:t>
            </a:r>
          </a:p>
          <a:p>
            <a:pPr algn="l">
              <a:lnSpc>
                <a:spcPct val="78000"/>
              </a:lnSpc>
              <a:spcBef>
                <a:spcPts val="0"/>
              </a:spcBef>
              <a:spcAft>
                <a:spcPts val="0"/>
              </a:spcAft>
            </a:pPr>
            <a:r>
              <a:rPr sz="1600" b="0" i="0">
                <a:solidFill>
                  <a:srgbClr val="25356B"/>
                </a:solidFill>
                <a:latin typeface="Times New Roman"/>
                <a:ea typeface="標楷體"/>
                <a:cs typeface="Times New Roman"/>
              </a:rPr>
              <a:t>單位：fresh／stale／expired／N/A｜判讀：與 deadline、delivery 決定 gate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P032｜功率 W × 時間 s 形成能量 J</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同一個功率值，停留時間不同就會留下不同的 endpoint energy</a:t>
            </a:r>
          </a:p>
        </p:txBody>
      </p:sp>
      <p:sp>
        <p:nvSpPr>
          <p:cNvPr id="4" name="Power definition card"/>
          <p:cNvSpPr/>
          <p:nvPr/>
        </p:nvSpPr>
        <p:spPr>
          <a:xfrm>
            <a:off x="868680" y="1481328"/>
            <a:ext cx="2834640" cy="219456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ower definition card heading"/>
          <p:cNvSpPr txBox="1"/>
          <p:nvPr/>
        </p:nvSpPr>
        <p:spPr>
          <a:xfrm>
            <a:off x="960120"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4967C2"/>
                </a:solidFill>
                <a:latin typeface="Times New Roman"/>
                <a:ea typeface="標楷體"/>
                <a:cs typeface="Times New Roman"/>
              </a:rPr>
              <a:t>功率 </a:t>
            </a:r>
            <a:r>
              <a:rPr sz="2400" b="1" i="1">
                <a:solidFill>
                  <a:srgbClr val="4967C2"/>
                </a:solidFill>
                <a:latin typeface="Times New Roman"/>
                <a:ea typeface="標楷體"/>
                <a:cs typeface="Times New Roman"/>
              </a:rPr>
              <a:t>P</a:t>
            </a:r>
          </a:p>
        </p:txBody>
      </p:sp>
      <p:sp>
        <p:nvSpPr>
          <p:cNvPr id="6" name="Power definition card body"/>
          <p:cNvSpPr txBox="1"/>
          <p:nvPr/>
        </p:nvSpPr>
        <p:spPr>
          <a:xfrm>
            <a:off x="996695" y="2011680"/>
            <a:ext cx="2578608" cy="155448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某個 state 當下的高度</a:t>
            </a:r>
          </a:p>
          <a:p>
            <a:pPr algn="ctr">
              <a:lnSpc>
                <a:spcPct val="92000"/>
              </a:lnSpc>
              <a:spcBef>
                <a:spcPts val="0"/>
              </a:spcBef>
              <a:spcAft>
                <a:spcPts val="0"/>
              </a:spcAft>
            </a:pPr>
            <a:r>
              <a:rPr sz="2100" b="0" i="0">
                <a:solidFill>
                  <a:srgbClr val="25324A"/>
                </a:solidFill>
                <a:latin typeface="Times New Roman"/>
                <a:ea typeface="標楷體"/>
                <a:cs typeface="Times New Roman"/>
              </a:rPr>
              <a:t>單位：W</a:t>
            </a:r>
          </a:p>
          <a:p>
            <a:pPr algn="ctr">
              <a:lnSpc>
                <a:spcPct val="92000"/>
              </a:lnSpc>
              <a:spcBef>
                <a:spcPts val="0"/>
              </a:spcBef>
              <a:spcAft>
                <a:spcPts val="0"/>
              </a:spcAft>
            </a:pPr>
            <a:r>
              <a:rPr sz="2100" b="0" i="0">
                <a:solidFill>
                  <a:srgbClr val="25324A"/>
                </a:solidFill>
                <a:latin typeface="Times New Roman"/>
                <a:ea typeface="標楷體"/>
                <a:cs typeface="Times New Roman"/>
              </a:rPr>
              <a:t>例如 </a:t>
            </a:r>
            <a:r>
              <a:rPr sz="2100" b="0" i="1">
                <a:solidFill>
                  <a:srgbClr val="25324A"/>
                </a:solidFill>
                <a:latin typeface="Times New Roman"/>
                <a:ea typeface="標楷體"/>
                <a:cs typeface="Times New Roman"/>
              </a:rPr>
              <a:t>awake_idle</a:t>
            </a:r>
            <a:r>
              <a:rPr sz="2100" b="0" i="0">
                <a:solidFill>
                  <a:srgbClr val="25324A"/>
                </a:solidFill>
                <a:latin typeface="Times New Roman"/>
                <a:ea typeface="標楷體"/>
                <a:cs typeface="Times New Roman"/>
              </a:rPr>
              <a:t> 或 </a:t>
            </a:r>
            <a:r>
              <a:rPr sz="2100" b="0" i="1">
                <a:solidFill>
                  <a:srgbClr val="25324A"/>
                </a:solidFill>
                <a:latin typeface="Times New Roman"/>
                <a:ea typeface="標楷體"/>
                <a:cs typeface="Times New Roman"/>
              </a:rPr>
              <a:t>tx</a:t>
            </a:r>
          </a:p>
        </p:txBody>
      </p:sp>
      <p:sp>
        <p:nvSpPr>
          <p:cNvPr id="7" name="Power interval chart"/>
          <p:cNvSpPr/>
          <p:nvPr/>
        </p:nvSpPr>
        <p:spPr>
          <a:xfrm>
            <a:off x="3977639" y="1481328"/>
            <a:ext cx="3822191" cy="2194560"/>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ower chart heading"/>
          <p:cNvSpPr txBox="1"/>
          <p:nvPr/>
        </p:nvSpPr>
        <p:spPr>
          <a:xfrm>
            <a:off x="4169663" y="1645920"/>
            <a:ext cx="3438144"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不同 state 的功率高度</a:t>
            </a:r>
          </a:p>
        </p:txBody>
      </p:sp>
      <p:sp>
        <p:nvSpPr>
          <p:cNvPr id="9" name="Sleep power bar"/>
          <p:cNvSpPr/>
          <p:nvPr/>
        </p:nvSpPr>
        <p:spPr>
          <a:xfrm>
            <a:off x="4443984" y="2770632"/>
            <a:ext cx="658368" cy="566928"/>
          </a:xfrm>
          <a:prstGeom prst="rect">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ake power bar"/>
          <p:cNvSpPr/>
          <p:nvPr/>
        </p:nvSpPr>
        <p:spPr>
          <a:xfrm>
            <a:off x="5285232" y="2350008"/>
            <a:ext cx="658368" cy="987552"/>
          </a:xfrm>
          <a:prstGeom prst="rect">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cess power bar"/>
          <p:cNvSpPr/>
          <p:nvPr/>
        </p:nvSpPr>
        <p:spPr>
          <a:xfrm>
            <a:off x="6126480" y="2103120"/>
            <a:ext cx="658368" cy="1234440"/>
          </a:xfrm>
          <a:prstGeom prst="rect">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 power bar"/>
          <p:cNvSpPr/>
          <p:nvPr/>
        </p:nvSpPr>
        <p:spPr>
          <a:xfrm>
            <a:off x="6967728" y="1938528"/>
            <a:ext cx="658368" cy="1399032"/>
          </a:xfrm>
          <a:prstGeom prst="rect">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ower chart labels"/>
          <p:cNvSpPr txBox="1"/>
          <p:nvPr/>
        </p:nvSpPr>
        <p:spPr>
          <a:xfrm>
            <a:off x="4224528" y="3383280"/>
            <a:ext cx="3346704" cy="2743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750" b="0" i="0">
                <a:solidFill>
                  <a:srgbClr val="65758B"/>
                </a:solidFill>
                <a:latin typeface="Times New Roman"/>
                <a:ea typeface="標楷體"/>
                <a:cs typeface="Times New Roman"/>
              </a:rPr>
              <a:t>sleep｜wake｜process｜tx</a:t>
            </a:r>
          </a:p>
        </p:txBody>
      </p:sp>
      <p:sp>
        <p:nvSpPr>
          <p:cNvPr id="14" name="Power time connector"/>
          <p:cNvSpPr/>
          <p:nvPr/>
        </p:nvSpPr>
        <p:spPr>
          <a:xfrm>
            <a:off x="8028431" y="2322576"/>
            <a:ext cx="274320" cy="365760"/>
          </a:xfrm>
          <a:prstGeom prst="chevron">
            <a:avLst/>
          </a:prstGeom>
          <a:solidFill>
            <a:srgbClr val="25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ime definition card"/>
          <p:cNvSpPr/>
          <p:nvPr/>
        </p:nvSpPr>
        <p:spPr>
          <a:xfrm>
            <a:off x="8458200" y="1481328"/>
            <a:ext cx="2834640" cy="219456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ime definition card heading"/>
          <p:cNvSpPr txBox="1"/>
          <p:nvPr/>
        </p:nvSpPr>
        <p:spPr>
          <a:xfrm>
            <a:off x="8549640"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846826"/>
                </a:solidFill>
                <a:latin typeface="Times New Roman"/>
                <a:ea typeface="標楷體"/>
                <a:cs typeface="Times New Roman"/>
              </a:rPr>
              <a:t>時間 </a:t>
            </a:r>
            <a:r>
              <a:rPr sz="2400" b="1" i="1">
                <a:solidFill>
                  <a:srgbClr val="846826"/>
                </a:solidFill>
                <a:latin typeface="Times New Roman"/>
                <a:ea typeface="標楷體"/>
                <a:cs typeface="Times New Roman"/>
              </a:rPr>
              <a:t>t</a:t>
            </a:r>
          </a:p>
        </p:txBody>
      </p:sp>
      <p:sp>
        <p:nvSpPr>
          <p:cNvPr id="17" name="Time definition card body"/>
          <p:cNvSpPr txBox="1"/>
          <p:nvPr/>
        </p:nvSpPr>
        <p:spPr>
          <a:xfrm>
            <a:off x="8586216" y="2011680"/>
            <a:ext cx="2578608" cy="155448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200" b="0" i="0">
                <a:solidFill>
                  <a:srgbClr val="25324A"/>
                </a:solidFill>
                <a:latin typeface="Times New Roman"/>
                <a:ea typeface="標楷體"/>
                <a:cs typeface="Times New Roman"/>
              </a:rPr>
              <a:t>state interval 的長度</a:t>
            </a:r>
          </a:p>
          <a:p>
            <a:pPr algn="ctr">
              <a:lnSpc>
                <a:spcPct val="92000"/>
              </a:lnSpc>
              <a:spcBef>
                <a:spcPts val="0"/>
              </a:spcBef>
              <a:spcAft>
                <a:spcPts val="0"/>
              </a:spcAft>
            </a:pPr>
            <a:r>
              <a:rPr sz="2200" b="0" i="0">
                <a:solidFill>
                  <a:srgbClr val="25324A"/>
                </a:solidFill>
                <a:latin typeface="Times New Roman"/>
                <a:ea typeface="標楷體"/>
                <a:cs typeface="Times New Roman"/>
              </a:rPr>
              <a:t>單位：s</a:t>
            </a:r>
          </a:p>
          <a:p>
            <a:pPr algn="ctr">
              <a:lnSpc>
                <a:spcPct val="92000"/>
              </a:lnSpc>
              <a:spcBef>
                <a:spcPts val="0"/>
              </a:spcBef>
              <a:spcAft>
                <a:spcPts val="0"/>
              </a:spcAft>
            </a:pPr>
            <a:r>
              <a:rPr sz="2200" b="0" i="1">
                <a:solidFill>
                  <a:srgbClr val="25324A"/>
                </a:solidFill>
                <a:latin typeface="Times New Roman"/>
                <a:ea typeface="標楷體"/>
                <a:cs typeface="Times New Roman"/>
              </a:rPr>
              <a:t>P × t = J</a:t>
            </a:r>
          </a:p>
        </p:txBody>
      </p:sp>
      <p:sp>
        <p:nvSpPr>
          <p:cNvPr id="18" name="Energy bucket rule"/>
          <p:cNvSpPr/>
          <p:nvPr/>
        </p:nvSpPr>
        <p:spPr>
          <a:xfrm>
            <a:off x="932688" y="4005072"/>
            <a:ext cx="4882896" cy="71323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每個 bucket 分開累積：awake_idle／sleep／wake／process／tx／rx</a:t>
            </a:r>
          </a:p>
        </p:txBody>
      </p:sp>
      <p:sp>
        <p:nvSpPr>
          <p:cNvPr id="19" name="Clock energy rule"/>
          <p:cNvSpPr/>
          <p:nvPr/>
        </p:nvSpPr>
        <p:spPr>
          <a:xfrm>
            <a:off x="6364224" y="4005072"/>
            <a:ext cx="4882896" cy="71323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固定 10 s clock step；收發流程另加入 transition energy</a:t>
            </a:r>
          </a:p>
        </p:txBody>
      </p:sp>
      <p:sp>
        <p:nvSpPr>
          <p:cNvPr id="20" name="Field contract energy_breakdown_j"/>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energy_breakdown_j</a:t>
            </a:r>
            <a:r>
              <a:rPr sz="1600" b="0" i="0">
                <a:solidFill>
                  <a:srgbClr val="25356B"/>
                </a:solidFill>
                <a:latin typeface="Times New Roman"/>
                <a:ea typeface="標楷體"/>
                <a:cs typeface="Times New Roman"/>
              </a:rPr>
              <a:t>（能量分桶）｜來源：result artifact｜作用：按 state 保存 J</a:t>
            </a:r>
          </a:p>
          <a:p>
            <a:pPr algn="l">
              <a:lnSpc>
                <a:spcPct val="78000"/>
              </a:lnSpc>
              <a:spcBef>
                <a:spcPts val="0"/>
              </a:spcBef>
              <a:spcAft>
                <a:spcPts val="0"/>
              </a:spcAft>
            </a:pPr>
            <a:r>
              <a:rPr sz="1600" b="0" i="0">
                <a:solidFill>
                  <a:srgbClr val="25356B"/>
                </a:solidFill>
                <a:latin typeface="Times New Roman"/>
                <a:ea typeface="標楷體"/>
                <a:cs typeface="Times New Roman"/>
              </a:rPr>
              <a:t>單位：J／bucket｜判讀：拆回 state interval</a:t>
            </a:r>
          </a:p>
        </p:txBody>
      </p:sp>
    </p:spTree>
  </p:cSld>
  <p:clrMapOvr>
    <a:masterClrMapping/>
  </p:clrMapOvr>
</p:sld>
</file>

<file path=ppt/slides/slide39.xml><?xml version="1.0" encoding="utf-8"?>
<p:sld xmlns:a="http://schemas.openxmlformats.org/drawingml/2006/main" xmlns:a14="http://schemas.microsoft.com/office/drawing/2010/main" xmlns:m="http://schemas.openxmlformats.org/officeDocument/2006/math" xmlns:p="http://schemas.openxmlformats.org/presentationml/2006/main">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P033｜Endpoint energy 的累積公式</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公式描述 endpoint state 的累積方式；artifact 提供這次 run 的數值</a:t>
            </a:r>
          </a:p>
        </p:txBody>
      </p:sp>
      <p:sp>
        <p:nvSpPr>
          <p:cNvPr id="4" name="Formula power input"/>
          <p:cNvSpPr/>
          <p:nvPr/>
        </p:nvSpPr>
        <p:spPr>
          <a:xfrm>
            <a:off x="868680" y="1481328"/>
            <a:ext cx="2834640" cy="2084831"/>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ormula power input heading"/>
          <p:cNvSpPr txBox="1"/>
          <p:nvPr/>
        </p:nvSpPr>
        <p:spPr>
          <a:xfrm>
            <a:off x="960120"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500" b="1" i="1">
                <a:solidFill>
                  <a:srgbClr val="4967C2"/>
                </a:solidFill>
                <a:latin typeface="Times New Roman"/>
                <a:ea typeface="標楷體"/>
                <a:cs typeface="Times New Roman"/>
              </a:rPr>
              <a:t>P_s</a:t>
            </a:r>
          </a:p>
        </p:txBody>
      </p:sp>
      <p:sp>
        <p:nvSpPr>
          <p:cNvPr id="6" name="Formula power input body"/>
          <p:cNvSpPr txBox="1"/>
          <p:nvPr/>
        </p:nvSpPr>
        <p:spPr>
          <a:xfrm>
            <a:off x="996695" y="2011680"/>
            <a:ext cx="2578608"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200" b="0" i="0">
                <a:solidFill>
                  <a:srgbClr val="25324A"/>
                </a:solidFill>
                <a:latin typeface="Times New Roman"/>
                <a:ea typeface="標楷體"/>
                <a:cs typeface="Times New Roman"/>
              </a:rPr>
              <a:t>state power</a:t>
            </a:r>
          </a:p>
          <a:p>
            <a:pPr algn="ctr">
              <a:lnSpc>
                <a:spcPct val="92000"/>
              </a:lnSpc>
              <a:spcBef>
                <a:spcPts val="0"/>
              </a:spcBef>
              <a:spcAft>
                <a:spcPts val="0"/>
              </a:spcAft>
            </a:pPr>
            <a:r>
              <a:rPr sz="2200" b="0" i="0">
                <a:solidFill>
                  <a:srgbClr val="25324A"/>
                </a:solidFill>
                <a:latin typeface="Times New Roman"/>
                <a:ea typeface="標楷體"/>
                <a:cs typeface="Times New Roman"/>
              </a:rPr>
              <a:t>單位：W</a:t>
            </a:r>
          </a:p>
          <a:p>
            <a:pPr algn="ctr">
              <a:lnSpc>
                <a:spcPct val="92000"/>
              </a:lnSpc>
              <a:spcBef>
                <a:spcPts val="0"/>
              </a:spcBef>
              <a:spcAft>
                <a:spcPts val="0"/>
              </a:spcAft>
            </a:pPr>
            <a:r>
              <a:rPr sz="2200" b="0" i="0">
                <a:solidFill>
                  <a:srgbClr val="25324A"/>
                </a:solidFill>
                <a:latin typeface="Times New Roman"/>
                <a:ea typeface="標楷體"/>
                <a:cs typeface="Times New Roman"/>
              </a:rPr>
              <a:t>來源：energy profile</a:t>
            </a:r>
          </a:p>
        </p:txBody>
      </p:sp>
      <p:sp>
        <p:nvSpPr>
          <p:cNvPr id="7" name="Endpoint formula frame"/>
          <p:cNvSpPr/>
          <p:nvPr/>
        </p:nvSpPr>
        <p:spPr>
          <a:xfrm>
            <a:off x="3986784" y="1481328"/>
            <a:ext cx="4206240" cy="2084831"/>
          </a:xfrm>
          <a:prstGeom prst="roundRect">
            <a:avLst/>
          </a:prstGeom>
          <a:solidFill>
            <a:srgbClr val="F7F8FC"/>
          </a:solidFill>
          <a:ln w="2032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 endpoint formula"/>
          <p:cNvSpPr txBox="1"/>
          <p:nvPr/>
        </p:nvSpPr>
        <p:spPr>
          <a:xfrm>
            <a:off x="4187952" y="1938528"/>
            <a:ext cx="3803904" cy="56692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3000" b="1" i="1">
                <a:solidFill>
                  <a:srgbClr val="660066"/>
                </a:solidFill>
                <a:latin typeface="Times New Roman"/>
                <a:ea typeface="標楷體"/>
                <a:cs typeface="Times New Roman"/>
              </a:rPr>
              <a:t>E_endpoint = Σ P_s t_s</a:t>
            </a:r>
          </a:p>
        </p:txBody>
      </p:sp>
      <p:sp>
        <p:nvSpPr>
          <p:cNvPr id="9" name="Endpoint formula unit"/>
          <p:cNvSpPr txBox="1"/>
          <p:nvPr/>
        </p:nvSpPr>
        <p:spPr>
          <a:xfrm>
            <a:off x="4224528" y="2852928"/>
            <a:ext cx="3730752" cy="2743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1" i="0">
                <a:solidFill>
                  <a:srgbClr val="660066"/>
                </a:solidFill>
                <a:latin typeface="Times New Roman"/>
                <a:ea typeface="標楷體"/>
                <a:cs typeface="Times New Roman"/>
              </a:rPr>
              <a:t>分段累積｜單位：J</a:t>
            </a:r>
          </a:p>
        </p:txBody>
      </p:sp>
      <p:sp>
        <p:nvSpPr>
          <p:cNvPr id="10" name="Formula time input"/>
          <p:cNvSpPr/>
          <p:nvPr/>
        </p:nvSpPr>
        <p:spPr>
          <a:xfrm>
            <a:off x="8476488" y="1481328"/>
            <a:ext cx="2834640" cy="2084831"/>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ormula time input heading"/>
          <p:cNvSpPr txBox="1"/>
          <p:nvPr/>
        </p:nvSpPr>
        <p:spPr>
          <a:xfrm>
            <a:off x="8567928"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500" b="1" i="1">
                <a:solidFill>
                  <a:srgbClr val="846826"/>
                </a:solidFill>
                <a:latin typeface="Times New Roman"/>
                <a:ea typeface="標楷體"/>
                <a:cs typeface="Times New Roman"/>
              </a:rPr>
              <a:t>t_s</a:t>
            </a:r>
          </a:p>
        </p:txBody>
      </p:sp>
      <p:sp>
        <p:nvSpPr>
          <p:cNvPr id="12" name="Formula time input body"/>
          <p:cNvSpPr txBox="1"/>
          <p:nvPr/>
        </p:nvSpPr>
        <p:spPr>
          <a:xfrm>
            <a:off x="8604504" y="2011680"/>
            <a:ext cx="2578608" cy="1444751"/>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state interval</a:t>
            </a:r>
          </a:p>
          <a:p>
            <a:pPr algn="ctr">
              <a:lnSpc>
                <a:spcPct val="92000"/>
              </a:lnSpc>
              <a:spcBef>
                <a:spcPts val="0"/>
              </a:spcBef>
              <a:spcAft>
                <a:spcPts val="0"/>
              </a:spcAft>
            </a:pPr>
            <a:r>
              <a:rPr sz="2100" b="0" i="0">
                <a:solidFill>
                  <a:srgbClr val="25324A"/>
                </a:solidFill>
                <a:latin typeface="Times New Roman"/>
                <a:ea typeface="標楷體"/>
                <a:cs typeface="Times New Roman"/>
              </a:rPr>
              <a:t>單位：s</a:t>
            </a:r>
          </a:p>
          <a:p>
            <a:pPr algn="ctr">
              <a:lnSpc>
                <a:spcPct val="92000"/>
              </a:lnSpc>
              <a:spcBef>
                <a:spcPts val="0"/>
              </a:spcBef>
              <a:spcAft>
                <a:spcPts val="0"/>
              </a:spcAft>
            </a:pPr>
            <a:r>
              <a:rPr sz="2100" b="0" i="0">
                <a:solidFill>
                  <a:srgbClr val="25324A"/>
                </a:solidFill>
                <a:latin typeface="Times New Roman"/>
                <a:ea typeface="標楷體"/>
                <a:cs typeface="Times New Roman"/>
              </a:rPr>
              <a:t>來源：STATE_INTERVAL</a:t>
            </a:r>
          </a:p>
        </p:txBody>
      </p:sp>
      <p:sp>
        <p:nvSpPr>
          <p:cNvPr id="13" name="Endpoint scope boundary"/>
          <p:cNvSpPr/>
          <p:nvPr/>
        </p:nvSpPr>
        <p:spPr>
          <a:xfrm>
            <a:off x="932688" y="3931920"/>
            <a:ext cx="4882896" cy="74980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endpoint scope：宣告的 radio／processing state 與 transition</a:t>
            </a:r>
          </a:p>
        </p:txBody>
      </p:sp>
      <p:sp>
        <p:nvSpPr>
          <p:cNvPr id="14" name="Endpoint exclusion boundary"/>
          <p:cNvSpPr/>
          <p:nvPr/>
        </p:nvSpPr>
        <p:spPr>
          <a:xfrm>
            <a:off x="6364224" y="3931920"/>
            <a:ext cx="4882896" cy="74980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不包含 satellite／gateway／whole-system wall-plug</a:t>
            </a:r>
          </a:p>
        </p:txBody>
      </p:sp>
      <p:sp>
        <p:nvSpPr>
          <p:cNvPr id="15" name="Field contract endpoint_energy_j"/>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endpoint_energy_j</a:t>
            </a:r>
            <a:r>
              <a:rPr sz="1600" b="0" i="0">
                <a:solidFill>
                  <a:srgbClr val="25356B"/>
                </a:solidFill>
                <a:latin typeface="Times New Roman"/>
                <a:ea typeface="標楷體"/>
                <a:cs typeface="Times New Roman"/>
              </a:rPr>
              <a:t>（端點能量）｜來源：result summary｜作用：同一 endpoint boundary 的總和</a:t>
            </a:r>
          </a:p>
          <a:p>
            <a:pPr algn="l">
              <a:lnSpc>
                <a:spcPct val="78000"/>
              </a:lnSpc>
              <a:spcBef>
                <a:spcPts val="0"/>
              </a:spcBef>
              <a:spcAft>
                <a:spcPts val="0"/>
              </a:spcAft>
            </a:pPr>
            <a:r>
              <a:rPr sz="1600" b="0" i="0">
                <a:solidFill>
                  <a:srgbClr val="25356B"/>
                </a:solidFill>
                <a:latin typeface="Times New Roman"/>
                <a:ea typeface="標楷體"/>
                <a:cs typeface="Times New Roman"/>
              </a:rPr>
              <a:t>單位：J｜判讀：對照 energy bucket</a:t>
            </a:r>
          </a:p>
        </p:txBody>
      </p:sp>
      <p:sp>
        <p:nvSpPr>
          <p:cNvPr id="16" name="Native Office Math endpoint" title="endpoint" descr="endpoint"/>
          <p:cNvSpPr hidden="1">
            <a:spLocks noGrp="1"/>
          </p:cNvSpPr>
          <p:nvPr/>
        </p:nvSpPr>
        <p:spPr>
          <a:xfrm>
            <a:off x="0" y="0"/>
            <a:ext cx="1" cy="1"/>
          </a:xfrm>
          <a:noFill/>
          <a:ln>
            <a:noFill/>
          </a:ln>
        </p:spPr>
        <p:txBody>
          <a:bodyPr anchor="ctr" wrap="none"/>
          <a:lstStyle/>
          <a:p>
            <a:pPr algn="ctr"/>
            <a14:m>
              <m:oMathPara>
                <m:oMath>
                  <m:sSub>
                    <m:sSubPr/>
                    <m:e>
                      <m:r>
                        <a:rPr lang="en-US" altLang="en-US" sz="3000" dirty="0" i="1">
                          <a:latin typeface="Cambria Math"/>
                        </a:rPr>
                        <m:t>E</m:t>
                      </m:r>
                    </m:e>
                    <m:e>
                      <m:r>
                        <a:rPr lang="en-US" altLang="en-US" sz="3000" dirty="0">
                          <a:latin typeface="Cambria Math"/>
                        </a:rPr>
                        <m:t>endpoint</m:t>
                      </m:r>
                    </m:e>
                  </m:sSub>
                  <m:r>
                    <a:rPr lang="en-US" altLang="en-US" sz="3000" dirty="0">
                      <a:latin typeface="Cambria Math"/>
                    </a:rPr>
                    <m:t> = </m:t>
                  </m:r>
                  <m:nary>
                    <m:naryPr>
                      <m:chr m:val="∑"/>
                      <m:limLoc m:val="undOvr"/>
                      <m:grow m:val="1"/>
                    </m:naryPr>
                    <m:sub>
                      <m:r>
                        <a:rPr lang="en-US" altLang="en-US" sz="3000" dirty="0" i="1">
                          <a:latin typeface="Cambria Math"/>
                        </a:rPr>
                        <m:t>s</m:t>
                      </m:r>
                      <m:r>
                        <a:rPr lang="en-US" altLang="en-US" sz="3000" dirty="0">
                          <a:latin typeface="Cambria Math"/>
                        </a:rPr>
                        <m:t> ∈ </m:t>
                      </m:r>
                      <m:r>
                        <a:rPr lang="en-US" altLang="en-US" sz="3000" dirty="0" i="1">
                          <a:latin typeface="Cambria Math"/>
                        </a:rPr>
                        <m:t>S</m:t>
                      </m:r>
                    </m:sub>
                    <m:sup/>
                    <m:e>
                      <m:sSub>
                        <m:sSubPr/>
                        <m:e>
                          <m:r>
                            <a:rPr lang="en-US" altLang="en-US" sz="3000" dirty="0" i="1">
                              <a:latin typeface="Cambria Math"/>
                            </a:rPr>
                            <m:t>P</m:t>
                          </m:r>
                        </m:e>
                        <m:e>
                          <m:r>
                            <a:rPr lang="en-US" altLang="en-US" sz="3000" dirty="0">
                              <a:latin typeface="Cambria Math"/>
                            </a:rPr>
                            <m:t>s</m:t>
                          </m:r>
                        </m:e>
                      </m:sSub>
                      <m:r>
                        <a:rPr lang="en-US" altLang="en-US" sz="3000" dirty="0">
                          <a:latin typeface="Cambria Math"/>
                        </a:rPr>
                        <m:t> </m:t>
                      </m:r>
                      <m:sSub>
                        <m:sSubPr/>
                        <m:e>
                          <m:r>
                            <a:rPr lang="en-US" altLang="en-US" sz="3000" dirty="0" i="1">
                              <a:latin typeface="Cambria Math"/>
                            </a:rPr>
                            <m:t>t</m:t>
                          </m:r>
                        </m:e>
                        <m:e>
                          <m:r>
                            <a:rPr lang="en-US" altLang="en-US" sz="3000" dirty="0">
                              <a:latin typeface="Cambria Math"/>
                            </a:rPr>
                            <m:t>s</m:t>
                          </m:r>
                        </m:e>
                      </m:sSub>
                    </m:e>
                  </m:nary>
                </m:oMath>
              </m:oMathPara>
            </a14:m>
            <a:endParaRPr lang="en-US" sz="3000" dirty="0"/>
          </a:p>
        </p:txBody>
      </p:sp>
    </p:spTree>
  </p:cSld>
  <p:clrMapOvr>
    <a:masterClrMapping/>
  </p:clrMapOvr>
</p:sld>
</file>

<file path=ppt/slides/slide40.xml><?xml version="1.0" encoding="utf-8"?>
<p:sld xmlns:a="http://schemas.openxmlformats.org/drawingml/2006/main" xmlns:a14="http://schemas.microsoft.com/office/drawing/2010/main" xmlns:m="http://schemas.openxmlformats.org/officeDocument/2006/math" xmlns:p="http://schemas.openxmlformats.org/presentationml/2006/main">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P034｜Energy efficiency 的 bit/J 邊界</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bit/J 是同一 endpoint boundary 內的效率比值；service gate 仍獨立</a:t>
            </a:r>
          </a:p>
        </p:txBody>
      </p:sp>
      <p:sp>
        <p:nvSpPr>
          <p:cNvPr id="4" name="Delivered numerator card"/>
          <p:cNvSpPr/>
          <p:nvPr/>
        </p:nvSpPr>
        <p:spPr>
          <a:xfrm>
            <a:off x="868680" y="1481328"/>
            <a:ext cx="2834640" cy="177393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livered numerator card heading"/>
          <p:cNvSpPr txBox="1"/>
          <p:nvPr/>
        </p:nvSpPr>
        <p:spPr>
          <a:xfrm>
            <a:off x="960120"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1">
                <a:solidFill>
                  <a:srgbClr val="4967C2"/>
                </a:solidFill>
                <a:latin typeface="Times New Roman"/>
                <a:ea typeface="標楷體"/>
                <a:cs typeface="Times New Roman"/>
              </a:rPr>
              <a:t>D_delivered</a:t>
            </a:r>
          </a:p>
        </p:txBody>
      </p:sp>
      <p:sp>
        <p:nvSpPr>
          <p:cNvPr id="6" name="Delivered numerator card body"/>
          <p:cNvSpPr txBox="1"/>
          <p:nvPr/>
        </p:nvSpPr>
        <p:spPr>
          <a:xfrm>
            <a:off x="996695" y="2011680"/>
            <a:ext cx="2578608" cy="113385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交付資料</a:t>
            </a:r>
          </a:p>
          <a:p>
            <a:pPr algn="ctr">
              <a:lnSpc>
                <a:spcPct val="92000"/>
              </a:lnSpc>
              <a:spcBef>
                <a:spcPts val="0"/>
              </a:spcBef>
              <a:spcAft>
                <a:spcPts val="0"/>
              </a:spcAft>
            </a:pPr>
            <a:r>
              <a:rPr sz="2100" b="0" i="0">
                <a:solidFill>
                  <a:srgbClr val="25324A"/>
                </a:solidFill>
                <a:latin typeface="Times New Roman"/>
                <a:ea typeface="標楷體"/>
                <a:cs typeface="Times New Roman"/>
              </a:rPr>
              <a:t>單位：bit</a:t>
            </a:r>
          </a:p>
          <a:p>
            <a:pPr algn="ctr">
              <a:lnSpc>
                <a:spcPct val="92000"/>
              </a:lnSpc>
              <a:spcBef>
                <a:spcPts val="0"/>
              </a:spcBef>
              <a:spcAft>
                <a:spcPts val="0"/>
              </a:spcAft>
            </a:pPr>
            <a:r>
              <a:rPr sz="2100" b="0" i="0">
                <a:solidFill>
                  <a:srgbClr val="25324A"/>
                </a:solidFill>
                <a:latin typeface="Times New Roman"/>
                <a:ea typeface="標楷體"/>
                <a:cs typeface="Times New Roman"/>
              </a:rPr>
              <a:t>來源：result summary</a:t>
            </a:r>
          </a:p>
        </p:txBody>
      </p:sp>
      <p:sp>
        <p:nvSpPr>
          <p:cNvPr id="7" name="Efficiency formula frame"/>
          <p:cNvSpPr/>
          <p:nvPr/>
        </p:nvSpPr>
        <p:spPr>
          <a:xfrm>
            <a:off x="3886200" y="1481328"/>
            <a:ext cx="4069080" cy="1773936"/>
          </a:xfrm>
          <a:prstGeom prst="roundRect">
            <a:avLst/>
          </a:prstGeom>
          <a:solidFill>
            <a:srgbClr val="F7F8FC"/>
          </a:solidFill>
          <a:ln w="2032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ditable efficiency formula"/>
          <p:cNvSpPr txBox="1"/>
          <p:nvPr/>
        </p:nvSpPr>
        <p:spPr>
          <a:xfrm>
            <a:off x="4069080" y="1901952"/>
            <a:ext cx="3703320" cy="56692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1">
                <a:solidFill>
                  <a:srgbClr val="660066"/>
                </a:solidFill>
                <a:latin typeface="Times New Roman"/>
                <a:ea typeface="標楷體"/>
                <a:cs typeface="Times New Roman"/>
              </a:rPr>
              <a:t>η_E = D_delivered / E_endpoint</a:t>
            </a:r>
          </a:p>
        </p:txBody>
      </p:sp>
      <p:sp>
        <p:nvSpPr>
          <p:cNvPr id="9" name="Efficiency unit"/>
          <p:cNvSpPr txBox="1"/>
          <p:nvPr/>
        </p:nvSpPr>
        <p:spPr>
          <a:xfrm>
            <a:off x="4096512" y="2651760"/>
            <a:ext cx="3648456" cy="25603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850" b="1" i="0">
                <a:solidFill>
                  <a:srgbClr val="660066"/>
                </a:solidFill>
                <a:latin typeface="Times New Roman"/>
                <a:ea typeface="標楷體"/>
                <a:cs typeface="Times New Roman"/>
              </a:rPr>
              <a:t>bit ÷ J = bit/J</a:t>
            </a:r>
          </a:p>
        </p:txBody>
      </p:sp>
      <p:sp>
        <p:nvSpPr>
          <p:cNvPr id="10" name="Endpoint denominator card"/>
          <p:cNvSpPr/>
          <p:nvPr/>
        </p:nvSpPr>
        <p:spPr>
          <a:xfrm>
            <a:off x="8074152" y="1481328"/>
            <a:ext cx="2834640" cy="177393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Endpoint denominator card heading"/>
          <p:cNvSpPr txBox="1"/>
          <p:nvPr/>
        </p:nvSpPr>
        <p:spPr>
          <a:xfrm>
            <a:off x="8165592" y="1591056"/>
            <a:ext cx="2651760"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1">
                <a:solidFill>
                  <a:srgbClr val="007374"/>
                </a:solidFill>
                <a:latin typeface="Times New Roman"/>
                <a:ea typeface="標楷體"/>
                <a:cs typeface="Times New Roman"/>
              </a:rPr>
              <a:t>E_endpoint</a:t>
            </a:r>
          </a:p>
        </p:txBody>
      </p:sp>
      <p:sp>
        <p:nvSpPr>
          <p:cNvPr id="12" name="Endpoint denominator card body"/>
          <p:cNvSpPr txBox="1"/>
          <p:nvPr/>
        </p:nvSpPr>
        <p:spPr>
          <a:xfrm>
            <a:off x="8202168" y="2011680"/>
            <a:ext cx="2578608" cy="113385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端點能量</a:t>
            </a:r>
          </a:p>
          <a:p>
            <a:pPr algn="ctr">
              <a:lnSpc>
                <a:spcPct val="92000"/>
              </a:lnSpc>
              <a:spcBef>
                <a:spcPts val="0"/>
              </a:spcBef>
              <a:spcAft>
                <a:spcPts val="0"/>
              </a:spcAft>
            </a:pPr>
            <a:r>
              <a:rPr sz="2100" b="0" i="0">
                <a:solidFill>
                  <a:srgbClr val="25324A"/>
                </a:solidFill>
                <a:latin typeface="Times New Roman"/>
                <a:ea typeface="標楷體"/>
                <a:cs typeface="Times New Roman"/>
              </a:rPr>
              <a:t>單位：J</a:t>
            </a:r>
          </a:p>
          <a:p>
            <a:pPr algn="ctr">
              <a:lnSpc>
                <a:spcPct val="92000"/>
              </a:lnSpc>
              <a:spcBef>
                <a:spcPts val="0"/>
              </a:spcBef>
              <a:spcAft>
                <a:spcPts val="0"/>
              </a:spcAft>
            </a:pPr>
            <a:r>
              <a:rPr sz="2100" b="0" i="0">
                <a:solidFill>
                  <a:srgbClr val="25324A"/>
                </a:solidFill>
                <a:latin typeface="Times New Roman"/>
                <a:ea typeface="標楷體"/>
                <a:cs typeface="Times New Roman"/>
              </a:rPr>
              <a:t>來源：result summary</a:t>
            </a:r>
          </a:p>
        </p:txBody>
      </p:sp>
      <p:sp>
        <p:nvSpPr>
          <p:cNvPr id="13" name="Efficiency caveat card"/>
          <p:cNvSpPr/>
          <p:nvPr/>
        </p:nvSpPr>
        <p:spPr>
          <a:xfrm>
            <a:off x="932688" y="3584448"/>
            <a:ext cx="4882896" cy="91440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高 bit/J 且 service_pass = false</a:t>
            </a:r>
          </a:p>
          <a:p>
            <a:pPr algn="ctr">
              <a:lnSpc>
                <a:spcPct val="94000"/>
              </a:lnSpc>
              <a:spcBef>
                <a:spcPts val="0"/>
              </a:spcBef>
              <a:spcAft>
                <a:spcPts val="0"/>
              </a:spcAft>
            </a:pPr>
            <a:r>
              <a:rPr sz="1900" b="1" i="0">
                <a:solidFill>
                  <a:srgbClr val="25356B"/>
                </a:solidFill>
                <a:latin typeface="Times New Roman"/>
                <a:ea typeface="標楷體"/>
                <a:cs typeface="Times New Roman"/>
              </a:rPr>
              <a:t>保留為效率觀察，不作服務成功判定</a:t>
            </a:r>
          </a:p>
        </p:txBody>
      </p:sp>
      <p:sp>
        <p:nvSpPr>
          <p:cNvPr id="14" name="Efficiency service card"/>
          <p:cNvSpPr/>
          <p:nvPr/>
        </p:nvSpPr>
        <p:spPr>
          <a:xfrm>
            <a:off x="6364224" y="3584448"/>
            <a:ext cx="4882896" cy="91440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service_pass、deadline_pass</a:t>
            </a:r>
          </a:p>
          <a:p>
            <a:pPr algn="ctr">
              <a:lnSpc>
                <a:spcPct val="94000"/>
              </a:lnSpc>
              <a:spcBef>
                <a:spcPts val="0"/>
              </a:spcBef>
              <a:spcAft>
                <a:spcPts val="0"/>
              </a:spcAft>
            </a:pPr>
            <a:r>
              <a:rPr sz="1950" b="1" i="0">
                <a:solidFill>
                  <a:srgbClr val="25356B"/>
                </a:solidFill>
                <a:latin typeface="Times New Roman"/>
                <a:ea typeface="標楷體"/>
                <a:cs typeface="Times New Roman"/>
              </a:rPr>
              <a:t>依 required packet 與期限另行判定</a:t>
            </a:r>
          </a:p>
        </p:txBody>
      </p:sp>
      <p:sp>
        <p:nvSpPr>
          <p:cNvPr id="15" name="Field contract endpoint_energy_efficiency_bits_per_j"/>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endpoint_energy_efficiency_bits_per_j</a:t>
            </a:r>
            <a:r>
              <a:rPr sz="1600" b="0" i="0">
                <a:solidFill>
                  <a:srgbClr val="25356B"/>
                </a:solidFill>
                <a:latin typeface="Times New Roman"/>
                <a:ea typeface="標楷體"/>
                <a:cs typeface="Times New Roman"/>
              </a:rPr>
              <a:t>（端點能量效率）｜來源：result summary｜作用：delivered bit ÷ endpoint J</a:t>
            </a:r>
          </a:p>
          <a:p>
            <a:pPr algn="l">
              <a:lnSpc>
                <a:spcPct val="78000"/>
              </a:lnSpc>
              <a:spcBef>
                <a:spcPts val="0"/>
              </a:spcBef>
              <a:spcAft>
                <a:spcPts val="0"/>
              </a:spcAft>
            </a:pPr>
            <a:r>
              <a:rPr sz="1600" b="0" i="0">
                <a:solidFill>
                  <a:srgbClr val="25356B"/>
                </a:solidFill>
                <a:latin typeface="Times New Roman"/>
                <a:ea typeface="標楷體"/>
                <a:cs typeface="Times New Roman"/>
              </a:rPr>
              <a:t>單位：bit/J｜判讀：不取代 service gate</a:t>
            </a:r>
          </a:p>
        </p:txBody>
      </p:sp>
      <p:sp>
        <p:nvSpPr>
          <p:cNvPr id="16" name="Native Office Math efficiency" title="efficiency" descr="efficiency"/>
          <p:cNvSpPr hidden="1">
            <a:spLocks noGrp="1"/>
          </p:cNvSpPr>
          <p:nvPr/>
        </p:nvSpPr>
        <p:spPr>
          <a:xfrm>
            <a:off x="0" y="0"/>
            <a:ext cx="1" cy="1"/>
          </a:xfrm>
          <a:noFill/>
          <a:ln>
            <a:noFill/>
          </a:ln>
        </p:spPr>
        <p:txBody>
          <a:bodyPr anchor="ctr" wrap="none"/>
          <a:lstStyle/>
          <a:p>
            <a:pPr algn="ctr"/>
            <a14:m>
              <m:oMathPara>
                <m:oMath>
                  <m:sSub>
                    <m:sSubPr/>
                    <m:e>
                      <m:r>
                        <a:rPr lang="en-US" altLang="en-US" sz="3000" dirty="0" i="1">
                          <a:latin typeface="Cambria Math"/>
                        </a:rPr>
                        <m:t>η</m:t>
                      </m:r>
                    </m:e>
                    <m:e>
                      <m:r>
                        <a:rPr lang="en-US" altLang="en-US" sz="3000" dirty="0">
                          <a:latin typeface="Cambria Math"/>
                        </a:rPr>
                        <m:t>E</m:t>
                      </m:r>
                    </m:e>
                  </m:sSub>
                  <m:r>
                    <a:rPr lang="en-US" altLang="en-US" sz="3000" dirty="0">
                      <a:latin typeface="Cambria Math"/>
                    </a:rPr>
                    <m:t> = </m:t>
                  </m:r>
                  <m:f>
                    <m:fPr>
                      <m:type m:val="bar"/>
                    </m:fPr>
                    <m:num>
                      <m:sSub>
                        <m:sSubPr/>
                        <m:e>
                          <m:r>
                            <a:rPr lang="en-US" altLang="en-US" sz="3000" dirty="0" i="1">
                              <a:latin typeface="Cambria Math"/>
                            </a:rPr>
                            <m:t>D</m:t>
                          </m:r>
                        </m:e>
                        <m:e>
                          <m:r>
                            <a:rPr lang="en-US" altLang="en-US" sz="3000" dirty="0">
                              <a:latin typeface="Cambria Math"/>
                            </a:rPr>
                            <m:t>delivered</m:t>
                          </m:r>
                        </m:e>
                      </m:sSub>
                    </m:num>
                    <m:den>
                      <m:sSub>
                        <m:sSubPr/>
                        <m:e>
                          <m:r>
                            <a:rPr lang="en-US" altLang="en-US" sz="3000" dirty="0" i="1">
                              <a:latin typeface="Cambria Math"/>
                            </a:rPr>
                            <m:t>E</m:t>
                          </m:r>
                        </m:e>
                        <m:e>
                          <m:r>
                            <a:rPr lang="en-US" altLang="en-US" sz="3000" dirty="0">
                              <a:latin typeface="Cambria Math"/>
                            </a:rPr>
                            <m:t>endpoint</m:t>
                          </m:r>
                        </m:e>
                      </m:sSub>
                    </m:den>
                  </m:f>
                </m:oMath>
              </m:oMathPara>
            </a14:m>
            <a:endParaRPr lang="en-US" sz="30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P035｜來源、模型、假設與結果</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同一筆數字要沿來源、模型、固定假設與 result artifact 回溯</a:t>
            </a:r>
          </a:p>
        </p:txBody>
      </p:sp>
      <p:sp>
        <p:nvSpPr>
          <p:cNvPr id="4" name="Provenance layer 1"/>
          <p:cNvSpPr/>
          <p:nvPr/>
        </p:nvSpPr>
        <p:spPr>
          <a:xfrm>
            <a:off x="713232" y="1536192"/>
            <a:ext cx="2542032" cy="2011680"/>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ovenance layer 1 heading"/>
          <p:cNvSpPr txBox="1"/>
          <p:nvPr/>
        </p:nvSpPr>
        <p:spPr>
          <a:xfrm>
            <a:off x="804672" y="1645919"/>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Source</a:t>
            </a:r>
          </a:p>
        </p:txBody>
      </p:sp>
      <p:sp>
        <p:nvSpPr>
          <p:cNvPr id="6" name="Provenance layer 1 body"/>
          <p:cNvSpPr txBox="1"/>
          <p:nvPr/>
        </p:nvSpPr>
        <p:spPr>
          <a:xfrm>
            <a:off x="841248" y="2066543"/>
            <a:ext cx="2286000" cy="137160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50" b="0" i="0">
                <a:solidFill>
                  <a:srgbClr val="25324A"/>
                </a:solidFill>
                <a:latin typeface="Times New Roman"/>
                <a:ea typeface="標楷體"/>
                <a:cs typeface="Times New Roman"/>
              </a:rPr>
              <a:t>provenance 參考</a:t>
            </a:r>
          </a:p>
          <a:p>
            <a:pPr algn="ctr">
              <a:lnSpc>
                <a:spcPct val="92000"/>
              </a:lnSpc>
              <a:spcBef>
                <a:spcPts val="0"/>
              </a:spcBef>
              <a:spcAft>
                <a:spcPts val="0"/>
              </a:spcAft>
            </a:pPr>
            <a:r>
              <a:rPr sz="1950" b="0" i="0">
                <a:solidFill>
                  <a:srgbClr val="25324A"/>
                </a:solidFill>
                <a:latin typeface="Times New Roman"/>
                <a:ea typeface="標楷體"/>
                <a:cs typeface="Times New Roman"/>
              </a:rPr>
              <a:t>上游 repository／commit</a:t>
            </a:r>
          </a:p>
        </p:txBody>
      </p:sp>
      <p:sp>
        <p:nvSpPr>
          <p:cNvPr id="7" name="Provenance connector"/>
          <p:cNvSpPr/>
          <p:nvPr/>
        </p:nvSpPr>
        <p:spPr>
          <a:xfrm>
            <a:off x="3346704" y="2340864"/>
            <a:ext cx="201168" cy="329184"/>
          </a:xfrm>
          <a:prstGeom prst="chevron">
            <a:avLst/>
          </a:prstGeom>
          <a:solidFill>
            <a:srgbClr val="25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 layer 2"/>
          <p:cNvSpPr/>
          <p:nvPr/>
        </p:nvSpPr>
        <p:spPr>
          <a:xfrm>
            <a:off x="3547872" y="1536192"/>
            <a:ext cx="2542032" cy="201168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layer 2 heading"/>
          <p:cNvSpPr txBox="1"/>
          <p:nvPr/>
        </p:nvSpPr>
        <p:spPr>
          <a:xfrm>
            <a:off x="3639312" y="1645919"/>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4967C2"/>
                </a:solidFill>
                <a:latin typeface="Times New Roman"/>
                <a:ea typeface="標楷體"/>
                <a:cs typeface="Times New Roman"/>
              </a:rPr>
              <a:t>Model</a:t>
            </a:r>
          </a:p>
        </p:txBody>
      </p:sp>
      <p:sp>
        <p:nvSpPr>
          <p:cNvPr id="10" name="Provenance layer 2 body"/>
          <p:cNvSpPr txBox="1"/>
          <p:nvPr/>
        </p:nvSpPr>
        <p:spPr>
          <a:xfrm>
            <a:off x="3675887" y="2066543"/>
            <a:ext cx="2286000" cy="137160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50" b="0" i="0">
                <a:solidFill>
                  <a:srgbClr val="25324A"/>
                </a:solidFill>
                <a:latin typeface="Times New Roman"/>
                <a:ea typeface="標楷體"/>
                <a:cs typeface="Times New Roman"/>
              </a:rPr>
              <a:t>coherent-course-simulated-adapter</a:t>
            </a:r>
          </a:p>
          <a:p>
            <a:pPr algn="ctr">
              <a:lnSpc>
                <a:spcPct val="92000"/>
              </a:lnSpc>
              <a:spcBef>
                <a:spcPts val="0"/>
              </a:spcBef>
              <a:spcAft>
                <a:spcPts val="0"/>
              </a:spcAft>
            </a:pPr>
            <a:r>
              <a:rPr sz="1950" b="0" i="0">
                <a:solidFill>
                  <a:srgbClr val="25324A"/>
                </a:solidFill>
                <a:latin typeface="Times New Roman"/>
                <a:ea typeface="標楷體"/>
                <a:cs typeface="Times New Roman"/>
              </a:rPr>
              <a:t>固定 runner 行為</a:t>
            </a:r>
          </a:p>
        </p:txBody>
      </p:sp>
      <p:sp>
        <p:nvSpPr>
          <p:cNvPr id="11" name="Provenance connector"/>
          <p:cNvSpPr/>
          <p:nvPr/>
        </p:nvSpPr>
        <p:spPr>
          <a:xfrm>
            <a:off x="6181344" y="2340864"/>
            <a:ext cx="201168" cy="329184"/>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rovenance layer 3"/>
          <p:cNvSpPr/>
          <p:nvPr/>
        </p:nvSpPr>
        <p:spPr>
          <a:xfrm>
            <a:off x="6382512" y="1536192"/>
            <a:ext cx="2542032" cy="201168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rovenance layer 3 heading"/>
          <p:cNvSpPr txBox="1"/>
          <p:nvPr/>
        </p:nvSpPr>
        <p:spPr>
          <a:xfrm>
            <a:off x="6473952" y="1645919"/>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846826"/>
                </a:solidFill>
                <a:latin typeface="Times New Roman"/>
                <a:ea typeface="標楷體"/>
                <a:cs typeface="Times New Roman"/>
              </a:rPr>
              <a:t>Course</a:t>
            </a:r>
          </a:p>
        </p:txBody>
      </p:sp>
      <p:sp>
        <p:nvSpPr>
          <p:cNvPr id="14" name="Provenance layer 3 body"/>
          <p:cNvSpPr txBox="1"/>
          <p:nvPr/>
        </p:nvSpPr>
        <p:spPr>
          <a:xfrm>
            <a:off x="6510528" y="2066543"/>
            <a:ext cx="2286000" cy="137160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50" b="0" i="0">
                <a:solidFill>
                  <a:srgbClr val="25324A"/>
                </a:solidFill>
                <a:latin typeface="Times New Roman"/>
                <a:ea typeface="標楷體"/>
                <a:cs typeface="Times New Roman"/>
              </a:rPr>
              <a:t>scenario、window、traffic</a:t>
            </a:r>
          </a:p>
          <a:p>
            <a:pPr algn="ctr">
              <a:lnSpc>
                <a:spcPct val="92000"/>
              </a:lnSpc>
              <a:spcBef>
                <a:spcPts val="0"/>
              </a:spcBef>
              <a:spcAft>
                <a:spcPts val="0"/>
              </a:spcAft>
            </a:pPr>
            <a:r>
              <a:rPr sz="1950" b="0" i="0">
                <a:solidFill>
                  <a:srgbClr val="25324A"/>
                </a:solidFill>
                <a:latin typeface="Times New Roman"/>
                <a:ea typeface="標楷體"/>
                <a:cs typeface="Times New Roman"/>
              </a:rPr>
              <a:t>endpoint profile 固定</a:t>
            </a:r>
          </a:p>
        </p:txBody>
      </p:sp>
      <p:sp>
        <p:nvSpPr>
          <p:cNvPr id="15" name="Provenance connector"/>
          <p:cNvSpPr/>
          <p:nvPr/>
        </p:nvSpPr>
        <p:spPr>
          <a:xfrm>
            <a:off x="9015984" y="2340864"/>
            <a:ext cx="201168" cy="329184"/>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rovenance layer 4"/>
          <p:cNvSpPr/>
          <p:nvPr/>
        </p:nvSpPr>
        <p:spPr>
          <a:xfrm>
            <a:off x="9217152" y="1536192"/>
            <a:ext cx="2542032" cy="201168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venance layer 4 heading"/>
          <p:cNvSpPr txBox="1"/>
          <p:nvPr/>
        </p:nvSpPr>
        <p:spPr>
          <a:xfrm>
            <a:off x="9308592" y="1645919"/>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Result</a:t>
            </a:r>
          </a:p>
        </p:txBody>
      </p:sp>
      <p:sp>
        <p:nvSpPr>
          <p:cNvPr id="18" name="Provenance layer 4 body"/>
          <p:cNvSpPr txBox="1"/>
          <p:nvPr/>
        </p:nvSpPr>
        <p:spPr>
          <a:xfrm>
            <a:off x="9345168" y="2066543"/>
            <a:ext cx="2286000" cy="137160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50" b="0" i="0">
                <a:solidFill>
                  <a:srgbClr val="25324A"/>
                </a:solidFill>
                <a:latin typeface="Times New Roman"/>
                <a:ea typeface="標楷體"/>
                <a:cs typeface="Times New Roman"/>
              </a:rPr>
              <a:t>JSON result＋同 run replay</a:t>
            </a:r>
          </a:p>
          <a:p>
            <a:pPr algn="ctr">
              <a:lnSpc>
                <a:spcPct val="92000"/>
              </a:lnSpc>
              <a:spcBef>
                <a:spcPts val="0"/>
              </a:spcBef>
              <a:spcAft>
                <a:spcPts val="0"/>
              </a:spcAft>
            </a:pPr>
            <a:r>
              <a:rPr sz="1950" b="0" i="0">
                <a:solidFill>
                  <a:srgbClr val="25324A"/>
                </a:solidFill>
                <a:latin typeface="Times New Roman"/>
                <a:ea typeface="標楷體"/>
                <a:cs typeface="Times New Roman"/>
              </a:rPr>
              <a:t>claim boundary 隨 artifact 保存</a:t>
            </a:r>
          </a:p>
        </p:txBody>
      </p:sp>
      <p:sp>
        <p:nvSpPr>
          <p:cNvPr id="19" name="Provenance execution boundary"/>
          <p:cNvSpPr/>
          <p:nvPr/>
        </p:nvSpPr>
        <p:spPr>
          <a:xfrm>
            <a:off x="932688" y="3968496"/>
            <a:ext cx="4882896" cy="74980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1">
                <a:solidFill>
                  <a:srgbClr val="25356B"/>
                </a:solidFill>
                <a:latin typeface="Times New Roman"/>
                <a:ea typeface="標楷體"/>
                <a:cs typeface="Times New Roman"/>
              </a:rPr>
              <a:t>upstream_execution = false</a:t>
            </a:r>
            <a:r>
              <a:rPr sz="1900" b="1" i="0">
                <a:solidFill>
                  <a:srgbClr val="25356B"/>
                </a:solidFill>
                <a:latin typeface="Times New Roman"/>
                <a:ea typeface="標楷體"/>
                <a:cs typeface="Times New Roman"/>
              </a:rPr>
              <a:t>：不是 upstream live execution</a:t>
            </a:r>
          </a:p>
        </p:txBody>
      </p:sp>
      <p:sp>
        <p:nvSpPr>
          <p:cNvPr id="20" name="Provenance result boundary"/>
          <p:cNvSpPr/>
          <p:nvPr/>
        </p:nvSpPr>
        <p:spPr>
          <a:xfrm>
            <a:off x="6364224" y="3968496"/>
            <a:ext cx="4882896" cy="74980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結果型態：coherent simulated result；以 artifact 讀值</a:t>
            </a:r>
          </a:p>
        </p:txBody>
      </p:sp>
      <p:sp>
        <p:nvSpPr>
          <p:cNvPr id="21" name="Field contract runner_provenance"/>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runner_provenance</a:t>
            </a:r>
            <a:r>
              <a:rPr sz="1600" b="0" i="0">
                <a:solidFill>
                  <a:srgbClr val="25356B"/>
                </a:solidFill>
                <a:latin typeface="Times New Roman"/>
                <a:ea typeface="標楷體"/>
                <a:cs typeface="Times New Roman"/>
              </a:rPr>
              <a:t>（執行來源）｜來源：result artifact｜作用：保存 model／assumption／execution</a:t>
            </a:r>
          </a:p>
          <a:p>
            <a:pPr algn="l">
              <a:lnSpc>
                <a:spcPct val="78000"/>
              </a:lnSpc>
              <a:spcBef>
                <a:spcPts val="0"/>
              </a:spcBef>
              <a:spcAft>
                <a:spcPts val="0"/>
              </a:spcAft>
            </a:pPr>
            <a:r>
              <a:rPr sz="1600" b="0" i="0">
                <a:solidFill>
                  <a:srgbClr val="25356B"/>
                </a:solidFill>
                <a:latin typeface="Times New Roman"/>
                <a:ea typeface="標楷體"/>
                <a:cs typeface="Times New Roman"/>
              </a:rPr>
              <a:t>單位：record｜判讀：設定 claim ceiling</a:t>
            </a:r>
          </a:p>
        </p:txBody>
      </p:sp>
      <p:sp>
        <p:nvSpPr>
          <p:cNvPr id="22" name="Claim boundary"/>
          <p:cNvSpPr txBox="1"/>
          <p:nvPr/>
        </p:nvSpPr>
        <p:spPr>
          <a:xfrm>
            <a:off x="841248" y="5852160"/>
            <a:ext cx="10442448" cy="237744"/>
          </a:xfrm>
          <a:prstGeom prst="rect">
            <a:avLst/>
          </a:prstGeom>
          <a:noFill/>
        </p:spPr>
        <p:txBody>
          <a:bodyPr wrap="square" anchor="ctr" lIns="0" tIns="0" rIns="0" bIns="0">
            <a:spAutoFit/>
          </a:bodyPr>
          <a:lstStyle/>
          <a:p>
            <a:pPr algn="ctr">
              <a:lnSpc>
                <a:spcPct val="100000"/>
              </a:lnSpc>
              <a:spcBef>
                <a:spcPts val="0"/>
              </a:spcBef>
              <a:spcAft>
                <a:spcPts val="0"/>
              </a:spcAft>
            </a:pPr>
            <a:r>
              <a:rPr sz="1600" b="1" i="0">
                <a:solidFill>
                  <a:srgbClr val="992A2A"/>
                </a:solidFill>
                <a:latin typeface="Times New Roman"/>
                <a:ea typeface="標楷體"/>
                <a:cs typeface="Times New Roman"/>
              </a:rPr>
              <a:t>SIMULATED TEACHING DATA｜NOT LIVE｜NOT MEASURED｜NOT CANONICAL-PARITY-VERIFIED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P036｜RUN、REPLAY、WORKBOOK 的 identity 鏈</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同一條 identity record 連結 result、replay 與 workbook 的比較資格</a:t>
            </a:r>
          </a:p>
        </p:txBody>
      </p:sp>
      <p:sp>
        <p:nvSpPr>
          <p:cNvPr id="4" name="Identity object 1"/>
          <p:cNvSpPr/>
          <p:nvPr/>
        </p:nvSpPr>
        <p:spPr>
          <a:xfrm>
            <a:off x="868680" y="1481328"/>
            <a:ext cx="3246120" cy="1847088"/>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Identity object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RUN｜執行</a:t>
            </a:r>
          </a:p>
        </p:txBody>
      </p:sp>
      <p:sp>
        <p:nvSpPr>
          <p:cNvPr id="6" name="Identity object 1 body"/>
          <p:cNvSpPr txBox="1"/>
          <p:nvPr/>
        </p:nvSpPr>
        <p:spPr>
          <a:xfrm>
            <a:off x="996695" y="2011680"/>
            <a:ext cx="2990087" cy="120700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scenario＋case＋policy</a:t>
            </a:r>
          </a:p>
          <a:p>
            <a:pPr algn="ctr">
              <a:lnSpc>
                <a:spcPct val="92000"/>
              </a:lnSpc>
              <a:spcBef>
                <a:spcPts val="0"/>
              </a:spcBef>
              <a:spcAft>
                <a:spcPts val="0"/>
              </a:spcAft>
            </a:pPr>
            <a:r>
              <a:rPr sz="2000" b="0" i="0">
                <a:solidFill>
                  <a:srgbClr val="25324A"/>
                </a:solidFill>
                <a:latin typeface="Times New Roman"/>
                <a:ea typeface="標楷體"/>
                <a:cs typeface="Times New Roman"/>
              </a:rPr>
              <a:t>輸出 result.json 與同目錄 replay</a:t>
            </a:r>
          </a:p>
        </p:txBody>
      </p:sp>
      <p:sp>
        <p:nvSpPr>
          <p:cNvPr id="7" name="Identity chain connector"/>
          <p:cNvSpPr/>
          <p:nvPr/>
        </p:nvSpPr>
        <p:spPr>
          <a:xfrm>
            <a:off x="4215384" y="2212848"/>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Identity object 2"/>
          <p:cNvSpPr/>
          <p:nvPr/>
        </p:nvSpPr>
        <p:spPr>
          <a:xfrm>
            <a:off x="4471416" y="1481328"/>
            <a:ext cx="3246120" cy="184708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dentity object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REPLAY｜事件重播</a:t>
            </a:r>
          </a:p>
        </p:txBody>
      </p:sp>
      <p:sp>
        <p:nvSpPr>
          <p:cNvPr id="10" name="Identity object 2 body"/>
          <p:cNvSpPr txBox="1"/>
          <p:nvPr/>
        </p:nvSpPr>
        <p:spPr>
          <a:xfrm>
            <a:off x="4599431" y="2011680"/>
            <a:ext cx="2990087" cy="120700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讀同一次 run 的 events</a:t>
            </a:r>
          </a:p>
          <a:p>
            <a:pPr algn="ctr">
              <a:lnSpc>
                <a:spcPct val="92000"/>
              </a:lnSpc>
              <a:spcBef>
                <a:spcPts val="0"/>
              </a:spcBef>
              <a:spcAft>
                <a:spcPts val="0"/>
              </a:spcAft>
            </a:pPr>
            <a:r>
              <a:rPr sz="2000" b="0" i="0">
                <a:solidFill>
                  <a:srgbClr val="25324A"/>
                </a:solidFill>
                <a:latin typeface="Times New Roman"/>
                <a:ea typeface="標楷體"/>
                <a:cs typeface="Times New Roman"/>
              </a:rPr>
              <a:t>不重新執行 policy</a:t>
            </a:r>
          </a:p>
        </p:txBody>
      </p:sp>
      <p:sp>
        <p:nvSpPr>
          <p:cNvPr id="11" name="Identity chain connector"/>
          <p:cNvSpPr/>
          <p:nvPr/>
        </p:nvSpPr>
        <p:spPr>
          <a:xfrm>
            <a:off x="7818120" y="2212848"/>
            <a:ext cx="274320" cy="365760"/>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dentity object 3"/>
          <p:cNvSpPr/>
          <p:nvPr/>
        </p:nvSpPr>
        <p:spPr>
          <a:xfrm>
            <a:off x="8074152" y="1481328"/>
            <a:ext cx="3246120" cy="1847088"/>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dentity object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WORKBOOK｜比較紀錄</a:t>
            </a:r>
          </a:p>
        </p:txBody>
      </p:sp>
      <p:sp>
        <p:nvSpPr>
          <p:cNvPr id="14" name="Identity object 3 body"/>
          <p:cNvSpPr txBox="1"/>
          <p:nvPr/>
        </p:nvSpPr>
        <p:spPr>
          <a:xfrm>
            <a:off x="8202168" y="2011680"/>
            <a:ext cx="2990087" cy="120700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prediction、baseline、candidate、freeze</a:t>
            </a:r>
          </a:p>
          <a:p>
            <a:pPr algn="ctr">
              <a:lnSpc>
                <a:spcPct val="92000"/>
              </a:lnSpc>
              <a:spcBef>
                <a:spcPts val="0"/>
              </a:spcBef>
              <a:spcAft>
                <a:spcPts val="0"/>
              </a:spcAft>
            </a:pPr>
            <a:r>
              <a:rPr sz="2000" b="0" i="0">
                <a:solidFill>
                  <a:srgbClr val="25324A"/>
                </a:solidFill>
                <a:latin typeface="Times New Roman"/>
                <a:ea typeface="標楷體"/>
                <a:cs typeface="Times New Roman"/>
              </a:rPr>
              <a:t>保存 result／replay lineage</a:t>
            </a:r>
          </a:p>
        </p:txBody>
      </p:sp>
      <p:sp>
        <p:nvSpPr>
          <p:cNvPr id="15" name="Scenario identity field"/>
          <p:cNvSpPr/>
          <p:nvPr/>
        </p:nvSpPr>
        <p:spPr>
          <a:xfrm>
            <a:off x="932688" y="3694176"/>
            <a:ext cx="4882896" cy="89611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1">
                <a:solidFill>
                  <a:srgbClr val="25356B"/>
                </a:solidFill>
                <a:latin typeface="Times New Roman"/>
                <a:ea typeface="標楷體"/>
                <a:cs typeface="Times New Roman"/>
              </a:rPr>
              <a:t>scenario_id</a:t>
            </a:r>
            <a:r>
              <a:rPr sz="1900" b="1" i="0">
                <a:solidFill>
                  <a:srgbClr val="25356B"/>
                </a:solidFill>
                <a:latin typeface="Times New Roman"/>
                <a:ea typeface="標楷體"/>
                <a:cs typeface="Times New Roman"/>
              </a:rPr>
              <a:t>：固定情境的識別碼</a:t>
            </a:r>
          </a:p>
          <a:p>
            <a:pPr algn="ctr">
              <a:lnSpc>
                <a:spcPct val="94000"/>
              </a:lnSpc>
              <a:spcBef>
                <a:spcPts val="0"/>
              </a:spcBef>
              <a:spcAft>
                <a:spcPts val="0"/>
              </a:spcAft>
            </a:pPr>
            <a:r>
              <a:rPr sz="1900" b="1" i="0">
                <a:solidFill>
                  <a:srgbClr val="25356B"/>
                </a:solidFill>
                <a:latin typeface="Times New Roman"/>
                <a:ea typeface="標楷體"/>
                <a:cs typeface="Times New Roman"/>
              </a:rPr>
              <a:t>不是能量值；來源：scenario／result</a:t>
            </a:r>
          </a:p>
        </p:txBody>
      </p:sp>
      <p:sp>
        <p:nvSpPr>
          <p:cNvPr id="16" name="Identity mismatch field"/>
          <p:cNvSpPr/>
          <p:nvPr/>
        </p:nvSpPr>
        <p:spPr>
          <a:xfrm>
            <a:off x="6364224" y="3694176"/>
            <a:ext cx="4882896" cy="89611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1">
                <a:solidFill>
                  <a:srgbClr val="25356B"/>
                </a:solidFill>
                <a:latin typeface="Times New Roman"/>
                <a:ea typeface="標楷體"/>
                <a:cs typeface="Times New Roman"/>
              </a:rPr>
              <a:t>run_id</a:t>
            </a:r>
            <a:r>
              <a:rPr sz="1900" b="1" i="0">
                <a:solidFill>
                  <a:srgbClr val="25356B"/>
                </a:solidFill>
                <a:latin typeface="Times New Roman"/>
                <a:ea typeface="標楷體"/>
                <a:cs typeface="Times New Roman"/>
              </a:rPr>
              <a:t>＋policy identity＋units＋provenance</a:t>
            </a:r>
          </a:p>
          <a:p>
            <a:pPr algn="ctr">
              <a:lnSpc>
                <a:spcPct val="94000"/>
              </a:lnSpc>
              <a:spcBef>
                <a:spcPts val="0"/>
              </a:spcBef>
              <a:spcAft>
                <a:spcPts val="0"/>
              </a:spcAft>
            </a:pPr>
            <a:r>
              <a:rPr sz="1900" b="1" i="0">
                <a:solidFill>
                  <a:srgbClr val="25356B"/>
                </a:solidFill>
                <a:latin typeface="Times New Roman"/>
                <a:ea typeface="標楷體"/>
                <a:cs typeface="Times New Roman"/>
              </a:rPr>
              <a:t>任一 mismatch → fail closed</a:t>
            </a:r>
          </a:p>
        </p:txBody>
      </p:sp>
      <p:sp>
        <p:nvSpPr>
          <p:cNvPr id="17" name="Claim boundary"/>
          <p:cNvSpPr txBox="1"/>
          <p:nvPr/>
        </p:nvSpPr>
        <p:spPr>
          <a:xfrm>
            <a:off x="841248" y="5852160"/>
            <a:ext cx="10442448" cy="237744"/>
          </a:xfrm>
          <a:prstGeom prst="rect">
            <a:avLst/>
          </a:prstGeom>
          <a:noFill/>
        </p:spPr>
        <p:txBody>
          <a:bodyPr wrap="square" anchor="ctr" lIns="0" tIns="0" rIns="0" bIns="0">
            <a:spAutoFit/>
          </a:bodyPr>
          <a:lstStyle/>
          <a:p>
            <a:pPr algn="ctr">
              <a:lnSpc>
                <a:spcPct val="100000"/>
              </a:lnSpc>
              <a:spcBef>
                <a:spcPts val="0"/>
              </a:spcBef>
              <a:spcAft>
                <a:spcPts val="0"/>
              </a:spcAft>
            </a:pPr>
            <a:r>
              <a:rPr sz="1600" b="1" i="0">
                <a:solidFill>
                  <a:srgbClr val="992A2A"/>
                </a:solidFill>
                <a:latin typeface="Times New Roman"/>
                <a:ea typeface="標楷體"/>
                <a:cs typeface="Times New Roman"/>
              </a:rPr>
              <a:t>SIMULATED TEACHING DATA｜NOT LIVE｜NOT MEASURED｜NOT CANONICAL-PARITY-VERIFIED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P037｜Baseline 是 control execution</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Baseline 固定 scenario、seed 與原始 policy，才提供可比較的 control</a:t>
            </a:r>
          </a:p>
        </p:txBody>
      </p:sp>
      <p:sp>
        <p:nvSpPr>
          <p:cNvPr id="4" name="Baseline rule 1"/>
          <p:cNvSpPr/>
          <p:nvPr/>
        </p:nvSpPr>
        <p:spPr>
          <a:xfrm>
            <a:off x="868680" y="1481328"/>
            <a:ext cx="3246120" cy="204825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aseline rule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固定輸入</a:t>
            </a:r>
          </a:p>
        </p:txBody>
      </p:sp>
      <p:sp>
        <p:nvSpPr>
          <p:cNvPr id="6" name="Baseline rule 1 body"/>
          <p:cNvSpPr txBox="1"/>
          <p:nvPr/>
        </p:nvSpPr>
        <p:spPr>
          <a:xfrm>
            <a:off x="996695" y="2011680"/>
            <a:ext cx="2990087" cy="14081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scenario／seed</a:t>
            </a:r>
          </a:p>
          <a:p>
            <a:pPr algn="ctr">
              <a:lnSpc>
                <a:spcPct val="92000"/>
              </a:lnSpc>
              <a:spcBef>
                <a:spcPts val="0"/>
              </a:spcBef>
              <a:spcAft>
                <a:spcPts val="0"/>
              </a:spcAft>
            </a:pPr>
            <a:r>
              <a:rPr sz="2100" b="0" i="0">
                <a:solidFill>
                  <a:srgbClr val="25324A"/>
                </a:solidFill>
                <a:latin typeface="Times New Roman"/>
                <a:ea typeface="標楷體"/>
                <a:cs typeface="Times New Roman"/>
              </a:rPr>
              <a:t>traffic／window</a:t>
            </a:r>
          </a:p>
          <a:p>
            <a:pPr algn="ctr">
              <a:lnSpc>
                <a:spcPct val="92000"/>
              </a:lnSpc>
              <a:spcBef>
                <a:spcPts val="0"/>
              </a:spcBef>
              <a:spcAft>
                <a:spcPts val="0"/>
              </a:spcAft>
            </a:pPr>
            <a:r>
              <a:rPr sz="2100" b="0" i="0">
                <a:solidFill>
                  <a:srgbClr val="25324A"/>
                </a:solidFill>
                <a:latin typeface="Times New Roman"/>
                <a:ea typeface="標楷體"/>
                <a:cs typeface="Times New Roman"/>
              </a:rPr>
              <a:t>endpoint scope</a:t>
            </a:r>
          </a:p>
        </p:txBody>
      </p:sp>
      <p:sp>
        <p:nvSpPr>
          <p:cNvPr id="7" name="Baseline causal connector"/>
          <p:cNvSpPr/>
          <p:nvPr/>
        </p:nvSpPr>
        <p:spPr>
          <a:xfrm>
            <a:off x="4215384" y="2286000"/>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line rule 2"/>
          <p:cNvSpPr/>
          <p:nvPr/>
        </p:nvSpPr>
        <p:spPr>
          <a:xfrm>
            <a:off x="4471416" y="1481328"/>
            <a:ext cx="3246120" cy="2048256"/>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line rule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唯一變動</a:t>
            </a:r>
          </a:p>
        </p:txBody>
      </p:sp>
      <p:sp>
        <p:nvSpPr>
          <p:cNvPr id="10" name="Baseline rule 2 body"/>
          <p:cNvSpPr txBox="1"/>
          <p:nvPr/>
        </p:nvSpPr>
        <p:spPr>
          <a:xfrm>
            <a:off x="4599431" y="2011680"/>
            <a:ext cx="2990087" cy="14081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marked block</a:t>
            </a:r>
          </a:p>
          <a:p>
            <a:pPr algn="ctr">
              <a:lnSpc>
                <a:spcPct val="92000"/>
              </a:lnSpc>
              <a:spcBef>
                <a:spcPts val="0"/>
              </a:spcBef>
              <a:spcAft>
                <a:spcPts val="0"/>
              </a:spcAft>
            </a:pPr>
            <a:r>
              <a:rPr sz="2100" b="0" i="0">
                <a:solidFill>
                  <a:srgbClr val="25324A"/>
                </a:solidFill>
                <a:latin typeface="Times New Roman"/>
                <a:ea typeface="標楷體"/>
                <a:cs typeface="Times New Roman"/>
              </a:rPr>
              <a:t>一次一個 causal value</a:t>
            </a:r>
          </a:p>
        </p:txBody>
      </p:sp>
      <p:sp>
        <p:nvSpPr>
          <p:cNvPr id="11" name="Baseline causal connector"/>
          <p:cNvSpPr/>
          <p:nvPr/>
        </p:nvSpPr>
        <p:spPr>
          <a:xfrm>
            <a:off x="7818120" y="2286000"/>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 rule 3"/>
          <p:cNvSpPr/>
          <p:nvPr/>
        </p:nvSpPr>
        <p:spPr>
          <a:xfrm>
            <a:off x="8074152" y="1481328"/>
            <a:ext cx="3246120" cy="204825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line rule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007374"/>
                </a:solidFill>
                <a:latin typeface="Times New Roman"/>
                <a:ea typeface="標楷體"/>
                <a:cs typeface="Times New Roman"/>
              </a:rPr>
              <a:t>觀察輸出</a:t>
            </a:r>
          </a:p>
        </p:txBody>
      </p:sp>
      <p:sp>
        <p:nvSpPr>
          <p:cNvPr id="14" name="Baseline rule 3 body"/>
          <p:cNvSpPr txBox="1"/>
          <p:nvPr/>
        </p:nvSpPr>
        <p:spPr>
          <a:xfrm>
            <a:off x="8202168" y="2011680"/>
            <a:ext cx="2990087" cy="14081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state duration</a:t>
            </a:r>
          </a:p>
          <a:p>
            <a:pPr algn="ctr">
              <a:lnSpc>
                <a:spcPct val="92000"/>
              </a:lnSpc>
              <a:spcBef>
                <a:spcPts val="0"/>
              </a:spcBef>
              <a:spcAft>
                <a:spcPts val="0"/>
              </a:spcAft>
            </a:pPr>
            <a:r>
              <a:rPr sz="2100" b="0" i="0">
                <a:solidFill>
                  <a:srgbClr val="25324A"/>
                </a:solidFill>
                <a:latin typeface="Times New Roman"/>
                <a:ea typeface="標楷體"/>
                <a:cs typeface="Times New Roman"/>
              </a:rPr>
              <a:t>packet outcome</a:t>
            </a:r>
          </a:p>
          <a:p>
            <a:pPr algn="ctr">
              <a:lnSpc>
                <a:spcPct val="92000"/>
              </a:lnSpc>
              <a:spcBef>
                <a:spcPts val="0"/>
              </a:spcBef>
              <a:spcAft>
                <a:spcPts val="0"/>
              </a:spcAft>
            </a:pPr>
            <a:r>
              <a:rPr sz="2100" b="0" i="0">
                <a:solidFill>
                  <a:srgbClr val="25324A"/>
                </a:solidFill>
                <a:latin typeface="Times New Roman"/>
                <a:ea typeface="標楷體"/>
                <a:cs typeface="Times New Roman"/>
              </a:rPr>
              <a:t>service verdict／J</a:t>
            </a:r>
          </a:p>
        </p:txBody>
      </p:sp>
      <p:sp>
        <p:nvSpPr>
          <p:cNvPr id="15" name="Baseline control condition"/>
          <p:cNvSpPr/>
          <p:nvPr/>
        </p:nvSpPr>
        <p:spPr>
          <a:xfrm>
            <a:off x="932688" y="3950208"/>
            <a:ext cx="4882896" cy="749808"/>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000" b="1" i="0">
                <a:solidFill>
                  <a:srgbClr val="25356B"/>
                </a:solidFill>
                <a:latin typeface="Times New Roman"/>
                <a:ea typeface="標楷體"/>
                <a:cs typeface="Times New Roman"/>
              </a:rPr>
              <a:t>兩次結果：identity 與 endpoint boundary 一致</a:t>
            </a:r>
          </a:p>
        </p:txBody>
      </p:sp>
      <p:sp>
        <p:nvSpPr>
          <p:cNvPr id="16" name="Baseline interpretation"/>
          <p:cNvSpPr/>
          <p:nvPr/>
        </p:nvSpPr>
        <p:spPr>
          <a:xfrm>
            <a:off x="6364224" y="3950208"/>
            <a:ext cx="4882896" cy="749808"/>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差異先回到 marked block，再讀 state／packet／service／J</a:t>
            </a:r>
          </a:p>
        </p:txBody>
      </p:sp>
      <p:sp>
        <p:nvSpPr>
          <p:cNvPr id="17" name="Field contract policy identity"/>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policy identity</a:t>
            </a:r>
            <a:r>
              <a:rPr sz="1600" b="0" i="0">
                <a:solidFill>
                  <a:srgbClr val="25356B"/>
                </a:solidFill>
                <a:latin typeface="Times New Roman"/>
                <a:ea typeface="標楷體"/>
                <a:cs typeface="Times New Roman"/>
              </a:rPr>
              <a:t>（策略識別）｜來源：result policy｜作用：指出 policy surface</a:t>
            </a:r>
          </a:p>
          <a:p>
            <a:pPr algn="l">
              <a:lnSpc>
                <a:spcPct val="78000"/>
              </a:lnSpc>
              <a:spcBef>
                <a:spcPts val="0"/>
              </a:spcBef>
              <a:spcAft>
                <a:spcPts val="0"/>
              </a:spcAft>
            </a:pPr>
            <a:r>
              <a:rPr sz="1600" b="0" i="0">
                <a:solidFill>
                  <a:srgbClr val="25356B"/>
                </a:solidFill>
                <a:latin typeface="Times New Roman"/>
                <a:ea typeface="標楷體"/>
                <a:cs typeface="Times New Roman"/>
              </a:rPr>
              <a:t>單位：識別碼｜判讀：與 scenario、run_id 比對</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P038｜LEO 的 changing-service-window trace</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window input 改變合法服務機會；policy 再由 observation 選擇 action</a:t>
            </a:r>
          </a:p>
        </p:txBody>
      </p:sp>
      <p:sp>
        <p:nvSpPr>
          <p:cNvPr id="4" name="LEO window segment 1"/>
          <p:cNvSpPr/>
          <p:nvPr/>
        </p:nvSpPr>
        <p:spPr>
          <a:xfrm>
            <a:off x="841248" y="1572768"/>
            <a:ext cx="1325880" cy="96926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lstStyle/>
          <a:p>
            <a:pPr algn="ctr">
              <a:lnSpc>
                <a:spcPct val="90000"/>
              </a:lnSpc>
              <a:spcBef>
                <a:spcPts val="0"/>
              </a:spcBef>
              <a:spcAft>
                <a:spcPts val="0"/>
              </a:spcAft>
            </a:pPr>
            <a:r>
              <a:rPr sz="1900" b="1" i="0">
                <a:solidFill>
                  <a:srgbClr val="25324A"/>
                </a:solidFill>
                <a:latin typeface="Times New Roman"/>
                <a:ea typeface="標楷體"/>
                <a:cs typeface="Times New Roman"/>
              </a:rPr>
              <a:t>closed</a:t>
            </a:r>
          </a:p>
          <a:p>
            <a:pPr algn="ctr">
              <a:lnSpc>
                <a:spcPct val="90000"/>
              </a:lnSpc>
              <a:spcBef>
                <a:spcPts val="0"/>
              </a:spcBef>
              <a:spcAft>
                <a:spcPts val="0"/>
              </a:spcAft>
            </a:pPr>
            <a:r>
              <a:rPr sz="1900" b="1" i="0">
                <a:solidFill>
                  <a:srgbClr val="25324A"/>
                </a:solidFill>
                <a:latin typeface="Times New Roman"/>
                <a:ea typeface="標楷體"/>
                <a:cs typeface="Times New Roman"/>
              </a:rPr>
              <a:t>窗口關閉</a:t>
            </a:r>
          </a:p>
        </p:txBody>
      </p:sp>
      <p:sp>
        <p:nvSpPr>
          <p:cNvPr id="5" name="LEO window segment 2"/>
          <p:cNvSpPr/>
          <p:nvPr/>
        </p:nvSpPr>
        <p:spPr>
          <a:xfrm>
            <a:off x="2240280" y="1572768"/>
            <a:ext cx="2194560" cy="969264"/>
          </a:xfrm>
          <a:prstGeom prst="rect">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lstStyle/>
          <a:p>
            <a:pPr algn="ctr">
              <a:lnSpc>
                <a:spcPct val="90000"/>
              </a:lnSpc>
              <a:spcBef>
                <a:spcPts val="0"/>
              </a:spcBef>
              <a:spcAft>
                <a:spcPts val="0"/>
              </a:spcAft>
            </a:pPr>
            <a:r>
              <a:rPr sz="1900" b="1" i="0">
                <a:solidFill>
                  <a:srgbClr val="FFFFFF"/>
                </a:solidFill>
                <a:latin typeface="Times New Roman"/>
                <a:ea typeface="標楷體"/>
                <a:cs typeface="Times New Roman"/>
              </a:rPr>
              <a:t>contact-a</a:t>
            </a:r>
          </a:p>
          <a:p>
            <a:pPr algn="ctr">
              <a:lnSpc>
                <a:spcPct val="90000"/>
              </a:lnSpc>
              <a:spcBef>
                <a:spcPts val="0"/>
              </a:spcBef>
              <a:spcAft>
                <a:spcPts val="0"/>
              </a:spcAft>
            </a:pPr>
            <a:r>
              <a:rPr sz="1900" b="1" i="0">
                <a:solidFill>
                  <a:srgbClr val="FFFFFF"/>
                </a:solidFill>
                <a:latin typeface="Times New Roman"/>
                <a:ea typeface="標楷體"/>
                <a:cs typeface="Times New Roman"/>
              </a:rPr>
              <a:t>quality 漸變</a:t>
            </a:r>
          </a:p>
        </p:txBody>
      </p:sp>
      <p:sp>
        <p:nvSpPr>
          <p:cNvPr id="6" name="LEO window segment 3"/>
          <p:cNvSpPr/>
          <p:nvPr/>
        </p:nvSpPr>
        <p:spPr>
          <a:xfrm>
            <a:off x="4507992" y="1572768"/>
            <a:ext cx="1325880" cy="96926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lstStyle/>
          <a:p>
            <a:pPr algn="ctr">
              <a:lnSpc>
                <a:spcPct val="90000"/>
              </a:lnSpc>
              <a:spcBef>
                <a:spcPts val="0"/>
              </a:spcBef>
              <a:spcAft>
                <a:spcPts val="0"/>
              </a:spcAft>
            </a:pPr>
            <a:r>
              <a:rPr sz="1900" b="1" i="0">
                <a:solidFill>
                  <a:srgbClr val="25324A"/>
                </a:solidFill>
                <a:latin typeface="Times New Roman"/>
                <a:ea typeface="標楷體"/>
                <a:cs typeface="Times New Roman"/>
              </a:rPr>
              <a:t>closed</a:t>
            </a:r>
          </a:p>
          <a:p>
            <a:pPr algn="ctr">
              <a:lnSpc>
                <a:spcPct val="90000"/>
              </a:lnSpc>
              <a:spcBef>
                <a:spcPts val="0"/>
              </a:spcBef>
              <a:spcAft>
                <a:spcPts val="0"/>
              </a:spcAft>
            </a:pPr>
            <a:r>
              <a:rPr sz="1900" b="1" i="0">
                <a:solidFill>
                  <a:srgbClr val="25324A"/>
                </a:solidFill>
                <a:latin typeface="Times New Roman"/>
                <a:ea typeface="標楷體"/>
                <a:cs typeface="Times New Roman"/>
              </a:rPr>
              <a:t>服務機會消失</a:t>
            </a:r>
          </a:p>
        </p:txBody>
      </p:sp>
      <p:sp>
        <p:nvSpPr>
          <p:cNvPr id="7" name="LEO window segment 4"/>
          <p:cNvSpPr/>
          <p:nvPr/>
        </p:nvSpPr>
        <p:spPr>
          <a:xfrm>
            <a:off x="5907024" y="1572768"/>
            <a:ext cx="2194560" cy="969264"/>
          </a:xfrm>
          <a:prstGeom prst="rect">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lstStyle/>
          <a:p>
            <a:pPr algn="ctr">
              <a:lnSpc>
                <a:spcPct val="90000"/>
              </a:lnSpc>
              <a:spcBef>
                <a:spcPts val="0"/>
              </a:spcBef>
              <a:spcAft>
                <a:spcPts val="0"/>
              </a:spcAft>
            </a:pPr>
            <a:r>
              <a:rPr sz="1900" b="1" i="0">
                <a:solidFill>
                  <a:srgbClr val="FFFFFF"/>
                </a:solidFill>
                <a:latin typeface="Times New Roman"/>
                <a:ea typeface="標楷體"/>
                <a:cs typeface="Times New Roman"/>
              </a:rPr>
              <a:t>contact-b</a:t>
            </a:r>
          </a:p>
          <a:p>
            <a:pPr algn="ctr">
              <a:lnSpc>
                <a:spcPct val="90000"/>
              </a:lnSpc>
              <a:spcBef>
                <a:spcPts val="0"/>
              </a:spcBef>
              <a:spcAft>
                <a:spcPts val="0"/>
              </a:spcAft>
            </a:pPr>
            <a:r>
              <a:rPr sz="1900" b="1" i="0">
                <a:solidFill>
                  <a:srgbClr val="FFFFFF"/>
                </a:solidFill>
                <a:latin typeface="Times New Roman"/>
                <a:ea typeface="標楷體"/>
                <a:cs typeface="Times New Roman"/>
              </a:rPr>
              <a:t>quality 再變化</a:t>
            </a:r>
          </a:p>
        </p:txBody>
      </p:sp>
      <p:sp>
        <p:nvSpPr>
          <p:cNvPr id="8" name="LEO window segment 5"/>
          <p:cNvSpPr/>
          <p:nvPr/>
        </p:nvSpPr>
        <p:spPr>
          <a:xfrm>
            <a:off x="8174736" y="1572768"/>
            <a:ext cx="1325880" cy="96926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 tIns="18288" rIns="27432" bIns="18288"/>
          <a:lstStyle/>
          <a:p>
            <a:pPr algn="ctr">
              <a:lnSpc>
                <a:spcPct val="90000"/>
              </a:lnSpc>
              <a:spcBef>
                <a:spcPts val="0"/>
              </a:spcBef>
              <a:spcAft>
                <a:spcPts val="0"/>
              </a:spcAft>
            </a:pPr>
            <a:r>
              <a:rPr sz="1900" b="1" i="0">
                <a:solidFill>
                  <a:srgbClr val="25324A"/>
                </a:solidFill>
                <a:latin typeface="Times New Roman"/>
                <a:ea typeface="標楷體"/>
                <a:cs typeface="Times New Roman"/>
              </a:rPr>
              <a:t>closed</a:t>
            </a:r>
          </a:p>
          <a:p>
            <a:pPr algn="ctr">
              <a:lnSpc>
                <a:spcPct val="90000"/>
              </a:lnSpc>
              <a:spcBef>
                <a:spcPts val="0"/>
              </a:spcBef>
              <a:spcAft>
                <a:spcPts val="0"/>
              </a:spcAft>
            </a:pPr>
            <a:r>
              <a:rPr sz="1900" b="1" i="0">
                <a:solidFill>
                  <a:srgbClr val="25324A"/>
                </a:solidFill>
                <a:latin typeface="Times New Roman"/>
                <a:ea typeface="標楷體"/>
                <a:cs typeface="Times New Roman"/>
              </a:rPr>
              <a:t>回到休息</a:t>
            </a:r>
          </a:p>
        </p:txBody>
      </p:sp>
      <p:sp>
        <p:nvSpPr>
          <p:cNvPr id="9" name="LEO trace field 1"/>
          <p:cNvSpPr/>
          <p:nvPr/>
        </p:nvSpPr>
        <p:spPr>
          <a:xfrm>
            <a:off x="868680" y="2907792"/>
            <a:ext cx="3246120" cy="146304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O trace field 1 heading"/>
          <p:cNvSpPr txBox="1"/>
          <p:nvPr/>
        </p:nvSpPr>
        <p:spPr>
          <a:xfrm>
            <a:off x="960120" y="3017520"/>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1">
                <a:solidFill>
                  <a:srgbClr val="4967C2"/>
                </a:solidFill>
                <a:latin typeface="Times New Roman"/>
                <a:ea typeface="標楷體"/>
                <a:cs typeface="Times New Roman"/>
              </a:rPr>
              <a:t>contact_open</a:t>
            </a:r>
          </a:p>
        </p:txBody>
      </p:sp>
      <p:sp>
        <p:nvSpPr>
          <p:cNvPr id="11" name="LEO trace field 1 body"/>
          <p:cNvSpPr txBox="1"/>
          <p:nvPr/>
        </p:nvSpPr>
        <p:spPr>
          <a:xfrm>
            <a:off x="996695" y="3438144"/>
            <a:ext cx="2990087" cy="82296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0">
                <a:solidFill>
                  <a:srgbClr val="25324A"/>
                </a:solidFill>
                <a:latin typeface="Times New Roman"/>
                <a:ea typeface="標楷體"/>
                <a:cs typeface="Times New Roman"/>
              </a:rPr>
              <a:t>窗口布林狀態</a:t>
            </a:r>
          </a:p>
          <a:p>
            <a:pPr algn="ctr">
              <a:lnSpc>
                <a:spcPct val="92000"/>
              </a:lnSpc>
              <a:spcBef>
                <a:spcPts val="0"/>
              </a:spcBef>
              <a:spcAft>
                <a:spcPts val="0"/>
              </a:spcAft>
            </a:pPr>
            <a:r>
              <a:rPr sz="1900" b="0" i="0">
                <a:solidFill>
                  <a:srgbClr val="25324A"/>
                </a:solidFill>
                <a:latin typeface="Times New Roman"/>
                <a:ea typeface="標楷體"/>
                <a:cs typeface="Times New Roman"/>
              </a:rPr>
              <a:t>source：scenario trace</a:t>
            </a:r>
          </a:p>
        </p:txBody>
      </p:sp>
      <p:sp>
        <p:nvSpPr>
          <p:cNvPr id="12" name="LEO trace field 2"/>
          <p:cNvSpPr/>
          <p:nvPr/>
        </p:nvSpPr>
        <p:spPr>
          <a:xfrm>
            <a:off x="4471416" y="2907792"/>
            <a:ext cx="3246120" cy="14630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O trace field 2 heading"/>
          <p:cNvSpPr txBox="1"/>
          <p:nvPr/>
        </p:nvSpPr>
        <p:spPr>
          <a:xfrm>
            <a:off x="4562855" y="3017520"/>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1">
                <a:solidFill>
                  <a:srgbClr val="846826"/>
                </a:solidFill>
                <a:latin typeface="Times New Roman"/>
                <a:ea typeface="標楷體"/>
                <a:cs typeface="Times New Roman"/>
              </a:rPr>
              <a:t>quality_band</a:t>
            </a:r>
          </a:p>
        </p:txBody>
      </p:sp>
      <p:sp>
        <p:nvSpPr>
          <p:cNvPr id="14" name="LEO trace field 2 body"/>
          <p:cNvSpPr txBox="1"/>
          <p:nvPr/>
        </p:nvSpPr>
        <p:spPr>
          <a:xfrm>
            <a:off x="4599431" y="3438144"/>
            <a:ext cx="2990087" cy="82296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0">
                <a:solidFill>
                  <a:srgbClr val="25324A"/>
                </a:solidFill>
                <a:latin typeface="Times New Roman"/>
                <a:ea typeface="標楷體"/>
                <a:cs typeface="Times New Roman"/>
              </a:rPr>
              <a:t>連線品質分類</a:t>
            </a:r>
          </a:p>
          <a:p>
            <a:pPr algn="ctr">
              <a:lnSpc>
                <a:spcPct val="92000"/>
              </a:lnSpc>
              <a:spcBef>
                <a:spcPts val="0"/>
              </a:spcBef>
              <a:spcAft>
                <a:spcPts val="0"/>
              </a:spcAft>
            </a:pPr>
            <a:r>
              <a:rPr sz="1900" b="0" i="0">
                <a:solidFill>
                  <a:srgbClr val="25324A"/>
                </a:solidFill>
                <a:latin typeface="Times New Roman"/>
                <a:ea typeface="標楷體"/>
                <a:cs typeface="Times New Roman"/>
              </a:rPr>
              <a:t>unit：0–3 category</a:t>
            </a:r>
          </a:p>
        </p:txBody>
      </p:sp>
      <p:sp>
        <p:nvSpPr>
          <p:cNvPr id="15" name="LEO trace field 3"/>
          <p:cNvSpPr/>
          <p:nvPr/>
        </p:nvSpPr>
        <p:spPr>
          <a:xfrm>
            <a:off x="8074152" y="2907792"/>
            <a:ext cx="3246120" cy="146304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EO trace field 3 heading"/>
          <p:cNvSpPr txBox="1"/>
          <p:nvPr/>
        </p:nvSpPr>
        <p:spPr>
          <a:xfrm>
            <a:off x="8165592" y="3017520"/>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000" b="1" i="1">
                <a:solidFill>
                  <a:srgbClr val="007374"/>
                </a:solidFill>
                <a:latin typeface="Times New Roman"/>
                <a:ea typeface="標楷體"/>
                <a:cs typeface="Times New Roman"/>
              </a:rPr>
              <a:t>contact_remaining_s</a:t>
            </a:r>
          </a:p>
        </p:txBody>
      </p:sp>
      <p:sp>
        <p:nvSpPr>
          <p:cNvPr id="17" name="LEO trace field 3 body"/>
          <p:cNvSpPr txBox="1"/>
          <p:nvPr/>
        </p:nvSpPr>
        <p:spPr>
          <a:xfrm>
            <a:off x="8202168" y="3438144"/>
            <a:ext cx="2990087" cy="82296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0">
                <a:solidFill>
                  <a:srgbClr val="25324A"/>
                </a:solidFill>
                <a:latin typeface="Times New Roman"/>
                <a:ea typeface="標楷體"/>
                <a:cs typeface="Times New Roman"/>
              </a:rPr>
              <a:t>窗口剩餘時間</a:t>
            </a:r>
          </a:p>
          <a:p>
            <a:pPr algn="ctr">
              <a:lnSpc>
                <a:spcPct val="92000"/>
              </a:lnSpc>
              <a:spcBef>
                <a:spcPts val="0"/>
              </a:spcBef>
              <a:spcAft>
                <a:spcPts val="0"/>
              </a:spcAft>
            </a:pPr>
            <a:r>
              <a:rPr sz="1900" b="0" i="0">
                <a:solidFill>
                  <a:srgbClr val="25324A"/>
                </a:solidFill>
                <a:latin typeface="Times New Roman"/>
                <a:ea typeface="標楷體"/>
                <a:cs typeface="Times New Roman"/>
              </a:rPr>
              <a:t>unit：s；影響 action 時機</a:t>
            </a:r>
          </a:p>
        </p:txBody>
      </p:sp>
      <p:sp>
        <p:nvSpPr>
          <p:cNvPr id="18" name="LEO trace interpretation"/>
          <p:cNvSpPr/>
          <p:nvPr/>
        </p:nvSpPr>
        <p:spPr>
          <a:xfrm>
            <a:off x="932688" y="4535424"/>
            <a:ext cx="10314432" cy="475488"/>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窗口關閉時只接受 SLEEP；窗口開啟時，quality 與剩餘時間共同改變 action 的服務機會。</a:t>
            </a:r>
          </a:p>
        </p:txBody>
      </p:sp>
      <p:sp>
        <p:nvSpPr>
          <p:cNvPr id="19" name="Field contract service_window"/>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service_window</a:t>
            </a:r>
            <a:r>
              <a:rPr sz="1600" b="0" i="0">
                <a:solidFill>
                  <a:srgbClr val="25356B"/>
                </a:solidFill>
                <a:latin typeface="Times New Roman"/>
                <a:ea typeface="標楷體"/>
                <a:cs typeface="Times New Roman"/>
              </a:rPr>
              <a:t>（服務窗口）｜來源：scenario trace｜作用：定義合法傳輸區間</a:t>
            </a:r>
          </a:p>
          <a:p>
            <a:pPr algn="l">
              <a:lnSpc>
                <a:spcPct val="78000"/>
              </a:lnSpc>
              <a:spcBef>
                <a:spcPts val="0"/>
              </a:spcBef>
              <a:spcAft>
                <a:spcPts val="0"/>
              </a:spcAft>
            </a:pPr>
            <a:r>
              <a:rPr sz="1600" b="0" i="0">
                <a:solidFill>
                  <a:srgbClr val="25356B"/>
                </a:solidFill>
                <a:latin typeface="Times New Roman"/>
                <a:ea typeface="標楷體"/>
                <a:cs typeface="Times New Roman"/>
              </a:rPr>
              <a:t>單位：time／category｜判讀：解釋 action 的服務機會</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P039｜Lab A：為何改 REST_DURING_GAP</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先說 why，再固定 exact block、command 與結果欄位</a:t>
            </a:r>
          </a:p>
        </p:txBody>
      </p:sp>
      <p:sp>
        <p:nvSpPr>
          <p:cNvPr id="4" name="Lab A explanation card 1"/>
          <p:cNvSpPr/>
          <p:nvPr/>
        </p:nvSpPr>
        <p:spPr>
          <a:xfrm>
            <a:off x="685800" y="1481328"/>
            <a:ext cx="2542032" cy="159105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 A explanation card 1 heading"/>
          <p:cNvSpPr txBox="1"/>
          <p:nvPr/>
        </p:nvSpPr>
        <p:spPr>
          <a:xfrm>
            <a:off x="777240"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Why</a:t>
            </a:r>
          </a:p>
        </p:txBody>
      </p:sp>
      <p:sp>
        <p:nvSpPr>
          <p:cNvPr id="6" name="Lab A explanation card 1 body"/>
          <p:cNvSpPr txBox="1"/>
          <p:nvPr/>
        </p:nvSpPr>
        <p:spPr>
          <a:xfrm>
            <a:off x="813816" y="2011680"/>
            <a:ext cx="2286000" cy="9509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800" b="0" i="0">
                <a:solidFill>
                  <a:srgbClr val="25324A"/>
                </a:solidFill>
                <a:latin typeface="Times New Roman"/>
                <a:ea typeface="標楷體"/>
                <a:cs typeface="Times New Roman"/>
              </a:rPr>
              <a:t>空檔 action 可能改變</a:t>
            </a:r>
          </a:p>
          <a:p>
            <a:pPr algn="ctr">
              <a:lnSpc>
                <a:spcPct val="92000"/>
              </a:lnSpc>
              <a:spcBef>
                <a:spcPts val="0"/>
              </a:spcBef>
              <a:spcAft>
                <a:spcPts val="0"/>
              </a:spcAft>
            </a:pPr>
            <a:r>
              <a:rPr sz="1800" b="0" i="0">
                <a:solidFill>
                  <a:srgbClr val="25324A"/>
                </a:solidFill>
                <a:latin typeface="Times New Roman"/>
                <a:ea typeface="標楷體"/>
                <a:cs typeface="Times New Roman"/>
              </a:rPr>
              <a:t>WAKE、awake idle 與 J</a:t>
            </a:r>
          </a:p>
        </p:txBody>
      </p:sp>
      <p:sp>
        <p:nvSpPr>
          <p:cNvPr id="7" name="Lab A explanation connector"/>
          <p:cNvSpPr/>
          <p:nvPr/>
        </p:nvSpPr>
        <p:spPr>
          <a:xfrm>
            <a:off x="3300984" y="2039112"/>
            <a:ext cx="182880" cy="29260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 A explanation card 2"/>
          <p:cNvSpPr/>
          <p:nvPr/>
        </p:nvSpPr>
        <p:spPr>
          <a:xfrm>
            <a:off x="3520440" y="1481328"/>
            <a:ext cx="2542032" cy="1591056"/>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 A explanation card 2 heading"/>
          <p:cNvSpPr txBox="1"/>
          <p:nvPr/>
        </p:nvSpPr>
        <p:spPr>
          <a:xfrm>
            <a:off x="3611880"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Exact block</a:t>
            </a:r>
          </a:p>
        </p:txBody>
      </p:sp>
      <p:sp>
        <p:nvSpPr>
          <p:cNvPr id="10" name="Lab A explanation card 2 body"/>
          <p:cNvSpPr txBox="1"/>
          <p:nvPr/>
        </p:nvSpPr>
        <p:spPr>
          <a:xfrm>
            <a:off x="3648456" y="2011680"/>
            <a:ext cx="2286000" cy="9509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800" b="0" i="1">
                <a:solidFill>
                  <a:srgbClr val="25324A"/>
                </a:solidFill>
                <a:latin typeface="Times New Roman"/>
                <a:ea typeface="標楷體"/>
                <a:cs typeface="Times New Roman"/>
              </a:rPr>
              <a:t>lab-a-pace-rest</a:t>
            </a:r>
          </a:p>
          <a:p>
            <a:pPr algn="ctr">
              <a:lnSpc>
                <a:spcPct val="92000"/>
              </a:lnSpc>
              <a:spcBef>
                <a:spcPts val="0"/>
              </a:spcBef>
              <a:spcAft>
                <a:spcPts val="0"/>
              </a:spcAft>
            </a:pPr>
            <a:r>
              <a:rPr sz="1800" b="0" i="0">
                <a:solidFill>
                  <a:srgbClr val="25324A"/>
                </a:solidFill>
                <a:latin typeface="Times New Roman"/>
                <a:ea typeface="標楷體"/>
                <a:cs typeface="Times New Roman"/>
              </a:rPr>
              <a:t>只看 </a:t>
            </a:r>
            <a:r>
              <a:rPr sz="1800" b="0" i="1">
                <a:solidFill>
                  <a:srgbClr val="25324A"/>
                </a:solidFill>
                <a:latin typeface="Times New Roman"/>
                <a:ea typeface="標楷體"/>
                <a:cs typeface="Times New Roman"/>
              </a:rPr>
              <a:t>REST_DURING_GAP</a:t>
            </a:r>
          </a:p>
        </p:txBody>
      </p:sp>
      <p:sp>
        <p:nvSpPr>
          <p:cNvPr id="11" name="Lab A explanation connector"/>
          <p:cNvSpPr/>
          <p:nvPr/>
        </p:nvSpPr>
        <p:spPr>
          <a:xfrm>
            <a:off x="6135624" y="2039112"/>
            <a:ext cx="182880" cy="29260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A explanation card 3"/>
          <p:cNvSpPr/>
          <p:nvPr/>
        </p:nvSpPr>
        <p:spPr>
          <a:xfrm>
            <a:off x="6355080" y="1481328"/>
            <a:ext cx="2542032" cy="159105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A explanation card 3 heading"/>
          <p:cNvSpPr txBox="1"/>
          <p:nvPr/>
        </p:nvSpPr>
        <p:spPr>
          <a:xfrm>
            <a:off x="6446520"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Before</a:t>
            </a:r>
          </a:p>
        </p:txBody>
      </p:sp>
      <p:sp>
        <p:nvSpPr>
          <p:cNvPr id="14" name="Lab A explanation card 3 body"/>
          <p:cNvSpPr txBox="1"/>
          <p:nvPr/>
        </p:nvSpPr>
        <p:spPr>
          <a:xfrm>
            <a:off x="6483096" y="2011680"/>
            <a:ext cx="2286000" cy="9509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800" b="0" i="1">
                <a:solidFill>
                  <a:srgbClr val="25324A"/>
                </a:solidFill>
                <a:latin typeface="Times New Roman"/>
                <a:ea typeface="標楷體"/>
                <a:cs typeface="Times New Roman"/>
              </a:rPr>
              <a:t>SLEEP</a:t>
            </a:r>
          </a:p>
          <a:p>
            <a:pPr algn="ctr">
              <a:lnSpc>
                <a:spcPct val="92000"/>
              </a:lnSpc>
              <a:spcBef>
                <a:spcPts val="0"/>
              </a:spcBef>
              <a:spcAft>
                <a:spcPts val="0"/>
              </a:spcAft>
            </a:pPr>
            <a:r>
              <a:rPr sz="1800" b="0" i="0">
                <a:solidFill>
                  <a:srgbClr val="25324A"/>
                </a:solidFill>
                <a:latin typeface="Times New Roman"/>
                <a:ea typeface="標楷體"/>
                <a:cs typeface="Times New Roman"/>
              </a:rPr>
              <a:t>低功耗，後續可能 WAKE</a:t>
            </a:r>
          </a:p>
        </p:txBody>
      </p:sp>
      <p:sp>
        <p:nvSpPr>
          <p:cNvPr id="15" name="Lab A explanation connector"/>
          <p:cNvSpPr/>
          <p:nvPr/>
        </p:nvSpPr>
        <p:spPr>
          <a:xfrm>
            <a:off x="8970264" y="2039112"/>
            <a:ext cx="182880" cy="29260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 A explanation card 4"/>
          <p:cNvSpPr/>
          <p:nvPr/>
        </p:nvSpPr>
        <p:spPr>
          <a:xfrm>
            <a:off x="9189720" y="1481328"/>
            <a:ext cx="2542032" cy="159105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 A explanation card 4 heading"/>
          <p:cNvSpPr txBox="1"/>
          <p:nvPr/>
        </p:nvSpPr>
        <p:spPr>
          <a:xfrm>
            <a:off x="9281160"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After</a:t>
            </a:r>
          </a:p>
        </p:txBody>
      </p:sp>
      <p:sp>
        <p:nvSpPr>
          <p:cNvPr id="18" name="Lab A explanation card 4 body"/>
          <p:cNvSpPr txBox="1"/>
          <p:nvPr/>
        </p:nvSpPr>
        <p:spPr>
          <a:xfrm>
            <a:off x="9317736" y="2011680"/>
            <a:ext cx="2286000" cy="950976"/>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800" b="0" i="1">
                <a:solidFill>
                  <a:srgbClr val="25324A"/>
                </a:solidFill>
                <a:latin typeface="Times New Roman"/>
                <a:ea typeface="標楷體"/>
                <a:cs typeface="Times New Roman"/>
              </a:rPr>
              <a:t>WAIT</a:t>
            </a:r>
          </a:p>
          <a:p>
            <a:pPr algn="ctr">
              <a:lnSpc>
                <a:spcPct val="92000"/>
              </a:lnSpc>
              <a:spcBef>
                <a:spcPts val="0"/>
              </a:spcBef>
              <a:spcAft>
                <a:spcPts val="0"/>
              </a:spcAft>
            </a:pPr>
            <a:r>
              <a:rPr sz="1800" b="0" i="0">
                <a:solidFill>
                  <a:srgbClr val="25324A"/>
                </a:solidFill>
                <a:latin typeface="Times New Roman"/>
                <a:ea typeface="標楷體"/>
                <a:cs typeface="Times New Roman"/>
              </a:rPr>
              <a:t>awake idle，部分 WAKE 避免</a:t>
            </a:r>
          </a:p>
        </p:txBody>
      </p:sp>
      <p:sp>
        <p:nvSpPr>
          <p:cNvPr id="19" name="Lab A fixed inputs"/>
          <p:cNvSpPr/>
          <p:nvPr/>
        </p:nvSpPr>
        <p:spPr>
          <a:xfrm>
            <a:off x="932688" y="3456432"/>
            <a:ext cx="4882896" cy="896112"/>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固定：PACE_GAP_STEPS = 2、scenario、seed、traffic、window</a:t>
            </a:r>
          </a:p>
        </p:txBody>
      </p:sp>
      <p:sp>
        <p:nvSpPr>
          <p:cNvPr id="20" name="Lab A result fields"/>
          <p:cNvSpPr/>
          <p:nvPr/>
        </p:nvSpPr>
        <p:spPr>
          <a:xfrm>
            <a:off x="6364224" y="3456432"/>
            <a:ext cx="4882896" cy="89611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結果欄位：STATE_INTERVAL、packet outcome、service_pass、endpoint J</a:t>
            </a:r>
          </a:p>
        </p:txBody>
      </p:sp>
      <p:sp>
        <p:nvSpPr>
          <p:cNvPr id="21" name="Lab A falsifiable prediction"/>
          <p:cNvSpPr/>
          <p:nvPr/>
        </p:nvSpPr>
        <p:spPr>
          <a:xfrm>
            <a:off x="932688" y="4590288"/>
            <a:ext cx="10314432" cy="438912"/>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因果假說：WAIT 可能減少 WAKE，也可能增加 awake idle；結果允許反駁方向。</a:t>
            </a:r>
          </a:p>
        </p:txBody>
      </p:sp>
      <p:sp>
        <p:nvSpPr>
          <p:cNvPr id="22" name="Field contract REST_DURING_GAP"/>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REST_DURING_GAP</a:t>
            </a:r>
            <a:r>
              <a:rPr sz="1600" b="0" i="0">
                <a:solidFill>
                  <a:srgbClr val="25356B"/>
                </a:solidFill>
                <a:latin typeface="Times New Roman"/>
                <a:ea typeface="標楷體"/>
                <a:cs typeface="Times New Roman"/>
              </a:rPr>
              <a:t>（空檔策略欄位）｜來源：policy marked block｜作用：控制 gap state</a:t>
            </a:r>
          </a:p>
          <a:p>
            <a:pPr algn="l">
              <a:lnSpc>
                <a:spcPct val="78000"/>
              </a:lnSpc>
              <a:spcBef>
                <a:spcPts val="0"/>
              </a:spcBef>
              <a:spcAft>
                <a:spcPts val="0"/>
              </a:spcAft>
            </a:pPr>
            <a:r>
              <a:rPr sz="1600" b="0" i="0">
                <a:solidFill>
                  <a:srgbClr val="25356B"/>
                </a:solidFill>
                <a:latin typeface="Times New Roman"/>
                <a:ea typeface="標楷體"/>
                <a:cs typeface="Times New Roman"/>
              </a:rPr>
              <a:t>單位：SLEEP／WAIT｜判讀：先連 state，再讀 packet／service／J</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P040｜A-00：Baseline decision 與 control evidence</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Baseline 先證明原始 policy 在同一 service window 的 decision branch</a:t>
            </a:r>
          </a:p>
        </p:txBody>
      </p:sp>
      <p:sp>
        <p:nvSpPr>
          <p:cNvPr id="4" name="Baseline evidence card 1"/>
          <p:cNvSpPr/>
          <p:nvPr/>
        </p:nvSpPr>
        <p:spPr>
          <a:xfrm>
            <a:off x="868680" y="1481328"/>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aseline evidence card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Decision branch</a:t>
            </a:r>
          </a:p>
        </p:txBody>
      </p:sp>
      <p:sp>
        <p:nvSpPr>
          <p:cNvPr id="6" name="Baseline evidence card 1 body"/>
          <p:cNvSpPr txBox="1"/>
          <p:nvPr/>
        </p:nvSpPr>
        <p:spPr>
          <a:xfrm>
            <a:off x="996695" y="2011680"/>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1">
                <a:solidFill>
                  <a:srgbClr val="25324A"/>
                </a:solidFill>
                <a:latin typeface="Times New Roman"/>
                <a:ea typeface="標楷體"/>
                <a:cs typeface="Times New Roman"/>
              </a:rPr>
              <a:t>contact_open = false</a:t>
            </a:r>
            <a:r>
              <a:rPr sz="2000" b="0" i="0">
                <a:solidFill>
                  <a:srgbClr val="25324A"/>
                </a:solidFill>
                <a:latin typeface="Times New Roman"/>
                <a:ea typeface="標楷體"/>
                <a:cs typeface="Times New Roman"/>
              </a:rPr>
              <a:t> → SLEEP</a:t>
            </a:r>
          </a:p>
          <a:p>
            <a:pPr algn="ctr">
              <a:lnSpc>
                <a:spcPct val="92000"/>
              </a:lnSpc>
              <a:spcBef>
                <a:spcPts val="0"/>
              </a:spcBef>
              <a:spcAft>
                <a:spcPts val="0"/>
              </a:spcAft>
            </a:pPr>
            <a:r>
              <a:rPr sz="2000" b="0" i="1">
                <a:solidFill>
                  <a:srgbClr val="25324A"/>
                </a:solidFill>
                <a:latin typeface="Times New Roman"/>
                <a:ea typeface="標楷體"/>
                <a:cs typeface="Times New Roman"/>
              </a:rPr>
              <a:t>steps_since_send &lt; 2</a:t>
            </a:r>
            <a:r>
              <a:rPr sz="2000" b="0" i="0">
                <a:solidFill>
                  <a:srgbClr val="25324A"/>
                </a:solidFill>
                <a:latin typeface="Times New Roman"/>
                <a:ea typeface="標楷體"/>
                <a:cs typeface="Times New Roman"/>
              </a:rPr>
              <a:t> → REST_DURING_GAP</a:t>
            </a:r>
          </a:p>
        </p:txBody>
      </p:sp>
      <p:sp>
        <p:nvSpPr>
          <p:cNvPr id="7" name="Baseline evidence connector"/>
          <p:cNvSpPr/>
          <p:nvPr/>
        </p:nvSpPr>
        <p:spPr>
          <a:xfrm>
            <a:off x="4215384" y="2286000"/>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line evidence card 2"/>
          <p:cNvSpPr/>
          <p:nvPr/>
        </p:nvSpPr>
        <p:spPr>
          <a:xfrm>
            <a:off x="4471416" y="1481328"/>
            <a:ext cx="3246120" cy="2103120"/>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line evidence card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25356B"/>
                </a:solidFill>
                <a:latin typeface="Times New Roman"/>
                <a:ea typeface="標楷體"/>
                <a:cs typeface="Times New Roman"/>
              </a:rPr>
              <a:t>Control path</a:t>
            </a:r>
          </a:p>
        </p:txBody>
      </p:sp>
      <p:sp>
        <p:nvSpPr>
          <p:cNvPr id="10" name="Baseline evidence card 2 body"/>
          <p:cNvSpPr txBox="1"/>
          <p:nvPr/>
        </p:nvSpPr>
        <p:spPr>
          <a:xfrm>
            <a:off x="4599431" y="2011680"/>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P042 第一條 stdout</a:t>
            </a:r>
          </a:p>
          <a:p>
            <a:pPr algn="ctr">
              <a:lnSpc>
                <a:spcPct val="92000"/>
              </a:lnSpc>
              <a:spcBef>
                <a:spcPts val="0"/>
              </a:spcBef>
              <a:spcAft>
                <a:spcPts val="0"/>
              </a:spcAft>
            </a:pPr>
            <a:r>
              <a:rPr sz="2000" b="0" i="0">
                <a:solidFill>
                  <a:srgbClr val="25324A"/>
                </a:solidFill>
                <a:latin typeface="Times New Roman"/>
                <a:ea typeface="標楷體"/>
                <a:cs typeface="Times New Roman"/>
              </a:rPr>
              <a:t>result_path → result.json＋replay</a:t>
            </a:r>
          </a:p>
        </p:txBody>
      </p:sp>
      <p:sp>
        <p:nvSpPr>
          <p:cNvPr id="11" name="Baseline evidence connector"/>
          <p:cNvSpPr/>
          <p:nvPr/>
        </p:nvSpPr>
        <p:spPr>
          <a:xfrm>
            <a:off x="7818120" y="2286000"/>
            <a:ext cx="274320" cy="365760"/>
          </a:xfrm>
          <a:prstGeom prst="chevron">
            <a:avLst/>
          </a:prstGeom>
          <a:solidFill>
            <a:srgbClr val="25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 evidence card 3"/>
          <p:cNvSpPr/>
          <p:nvPr/>
        </p:nvSpPr>
        <p:spPr>
          <a:xfrm>
            <a:off x="8074152" y="1481328"/>
            <a:ext cx="3246120" cy="210312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line evidence card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Reference result</a:t>
            </a:r>
          </a:p>
        </p:txBody>
      </p:sp>
      <p:sp>
        <p:nvSpPr>
          <p:cNvPr id="14" name="Baseline evidence card 3 body"/>
          <p:cNvSpPr txBox="1"/>
          <p:nvPr/>
        </p:nvSpPr>
        <p:spPr>
          <a:xfrm>
            <a:off x="8202168" y="2011680"/>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6.92 J｜4,800 bit</a:t>
            </a:r>
          </a:p>
          <a:p>
            <a:pPr algn="ctr">
              <a:lnSpc>
                <a:spcPct val="92000"/>
              </a:lnSpc>
              <a:spcBef>
                <a:spcPts val="0"/>
              </a:spcBef>
              <a:spcAft>
                <a:spcPts val="0"/>
              </a:spcAft>
            </a:pPr>
            <a:r>
              <a:rPr sz="2000" b="0" i="1">
                <a:solidFill>
                  <a:srgbClr val="25324A"/>
                </a:solidFill>
                <a:latin typeface="Times New Roman"/>
                <a:ea typeface="標楷體"/>
                <a:cs typeface="Times New Roman"/>
              </a:rPr>
              <a:t>service_pass = false</a:t>
            </a:r>
          </a:p>
        </p:txBody>
      </p:sp>
      <p:sp>
        <p:nvSpPr>
          <p:cNvPr id="15" name="Baseline why card"/>
          <p:cNvSpPr/>
          <p:nvPr/>
        </p:nvSpPr>
        <p:spPr>
          <a:xfrm>
            <a:off x="932688" y="3986784"/>
            <a:ext cx="4882896" cy="69494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為何先跑 baseline：建立 before 對照與 result identity</a:t>
            </a:r>
          </a:p>
        </p:txBody>
      </p:sp>
      <p:sp>
        <p:nvSpPr>
          <p:cNvPr id="16" name="Baseline reference boundary"/>
          <p:cNvSpPr/>
          <p:nvPr/>
        </p:nvSpPr>
        <p:spPr>
          <a:xfrm>
            <a:off x="6364224" y="3986784"/>
            <a:ext cx="4882896" cy="69494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參考值不是新 run；實際欄位以 stdout result_path 為準</a:t>
            </a:r>
          </a:p>
        </p:txBody>
      </p:sp>
      <p:sp>
        <p:nvSpPr>
          <p:cNvPr id="17" name="Field contract result_path"/>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result_path</a:t>
            </a:r>
            <a:r>
              <a:rPr sz="1600" b="0" i="0">
                <a:solidFill>
                  <a:srgbClr val="25356B"/>
                </a:solidFill>
                <a:latin typeface="Times New Roman"/>
                <a:ea typeface="標楷體"/>
                <a:cs typeface="Times New Roman"/>
              </a:rPr>
              <a:t>（結果路徑）｜來源：P042 stdout｜作用：定位 result.json＋同 run replay</a:t>
            </a:r>
          </a:p>
          <a:p>
            <a:pPr algn="l">
              <a:lnSpc>
                <a:spcPct val="78000"/>
              </a:lnSpc>
              <a:spcBef>
                <a:spcPts val="0"/>
              </a:spcBef>
              <a:spcAft>
                <a:spcPts val="0"/>
              </a:spcAft>
            </a:pPr>
            <a:r>
              <a:rPr sz="1600" b="0" i="0">
                <a:solidFill>
                  <a:srgbClr val="25356B"/>
                </a:solidFill>
                <a:latin typeface="Times New Roman"/>
                <a:ea typeface="標楷體"/>
                <a:cs typeface="Times New Roman"/>
              </a:rPr>
              <a:t>單位：path｜判讀：先核對 identity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P041｜A-01：只改 REST_DURING_GAP</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exact edit：保留 gap pacing，只把空檔 state 從 SLEEP 改為 WAIT</a:t>
            </a:r>
          </a:p>
        </p:txBody>
      </p:sp>
      <p:sp>
        <p:nvSpPr>
          <p:cNvPr id="4" name="Lab A edit card 1"/>
          <p:cNvSpPr/>
          <p:nvPr/>
        </p:nvSpPr>
        <p:spPr>
          <a:xfrm>
            <a:off x="868680" y="1481328"/>
            <a:ext cx="3246120" cy="199339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 A edit card 1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原碼含義</a:t>
            </a:r>
          </a:p>
        </p:txBody>
      </p:sp>
      <p:sp>
        <p:nvSpPr>
          <p:cNvPr id="6" name="Lab A edit card 1 body"/>
          <p:cNvSpPr txBox="1"/>
          <p:nvPr/>
        </p:nvSpPr>
        <p:spPr>
          <a:xfrm>
            <a:off x="996695" y="2011680"/>
            <a:ext cx="2990087" cy="1353312"/>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1">
                <a:solidFill>
                  <a:srgbClr val="25324A"/>
                </a:solidFill>
                <a:latin typeface="Times New Roman"/>
                <a:ea typeface="標楷體"/>
                <a:cs typeface="Times New Roman"/>
              </a:rPr>
              <a:t>REST_DURING_GAP = SLEEP</a:t>
            </a:r>
          </a:p>
          <a:p>
            <a:pPr algn="ctr">
              <a:lnSpc>
                <a:spcPct val="92000"/>
              </a:lnSpc>
              <a:spcBef>
                <a:spcPts val="0"/>
              </a:spcBef>
              <a:spcAft>
                <a:spcPts val="0"/>
              </a:spcAft>
            </a:pPr>
            <a:r>
              <a:rPr sz="2000" b="0" i="1">
                <a:solidFill>
                  <a:srgbClr val="25324A"/>
                </a:solidFill>
                <a:latin typeface="Times New Roman"/>
                <a:ea typeface="標楷體"/>
                <a:cs typeface="Times New Roman"/>
              </a:rPr>
              <a:t>PACE_GAP_STEPS = 2</a:t>
            </a:r>
            <a:r>
              <a:rPr sz="2000" b="0" i="0">
                <a:solidFill>
                  <a:srgbClr val="25324A"/>
                </a:solidFill>
                <a:latin typeface="Times New Roman"/>
                <a:ea typeface="標楷體"/>
                <a:cs typeface="Times New Roman"/>
              </a:rPr>
              <a:t> 不變</a:t>
            </a:r>
          </a:p>
        </p:txBody>
      </p:sp>
      <p:sp>
        <p:nvSpPr>
          <p:cNvPr id="7" name="Lab A edit connector"/>
          <p:cNvSpPr/>
          <p:nvPr/>
        </p:nvSpPr>
        <p:spPr>
          <a:xfrm>
            <a:off x="4215384" y="2249424"/>
            <a:ext cx="274320" cy="365760"/>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 A edit card 2"/>
          <p:cNvSpPr/>
          <p:nvPr/>
        </p:nvSpPr>
        <p:spPr>
          <a:xfrm>
            <a:off x="4471416" y="1481328"/>
            <a:ext cx="3246120" cy="199339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 A edit card 2 heading"/>
          <p:cNvSpPr txBox="1"/>
          <p:nvPr/>
        </p:nvSpPr>
        <p:spPr>
          <a:xfrm>
            <a:off x="4562855"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唯一 edit</a:t>
            </a:r>
          </a:p>
        </p:txBody>
      </p:sp>
      <p:sp>
        <p:nvSpPr>
          <p:cNvPr id="10" name="Lab A edit card 2 body"/>
          <p:cNvSpPr txBox="1"/>
          <p:nvPr/>
        </p:nvSpPr>
        <p:spPr>
          <a:xfrm>
            <a:off x="4599431" y="2011680"/>
            <a:ext cx="2990087" cy="1353312"/>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1">
                <a:solidFill>
                  <a:srgbClr val="25324A"/>
                </a:solidFill>
                <a:latin typeface="Times New Roman"/>
                <a:ea typeface="標楷體"/>
                <a:cs typeface="Times New Roman"/>
              </a:rPr>
              <a:t>REST_DURING_GAP = WAIT</a:t>
            </a:r>
          </a:p>
          <a:p>
            <a:pPr algn="ctr">
              <a:lnSpc>
                <a:spcPct val="92000"/>
              </a:lnSpc>
              <a:spcBef>
                <a:spcPts val="0"/>
              </a:spcBef>
              <a:spcAft>
                <a:spcPts val="0"/>
              </a:spcAft>
            </a:pPr>
            <a:r>
              <a:rPr sz="2000" b="0" i="0">
                <a:solidFill>
                  <a:srgbClr val="25324A"/>
                </a:solidFill>
                <a:latin typeface="Times New Roman"/>
                <a:ea typeface="標楷體"/>
                <a:cs typeface="Times New Roman"/>
              </a:rPr>
              <a:t>其他 marked block 不動</a:t>
            </a:r>
          </a:p>
        </p:txBody>
      </p:sp>
      <p:sp>
        <p:nvSpPr>
          <p:cNvPr id="11" name="Lab A edit connector"/>
          <p:cNvSpPr/>
          <p:nvPr/>
        </p:nvSpPr>
        <p:spPr>
          <a:xfrm>
            <a:off x="7818120" y="2249424"/>
            <a:ext cx="274320" cy="365760"/>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A edit card 3"/>
          <p:cNvSpPr/>
          <p:nvPr/>
        </p:nvSpPr>
        <p:spPr>
          <a:xfrm>
            <a:off x="8074152" y="1481328"/>
            <a:ext cx="3246120" cy="199339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A edit card 3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機制預測</a:t>
            </a:r>
          </a:p>
        </p:txBody>
      </p:sp>
      <p:sp>
        <p:nvSpPr>
          <p:cNvPr id="14" name="Lab A edit card 3 body"/>
          <p:cNvSpPr txBox="1"/>
          <p:nvPr/>
        </p:nvSpPr>
        <p:spPr>
          <a:xfrm>
            <a:off x="8202168" y="2011680"/>
            <a:ext cx="2990087" cy="1353312"/>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WAIT → awake idle</a:t>
            </a:r>
          </a:p>
          <a:p>
            <a:pPr algn="ctr">
              <a:lnSpc>
                <a:spcPct val="92000"/>
              </a:lnSpc>
              <a:spcBef>
                <a:spcPts val="0"/>
              </a:spcBef>
              <a:spcAft>
                <a:spcPts val="0"/>
              </a:spcAft>
            </a:pPr>
            <a:r>
              <a:rPr sz="2000" b="0" i="0">
                <a:solidFill>
                  <a:srgbClr val="25324A"/>
                </a:solidFill>
                <a:latin typeface="Times New Roman"/>
                <a:ea typeface="標楷體"/>
                <a:cs typeface="Times New Roman"/>
              </a:rPr>
              <a:t>再觀察 WAKE、packet、service、J</a:t>
            </a:r>
          </a:p>
        </p:txBody>
      </p:sp>
      <p:sp>
        <p:nvSpPr>
          <p:cNvPr id="15" name="Lab A POSIX exact command"/>
          <p:cNvSpPr/>
          <p:nvPr/>
        </p:nvSpPr>
        <p:spPr>
          <a:xfrm>
            <a:off x="932688" y="3749039"/>
            <a:ext cx="4882896" cy="1024128"/>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28016" tIns="36576" rIns="128016" bIns="36576"/>
          <a:lstStyle/>
          <a:p>
            <a:pPr algn="l">
              <a:lnSpc>
                <a:spcPct val="94000"/>
              </a:lnSpc>
              <a:spcBef>
                <a:spcPts val="0"/>
              </a:spcBef>
              <a:spcAft>
                <a:spcPts val="0"/>
              </a:spcAft>
            </a:pPr>
            <a:r>
              <a:rPr sz="1650" b="1" i="0">
                <a:solidFill>
                  <a:srgbClr val="25356B"/>
                </a:solidFill>
                <a:latin typeface="Times New Roman"/>
                <a:ea typeface="標楷體"/>
                <a:cs typeface="Times New Roman"/>
              </a:rPr>
              <a:t>POSIX</a:t>
            </a:r>
          </a:p>
          <a:p>
            <a:pPr algn="l">
              <a:lnSpc>
                <a:spcPct val="94000"/>
              </a:lnSpc>
              <a:spcBef>
                <a:spcPts val="0"/>
              </a:spcBef>
              <a:spcAft>
                <a:spcPts val="0"/>
              </a:spcAft>
            </a:pPr>
            <a:r>
              <a:rPr sz="1650" b="1" i="1">
                <a:solidFill>
                  <a:srgbClr val="25356B"/>
                </a:solidFill>
                <a:latin typeface="Times New Roman"/>
                <a:ea typeface="標楷體"/>
                <a:cs typeface="Times New Roman"/>
              </a:rPr>
              <a:t>cp student_policy.py student_policy.before-A-edit.py</a:t>
            </a:r>
          </a:p>
          <a:p>
            <a:pPr algn="l">
              <a:lnSpc>
                <a:spcPct val="94000"/>
              </a:lnSpc>
              <a:spcBef>
                <a:spcPts val="0"/>
              </a:spcBef>
              <a:spcAft>
                <a:spcPts val="0"/>
              </a:spcAft>
            </a:pPr>
            <a:r>
              <a:rPr sz="1650" b="1" i="1">
                <a:solidFill>
                  <a:srgbClr val="25356B"/>
                </a:solidFill>
                <a:latin typeface="Times New Roman"/>
                <a:ea typeface="標楷體"/>
                <a:cs typeface="Times New Roman"/>
              </a:rPr>
              <a:t>.venv/bin/python -m py_compile student_policy.py</a:t>
            </a:r>
          </a:p>
        </p:txBody>
      </p:sp>
      <p:sp>
        <p:nvSpPr>
          <p:cNvPr id="16" name="Lab A Windows exact command"/>
          <p:cNvSpPr/>
          <p:nvPr/>
        </p:nvSpPr>
        <p:spPr>
          <a:xfrm>
            <a:off x="6364224" y="3749039"/>
            <a:ext cx="4882896" cy="1024128"/>
          </a:xfrm>
          <a:prstGeom prst="roundRect">
            <a:avLst/>
          </a:prstGeom>
          <a:solidFill>
            <a:srgbClr val="F7F8FC"/>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128016" tIns="36576" rIns="128016" bIns="36576"/>
          <a:lstStyle/>
          <a:p>
            <a:pPr algn="l">
              <a:lnSpc>
                <a:spcPct val="94000"/>
              </a:lnSpc>
              <a:spcBef>
                <a:spcPts val="0"/>
              </a:spcBef>
              <a:spcAft>
                <a:spcPts val="0"/>
              </a:spcAft>
            </a:pPr>
            <a:r>
              <a:rPr sz="1650" b="1" i="0">
                <a:solidFill>
                  <a:srgbClr val="25356B"/>
                </a:solidFill>
                <a:latin typeface="Times New Roman"/>
                <a:ea typeface="標楷體"/>
                <a:cs typeface="Times New Roman"/>
              </a:rPr>
              <a:t>Windows</a:t>
            </a:r>
          </a:p>
          <a:p>
            <a:pPr algn="l">
              <a:lnSpc>
                <a:spcPct val="94000"/>
              </a:lnSpc>
              <a:spcBef>
                <a:spcPts val="0"/>
              </a:spcBef>
              <a:spcAft>
                <a:spcPts val="0"/>
              </a:spcAft>
            </a:pPr>
            <a:r>
              <a:rPr sz="1650" b="1" i="1">
                <a:solidFill>
                  <a:srgbClr val="25356B"/>
                </a:solidFill>
                <a:latin typeface="Times New Roman"/>
                <a:ea typeface="標楷體"/>
                <a:cs typeface="Times New Roman"/>
              </a:rPr>
              <a:t>copy student_policy.py student_policy.before-A-edit.py</a:t>
            </a:r>
          </a:p>
          <a:p>
            <a:pPr algn="l">
              <a:lnSpc>
                <a:spcPct val="94000"/>
              </a:lnSpc>
              <a:spcBef>
                <a:spcPts val="0"/>
              </a:spcBef>
              <a:spcAft>
                <a:spcPts val="0"/>
              </a:spcAft>
            </a:pPr>
            <a:r>
              <a:rPr sz="1650" b="1" i="1">
                <a:solidFill>
                  <a:srgbClr val="25356B"/>
                </a:solidFill>
                <a:latin typeface="Times New Roman"/>
                <a:ea typeface="標楷體"/>
                <a:cs typeface="Times New Roman"/>
              </a:rPr>
              <a:t>.venv\Scripts\python -m py_compile student_policy.py</a:t>
            </a:r>
          </a:p>
        </p:txBody>
      </p:sp>
      <p:sp>
        <p:nvSpPr>
          <p:cNvPr id="17" name="Field contract REST_DURING_GAP"/>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REST_DURING_GAP</a:t>
            </a:r>
            <a:r>
              <a:rPr sz="1600" b="0" i="0">
                <a:solidFill>
                  <a:srgbClr val="25356B"/>
                </a:solidFill>
                <a:latin typeface="Times New Roman"/>
                <a:ea typeface="標楷體"/>
                <a:cs typeface="Times New Roman"/>
              </a:rPr>
              <a:t>（空檔策略欄位）｜來源：policy marked block｜作用：指定 gap action</a:t>
            </a:r>
          </a:p>
          <a:p>
            <a:pPr algn="l">
              <a:lnSpc>
                <a:spcPct val="78000"/>
              </a:lnSpc>
              <a:spcBef>
                <a:spcPts val="0"/>
              </a:spcBef>
              <a:spcAft>
                <a:spcPts val="0"/>
              </a:spcAft>
            </a:pPr>
            <a:r>
              <a:rPr sz="1600" b="0" i="0">
                <a:solidFill>
                  <a:srgbClr val="25356B"/>
                </a:solidFill>
                <a:latin typeface="Times New Roman"/>
                <a:ea typeface="標楷體"/>
                <a:cs typeface="Times New Roman"/>
              </a:rPr>
              <a:t>單位：SLEEP／WAIT｜判讀：編譯是 syntax gate；因果看 A/B run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P042｜A-02：Baseline → candidate → hidden</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三段 run ribbon：建立 control、凍結 candidate、再做 hidden check</a:t>
            </a:r>
          </a:p>
        </p:txBody>
      </p:sp>
      <p:sp>
        <p:nvSpPr>
          <p:cNvPr id="4" name="Run stage 1"/>
          <p:cNvSpPr/>
          <p:nvPr/>
        </p:nvSpPr>
        <p:spPr>
          <a:xfrm>
            <a:off x="676656" y="1389888"/>
            <a:ext cx="3246120" cy="362102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un stage heading 1"/>
          <p:cNvSpPr txBox="1"/>
          <p:nvPr/>
        </p:nvSpPr>
        <p:spPr>
          <a:xfrm>
            <a:off x="786384" y="1536192"/>
            <a:ext cx="3026664" cy="32918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1" i="0">
                <a:solidFill>
                  <a:srgbClr val="4967C2"/>
                </a:solidFill>
                <a:latin typeface="Times New Roman"/>
                <a:ea typeface="標楷體"/>
                <a:cs typeface="Times New Roman"/>
              </a:rPr>
              <a:t>01｜Baseline</a:t>
            </a:r>
          </a:p>
        </p:txBody>
      </p:sp>
      <p:sp>
        <p:nvSpPr>
          <p:cNvPr id="6" name="Run stage condition 1"/>
          <p:cNvSpPr txBox="1"/>
          <p:nvPr/>
        </p:nvSpPr>
        <p:spPr>
          <a:xfrm>
            <a:off x="822960" y="1901952"/>
            <a:ext cx="2953512" cy="2743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700" b="1" i="0">
                <a:solidFill>
                  <a:srgbClr val="25356B"/>
                </a:solidFill>
                <a:latin typeface="Times New Roman"/>
                <a:ea typeface="標楷體"/>
                <a:cs typeface="Times New Roman"/>
              </a:rPr>
              <a:t>不改 policy</a:t>
            </a:r>
          </a:p>
        </p:txBody>
      </p:sp>
      <p:sp>
        <p:nvSpPr>
          <p:cNvPr id="7" name="Run POSIX exact command 1"/>
          <p:cNvSpPr txBox="1"/>
          <p:nvPr/>
        </p:nvSpPr>
        <p:spPr>
          <a:xfrm>
            <a:off x="841247" y="2267712"/>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POSIX</a:t>
            </a:r>
          </a:p>
          <a:p>
            <a:pPr algn="l">
              <a:lnSpc>
                <a:spcPct val="86000"/>
              </a:lnSpc>
              <a:spcBef>
                <a:spcPts val="0"/>
              </a:spcBef>
              <a:spcAft>
                <a:spcPts val="0"/>
              </a:spcAft>
            </a:pPr>
            <a:r>
              <a:rPr sz="1650" b="0" i="0">
                <a:solidFill>
                  <a:srgbClr val="25356B"/>
                </a:solidFill>
                <a:latin typeface="Times New Roman"/>
                <a:ea typeface="標楷體"/>
                <a:cs typeface="Times New Roman"/>
              </a:rPr>
              <a:t>bash course.sh run --lab A --case baseline</a:t>
            </a:r>
          </a:p>
        </p:txBody>
      </p:sp>
      <p:sp>
        <p:nvSpPr>
          <p:cNvPr id="8" name="Run Windows exact command 1"/>
          <p:cNvSpPr txBox="1"/>
          <p:nvPr/>
        </p:nvSpPr>
        <p:spPr>
          <a:xfrm>
            <a:off x="841247" y="3200400"/>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Windows</a:t>
            </a:r>
          </a:p>
          <a:p>
            <a:pPr algn="l">
              <a:lnSpc>
                <a:spcPct val="86000"/>
              </a:lnSpc>
              <a:spcBef>
                <a:spcPts val="0"/>
              </a:spcBef>
              <a:spcAft>
                <a:spcPts val="0"/>
              </a:spcAft>
            </a:pPr>
            <a:r>
              <a:rPr sz="1650" b="0" i="0">
                <a:solidFill>
                  <a:srgbClr val="25356B"/>
                </a:solidFill>
                <a:latin typeface="Times New Roman"/>
                <a:ea typeface="標楷體"/>
                <a:cs typeface="Times New Roman"/>
              </a:rPr>
              <a:t>course.cmd run --lab A --case baseline</a:t>
            </a:r>
          </a:p>
        </p:txBody>
      </p:sp>
      <p:sp>
        <p:nvSpPr>
          <p:cNvPr id="9" name="Run stage receipt 1"/>
          <p:cNvSpPr/>
          <p:nvPr/>
        </p:nvSpPr>
        <p:spPr>
          <a:xfrm>
            <a:off x="822960" y="4297680"/>
            <a:ext cx="2953512" cy="493776"/>
          </a:xfrm>
          <a:prstGeom prst="roundRect">
            <a:avLst/>
          </a:prstGeom>
          <a:solidFill>
            <a:srgbClr val="FFFFFF"/>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lnSpc>
                <a:spcPct val="94000"/>
              </a:lnSpc>
              <a:spcBef>
                <a:spcPts val="0"/>
              </a:spcBef>
              <a:spcAft>
                <a:spcPts val="0"/>
              </a:spcAft>
            </a:pPr>
            <a:r>
              <a:rPr sz="1650" b="1" i="0">
                <a:solidFill>
                  <a:srgbClr val="4967C2"/>
                </a:solidFill>
                <a:latin typeface="Times New Roman"/>
                <a:ea typeface="標楷體"/>
                <a:cs typeface="Times New Roman"/>
              </a:rPr>
              <a:t>stdout result_path＋replay</a:t>
            </a:r>
          </a:p>
        </p:txBody>
      </p:sp>
      <p:sp>
        <p:nvSpPr>
          <p:cNvPr id="10" name="Run ribbon connector"/>
          <p:cNvSpPr/>
          <p:nvPr/>
        </p:nvSpPr>
        <p:spPr>
          <a:xfrm>
            <a:off x="4023360" y="2871216"/>
            <a:ext cx="256032" cy="347472"/>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un stage 2"/>
          <p:cNvSpPr/>
          <p:nvPr/>
        </p:nvSpPr>
        <p:spPr>
          <a:xfrm>
            <a:off x="4498848" y="1389888"/>
            <a:ext cx="3246120" cy="362102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un stage heading 2"/>
          <p:cNvSpPr txBox="1"/>
          <p:nvPr/>
        </p:nvSpPr>
        <p:spPr>
          <a:xfrm>
            <a:off x="4608576" y="1536192"/>
            <a:ext cx="3026664" cy="32918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1" i="0">
                <a:solidFill>
                  <a:srgbClr val="846826"/>
                </a:solidFill>
                <a:latin typeface="Times New Roman"/>
                <a:ea typeface="標楷體"/>
                <a:cs typeface="Times New Roman"/>
              </a:rPr>
              <a:t>02｜Candidate</a:t>
            </a:r>
          </a:p>
        </p:txBody>
      </p:sp>
      <p:sp>
        <p:nvSpPr>
          <p:cNvPr id="13" name="Run stage condition 2"/>
          <p:cNvSpPr txBox="1"/>
          <p:nvPr/>
        </p:nvSpPr>
        <p:spPr>
          <a:xfrm>
            <a:off x="4645152" y="1901952"/>
            <a:ext cx="2953512" cy="2743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700" b="1" i="0">
                <a:solidFill>
                  <a:srgbClr val="25356B"/>
                </a:solidFill>
                <a:latin typeface="Times New Roman"/>
                <a:ea typeface="標楷體"/>
                <a:cs typeface="Times New Roman"/>
              </a:rPr>
              <a:t>完成 P041 edit</a:t>
            </a:r>
          </a:p>
        </p:txBody>
      </p:sp>
      <p:sp>
        <p:nvSpPr>
          <p:cNvPr id="14" name="Run POSIX exact command 2"/>
          <p:cNvSpPr txBox="1"/>
          <p:nvPr/>
        </p:nvSpPr>
        <p:spPr>
          <a:xfrm>
            <a:off x="4663440" y="2267712"/>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POSIX</a:t>
            </a:r>
          </a:p>
          <a:p>
            <a:pPr algn="l">
              <a:lnSpc>
                <a:spcPct val="86000"/>
              </a:lnSpc>
              <a:spcBef>
                <a:spcPts val="0"/>
              </a:spcBef>
              <a:spcAft>
                <a:spcPts val="0"/>
              </a:spcAft>
            </a:pPr>
            <a:r>
              <a:rPr sz="1650" b="0" i="0">
                <a:solidFill>
                  <a:srgbClr val="25356B"/>
                </a:solidFill>
                <a:latin typeface="Times New Roman"/>
                <a:ea typeface="標楷體"/>
                <a:cs typeface="Times New Roman"/>
              </a:rPr>
              <a:t>bash course.sh run --lab A --case candidate --freeze</a:t>
            </a:r>
          </a:p>
        </p:txBody>
      </p:sp>
      <p:sp>
        <p:nvSpPr>
          <p:cNvPr id="15" name="Run Windows exact command 2"/>
          <p:cNvSpPr txBox="1"/>
          <p:nvPr/>
        </p:nvSpPr>
        <p:spPr>
          <a:xfrm>
            <a:off x="4663440" y="3200400"/>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Windows</a:t>
            </a:r>
          </a:p>
          <a:p>
            <a:pPr algn="l">
              <a:lnSpc>
                <a:spcPct val="86000"/>
              </a:lnSpc>
              <a:spcBef>
                <a:spcPts val="0"/>
              </a:spcBef>
              <a:spcAft>
                <a:spcPts val="0"/>
              </a:spcAft>
            </a:pPr>
            <a:r>
              <a:rPr sz="1650" b="0" i="0">
                <a:solidFill>
                  <a:srgbClr val="25356B"/>
                </a:solidFill>
                <a:latin typeface="Times New Roman"/>
                <a:ea typeface="標楷體"/>
                <a:cs typeface="Times New Roman"/>
              </a:rPr>
              <a:t>course.cmd run --lab A --case candidate --freeze</a:t>
            </a:r>
          </a:p>
        </p:txBody>
      </p:sp>
      <p:sp>
        <p:nvSpPr>
          <p:cNvPr id="16" name="Run stage receipt 2"/>
          <p:cNvSpPr/>
          <p:nvPr/>
        </p:nvSpPr>
        <p:spPr>
          <a:xfrm>
            <a:off x="4645152" y="4297680"/>
            <a:ext cx="2953512" cy="493776"/>
          </a:xfrm>
          <a:prstGeom prst="roundRect">
            <a:avLst/>
          </a:prstGeom>
          <a:solidFill>
            <a:srgbClr val="FFFFFF"/>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lnSpc>
                <a:spcPct val="94000"/>
              </a:lnSpc>
              <a:spcBef>
                <a:spcPts val="0"/>
              </a:spcBef>
              <a:spcAft>
                <a:spcPts val="0"/>
              </a:spcAft>
            </a:pPr>
            <a:r>
              <a:rPr sz="1650" b="1" i="0">
                <a:solidFill>
                  <a:srgbClr val="846826"/>
                </a:solidFill>
                <a:latin typeface="Times New Roman"/>
                <a:ea typeface="標楷體"/>
                <a:cs typeface="Times New Roman"/>
              </a:rPr>
              <a:t>stdout path＋frozen checkpoint</a:t>
            </a:r>
          </a:p>
        </p:txBody>
      </p:sp>
      <p:sp>
        <p:nvSpPr>
          <p:cNvPr id="17" name="Run ribbon connector"/>
          <p:cNvSpPr/>
          <p:nvPr/>
        </p:nvSpPr>
        <p:spPr>
          <a:xfrm>
            <a:off x="7845552" y="2871216"/>
            <a:ext cx="256032" cy="347472"/>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un stage 3"/>
          <p:cNvSpPr/>
          <p:nvPr/>
        </p:nvSpPr>
        <p:spPr>
          <a:xfrm>
            <a:off x="8321040" y="1389888"/>
            <a:ext cx="3246120" cy="3621024"/>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un stage heading 3"/>
          <p:cNvSpPr txBox="1"/>
          <p:nvPr/>
        </p:nvSpPr>
        <p:spPr>
          <a:xfrm>
            <a:off x="8430767" y="1536192"/>
            <a:ext cx="3026664" cy="329184"/>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900" b="1" i="0">
                <a:solidFill>
                  <a:srgbClr val="007374"/>
                </a:solidFill>
                <a:latin typeface="Times New Roman"/>
                <a:ea typeface="標楷體"/>
                <a:cs typeface="Times New Roman"/>
              </a:rPr>
              <a:t>03｜Hidden</a:t>
            </a:r>
          </a:p>
        </p:txBody>
      </p:sp>
      <p:sp>
        <p:nvSpPr>
          <p:cNvPr id="20" name="Run stage condition 3"/>
          <p:cNvSpPr txBox="1"/>
          <p:nvPr/>
        </p:nvSpPr>
        <p:spPr>
          <a:xfrm>
            <a:off x="8467344" y="1901952"/>
            <a:ext cx="2953512" cy="274320"/>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700" b="1" i="0">
                <a:solidFill>
                  <a:srgbClr val="25356B"/>
                </a:solidFill>
                <a:latin typeface="Times New Roman"/>
                <a:ea typeface="標楷體"/>
                <a:cs typeface="Times New Roman"/>
              </a:rPr>
              <a:t>保持 frozen policy</a:t>
            </a:r>
          </a:p>
        </p:txBody>
      </p:sp>
      <p:sp>
        <p:nvSpPr>
          <p:cNvPr id="21" name="Run POSIX exact command 3"/>
          <p:cNvSpPr txBox="1"/>
          <p:nvPr/>
        </p:nvSpPr>
        <p:spPr>
          <a:xfrm>
            <a:off x="8485632" y="2267712"/>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POSIX</a:t>
            </a:r>
          </a:p>
          <a:p>
            <a:pPr algn="l">
              <a:lnSpc>
                <a:spcPct val="86000"/>
              </a:lnSpc>
              <a:spcBef>
                <a:spcPts val="0"/>
              </a:spcBef>
              <a:spcAft>
                <a:spcPts val="0"/>
              </a:spcAft>
            </a:pPr>
            <a:r>
              <a:rPr sz="1650" b="0" i="0">
                <a:solidFill>
                  <a:srgbClr val="25356B"/>
                </a:solidFill>
                <a:latin typeface="Times New Roman"/>
                <a:ea typeface="標楷體"/>
                <a:cs typeface="Times New Roman"/>
              </a:rPr>
              <a:t>bash course.sh run --lab A --case hidden</a:t>
            </a:r>
          </a:p>
        </p:txBody>
      </p:sp>
      <p:sp>
        <p:nvSpPr>
          <p:cNvPr id="22" name="Run Windows exact command 3"/>
          <p:cNvSpPr txBox="1"/>
          <p:nvPr/>
        </p:nvSpPr>
        <p:spPr>
          <a:xfrm>
            <a:off x="8485632" y="3200400"/>
            <a:ext cx="2916936" cy="896112"/>
          </a:xfrm>
          <a:prstGeom prst="rect">
            <a:avLst/>
          </a:prstGeom>
          <a:noFill/>
        </p:spPr>
        <p:txBody>
          <a:bodyPr wrap="square" anchor="ctr" lIns="36576" tIns="18288" rIns="36576" bIns="18288">
            <a:spAutoFit/>
          </a:bodyPr>
          <a:lstStyle/>
          <a:p>
            <a:pPr algn="l">
              <a:lnSpc>
                <a:spcPct val="86000"/>
              </a:lnSpc>
              <a:spcBef>
                <a:spcPts val="0"/>
              </a:spcBef>
              <a:spcAft>
                <a:spcPts val="0"/>
              </a:spcAft>
            </a:pPr>
            <a:r>
              <a:rPr sz="1650" b="0" i="0">
                <a:solidFill>
                  <a:srgbClr val="25356B"/>
                </a:solidFill>
                <a:latin typeface="Times New Roman"/>
                <a:ea typeface="標楷體"/>
                <a:cs typeface="Times New Roman"/>
              </a:rPr>
              <a:t>Windows</a:t>
            </a:r>
          </a:p>
          <a:p>
            <a:pPr algn="l">
              <a:lnSpc>
                <a:spcPct val="86000"/>
              </a:lnSpc>
              <a:spcBef>
                <a:spcPts val="0"/>
              </a:spcBef>
              <a:spcAft>
                <a:spcPts val="0"/>
              </a:spcAft>
            </a:pPr>
            <a:r>
              <a:rPr sz="1650" b="0" i="0">
                <a:solidFill>
                  <a:srgbClr val="25356B"/>
                </a:solidFill>
                <a:latin typeface="Times New Roman"/>
                <a:ea typeface="標楷體"/>
                <a:cs typeface="Times New Roman"/>
              </a:rPr>
              <a:t>course.cmd run --lab A --case hidden</a:t>
            </a:r>
          </a:p>
        </p:txBody>
      </p:sp>
      <p:sp>
        <p:nvSpPr>
          <p:cNvPr id="23" name="Run stage receipt 3"/>
          <p:cNvSpPr/>
          <p:nvPr/>
        </p:nvSpPr>
        <p:spPr>
          <a:xfrm>
            <a:off x="8467344" y="4297680"/>
            <a:ext cx="2953512" cy="493776"/>
          </a:xfrm>
          <a:prstGeom prst="roundRect">
            <a:avLst/>
          </a:prstGeom>
          <a:solidFill>
            <a:srgbClr val="FFFFFF"/>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36576" tIns="18288" rIns="36576" bIns="18288"/>
          <a:lstStyle/>
          <a:p>
            <a:pPr algn="ctr">
              <a:lnSpc>
                <a:spcPct val="94000"/>
              </a:lnSpc>
              <a:spcBef>
                <a:spcPts val="0"/>
              </a:spcBef>
              <a:spcAft>
                <a:spcPts val="0"/>
              </a:spcAft>
            </a:pPr>
            <a:r>
              <a:rPr sz="1650" b="1" i="0">
                <a:solidFill>
                  <a:srgbClr val="007374"/>
                </a:solidFill>
                <a:latin typeface="Times New Roman"/>
                <a:ea typeface="標楷體"/>
                <a:cs typeface="Times New Roman"/>
              </a:rPr>
              <a:t>stdout result_path＋replay</a:t>
            </a:r>
          </a:p>
        </p:txBody>
      </p:sp>
      <p:sp>
        <p:nvSpPr>
          <p:cNvPr id="24" name="Run receipt rule"/>
          <p:cNvSpPr txBox="1"/>
          <p:nvPr/>
        </p:nvSpPr>
        <p:spPr>
          <a:xfrm>
            <a:off x="896112" y="5093208"/>
            <a:ext cx="10332720" cy="56692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1750" b="1" i="0">
                <a:solidFill>
                  <a:srgbClr val="992A2A"/>
                </a:solidFill>
                <a:latin typeface="Times New Roman"/>
                <a:ea typeface="標楷體"/>
                <a:cs typeface="Times New Roman"/>
              </a:rPr>
              <a:t>每次成功 stdout 都提供新的 </a:t>
            </a:r>
            <a:r>
              <a:rPr sz="1750" b="1" i="1">
                <a:solidFill>
                  <a:srgbClr val="992A2A"/>
                </a:solidFill>
                <a:latin typeface="Times New Roman"/>
                <a:ea typeface="標楷體"/>
                <a:cs typeface="Times New Roman"/>
              </a:rPr>
              <a:t>result_path</a:t>
            </a:r>
            <a:r>
              <a:rPr sz="1750" b="1" i="0">
                <a:solidFill>
                  <a:srgbClr val="992A2A"/>
                </a:solidFill>
                <a:latin typeface="Times New Roman"/>
                <a:ea typeface="標楷體"/>
                <a:cs typeface="Times New Roman"/>
              </a:rPr>
              <a:t>；replay 取同一 generated run 目錄；freeze 缺失時停止 hidden。</a:t>
            </a:r>
          </a:p>
        </p:txBody>
      </p:sp>
      <p:sp>
        <p:nvSpPr>
          <p:cNvPr id="25" name="Claim boundary"/>
          <p:cNvSpPr txBox="1"/>
          <p:nvPr/>
        </p:nvSpPr>
        <p:spPr>
          <a:xfrm>
            <a:off x="841248" y="5852160"/>
            <a:ext cx="10442448" cy="237744"/>
          </a:xfrm>
          <a:prstGeom prst="rect">
            <a:avLst/>
          </a:prstGeom>
          <a:noFill/>
        </p:spPr>
        <p:txBody>
          <a:bodyPr wrap="square" anchor="ctr" lIns="0" tIns="0" rIns="0" bIns="0">
            <a:spAutoFit/>
          </a:bodyPr>
          <a:lstStyle/>
          <a:p>
            <a:pPr algn="ctr">
              <a:lnSpc>
                <a:spcPct val="100000"/>
              </a:lnSpc>
              <a:spcBef>
                <a:spcPts val="0"/>
              </a:spcBef>
              <a:spcAft>
                <a:spcPts val="0"/>
              </a:spcAft>
            </a:pPr>
            <a:r>
              <a:rPr sz="1600" b="1" i="0">
                <a:solidFill>
                  <a:srgbClr val="992A2A"/>
                </a:solidFill>
                <a:latin typeface="Times New Roman"/>
                <a:ea typeface="標楷體"/>
                <a:cs typeface="Times New Roman"/>
              </a:rPr>
              <a:t>SIMULATED TEACHING DATA｜NOT LIVE｜NOT MEASURED｜NOT CANONICAL-PARITY-VERIFIED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P043｜A-03：同一 boundary 下的 before／after</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開啟 P042 的 result path，先核對 identity，再讀 before／after</a:t>
            </a:r>
          </a:p>
        </p:txBody>
      </p:sp>
      <p:sp>
        <p:nvSpPr>
          <p:cNvPr id="4" name="Baseline before card"/>
          <p:cNvSpPr/>
          <p:nvPr/>
        </p:nvSpPr>
        <p:spPr>
          <a:xfrm>
            <a:off x="868680" y="1481328"/>
            <a:ext cx="3246120" cy="210312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aseline before card heading"/>
          <p:cNvSpPr txBox="1"/>
          <p:nvPr/>
        </p:nvSpPr>
        <p:spPr>
          <a:xfrm>
            <a:off x="960120"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4967C2"/>
                </a:solidFill>
                <a:latin typeface="Times New Roman"/>
                <a:ea typeface="標楷體"/>
                <a:cs typeface="Times New Roman"/>
              </a:rPr>
              <a:t>Baseline</a:t>
            </a:r>
          </a:p>
        </p:txBody>
      </p:sp>
      <p:sp>
        <p:nvSpPr>
          <p:cNvPr id="6" name="Baseline before card body"/>
          <p:cNvSpPr txBox="1"/>
          <p:nvPr/>
        </p:nvSpPr>
        <p:spPr>
          <a:xfrm>
            <a:off x="996695" y="2011680"/>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參考：6.92 J</a:t>
            </a:r>
          </a:p>
          <a:p>
            <a:pPr algn="ctr">
              <a:lnSpc>
                <a:spcPct val="92000"/>
              </a:lnSpc>
              <a:spcBef>
                <a:spcPts val="0"/>
              </a:spcBef>
              <a:spcAft>
                <a:spcPts val="0"/>
              </a:spcAft>
            </a:pPr>
            <a:r>
              <a:rPr sz="2100" b="0" i="0">
                <a:solidFill>
                  <a:srgbClr val="25324A"/>
                </a:solidFill>
                <a:latin typeface="Times New Roman"/>
                <a:ea typeface="標楷體"/>
                <a:cs typeface="Times New Roman"/>
              </a:rPr>
              <a:t>4,800 bit</a:t>
            </a:r>
          </a:p>
          <a:p>
            <a:pPr algn="ctr">
              <a:lnSpc>
                <a:spcPct val="92000"/>
              </a:lnSpc>
              <a:spcBef>
                <a:spcPts val="0"/>
              </a:spcBef>
              <a:spcAft>
                <a:spcPts val="0"/>
              </a:spcAft>
            </a:pPr>
            <a:r>
              <a:rPr sz="2100" b="0" i="1">
                <a:solidFill>
                  <a:srgbClr val="25324A"/>
                </a:solidFill>
                <a:latin typeface="Times New Roman"/>
                <a:ea typeface="標楷體"/>
                <a:cs typeface="Times New Roman"/>
              </a:rPr>
              <a:t>service_pass = false</a:t>
            </a:r>
          </a:p>
        </p:txBody>
      </p:sp>
      <p:sp>
        <p:nvSpPr>
          <p:cNvPr id="7" name="Candidate after card"/>
          <p:cNvSpPr/>
          <p:nvPr/>
        </p:nvSpPr>
        <p:spPr>
          <a:xfrm>
            <a:off x="8074152" y="1481328"/>
            <a:ext cx="3246120" cy="210312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ndidate after card heading"/>
          <p:cNvSpPr txBox="1"/>
          <p:nvPr/>
        </p:nvSpPr>
        <p:spPr>
          <a:xfrm>
            <a:off x="8165592" y="159105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300" b="1" i="0">
                <a:solidFill>
                  <a:srgbClr val="846826"/>
                </a:solidFill>
                <a:latin typeface="Times New Roman"/>
                <a:ea typeface="標楷體"/>
                <a:cs typeface="Times New Roman"/>
              </a:rPr>
              <a:t>Candidate</a:t>
            </a:r>
          </a:p>
        </p:txBody>
      </p:sp>
      <p:sp>
        <p:nvSpPr>
          <p:cNvPr id="9" name="Candidate after card body"/>
          <p:cNvSpPr txBox="1"/>
          <p:nvPr/>
        </p:nvSpPr>
        <p:spPr>
          <a:xfrm>
            <a:off x="8202168" y="2011680"/>
            <a:ext cx="2990087" cy="1463039"/>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100" b="0" i="0">
                <a:solidFill>
                  <a:srgbClr val="25324A"/>
                </a:solidFill>
                <a:latin typeface="Times New Roman"/>
                <a:ea typeface="標楷體"/>
                <a:cs typeface="Times New Roman"/>
              </a:rPr>
              <a:t>參考：8.86 J</a:t>
            </a:r>
          </a:p>
          <a:p>
            <a:pPr algn="ctr">
              <a:lnSpc>
                <a:spcPct val="92000"/>
              </a:lnSpc>
              <a:spcBef>
                <a:spcPts val="0"/>
              </a:spcBef>
              <a:spcAft>
                <a:spcPts val="0"/>
              </a:spcAft>
            </a:pPr>
            <a:r>
              <a:rPr sz="2100" b="0" i="0">
                <a:solidFill>
                  <a:srgbClr val="25324A"/>
                </a:solidFill>
                <a:latin typeface="Times New Roman"/>
                <a:ea typeface="標楷體"/>
                <a:cs typeface="Times New Roman"/>
              </a:rPr>
              <a:t>4,800 bit</a:t>
            </a:r>
          </a:p>
          <a:p>
            <a:pPr algn="ctr">
              <a:lnSpc>
                <a:spcPct val="92000"/>
              </a:lnSpc>
              <a:spcBef>
                <a:spcPts val="0"/>
              </a:spcBef>
              <a:spcAft>
                <a:spcPts val="0"/>
              </a:spcAft>
            </a:pPr>
            <a:r>
              <a:rPr sz="2100" b="0" i="1">
                <a:solidFill>
                  <a:srgbClr val="25324A"/>
                </a:solidFill>
                <a:latin typeface="Times New Roman"/>
                <a:ea typeface="標楷體"/>
                <a:cs typeface="Times New Roman"/>
              </a:rPr>
              <a:t>service_pass = false</a:t>
            </a:r>
          </a:p>
        </p:txBody>
      </p:sp>
      <p:sp>
        <p:nvSpPr>
          <p:cNvPr id="10" name="A comparison identity gate"/>
          <p:cNvSpPr/>
          <p:nvPr/>
        </p:nvSpPr>
        <p:spPr>
          <a:xfrm>
            <a:off x="4471416" y="1664208"/>
            <a:ext cx="3246120" cy="173736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 comparison identity gate heading"/>
          <p:cNvSpPr txBox="1"/>
          <p:nvPr/>
        </p:nvSpPr>
        <p:spPr>
          <a:xfrm>
            <a:off x="4562855" y="1773936"/>
            <a:ext cx="3063239"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660066"/>
                </a:solidFill>
                <a:latin typeface="Times New Roman"/>
                <a:ea typeface="標楷體"/>
                <a:cs typeface="Times New Roman"/>
              </a:rPr>
              <a:t>Identity gate</a:t>
            </a:r>
          </a:p>
        </p:txBody>
      </p:sp>
      <p:sp>
        <p:nvSpPr>
          <p:cNvPr id="12" name="A comparison identity gate body"/>
          <p:cNvSpPr txBox="1"/>
          <p:nvPr/>
        </p:nvSpPr>
        <p:spPr>
          <a:xfrm>
            <a:off x="4599431" y="2194560"/>
            <a:ext cx="2990087" cy="1097280"/>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850" b="0" i="0">
                <a:solidFill>
                  <a:srgbClr val="25324A"/>
                </a:solidFill>
                <a:latin typeface="Times New Roman"/>
                <a:ea typeface="標楷體"/>
                <a:cs typeface="Times New Roman"/>
              </a:rPr>
              <a:t>scenario_id、seed</a:t>
            </a:r>
          </a:p>
          <a:p>
            <a:pPr algn="ctr">
              <a:lnSpc>
                <a:spcPct val="92000"/>
              </a:lnSpc>
              <a:spcBef>
                <a:spcPts val="0"/>
              </a:spcBef>
              <a:spcAft>
                <a:spcPts val="0"/>
              </a:spcAft>
            </a:pPr>
            <a:r>
              <a:rPr sz="1850" b="0" i="0">
                <a:solidFill>
                  <a:srgbClr val="25324A"/>
                </a:solidFill>
                <a:latin typeface="Times New Roman"/>
                <a:ea typeface="標楷體"/>
                <a:cs typeface="Times New Roman"/>
              </a:rPr>
              <a:t>policy identity、units、provenance</a:t>
            </a:r>
          </a:p>
          <a:p>
            <a:pPr algn="ctr">
              <a:lnSpc>
                <a:spcPct val="92000"/>
              </a:lnSpc>
              <a:spcBef>
                <a:spcPts val="0"/>
              </a:spcBef>
              <a:spcAft>
                <a:spcPts val="0"/>
              </a:spcAft>
            </a:pPr>
            <a:r>
              <a:rPr sz="1850" b="0" i="0">
                <a:solidFill>
                  <a:srgbClr val="25324A"/>
                </a:solidFill>
                <a:latin typeface="Times New Roman"/>
                <a:ea typeface="標楷體"/>
                <a:cs typeface="Times New Roman"/>
              </a:rPr>
              <a:t>同一 boundary 才比較</a:t>
            </a:r>
          </a:p>
        </p:txBody>
      </p:sp>
      <p:sp>
        <p:nvSpPr>
          <p:cNvPr id="13" name="Before comparison reading"/>
          <p:cNvSpPr/>
          <p:nvPr/>
        </p:nvSpPr>
        <p:spPr>
          <a:xfrm>
            <a:off x="932688" y="4005072"/>
            <a:ext cx="4882896" cy="71323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before：SLEEP 的 state／packet／service evidence</a:t>
            </a:r>
          </a:p>
        </p:txBody>
      </p:sp>
      <p:sp>
        <p:nvSpPr>
          <p:cNvPr id="14" name="After comparison reading"/>
          <p:cNvSpPr/>
          <p:nvPr/>
        </p:nvSpPr>
        <p:spPr>
          <a:xfrm>
            <a:off x="6364224" y="4005072"/>
            <a:ext cx="4882896"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after：WAIT 的 state／packet／service／J evidence</a:t>
            </a:r>
          </a:p>
        </p:txBody>
      </p:sp>
      <p:sp>
        <p:nvSpPr>
          <p:cNvPr id="15" name="Field contract policy identity"/>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policy identity</a:t>
            </a:r>
            <a:r>
              <a:rPr sz="1600" b="0" i="0">
                <a:solidFill>
                  <a:srgbClr val="25356B"/>
                </a:solidFill>
                <a:latin typeface="Times New Roman"/>
                <a:ea typeface="標楷體"/>
                <a:cs typeface="Times New Roman"/>
              </a:rPr>
              <a:t>（策略識別）｜來源：P042 result path｜作用：確認 baseline／candidate policy</a:t>
            </a:r>
          </a:p>
          <a:p>
            <a:pPr algn="l">
              <a:lnSpc>
                <a:spcPct val="78000"/>
              </a:lnSpc>
              <a:spcBef>
                <a:spcPts val="0"/>
              </a:spcBef>
              <a:spcAft>
                <a:spcPts val="0"/>
              </a:spcAft>
            </a:pPr>
            <a:r>
              <a:rPr sz="1600" b="0" i="0">
                <a:solidFill>
                  <a:srgbClr val="25356B"/>
                </a:solidFill>
                <a:latin typeface="Times New Roman"/>
                <a:ea typeface="標楷體"/>
                <a:cs typeface="Times New Roman"/>
              </a:rPr>
              <a:t>單位：identity｜判讀：核對 scenario、seed、units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P044｜A-04：state ledger 回到 endpoint J</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events 與 energy breakdown 把 WAIT 的成本拆回 state bucket</a:t>
            </a:r>
          </a:p>
        </p:txBody>
      </p:sp>
      <p:sp>
        <p:nvSpPr>
          <p:cNvPr id="4" name="State ledger order card"/>
          <p:cNvSpPr/>
          <p:nvPr/>
        </p:nvSpPr>
        <p:spPr>
          <a:xfrm>
            <a:off x="868680" y="1481328"/>
            <a:ext cx="5010912" cy="2212848"/>
          </a:xfrm>
          <a:prstGeom prst="roundRect">
            <a:avLst/>
          </a:prstGeom>
          <a:solidFill>
            <a:srgbClr val="F7F8FC"/>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ate ledger order card heading"/>
          <p:cNvSpPr txBox="1"/>
          <p:nvPr/>
        </p:nvSpPr>
        <p:spPr>
          <a:xfrm>
            <a:off x="960120" y="1591056"/>
            <a:ext cx="4828032"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0">
                <a:solidFill>
                  <a:srgbClr val="660066"/>
                </a:solidFill>
                <a:latin typeface="Times New Roman"/>
                <a:ea typeface="標楷體"/>
                <a:cs typeface="Times New Roman"/>
              </a:rPr>
              <a:t>Ledger reading order</a:t>
            </a:r>
          </a:p>
        </p:txBody>
      </p:sp>
      <p:sp>
        <p:nvSpPr>
          <p:cNvPr id="6" name="State ledger order card body"/>
          <p:cNvSpPr txBox="1"/>
          <p:nvPr/>
        </p:nvSpPr>
        <p:spPr>
          <a:xfrm>
            <a:off x="996695" y="2011680"/>
            <a:ext cx="4754880" cy="157276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2000" b="0" i="0">
                <a:solidFill>
                  <a:srgbClr val="25324A"/>
                </a:solidFill>
                <a:latin typeface="Times New Roman"/>
                <a:ea typeface="標楷體"/>
                <a:cs typeface="Times New Roman"/>
              </a:rPr>
              <a:t>1｜</a:t>
            </a:r>
            <a:r>
              <a:rPr sz="2000" b="0" i="1">
                <a:solidFill>
                  <a:srgbClr val="25324A"/>
                </a:solidFill>
                <a:latin typeface="Times New Roman"/>
                <a:ea typeface="標楷體"/>
                <a:cs typeface="Times New Roman"/>
              </a:rPr>
              <a:t>STATE_INTERVAL</a:t>
            </a:r>
            <a:r>
              <a:rPr sz="2000" b="0" i="0">
                <a:solidFill>
                  <a:srgbClr val="25324A"/>
                </a:solidFill>
                <a:latin typeface="Times New Roman"/>
                <a:ea typeface="標楷體"/>
                <a:cs typeface="Times New Roman"/>
              </a:rPr>
              <a:t>：找 WAIT／SLEEP duration</a:t>
            </a:r>
          </a:p>
          <a:p>
            <a:pPr algn="ctr">
              <a:lnSpc>
                <a:spcPct val="92000"/>
              </a:lnSpc>
              <a:spcBef>
                <a:spcPts val="0"/>
              </a:spcBef>
              <a:spcAft>
                <a:spcPts val="0"/>
              </a:spcAft>
            </a:pPr>
            <a:r>
              <a:rPr sz="2000" b="0" i="0">
                <a:solidFill>
                  <a:srgbClr val="25324A"/>
                </a:solidFill>
                <a:latin typeface="Times New Roman"/>
                <a:ea typeface="標楷體"/>
                <a:cs typeface="Times New Roman"/>
              </a:rPr>
              <a:t>2｜</a:t>
            </a:r>
            <a:r>
              <a:rPr sz="2000" b="0" i="1">
                <a:solidFill>
                  <a:srgbClr val="25324A"/>
                </a:solidFill>
                <a:latin typeface="Times New Roman"/>
                <a:ea typeface="標楷體"/>
                <a:cs typeface="Times New Roman"/>
              </a:rPr>
              <a:t>WAKE</a:t>
            </a:r>
            <a:r>
              <a:rPr sz="2000" b="0" i="0">
                <a:solidFill>
                  <a:srgbClr val="25324A"/>
                </a:solidFill>
                <a:latin typeface="Times New Roman"/>
                <a:ea typeface="標楷體"/>
                <a:cs typeface="Times New Roman"/>
              </a:rPr>
              <a:t>：確認 transition 是否出現</a:t>
            </a:r>
          </a:p>
          <a:p>
            <a:pPr algn="ctr">
              <a:lnSpc>
                <a:spcPct val="92000"/>
              </a:lnSpc>
              <a:spcBef>
                <a:spcPts val="0"/>
              </a:spcBef>
              <a:spcAft>
                <a:spcPts val="0"/>
              </a:spcAft>
            </a:pPr>
            <a:r>
              <a:rPr sz="2000" b="0" i="0">
                <a:solidFill>
                  <a:srgbClr val="25324A"/>
                </a:solidFill>
                <a:latin typeface="Times New Roman"/>
                <a:ea typeface="標楷體"/>
                <a:cs typeface="Times New Roman"/>
              </a:rPr>
              <a:t>3｜</a:t>
            </a:r>
            <a:r>
              <a:rPr sz="2000" b="0" i="1">
                <a:solidFill>
                  <a:srgbClr val="25324A"/>
                </a:solidFill>
                <a:latin typeface="Times New Roman"/>
                <a:ea typeface="標楷體"/>
                <a:cs typeface="Times New Roman"/>
              </a:rPr>
              <a:t>energy_breakdown_j</a:t>
            </a:r>
            <a:r>
              <a:rPr sz="2000" b="0" i="0">
                <a:solidFill>
                  <a:srgbClr val="25324A"/>
                </a:solidFill>
                <a:latin typeface="Times New Roman"/>
                <a:ea typeface="標楷體"/>
                <a:cs typeface="Times New Roman"/>
              </a:rPr>
              <a:t>：對回 bucket</a:t>
            </a:r>
          </a:p>
        </p:txBody>
      </p:sp>
      <p:sp>
        <p:nvSpPr>
          <p:cNvPr id="7" name="Energy bucket result card"/>
          <p:cNvSpPr/>
          <p:nvPr/>
        </p:nvSpPr>
        <p:spPr>
          <a:xfrm>
            <a:off x="6309360" y="1481328"/>
            <a:ext cx="5010912" cy="221284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nergy bucket result card heading"/>
          <p:cNvSpPr txBox="1"/>
          <p:nvPr/>
        </p:nvSpPr>
        <p:spPr>
          <a:xfrm>
            <a:off x="6400800" y="1591056"/>
            <a:ext cx="4828032"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200" b="1" i="1">
                <a:solidFill>
                  <a:srgbClr val="007374"/>
                </a:solidFill>
                <a:latin typeface="Times New Roman"/>
                <a:ea typeface="標楷體"/>
                <a:cs typeface="Times New Roman"/>
              </a:rPr>
              <a:t>energy_breakdown_j</a:t>
            </a:r>
          </a:p>
        </p:txBody>
      </p:sp>
      <p:sp>
        <p:nvSpPr>
          <p:cNvPr id="9" name="Energy bucket result card body"/>
          <p:cNvSpPr txBox="1"/>
          <p:nvPr/>
        </p:nvSpPr>
        <p:spPr>
          <a:xfrm>
            <a:off x="6437376" y="2011680"/>
            <a:ext cx="4754880" cy="157276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1">
                <a:solidFill>
                  <a:srgbClr val="25324A"/>
                </a:solidFill>
                <a:latin typeface="Times New Roman"/>
                <a:ea typeface="標楷體"/>
                <a:cs typeface="Times New Roman"/>
              </a:rPr>
              <a:t>awake_idle</a:t>
            </a:r>
            <a:r>
              <a:rPr sz="1900" b="0" i="0">
                <a:solidFill>
                  <a:srgbClr val="25324A"/>
                </a:solidFill>
                <a:latin typeface="Times New Roman"/>
                <a:ea typeface="標楷體"/>
                <a:cs typeface="Times New Roman"/>
              </a:rPr>
              <a:t> 6.00 J｜</a:t>
            </a:r>
            <a:r>
              <a:rPr sz="1900" b="0" i="1">
                <a:solidFill>
                  <a:srgbClr val="25324A"/>
                </a:solidFill>
                <a:latin typeface="Times New Roman"/>
                <a:ea typeface="標楷體"/>
                <a:cs typeface="Times New Roman"/>
              </a:rPr>
              <a:t>sleep</a:t>
            </a:r>
            <a:r>
              <a:rPr sz="1900" b="0" i="0">
                <a:solidFill>
                  <a:srgbClr val="25324A"/>
                </a:solidFill>
                <a:latin typeface="Times New Roman"/>
                <a:ea typeface="標楷體"/>
                <a:cs typeface="Times New Roman"/>
              </a:rPr>
              <a:t> 0.04 J</a:t>
            </a:r>
          </a:p>
          <a:p>
            <a:pPr algn="ctr">
              <a:lnSpc>
                <a:spcPct val="92000"/>
              </a:lnSpc>
              <a:spcBef>
                <a:spcPts val="0"/>
              </a:spcBef>
              <a:spcAft>
                <a:spcPts val="0"/>
              </a:spcAft>
            </a:pPr>
            <a:r>
              <a:rPr sz="1900" b="0" i="1">
                <a:solidFill>
                  <a:srgbClr val="25324A"/>
                </a:solidFill>
                <a:latin typeface="Times New Roman"/>
                <a:ea typeface="標楷體"/>
                <a:cs typeface="Times New Roman"/>
              </a:rPr>
              <a:t>wake</a:t>
            </a:r>
            <a:r>
              <a:rPr sz="1900" b="0" i="0">
                <a:solidFill>
                  <a:srgbClr val="25324A"/>
                </a:solidFill>
                <a:latin typeface="Times New Roman"/>
                <a:ea typeface="標楷體"/>
                <a:cs typeface="Times New Roman"/>
              </a:rPr>
              <a:t> 0.02 J｜</a:t>
            </a:r>
            <a:r>
              <a:rPr sz="1900" b="0" i="1">
                <a:solidFill>
                  <a:srgbClr val="25324A"/>
                </a:solidFill>
                <a:latin typeface="Times New Roman"/>
                <a:ea typeface="標楷體"/>
                <a:cs typeface="Times New Roman"/>
              </a:rPr>
              <a:t>process</a:t>
            </a:r>
            <a:r>
              <a:rPr sz="1900" b="0" i="0">
                <a:solidFill>
                  <a:srgbClr val="25324A"/>
                </a:solidFill>
                <a:latin typeface="Times New Roman"/>
                <a:ea typeface="標楷體"/>
                <a:cs typeface="Times New Roman"/>
              </a:rPr>
              <a:t> 0.16 J</a:t>
            </a:r>
          </a:p>
          <a:p>
            <a:pPr algn="ctr">
              <a:lnSpc>
                <a:spcPct val="92000"/>
              </a:lnSpc>
              <a:spcBef>
                <a:spcPts val="0"/>
              </a:spcBef>
              <a:spcAft>
                <a:spcPts val="0"/>
              </a:spcAft>
            </a:pPr>
            <a:r>
              <a:rPr sz="1900" b="0" i="1">
                <a:solidFill>
                  <a:srgbClr val="25324A"/>
                </a:solidFill>
                <a:latin typeface="Times New Roman"/>
                <a:ea typeface="標楷體"/>
                <a:cs typeface="Times New Roman"/>
              </a:rPr>
              <a:t>tx</a:t>
            </a:r>
            <a:r>
              <a:rPr sz="1900" b="0" i="0">
                <a:solidFill>
                  <a:srgbClr val="25324A"/>
                </a:solidFill>
                <a:latin typeface="Times New Roman"/>
                <a:ea typeface="標楷體"/>
                <a:cs typeface="Times New Roman"/>
              </a:rPr>
              <a:t> 2.40 J｜</a:t>
            </a:r>
            <a:r>
              <a:rPr sz="1900" b="0" i="1">
                <a:solidFill>
                  <a:srgbClr val="25324A"/>
                </a:solidFill>
                <a:latin typeface="Times New Roman"/>
                <a:ea typeface="標楷體"/>
                <a:cs typeface="Times New Roman"/>
              </a:rPr>
              <a:t>rx</a:t>
            </a:r>
            <a:r>
              <a:rPr sz="1900" b="0" i="0">
                <a:solidFill>
                  <a:srgbClr val="25324A"/>
                </a:solidFill>
                <a:latin typeface="Times New Roman"/>
                <a:ea typeface="標楷體"/>
                <a:cs typeface="Times New Roman"/>
              </a:rPr>
              <a:t> 0.24 J</a:t>
            </a:r>
          </a:p>
        </p:txBody>
      </p:sp>
      <p:sp>
        <p:nvSpPr>
          <p:cNvPr id="10" name="Ledger result fields"/>
          <p:cNvSpPr/>
          <p:nvPr/>
        </p:nvSpPr>
        <p:spPr>
          <a:xfrm>
            <a:off x="932688" y="4023360"/>
            <a:ext cx="4882896" cy="71323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結果欄位：state、start／end time、event energy、bucket J</a:t>
            </a:r>
          </a:p>
        </p:txBody>
      </p:sp>
      <p:sp>
        <p:nvSpPr>
          <p:cNvPr id="11" name="Ledger artifact boundary"/>
          <p:cNvSpPr/>
          <p:nvPr/>
        </p:nvSpPr>
        <p:spPr>
          <a:xfrm>
            <a:off x="6364224" y="4023360"/>
            <a:ext cx="4882896"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50" b="1" i="0">
                <a:solidFill>
                  <a:srgbClr val="25356B"/>
                </a:solidFill>
                <a:latin typeface="Times New Roman"/>
                <a:ea typeface="標楷體"/>
                <a:cs typeface="Times New Roman"/>
              </a:rPr>
              <a:t>參考值以該次 stdout result_path artifact 為準</a:t>
            </a:r>
          </a:p>
        </p:txBody>
      </p:sp>
      <p:sp>
        <p:nvSpPr>
          <p:cNvPr id="12" name="Field contract STATE_INTERVAL"/>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STATE_INTERVAL</a:t>
            </a:r>
            <a:r>
              <a:rPr sz="1600" b="0" i="0">
                <a:solidFill>
                  <a:srgbClr val="25356B"/>
                </a:solidFill>
                <a:latin typeface="Times New Roman"/>
                <a:ea typeface="標楷體"/>
                <a:cs typeface="Times New Roman"/>
              </a:rPr>
              <a:t>（狀態區間事件）｜來源：candidate events｜作用：提供 state、time、event energy</a:t>
            </a:r>
          </a:p>
          <a:p>
            <a:pPr algn="l">
              <a:lnSpc>
                <a:spcPct val="78000"/>
              </a:lnSpc>
              <a:spcBef>
                <a:spcPts val="0"/>
              </a:spcBef>
              <a:spcAft>
                <a:spcPts val="0"/>
              </a:spcAft>
            </a:pPr>
            <a:r>
              <a:rPr sz="1600" b="0" i="0">
                <a:solidFill>
                  <a:srgbClr val="25356B"/>
                </a:solidFill>
                <a:latin typeface="Times New Roman"/>
                <a:ea typeface="標楷體"/>
                <a:cs typeface="Times New Roman"/>
              </a:rPr>
              <a:t>單位：state＋s＋J｜判讀：沿 interval 判讀 WAIT 成本</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18288" tIns="0" rIns="18288" bIns="0"/>
          <a:lstStyle/>
          <a:p>
            <a:pPr algn="l">
              <a:lnSpc>
                <a:spcPct val="100000"/>
              </a:lnSpc>
              <a:spcBef>
                <a:spcPts val="0"/>
              </a:spcBef>
              <a:spcAft>
                <a:spcPts val="0"/>
              </a:spcAft>
            </a:pPr>
            <a:r>
              <a:rPr sz="2800" b="1" i="0">
                <a:solidFill>
                  <a:srgbClr val="25356B"/>
                </a:solidFill>
                <a:latin typeface="Times New Roman"/>
                <a:ea typeface="標楷體"/>
                <a:cs typeface="Times New Roman"/>
              </a:rPr>
              <a:t>P045｜A-05：packet outcome 回到 service</a:t>
            </a:r>
          </a:p>
        </p:txBody>
      </p:sp>
      <p:sp>
        <p:nvSpPr>
          <p:cNvPr id="3" name="Teaching proposition"/>
          <p:cNvSpPr txBox="1"/>
          <p:nvPr/>
        </p:nvSpPr>
        <p:spPr>
          <a:xfrm>
            <a:off x="896112" y="914400"/>
            <a:ext cx="10405872" cy="384048"/>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attempted 不等於 delivered；service gate 再決定 J 的解讀層級</a:t>
            </a:r>
          </a:p>
        </p:txBody>
      </p:sp>
      <p:sp>
        <p:nvSpPr>
          <p:cNvPr id="4" name="Packet outcome metric 1"/>
          <p:cNvSpPr/>
          <p:nvPr/>
        </p:nvSpPr>
        <p:spPr>
          <a:xfrm>
            <a:off x="713232" y="1481328"/>
            <a:ext cx="2542032" cy="1481328"/>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acket outcome metric 1 heading"/>
          <p:cNvSpPr txBox="1"/>
          <p:nvPr/>
        </p:nvSpPr>
        <p:spPr>
          <a:xfrm>
            <a:off x="804672"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4967C2"/>
                </a:solidFill>
                <a:latin typeface="Times New Roman"/>
                <a:ea typeface="標楷體"/>
                <a:cs typeface="Times New Roman"/>
              </a:rPr>
              <a:t>attempted</a:t>
            </a:r>
          </a:p>
        </p:txBody>
      </p:sp>
      <p:sp>
        <p:nvSpPr>
          <p:cNvPr id="6" name="Packet outcome metric 1 body"/>
          <p:cNvSpPr txBox="1"/>
          <p:nvPr/>
        </p:nvSpPr>
        <p:spPr>
          <a:xfrm>
            <a:off x="841248" y="2011680"/>
            <a:ext cx="2286000" cy="84124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1">
                <a:solidFill>
                  <a:srgbClr val="25324A"/>
                </a:solidFill>
                <a:latin typeface="Times New Roman"/>
                <a:ea typeface="標楷體"/>
                <a:cs typeface="Times New Roman"/>
              </a:rPr>
              <a:t>attempted_packets</a:t>
            </a:r>
          </a:p>
          <a:p>
            <a:pPr algn="ctr">
              <a:lnSpc>
                <a:spcPct val="92000"/>
              </a:lnSpc>
              <a:spcBef>
                <a:spcPts val="0"/>
              </a:spcBef>
              <a:spcAft>
                <a:spcPts val="0"/>
              </a:spcAft>
            </a:pPr>
            <a:r>
              <a:rPr sz="1900" b="0" i="0">
                <a:solidFill>
                  <a:srgbClr val="25324A"/>
                </a:solidFill>
                <a:latin typeface="Times New Roman"/>
                <a:ea typeface="標楷體"/>
                <a:cs typeface="Times New Roman"/>
              </a:rPr>
              <a:t>2</a:t>
            </a:r>
          </a:p>
        </p:txBody>
      </p:sp>
      <p:sp>
        <p:nvSpPr>
          <p:cNvPr id="7" name="Packet outcome connector"/>
          <p:cNvSpPr/>
          <p:nvPr/>
        </p:nvSpPr>
        <p:spPr>
          <a:xfrm>
            <a:off x="3328415" y="2039112"/>
            <a:ext cx="182880" cy="29260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acket outcome metric 2"/>
          <p:cNvSpPr/>
          <p:nvPr/>
        </p:nvSpPr>
        <p:spPr>
          <a:xfrm>
            <a:off x="3547872" y="1481328"/>
            <a:ext cx="2542032" cy="1481328"/>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acket outcome metric 2 heading"/>
          <p:cNvSpPr txBox="1"/>
          <p:nvPr/>
        </p:nvSpPr>
        <p:spPr>
          <a:xfrm>
            <a:off x="3639312"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846826"/>
                </a:solidFill>
                <a:latin typeface="Times New Roman"/>
                <a:ea typeface="標楷體"/>
                <a:cs typeface="Times New Roman"/>
              </a:rPr>
              <a:t>retry</a:t>
            </a:r>
          </a:p>
        </p:txBody>
      </p:sp>
      <p:sp>
        <p:nvSpPr>
          <p:cNvPr id="10" name="Packet outcome metric 2 body"/>
          <p:cNvSpPr txBox="1"/>
          <p:nvPr/>
        </p:nvSpPr>
        <p:spPr>
          <a:xfrm>
            <a:off x="3675887" y="2011680"/>
            <a:ext cx="2286000" cy="84124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1">
                <a:solidFill>
                  <a:srgbClr val="25324A"/>
                </a:solidFill>
                <a:latin typeface="Times New Roman"/>
                <a:ea typeface="標楷體"/>
                <a:cs typeface="Times New Roman"/>
              </a:rPr>
              <a:t>retransmissions</a:t>
            </a:r>
          </a:p>
          <a:p>
            <a:pPr algn="ctr">
              <a:lnSpc>
                <a:spcPct val="92000"/>
              </a:lnSpc>
              <a:spcBef>
                <a:spcPts val="0"/>
              </a:spcBef>
              <a:spcAft>
                <a:spcPts val="0"/>
              </a:spcAft>
            </a:pPr>
            <a:r>
              <a:rPr sz="1900" b="0" i="0">
                <a:solidFill>
                  <a:srgbClr val="25324A"/>
                </a:solidFill>
                <a:latin typeface="Times New Roman"/>
                <a:ea typeface="標楷體"/>
                <a:cs typeface="Times New Roman"/>
              </a:rPr>
              <a:t>1</a:t>
            </a:r>
          </a:p>
        </p:txBody>
      </p:sp>
      <p:sp>
        <p:nvSpPr>
          <p:cNvPr id="11" name="Packet outcome connector"/>
          <p:cNvSpPr/>
          <p:nvPr/>
        </p:nvSpPr>
        <p:spPr>
          <a:xfrm>
            <a:off x="6163056" y="2039112"/>
            <a:ext cx="182880" cy="29260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acket outcome metric 3"/>
          <p:cNvSpPr/>
          <p:nvPr/>
        </p:nvSpPr>
        <p:spPr>
          <a:xfrm>
            <a:off x="6382512" y="1481328"/>
            <a:ext cx="2542032" cy="148132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cket outcome metric 3 heading"/>
          <p:cNvSpPr txBox="1"/>
          <p:nvPr/>
        </p:nvSpPr>
        <p:spPr>
          <a:xfrm>
            <a:off x="6473952"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007374"/>
                </a:solidFill>
                <a:latin typeface="Times New Roman"/>
                <a:ea typeface="標楷體"/>
                <a:cs typeface="Times New Roman"/>
              </a:rPr>
              <a:t>delivered</a:t>
            </a:r>
          </a:p>
        </p:txBody>
      </p:sp>
      <p:sp>
        <p:nvSpPr>
          <p:cNvPr id="14" name="Packet outcome metric 3 body"/>
          <p:cNvSpPr txBox="1"/>
          <p:nvPr/>
        </p:nvSpPr>
        <p:spPr>
          <a:xfrm>
            <a:off x="6510528" y="2011680"/>
            <a:ext cx="2286000" cy="84124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1">
                <a:solidFill>
                  <a:srgbClr val="25324A"/>
                </a:solidFill>
                <a:latin typeface="Times New Roman"/>
                <a:ea typeface="標楷體"/>
                <a:cs typeface="Times New Roman"/>
              </a:rPr>
              <a:t>delivered_bits</a:t>
            </a:r>
          </a:p>
          <a:p>
            <a:pPr algn="ctr">
              <a:lnSpc>
                <a:spcPct val="92000"/>
              </a:lnSpc>
              <a:spcBef>
                <a:spcPts val="0"/>
              </a:spcBef>
              <a:spcAft>
                <a:spcPts val="0"/>
              </a:spcAft>
            </a:pPr>
            <a:r>
              <a:rPr sz="1900" b="0" i="0">
                <a:solidFill>
                  <a:srgbClr val="25324A"/>
                </a:solidFill>
                <a:latin typeface="Times New Roman"/>
                <a:ea typeface="標楷體"/>
                <a:cs typeface="Times New Roman"/>
              </a:rPr>
              <a:t>4,800 bit</a:t>
            </a:r>
          </a:p>
        </p:txBody>
      </p:sp>
      <p:sp>
        <p:nvSpPr>
          <p:cNvPr id="15" name="Packet outcome connector"/>
          <p:cNvSpPr/>
          <p:nvPr/>
        </p:nvSpPr>
        <p:spPr>
          <a:xfrm>
            <a:off x="8997696" y="2039112"/>
            <a:ext cx="182880" cy="29260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cket outcome metric 4"/>
          <p:cNvSpPr/>
          <p:nvPr/>
        </p:nvSpPr>
        <p:spPr>
          <a:xfrm>
            <a:off x="9217152" y="1481328"/>
            <a:ext cx="2542032" cy="148132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cket outcome metric 4 heading"/>
          <p:cNvSpPr txBox="1"/>
          <p:nvPr/>
        </p:nvSpPr>
        <p:spPr>
          <a:xfrm>
            <a:off x="9308592" y="1591056"/>
            <a:ext cx="2359151" cy="347472"/>
          </a:xfrm>
          <a:prstGeom prst="rect">
            <a:avLst/>
          </a:prstGeom>
          <a:noFill/>
        </p:spPr>
        <p:txBody>
          <a:bodyPr wrap="square" anchor="ctr" lIns="18288" tIns="9144" rIns="18288" bIns="9144">
            <a:spAutoFit/>
          </a:bodyPr>
          <a:lstStyle/>
          <a:p>
            <a:pPr algn="ctr">
              <a:lnSpc>
                <a:spcPct val="100000"/>
              </a:lnSpc>
              <a:spcBef>
                <a:spcPts val="0"/>
              </a:spcBef>
              <a:spcAft>
                <a:spcPts val="0"/>
              </a:spcAft>
            </a:pPr>
            <a:r>
              <a:rPr sz="2100" b="1" i="0">
                <a:solidFill>
                  <a:srgbClr val="992A2A"/>
                </a:solidFill>
                <a:latin typeface="Times New Roman"/>
                <a:ea typeface="標楷體"/>
                <a:cs typeface="Times New Roman"/>
              </a:rPr>
              <a:t>expired</a:t>
            </a:r>
          </a:p>
        </p:txBody>
      </p:sp>
      <p:sp>
        <p:nvSpPr>
          <p:cNvPr id="18" name="Packet outcome metric 4 body"/>
          <p:cNvSpPr txBox="1"/>
          <p:nvPr/>
        </p:nvSpPr>
        <p:spPr>
          <a:xfrm>
            <a:off x="9345168" y="2011680"/>
            <a:ext cx="2286000" cy="841248"/>
          </a:xfrm>
          <a:prstGeom prst="rect">
            <a:avLst/>
          </a:prstGeom>
          <a:noFill/>
        </p:spPr>
        <p:txBody>
          <a:bodyPr wrap="square" anchor="ctr" lIns="18288" tIns="9144" rIns="18288" bIns="9144">
            <a:spAutoFit/>
          </a:bodyPr>
          <a:lstStyle/>
          <a:p>
            <a:pPr algn="ctr">
              <a:lnSpc>
                <a:spcPct val="92000"/>
              </a:lnSpc>
              <a:spcBef>
                <a:spcPts val="0"/>
              </a:spcBef>
              <a:spcAft>
                <a:spcPts val="0"/>
              </a:spcAft>
            </a:pPr>
            <a:r>
              <a:rPr sz="1900" b="0" i="1">
                <a:solidFill>
                  <a:srgbClr val="25324A"/>
                </a:solidFill>
                <a:latin typeface="Times New Roman"/>
                <a:ea typeface="標楷體"/>
                <a:cs typeface="Times New Roman"/>
              </a:rPr>
              <a:t>expired_packets</a:t>
            </a:r>
          </a:p>
          <a:p>
            <a:pPr algn="ctr">
              <a:lnSpc>
                <a:spcPct val="92000"/>
              </a:lnSpc>
              <a:spcBef>
                <a:spcPts val="0"/>
              </a:spcBef>
              <a:spcAft>
                <a:spcPts val="0"/>
              </a:spcAft>
            </a:pPr>
            <a:r>
              <a:rPr sz="1900" b="0" i="0">
                <a:solidFill>
                  <a:srgbClr val="25324A"/>
                </a:solidFill>
                <a:latin typeface="Times New Roman"/>
                <a:ea typeface="標楷體"/>
                <a:cs typeface="Times New Roman"/>
              </a:rPr>
              <a:t>3</a:t>
            </a:r>
          </a:p>
        </p:txBody>
      </p:sp>
      <p:sp>
        <p:nvSpPr>
          <p:cNvPr id="19" name="Packet service verdict"/>
          <p:cNvSpPr/>
          <p:nvPr/>
        </p:nvSpPr>
        <p:spPr>
          <a:xfrm>
            <a:off x="932688" y="3493008"/>
            <a:ext cx="4882896" cy="91440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2100" b="1" i="1">
                <a:solidFill>
                  <a:srgbClr val="25356B"/>
                </a:solidFill>
                <a:latin typeface="Times New Roman"/>
                <a:ea typeface="標楷體"/>
                <a:cs typeface="Times New Roman"/>
              </a:rPr>
              <a:t>deadline_pass = false</a:t>
            </a:r>
          </a:p>
          <a:p>
            <a:pPr algn="ctr">
              <a:lnSpc>
                <a:spcPct val="94000"/>
              </a:lnSpc>
              <a:spcBef>
                <a:spcPts val="0"/>
              </a:spcBef>
              <a:spcAft>
                <a:spcPts val="0"/>
              </a:spcAft>
            </a:pPr>
            <a:r>
              <a:rPr sz="2100" b="1" i="1">
                <a:solidFill>
                  <a:srgbClr val="25356B"/>
                </a:solidFill>
                <a:latin typeface="Times New Roman"/>
                <a:ea typeface="標楷體"/>
                <a:cs typeface="Times New Roman"/>
              </a:rPr>
              <a:t>service_pass = false</a:t>
            </a:r>
          </a:p>
        </p:txBody>
      </p:sp>
      <p:sp>
        <p:nvSpPr>
          <p:cNvPr id="20" name="Packet result provenance"/>
          <p:cNvSpPr/>
          <p:nvPr/>
        </p:nvSpPr>
        <p:spPr>
          <a:xfrm>
            <a:off x="6364224" y="3493008"/>
            <a:ext cx="4882896" cy="914400"/>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900" b="1" i="0">
                <a:solidFill>
                  <a:srgbClr val="25356B"/>
                </a:solidFill>
                <a:latin typeface="Times New Roman"/>
                <a:ea typeface="標楷體"/>
                <a:cs typeface="Times New Roman"/>
              </a:rPr>
              <a:t>同情境參考摘要；實際欄位取 P042 stdout </a:t>
            </a:r>
            <a:r>
              <a:rPr sz="1900" b="1" i="1">
                <a:solidFill>
                  <a:srgbClr val="25356B"/>
                </a:solidFill>
                <a:latin typeface="Times New Roman"/>
                <a:ea typeface="標楷體"/>
                <a:cs typeface="Times New Roman"/>
              </a:rPr>
              <a:t>result_path</a:t>
            </a:r>
          </a:p>
        </p:txBody>
      </p:sp>
      <p:sp>
        <p:nvSpPr>
          <p:cNvPr id="21" name="Packet causal chain"/>
          <p:cNvSpPr/>
          <p:nvPr/>
        </p:nvSpPr>
        <p:spPr>
          <a:xfrm>
            <a:off x="932688" y="4645152"/>
            <a:ext cx="10314432" cy="329184"/>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lnSpc>
                <a:spcPct val="94000"/>
              </a:lnSpc>
              <a:spcBef>
                <a:spcPts val="0"/>
              </a:spcBef>
              <a:spcAft>
                <a:spcPts val="0"/>
              </a:spcAft>
            </a:pPr>
            <a:r>
              <a:rPr sz="1850" b="1" i="0">
                <a:solidFill>
                  <a:srgbClr val="25356B"/>
                </a:solidFill>
                <a:latin typeface="Times New Roman"/>
                <a:ea typeface="標楷體"/>
                <a:cs typeface="Times New Roman"/>
              </a:rPr>
              <a:t>action → state → packet outcome → service verdict → endpoint J</a:t>
            </a:r>
          </a:p>
        </p:txBody>
      </p:sp>
      <p:sp>
        <p:nvSpPr>
          <p:cNvPr id="22" name="Field contract deadline_pass"/>
          <p:cNvSpPr/>
          <p:nvPr/>
        </p:nvSpPr>
        <p:spPr>
          <a:xfrm>
            <a:off x="749808" y="5157216"/>
            <a:ext cx="10716768" cy="658368"/>
          </a:xfrm>
          <a:prstGeom prst="roundRect">
            <a:avLst/>
          </a:prstGeom>
          <a:solidFill>
            <a:srgbClr val="F7F8FC"/>
          </a:solidFill>
          <a:ln w="1270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146304" tIns="18288" rIns="146304" bIns="18288"/>
          <a:lstStyle/>
          <a:p>
            <a:pPr algn="l">
              <a:lnSpc>
                <a:spcPct val="78000"/>
              </a:lnSpc>
              <a:spcBef>
                <a:spcPts val="0"/>
              </a:spcBef>
              <a:spcAft>
                <a:spcPts val="0"/>
              </a:spcAft>
            </a:pPr>
            <a:r>
              <a:rPr sz="1600" b="0" i="1">
                <a:solidFill>
                  <a:srgbClr val="25356B"/>
                </a:solidFill>
                <a:latin typeface="Times New Roman"/>
                <a:ea typeface="標楷體"/>
                <a:cs typeface="Times New Roman"/>
              </a:rPr>
              <a:t>deadline_pass</a:t>
            </a:r>
            <a:r>
              <a:rPr sz="1600" b="0" i="0">
                <a:solidFill>
                  <a:srgbClr val="25356B"/>
                </a:solidFill>
                <a:latin typeface="Times New Roman"/>
                <a:ea typeface="標楷體"/>
                <a:cs typeface="Times New Roman"/>
              </a:rPr>
              <a:t>（期限通過狀態）｜來源：result summary｜作用：required packet 是否準時交付</a:t>
            </a:r>
          </a:p>
          <a:p>
            <a:pPr algn="l">
              <a:lnSpc>
                <a:spcPct val="78000"/>
              </a:lnSpc>
              <a:spcBef>
                <a:spcPts val="0"/>
              </a:spcBef>
              <a:spcAft>
                <a:spcPts val="0"/>
              </a:spcAft>
            </a:pPr>
            <a:r>
              <a:rPr sz="1600" b="0" i="0">
                <a:solidFill>
                  <a:srgbClr val="25356B"/>
                </a:solidFill>
                <a:latin typeface="Times New Roman"/>
                <a:ea typeface="標楷體"/>
                <a:cs typeface="Times New Roman"/>
              </a:rPr>
              <a:t>單位：true／false｜判讀：與 delivered／expired／freshness 成 gate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P046｜A freeze：hidden 入場 gate</a:t>
            </a:r>
          </a:p>
        </p:txBody>
      </p:sp>
      <p:sp>
        <p:nvSpPr>
          <p:cNvPr id="3" name="P046 lead"/>
          <p:cNvSpPr txBox="1"/>
          <p:nvPr/>
        </p:nvSpPr>
        <p:spPr>
          <a:xfrm>
            <a:off x="859536" y="960120"/>
            <a:ext cx="10378440"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freeze receipt 綁定 policy lineage；hidden 只接受對得上的 checkpoint。</a:t>
            </a:r>
          </a:p>
        </p:txBody>
      </p:sp>
      <p:sp>
        <p:nvSpPr>
          <p:cNvPr id="4" name="P046 lineage 1"/>
          <p:cNvSpPr/>
          <p:nvPr/>
        </p:nvSpPr>
        <p:spPr>
          <a:xfrm>
            <a:off x="713232" y="1591056"/>
            <a:ext cx="3255264" cy="137160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46 lineage 1 heading"/>
          <p:cNvSpPr txBox="1"/>
          <p:nvPr/>
        </p:nvSpPr>
        <p:spPr>
          <a:xfrm>
            <a:off x="859536" y="1700784"/>
            <a:ext cx="296265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A baseline</a:t>
            </a:r>
          </a:p>
        </p:txBody>
      </p:sp>
      <p:sp>
        <p:nvSpPr>
          <p:cNvPr id="6" name="P046 lineage 1 body"/>
          <p:cNvSpPr txBox="1"/>
          <p:nvPr/>
        </p:nvSpPr>
        <p:spPr>
          <a:xfrm>
            <a:off x="877824" y="2103120"/>
            <a:ext cx="2926080"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原始 policy</a:t>
            </a:r>
          </a:p>
          <a:p>
            <a:pPr algn="ctr">
              <a:lnSpc>
                <a:spcPct val="96000"/>
              </a:lnSpc>
              <a:spcBef>
                <a:spcPts val="0"/>
              </a:spcBef>
              <a:spcAft>
                <a:spcPts val="0"/>
              </a:spcAft>
            </a:pPr>
            <a:r>
              <a:rPr sz="1900" b="0" i="0">
                <a:solidFill>
                  <a:srgbClr val="25324A"/>
                </a:solidFill>
                <a:latin typeface="Times New Roman"/>
                <a:ea typeface="標楷體"/>
                <a:cs typeface="Times New Roman"/>
              </a:rPr>
              <a:t>固定 scenario／seed</a:t>
            </a:r>
          </a:p>
        </p:txBody>
      </p:sp>
      <p:sp>
        <p:nvSpPr>
          <p:cNvPr id="7" name="P046 lineage gate connector"/>
          <p:cNvSpPr/>
          <p:nvPr/>
        </p:nvSpPr>
        <p:spPr>
          <a:xfrm>
            <a:off x="4078224" y="2084831"/>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46 lineage 2"/>
          <p:cNvSpPr/>
          <p:nvPr/>
        </p:nvSpPr>
        <p:spPr>
          <a:xfrm>
            <a:off x="4480560" y="1591056"/>
            <a:ext cx="3255264" cy="137160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46 lineage 2 heading"/>
          <p:cNvSpPr txBox="1"/>
          <p:nvPr/>
        </p:nvSpPr>
        <p:spPr>
          <a:xfrm>
            <a:off x="4626864" y="1700784"/>
            <a:ext cx="296265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candidate + freeze</a:t>
            </a:r>
          </a:p>
        </p:txBody>
      </p:sp>
      <p:sp>
        <p:nvSpPr>
          <p:cNvPr id="10" name="P046 lineage 2 body"/>
          <p:cNvSpPr txBox="1"/>
          <p:nvPr/>
        </p:nvSpPr>
        <p:spPr>
          <a:xfrm>
            <a:off x="4645152" y="2103120"/>
            <a:ext cx="2926080"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1">
                <a:solidFill>
                  <a:srgbClr val="25324A"/>
                </a:solidFill>
                <a:latin typeface="Times New Roman"/>
                <a:ea typeface="標楷體"/>
                <a:cs typeface="Times New Roman"/>
              </a:rPr>
              <a:t>REST_DURING_GAP =</a:t>
            </a:r>
          </a:p>
          <a:p>
            <a:pPr algn="ctr">
              <a:lnSpc>
                <a:spcPct val="96000"/>
              </a:lnSpc>
              <a:spcBef>
                <a:spcPts val="0"/>
              </a:spcBef>
              <a:spcAft>
                <a:spcPts val="0"/>
              </a:spcAft>
            </a:pPr>
            <a:r>
              <a:rPr sz="1900" b="0" i="1">
                <a:solidFill>
                  <a:srgbClr val="25324A"/>
                </a:solidFill>
                <a:latin typeface="Times New Roman"/>
                <a:ea typeface="標楷體"/>
                <a:cs typeface="Times New Roman"/>
              </a:rPr>
              <a:t>WAIT</a:t>
            </a:r>
            <a:r>
              <a:rPr sz="1900" b="0" i="0">
                <a:solidFill>
                  <a:srgbClr val="25324A"/>
                </a:solidFill>
                <a:latin typeface="Times New Roman"/>
                <a:ea typeface="標楷體"/>
                <a:cs typeface="Times New Roman"/>
              </a:rPr>
              <a:t> + freeze receipt</a:t>
            </a:r>
          </a:p>
        </p:txBody>
      </p:sp>
      <p:sp>
        <p:nvSpPr>
          <p:cNvPr id="11" name="P046 lineage gate connector"/>
          <p:cNvSpPr/>
          <p:nvPr/>
        </p:nvSpPr>
        <p:spPr>
          <a:xfrm>
            <a:off x="7845552" y="2084831"/>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46 lineage 3"/>
          <p:cNvSpPr/>
          <p:nvPr/>
        </p:nvSpPr>
        <p:spPr>
          <a:xfrm>
            <a:off x="8247888" y="1591056"/>
            <a:ext cx="3255264" cy="137160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46 lineage 3 heading"/>
          <p:cNvSpPr txBox="1"/>
          <p:nvPr/>
        </p:nvSpPr>
        <p:spPr>
          <a:xfrm>
            <a:off x="8394192" y="1700784"/>
            <a:ext cx="296265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hidden entry</a:t>
            </a:r>
          </a:p>
        </p:txBody>
      </p:sp>
      <p:sp>
        <p:nvSpPr>
          <p:cNvPr id="14" name="P046 lineage 3 body"/>
          <p:cNvSpPr txBox="1"/>
          <p:nvPr/>
        </p:nvSpPr>
        <p:spPr>
          <a:xfrm>
            <a:off x="8412480" y="2103120"/>
            <a:ext cx="2926080"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frozen policy</a:t>
            </a:r>
          </a:p>
          <a:p>
            <a:pPr algn="ctr">
              <a:lnSpc>
                <a:spcPct val="96000"/>
              </a:lnSpc>
              <a:spcBef>
                <a:spcPts val="0"/>
              </a:spcBef>
              <a:spcAft>
                <a:spcPts val="0"/>
              </a:spcAft>
            </a:pPr>
            <a:r>
              <a:rPr sz="1900" b="0" i="0">
                <a:solidFill>
                  <a:srgbClr val="25324A"/>
                </a:solidFill>
                <a:latin typeface="Times New Roman"/>
                <a:ea typeface="標楷體"/>
                <a:cs typeface="Times New Roman"/>
              </a:rPr>
              <a:t>新 case 條件</a:t>
            </a:r>
          </a:p>
        </p:txBody>
      </p:sp>
      <p:sp>
        <p:nvSpPr>
          <p:cNvPr id="15" name="P046 field card 1"/>
          <p:cNvSpPr/>
          <p:nvPr/>
        </p:nvSpPr>
        <p:spPr>
          <a:xfrm>
            <a:off x="786384" y="3218688"/>
            <a:ext cx="5084064" cy="749808"/>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46 field card 1 heading"/>
          <p:cNvSpPr txBox="1"/>
          <p:nvPr/>
        </p:nvSpPr>
        <p:spPr>
          <a:xfrm>
            <a:off x="932688" y="3282696"/>
            <a:ext cx="4791455" cy="256032"/>
          </a:xfrm>
          <a:prstGeom prst="rect">
            <a:avLst/>
          </a:prstGeom>
          <a:noFill/>
          <a:ln>
            <a:noFill/>
          </a:ln>
        </p:spPr>
        <p:txBody>
          <a:bodyPr wrap="square" anchor="ctr" lIns="9144" tIns="0" rIns="9144" bIns="0">
            <a:spAutoFit/>
          </a:bodyPr>
          <a:lstStyle/>
          <a:p>
            <a:pPr algn="ctr">
              <a:lnSpc>
                <a:spcPct val="92000"/>
              </a:lnSpc>
              <a:spcBef>
                <a:spcPts val="0"/>
              </a:spcBef>
              <a:spcAft>
                <a:spcPts val="0"/>
              </a:spcAft>
            </a:pPr>
            <a:r>
              <a:rPr sz="1600" b="1" i="0">
                <a:solidFill>
                  <a:srgbClr val="660066"/>
                </a:solidFill>
                <a:latin typeface="Times New Roman"/>
                <a:ea typeface="標楷體"/>
                <a:cs typeface="Times New Roman"/>
              </a:rPr>
              <a:t>freeze receipt｜凍結收據</a:t>
            </a:r>
          </a:p>
        </p:txBody>
      </p:sp>
      <p:sp>
        <p:nvSpPr>
          <p:cNvPr id="17" name="P046 field card 1 body"/>
          <p:cNvSpPr txBox="1"/>
          <p:nvPr/>
        </p:nvSpPr>
        <p:spPr>
          <a:xfrm>
            <a:off x="950976" y="3557016"/>
            <a:ext cx="4754879" cy="347471"/>
          </a:xfrm>
          <a:prstGeom prst="rect">
            <a:avLst/>
          </a:prstGeom>
          <a:noFill/>
          <a:ln>
            <a:noFill/>
          </a:ln>
        </p:spPr>
        <p:txBody>
          <a:bodyPr wrap="square" anchor="ctr" lIns="9144" tIns="0" rIns="9144" bIns="0">
            <a:spAutoFit/>
          </a:bodyPr>
          <a:lstStyle/>
          <a:p>
            <a:pPr algn="ctr">
              <a:lnSpc>
                <a:spcPct val="88000"/>
              </a:lnSpc>
              <a:spcBef>
                <a:spcPts val="0"/>
              </a:spcBef>
              <a:spcAft>
                <a:spcPts val="0"/>
              </a:spcAft>
            </a:pPr>
            <a:r>
              <a:rPr sz="1600" b="0" i="0">
                <a:solidFill>
                  <a:srgbClr val="25324A"/>
                </a:solidFill>
                <a:latin typeface="Times New Roman"/>
                <a:ea typeface="標楷體"/>
                <a:cs typeface="Times New Roman"/>
              </a:rPr>
              <a:t>來源：</a:t>
            </a:r>
            <a:r>
              <a:rPr sz="1600" b="0" i="1">
                <a:solidFill>
                  <a:srgbClr val="25324A"/>
                </a:solidFill>
                <a:latin typeface="Times New Roman"/>
                <a:ea typeface="標楷體"/>
                <a:cs typeface="Times New Roman"/>
              </a:rPr>
              <a:t>--freeze</a:t>
            </a:r>
            <a:r>
              <a:rPr sz="1600" b="0" i="0">
                <a:solidFill>
                  <a:srgbClr val="25324A"/>
                </a:solidFill>
                <a:latin typeface="Times New Roman"/>
                <a:ea typeface="標楷體"/>
                <a:cs typeface="Times New Roman"/>
              </a:rPr>
              <a:t> output；hidden gate</a:t>
            </a:r>
          </a:p>
        </p:txBody>
      </p:sp>
      <p:sp>
        <p:nvSpPr>
          <p:cNvPr id="18" name="P046 field card 2"/>
          <p:cNvSpPr/>
          <p:nvPr/>
        </p:nvSpPr>
        <p:spPr>
          <a:xfrm>
            <a:off x="6272784" y="3218688"/>
            <a:ext cx="5084064" cy="749808"/>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46 field card 2 heading"/>
          <p:cNvSpPr txBox="1"/>
          <p:nvPr/>
        </p:nvSpPr>
        <p:spPr>
          <a:xfrm>
            <a:off x="6419088" y="3282696"/>
            <a:ext cx="4791455" cy="256032"/>
          </a:xfrm>
          <a:prstGeom prst="rect">
            <a:avLst/>
          </a:prstGeom>
          <a:noFill/>
          <a:ln>
            <a:noFill/>
          </a:ln>
        </p:spPr>
        <p:txBody>
          <a:bodyPr wrap="square" anchor="ctr" lIns="9144" tIns="0" rIns="9144" bIns="0">
            <a:spAutoFit/>
          </a:bodyPr>
          <a:lstStyle/>
          <a:p>
            <a:pPr algn="ctr">
              <a:lnSpc>
                <a:spcPct val="92000"/>
              </a:lnSpc>
              <a:spcBef>
                <a:spcPts val="0"/>
              </a:spcBef>
              <a:spcAft>
                <a:spcPts val="0"/>
              </a:spcAft>
            </a:pPr>
            <a:r>
              <a:rPr sz="1600" b="1" i="0">
                <a:solidFill>
                  <a:srgbClr val="4967C2"/>
                </a:solidFill>
                <a:latin typeface="Times New Roman"/>
                <a:ea typeface="標楷體"/>
                <a:cs typeface="Times New Roman"/>
              </a:rPr>
              <a:t>checkpoint｜策略快照</a:t>
            </a:r>
          </a:p>
        </p:txBody>
      </p:sp>
      <p:sp>
        <p:nvSpPr>
          <p:cNvPr id="20" name="P046 field card 2 body"/>
          <p:cNvSpPr txBox="1"/>
          <p:nvPr/>
        </p:nvSpPr>
        <p:spPr>
          <a:xfrm>
            <a:off x="6437376" y="3557016"/>
            <a:ext cx="4754879" cy="347471"/>
          </a:xfrm>
          <a:prstGeom prst="rect">
            <a:avLst/>
          </a:prstGeom>
          <a:noFill/>
          <a:ln>
            <a:noFill/>
          </a:ln>
        </p:spPr>
        <p:txBody>
          <a:bodyPr wrap="square" anchor="ctr" lIns="9144" tIns="0" rIns="9144" bIns="0">
            <a:spAutoFit/>
          </a:bodyPr>
          <a:lstStyle/>
          <a:p>
            <a:pPr algn="ctr">
              <a:lnSpc>
                <a:spcPct val="88000"/>
              </a:lnSpc>
              <a:spcBef>
                <a:spcPts val="0"/>
              </a:spcBef>
              <a:spcAft>
                <a:spcPts val="0"/>
              </a:spcAft>
            </a:pPr>
            <a:r>
              <a:rPr sz="1600" b="0" i="0">
                <a:solidFill>
                  <a:srgbClr val="25324A"/>
                </a:solidFill>
                <a:latin typeface="Times New Roman"/>
                <a:ea typeface="標楷體"/>
                <a:cs typeface="Times New Roman"/>
              </a:rPr>
              <a:t>來源：同 run </a:t>
            </a:r>
            <a:r>
              <a:rPr sz="1600" b="0" i="1">
                <a:solidFill>
                  <a:srgbClr val="25324A"/>
                </a:solidFill>
                <a:latin typeface="Times New Roman"/>
                <a:ea typeface="標楷體"/>
                <a:cs typeface="Times New Roman"/>
              </a:rPr>
              <a:t>.json + .py</a:t>
            </a:r>
            <a:r>
              <a:rPr sz="1600" b="0" i="0">
                <a:solidFill>
                  <a:srgbClr val="25324A"/>
                </a:solidFill>
                <a:latin typeface="Times New Roman"/>
                <a:ea typeface="標楷體"/>
                <a:cs typeface="Times New Roman"/>
              </a:rPr>
              <a:t>；復原 policy</a:t>
            </a:r>
          </a:p>
        </p:txBody>
      </p:sp>
      <p:sp>
        <p:nvSpPr>
          <p:cNvPr id="21" name="P046 field card 3"/>
          <p:cNvSpPr/>
          <p:nvPr/>
        </p:nvSpPr>
        <p:spPr>
          <a:xfrm>
            <a:off x="786384" y="4133087"/>
            <a:ext cx="5084064" cy="74980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46 field card 3 heading"/>
          <p:cNvSpPr txBox="1"/>
          <p:nvPr/>
        </p:nvSpPr>
        <p:spPr>
          <a:xfrm>
            <a:off x="932688" y="4197096"/>
            <a:ext cx="4791455" cy="256032"/>
          </a:xfrm>
          <a:prstGeom prst="rect">
            <a:avLst/>
          </a:prstGeom>
          <a:noFill/>
          <a:ln>
            <a:noFill/>
          </a:ln>
        </p:spPr>
        <p:txBody>
          <a:bodyPr wrap="square" anchor="ctr" lIns="9144" tIns="0" rIns="9144" bIns="0">
            <a:spAutoFit/>
          </a:bodyPr>
          <a:lstStyle/>
          <a:p>
            <a:pPr algn="ctr">
              <a:lnSpc>
                <a:spcPct val="92000"/>
              </a:lnSpc>
              <a:spcBef>
                <a:spcPts val="0"/>
              </a:spcBef>
              <a:spcAft>
                <a:spcPts val="0"/>
              </a:spcAft>
            </a:pPr>
            <a:r>
              <a:rPr sz="1600" b="1" i="0">
                <a:solidFill>
                  <a:srgbClr val="007374"/>
                </a:solidFill>
                <a:latin typeface="Times New Roman"/>
                <a:ea typeface="標楷體"/>
                <a:cs typeface="Times New Roman"/>
              </a:rPr>
              <a:t>predecessor｜前序 policy</a:t>
            </a:r>
          </a:p>
        </p:txBody>
      </p:sp>
      <p:sp>
        <p:nvSpPr>
          <p:cNvPr id="23" name="P046 field card 3 body"/>
          <p:cNvSpPr txBox="1"/>
          <p:nvPr/>
        </p:nvSpPr>
        <p:spPr>
          <a:xfrm>
            <a:off x="950976" y="4471416"/>
            <a:ext cx="4754879" cy="347471"/>
          </a:xfrm>
          <a:prstGeom prst="rect">
            <a:avLst/>
          </a:prstGeom>
          <a:noFill/>
          <a:ln>
            <a:noFill/>
          </a:ln>
        </p:spPr>
        <p:txBody>
          <a:bodyPr wrap="square" anchor="ctr" lIns="9144" tIns="0" rIns="9144" bIns="0">
            <a:spAutoFit/>
          </a:bodyPr>
          <a:lstStyle/>
          <a:p>
            <a:pPr algn="ctr">
              <a:lnSpc>
                <a:spcPct val="88000"/>
              </a:lnSpc>
              <a:spcBef>
                <a:spcPts val="0"/>
              </a:spcBef>
              <a:spcAft>
                <a:spcPts val="0"/>
              </a:spcAft>
            </a:pPr>
            <a:r>
              <a:rPr sz="1600" b="0" i="0">
                <a:solidFill>
                  <a:srgbClr val="25324A"/>
                </a:solidFill>
                <a:latin typeface="Times New Roman"/>
                <a:ea typeface="標楷體"/>
                <a:cs typeface="Times New Roman"/>
              </a:rPr>
              <a:t>來源：freeze receipt；edit 前 control</a:t>
            </a:r>
          </a:p>
        </p:txBody>
      </p:sp>
      <p:sp>
        <p:nvSpPr>
          <p:cNvPr id="24" name="P046 field card 4"/>
          <p:cNvSpPr/>
          <p:nvPr/>
        </p:nvSpPr>
        <p:spPr>
          <a:xfrm>
            <a:off x="6272784" y="4133087"/>
            <a:ext cx="5084064" cy="749808"/>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46 field card 4 heading"/>
          <p:cNvSpPr txBox="1"/>
          <p:nvPr/>
        </p:nvSpPr>
        <p:spPr>
          <a:xfrm>
            <a:off x="6419088" y="4197096"/>
            <a:ext cx="4791455" cy="256032"/>
          </a:xfrm>
          <a:prstGeom prst="rect">
            <a:avLst/>
          </a:prstGeom>
          <a:noFill/>
          <a:ln>
            <a:noFill/>
          </a:ln>
        </p:spPr>
        <p:txBody>
          <a:bodyPr wrap="square" anchor="ctr" lIns="9144" tIns="0" rIns="9144" bIns="0">
            <a:spAutoFit/>
          </a:bodyPr>
          <a:lstStyle/>
          <a:p>
            <a:pPr algn="ctr">
              <a:lnSpc>
                <a:spcPct val="92000"/>
              </a:lnSpc>
              <a:spcBef>
                <a:spcPts val="0"/>
              </a:spcBef>
              <a:spcAft>
                <a:spcPts val="0"/>
              </a:spcAft>
            </a:pPr>
            <a:r>
              <a:rPr sz="1600" b="1" i="0">
                <a:solidFill>
                  <a:srgbClr val="846826"/>
                </a:solidFill>
                <a:latin typeface="Times New Roman"/>
                <a:ea typeface="標楷體"/>
                <a:cs typeface="Times New Roman"/>
              </a:rPr>
              <a:t>active_block_id｜作用區塊</a:t>
            </a:r>
          </a:p>
        </p:txBody>
      </p:sp>
      <p:sp>
        <p:nvSpPr>
          <p:cNvPr id="26" name="P046 field card 4 body"/>
          <p:cNvSpPr txBox="1"/>
          <p:nvPr/>
        </p:nvSpPr>
        <p:spPr>
          <a:xfrm>
            <a:off x="6437376" y="4471416"/>
            <a:ext cx="4754879" cy="347471"/>
          </a:xfrm>
          <a:prstGeom prst="rect">
            <a:avLst/>
          </a:prstGeom>
          <a:noFill/>
          <a:ln>
            <a:noFill/>
          </a:ln>
        </p:spPr>
        <p:txBody>
          <a:bodyPr wrap="square" anchor="ctr" lIns="9144" tIns="0" rIns="9144" bIns="0">
            <a:spAutoFit/>
          </a:bodyPr>
          <a:lstStyle/>
          <a:p>
            <a:pPr algn="ctr">
              <a:lnSpc>
                <a:spcPct val="88000"/>
              </a:lnSpc>
              <a:spcBef>
                <a:spcPts val="0"/>
              </a:spcBef>
              <a:spcAft>
                <a:spcPts val="0"/>
              </a:spcAft>
            </a:pPr>
            <a:r>
              <a:rPr sz="1600" b="0" i="0">
                <a:solidFill>
                  <a:srgbClr val="25324A"/>
                </a:solidFill>
                <a:latin typeface="Times New Roman"/>
                <a:ea typeface="標楷體"/>
                <a:cs typeface="Times New Roman"/>
              </a:rPr>
              <a:t>來源：freeze receipt；唯一 marked block</a:t>
            </a:r>
          </a:p>
        </p:txBody>
      </p:sp>
      <p:sp>
        <p:nvSpPr>
          <p:cNvPr id="27" name="Mechanism label"/>
          <p:cNvSpPr/>
          <p:nvPr/>
        </p:nvSpPr>
        <p:spPr>
          <a:xfrm>
            <a:off x="1938528" y="5102352"/>
            <a:ext cx="8321040" cy="310896"/>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entry rule：checkpoint 存在、identity 對得上，才進入 hidden</a:t>
            </a:r>
          </a:p>
        </p:txBody>
      </p:sp>
      <p:sp>
        <p:nvSpPr>
          <p:cNvPr id="28" name="Evidence status"/>
          <p:cNvSpPr/>
          <p:nvPr/>
        </p:nvSpPr>
        <p:spPr>
          <a:xfrm>
            <a:off x="804672" y="5468112"/>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P047｜A hidden：frozen policy 的反例</a:t>
            </a:r>
          </a:p>
        </p:txBody>
      </p:sp>
      <p:sp>
        <p:nvSpPr>
          <p:cNvPr id="3" name="P047 lead"/>
          <p:cNvSpPr txBox="1"/>
          <p:nvPr/>
        </p:nvSpPr>
        <p:spPr>
          <a:xfrm>
            <a:off x="877824" y="960120"/>
            <a:ext cx="10287000"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withheld case 改變條件，不改 policy；結果界定 claim ceiling。</a:t>
            </a:r>
          </a:p>
        </p:txBody>
      </p:sp>
      <p:sp>
        <p:nvSpPr>
          <p:cNvPr id="4" name="P047 frozen policy"/>
          <p:cNvSpPr/>
          <p:nvPr/>
        </p:nvSpPr>
        <p:spPr>
          <a:xfrm>
            <a:off x="786384" y="1572768"/>
            <a:ext cx="5102352" cy="237744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47 frozen policy heading"/>
          <p:cNvSpPr txBox="1"/>
          <p:nvPr/>
        </p:nvSpPr>
        <p:spPr>
          <a:xfrm>
            <a:off x="932688" y="1682495"/>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FROZEN POLICY｜凍結策略</a:t>
            </a:r>
          </a:p>
        </p:txBody>
      </p:sp>
      <p:sp>
        <p:nvSpPr>
          <p:cNvPr id="6" name="P047 frozen policy body"/>
          <p:cNvSpPr txBox="1"/>
          <p:nvPr/>
        </p:nvSpPr>
        <p:spPr>
          <a:xfrm>
            <a:off x="950976" y="2084832"/>
            <a:ext cx="4773168" cy="175564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2000" b="0" i="0">
                <a:solidFill>
                  <a:srgbClr val="25324A"/>
                </a:solidFill>
                <a:latin typeface="Times New Roman"/>
                <a:ea typeface="標楷體"/>
                <a:cs typeface="Times New Roman"/>
              </a:rPr>
              <a:t>來源：A checkpoint</a:t>
            </a:r>
          </a:p>
          <a:p>
            <a:pPr algn="ctr">
              <a:lnSpc>
                <a:spcPct val="96000"/>
              </a:lnSpc>
              <a:spcBef>
                <a:spcPts val="0"/>
              </a:spcBef>
              <a:spcAft>
                <a:spcPts val="0"/>
              </a:spcAft>
            </a:pPr>
            <a:r>
              <a:rPr sz="2000" b="0" i="1">
                <a:solidFill>
                  <a:srgbClr val="25324A"/>
                </a:solidFill>
                <a:latin typeface="Times New Roman"/>
                <a:ea typeface="標楷體"/>
                <a:cs typeface="Times New Roman"/>
              </a:rPr>
              <a:t>REST_DURING_GAP = WAIT</a:t>
            </a:r>
            <a:r>
              <a:rPr sz="2000" b="0" i="0">
                <a:solidFill>
                  <a:srgbClr val="25324A"/>
                </a:solidFill>
                <a:latin typeface="Times New Roman"/>
                <a:ea typeface="標楷體"/>
                <a:cs typeface="Times New Roman"/>
              </a:rPr>
              <a:t> 保持不變</a:t>
            </a:r>
          </a:p>
          <a:p>
            <a:pPr algn="ctr">
              <a:lnSpc>
                <a:spcPct val="96000"/>
              </a:lnSpc>
              <a:spcBef>
                <a:spcPts val="0"/>
              </a:spcBef>
              <a:spcAft>
                <a:spcPts val="0"/>
              </a:spcAft>
            </a:pPr>
            <a:r>
              <a:rPr sz="2000" b="0" i="0">
                <a:solidFill>
                  <a:srgbClr val="25324A"/>
                </a:solidFill>
                <a:latin typeface="Times New Roman"/>
                <a:ea typeface="標楷體"/>
                <a:cs typeface="Times New Roman"/>
              </a:rPr>
              <a:t>新 freeze：0</a:t>
            </a:r>
          </a:p>
          <a:p>
            <a:pPr algn="ctr">
              <a:lnSpc>
                <a:spcPct val="96000"/>
              </a:lnSpc>
              <a:spcBef>
                <a:spcPts val="0"/>
              </a:spcBef>
              <a:spcAft>
                <a:spcPts val="0"/>
              </a:spcAft>
            </a:pPr>
            <a:r>
              <a:rPr sz="2000" b="0" i="0">
                <a:solidFill>
                  <a:srgbClr val="25324A"/>
                </a:solidFill>
                <a:latin typeface="Times New Roman"/>
                <a:ea typeface="標楷體"/>
                <a:cs typeface="Times New Roman"/>
              </a:rPr>
              <a:t>policy edit：0</a:t>
            </a:r>
          </a:p>
          <a:p>
            <a:pPr algn="ctr">
              <a:lnSpc>
                <a:spcPct val="96000"/>
              </a:lnSpc>
              <a:spcBef>
                <a:spcPts val="0"/>
              </a:spcBef>
              <a:spcAft>
                <a:spcPts val="0"/>
              </a:spcAft>
            </a:pPr>
            <a:r>
              <a:rPr sz="2000" b="0" i="0">
                <a:solidFill>
                  <a:srgbClr val="25324A"/>
                </a:solidFill>
                <a:latin typeface="Times New Roman"/>
                <a:ea typeface="標楷體"/>
                <a:cs typeface="Times New Roman"/>
              </a:rPr>
              <a:t>同一 policy identity + 新 case</a:t>
            </a:r>
          </a:p>
        </p:txBody>
      </p:sp>
      <p:sp>
        <p:nvSpPr>
          <p:cNvPr id="7" name="P047 hidden evidence"/>
          <p:cNvSpPr/>
          <p:nvPr/>
        </p:nvSpPr>
        <p:spPr>
          <a:xfrm>
            <a:off x="6272784" y="1572768"/>
            <a:ext cx="5102352" cy="23774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47 hidden evidence heading"/>
          <p:cNvSpPr txBox="1"/>
          <p:nvPr/>
        </p:nvSpPr>
        <p:spPr>
          <a:xfrm>
            <a:off x="6419088" y="1682495"/>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WITHHELD EVIDENCE｜保留條件證據</a:t>
            </a:r>
          </a:p>
        </p:txBody>
      </p:sp>
      <p:sp>
        <p:nvSpPr>
          <p:cNvPr id="9" name="P047 hidden evidence body"/>
          <p:cNvSpPr txBox="1"/>
          <p:nvPr/>
        </p:nvSpPr>
        <p:spPr>
          <a:xfrm>
            <a:off x="6437376" y="2084832"/>
            <a:ext cx="4773168" cy="175564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0">
                <a:solidFill>
                  <a:srgbClr val="25324A"/>
                </a:solidFill>
                <a:latin typeface="Times New Roman"/>
                <a:ea typeface="標楷體"/>
                <a:cs typeface="Times New Roman"/>
              </a:rPr>
              <a:t>來源：P042 第三條 stdout </a:t>
            </a:r>
            <a:r>
              <a:rPr sz="1800" b="0" i="1">
                <a:solidFill>
                  <a:srgbClr val="25324A"/>
                </a:solidFill>
                <a:latin typeface="Times New Roman"/>
                <a:ea typeface="標楷體"/>
                <a:cs typeface="Times New Roman"/>
              </a:rPr>
              <a:t>result_path</a:t>
            </a:r>
          </a:p>
          <a:p>
            <a:pPr algn="ctr">
              <a:lnSpc>
                <a:spcPct val="96000"/>
              </a:lnSpc>
              <a:spcBef>
                <a:spcPts val="0"/>
              </a:spcBef>
              <a:spcAft>
                <a:spcPts val="0"/>
              </a:spcAft>
            </a:pPr>
            <a:r>
              <a:rPr sz="1800" b="0" i="0">
                <a:solidFill>
                  <a:srgbClr val="25324A"/>
                </a:solidFill>
                <a:latin typeface="Times New Roman"/>
                <a:ea typeface="標楷體"/>
                <a:cs typeface="Times New Roman"/>
              </a:rPr>
              <a:t>條件：hidden contact／traffic</a:t>
            </a:r>
          </a:p>
          <a:p>
            <a:pPr algn="ctr">
              <a:lnSpc>
                <a:spcPct val="96000"/>
              </a:lnSpc>
              <a:spcBef>
                <a:spcPts val="0"/>
              </a:spcBef>
              <a:spcAft>
                <a:spcPts val="0"/>
              </a:spcAft>
            </a:pPr>
            <a:r>
              <a:rPr sz="1800" b="0" i="1">
                <a:solidFill>
                  <a:srgbClr val="25324A"/>
                </a:solidFill>
                <a:latin typeface="Times New Roman"/>
                <a:ea typeface="標楷體"/>
                <a:cs typeface="Times New Roman"/>
              </a:rPr>
              <a:t>endpoint_energy_j</a:t>
            </a:r>
            <a:r>
              <a:rPr sz="1800" b="0" i="0">
                <a:solidFill>
                  <a:srgbClr val="25324A"/>
                </a:solidFill>
                <a:latin typeface="Times New Roman"/>
                <a:ea typeface="標楷體"/>
                <a:cs typeface="Times New Roman"/>
              </a:rPr>
              <a:t>（端點能量）：待補 J</a:t>
            </a:r>
          </a:p>
          <a:p>
            <a:pPr algn="ctr">
              <a:lnSpc>
                <a:spcPct val="96000"/>
              </a:lnSpc>
              <a:spcBef>
                <a:spcPts val="0"/>
              </a:spcBef>
              <a:spcAft>
                <a:spcPts val="0"/>
              </a:spcAft>
            </a:pPr>
            <a:r>
              <a:rPr sz="1800" b="0" i="1">
                <a:solidFill>
                  <a:srgbClr val="25324A"/>
                </a:solidFill>
                <a:latin typeface="Times New Roman"/>
                <a:ea typeface="標楷體"/>
                <a:cs typeface="Times New Roman"/>
              </a:rPr>
              <a:t>delivered_bits</a:t>
            </a:r>
            <a:r>
              <a:rPr sz="1800" b="0" i="0">
                <a:solidFill>
                  <a:srgbClr val="25324A"/>
                </a:solidFill>
                <a:latin typeface="Times New Roman"/>
                <a:ea typeface="標楷體"/>
                <a:cs typeface="Times New Roman"/>
              </a:rPr>
              <a:t>（交付資料）：待補 bit</a:t>
            </a:r>
          </a:p>
          <a:p>
            <a:pPr algn="ctr">
              <a:lnSpc>
                <a:spcPct val="96000"/>
              </a:lnSpc>
              <a:spcBef>
                <a:spcPts val="0"/>
              </a:spcBef>
              <a:spcAft>
                <a:spcPts val="0"/>
              </a:spcAft>
            </a:pPr>
            <a:r>
              <a:rPr sz="1800" b="0" i="1">
                <a:solidFill>
                  <a:srgbClr val="25324A"/>
                </a:solidFill>
                <a:latin typeface="Times New Roman"/>
                <a:ea typeface="標楷體"/>
                <a:cs typeface="Times New Roman"/>
              </a:rPr>
              <a:t>service_pass</a:t>
            </a:r>
            <a:r>
              <a:rPr sz="1800" b="0" i="0">
                <a:solidFill>
                  <a:srgbClr val="25324A"/>
                </a:solidFill>
                <a:latin typeface="Times New Roman"/>
                <a:ea typeface="標楷體"/>
                <a:cs typeface="Times New Roman"/>
              </a:rPr>
              <a:t>（服務布林狀態）：待補</a:t>
            </a:r>
          </a:p>
        </p:txBody>
      </p:sp>
      <p:sp>
        <p:nvSpPr>
          <p:cNvPr id="10" name="P047 claim ceiling"/>
          <p:cNvSpPr/>
          <p:nvPr/>
        </p:nvSpPr>
        <p:spPr>
          <a:xfrm>
            <a:off x="914400" y="4261104"/>
            <a:ext cx="10369296" cy="76809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47 counterexample text"/>
          <p:cNvSpPr txBox="1"/>
          <p:nvPr/>
        </p:nvSpPr>
        <p:spPr>
          <a:xfrm>
            <a:off x="1097280" y="4407408"/>
            <a:ext cx="10003536" cy="457200"/>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992A2A"/>
                </a:solidFill>
                <a:latin typeface="Times New Roman"/>
                <a:ea typeface="標楷體"/>
                <a:cs typeface="Times New Roman"/>
              </a:rPr>
              <a:t>counterexample：同一 policy identity 在新 case 出現不同 outcome；結論只限於可支持的條件。</a:t>
            </a:r>
          </a:p>
        </p:txBody>
      </p:sp>
      <p:sp>
        <p:nvSpPr>
          <p:cNvPr id="12" name="Mechanism label"/>
          <p:cNvSpPr/>
          <p:nvPr/>
        </p:nvSpPr>
        <p:spPr>
          <a:xfrm>
            <a:off x="1938528" y="5175504"/>
            <a:ext cx="8321040" cy="393192"/>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800" b="1" i="0">
                <a:solidFill>
                  <a:srgbClr val="25356B"/>
                </a:solidFill>
                <a:latin typeface="Times New Roman"/>
                <a:ea typeface="標楷體"/>
                <a:cs typeface="Times New Roman"/>
              </a:rPr>
              <a:t>withheld = 檢驗條件；frozen = 不再調參</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P048｜Lab A 結論：用因果句讀 state 與 J</a:t>
            </a:r>
          </a:p>
        </p:txBody>
      </p:sp>
      <p:sp>
        <p:nvSpPr>
          <p:cNvPr id="3" name="P048 lead"/>
          <p:cNvSpPr txBox="1"/>
          <p:nvPr/>
        </p:nvSpPr>
        <p:spPr>
          <a:xfrm>
            <a:off x="877824" y="960120"/>
            <a:ext cx="10296144"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結論要連到 state、service 與 endpoint J，不只報一個數。</a:t>
            </a:r>
          </a:p>
        </p:txBody>
      </p:sp>
      <p:sp>
        <p:nvSpPr>
          <p:cNvPr id="4" name="P048 causal node 1"/>
          <p:cNvSpPr/>
          <p:nvPr/>
        </p:nvSpPr>
        <p:spPr>
          <a:xfrm>
            <a:off x="566928" y="1572768"/>
            <a:ext cx="2542032" cy="137160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48 causal node 1 heading"/>
          <p:cNvSpPr txBox="1"/>
          <p:nvPr/>
        </p:nvSpPr>
        <p:spPr>
          <a:xfrm>
            <a:off x="713232"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條件</a:t>
            </a:r>
          </a:p>
        </p:txBody>
      </p:sp>
      <p:sp>
        <p:nvSpPr>
          <p:cNvPr id="6" name="P048 causal node 1 body"/>
          <p:cNvSpPr txBox="1"/>
          <p:nvPr/>
        </p:nvSpPr>
        <p:spPr>
          <a:xfrm>
            <a:off x="731520" y="2084832"/>
            <a:ext cx="2212848"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同一 scenario</a:t>
            </a:r>
          </a:p>
          <a:p>
            <a:pPr algn="ctr">
              <a:lnSpc>
                <a:spcPct val="96000"/>
              </a:lnSpc>
              <a:spcBef>
                <a:spcPts val="0"/>
              </a:spcBef>
              <a:spcAft>
                <a:spcPts val="0"/>
              </a:spcAft>
            </a:pPr>
            <a:r>
              <a:rPr sz="1900" b="0" i="0">
                <a:solidFill>
                  <a:srgbClr val="25324A"/>
                </a:solidFill>
                <a:latin typeface="Times New Roman"/>
                <a:ea typeface="標楷體"/>
                <a:cs typeface="Times New Roman"/>
              </a:rPr>
              <a:t>A frozen identity</a:t>
            </a:r>
          </a:p>
        </p:txBody>
      </p:sp>
      <p:sp>
        <p:nvSpPr>
          <p:cNvPr id="7" name="P048 causal connector"/>
          <p:cNvSpPr/>
          <p:nvPr/>
        </p:nvSpPr>
        <p:spPr>
          <a:xfrm>
            <a:off x="3200400" y="2084831"/>
            <a:ext cx="310896" cy="38404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48 causal node 2"/>
          <p:cNvSpPr/>
          <p:nvPr/>
        </p:nvSpPr>
        <p:spPr>
          <a:xfrm>
            <a:off x="3401568" y="1572768"/>
            <a:ext cx="2542032" cy="137160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48 causal node 2 heading"/>
          <p:cNvSpPr txBox="1"/>
          <p:nvPr/>
        </p:nvSpPr>
        <p:spPr>
          <a:xfrm>
            <a:off x="3547872"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state mechanism</a:t>
            </a:r>
          </a:p>
        </p:txBody>
      </p:sp>
      <p:sp>
        <p:nvSpPr>
          <p:cNvPr id="10" name="P048 causal node 2 body"/>
          <p:cNvSpPr txBox="1"/>
          <p:nvPr/>
        </p:nvSpPr>
        <p:spPr>
          <a:xfrm>
            <a:off x="3566160" y="2084832"/>
            <a:ext cx="2212848"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1">
                <a:solidFill>
                  <a:srgbClr val="25324A"/>
                </a:solidFill>
                <a:latin typeface="Times New Roman"/>
                <a:ea typeface="標楷體"/>
                <a:cs typeface="Times New Roman"/>
              </a:rPr>
              <a:t>WAIT</a:t>
            </a:r>
            <a:r>
              <a:rPr sz="1900" b="0" i="0">
                <a:solidFill>
                  <a:srgbClr val="25324A"/>
                </a:solidFill>
                <a:latin typeface="Times New Roman"/>
                <a:ea typeface="標楷體"/>
                <a:cs typeface="Times New Roman"/>
              </a:rPr>
              <a:t>／</a:t>
            </a:r>
            <a:r>
              <a:rPr sz="1900" b="0" i="1">
                <a:solidFill>
                  <a:srgbClr val="25324A"/>
                </a:solidFill>
                <a:latin typeface="Times New Roman"/>
                <a:ea typeface="標楷體"/>
                <a:cs typeface="Times New Roman"/>
              </a:rPr>
              <a:t>SLEEP</a:t>
            </a:r>
          </a:p>
          <a:p>
            <a:pPr algn="ctr">
              <a:lnSpc>
                <a:spcPct val="96000"/>
              </a:lnSpc>
              <a:spcBef>
                <a:spcPts val="0"/>
              </a:spcBef>
              <a:spcAft>
                <a:spcPts val="0"/>
              </a:spcAft>
            </a:pPr>
            <a:r>
              <a:rPr sz="1900" b="0" i="0">
                <a:solidFill>
                  <a:srgbClr val="25324A"/>
                </a:solidFill>
                <a:latin typeface="Times New Roman"/>
                <a:ea typeface="標楷體"/>
                <a:cs typeface="Times New Roman"/>
              </a:rPr>
              <a:t>state interval</a:t>
            </a:r>
          </a:p>
        </p:txBody>
      </p:sp>
      <p:sp>
        <p:nvSpPr>
          <p:cNvPr id="11" name="P048 causal connector"/>
          <p:cNvSpPr/>
          <p:nvPr/>
        </p:nvSpPr>
        <p:spPr>
          <a:xfrm>
            <a:off x="6035040" y="2084831"/>
            <a:ext cx="310896" cy="384048"/>
          </a:xfrm>
          <a:prstGeom prst="chevron">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48 causal node 3"/>
          <p:cNvSpPr/>
          <p:nvPr/>
        </p:nvSpPr>
        <p:spPr>
          <a:xfrm>
            <a:off x="6236208" y="1572768"/>
            <a:ext cx="2542032" cy="137160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48 causal node 3 heading"/>
          <p:cNvSpPr txBox="1"/>
          <p:nvPr/>
        </p:nvSpPr>
        <p:spPr>
          <a:xfrm>
            <a:off x="6382512"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packet／service</a:t>
            </a:r>
          </a:p>
        </p:txBody>
      </p:sp>
      <p:sp>
        <p:nvSpPr>
          <p:cNvPr id="14" name="P048 causal node 3 body"/>
          <p:cNvSpPr txBox="1"/>
          <p:nvPr/>
        </p:nvSpPr>
        <p:spPr>
          <a:xfrm>
            <a:off x="6400800" y="2084832"/>
            <a:ext cx="2212848"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delivery、deadline、freshness</a:t>
            </a:r>
          </a:p>
          <a:p>
            <a:pPr algn="ctr">
              <a:lnSpc>
                <a:spcPct val="96000"/>
              </a:lnSpc>
              <a:spcBef>
                <a:spcPts val="0"/>
              </a:spcBef>
              <a:spcAft>
                <a:spcPts val="0"/>
              </a:spcAft>
            </a:pPr>
            <a:r>
              <a:rPr sz="1900" b="0" i="0">
                <a:solidFill>
                  <a:srgbClr val="25324A"/>
                </a:solidFill>
                <a:latin typeface="Times New Roman"/>
                <a:ea typeface="標楷體"/>
                <a:cs typeface="Times New Roman"/>
              </a:rPr>
              <a:t>service gate</a:t>
            </a:r>
          </a:p>
        </p:txBody>
      </p:sp>
      <p:sp>
        <p:nvSpPr>
          <p:cNvPr id="15" name="P048 causal connector"/>
          <p:cNvSpPr/>
          <p:nvPr/>
        </p:nvSpPr>
        <p:spPr>
          <a:xfrm>
            <a:off x="8869680" y="2084831"/>
            <a:ext cx="310896" cy="38404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48 causal node 4"/>
          <p:cNvSpPr/>
          <p:nvPr/>
        </p:nvSpPr>
        <p:spPr>
          <a:xfrm>
            <a:off x="9070848" y="1572768"/>
            <a:ext cx="2542032" cy="137160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48 causal node 4 heading"/>
          <p:cNvSpPr txBox="1"/>
          <p:nvPr/>
        </p:nvSpPr>
        <p:spPr>
          <a:xfrm>
            <a:off x="9217152"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endpoint J</a:t>
            </a:r>
          </a:p>
        </p:txBody>
      </p:sp>
      <p:sp>
        <p:nvSpPr>
          <p:cNvPr id="18" name="P048 causal node 4 body"/>
          <p:cNvSpPr txBox="1"/>
          <p:nvPr/>
        </p:nvSpPr>
        <p:spPr>
          <a:xfrm>
            <a:off x="9235440" y="2084832"/>
            <a:ext cx="2212848"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1">
                <a:solidFill>
                  <a:srgbClr val="25324A"/>
                </a:solidFill>
                <a:latin typeface="Times New Roman"/>
                <a:ea typeface="標楷體"/>
                <a:cs typeface="Times New Roman"/>
              </a:rPr>
              <a:t>endpoint_energy_j</a:t>
            </a:r>
          </a:p>
          <a:p>
            <a:pPr algn="ctr">
              <a:lnSpc>
                <a:spcPct val="96000"/>
              </a:lnSpc>
              <a:spcBef>
                <a:spcPts val="0"/>
              </a:spcBef>
              <a:spcAft>
                <a:spcPts val="0"/>
              </a:spcAft>
            </a:pPr>
            <a:r>
              <a:rPr sz="1900" b="0" i="0">
                <a:solidFill>
                  <a:srgbClr val="25324A"/>
                </a:solidFill>
                <a:latin typeface="Times New Roman"/>
                <a:ea typeface="標楷體"/>
                <a:cs typeface="Times New Roman"/>
              </a:rPr>
              <a:t>端點 radio／processing</a:t>
            </a:r>
          </a:p>
        </p:txBody>
      </p:sp>
      <p:sp>
        <p:nvSpPr>
          <p:cNvPr id="19" name="P048 sentence builder"/>
          <p:cNvSpPr/>
          <p:nvPr/>
        </p:nvSpPr>
        <p:spPr>
          <a:xfrm>
            <a:off x="841248" y="3310128"/>
            <a:ext cx="10497312" cy="1024128"/>
          </a:xfrm>
          <a:prstGeom prst="roundRect">
            <a:avLst/>
          </a:prstGeom>
          <a:solidFill>
            <a:srgbClr val="FFF9E6"/>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48 sentence text"/>
          <p:cNvSpPr txBox="1"/>
          <p:nvPr/>
        </p:nvSpPr>
        <p:spPr>
          <a:xfrm>
            <a:off x="1042415" y="3493008"/>
            <a:ext cx="10094976" cy="658368"/>
          </a:xfrm>
          <a:prstGeom prst="rect">
            <a:avLst/>
          </a:prstGeom>
          <a:noFill/>
          <a:ln>
            <a:noFill/>
          </a:ln>
        </p:spPr>
        <p:txBody>
          <a:bodyPr wrap="square" anchor="ctr" lIns="45720" tIns="9144" rIns="45720" bIns="9144">
            <a:spAutoFit/>
          </a:bodyPr>
          <a:lstStyle/>
          <a:p>
            <a:pPr algn="ctr">
              <a:lnSpc>
                <a:spcPct val="95000"/>
              </a:lnSpc>
              <a:spcBef>
                <a:spcPts val="0"/>
              </a:spcBef>
              <a:spcAft>
                <a:spcPts val="0"/>
              </a:spcAft>
            </a:pPr>
            <a:r>
              <a:rPr sz="2000" b="1" i="0">
                <a:solidFill>
                  <a:srgbClr val="25356B"/>
                </a:solidFill>
                <a:latin typeface="Times New Roman"/>
                <a:ea typeface="標楷體"/>
                <a:cs typeface="Times New Roman"/>
              </a:rPr>
              <a:t>在 ______ trace，</a:t>
            </a:r>
            <a:r>
              <a:rPr sz="2000" b="1" i="1">
                <a:solidFill>
                  <a:srgbClr val="25356B"/>
                </a:solidFill>
                <a:latin typeface="Times New Roman"/>
                <a:ea typeface="標楷體"/>
                <a:cs typeface="Times New Roman"/>
              </a:rPr>
              <a:t>REST_DURING_GAP</a:t>
            </a:r>
            <a:r>
              <a:rPr sz="2000" b="1" i="0">
                <a:solidFill>
                  <a:srgbClr val="25356B"/>
                </a:solidFill>
                <a:latin typeface="Times New Roman"/>
                <a:ea typeface="標楷體"/>
                <a:cs typeface="Times New Roman"/>
              </a:rPr>
              <a:t> 從 </a:t>
            </a:r>
            <a:r>
              <a:rPr sz="2000" b="1" i="1">
                <a:solidFill>
                  <a:srgbClr val="25356B"/>
                </a:solidFill>
                <a:latin typeface="Times New Roman"/>
                <a:ea typeface="標楷體"/>
                <a:cs typeface="Times New Roman"/>
              </a:rPr>
              <a:t>SLEEP</a:t>
            </a:r>
            <a:r>
              <a:rPr sz="2000" b="1" i="0">
                <a:solidFill>
                  <a:srgbClr val="25356B"/>
                </a:solidFill>
                <a:latin typeface="Times New Roman"/>
                <a:ea typeface="標楷體"/>
                <a:cs typeface="Times New Roman"/>
              </a:rPr>
              <a:t> 改為 </a:t>
            </a:r>
            <a:r>
              <a:rPr sz="2000" b="1" i="1">
                <a:solidFill>
                  <a:srgbClr val="25356B"/>
                </a:solidFill>
                <a:latin typeface="Times New Roman"/>
                <a:ea typeface="標楷體"/>
                <a:cs typeface="Times New Roman"/>
              </a:rPr>
              <a:t>WAIT</a:t>
            </a:r>
            <a:r>
              <a:rPr sz="2000" b="1" i="0">
                <a:solidFill>
                  <a:srgbClr val="25356B"/>
                </a:solidFill>
                <a:latin typeface="Times New Roman"/>
                <a:ea typeface="標楷體"/>
                <a:cs typeface="Times New Roman"/>
              </a:rPr>
              <a:t>，透過 ______ state 改變 ______ packet／service evidence；</a:t>
            </a:r>
            <a:r>
              <a:rPr sz="2000" b="1" i="1">
                <a:solidFill>
                  <a:srgbClr val="25356B"/>
                </a:solidFill>
                <a:latin typeface="Times New Roman"/>
                <a:ea typeface="標楷體"/>
                <a:cs typeface="Times New Roman"/>
              </a:rPr>
              <a:t>endpoint_energy_j</a:t>
            </a:r>
            <a:r>
              <a:rPr sz="2000" b="1" i="0">
                <a:solidFill>
                  <a:srgbClr val="25356B"/>
                </a:solidFill>
                <a:latin typeface="Times New Roman"/>
                <a:ea typeface="標楷體"/>
                <a:cs typeface="Times New Roman"/>
              </a:rPr>
              <a:t> ______。hidden trace ______，因此結論限於 ______。</a:t>
            </a:r>
          </a:p>
        </p:txBody>
      </p:sp>
      <p:sp>
        <p:nvSpPr>
          <p:cNvPr id="21" name="Mechanism label"/>
          <p:cNvSpPr/>
          <p:nvPr/>
        </p:nvSpPr>
        <p:spPr>
          <a:xfrm>
            <a:off x="1225296" y="4663440"/>
            <a:ext cx="9729216" cy="438912"/>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800" b="1" i="0">
                <a:solidFill>
                  <a:srgbClr val="25356B"/>
                </a:solidFill>
                <a:latin typeface="Times New Roman"/>
                <a:ea typeface="標楷體"/>
                <a:cs typeface="Times New Roman"/>
              </a:rPr>
              <a:t>三個 result／replay pair 的 identity、state、service 與 J 共同決定句子內容</a:t>
            </a:r>
          </a:p>
        </p:txBody>
      </p:sp>
      <p:sp>
        <p:nvSpPr>
          <p:cNvPr id="22"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P049｜Lab B：品質 hold 的窗口邊界</a:t>
            </a:r>
          </a:p>
        </p:txBody>
      </p:sp>
      <p:sp>
        <p:nvSpPr>
          <p:cNvPr id="3" name="P049 lead"/>
          <p:cNvSpPr txBox="1"/>
          <p:nvPr/>
        </p:nvSpPr>
        <p:spPr>
          <a:xfrm>
            <a:off x="859536" y="960120"/>
            <a:ext cx="10378440" cy="420624"/>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品質 hold 改變 send-ready timing；窗口會決定代價。</a:t>
            </a:r>
          </a:p>
        </p:txBody>
      </p:sp>
      <p:sp>
        <p:nvSpPr>
          <p:cNvPr id="4" name="P049 quality trace figure"/>
          <p:cNvSpPr/>
          <p:nvPr/>
        </p:nvSpPr>
        <p:spPr>
          <a:xfrm>
            <a:off x="768096" y="1554480"/>
            <a:ext cx="6986016" cy="2633472"/>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49 quality trace label"/>
          <p:cNvSpPr txBox="1"/>
          <p:nvPr/>
        </p:nvSpPr>
        <p:spPr>
          <a:xfrm>
            <a:off x="987552" y="1700784"/>
            <a:ext cx="2286000" cy="274320"/>
          </a:xfrm>
          <a:prstGeom prst="rect">
            <a:avLst/>
          </a:prstGeom>
          <a:noFill/>
          <a:ln>
            <a:noFill/>
          </a:ln>
        </p:spPr>
        <p:txBody>
          <a:bodyPr wrap="square" anchor="t" lIns="9144" tIns="0" rIns="9144" bIns="0">
            <a:spAutoFit/>
          </a:bodyPr>
          <a:lstStyle/>
          <a:p>
            <a:pPr algn="l">
              <a:lnSpc>
                <a:spcPct val="100000"/>
              </a:lnSpc>
              <a:spcBef>
                <a:spcPts val="0"/>
              </a:spcBef>
              <a:spcAft>
                <a:spcPts val="0"/>
              </a:spcAft>
            </a:pPr>
            <a:r>
              <a:rPr sz="1900" b="1" i="0">
                <a:solidFill>
                  <a:srgbClr val="4967C2"/>
                </a:solidFill>
                <a:latin typeface="Times New Roman"/>
                <a:ea typeface="標楷體"/>
                <a:cs typeface="Times New Roman"/>
              </a:rPr>
              <a:t>quality trace（品質軌跡）</a:t>
            </a:r>
          </a:p>
        </p:txBody>
      </p:sp>
      <p:sp>
        <p:nvSpPr>
          <p:cNvPr id="6" name="P049 quality source"/>
          <p:cNvSpPr txBox="1"/>
          <p:nvPr/>
        </p:nvSpPr>
        <p:spPr>
          <a:xfrm>
            <a:off x="5120640" y="1700784"/>
            <a:ext cx="2304288" cy="274320"/>
          </a:xfrm>
          <a:prstGeom prst="rect">
            <a:avLst/>
          </a:prstGeom>
          <a:noFill/>
          <a:ln>
            <a:noFill/>
          </a:ln>
        </p:spPr>
        <p:txBody>
          <a:bodyPr wrap="square" anchor="t" lIns="9144" tIns="0" rIns="9144" bIns="0">
            <a:spAutoFit/>
          </a:bodyPr>
          <a:lstStyle/>
          <a:p>
            <a:pPr algn="r">
              <a:lnSpc>
                <a:spcPct val="100000"/>
              </a:lnSpc>
              <a:spcBef>
                <a:spcPts val="0"/>
              </a:spcBef>
              <a:spcAft>
                <a:spcPts val="0"/>
              </a:spcAft>
            </a:pPr>
            <a:r>
              <a:rPr sz="1600" b="0" i="0">
                <a:solidFill>
                  <a:srgbClr val="65758B"/>
                </a:solidFill>
                <a:latin typeface="Times New Roman"/>
                <a:ea typeface="標楷體"/>
                <a:cs typeface="Times New Roman"/>
              </a:rPr>
              <a:t>來源：scenario package</a:t>
            </a:r>
          </a:p>
        </p:txBody>
      </p:sp>
      <p:sp>
        <p:nvSpPr>
          <p:cNvPr id="7" name="P049 quality band 1"/>
          <p:cNvSpPr/>
          <p:nvPr/>
        </p:nvSpPr>
        <p:spPr>
          <a:xfrm>
            <a:off x="1060704" y="2240280"/>
            <a:ext cx="1152144" cy="548640"/>
          </a:xfrm>
          <a:prstGeom prst="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49 quality band label 1"/>
          <p:cNvSpPr txBox="1"/>
          <p:nvPr/>
        </p:nvSpPr>
        <p:spPr>
          <a:xfrm>
            <a:off x="1097280" y="2395728"/>
            <a:ext cx="1078992"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600" b="1" i="0">
                <a:solidFill>
                  <a:srgbClr val="992A2A"/>
                </a:solidFill>
                <a:latin typeface="Times New Roman"/>
                <a:ea typeface="標楷體"/>
                <a:cs typeface="Times New Roman"/>
              </a:rPr>
              <a:t>closed：0</a:t>
            </a:r>
          </a:p>
        </p:txBody>
      </p:sp>
      <p:sp>
        <p:nvSpPr>
          <p:cNvPr id="9" name="P049 quality band 2"/>
          <p:cNvSpPr/>
          <p:nvPr/>
        </p:nvSpPr>
        <p:spPr>
          <a:xfrm>
            <a:off x="2304288" y="2240280"/>
            <a:ext cx="1298448" cy="548640"/>
          </a:xfrm>
          <a:prstGeom prst="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049 quality band label 2"/>
          <p:cNvSpPr txBox="1"/>
          <p:nvPr/>
        </p:nvSpPr>
        <p:spPr>
          <a:xfrm>
            <a:off x="2340864" y="2395728"/>
            <a:ext cx="1225295"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600" b="1" i="0">
                <a:solidFill>
                  <a:srgbClr val="846826"/>
                </a:solidFill>
                <a:latin typeface="Times New Roman"/>
                <a:ea typeface="標楷體"/>
                <a:cs typeface="Times New Roman"/>
              </a:rPr>
              <a:t>weak：1</a:t>
            </a:r>
          </a:p>
        </p:txBody>
      </p:sp>
      <p:sp>
        <p:nvSpPr>
          <p:cNvPr id="11" name="P049 quality band 3"/>
          <p:cNvSpPr/>
          <p:nvPr/>
        </p:nvSpPr>
        <p:spPr>
          <a:xfrm>
            <a:off x="3694176" y="2240280"/>
            <a:ext cx="2212848" cy="548640"/>
          </a:xfrm>
          <a:prstGeom prst="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49 quality band label 3"/>
          <p:cNvSpPr txBox="1"/>
          <p:nvPr/>
        </p:nvSpPr>
        <p:spPr>
          <a:xfrm>
            <a:off x="3730752" y="2395728"/>
            <a:ext cx="2139696"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600" b="1" i="0">
                <a:solidFill>
                  <a:srgbClr val="007374"/>
                </a:solidFill>
                <a:latin typeface="Times New Roman"/>
                <a:ea typeface="標楷體"/>
                <a:cs typeface="Times New Roman"/>
              </a:rPr>
              <a:t>usable：2 → strong：3</a:t>
            </a:r>
          </a:p>
        </p:txBody>
      </p:sp>
      <p:sp>
        <p:nvSpPr>
          <p:cNvPr id="13" name="P049 transition definitions"/>
          <p:cNvSpPr txBox="1"/>
          <p:nvPr/>
        </p:nvSpPr>
        <p:spPr>
          <a:xfrm>
            <a:off x="1078992" y="2980944"/>
            <a:ext cx="6291072" cy="768096"/>
          </a:xfrm>
          <a:prstGeom prst="rect">
            <a:avLst/>
          </a:prstGeom>
          <a:noFill/>
          <a:ln>
            <a:noFill/>
          </a:ln>
        </p:spPr>
        <p:txBody>
          <a:bodyPr wrap="square" anchor="ctr" lIns="36576" tIns="9144" rIns="36576" bIns="9144">
            <a:spAutoFit/>
          </a:bodyPr>
          <a:lstStyle/>
          <a:p>
            <a:pPr algn="ctr">
              <a:lnSpc>
                <a:spcPct val="100000"/>
              </a:lnSpc>
              <a:spcBef>
                <a:spcPts val="0"/>
              </a:spcBef>
              <a:spcAft>
                <a:spcPts val="0"/>
              </a:spcAft>
            </a:pPr>
            <a:r>
              <a:rPr sz="1800" b="0" i="1">
                <a:solidFill>
                  <a:srgbClr val="25324A"/>
                </a:solidFill>
                <a:latin typeface="Times New Roman"/>
                <a:ea typeface="標楷體"/>
                <a:cs typeface="Times New Roman"/>
              </a:rPr>
              <a:t>enter</a:t>
            </a:r>
            <a:r>
              <a:rPr sz="1800" b="0" i="0">
                <a:solidFill>
                  <a:srgbClr val="25324A"/>
                </a:solidFill>
                <a:latin typeface="Times New Roman"/>
                <a:ea typeface="標楷體"/>
                <a:cs typeface="Times New Roman"/>
              </a:rPr>
              <a:t>：進入 send-ready</a:t>
            </a:r>
          </a:p>
          <a:p>
            <a:pPr algn="ctr">
              <a:lnSpc>
                <a:spcPct val="100000"/>
              </a:lnSpc>
              <a:spcBef>
                <a:spcPts val="0"/>
              </a:spcBef>
              <a:spcAft>
                <a:spcPts val="0"/>
              </a:spcAft>
            </a:pPr>
            <a:r>
              <a:rPr sz="1800" b="0" i="1">
                <a:solidFill>
                  <a:srgbClr val="25324A"/>
                </a:solidFill>
                <a:latin typeface="Times New Roman"/>
                <a:ea typeface="標楷體"/>
                <a:cs typeface="Times New Roman"/>
              </a:rPr>
              <a:t>hold</a:t>
            </a:r>
            <a:r>
              <a:rPr sz="1800" b="0" i="0">
                <a:solidFill>
                  <a:srgbClr val="25324A"/>
                </a:solidFill>
                <a:latin typeface="Times New Roman"/>
                <a:ea typeface="標楷體"/>
                <a:cs typeface="Times New Roman"/>
              </a:rPr>
              <a:t>：連續穩定的步數</a:t>
            </a:r>
          </a:p>
          <a:p>
            <a:pPr algn="ctr">
              <a:lnSpc>
                <a:spcPct val="100000"/>
              </a:lnSpc>
              <a:spcBef>
                <a:spcPts val="0"/>
              </a:spcBef>
              <a:spcAft>
                <a:spcPts val="0"/>
              </a:spcAft>
            </a:pPr>
            <a:r>
              <a:rPr sz="1800" b="0" i="1">
                <a:solidFill>
                  <a:srgbClr val="25324A"/>
                </a:solidFill>
                <a:latin typeface="Times New Roman"/>
                <a:ea typeface="標楷體"/>
                <a:cs typeface="Times New Roman"/>
              </a:rPr>
              <a:t>exit</a:t>
            </a:r>
            <a:r>
              <a:rPr sz="1800" b="0" i="0">
                <a:solidFill>
                  <a:srgbClr val="25324A"/>
                </a:solidFill>
                <a:latin typeface="Times New Roman"/>
                <a:ea typeface="標楷體"/>
                <a:cs typeface="Times New Roman"/>
              </a:rPr>
              <a:t>：品質下降後退出 send-ready</a:t>
            </a:r>
          </a:p>
        </p:txBody>
      </p:sp>
      <p:sp>
        <p:nvSpPr>
          <p:cNvPr id="14" name="P049 challenge"/>
          <p:cNvSpPr/>
          <p:nvPr/>
        </p:nvSpPr>
        <p:spPr>
          <a:xfrm>
            <a:off x="8028431" y="1554480"/>
            <a:ext cx="3383280" cy="263347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49 challenge heading"/>
          <p:cNvSpPr txBox="1"/>
          <p:nvPr/>
        </p:nvSpPr>
        <p:spPr>
          <a:xfrm>
            <a:off x="8174736" y="1664207"/>
            <a:ext cx="3090672"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660066"/>
                </a:solidFill>
                <a:latin typeface="Times New Roman"/>
                <a:ea typeface="標楷體"/>
                <a:cs typeface="Times New Roman"/>
              </a:rPr>
              <a:t>CHALLENGE｜挑戰</a:t>
            </a:r>
          </a:p>
        </p:txBody>
      </p:sp>
      <p:sp>
        <p:nvSpPr>
          <p:cNvPr id="16" name="P049 challenge body"/>
          <p:cNvSpPr txBox="1"/>
          <p:nvPr/>
        </p:nvSpPr>
        <p:spPr>
          <a:xfrm>
            <a:off x="8193023" y="2066543"/>
            <a:ext cx="3054096" cy="201167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等待 quality 穩定</a:t>
            </a:r>
          </a:p>
          <a:p>
            <a:pPr algn="ctr">
              <a:lnSpc>
                <a:spcPct val="96000"/>
              </a:lnSpc>
              <a:spcBef>
                <a:spcPts val="0"/>
              </a:spcBef>
              <a:spcAft>
                <a:spcPts val="0"/>
              </a:spcAft>
            </a:pPr>
            <a:r>
              <a:rPr sz="1900" b="0" i="0">
                <a:solidFill>
                  <a:srgbClr val="25324A"/>
                </a:solidFill>
                <a:latin typeface="Times New Roman"/>
                <a:ea typeface="標楷體"/>
                <a:cs typeface="Times New Roman"/>
              </a:rPr>
              <a:t>可能降低失敗／重傳</a:t>
            </a:r>
          </a:p>
          <a:p>
            <a:pPr algn="ctr">
              <a:lnSpc>
                <a:spcPct val="96000"/>
              </a:lnSpc>
              <a:spcBef>
                <a:spcPts val="0"/>
              </a:spcBef>
              <a:spcAft>
                <a:spcPts val="0"/>
              </a:spcAft>
            </a:pPr>
            <a:r>
              <a:rPr sz="1900" b="0" i="0">
                <a:solidFill>
                  <a:srgbClr val="25324A"/>
                </a:solidFill>
                <a:latin typeface="Times New Roman"/>
                <a:ea typeface="標楷體"/>
                <a:cs typeface="Times New Roman"/>
              </a:rPr>
              <a:t>但 contact window 會關閉</a:t>
            </a:r>
          </a:p>
          <a:p>
            <a:pPr algn="ctr">
              <a:lnSpc>
                <a:spcPct val="96000"/>
              </a:lnSpc>
              <a:spcBef>
                <a:spcPts val="0"/>
              </a:spcBef>
              <a:spcAft>
                <a:spcPts val="0"/>
              </a:spcAft>
            </a:pPr>
          </a:p>
          <a:p>
            <a:pPr algn="ctr">
              <a:lnSpc>
                <a:spcPct val="96000"/>
              </a:lnSpc>
              <a:spcBef>
                <a:spcPts val="0"/>
              </a:spcBef>
              <a:spcAft>
                <a:spcPts val="0"/>
              </a:spcAft>
            </a:pPr>
            <a:r>
              <a:rPr sz="1900" b="0" i="0">
                <a:solidFill>
                  <a:srgbClr val="25324A"/>
                </a:solidFill>
                <a:latin typeface="Times New Roman"/>
                <a:ea typeface="標楷體"/>
                <a:cs typeface="Times New Roman"/>
              </a:rPr>
              <a:t>成功 gate：packet delivery + deadline + freshness + endpoint J</a:t>
            </a:r>
          </a:p>
        </p:txBody>
      </p:sp>
      <p:sp>
        <p:nvSpPr>
          <p:cNvPr id="17" name="P049 causal path"/>
          <p:cNvSpPr/>
          <p:nvPr/>
        </p:nvSpPr>
        <p:spPr>
          <a:xfrm>
            <a:off x="859536" y="4407408"/>
            <a:ext cx="10424160"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49 causal path text"/>
          <p:cNvSpPr txBox="1"/>
          <p:nvPr/>
        </p:nvSpPr>
        <p:spPr>
          <a:xfrm>
            <a:off x="1042415" y="4517136"/>
            <a:ext cx="10058400" cy="493776"/>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600" b="1" i="1">
                <a:solidFill>
                  <a:srgbClr val="25356B"/>
                </a:solidFill>
                <a:latin typeface="Times New Roman"/>
                <a:ea typeface="標楷體"/>
                <a:cs typeface="Times New Roman"/>
              </a:rPr>
              <a:t>service_window</a:t>
            </a:r>
            <a:r>
              <a:rPr sz="1600" b="1" i="0">
                <a:solidFill>
                  <a:srgbClr val="25356B"/>
                </a:solidFill>
                <a:latin typeface="Times New Roman"/>
                <a:ea typeface="標楷體"/>
                <a:cs typeface="Times New Roman"/>
              </a:rPr>
              <a:t>（服務窗口，s；來源：scenario contact windows；作用：合法傳輸機會）</a:t>
            </a:r>
          </a:p>
          <a:p>
            <a:pPr algn="ctr">
              <a:lnSpc>
                <a:spcPct val="100000"/>
              </a:lnSpc>
              <a:spcBef>
                <a:spcPts val="0"/>
              </a:spcBef>
              <a:spcAft>
                <a:spcPts val="0"/>
              </a:spcAft>
            </a:pPr>
            <a:r>
              <a:rPr sz="1600" b="1" i="1">
                <a:solidFill>
                  <a:srgbClr val="25356B"/>
                </a:solidFill>
                <a:latin typeface="Times New Roman"/>
                <a:ea typeface="標楷體"/>
                <a:cs typeface="Times New Roman"/>
              </a:rPr>
              <a:t>quality_band</a:t>
            </a:r>
            <a:r>
              <a:rPr sz="1600" b="1" i="0">
                <a:solidFill>
                  <a:srgbClr val="25356B"/>
                </a:solidFill>
                <a:latin typeface="Times New Roman"/>
                <a:ea typeface="標楷體"/>
                <a:cs typeface="Times New Roman"/>
              </a:rPr>
              <a:t>（品質等級，band）＋</a:t>
            </a:r>
            <a:r>
              <a:rPr sz="1600" b="1" i="1">
                <a:solidFill>
                  <a:srgbClr val="25356B"/>
                </a:solidFill>
                <a:latin typeface="Times New Roman"/>
                <a:ea typeface="標楷體"/>
                <a:cs typeface="Times New Roman"/>
              </a:rPr>
              <a:t>stable_steps</a:t>
            </a:r>
            <a:r>
              <a:rPr sz="1600" b="1" i="0">
                <a:solidFill>
                  <a:srgbClr val="25356B"/>
                </a:solidFill>
                <a:latin typeface="Times New Roman"/>
                <a:ea typeface="標楷體"/>
                <a:cs typeface="Times New Roman"/>
              </a:rPr>
              <a:t>（穩定步數，steps）→ </a:t>
            </a:r>
            <a:r>
              <a:rPr sz="1600" b="1" i="1">
                <a:solidFill>
                  <a:srgbClr val="25356B"/>
                </a:solidFill>
                <a:latin typeface="Times New Roman"/>
                <a:ea typeface="標楷體"/>
                <a:cs typeface="Times New Roman"/>
              </a:rPr>
              <a:t>MODE_CHANGE</a:t>
            </a:r>
            <a:r>
              <a:rPr sz="1600" b="1" i="0">
                <a:solidFill>
                  <a:srgbClr val="25356B"/>
                </a:solidFill>
                <a:latin typeface="Times New Roman"/>
                <a:ea typeface="標楷體"/>
                <a:cs typeface="Times New Roman"/>
              </a:rPr>
              <a:t> → packet／service／J</a:t>
            </a:r>
          </a:p>
        </p:txBody>
      </p:sp>
      <p:sp>
        <p:nvSpPr>
          <p:cNvPr id="19"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P050｜ENTER_QUALITY：進入 send-ready</a:t>
            </a:r>
          </a:p>
        </p:txBody>
      </p:sp>
      <p:sp>
        <p:nvSpPr>
          <p:cNvPr id="3" name="P050 lead"/>
          <p:cNvSpPr txBox="1"/>
          <p:nvPr/>
        </p:nvSpPr>
        <p:spPr>
          <a:xfrm>
            <a:off x="877824" y="960120"/>
            <a:ext cx="10314432"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ENTER_QUALITY=2 決定何時進入 send-ready；不是 energy knob。</a:t>
            </a:r>
          </a:p>
        </p:txBody>
      </p:sp>
      <p:sp>
        <p:nvSpPr>
          <p:cNvPr id="4" name="P050 threshold ladder"/>
          <p:cNvSpPr/>
          <p:nvPr/>
        </p:nvSpPr>
        <p:spPr>
          <a:xfrm>
            <a:off x="786384" y="1554480"/>
            <a:ext cx="4572000" cy="2926080"/>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0 ladder label"/>
          <p:cNvSpPr txBox="1"/>
          <p:nvPr/>
        </p:nvSpPr>
        <p:spPr>
          <a:xfrm>
            <a:off x="1042415" y="1719072"/>
            <a:ext cx="4151376" cy="256032"/>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900" b="1" i="0">
                <a:solidFill>
                  <a:srgbClr val="4967C2"/>
                </a:solidFill>
                <a:latin typeface="Times New Roman"/>
                <a:ea typeface="標楷體"/>
                <a:cs typeface="Times New Roman"/>
              </a:rPr>
              <a:t>quality_band（品質等級）：0–3</a:t>
            </a:r>
          </a:p>
        </p:txBody>
      </p:sp>
      <p:sp>
        <p:nvSpPr>
          <p:cNvPr id="6" name="P050 level 0"/>
          <p:cNvSpPr/>
          <p:nvPr/>
        </p:nvSpPr>
        <p:spPr>
          <a:xfrm>
            <a:off x="1298448" y="3968496"/>
            <a:ext cx="3529584" cy="384048"/>
          </a:xfrm>
          <a:prstGeom prst="rect">
            <a:avLst/>
          </a:prstGeom>
          <a:solidFill>
            <a:srgbClr val="FFFFFF"/>
          </a:solidFill>
          <a:ln w="15240">
            <a:solidFill>
              <a:srgbClr val="657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050 level label 0"/>
          <p:cNvSpPr txBox="1"/>
          <p:nvPr/>
        </p:nvSpPr>
        <p:spPr>
          <a:xfrm>
            <a:off x="1408176" y="4059935"/>
            <a:ext cx="3310128"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0" i="0">
                <a:solidFill>
                  <a:srgbClr val="65758B"/>
                </a:solidFill>
                <a:latin typeface="Times New Roman"/>
                <a:ea typeface="標楷體"/>
                <a:cs typeface="Times New Roman"/>
              </a:rPr>
              <a:t>quality 0｜尚未達 enter</a:t>
            </a:r>
          </a:p>
        </p:txBody>
      </p:sp>
      <p:sp>
        <p:nvSpPr>
          <p:cNvPr id="8" name="P050 level 1"/>
          <p:cNvSpPr/>
          <p:nvPr/>
        </p:nvSpPr>
        <p:spPr>
          <a:xfrm>
            <a:off x="1298448" y="3438144"/>
            <a:ext cx="3529584" cy="384048"/>
          </a:xfrm>
          <a:prstGeom prst="rect">
            <a:avLst/>
          </a:prstGeom>
          <a:solidFill>
            <a:srgbClr val="FFFFFF"/>
          </a:solidFill>
          <a:ln w="15240">
            <a:solidFill>
              <a:srgbClr val="657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50 level label 1"/>
          <p:cNvSpPr txBox="1"/>
          <p:nvPr/>
        </p:nvSpPr>
        <p:spPr>
          <a:xfrm>
            <a:off x="1408176" y="3529584"/>
            <a:ext cx="3310128"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0" i="0">
                <a:solidFill>
                  <a:srgbClr val="65758B"/>
                </a:solidFill>
                <a:latin typeface="Times New Roman"/>
                <a:ea typeface="標楷體"/>
                <a:cs typeface="Times New Roman"/>
              </a:rPr>
              <a:t>quality 1｜尚未達 enter</a:t>
            </a:r>
          </a:p>
        </p:txBody>
      </p:sp>
      <p:sp>
        <p:nvSpPr>
          <p:cNvPr id="10" name="P050 level 2"/>
          <p:cNvSpPr/>
          <p:nvPr/>
        </p:nvSpPr>
        <p:spPr>
          <a:xfrm>
            <a:off x="1298448" y="2907791"/>
            <a:ext cx="3529584" cy="384048"/>
          </a:xfrm>
          <a:prstGeom prst="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50 level label 2"/>
          <p:cNvSpPr txBox="1"/>
          <p:nvPr/>
        </p:nvSpPr>
        <p:spPr>
          <a:xfrm>
            <a:off x="1408176" y="2999232"/>
            <a:ext cx="3310128"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007374"/>
                </a:solidFill>
                <a:latin typeface="Times New Roman"/>
                <a:ea typeface="標楷體"/>
                <a:cs typeface="Times New Roman"/>
              </a:rPr>
              <a:t>quality 2｜可作為 enter 候選</a:t>
            </a:r>
          </a:p>
        </p:txBody>
      </p:sp>
      <p:sp>
        <p:nvSpPr>
          <p:cNvPr id="12" name="P050 level 3"/>
          <p:cNvSpPr/>
          <p:nvPr/>
        </p:nvSpPr>
        <p:spPr>
          <a:xfrm>
            <a:off x="1298448" y="2377440"/>
            <a:ext cx="3529584" cy="384048"/>
          </a:xfrm>
          <a:prstGeom prst="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50 level label 3"/>
          <p:cNvSpPr txBox="1"/>
          <p:nvPr/>
        </p:nvSpPr>
        <p:spPr>
          <a:xfrm>
            <a:off x="1408176" y="2468880"/>
            <a:ext cx="3310128"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007374"/>
                </a:solidFill>
                <a:latin typeface="Times New Roman"/>
                <a:ea typeface="標楷體"/>
                <a:cs typeface="Times New Roman"/>
              </a:rPr>
              <a:t>quality 3｜可作為 enter 候選</a:t>
            </a:r>
          </a:p>
        </p:txBody>
      </p:sp>
      <p:sp>
        <p:nvSpPr>
          <p:cNvPr id="14" name="P050 code"/>
          <p:cNvSpPr/>
          <p:nvPr/>
        </p:nvSpPr>
        <p:spPr>
          <a:xfrm>
            <a:off x="5650992" y="1554480"/>
            <a:ext cx="5705856" cy="137160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050 code heading"/>
          <p:cNvSpPr txBox="1"/>
          <p:nvPr/>
        </p:nvSpPr>
        <p:spPr>
          <a:xfrm>
            <a:off x="5797296" y="1664207"/>
            <a:ext cx="541324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CODE｜policy constant</a:t>
            </a:r>
          </a:p>
        </p:txBody>
      </p:sp>
      <p:sp>
        <p:nvSpPr>
          <p:cNvPr id="16" name="P050 code body"/>
          <p:cNvSpPr txBox="1"/>
          <p:nvPr/>
        </p:nvSpPr>
        <p:spPr>
          <a:xfrm>
            <a:off x="5815583" y="2066543"/>
            <a:ext cx="5376672" cy="7498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1">
                <a:solidFill>
                  <a:srgbClr val="25324A"/>
                </a:solidFill>
                <a:latin typeface="Times New Roman"/>
                <a:ea typeface="標楷體"/>
                <a:cs typeface="Times New Roman"/>
              </a:rPr>
              <a:t>ENTER_QUALITY = 2</a:t>
            </a:r>
          </a:p>
          <a:p>
            <a:pPr algn="ctr">
              <a:lnSpc>
                <a:spcPct val="96000"/>
              </a:lnSpc>
              <a:spcBef>
                <a:spcPts val="0"/>
              </a:spcBef>
              <a:spcAft>
                <a:spcPts val="0"/>
              </a:spcAft>
            </a:pPr>
            <a:r>
              <a:rPr sz="1900" b="0" i="0">
                <a:solidFill>
                  <a:srgbClr val="25324A"/>
                </a:solidFill>
                <a:latin typeface="Times New Roman"/>
                <a:ea typeface="標楷體"/>
                <a:cs typeface="Times New Roman"/>
              </a:rPr>
              <a:t>來源：</a:t>
            </a:r>
            <a:r>
              <a:rPr sz="1900" b="0" i="1">
                <a:solidFill>
                  <a:srgbClr val="25324A"/>
                </a:solidFill>
                <a:latin typeface="Times New Roman"/>
                <a:ea typeface="標楷體"/>
                <a:cs typeface="Times New Roman"/>
              </a:rPr>
              <a:t>student_policy.py</a:t>
            </a:r>
            <a:r>
              <a:rPr sz="1900" b="0" i="0">
                <a:solidFill>
                  <a:srgbClr val="25324A"/>
                </a:solidFill>
                <a:latin typeface="Times New Roman"/>
                <a:ea typeface="標楷體"/>
                <a:cs typeface="Times New Roman"/>
              </a:rPr>
              <a:t> B marked block</a:t>
            </a:r>
          </a:p>
          <a:p>
            <a:pPr algn="ctr">
              <a:lnSpc>
                <a:spcPct val="96000"/>
              </a:lnSpc>
              <a:spcBef>
                <a:spcPts val="0"/>
              </a:spcBef>
              <a:spcAft>
                <a:spcPts val="0"/>
              </a:spcAft>
            </a:pPr>
            <a:r>
              <a:rPr sz="1900" b="0" i="0">
                <a:solidFill>
                  <a:srgbClr val="25324A"/>
                </a:solidFill>
                <a:latin typeface="Times New Roman"/>
                <a:ea typeface="標楷體"/>
                <a:cs typeface="Times New Roman"/>
              </a:rPr>
              <a:t>單位：quality band；作用：進入門檻</a:t>
            </a:r>
          </a:p>
        </p:txBody>
      </p:sp>
      <p:sp>
        <p:nvSpPr>
          <p:cNvPr id="17" name="P050 mechanism"/>
          <p:cNvSpPr/>
          <p:nvPr/>
        </p:nvSpPr>
        <p:spPr>
          <a:xfrm>
            <a:off x="5650992" y="3054096"/>
            <a:ext cx="5705856" cy="166420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50 mechanism heading"/>
          <p:cNvSpPr txBox="1"/>
          <p:nvPr/>
        </p:nvSpPr>
        <p:spPr>
          <a:xfrm>
            <a:off x="5797296" y="3163824"/>
            <a:ext cx="541324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MECHANISM｜mode entry</a:t>
            </a:r>
          </a:p>
        </p:txBody>
      </p:sp>
      <p:sp>
        <p:nvSpPr>
          <p:cNvPr id="19" name="P050 mechanism body"/>
          <p:cNvSpPr txBox="1"/>
          <p:nvPr/>
        </p:nvSpPr>
        <p:spPr>
          <a:xfrm>
            <a:off x="5815583" y="3566160"/>
            <a:ext cx="5376672" cy="1042416"/>
          </a:xfrm>
          <a:prstGeom prst="rect">
            <a:avLst/>
          </a:prstGeom>
          <a:noFill/>
          <a:ln>
            <a:noFill/>
          </a:ln>
        </p:spPr>
        <p:txBody>
          <a:bodyPr wrap="square" anchor="ctr" lIns="27432" tIns="18288" rIns="27432" bIns="18288">
            <a:spAutoFit/>
          </a:bodyPr>
          <a:lstStyle/>
          <a:p>
            <a:pPr algn="ctr">
              <a:lnSpc>
                <a:spcPct val="86000"/>
              </a:lnSpc>
              <a:spcBef>
                <a:spcPts val="0"/>
              </a:spcBef>
              <a:spcAft>
                <a:spcPts val="0"/>
              </a:spcAft>
            </a:pPr>
            <a:r>
              <a:rPr sz="1800" b="0" i="0">
                <a:solidFill>
                  <a:srgbClr val="25324A"/>
                </a:solidFill>
                <a:latin typeface="Times New Roman"/>
                <a:ea typeface="標楷體"/>
                <a:cs typeface="Times New Roman"/>
              </a:rPr>
              <a:t>未進入：</a:t>
            </a:r>
            <a:r>
              <a:rPr sz="1800" b="0" i="1">
                <a:solidFill>
                  <a:srgbClr val="25324A"/>
                </a:solidFill>
                <a:latin typeface="Times New Roman"/>
                <a:ea typeface="標楷體"/>
                <a:cs typeface="Times New Roman"/>
              </a:rPr>
              <a:t>quality_band ≥ 2</a:t>
            </a:r>
          </a:p>
          <a:p>
            <a:pPr algn="ctr">
              <a:lnSpc>
                <a:spcPct val="86000"/>
              </a:lnSpc>
              <a:spcBef>
                <a:spcPts val="0"/>
              </a:spcBef>
              <a:spcAft>
                <a:spcPts val="0"/>
              </a:spcAft>
            </a:pPr>
            <a:r>
              <a:rPr sz="1800" b="0" i="0">
                <a:solidFill>
                  <a:srgbClr val="25324A"/>
                </a:solidFill>
                <a:latin typeface="Times New Roman"/>
                <a:ea typeface="標楷體"/>
                <a:cs typeface="Times New Roman"/>
              </a:rPr>
              <a:t>且 </a:t>
            </a:r>
            <a:r>
              <a:rPr sz="1800" b="0" i="1">
                <a:solidFill>
                  <a:srgbClr val="25324A"/>
                </a:solidFill>
                <a:latin typeface="Times New Roman"/>
                <a:ea typeface="標楷體"/>
                <a:cs typeface="Times New Roman"/>
              </a:rPr>
              <a:t>stable_steps ≥ STABLE_STEPS</a:t>
            </a:r>
          </a:p>
          <a:p>
            <a:pPr algn="ctr">
              <a:lnSpc>
                <a:spcPct val="86000"/>
              </a:lnSpc>
              <a:spcBef>
                <a:spcPts val="0"/>
              </a:spcBef>
              <a:spcAft>
                <a:spcPts val="0"/>
              </a:spcAft>
            </a:pPr>
            <a:r>
              <a:rPr sz="1800" b="0" i="0">
                <a:solidFill>
                  <a:srgbClr val="25324A"/>
                </a:solidFill>
                <a:latin typeface="Times New Roman"/>
                <a:ea typeface="標楷體"/>
                <a:cs typeface="Times New Roman"/>
              </a:rPr>
              <a:t>→ </a:t>
            </a:r>
            <a:r>
              <a:rPr sz="1800" b="0" i="1">
                <a:solidFill>
                  <a:srgbClr val="25324A"/>
                </a:solidFill>
                <a:latin typeface="Times New Roman"/>
                <a:ea typeface="標楷體"/>
                <a:cs typeface="Times New Roman"/>
              </a:rPr>
              <a:t>send_mode_active = true</a:t>
            </a:r>
          </a:p>
          <a:p>
            <a:pPr algn="ctr">
              <a:lnSpc>
                <a:spcPct val="86000"/>
              </a:lnSpc>
              <a:spcBef>
                <a:spcPts val="0"/>
              </a:spcBef>
              <a:spcAft>
                <a:spcPts val="0"/>
              </a:spcAft>
            </a:pPr>
            <a:r>
              <a:rPr sz="1800" b="0" i="0">
                <a:solidFill>
                  <a:srgbClr val="25324A"/>
                </a:solidFill>
                <a:latin typeface="Times New Roman"/>
                <a:ea typeface="標楷體"/>
                <a:cs typeface="Times New Roman"/>
              </a:rPr>
              <a:t>來源：MODE_CHANGE；保持 send-ready</a:t>
            </a:r>
          </a:p>
        </p:txBody>
      </p:sp>
      <p:sp>
        <p:nvSpPr>
          <p:cNvPr id="20" name="Mechanism label"/>
          <p:cNvSpPr/>
          <p:nvPr/>
        </p:nvSpPr>
        <p:spPr>
          <a:xfrm>
            <a:off x="1225296" y="4791456"/>
            <a:ext cx="9729216" cy="36576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baseline：ENTER=2、EXIT=1、STABLE_STEPS=2；candidate 只動第三項</a:t>
            </a:r>
          </a:p>
        </p:txBody>
      </p:sp>
      <p:sp>
        <p:nvSpPr>
          <p:cNvPr id="21"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P051｜EXIT_QUALITY：雙閾值形成 hysteresis</a:t>
            </a:r>
          </a:p>
        </p:txBody>
      </p:sp>
      <p:sp>
        <p:nvSpPr>
          <p:cNvPr id="3" name="P051 lead"/>
          <p:cNvSpPr txBox="1"/>
          <p:nvPr/>
        </p:nvSpPr>
        <p:spPr>
          <a:xfrm>
            <a:off x="877824" y="960120"/>
            <a:ext cx="10314432"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EXIT_QUALITY=1 讓已進入模式在 weak quality 中保持，降低邊界切換。</a:t>
            </a:r>
          </a:p>
        </p:txBody>
      </p:sp>
      <p:sp>
        <p:nvSpPr>
          <p:cNvPr id="4" name="P051 hysteresis figure"/>
          <p:cNvSpPr/>
          <p:nvPr/>
        </p:nvSpPr>
        <p:spPr>
          <a:xfrm>
            <a:off x="841248" y="1554480"/>
            <a:ext cx="6492240" cy="3236976"/>
          </a:xfrm>
          <a:prstGeom prst="roundRect">
            <a:avLst/>
          </a:prstGeom>
          <a:solidFill>
            <a:srgbClr val="F7F8FC"/>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1 figure label"/>
          <p:cNvSpPr txBox="1"/>
          <p:nvPr/>
        </p:nvSpPr>
        <p:spPr>
          <a:xfrm>
            <a:off x="1078992" y="1719072"/>
            <a:ext cx="6016752" cy="256032"/>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660066"/>
                </a:solidFill>
                <a:latin typeface="Times New Roman"/>
                <a:ea typeface="標楷體"/>
                <a:cs typeface="Times New Roman"/>
              </a:rPr>
              <a:t>quality band 隨時間下降：enter 與 exit 不共用同一條線</a:t>
            </a:r>
          </a:p>
        </p:txBody>
      </p:sp>
      <p:sp>
        <p:nvSpPr>
          <p:cNvPr id="6" name="P051 threshold 2"/>
          <p:cNvSpPr txBox="1"/>
          <p:nvPr/>
        </p:nvSpPr>
        <p:spPr>
          <a:xfrm>
            <a:off x="1133856" y="2185416"/>
            <a:ext cx="1737360" cy="256032"/>
          </a:xfrm>
          <a:prstGeom prst="rect">
            <a:avLst/>
          </a:prstGeom>
          <a:noFill/>
          <a:ln>
            <a:noFill/>
          </a:ln>
        </p:spPr>
        <p:txBody>
          <a:bodyPr wrap="square" anchor="t" lIns="9144" tIns="0" rIns="9144" bIns="0">
            <a:spAutoFit/>
          </a:bodyPr>
          <a:lstStyle/>
          <a:p>
            <a:pPr algn="l">
              <a:lnSpc>
                <a:spcPct val="100000"/>
              </a:lnSpc>
              <a:spcBef>
                <a:spcPts val="0"/>
              </a:spcBef>
              <a:spcAft>
                <a:spcPts val="0"/>
              </a:spcAft>
            </a:pPr>
            <a:r>
              <a:rPr sz="1700" b="1" i="0">
                <a:solidFill>
                  <a:srgbClr val="007374"/>
                </a:solidFill>
                <a:latin typeface="Times New Roman"/>
                <a:ea typeface="標楷體"/>
                <a:cs typeface="Times New Roman"/>
              </a:rPr>
              <a:t>進入：quality ≥ 2</a:t>
            </a:r>
          </a:p>
        </p:txBody>
      </p:sp>
      <p:sp>
        <p:nvSpPr>
          <p:cNvPr id="7" name="P051 threshold rail 2"/>
          <p:cNvSpPr/>
          <p:nvPr/>
        </p:nvSpPr>
        <p:spPr>
          <a:xfrm>
            <a:off x="2926080" y="2322576"/>
            <a:ext cx="3931920" cy="73152"/>
          </a:xfrm>
          <a:prstGeom prst="rect">
            <a:avLst/>
          </a:prstGeom>
          <a:solidFill>
            <a:srgbClr val="00737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1 threshold 1"/>
          <p:cNvSpPr txBox="1"/>
          <p:nvPr/>
        </p:nvSpPr>
        <p:spPr>
          <a:xfrm>
            <a:off x="1133856" y="3300984"/>
            <a:ext cx="1737360" cy="256032"/>
          </a:xfrm>
          <a:prstGeom prst="rect">
            <a:avLst/>
          </a:prstGeom>
          <a:noFill/>
          <a:ln>
            <a:noFill/>
          </a:ln>
        </p:spPr>
        <p:txBody>
          <a:bodyPr wrap="square" anchor="t" lIns="9144" tIns="0" rIns="9144" bIns="0">
            <a:spAutoFit/>
          </a:bodyPr>
          <a:lstStyle/>
          <a:p>
            <a:pPr algn="l">
              <a:lnSpc>
                <a:spcPct val="100000"/>
              </a:lnSpc>
              <a:spcBef>
                <a:spcPts val="0"/>
              </a:spcBef>
              <a:spcAft>
                <a:spcPts val="0"/>
              </a:spcAft>
            </a:pPr>
            <a:r>
              <a:rPr sz="1700" b="1" i="0">
                <a:solidFill>
                  <a:srgbClr val="660066"/>
                </a:solidFill>
                <a:latin typeface="Times New Roman"/>
                <a:ea typeface="標楷體"/>
                <a:cs typeface="Times New Roman"/>
              </a:rPr>
              <a:t>退出：quality &lt; 1</a:t>
            </a:r>
          </a:p>
        </p:txBody>
      </p:sp>
      <p:sp>
        <p:nvSpPr>
          <p:cNvPr id="9" name="P051 threshold rail 1"/>
          <p:cNvSpPr/>
          <p:nvPr/>
        </p:nvSpPr>
        <p:spPr>
          <a:xfrm>
            <a:off x="2926080" y="3438144"/>
            <a:ext cx="3931920" cy="73152"/>
          </a:xfrm>
          <a:prstGeom prst="rect">
            <a:avLst/>
          </a:prstGeom>
          <a:solidFill>
            <a:srgbClr val="660066"/>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P051 quality trace"/>
          <p:cNvCxnSpPr/>
          <p:nvPr/>
        </p:nvCxnSpPr>
        <p:spPr>
          <a:xfrm>
            <a:off x="3072384" y="2148840"/>
            <a:ext cx="749807" cy="64008"/>
          </a:xfrm>
          <a:prstGeom prst="line">
            <a:avLst/>
          </a:prstGeom>
          <a:ln w="27940">
            <a:solidFill>
              <a:srgbClr val="846826"/>
            </a:solidFill>
          </a:ln>
        </p:spPr>
        <p:style>
          <a:lnRef idx="2">
            <a:schemeClr val="accent1"/>
          </a:lnRef>
          <a:fillRef idx="0">
            <a:schemeClr val="accent1"/>
          </a:fillRef>
          <a:effectRef idx="1">
            <a:schemeClr val="accent1"/>
          </a:effectRef>
          <a:fontRef idx="minor">
            <a:schemeClr val="tx1"/>
          </a:fontRef>
        </p:style>
      </p:cxnSp>
      <p:cxnSp>
        <p:nvCxnSpPr>
          <p:cNvPr id="11" name="P051 quality trace"/>
          <p:cNvCxnSpPr/>
          <p:nvPr/>
        </p:nvCxnSpPr>
        <p:spPr>
          <a:xfrm>
            <a:off x="3822191" y="2212848"/>
            <a:ext cx="749809" cy="274320"/>
          </a:xfrm>
          <a:prstGeom prst="line">
            <a:avLst/>
          </a:prstGeom>
          <a:ln w="27940">
            <a:solidFill>
              <a:srgbClr val="846826"/>
            </a:solidFill>
          </a:ln>
        </p:spPr>
        <p:style>
          <a:lnRef idx="2">
            <a:schemeClr val="accent1"/>
          </a:lnRef>
          <a:fillRef idx="0">
            <a:schemeClr val="accent1"/>
          </a:fillRef>
          <a:effectRef idx="1">
            <a:schemeClr val="accent1"/>
          </a:effectRef>
          <a:fontRef idx="minor">
            <a:schemeClr val="tx1"/>
          </a:fontRef>
        </p:style>
      </p:cxnSp>
      <p:cxnSp>
        <p:nvCxnSpPr>
          <p:cNvPr id="12" name="P051 quality trace"/>
          <p:cNvCxnSpPr/>
          <p:nvPr/>
        </p:nvCxnSpPr>
        <p:spPr>
          <a:xfrm>
            <a:off x="4572000" y="2487168"/>
            <a:ext cx="749808" cy="420624"/>
          </a:xfrm>
          <a:prstGeom prst="line">
            <a:avLst/>
          </a:prstGeom>
          <a:ln w="27940">
            <a:solidFill>
              <a:srgbClr val="846826"/>
            </a:solidFill>
          </a:ln>
        </p:spPr>
        <p:style>
          <a:lnRef idx="2">
            <a:schemeClr val="accent1"/>
          </a:lnRef>
          <a:fillRef idx="0">
            <a:schemeClr val="accent1"/>
          </a:fillRef>
          <a:effectRef idx="1">
            <a:schemeClr val="accent1"/>
          </a:effectRef>
          <a:fontRef idx="minor">
            <a:schemeClr val="tx1"/>
          </a:fontRef>
        </p:style>
      </p:cxnSp>
      <p:cxnSp>
        <p:nvCxnSpPr>
          <p:cNvPr id="13" name="P051 quality trace"/>
          <p:cNvCxnSpPr/>
          <p:nvPr/>
        </p:nvCxnSpPr>
        <p:spPr>
          <a:xfrm>
            <a:off x="5321808" y="2907792"/>
            <a:ext cx="749808" cy="329184"/>
          </a:xfrm>
          <a:prstGeom prst="line">
            <a:avLst/>
          </a:prstGeom>
          <a:ln w="27940">
            <a:solidFill>
              <a:srgbClr val="846826"/>
            </a:solidFill>
          </a:ln>
        </p:spPr>
        <p:style>
          <a:lnRef idx="2">
            <a:schemeClr val="accent1"/>
          </a:lnRef>
          <a:fillRef idx="0">
            <a:schemeClr val="accent1"/>
          </a:fillRef>
          <a:effectRef idx="1">
            <a:schemeClr val="accent1"/>
          </a:effectRef>
          <a:fontRef idx="minor">
            <a:schemeClr val="tx1"/>
          </a:fontRef>
        </p:style>
      </p:cxnSp>
      <p:cxnSp>
        <p:nvCxnSpPr>
          <p:cNvPr id="14" name="P051 quality trace"/>
          <p:cNvCxnSpPr/>
          <p:nvPr/>
        </p:nvCxnSpPr>
        <p:spPr>
          <a:xfrm>
            <a:off x="6071616" y="3236976"/>
            <a:ext cx="585216" cy="438911"/>
          </a:xfrm>
          <a:prstGeom prst="line">
            <a:avLst/>
          </a:prstGeom>
          <a:ln w="27940">
            <a:solidFill>
              <a:srgbClr val="846826"/>
            </a:solidFill>
          </a:ln>
        </p:spPr>
        <p:style>
          <a:lnRef idx="2">
            <a:schemeClr val="accent1"/>
          </a:lnRef>
          <a:fillRef idx="0">
            <a:schemeClr val="accent1"/>
          </a:fillRef>
          <a:effectRef idx="1">
            <a:schemeClr val="accent1"/>
          </a:effectRef>
          <a:fontRef idx="minor">
            <a:schemeClr val="tx1"/>
          </a:fontRef>
        </p:style>
      </p:cxnSp>
      <p:sp>
        <p:nvSpPr>
          <p:cNvPr id="15" name="P051 quality point"/>
          <p:cNvSpPr/>
          <p:nvPr/>
        </p:nvSpPr>
        <p:spPr>
          <a:xfrm>
            <a:off x="3008376" y="2084832"/>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51 quality point"/>
          <p:cNvSpPr/>
          <p:nvPr/>
        </p:nvSpPr>
        <p:spPr>
          <a:xfrm>
            <a:off x="3758183" y="2148840"/>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51 quality point"/>
          <p:cNvSpPr/>
          <p:nvPr/>
        </p:nvSpPr>
        <p:spPr>
          <a:xfrm>
            <a:off x="4507992" y="2423160"/>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51 quality point"/>
          <p:cNvSpPr/>
          <p:nvPr/>
        </p:nvSpPr>
        <p:spPr>
          <a:xfrm>
            <a:off x="5257800" y="2843784"/>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51 quality point"/>
          <p:cNvSpPr/>
          <p:nvPr/>
        </p:nvSpPr>
        <p:spPr>
          <a:xfrm>
            <a:off x="6007607" y="3172968"/>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51 quality point"/>
          <p:cNvSpPr/>
          <p:nvPr/>
        </p:nvSpPr>
        <p:spPr>
          <a:xfrm>
            <a:off x="6592824" y="3611879"/>
            <a:ext cx="128016" cy="128016"/>
          </a:xfrm>
          <a:prstGeom prst="ellipse">
            <a:avLst/>
          </a:prstGeom>
          <a:solidFill>
            <a:srgbClr val="846826"/>
          </a:solidFill>
          <a:ln>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51 code"/>
          <p:cNvSpPr/>
          <p:nvPr/>
        </p:nvSpPr>
        <p:spPr>
          <a:xfrm>
            <a:off x="7662672" y="1554480"/>
            <a:ext cx="3712463" cy="1481328"/>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51 code heading"/>
          <p:cNvSpPr txBox="1"/>
          <p:nvPr/>
        </p:nvSpPr>
        <p:spPr>
          <a:xfrm>
            <a:off x="7808976" y="1664207"/>
            <a:ext cx="341985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CODE｜雙閾值</a:t>
            </a:r>
          </a:p>
        </p:txBody>
      </p:sp>
      <p:sp>
        <p:nvSpPr>
          <p:cNvPr id="23" name="P051 code body"/>
          <p:cNvSpPr txBox="1"/>
          <p:nvPr/>
        </p:nvSpPr>
        <p:spPr>
          <a:xfrm>
            <a:off x="7827264" y="2066543"/>
            <a:ext cx="3383279" cy="859536"/>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1">
                <a:solidFill>
                  <a:srgbClr val="25324A"/>
                </a:solidFill>
                <a:latin typeface="Times New Roman"/>
                <a:ea typeface="標楷體"/>
                <a:cs typeface="Times New Roman"/>
              </a:rPr>
              <a:t>ENTER_QUALITY = 2</a:t>
            </a:r>
          </a:p>
          <a:p>
            <a:pPr algn="ctr">
              <a:lnSpc>
                <a:spcPct val="96000"/>
              </a:lnSpc>
              <a:spcBef>
                <a:spcPts val="0"/>
              </a:spcBef>
              <a:spcAft>
                <a:spcPts val="0"/>
              </a:spcAft>
            </a:pPr>
            <a:r>
              <a:rPr sz="1900" b="0" i="1">
                <a:solidFill>
                  <a:srgbClr val="25324A"/>
                </a:solidFill>
                <a:latin typeface="Times New Roman"/>
                <a:ea typeface="標楷體"/>
                <a:cs typeface="Times New Roman"/>
              </a:rPr>
              <a:t>EXIT_QUALITY = 1</a:t>
            </a:r>
          </a:p>
          <a:p>
            <a:pPr algn="ctr">
              <a:lnSpc>
                <a:spcPct val="96000"/>
              </a:lnSpc>
              <a:spcBef>
                <a:spcPts val="0"/>
              </a:spcBef>
              <a:spcAft>
                <a:spcPts val="0"/>
              </a:spcAft>
            </a:pPr>
            <a:r>
              <a:rPr sz="1900" b="0" i="0">
                <a:solidFill>
                  <a:srgbClr val="25324A"/>
                </a:solidFill>
                <a:latin typeface="Times New Roman"/>
                <a:ea typeface="標楷體"/>
                <a:cs typeface="Times New Roman"/>
              </a:rPr>
              <a:t>來源：B marked block</a:t>
            </a:r>
          </a:p>
          <a:p>
            <a:pPr algn="ctr">
              <a:lnSpc>
                <a:spcPct val="96000"/>
              </a:lnSpc>
              <a:spcBef>
                <a:spcPts val="0"/>
              </a:spcBef>
              <a:spcAft>
                <a:spcPts val="0"/>
              </a:spcAft>
            </a:pPr>
            <a:r>
              <a:rPr sz="1900" b="0" i="0">
                <a:solidFill>
                  <a:srgbClr val="25324A"/>
                </a:solidFill>
                <a:latin typeface="Times New Roman"/>
                <a:ea typeface="標楷體"/>
                <a:cs typeface="Times New Roman"/>
              </a:rPr>
              <a:t>單位：quality band</a:t>
            </a:r>
          </a:p>
        </p:txBody>
      </p:sp>
      <p:sp>
        <p:nvSpPr>
          <p:cNvPr id="24" name="P051 interpret"/>
          <p:cNvSpPr/>
          <p:nvPr/>
        </p:nvSpPr>
        <p:spPr>
          <a:xfrm>
            <a:off x="7662672" y="3255264"/>
            <a:ext cx="3712463" cy="16276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051 interpret heading"/>
          <p:cNvSpPr txBox="1"/>
          <p:nvPr/>
        </p:nvSpPr>
        <p:spPr>
          <a:xfrm>
            <a:off x="7808976" y="3364992"/>
            <a:ext cx="341985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INTERPRET｜保持與退出</a:t>
            </a:r>
          </a:p>
        </p:txBody>
      </p:sp>
      <p:sp>
        <p:nvSpPr>
          <p:cNvPr id="26" name="P051 interpret body"/>
          <p:cNvSpPr txBox="1"/>
          <p:nvPr/>
        </p:nvSpPr>
        <p:spPr>
          <a:xfrm>
            <a:off x="7827264" y="3767328"/>
            <a:ext cx="3383279" cy="1005840"/>
          </a:xfrm>
          <a:prstGeom prst="rect">
            <a:avLst/>
          </a:prstGeom>
          <a:noFill/>
          <a:ln>
            <a:noFill/>
          </a:ln>
        </p:spPr>
        <p:txBody>
          <a:bodyPr wrap="square" anchor="ctr" lIns="27432" tIns="18288" rIns="27432" bIns="18288">
            <a:spAutoFit/>
          </a:bodyPr>
          <a:lstStyle/>
          <a:p>
            <a:pPr algn="ctr">
              <a:lnSpc>
                <a:spcPct val="86000"/>
              </a:lnSpc>
              <a:spcBef>
                <a:spcPts val="0"/>
              </a:spcBef>
              <a:spcAft>
                <a:spcPts val="0"/>
              </a:spcAft>
            </a:pPr>
            <a:r>
              <a:rPr sz="1700" b="0" i="0">
                <a:solidFill>
                  <a:srgbClr val="25324A"/>
                </a:solidFill>
                <a:latin typeface="Times New Roman"/>
                <a:ea typeface="標楷體"/>
                <a:cs typeface="Times New Roman"/>
              </a:rPr>
              <a:t>已進入：quality ≥ 1 → send-ready</a:t>
            </a:r>
          </a:p>
          <a:p>
            <a:pPr algn="ctr">
              <a:lnSpc>
                <a:spcPct val="86000"/>
              </a:lnSpc>
              <a:spcBef>
                <a:spcPts val="0"/>
              </a:spcBef>
              <a:spcAft>
                <a:spcPts val="0"/>
              </a:spcAft>
            </a:pPr>
            <a:r>
              <a:rPr sz="1700" b="0" i="0">
                <a:solidFill>
                  <a:srgbClr val="25324A"/>
                </a:solidFill>
                <a:latin typeface="Times New Roman"/>
                <a:ea typeface="標楷體"/>
                <a:cs typeface="Times New Roman"/>
              </a:rPr>
              <a:t>quality &lt; 1 → </a:t>
            </a:r>
            <a:r>
              <a:rPr sz="1700" b="0" i="1">
                <a:solidFill>
                  <a:srgbClr val="25324A"/>
                </a:solidFill>
                <a:latin typeface="Times New Roman"/>
                <a:ea typeface="標楷體"/>
                <a:cs typeface="Times New Roman"/>
              </a:rPr>
              <a:t>MODE_CHANGE</a:t>
            </a:r>
            <a:r>
              <a:rPr sz="1700" b="0" i="0">
                <a:solidFill>
                  <a:srgbClr val="25324A"/>
                </a:solidFill>
                <a:latin typeface="Times New Roman"/>
                <a:ea typeface="標楷體"/>
                <a:cs typeface="Times New Roman"/>
              </a:rPr>
              <a:t> 退出</a:t>
            </a:r>
          </a:p>
          <a:p>
            <a:pPr algn="ctr">
              <a:lnSpc>
                <a:spcPct val="86000"/>
              </a:lnSpc>
              <a:spcBef>
                <a:spcPts val="0"/>
              </a:spcBef>
              <a:spcAft>
                <a:spcPts val="0"/>
              </a:spcAft>
            </a:pPr>
            <a:r>
              <a:rPr sz="1700" b="0" i="1">
                <a:solidFill>
                  <a:srgbClr val="25324A"/>
                </a:solidFill>
                <a:latin typeface="Times New Roman"/>
                <a:ea typeface="標楷體"/>
                <a:cs typeface="Times New Roman"/>
              </a:rPr>
              <a:t>hysteresis</a:t>
            </a:r>
            <a:r>
              <a:rPr sz="1700" b="0" i="0">
                <a:solidFill>
                  <a:srgbClr val="25324A"/>
                </a:solidFill>
                <a:latin typeface="Times New Roman"/>
                <a:ea typeface="標楷體"/>
                <a:cs typeface="Times New Roman"/>
              </a:rPr>
              <a:t>：雙閾值；降低來回</a:t>
            </a:r>
          </a:p>
        </p:txBody>
      </p:sp>
      <p:sp>
        <p:nvSpPr>
          <p:cNvPr id="27"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P052｜STABLE_STEPS：拒絕短暫尖峰</a:t>
            </a:r>
          </a:p>
        </p:txBody>
      </p:sp>
      <p:sp>
        <p:nvSpPr>
          <p:cNvPr id="3" name="P052 lead"/>
          <p:cNvSpPr txBox="1"/>
          <p:nvPr/>
        </p:nvSpPr>
        <p:spPr>
          <a:xfrm>
            <a:off x="859536" y="960120"/>
            <a:ext cx="10387584"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1">
                <a:solidFill>
                  <a:srgbClr val="25356B"/>
                </a:solidFill>
                <a:latin typeface="Times New Roman"/>
                <a:ea typeface="標楷體"/>
                <a:cs typeface="Times New Roman"/>
              </a:rPr>
              <a:t>STABLE_STEPS = 2</a:t>
            </a:r>
            <a:r>
              <a:rPr sz="2200" b="1" i="0">
                <a:solidFill>
                  <a:srgbClr val="25356B"/>
                </a:solidFill>
                <a:latin typeface="Times New Roman"/>
                <a:ea typeface="標楷體"/>
                <a:cs typeface="Times New Roman"/>
              </a:rPr>
              <a:t> 要求兩個連續 clock step；candidate 的 bounded edit 是 </a:t>
            </a:r>
            <a:r>
              <a:rPr sz="2200" b="1" i="1">
                <a:solidFill>
                  <a:srgbClr val="25356B"/>
                </a:solidFill>
                <a:latin typeface="Times New Roman"/>
                <a:ea typeface="標楷體"/>
                <a:cs typeface="Times New Roman"/>
              </a:rPr>
              <a:t>2 → 1</a:t>
            </a:r>
            <a:r>
              <a:rPr sz="2200" b="1" i="0">
                <a:solidFill>
                  <a:srgbClr val="25356B"/>
                </a:solidFill>
                <a:latin typeface="Times New Roman"/>
                <a:ea typeface="標楷體"/>
                <a:cs typeface="Times New Roman"/>
              </a:rPr>
              <a:t>。</a:t>
            </a:r>
          </a:p>
        </p:txBody>
      </p:sp>
      <p:sp>
        <p:nvSpPr>
          <p:cNvPr id="4" name="P052 spike"/>
          <p:cNvSpPr/>
          <p:nvPr/>
        </p:nvSpPr>
        <p:spPr>
          <a:xfrm>
            <a:off x="768096" y="1572768"/>
            <a:ext cx="5084064" cy="2395728"/>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2 spike heading"/>
          <p:cNvSpPr txBox="1"/>
          <p:nvPr/>
        </p:nvSpPr>
        <p:spPr>
          <a:xfrm>
            <a:off x="914400"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4967C2"/>
                </a:solidFill>
                <a:latin typeface="Times New Roman"/>
                <a:ea typeface="標楷體"/>
                <a:cs typeface="Times New Roman"/>
              </a:rPr>
              <a:t>短暫 spike｜hold 不足</a:t>
            </a:r>
          </a:p>
        </p:txBody>
      </p:sp>
      <p:sp>
        <p:nvSpPr>
          <p:cNvPr id="6" name="P052 spike body"/>
          <p:cNvSpPr txBox="1"/>
          <p:nvPr/>
        </p:nvSpPr>
        <p:spPr>
          <a:xfrm>
            <a:off x="932688" y="2084832"/>
            <a:ext cx="4754879" cy="1773936"/>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quality band：0 → 2 → 0</a:t>
            </a:r>
          </a:p>
          <a:p>
            <a:pPr algn="ctr">
              <a:lnSpc>
                <a:spcPct val="96000"/>
              </a:lnSpc>
              <a:spcBef>
                <a:spcPts val="0"/>
              </a:spcBef>
              <a:spcAft>
                <a:spcPts val="0"/>
              </a:spcAft>
            </a:pPr>
            <a:r>
              <a:rPr sz="1900" b="0" i="1">
                <a:solidFill>
                  <a:srgbClr val="25324A"/>
                </a:solidFill>
                <a:latin typeface="Times New Roman"/>
                <a:ea typeface="標楷體"/>
                <a:cs typeface="Times New Roman"/>
              </a:rPr>
              <a:t>stable_steps</a:t>
            </a:r>
            <a:r>
              <a:rPr sz="1900" b="0" i="0">
                <a:solidFill>
                  <a:srgbClr val="25324A"/>
                </a:solidFill>
                <a:latin typeface="Times New Roman"/>
                <a:ea typeface="標楷體"/>
                <a:cs typeface="Times New Roman"/>
              </a:rPr>
              <a:t>：1 → 0</a:t>
            </a:r>
          </a:p>
          <a:p>
            <a:pPr algn="ctr">
              <a:lnSpc>
                <a:spcPct val="96000"/>
              </a:lnSpc>
              <a:spcBef>
                <a:spcPts val="0"/>
              </a:spcBef>
              <a:spcAft>
                <a:spcPts val="0"/>
              </a:spcAft>
            </a:pPr>
            <a:r>
              <a:rPr sz="1900" b="0" i="1">
                <a:solidFill>
                  <a:srgbClr val="25324A"/>
                </a:solidFill>
                <a:latin typeface="Times New Roman"/>
                <a:ea typeface="標楷體"/>
                <a:cs typeface="Times New Roman"/>
              </a:rPr>
              <a:t>STABLE_STEPS = 2</a:t>
            </a:r>
          </a:p>
          <a:p>
            <a:pPr algn="ctr">
              <a:lnSpc>
                <a:spcPct val="96000"/>
              </a:lnSpc>
              <a:spcBef>
                <a:spcPts val="0"/>
              </a:spcBef>
              <a:spcAft>
                <a:spcPts val="0"/>
              </a:spcAft>
            </a:pPr>
            <a:r>
              <a:rPr sz="1900" b="0" i="1">
                <a:solidFill>
                  <a:srgbClr val="25324A"/>
                </a:solidFill>
                <a:latin typeface="Times New Roman"/>
                <a:ea typeface="標楷體"/>
                <a:cs typeface="Times New Roman"/>
              </a:rPr>
              <a:t>send_mode_active</a:t>
            </a:r>
            <a:r>
              <a:rPr sz="1900" b="0" i="0">
                <a:solidFill>
                  <a:srgbClr val="25324A"/>
                </a:solidFill>
                <a:latin typeface="Times New Roman"/>
                <a:ea typeface="標楷體"/>
                <a:cs typeface="Times New Roman"/>
              </a:rPr>
              <a:t> 保持 false</a:t>
            </a:r>
          </a:p>
          <a:p>
            <a:pPr algn="ctr">
              <a:lnSpc>
                <a:spcPct val="96000"/>
              </a:lnSpc>
              <a:spcBef>
                <a:spcPts val="0"/>
              </a:spcBef>
              <a:spcAft>
                <a:spcPts val="0"/>
              </a:spcAft>
            </a:pPr>
            <a:r>
              <a:rPr sz="1900" b="0" i="0">
                <a:solidFill>
                  <a:srgbClr val="25324A"/>
                </a:solidFill>
                <a:latin typeface="Times New Roman"/>
                <a:ea typeface="標楷體"/>
                <a:cs typeface="Times New Roman"/>
              </a:rPr>
              <a:t>結果：不因單步尖峰進入 send-ready</a:t>
            </a:r>
          </a:p>
        </p:txBody>
      </p:sp>
      <p:sp>
        <p:nvSpPr>
          <p:cNvPr id="7" name="P052 stable"/>
          <p:cNvSpPr/>
          <p:nvPr/>
        </p:nvSpPr>
        <p:spPr>
          <a:xfrm>
            <a:off x="6272784" y="1572768"/>
            <a:ext cx="5084064" cy="239572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2 stable heading"/>
          <p:cNvSpPr txBox="1"/>
          <p:nvPr/>
        </p:nvSpPr>
        <p:spPr>
          <a:xfrm>
            <a:off x="6419088"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007374"/>
                </a:solidFill>
                <a:latin typeface="Times New Roman"/>
                <a:ea typeface="標楷體"/>
                <a:cs typeface="Times New Roman"/>
              </a:rPr>
              <a:t>連續穩定｜達到 hold</a:t>
            </a:r>
          </a:p>
        </p:txBody>
      </p:sp>
      <p:sp>
        <p:nvSpPr>
          <p:cNvPr id="9" name="P052 stable body"/>
          <p:cNvSpPr txBox="1"/>
          <p:nvPr/>
        </p:nvSpPr>
        <p:spPr>
          <a:xfrm>
            <a:off x="6437376" y="2084832"/>
            <a:ext cx="4754879" cy="1773936"/>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quality band：2 → 2</a:t>
            </a:r>
          </a:p>
          <a:p>
            <a:pPr algn="ctr">
              <a:lnSpc>
                <a:spcPct val="96000"/>
              </a:lnSpc>
              <a:spcBef>
                <a:spcPts val="0"/>
              </a:spcBef>
              <a:spcAft>
                <a:spcPts val="0"/>
              </a:spcAft>
            </a:pPr>
            <a:r>
              <a:rPr sz="1900" b="0" i="1">
                <a:solidFill>
                  <a:srgbClr val="25324A"/>
                </a:solidFill>
                <a:latin typeface="Times New Roman"/>
                <a:ea typeface="標楷體"/>
                <a:cs typeface="Times New Roman"/>
              </a:rPr>
              <a:t>stable_steps</a:t>
            </a:r>
            <a:r>
              <a:rPr sz="1900" b="0" i="0">
                <a:solidFill>
                  <a:srgbClr val="25324A"/>
                </a:solidFill>
                <a:latin typeface="Times New Roman"/>
                <a:ea typeface="標楷體"/>
                <a:cs typeface="Times New Roman"/>
              </a:rPr>
              <a:t>：1 → 2</a:t>
            </a:r>
          </a:p>
          <a:p>
            <a:pPr algn="ctr">
              <a:lnSpc>
                <a:spcPct val="96000"/>
              </a:lnSpc>
              <a:spcBef>
                <a:spcPts val="0"/>
              </a:spcBef>
              <a:spcAft>
                <a:spcPts val="0"/>
              </a:spcAft>
            </a:pPr>
            <a:r>
              <a:rPr sz="1900" b="0" i="1">
                <a:solidFill>
                  <a:srgbClr val="25324A"/>
                </a:solidFill>
                <a:latin typeface="Times New Roman"/>
                <a:ea typeface="標楷體"/>
                <a:cs typeface="Times New Roman"/>
              </a:rPr>
              <a:t>STABLE_STEPS = 2</a:t>
            </a:r>
          </a:p>
          <a:p>
            <a:pPr algn="ctr">
              <a:lnSpc>
                <a:spcPct val="96000"/>
              </a:lnSpc>
              <a:spcBef>
                <a:spcPts val="0"/>
              </a:spcBef>
              <a:spcAft>
                <a:spcPts val="0"/>
              </a:spcAft>
            </a:pPr>
            <a:r>
              <a:rPr sz="1900" b="0" i="1">
                <a:solidFill>
                  <a:srgbClr val="25324A"/>
                </a:solidFill>
                <a:latin typeface="Times New Roman"/>
                <a:ea typeface="標楷體"/>
                <a:cs typeface="Times New Roman"/>
              </a:rPr>
              <a:t>send_mode_active</a:t>
            </a:r>
            <a:r>
              <a:rPr sz="1900" b="0" i="0">
                <a:solidFill>
                  <a:srgbClr val="25324A"/>
                </a:solidFill>
                <a:latin typeface="Times New Roman"/>
                <a:ea typeface="標楷體"/>
                <a:cs typeface="Times New Roman"/>
              </a:rPr>
              <a:t> 可能切為 true</a:t>
            </a:r>
          </a:p>
          <a:p>
            <a:pPr algn="ctr">
              <a:lnSpc>
                <a:spcPct val="96000"/>
              </a:lnSpc>
              <a:spcBef>
                <a:spcPts val="0"/>
              </a:spcBef>
              <a:spcAft>
                <a:spcPts val="0"/>
              </a:spcAft>
            </a:pPr>
            <a:r>
              <a:rPr sz="1900" b="0" i="0">
                <a:solidFill>
                  <a:srgbClr val="25324A"/>
                </a:solidFill>
                <a:latin typeface="Times New Roman"/>
                <a:ea typeface="標楷體"/>
                <a:cs typeface="Times New Roman"/>
              </a:rPr>
              <a:t>結果：MODE_CHANGE 時機改變</a:t>
            </a:r>
          </a:p>
        </p:txBody>
      </p:sp>
      <p:sp>
        <p:nvSpPr>
          <p:cNvPr id="10" name="P052 comparison connector"/>
          <p:cNvSpPr/>
          <p:nvPr/>
        </p:nvSpPr>
        <p:spPr>
          <a:xfrm>
            <a:off x="5925312" y="2560320"/>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52 prediction"/>
          <p:cNvSpPr/>
          <p:nvPr/>
        </p:nvSpPr>
        <p:spPr>
          <a:xfrm>
            <a:off x="914400" y="4315968"/>
            <a:ext cx="10369296" cy="7132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52 prediction text"/>
          <p:cNvSpPr txBox="1"/>
          <p:nvPr/>
        </p:nvSpPr>
        <p:spPr>
          <a:xfrm>
            <a:off x="1078992" y="4462272"/>
            <a:ext cx="10040112"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800" b="1" i="0">
                <a:solidFill>
                  <a:srgbClr val="25356B"/>
                </a:solidFill>
                <a:latin typeface="Times New Roman"/>
                <a:ea typeface="標楷體"/>
                <a:cs typeface="Times New Roman"/>
              </a:rPr>
              <a:t>prediction：hold=1 可能提早 </a:t>
            </a:r>
            <a:r>
              <a:rPr sz="1800" b="1" i="1">
                <a:solidFill>
                  <a:srgbClr val="25356B"/>
                </a:solidFill>
                <a:latin typeface="Times New Roman"/>
                <a:ea typeface="標楷體"/>
                <a:cs typeface="Times New Roman"/>
              </a:rPr>
              <a:t>MODE_CHANGE</a:t>
            </a:r>
            <a:r>
              <a:rPr sz="1800" b="1" i="0">
                <a:solidFill>
                  <a:srgbClr val="25356B"/>
                </a:solidFill>
                <a:latin typeface="Times New Roman"/>
                <a:ea typeface="標楷體"/>
                <a:cs typeface="Times New Roman"/>
              </a:rPr>
              <a:t> 一個固定 step；觀察 transition → </a:t>
            </a:r>
            <a:r>
              <a:rPr sz="1800" b="1" i="1">
                <a:solidFill>
                  <a:srgbClr val="25356B"/>
                </a:solidFill>
                <a:latin typeface="Times New Roman"/>
                <a:ea typeface="標楷體"/>
                <a:cs typeface="Times New Roman"/>
              </a:rPr>
              <a:t>PACKET_ATTEMPT</a:t>
            </a:r>
            <a:r>
              <a:rPr sz="1800" b="1" i="0">
                <a:solidFill>
                  <a:srgbClr val="25356B"/>
                </a:solidFill>
                <a:latin typeface="Times New Roman"/>
                <a:ea typeface="標楷體"/>
                <a:cs typeface="Times New Roman"/>
              </a:rPr>
              <a:t> → deadline／service → </a:t>
            </a:r>
            <a:r>
              <a:rPr sz="1800" b="1" i="1">
                <a:solidFill>
                  <a:srgbClr val="25356B"/>
                </a:solidFill>
                <a:latin typeface="Times New Roman"/>
                <a:ea typeface="標楷體"/>
                <a:cs typeface="Times New Roman"/>
              </a:rPr>
              <a:t>endpoint_energy_j</a:t>
            </a:r>
            <a:r>
              <a:rPr sz="1800" b="1" i="0">
                <a:solidFill>
                  <a:srgbClr val="25356B"/>
                </a:solidFill>
                <a:latin typeface="Times New Roman"/>
                <a:ea typeface="標楷體"/>
                <a:cs typeface="Times New Roman"/>
              </a:rPr>
              <a:t>。</a:t>
            </a:r>
          </a:p>
        </p:txBody>
      </p:sp>
      <p:sp>
        <p:nvSpPr>
          <p:cNvPr id="13"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P053｜Trace A：先寫 enter／hold／exit 預測</a:t>
            </a:r>
          </a:p>
        </p:txBody>
      </p:sp>
      <p:sp>
        <p:nvSpPr>
          <p:cNvPr id="3" name="P053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A frozen predecessor 固定；B candidate 尚未執行，預測先於 result。</a:t>
            </a:r>
          </a:p>
        </p:txBody>
      </p:sp>
      <p:sp>
        <p:nvSpPr>
          <p:cNvPr id="4" name="P053 Trace A figure"/>
          <p:cNvSpPr/>
          <p:nvPr/>
        </p:nvSpPr>
        <p:spPr>
          <a:xfrm>
            <a:off x="713232" y="1554480"/>
            <a:ext cx="6912864" cy="3200400"/>
          </a:xfrm>
          <a:prstGeom prst="roundRect">
            <a:avLst/>
          </a:prstGeom>
          <a:solidFill>
            <a:srgbClr val="F7F8FC"/>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3 trace label"/>
          <p:cNvSpPr txBox="1"/>
          <p:nvPr/>
        </p:nvSpPr>
        <p:spPr>
          <a:xfrm>
            <a:off x="950976" y="1719072"/>
            <a:ext cx="6382512" cy="256032"/>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007374"/>
                </a:solidFill>
                <a:latin typeface="Times New Roman"/>
                <a:ea typeface="標楷體"/>
                <a:cs typeface="Times New Roman"/>
              </a:rPr>
              <a:t>Trace A quality_band + contact window（輸入軌跡）</a:t>
            </a:r>
          </a:p>
        </p:txBody>
      </p:sp>
      <p:cxnSp>
        <p:nvCxnSpPr>
          <p:cNvPr id="6" name="P053 trace axis"/>
          <p:cNvCxnSpPr/>
          <p:nvPr/>
        </p:nvCxnSpPr>
        <p:spPr>
          <a:xfrm>
            <a:off x="1097280" y="3310128"/>
            <a:ext cx="6071616" cy="0"/>
          </a:xfrm>
          <a:prstGeom prst="line">
            <a:avLst/>
          </a:prstGeom>
          <a:ln w="20320">
            <a:solidFill>
              <a:srgbClr val="65758B"/>
            </a:solidFill>
          </a:ln>
        </p:spPr>
        <p:style>
          <a:lnRef idx="2">
            <a:schemeClr val="accent1"/>
          </a:lnRef>
          <a:fillRef idx="0">
            <a:schemeClr val="accent1"/>
          </a:fillRef>
          <a:effectRef idx="1">
            <a:schemeClr val="accent1"/>
          </a:effectRef>
          <a:fontRef idx="minor">
            <a:schemeClr val="tx1"/>
          </a:fontRef>
        </p:style>
      </p:cxnSp>
      <p:cxnSp>
        <p:nvCxnSpPr>
          <p:cNvPr id="7" name="P053 quality trace"/>
          <p:cNvCxnSpPr/>
          <p:nvPr/>
        </p:nvCxnSpPr>
        <p:spPr>
          <a:xfrm flipV="1">
            <a:off x="1188720" y="3602736"/>
            <a:ext cx="749808" cy="164592"/>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8" name="P053 quality trace"/>
          <p:cNvCxnSpPr/>
          <p:nvPr/>
        </p:nvCxnSpPr>
        <p:spPr>
          <a:xfrm flipV="1">
            <a:off x="1938528" y="3273552"/>
            <a:ext cx="749808" cy="329184"/>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9" name="P053 quality trace"/>
          <p:cNvCxnSpPr/>
          <p:nvPr/>
        </p:nvCxnSpPr>
        <p:spPr>
          <a:xfrm flipV="1">
            <a:off x="2688336" y="2834640"/>
            <a:ext cx="749808" cy="438912"/>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10" name="P053 quality trace"/>
          <p:cNvCxnSpPr/>
          <p:nvPr/>
        </p:nvCxnSpPr>
        <p:spPr>
          <a:xfrm>
            <a:off x="3438144" y="2834640"/>
            <a:ext cx="749808" cy="146304"/>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11" name="P053 quality trace"/>
          <p:cNvCxnSpPr/>
          <p:nvPr/>
        </p:nvCxnSpPr>
        <p:spPr>
          <a:xfrm flipV="1">
            <a:off x="4187952" y="2670048"/>
            <a:ext cx="749808" cy="310896"/>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12" name="P053 quality trace"/>
          <p:cNvCxnSpPr/>
          <p:nvPr/>
        </p:nvCxnSpPr>
        <p:spPr>
          <a:xfrm>
            <a:off x="4937760" y="2670048"/>
            <a:ext cx="749808" cy="146304"/>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13" name="P053 quality trace"/>
          <p:cNvCxnSpPr/>
          <p:nvPr/>
        </p:nvCxnSpPr>
        <p:spPr>
          <a:xfrm>
            <a:off x="5687568" y="2816352"/>
            <a:ext cx="749808" cy="713232"/>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cxnSp>
        <p:nvCxnSpPr>
          <p:cNvPr id="14" name="P053 quality trace"/>
          <p:cNvCxnSpPr/>
          <p:nvPr/>
        </p:nvCxnSpPr>
        <p:spPr>
          <a:xfrm>
            <a:off x="6437376" y="3529584"/>
            <a:ext cx="676656" cy="292607"/>
          </a:xfrm>
          <a:prstGeom prst="line">
            <a:avLst/>
          </a:prstGeom>
          <a:ln w="26670">
            <a:solidFill>
              <a:srgbClr val="007374"/>
            </a:solidFill>
          </a:ln>
        </p:spPr>
        <p:style>
          <a:lnRef idx="2">
            <a:schemeClr val="accent1"/>
          </a:lnRef>
          <a:fillRef idx="0">
            <a:schemeClr val="accent1"/>
          </a:fillRef>
          <a:effectRef idx="1">
            <a:schemeClr val="accent1"/>
          </a:effectRef>
          <a:fontRef idx="minor">
            <a:schemeClr val="tx1"/>
          </a:fontRef>
        </p:style>
      </p:cxnSp>
      <p:sp>
        <p:nvSpPr>
          <p:cNvPr id="15" name="P053 trace point"/>
          <p:cNvSpPr/>
          <p:nvPr/>
        </p:nvSpPr>
        <p:spPr>
          <a:xfrm>
            <a:off x="1124712" y="3703320"/>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53 trace point"/>
          <p:cNvSpPr/>
          <p:nvPr/>
        </p:nvSpPr>
        <p:spPr>
          <a:xfrm>
            <a:off x="1874520" y="3538728"/>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53 trace point"/>
          <p:cNvSpPr/>
          <p:nvPr/>
        </p:nvSpPr>
        <p:spPr>
          <a:xfrm>
            <a:off x="2624328" y="3209544"/>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053 trace point"/>
          <p:cNvSpPr/>
          <p:nvPr/>
        </p:nvSpPr>
        <p:spPr>
          <a:xfrm>
            <a:off x="3374136" y="2770632"/>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53 trace point"/>
          <p:cNvSpPr/>
          <p:nvPr/>
        </p:nvSpPr>
        <p:spPr>
          <a:xfrm>
            <a:off x="4123944" y="2916936"/>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53 trace point"/>
          <p:cNvSpPr/>
          <p:nvPr/>
        </p:nvSpPr>
        <p:spPr>
          <a:xfrm>
            <a:off x="4873752" y="2606040"/>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053 trace point"/>
          <p:cNvSpPr/>
          <p:nvPr/>
        </p:nvSpPr>
        <p:spPr>
          <a:xfrm>
            <a:off x="5623559" y="2752344"/>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053 trace point"/>
          <p:cNvSpPr/>
          <p:nvPr/>
        </p:nvSpPr>
        <p:spPr>
          <a:xfrm>
            <a:off x="6373368" y="3465576"/>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53 trace point"/>
          <p:cNvSpPr/>
          <p:nvPr/>
        </p:nvSpPr>
        <p:spPr>
          <a:xfrm>
            <a:off x="7050024" y="3758183"/>
            <a:ext cx="128016" cy="128016"/>
          </a:xfrm>
          <a:prstGeom prst="ellipse">
            <a:avLst/>
          </a:prstGeom>
          <a:solidFill>
            <a:srgbClr val="007374"/>
          </a:solidFill>
          <a:ln>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053 prompt enter：step ____"/>
          <p:cNvSpPr/>
          <p:nvPr/>
        </p:nvSpPr>
        <p:spPr>
          <a:xfrm>
            <a:off x="2852927" y="4133087"/>
            <a:ext cx="1170432" cy="347472"/>
          </a:xfrm>
          <a:prstGeom prst="roundRect">
            <a:avLst/>
          </a:prstGeom>
          <a:solidFill>
            <a:srgbClr val="FFFFFF"/>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600" b="1" i="0">
                <a:solidFill>
                  <a:srgbClr val="4967C2"/>
                </a:solidFill>
                <a:latin typeface="Times New Roman"/>
                <a:ea typeface="標楷體"/>
                <a:cs typeface="Times New Roman"/>
              </a:rPr>
              <a:t>enter：step ____</a:t>
            </a:r>
          </a:p>
        </p:txBody>
      </p:sp>
      <p:sp>
        <p:nvSpPr>
          <p:cNvPr id="25" name="P053 prompt hold：____ steps"/>
          <p:cNvSpPr/>
          <p:nvPr/>
        </p:nvSpPr>
        <p:spPr>
          <a:xfrm>
            <a:off x="4352544" y="4133087"/>
            <a:ext cx="1170432" cy="347472"/>
          </a:xfrm>
          <a:prstGeom prst="roundRect">
            <a:avLst/>
          </a:prstGeom>
          <a:solidFill>
            <a:srgbClr val="FFFFFF"/>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600" b="1" i="0">
                <a:solidFill>
                  <a:srgbClr val="846826"/>
                </a:solidFill>
                <a:latin typeface="Times New Roman"/>
                <a:ea typeface="標楷體"/>
                <a:cs typeface="Times New Roman"/>
              </a:rPr>
              <a:t>hold：____ steps</a:t>
            </a:r>
          </a:p>
        </p:txBody>
      </p:sp>
      <p:sp>
        <p:nvSpPr>
          <p:cNvPr id="26" name="P053 prompt exit：quality ____"/>
          <p:cNvSpPr/>
          <p:nvPr/>
        </p:nvSpPr>
        <p:spPr>
          <a:xfrm>
            <a:off x="5852160" y="4133087"/>
            <a:ext cx="1170432" cy="347472"/>
          </a:xfrm>
          <a:prstGeom prst="roundRect">
            <a:avLst/>
          </a:prstGeom>
          <a:solidFill>
            <a:srgbClr val="FFFFFF"/>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600" b="1" i="0">
                <a:solidFill>
                  <a:srgbClr val="660066"/>
                </a:solidFill>
                <a:latin typeface="Times New Roman"/>
                <a:ea typeface="標楷體"/>
                <a:cs typeface="Times New Roman"/>
              </a:rPr>
              <a:t>exit：quality ____</a:t>
            </a:r>
          </a:p>
        </p:txBody>
      </p:sp>
      <p:sp>
        <p:nvSpPr>
          <p:cNvPr id="27" name="P053 prediction record"/>
          <p:cNvSpPr/>
          <p:nvPr/>
        </p:nvSpPr>
        <p:spPr>
          <a:xfrm>
            <a:off x="7936992" y="1554480"/>
            <a:ext cx="3438144" cy="320040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053 prediction record heading"/>
          <p:cNvSpPr txBox="1"/>
          <p:nvPr/>
        </p:nvSpPr>
        <p:spPr>
          <a:xfrm>
            <a:off x="8083296" y="1664207"/>
            <a:ext cx="3145536"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PREDICTION RECORD｜預測紀錄</a:t>
            </a:r>
          </a:p>
        </p:txBody>
      </p:sp>
      <p:sp>
        <p:nvSpPr>
          <p:cNvPr id="29" name="P053 prediction record body"/>
          <p:cNvSpPr txBox="1"/>
          <p:nvPr/>
        </p:nvSpPr>
        <p:spPr>
          <a:xfrm>
            <a:off x="8101583" y="2066543"/>
            <a:ext cx="3108960" cy="2578608"/>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1">
                <a:solidFill>
                  <a:srgbClr val="25324A"/>
                </a:solidFill>
                <a:latin typeface="Times New Roman"/>
                <a:ea typeface="標楷體"/>
                <a:cs typeface="Times New Roman"/>
              </a:rPr>
              <a:t>ENTER_QUALITY = 2</a:t>
            </a:r>
          </a:p>
          <a:p>
            <a:pPr algn="ctr">
              <a:lnSpc>
                <a:spcPct val="96000"/>
              </a:lnSpc>
              <a:spcBef>
                <a:spcPts val="0"/>
              </a:spcBef>
              <a:spcAft>
                <a:spcPts val="0"/>
              </a:spcAft>
            </a:pPr>
            <a:r>
              <a:rPr sz="1800" b="0" i="1">
                <a:solidFill>
                  <a:srgbClr val="25324A"/>
                </a:solidFill>
                <a:latin typeface="Times New Roman"/>
                <a:ea typeface="標楷體"/>
                <a:cs typeface="Times New Roman"/>
              </a:rPr>
              <a:t>EXIT_QUALITY = 1</a:t>
            </a:r>
          </a:p>
          <a:p>
            <a:pPr algn="ctr">
              <a:lnSpc>
                <a:spcPct val="96000"/>
              </a:lnSpc>
              <a:spcBef>
                <a:spcPts val="0"/>
              </a:spcBef>
              <a:spcAft>
                <a:spcPts val="0"/>
              </a:spcAft>
            </a:pPr>
            <a:r>
              <a:rPr sz="1800" b="0" i="1">
                <a:solidFill>
                  <a:srgbClr val="25324A"/>
                </a:solidFill>
                <a:latin typeface="Times New Roman"/>
                <a:ea typeface="標楷體"/>
                <a:cs typeface="Times New Roman"/>
              </a:rPr>
              <a:t>STABLE_STEPS = 2 → 1</a:t>
            </a:r>
          </a:p>
          <a:p>
            <a:pPr algn="ctr">
              <a:lnSpc>
                <a:spcPct val="96000"/>
              </a:lnSpc>
              <a:spcBef>
                <a:spcPts val="0"/>
              </a:spcBef>
              <a:spcAft>
                <a:spcPts val="0"/>
              </a:spcAft>
            </a:pPr>
          </a:p>
          <a:p>
            <a:pPr algn="ctr">
              <a:lnSpc>
                <a:spcPct val="96000"/>
              </a:lnSpc>
              <a:spcBef>
                <a:spcPts val="0"/>
              </a:spcBef>
              <a:spcAft>
                <a:spcPts val="0"/>
              </a:spcAft>
            </a:pPr>
            <a:r>
              <a:rPr sz="1800" b="0" i="0">
                <a:solidFill>
                  <a:srgbClr val="25324A"/>
                </a:solidFill>
                <a:latin typeface="Times New Roman"/>
                <a:ea typeface="標楷體"/>
                <a:cs typeface="Times New Roman"/>
              </a:rPr>
              <a:t>我預期：</a:t>
            </a:r>
          </a:p>
          <a:p>
            <a:pPr algn="ctr">
              <a:lnSpc>
                <a:spcPct val="96000"/>
              </a:lnSpc>
              <a:spcBef>
                <a:spcPts val="0"/>
              </a:spcBef>
              <a:spcAft>
                <a:spcPts val="0"/>
              </a:spcAft>
            </a:pPr>
            <a:r>
              <a:rPr sz="1800" b="0" i="1">
                <a:solidFill>
                  <a:srgbClr val="25324A"/>
                </a:solidFill>
                <a:latin typeface="Times New Roman"/>
                <a:ea typeface="標楷體"/>
                <a:cs typeface="Times New Roman"/>
              </a:rPr>
              <a:t>MODE_CHANGE</a:t>
            </a:r>
            <a:r>
              <a:rPr sz="1800" b="0" i="0">
                <a:solidFill>
                  <a:srgbClr val="25324A"/>
                </a:solidFill>
                <a:latin typeface="Times New Roman"/>
                <a:ea typeface="標楷體"/>
                <a:cs typeface="Times New Roman"/>
              </a:rPr>
              <a:t> ______</a:t>
            </a:r>
          </a:p>
          <a:p>
            <a:pPr algn="ctr">
              <a:lnSpc>
                <a:spcPct val="96000"/>
              </a:lnSpc>
              <a:spcBef>
                <a:spcPts val="0"/>
              </a:spcBef>
              <a:spcAft>
                <a:spcPts val="0"/>
              </a:spcAft>
            </a:pPr>
            <a:r>
              <a:rPr sz="1800" b="0" i="0">
                <a:solidFill>
                  <a:srgbClr val="25324A"/>
                </a:solidFill>
                <a:latin typeface="Times New Roman"/>
                <a:ea typeface="標楷體"/>
                <a:cs typeface="Times New Roman"/>
              </a:rPr>
              <a:t>packet／service ______</a:t>
            </a:r>
          </a:p>
          <a:p>
            <a:pPr algn="ctr">
              <a:lnSpc>
                <a:spcPct val="96000"/>
              </a:lnSpc>
              <a:spcBef>
                <a:spcPts val="0"/>
              </a:spcBef>
              <a:spcAft>
                <a:spcPts val="0"/>
              </a:spcAft>
            </a:pPr>
            <a:r>
              <a:rPr sz="1800" b="0" i="0">
                <a:solidFill>
                  <a:srgbClr val="25324A"/>
                </a:solidFill>
                <a:latin typeface="Times New Roman"/>
                <a:ea typeface="標楷體"/>
                <a:cs typeface="Times New Roman"/>
              </a:rPr>
              <a:t>J ______，因為 ______</a:t>
            </a:r>
          </a:p>
        </p:txBody>
      </p:sp>
      <p:sp>
        <p:nvSpPr>
          <p:cNvPr id="30"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P054｜B-01：Trace A baseline control</a:t>
            </a:r>
          </a:p>
        </p:txBody>
      </p:sp>
      <p:sp>
        <p:nvSpPr>
          <p:cNvPr id="3" name="P054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baseline 固定 A predecessor 與 B baseline；result_path 是本次證據的唯一入口。</a:t>
            </a:r>
          </a:p>
        </p:txBody>
      </p:sp>
      <p:sp>
        <p:nvSpPr>
          <p:cNvPr id="4" name="P054 baseline decision"/>
          <p:cNvSpPr/>
          <p:nvPr/>
        </p:nvSpPr>
        <p:spPr>
          <a:xfrm>
            <a:off x="768096" y="1572768"/>
            <a:ext cx="5084064" cy="2505456"/>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4 baseline decision heading"/>
          <p:cNvSpPr txBox="1"/>
          <p:nvPr/>
        </p:nvSpPr>
        <p:spPr>
          <a:xfrm>
            <a:off x="914400"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BASELINE DECISION｜原始分支</a:t>
            </a:r>
          </a:p>
        </p:txBody>
      </p:sp>
      <p:sp>
        <p:nvSpPr>
          <p:cNvPr id="6" name="P054 baseline decision body"/>
          <p:cNvSpPr txBox="1"/>
          <p:nvPr/>
        </p:nvSpPr>
        <p:spPr>
          <a:xfrm>
            <a:off x="932688" y="2084832"/>
            <a:ext cx="4754879" cy="1883664"/>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0">
                <a:solidFill>
                  <a:srgbClr val="25324A"/>
                </a:solidFill>
                <a:latin typeface="Times New Roman"/>
                <a:ea typeface="標楷體"/>
                <a:cs typeface="Times New Roman"/>
              </a:rPr>
              <a:t>A：</a:t>
            </a:r>
            <a:r>
              <a:rPr sz="1800" b="0" i="1">
                <a:solidFill>
                  <a:srgbClr val="25324A"/>
                </a:solidFill>
                <a:latin typeface="Times New Roman"/>
                <a:ea typeface="標楷體"/>
                <a:cs typeface="Times New Roman"/>
              </a:rPr>
              <a:t>REST_DURING_GAP = WAIT</a:t>
            </a:r>
            <a:r>
              <a:rPr sz="1800" b="0" i="0">
                <a:solidFill>
                  <a:srgbClr val="25324A"/>
                </a:solidFill>
                <a:latin typeface="Times New Roman"/>
                <a:ea typeface="標楷體"/>
                <a:cs typeface="Times New Roman"/>
              </a:rPr>
              <a:t> 保持 frozen</a:t>
            </a:r>
          </a:p>
          <a:p>
            <a:pPr algn="ctr">
              <a:lnSpc>
                <a:spcPct val="96000"/>
              </a:lnSpc>
              <a:spcBef>
                <a:spcPts val="0"/>
              </a:spcBef>
              <a:spcAft>
                <a:spcPts val="0"/>
              </a:spcAft>
            </a:pPr>
            <a:r>
              <a:rPr sz="1800" b="0" i="0">
                <a:solidFill>
                  <a:srgbClr val="25324A"/>
                </a:solidFill>
                <a:latin typeface="Times New Roman"/>
                <a:ea typeface="標楷體"/>
                <a:cs typeface="Times New Roman"/>
              </a:rPr>
              <a:t>B：</a:t>
            </a:r>
            <a:r>
              <a:rPr sz="1800" b="0" i="1">
                <a:solidFill>
                  <a:srgbClr val="25324A"/>
                </a:solidFill>
                <a:latin typeface="Times New Roman"/>
                <a:ea typeface="標楷體"/>
                <a:cs typeface="Times New Roman"/>
              </a:rPr>
              <a:t>STABLE_STEPS = 2</a:t>
            </a:r>
          </a:p>
          <a:p>
            <a:pPr algn="ctr">
              <a:lnSpc>
                <a:spcPct val="96000"/>
              </a:lnSpc>
              <a:spcBef>
                <a:spcPts val="0"/>
              </a:spcBef>
              <a:spcAft>
                <a:spcPts val="0"/>
              </a:spcAft>
            </a:pPr>
            <a:r>
              <a:rPr sz="1800" b="0" i="0">
                <a:solidFill>
                  <a:srgbClr val="25324A"/>
                </a:solidFill>
                <a:latin typeface="Times New Roman"/>
                <a:ea typeface="標楷體"/>
                <a:cs typeface="Times New Roman"/>
              </a:rPr>
              <a:t>未進入：quality ≥ 2 且 stable_steps ≥ 2</a:t>
            </a:r>
          </a:p>
          <a:p>
            <a:pPr algn="ctr">
              <a:lnSpc>
                <a:spcPct val="96000"/>
              </a:lnSpc>
              <a:spcBef>
                <a:spcPts val="0"/>
              </a:spcBef>
              <a:spcAft>
                <a:spcPts val="0"/>
              </a:spcAft>
            </a:pPr>
            <a:r>
              <a:rPr sz="1800" b="0" i="0">
                <a:solidFill>
                  <a:srgbClr val="25324A"/>
                </a:solidFill>
                <a:latin typeface="Times New Roman"/>
                <a:ea typeface="標楷體"/>
                <a:cs typeface="Times New Roman"/>
              </a:rPr>
              <a:t>已進入：quality ≥ 1 才保持 send-ready</a:t>
            </a:r>
          </a:p>
          <a:p>
            <a:pPr algn="ctr">
              <a:lnSpc>
                <a:spcPct val="96000"/>
              </a:lnSpc>
              <a:spcBef>
                <a:spcPts val="0"/>
              </a:spcBef>
              <a:spcAft>
                <a:spcPts val="0"/>
              </a:spcAft>
            </a:pPr>
            <a:r>
              <a:rPr sz="1800" b="0" i="0">
                <a:solidFill>
                  <a:srgbClr val="25324A"/>
                </a:solidFill>
                <a:latin typeface="Times New Roman"/>
                <a:ea typeface="標楷體"/>
                <a:cs typeface="Times New Roman"/>
              </a:rPr>
              <a:t>來源：policy + Trace A</a:t>
            </a:r>
          </a:p>
        </p:txBody>
      </p:sp>
      <p:sp>
        <p:nvSpPr>
          <p:cNvPr id="7" name="P054 baseline evidence"/>
          <p:cNvSpPr/>
          <p:nvPr/>
        </p:nvSpPr>
        <p:spPr>
          <a:xfrm>
            <a:off x="6272784" y="1572768"/>
            <a:ext cx="5084064" cy="2505456"/>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4 baseline evidence heading"/>
          <p:cNvSpPr txBox="1"/>
          <p:nvPr/>
        </p:nvSpPr>
        <p:spPr>
          <a:xfrm>
            <a:off x="6419088"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READ EVIDENCE｜讀取欄位</a:t>
            </a:r>
          </a:p>
        </p:txBody>
      </p:sp>
      <p:sp>
        <p:nvSpPr>
          <p:cNvPr id="9" name="P054 baseline evidence body"/>
          <p:cNvSpPr txBox="1"/>
          <p:nvPr/>
        </p:nvSpPr>
        <p:spPr>
          <a:xfrm>
            <a:off x="6437376" y="2084832"/>
            <a:ext cx="4754879" cy="1883664"/>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（結果路徑）</a:t>
            </a:r>
          </a:p>
          <a:p>
            <a:pPr algn="ctr">
              <a:lnSpc>
                <a:spcPct val="96000"/>
              </a:lnSpc>
              <a:spcBef>
                <a:spcPts val="0"/>
              </a:spcBef>
              <a:spcAft>
                <a:spcPts val="0"/>
              </a:spcAft>
            </a:pPr>
            <a:r>
              <a:rPr sz="1800" b="0" i="0">
                <a:solidFill>
                  <a:srgbClr val="25324A"/>
                </a:solidFill>
                <a:latin typeface="Times New Roman"/>
                <a:ea typeface="標楷體"/>
                <a:cs typeface="Times New Roman"/>
              </a:rPr>
              <a:t>來源：runner stdout；單位：字串 path</a:t>
            </a:r>
          </a:p>
          <a:p>
            <a:pPr algn="ctr">
              <a:lnSpc>
                <a:spcPct val="96000"/>
              </a:lnSpc>
              <a:spcBef>
                <a:spcPts val="0"/>
              </a:spcBef>
              <a:spcAft>
                <a:spcPts val="0"/>
              </a:spcAft>
            </a:pP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（事件重播檔）</a:t>
            </a:r>
          </a:p>
          <a:p>
            <a:pPr algn="ctr">
              <a:lnSpc>
                <a:spcPct val="96000"/>
              </a:lnSpc>
              <a:spcBef>
                <a:spcPts val="0"/>
              </a:spcBef>
              <a:spcAft>
                <a:spcPts val="0"/>
              </a:spcAft>
            </a:pPr>
            <a:r>
              <a:rPr sz="1800" b="0" i="0">
                <a:solidFill>
                  <a:srgbClr val="25324A"/>
                </a:solidFill>
                <a:latin typeface="Times New Roman"/>
                <a:ea typeface="標楷體"/>
                <a:cs typeface="Times New Roman"/>
              </a:rPr>
              <a:t>來源：同一 generated run；作用：state／queue／packet</a:t>
            </a:r>
          </a:p>
          <a:p>
            <a:pPr algn="ctr">
              <a:lnSpc>
                <a:spcPct val="96000"/>
              </a:lnSpc>
              <a:spcBef>
                <a:spcPts val="0"/>
              </a:spcBef>
              <a:spcAft>
                <a:spcPts val="0"/>
              </a:spcAft>
            </a:pPr>
            <a:r>
              <a:rPr sz="1800" b="0" i="0">
                <a:solidFill>
                  <a:srgbClr val="25324A"/>
                </a:solidFill>
                <a:latin typeface="Times New Roman"/>
                <a:ea typeface="標楷體"/>
                <a:cs typeface="Times New Roman"/>
              </a:rPr>
              <a:t>各值：待補</a:t>
            </a:r>
          </a:p>
        </p:txBody>
      </p:sp>
      <p:sp>
        <p:nvSpPr>
          <p:cNvPr id="10" name="P054 control rule"/>
          <p:cNvSpPr/>
          <p:nvPr/>
        </p:nvSpPr>
        <p:spPr>
          <a:xfrm>
            <a:off x="914400" y="4425696"/>
            <a:ext cx="10369296" cy="60350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54 control text"/>
          <p:cNvSpPr txBox="1"/>
          <p:nvPr/>
        </p:nvSpPr>
        <p:spPr>
          <a:xfrm>
            <a:off x="1078992" y="4572000"/>
            <a:ext cx="10040112" cy="29260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800" b="1" i="0">
                <a:solidFill>
                  <a:srgbClr val="25356B"/>
                </a:solidFill>
                <a:latin typeface="Times New Roman"/>
                <a:ea typeface="標楷體"/>
                <a:cs typeface="Times New Roman"/>
              </a:rPr>
              <a:t>control interpretation：hold=2 的原始 behavior；candidate 只改 hold，才能比較 transition 後的 packet／service／J。</a:t>
            </a:r>
          </a:p>
        </p:txBody>
      </p:sp>
      <p:sp>
        <p:nvSpPr>
          <p:cNvPr id="12"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P055｜B-02：只改 STABLE_STEPS：2 → 1</a:t>
            </a:r>
          </a:p>
        </p:txBody>
      </p:sp>
      <p:sp>
        <p:nvSpPr>
          <p:cNvPr id="3" name="P055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200" b="1" i="0">
                <a:solidFill>
                  <a:srgbClr val="25356B"/>
                </a:solidFill>
                <a:latin typeface="Times New Roman"/>
                <a:ea typeface="標楷體"/>
                <a:cs typeface="Times New Roman"/>
              </a:rPr>
              <a:t>exact edit：A、B 與 C block 不變；只測試 B hold。</a:t>
            </a:r>
          </a:p>
        </p:txBody>
      </p:sp>
      <p:sp>
        <p:nvSpPr>
          <p:cNvPr id="4" name="P055 code block"/>
          <p:cNvSpPr/>
          <p:nvPr/>
        </p:nvSpPr>
        <p:spPr>
          <a:xfrm>
            <a:off x="749808" y="1554480"/>
            <a:ext cx="5303520" cy="2395728"/>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5 code heading"/>
          <p:cNvSpPr txBox="1"/>
          <p:nvPr/>
        </p:nvSpPr>
        <p:spPr>
          <a:xfrm>
            <a:off x="932688" y="1719072"/>
            <a:ext cx="4937760" cy="256032"/>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660066"/>
                </a:solidFill>
                <a:latin typeface="Times New Roman"/>
                <a:ea typeface="標楷體"/>
                <a:cs typeface="Times New Roman"/>
              </a:rPr>
              <a:t>student_policy.py｜lab-b-enter-exit-hold</a:t>
            </a:r>
          </a:p>
        </p:txBody>
      </p:sp>
      <p:sp>
        <p:nvSpPr>
          <p:cNvPr id="6" name="P055 code lines"/>
          <p:cNvSpPr txBox="1"/>
          <p:nvPr/>
        </p:nvSpPr>
        <p:spPr>
          <a:xfrm>
            <a:off x="987552" y="2103120"/>
            <a:ext cx="4791456" cy="1389888"/>
          </a:xfrm>
          <a:prstGeom prst="rect">
            <a:avLst/>
          </a:prstGeom>
          <a:noFill/>
          <a:ln>
            <a:noFill/>
          </a:ln>
        </p:spPr>
        <p:txBody>
          <a:bodyPr wrap="square" anchor="ctr" lIns="36576" tIns="18288" rIns="36576" bIns="18288">
            <a:spAutoFit/>
          </a:bodyPr>
          <a:lstStyle/>
          <a:p>
            <a:pPr algn="l">
              <a:lnSpc>
                <a:spcPct val="92000"/>
              </a:lnSpc>
              <a:spcBef>
                <a:spcPts val="0"/>
              </a:spcBef>
              <a:spcAft>
                <a:spcPts val="0"/>
              </a:spcAft>
            </a:pPr>
            <a:r>
              <a:rPr sz="1800" b="0" i="1">
                <a:solidFill>
                  <a:srgbClr val="25324A"/>
                </a:solidFill>
                <a:latin typeface="Times New Roman"/>
                <a:ea typeface="標楷體"/>
                <a:cs typeface="Times New Roman"/>
              </a:rPr>
              <a:t>`ENTER_QUALITY = 2`  # original</a:t>
            </a:r>
          </a:p>
          <a:p>
            <a:pPr algn="l">
              <a:lnSpc>
                <a:spcPct val="92000"/>
              </a:lnSpc>
              <a:spcBef>
                <a:spcPts val="0"/>
              </a:spcBef>
              <a:spcAft>
                <a:spcPts val="0"/>
              </a:spcAft>
            </a:pPr>
            <a:r>
              <a:rPr sz="1800" b="0" i="1">
                <a:solidFill>
                  <a:srgbClr val="25324A"/>
                </a:solidFill>
                <a:latin typeface="Times New Roman"/>
                <a:ea typeface="標楷體"/>
                <a:cs typeface="Times New Roman"/>
              </a:rPr>
              <a:t>`EXIT_QUALITY = 1`    # original</a:t>
            </a:r>
          </a:p>
          <a:p>
            <a:pPr algn="l">
              <a:lnSpc>
                <a:spcPct val="92000"/>
              </a:lnSpc>
              <a:spcBef>
                <a:spcPts val="0"/>
              </a:spcBef>
              <a:spcAft>
                <a:spcPts val="0"/>
              </a:spcAft>
            </a:pPr>
            <a:r>
              <a:rPr sz="1800" b="0" i="1">
                <a:solidFill>
                  <a:srgbClr val="25324A"/>
                </a:solidFill>
                <a:latin typeface="Times New Roman"/>
                <a:ea typeface="標楷體"/>
                <a:cs typeface="Times New Roman"/>
              </a:rPr>
              <a:t>`STABLE_STEPS = 2`     # original</a:t>
            </a:r>
          </a:p>
          <a:p>
            <a:pPr algn="l">
              <a:lnSpc>
                <a:spcPct val="92000"/>
              </a:lnSpc>
              <a:spcBef>
                <a:spcPts val="0"/>
              </a:spcBef>
              <a:spcAft>
                <a:spcPts val="0"/>
              </a:spcAft>
            </a:pPr>
            <a:r>
              <a:rPr sz="1800" b="0" i="1">
                <a:solidFill>
                  <a:srgbClr val="25324A"/>
                </a:solidFill>
                <a:latin typeface="Times New Roman"/>
                <a:ea typeface="標楷體"/>
                <a:cs typeface="Times New Roman"/>
              </a:rPr>
              <a:t/>
            </a:r>
          </a:p>
          <a:p>
            <a:pPr algn="l">
              <a:lnSpc>
                <a:spcPct val="92000"/>
              </a:lnSpc>
              <a:spcBef>
                <a:spcPts val="0"/>
              </a:spcBef>
              <a:spcAft>
                <a:spcPts val="0"/>
              </a:spcAft>
            </a:pPr>
            <a:r>
              <a:rPr sz="1800" b="0" i="1">
                <a:solidFill>
                  <a:srgbClr val="25324A"/>
                </a:solidFill>
                <a:latin typeface="Times New Roman"/>
                <a:ea typeface="標楷體"/>
                <a:cs typeface="Times New Roman"/>
              </a:rPr>
              <a:t>唯一修改：`STABLE_STEPS = 1`</a:t>
            </a:r>
          </a:p>
        </p:txBody>
      </p:sp>
      <p:sp>
        <p:nvSpPr>
          <p:cNvPr id="7" name="P055 why"/>
          <p:cNvSpPr/>
          <p:nvPr/>
        </p:nvSpPr>
        <p:spPr>
          <a:xfrm>
            <a:off x="6327648" y="1554480"/>
            <a:ext cx="5029200" cy="107899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5 why heading"/>
          <p:cNvSpPr txBox="1"/>
          <p:nvPr/>
        </p:nvSpPr>
        <p:spPr>
          <a:xfrm>
            <a:off x="6473952" y="1664207"/>
            <a:ext cx="4736592"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WHY｜為何選這一行</a:t>
            </a:r>
          </a:p>
        </p:txBody>
      </p:sp>
      <p:sp>
        <p:nvSpPr>
          <p:cNvPr id="9" name="P055 why body"/>
          <p:cNvSpPr txBox="1"/>
          <p:nvPr/>
        </p:nvSpPr>
        <p:spPr>
          <a:xfrm>
            <a:off x="6492240" y="2066543"/>
            <a:ext cx="4700016" cy="45719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0">
                <a:solidFill>
                  <a:srgbClr val="25324A"/>
                </a:solidFill>
                <a:latin typeface="Times New Roman"/>
                <a:ea typeface="標楷體"/>
                <a:cs typeface="Times New Roman"/>
              </a:rPr>
              <a:t>hold 長度先改變 MODE_CHANGE timing。</a:t>
            </a:r>
          </a:p>
        </p:txBody>
      </p:sp>
      <p:sp>
        <p:nvSpPr>
          <p:cNvPr id="10" name="P055 compile"/>
          <p:cNvSpPr/>
          <p:nvPr/>
        </p:nvSpPr>
        <p:spPr>
          <a:xfrm>
            <a:off x="6254496" y="2743200"/>
            <a:ext cx="5102352" cy="1627632"/>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55 compile heading"/>
          <p:cNvSpPr txBox="1"/>
          <p:nvPr/>
        </p:nvSpPr>
        <p:spPr>
          <a:xfrm>
            <a:off x="6400800" y="2852928"/>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D7DEEA"/>
                </a:solidFill>
                <a:latin typeface="Times New Roman"/>
                <a:ea typeface="標楷體"/>
                <a:cs typeface="Times New Roman"/>
              </a:rPr>
              <a:t>COMPILE｜備份與語法 gate</a:t>
            </a:r>
          </a:p>
        </p:txBody>
      </p:sp>
      <p:sp>
        <p:nvSpPr>
          <p:cNvPr id="12" name="P055 compile body"/>
          <p:cNvSpPr txBox="1"/>
          <p:nvPr/>
        </p:nvSpPr>
        <p:spPr>
          <a:xfrm>
            <a:off x="6254496" y="3255264"/>
            <a:ext cx="5102352" cy="1005840"/>
          </a:xfrm>
          <a:prstGeom prst="rect">
            <a:avLst/>
          </a:prstGeom>
          <a:noFill/>
          <a:ln>
            <a:noFill/>
          </a:ln>
        </p:spPr>
        <p:txBody>
          <a:bodyPr wrap="square" anchor="ctr" lIns="0" tIns="0" rIns="0" bIns="0">
            <a:spAutoFit/>
          </a:bodyPr>
          <a:lstStyle/>
          <a:p>
            <a:pPr algn="ctr">
              <a:lnSpc>
                <a:spcPct val="76000"/>
              </a:lnSpc>
              <a:spcBef>
                <a:spcPts val="0"/>
              </a:spcBef>
              <a:spcAft>
                <a:spcPts val="0"/>
              </a:spcAft>
            </a:pPr>
            <a:r>
              <a:rPr sz="1600" b="0" i="1">
                <a:solidFill>
                  <a:srgbClr val="25324A"/>
                </a:solidFill>
                <a:latin typeface="Times New Roman"/>
                <a:ea typeface="標楷體"/>
                <a:cs typeface="Times New Roman"/>
              </a:rPr>
              <a:t>cp student_policy.py student_policy.before-B-edit.py</a:t>
            </a:r>
          </a:p>
          <a:p>
            <a:pPr algn="ctr">
              <a:lnSpc>
                <a:spcPct val="76000"/>
              </a:lnSpc>
              <a:spcBef>
                <a:spcPts val="0"/>
              </a:spcBef>
              <a:spcAft>
                <a:spcPts val="0"/>
              </a:spcAft>
            </a:pPr>
            <a:r>
              <a:rPr sz="1600" b="0" i="1">
                <a:solidFill>
                  <a:srgbClr val="25324A"/>
                </a:solidFill>
                <a:latin typeface="Times New Roman"/>
                <a:ea typeface="標楷體"/>
                <a:cs typeface="Times New Roman"/>
              </a:rPr>
              <a:t>.venv/bin/python -m py_compile student_policy.py</a:t>
            </a:r>
          </a:p>
          <a:p>
            <a:pPr algn="ctr">
              <a:lnSpc>
                <a:spcPct val="76000"/>
              </a:lnSpc>
              <a:spcBef>
                <a:spcPts val="0"/>
              </a:spcBef>
              <a:spcAft>
                <a:spcPts val="0"/>
              </a:spcAft>
            </a:pPr>
            <a:r>
              <a:rPr sz="1600" b="0" i="1">
                <a:solidFill>
                  <a:srgbClr val="25324A"/>
                </a:solidFill>
                <a:latin typeface="Times New Roman"/>
                <a:ea typeface="標楷體"/>
                <a:cs typeface="Times New Roman"/>
              </a:rPr>
              <a:t>copy /Y student_policy.py student_policy.before-B-edit.py</a:t>
            </a:r>
          </a:p>
          <a:p>
            <a:pPr algn="ctr">
              <a:lnSpc>
                <a:spcPct val="76000"/>
              </a:lnSpc>
              <a:spcBef>
                <a:spcPts val="0"/>
              </a:spcBef>
              <a:spcAft>
                <a:spcPts val="0"/>
              </a:spcAft>
            </a:pPr>
            <a:r>
              <a:rPr sz="1600" b="0" i="1">
                <a:solidFill>
                  <a:srgbClr val="25324A"/>
                </a:solidFill>
                <a:latin typeface="Times New Roman"/>
                <a:ea typeface="標楷體"/>
                <a:cs typeface="Times New Roman"/>
              </a:rPr>
              <a:t>.venv\Scripts\python.exe -m py_compile student_policy.py</a:t>
            </a:r>
          </a:p>
        </p:txBody>
      </p:sp>
      <p:sp>
        <p:nvSpPr>
          <p:cNvPr id="13" name="P055 prediction"/>
          <p:cNvSpPr/>
          <p:nvPr/>
        </p:nvSpPr>
        <p:spPr>
          <a:xfrm>
            <a:off x="914400" y="4462272"/>
            <a:ext cx="10369296" cy="51206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055 prediction text"/>
          <p:cNvSpPr txBox="1"/>
          <p:nvPr/>
        </p:nvSpPr>
        <p:spPr>
          <a:xfrm>
            <a:off x="1078992" y="4535424"/>
            <a:ext cx="10040112" cy="347472"/>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700" b="1" i="0">
                <a:solidFill>
                  <a:srgbClr val="25356B"/>
                </a:solidFill>
                <a:latin typeface="Times New Roman"/>
                <a:ea typeface="標楷體"/>
                <a:cs typeface="Times New Roman"/>
              </a:rPr>
              <a:t>prediction：hold=1 可能早送；先核對 transition、service、endpoint J。</a:t>
            </a:r>
          </a:p>
        </p:txBody>
      </p:sp>
      <p:sp>
        <p:nvSpPr>
          <p:cNvPr id="15"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P056｜B-03：三段 run 共用 receipt</a:t>
            </a:r>
          </a:p>
        </p:txBody>
      </p:sp>
      <p:sp>
        <p:nvSpPr>
          <p:cNvPr id="3" name="P056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三次 exact run 共用 stdout result_path；candidate freeze 後才進 Trace B。</a:t>
            </a:r>
          </a:p>
        </p:txBody>
      </p:sp>
      <p:sp>
        <p:nvSpPr>
          <p:cNvPr id="4" name="P056 ribbon 1"/>
          <p:cNvSpPr/>
          <p:nvPr/>
        </p:nvSpPr>
        <p:spPr>
          <a:xfrm>
            <a:off x="530352" y="1517904"/>
            <a:ext cx="3584448" cy="356616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6 heading 1"/>
          <p:cNvSpPr txBox="1"/>
          <p:nvPr/>
        </p:nvSpPr>
        <p:spPr>
          <a:xfrm>
            <a:off x="640080" y="1682496"/>
            <a:ext cx="3364992" cy="274320"/>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4967C2"/>
                </a:solidFill>
                <a:latin typeface="Times New Roman"/>
                <a:ea typeface="標楷體"/>
                <a:cs typeface="Times New Roman"/>
              </a:rPr>
              <a:t>1｜Trace A baseline</a:t>
            </a:r>
          </a:p>
        </p:txBody>
      </p:sp>
      <p:sp>
        <p:nvSpPr>
          <p:cNvPr id="6" name="P056 POSIX label 1"/>
          <p:cNvSpPr txBox="1"/>
          <p:nvPr/>
        </p:nvSpPr>
        <p:spPr>
          <a:xfrm>
            <a:off x="694944" y="205740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4967C2"/>
                </a:solidFill>
                <a:latin typeface="Times New Roman"/>
                <a:ea typeface="標楷體"/>
                <a:cs typeface="Times New Roman"/>
              </a:rPr>
              <a:t>POSIX / WSL</a:t>
            </a:r>
          </a:p>
        </p:txBody>
      </p:sp>
      <p:sp>
        <p:nvSpPr>
          <p:cNvPr id="7" name="P056 POSIX command 1"/>
          <p:cNvSpPr txBox="1"/>
          <p:nvPr/>
        </p:nvSpPr>
        <p:spPr>
          <a:xfrm>
            <a:off x="676656" y="233172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bash course.sh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trace-a-baseline</a:t>
            </a:r>
          </a:p>
        </p:txBody>
      </p:sp>
      <p:sp>
        <p:nvSpPr>
          <p:cNvPr id="8" name="P056 Windows label 1"/>
          <p:cNvSpPr txBox="1"/>
          <p:nvPr/>
        </p:nvSpPr>
        <p:spPr>
          <a:xfrm>
            <a:off x="694944" y="329184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4967C2"/>
                </a:solidFill>
                <a:latin typeface="Times New Roman"/>
                <a:ea typeface="標楷體"/>
                <a:cs typeface="Times New Roman"/>
              </a:rPr>
              <a:t>Windows CMD</a:t>
            </a:r>
          </a:p>
        </p:txBody>
      </p:sp>
      <p:sp>
        <p:nvSpPr>
          <p:cNvPr id="9" name="P056 Windows command 1"/>
          <p:cNvSpPr txBox="1"/>
          <p:nvPr/>
        </p:nvSpPr>
        <p:spPr>
          <a:xfrm>
            <a:off x="676656" y="356616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course.cmd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trace-a-baseline</a:t>
            </a:r>
          </a:p>
        </p:txBody>
      </p:sp>
      <p:sp>
        <p:nvSpPr>
          <p:cNvPr id="10" name="P056 receipt 1"/>
          <p:cNvSpPr txBox="1"/>
          <p:nvPr/>
        </p:nvSpPr>
        <p:spPr>
          <a:xfrm>
            <a:off x="694944" y="4443984"/>
            <a:ext cx="3255264" cy="530352"/>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1" i="0">
                <a:solidFill>
                  <a:srgbClr val="4967C2"/>
                </a:solidFill>
                <a:latin typeface="Times New Roman"/>
                <a:ea typeface="標楷體"/>
                <a:cs typeface="Times New Roman"/>
              </a:rPr>
              <a:t>result_path｜artifact_source 待補</a:t>
            </a:r>
          </a:p>
        </p:txBody>
      </p:sp>
      <p:sp>
        <p:nvSpPr>
          <p:cNvPr id="11" name="P056 ribbon 2"/>
          <p:cNvSpPr/>
          <p:nvPr/>
        </p:nvSpPr>
        <p:spPr>
          <a:xfrm>
            <a:off x="4315968" y="1517904"/>
            <a:ext cx="3584448" cy="356616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56 heading 2"/>
          <p:cNvSpPr txBox="1"/>
          <p:nvPr/>
        </p:nvSpPr>
        <p:spPr>
          <a:xfrm>
            <a:off x="4425696" y="1682496"/>
            <a:ext cx="3364992" cy="274320"/>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660066"/>
                </a:solidFill>
                <a:latin typeface="Times New Roman"/>
                <a:ea typeface="標楷體"/>
                <a:cs typeface="Times New Roman"/>
              </a:rPr>
              <a:t>2｜candidate --freeze</a:t>
            </a:r>
          </a:p>
        </p:txBody>
      </p:sp>
      <p:sp>
        <p:nvSpPr>
          <p:cNvPr id="13" name="P056 POSIX label 2"/>
          <p:cNvSpPr txBox="1"/>
          <p:nvPr/>
        </p:nvSpPr>
        <p:spPr>
          <a:xfrm>
            <a:off x="4480559" y="205740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660066"/>
                </a:solidFill>
                <a:latin typeface="Times New Roman"/>
                <a:ea typeface="標楷體"/>
                <a:cs typeface="Times New Roman"/>
              </a:rPr>
              <a:t>POSIX / WSL</a:t>
            </a:r>
          </a:p>
        </p:txBody>
      </p:sp>
      <p:sp>
        <p:nvSpPr>
          <p:cNvPr id="14" name="P056 POSIX command 2"/>
          <p:cNvSpPr txBox="1"/>
          <p:nvPr/>
        </p:nvSpPr>
        <p:spPr>
          <a:xfrm>
            <a:off x="4462272" y="233172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bash course.sh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trace-a-candidate --freeze</a:t>
            </a:r>
          </a:p>
        </p:txBody>
      </p:sp>
      <p:sp>
        <p:nvSpPr>
          <p:cNvPr id="15" name="P056 Windows label 2"/>
          <p:cNvSpPr txBox="1"/>
          <p:nvPr/>
        </p:nvSpPr>
        <p:spPr>
          <a:xfrm>
            <a:off x="4480559" y="329184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660066"/>
                </a:solidFill>
                <a:latin typeface="Times New Roman"/>
                <a:ea typeface="標楷體"/>
                <a:cs typeface="Times New Roman"/>
              </a:rPr>
              <a:t>Windows CMD</a:t>
            </a:r>
          </a:p>
        </p:txBody>
      </p:sp>
      <p:sp>
        <p:nvSpPr>
          <p:cNvPr id="16" name="P056 Windows command 2"/>
          <p:cNvSpPr txBox="1"/>
          <p:nvPr/>
        </p:nvSpPr>
        <p:spPr>
          <a:xfrm>
            <a:off x="4462272" y="356616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course.cmd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trace-a-candidate --freeze</a:t>
            </a:r>
          </a:p>
        </p:txBody>
      </p:sp>
      <p:sp>
        <p:nvSpPr>
          <p:cNvPr id="17" name="P056 receipt 2"/>
          <p:cNvSpPr txBox="1"/>
          <p:nvPr/>
        </p:nvSpPr>
        <p:spPr>
          <a:xfrm>
            <a:off x="4480559" y="4443984"/>
            <a:ext cx="3255264" cy="530352"/>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1" i="0">
                <a:solidFill>
                  <a:srgbClr val="660066"/>
                </a:solidFill>
                <a:latin typeface="Times New Roman"/>
                <a:ea typeface="標楷體"/>
                <a:cs typeface="Times New Roman"/>
              </a:rPr>
              <a:t>result_path +</a:t>
            </a:r>
          </a:p>
          <a:p>
            <a:pPr algn="ctr">
              <a:lnSpc>
                <a:spcPct val="82000"/>
              </a:lnSpc>
              <a:spcBef>
                <a:spcPts val="0"/>
              </a:spcBef>
              <a:spcAft>
                <a:spcPts val="0"/>
              </a:spcAft>
            </a:pPr>
            <a:r>
              <a:rPr sz="1800" b="1" i="0">
                <a:solidFill>
                  <a:srgbClr val="660066"/>
                </a:solidFill>
                <a:latin typeface="Times New Roman"/>
                <a:ea typeface="標楷體"/>
                <a:cs typeface="Times New Roman"/>
              </a:rPr>
              <a:t>lab-b-frozen.{json,py}</a:t>
            </a:r>
          </a:p>
        </p:txBody>
      </p:sp>
      <p:sp>
        <p:nvSpPr>
          <p:cNvPr id="18" name="P056 ribbon 3"/>
          <p:cNvSpPr/>
          <p:nvPr/>
        </p:nvSpPr>
        <p:spPr>
          <a:xfrm>
            <a:off x="8101583" y="1517904"/>
            <a:ext cx="3584448" cy="356616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056 heading 3"/>
          <p:cNvSpPr txBox="1"/>
          <p:nvPr/>
        </p:nvSpPr>
        <p:spPr>
          <a:xfrm>
            <a:off x="8211311" y="1682496"/>
            <a:ext cx="3364992" cy="274320"/>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007374"/>
                </a:solidFill>
                <a:latin typeface="Times New Roman"/>
                <a:ea typeface="標楷體"/>
                <a:cs typeface="Times New Roman"/>
              </a:rPr>
              <a:t>3｜Trace B withheld</a:t>
            </a:r>
          </a:p>
        </p:txBody>
      </p:sp>
      <p:sp>
        <p:nvSpPr>
          <p:cNvPr id="20" name="P056 POSIX label 3"/>
          <p:cNvSpPr txBox="1"/>
          <p:nvPr/>
        </p:nvSpPr>
        <p:spPr>
          <a:xfrm>
            <a:off x="8266175" y="205740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007374"/>
                </a:solidFill>
                <a:latin typeface="Times New Roman"/>
                <a:ea typeface="標楷體"/>
                <a:cs typeface="Times New Roman"/>
              </a:rPr>
              <a:t>POSIX / WSL</a:t>
            </a:r>
          </a:p>
        </p:txBody>
      </p:sp>
      <p:sp>
        <p:nvSpPr>
          <p:cNvPr id="21" name="P056 POSIX command 3"/>
          <p:cNvSpPr txBox="1"/>
          <p:nvPr/>
        </p:nvSpPr>
        <p:spPr>
          <a:xfrm>
            <a:off x="8247888" y="233172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bash course.sh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trace-b</a:t>
            </a:r>
          </a:p>
        </p:txBody>
      </p:sp>
      <p:sp>
        <p:nvSpPr>
          <p:cNvPr id="22" name="P056 Windows label 3"/>
          <p:cNvSpPr txBox="1"/>
          <p:nvPr/>
        </p:nvSpPr>
        <p:spPr>
          <a:xfrm>
            <a:off x="8266175" y="3291840"/>
            <a:ext cx="3255264" cy="201168"/>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007374"/>
                </a:solidFill>
                <a:latin typeface="Times New Roman"/>
                <a:ea typeface="標楷體"/>
                <a:cs typeface="Times New Roman"/>
              </a:rPr>
              <a:t>Windows CMD</a:t>
            </a:r>
          </a:p>
        </p:txBody>
      </p:sp>
      <p:sp>
        <p:nvSpPr>
          <p:cNvPr id="23" name="P056 Windows command 3"/>
          <p:cNvSpPr txBox="1"/>
          <p:nvPr/>
        </p:nvSpPr>
        <p:spPr>
          <a:xfrm>
            <a:off x="8247888" y="3566160"/>
            <a:ext cx="3291840" cy="749808"/>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0" i="1">
                <a:solidFill>
                  <a:srgbClr val="25324A"/>
                </a:solidFill>
                <a:latin typeface="Times New Roman"/>
                <a:ea typeface="標楷體"/>
                <a:cs typeface="Times New Roman"/>
              </a:rPr>
              <a:t>course.cmd run</a:t>
            </a:r>
          </a:p>
          <a:p>
            <a:pPr algn="ctr">
              <a:lnSpc>
                <a:spcPct val="82000"/>
              </a:lnSpc>
              <a:spcBef>
                <a:spcPts val="0"/>
              </a:spcBef>
              <a:spcAft>
                <a:spcPts val="0"/>
              </a:spcAft>
            </a:pPr>
            <a:r>
              <a:rPr sz="1800" b="0" i="1">
                <a:solidFill>
                  <a:srgbClr val="25324A"/>
                </a:solidFill>
                <a:latin typeface="Times New Roman"/>
                <a:ea typeface="標楷體"/>
                <a:cs typeface="Times New Roman"/>
              </a:rPr>
              <a:t>--lab B --case</a:t>
            </a:r>
          </a:p>
          <a:p>
            <a:pPr algn="ctr">
              <a:lnSpc>
                <a:spcPct val="82000"/>
              </a:lnSpc>
              <a:spcBef>
                <a:spcPts val="0"/>
              </a:spcBef>
              <a:spcAft>
                <a:spcPts val="0"/>
              </a:spcAft>
            </a:pPr>
            <a:r>
              <a:rPr sz="1800" b="0" i="1">
                <a:solidFill>
                  <a:srgbClr val="25324A"/>
                </a:solidFill>
                <a:latin typeface="Times New Roman"/>
                <a:ea typeface="標楷體"/>
                <a:cs typeface="Times New Roman"/>
              </a:rPr>
              <a:t>trace-b</a:t>
            </a:r>
          </a:p>
        </p:txBody>
      </p:sp>
      <p:sp>
        <p:nvSpPr>
          <p:cNvPr id="24" name="P056 receipt 3"/>
          <p:cNvSpPr txBox="1"/>
          <p:nvPr/>
        </p:nvSpPr>
        <p:spPr>
          <a:xfrm>
            <a:off x="8266175" y="4443984"/>
            <a:ext cx="3255264" cy="530352"/>
          </a:xfrm>
          <a:prstGeom prst="rect">
            <a:avLst/>
          </a:prstGeom>
          <a:noFill/>
          <a:ln>
            <a:noFill/>
          </a:ln>
        </p:spPr>
        <p:txBody>
          <a:bodyPr wrap="square" anchor="ctr" lIns="0" tIns="0" rIns="0" bIns="0">
            <a:spAutoFit/>
          </a:bodyPr>
          <a:lstStyle/>
          <a:p>
            <a:pPr algn="ctr">
              <a:lnSpc>
                <a:spcPct val="82000"/>
              </a:lnSpc>
              <a:spcBef>
                <a:spcPts val="0"/>
              </a:spcBef>
              <a:spcAft>
                <a:spcPts val="0"/>
              </a:spcAft>
            </a:pPr>
            <a:r>
              <a:rPr sz="1800" b="1" i="0">
                <a:solidFill>
                  <a:srgbClr val="007374"/>
                </a:solidFill>
                <a:latin typeface="Times New Roman"/>
                <a:ea typeface="標楷體"/>
                <a:cs typeface="Times New Roman"/>
              </a:rPr>
              <a:t>result_path｜同 run replay</a:t>
            </a:r>
          </a:p>
        </p:txBody>
      </p:sp>
      <p:sp>
        <p:nvSpPr>
          <p:cNvPr id="25" name="Mechanism label"/>
          <p:cNvSpPr/>
          <p:nvPr/>
        </p:nvSpPr>
        <p:spPr>
          <a:xfrm>
            <a:off x="896112" y="5212080"/>
            <a:ext cx="10405872" cy="402336"/>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800" b="1" i="0">
                <a:solidFill>
                  <a:srgbClr val="25356B"/>
                </a:solidFill>
                <a:latin typeface="Times New Roman"/>
                <a:ea typeface="標楷體"/>
                <a:cs typeface="Times New Roman"/>
              </a:rPr>
              <a:t>read：baseline → edit → candidate freeze → Trace B｜same run replay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P057｜B-04：MODE_CHANGE 接到 service</a:t>
            </a:r>
          </a:p>
        </p:txBody>
      </p:sp>
      <p:sp>
        <p:nvSpPr>
          <p:cNvPr id="3" name="P057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quality band 是 context；MODE_CHANGE 把 hold edit 接到 packet／service／J。</a:t>
            </a:r>
          </a:p>
        </p:txBody>
      </p:sp>
      <p:sp>
        <p:nvSpPr>
          <p:cNvPr id="4" name="P057 node 1"/>
          <p:cNvSpPr/>
          <p:nvPr/>
        </p:nvSpPr>
        <p:spPr>
          <a:xfrm>
            <a:off x="566928" y="1554480"/>
            <a:ext cx="2542032" cy="126187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7 node 1 heading"/>
          <p:cNvSpPr txBox="1"/>
          <p:nvPr/>
        </p:nvSpPr>
        <p:spPr>
          <a:xfrm>
            <a:off x="713232" y="1664207"/>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quality_band</a:t>
            </a:r>
          </a:p>
        </p:txBody>
      </p:sp>
      <p:sp>
        <p:nvSpPr>
          <p:cNvPr id="6" name="P057 node 1 body"/>
          <p:cNvSpPr txBox="1"/>
          <p:nvPr/>
        </p:nvSpPr>
        <p:spPr>
          <a:xfrm>
            <a:off x="731520" y="2066543"/>
            <a:ext cx="2212848" cy="64007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700" b="0" i="0">
                <a:solidFill>
                  <a:srgbClr val="25324A"/>
                </a:solidFill>
                <a:latin typeface="Times New Roman"/>
                <a:ea typeface="標楷體"/>
                <a:cs typeface="Times New Roman"/>
              </a:rPr>
              <a:t>品質等級</a:t>
            </a:r>
          </a:p>
          <a:p>
            <a:pPr algn="ctr">
              <a:lnSpc>
                <a:spcPct val="96000"/>
              </a:lnSpc>
              <a:spcBef>
                <a:spcPts val="0"/>
              </a:spcBef>
              <a:spcAft>
                <a:spcPts val="0"/>
              </a:spcAft>
            </a:pPr>
            <a:r>
              <a:rPr sz="1700" b="0" i="0">
                <a:solidFill>
                  <a:srgbClr val="25324A"/>
                </a:solidFill>
                <a:latin typeface="Times New Roman"/>
                <a:ea typeface="標楷體"/>
                <a:cs typeface="Times New Roman"/>
              </a:rPr>
              <a:t>來源：observation</a:t>
            </a:r>
          </a:p>
        </p:txBody>
      </p:sp>
      <p:sp>
        <p:nvSpPr>
          <p:cNvPr id="7" name="P057 causal connector"/>
          <p:cNvSpPr/>
          <p:nvPr/>
        </p:nvSpPr>
        <p:spPr>
          <a:xfrm>
            <a:off x="3200400" y="2011680"/>
            <a:ext cx="310896" cy="38404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7 node 2"/>
          <p:cNvSpPr/>
          <p:nvPr/>
        </p:nvSpPr>
        <p:spPr>
          <a:xfrm>
            <a:off x="3346704" y="1554480"/>
            <a:ext cx="2542032" cy="1261872"/>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57 node 2 heading"/>
          <p:cNvSpPr txBox="1"/>
          <p:nvPr/>
        </p:nvSpPr>
        <p:spPr>
          <a:xfrm>
            <a:off x="3493008" y="1664207"/>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MODE_CHANGE</a:t>
            </a:r>
          </a:p>
        </p:txBody>
      </p:sp>
      <p:sp>
        <p:nvSpPr>
          <p:cNvPr id="10" name="P057 node 2 body"/>
          <p:cNvSpPr txBox="1"/>
          <p:nvPr/>
        </p:nvSpPr>
        <p:spPr>
          <a:xfrm>
            <a:off x="3511296" y="2066543"/>
            <a:ext cx="2212848" cy="64007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700" b="0" i="0">
                <a:solidFill>
                  <a:srgbClr val="25324A"/>
                </a:solidFill>
                <a:latin typeface="Times New Roman"/>
                <a:ea typeface="標楷體"/>
                <a:cs typeface="Times New Roman"/>
              </a:rPr>
              <a:t>模式切換事件</a:t>
            </a:r>
          </a:p>
          <a:p>
            <a:pPr algn="ctr">
              <a:lnSpc>
                <a:spcPct val="96000"/>
              </a:lnSpc>
              <a:spcBef>
                <a:spcPts val="0"/>
              </a:spcBef>
              <a:spcAft>
                <a:spcPts val="0"/>
              </a:spcAft>
            </a:pPr>
            <a:r>
              <a:rPr sz="1700" b="0" i="0">
                <a:solidFill>
                  <a:srgbClr val="25324A"/>
                </a:solidFill>
                <a:latin typeface="Times New Roman"/>
                <a:ea typeface="標楷體"/>
                <a:cs typeface="Times New Roman"/>
              </a:rPr>
              <a:t>來源：events</a:t>
            </a:r>
          </a:p>
        </p:txBody>
      </p:sp>
      <p:sp>
        <p:nvSpPr>
          <p:cNvPr id="11" name="P057 causal connector"/>
          <p:cNvSpPr/>
          <p:nvPr/>
        </p:nvSpPr>
        <p:spPr>
          <a:xfrm>
            <a:off x="5980176" y="2011680"/>
            <a:ext cx="310896" cy="384048"/>
          </a:xfrm>
          <a:prstGeom prst="chevron">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57 node 3"/>
          <p:cNvSpPr/>
          <p:nvPr/>
        </p:nvSpPr>
        <p:spPr>
          <a:xfrm>
            <a:off x="6126480" y="1554480"/>
            <a:ext cx="2542032" cy="126187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57 node 3 heading"/>
          <p:cNvSpPr txBox="1"/>
          <p:nvPr/>
        </p:nvSpPr>
        <p:spPr>
          <a:xfrm>
            <a:off x="6272784" y="1664207"/>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PACKET_ATTEMPT</a:t>
            </a:r>
          </a:p>
        </p:txBody>
      </p:sp>
      <p:sp>
        <p:nvSpPr>
          <p:cNvPr id="14" name="P057 node 3 body"/>
          <p:cNvSpPr txBox="1"/>
          <p:nvPr/>
        </p:nvSpPr>
        <p:spPr>
          <a:xfrm>
            <a:off x="6291072" y="2066543"/>
            <a:ext cx="2212848" cy="64007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700" b="0" i="0">
                <a:solidFill>
                  <a:srgbClr val="25324A"/>
                </a:solidFill>
                <a:latin typeface="Times New Roman"/>
                <a:ea typeface="標楷體"/>
                <a:cs typeface="Times New Roman"/>
              </a:rPr>
              <a:t>封包嘗試</a:t>
            </a:r>
          </a:p>
          <a:p>
            <a:pPr algn="ctr">
              <a:lnSpc>
                <a:spcPct val="96000"/>
              </a:lnSpc>
              <a:spcBef>
                <a:spcPts val="0"/>
              </a:spcBef>
              <a:spcAft>
                <a:spcPts val="0"/>
              </a:spcAft>
            </a:pPr>
            <a:r>
              <a:rPr sz="1700" b="0" i="0">
                <a:solidFill>
                  <a:srgbClr val="25324A"/>
                </a:solidFill>
                <a:latin typeface="Times New Roman"/>
                <a:ea typeface="標楷體"/>
                <a:cs typeface="Times New Roman"/>
              </a:rPr>
              <a:t>來源：events／replay</a:t>
            </a:r>
          </a:p>
        </p:txBody>
      </p:sp>
      <p:sp>
        <p:nvSpPr>
          <p:cNvPr id="15" name="P057 causal connector"/>
          <p:cNvSpPr/>
          <p:nvPr/>
        </p:nvSpPr>
        <p:spPr>
          <a:xfrm>
            <a:off x="8759952" y="2011680"/>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57 node 4"/>
          <p:cNvSpPr/>
          <p:nvPr/>
        </p:nvSpPr>
        <p:spPr>
          <a:xfrm>
            <a:off x="8906256" y="1554480"/>
            <a:ext cx="2542032" cy="1261872"/>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57 node 4 heading"/>
          <p:cNvSpPr txBox="1"/>
          <p:nvPr/>
        </p:nvSpPr>
        <p:spPr>
          <a:xfrm>
            <a:off x="9052560" y="1664207"/>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service + J</a:t>
            </a:r>
          </a:p>
        </p:txBody>
      </p:sp>
      <p:sp>
        <p:nvSpPr>
          <p:cNvPr id="18" name="P057 node 4 body"/>
          <p:cNvSpPr txBox="1"/>
          <p:nvPr/>
        </p:nvSpPr>
        <p:spPr>
          <a:xfrm>
            <a:off x="9070848" y="2066543"/>
            <a:ext cx="2212848" cy="64007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700" b="0" i="0">
                <a:solidFill>
                  <a:srgbClr val="25324A"/>
                </a:solidFill>
                <a:latin typeface="Times New Roman"/>
                <a:ea typeface="標楷體"/>
                <a:cs typeface="Times New Roman"/>
              </a:rPr>
              <a:t>deadline／delivery／J</a:t>
            </a:r>
          </a:p>
          <a:p>
            <a:pPr algn="ctr">
              <a:lnSpc>
                <a:spcPct val="96000"/>
              </a:lnSpc>
              <a:spcBef>
                <a:spcPts val="0"/>
              </a:spcBef>
              <a:spcAft>
                <a:spcPts val="0"/>
              </a:spcAft>
            </a:pPr>
            <a:r>
              <a:rPr sz="1700" b="0" i="0">
                <a:solidFill>
                  <a:srgbClr val="25324A"/>
                </a:solidFill>
                <a:latin typeface="Times New Roman"/>
                <a:ea typeface="標楷體"/>
                <a:cs typeface="Times New Roman"/>
              </a:rPr>
              <a:t>來源：summary</a:t>
            </a:r>
          </a:p>
        </p:txBody>
      </p:sp>
      <p:sp>
        <p:nvSpPr>
          <p:cNvPr id="19" name="P057 metrics"/>
          <p:cNvSpPr/>
          <p:nvPr/>
        </p:nvSpPr>
        <p:spPr>
          <a:xfrm>
            <a:off x="768096" y="3163824"/>
            <a:ext cx="5102352" cy="151790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57 metrics heading"/>
          <p:cNvSpPr txBox="1"/>
          <p:nvPr/>
        </p:nvSpPr>
        <p:spPr>
          <a:xfrm>
            <a:off x="914400" y="3273552"/>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TRACE A CANDIDATE｜欄位讀法</a:t>
            </a:r>
          </a:p>
        </p:txBody>
      </p:sp>
      <p:sp>
        <p:nvSpPr>
          <p:cNvPr id="21" name="P057 metrics body"/>
          <p:cNvSpPr txBox="1"/>
          <p:nvPr/>
        </p:nvSpPr>
        <p:spPr>
          <a:xfrm>
            <a:off x="932688" y="3675887"/>
            <a:ext cx="4773168" cy="896111"/>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1">
                <a:solidFill>
                  <a:srgbClr val="25324A"/>
                </a:solidFill>
                <a:latin typeface="Times New Roman"/>
                <a:ea typeface="標楷體"/>
                <a:cs typeface="Times New Roman"/>
              </a:rPr>
              <a:t>attempted_packets</a:t>
            </a:r>
            <a:r>
              <a:rPr sz="1600" b="0" i="0">
                <a:solidFill>
                  <a:srgbClr val="25324A"/>
                </a:solidFill>
                <a:latin typeface="Times New Roman"/>
                <a:ea typeface="標楷體"/>
                <a:cs typeface="Times New Roman"/>
              </a:rPr>
              <a:t>（嘗試封包）：待補 count</a:t>
            </a:r>
          </a:p>
          <a:p>
            <a:pPr algn="ctr">
              <a:lnSpc>
                <a:spcPct val="84000"/>
              </a:lnSpc>
              <a:spcBef>
                <a:spcPts val="0"/>
              </a:spcBef>
              <a:spcAft>
                <a:spcPts val="0"/>
              </a:spcAft>
            </a:pPr>
            <a:r>
              <a:rPr sz="1600" b="0" i="1">
                <a:solidFill>
                  <a:srgbClr val="25324A"/>
                </a:solidFill>
                <a:latin typeface="Times New Roman"/>
                <a:ea typeface="標楷體"/>
                <a:cs typeface="Times New Roman"/>
              </a:rPr>
              <a:t>retransmissions</a:t>
            </a:r>
            <a:r>
              <a:rPr sz="1600" b="0" i="0">
                <a:solidFill>
                  <a:srgbClr val="25324A"/>
                </a:solidFill>
                <a:latin typeface="Times New Roman"/>
                <a:ea typeface="標楷體"/>
                <a:cs typeface="Times New Roman"/>
              </a:rPr>
              <a:t>（重傳）：待補 count</a:t>
            </a:r>
          </a:p>
          <a:p>
            <a:pPr algn="ctr">
              <a:lnSpc>
                <a:spcPct val="84000"/>
              </a:lnSpc>
              <a:spcBef>
                <a:spcPts val="0"/>
              </a:spcBef>
              <a:spcAft>
                <a:spcPts val="0"/>
              </a:spcAft>
            </a:pPr>
            <a:r>
              <a:rPr sz="1600" b="0" i="1">
                <a:solidFill>
                  <a:srgbClr val="25324A"/>
                </a:solidFill>
                <a:latin typeface="Times New Roman"/>
                <a:ea typeface="標楷體"/>
                <a:cs typeface="Times New Roman"/>
              </a:rPr>
              <a:t>delivered_bits</a:t>
            </a:r>
            <a:r>
              <a:rPr sz="1600" b="0" i="0">
                <a:solidFill>
                  <a:srgbClr val="25324A"/>
                </a:solidFill>
                <a:latin typeface="Times New Roman"/>
                <a:ea typeface="標楷體"/>
                <a:cs typeface="Times New Roman"/>
              </a:rPr>
              <a:t>（交付資料）：待補 bit</a:t>
            </a:r>
          </a:p>
          <a:p>
            <a:pPr algn="ctr">
              <a:lnSpc>
                <a:spcPct val="84000"/>
              </a:lnSpc>
              <a:spcBef>
                <a:spcPts val="0"/>
              </a:spcBef>
              <a:spcAft>
                <a:spcPts val="0"/>
              </a:spcAft>
            </a:pPr>
            <a:r>
              <a:rPr sz="1600" b="0" i="1">
                <a:solidFill>
                  <a:srgbClr val="25324A"/>
                </a:solidFill>
                <a:latin typeface="Times New Roman"/>
                <a:ea typeface="標楷體"/>
                <a:cs typeface="Times New Roman"/>
              </a:rPr>
              <a:t>expired_packets</a:t>
            </a:r>
            <a:r>
              <a:rPr sz="1600" b="0" i="0">
                <a:solidFill>
                  <a:srgbClr val="25324A"/>
                </a:solidFill>
                <a:latin typeface="Times New Roman"/>
                <a:ea typeface="標楷體"/>
                <a:cs typeface="Times New Roman"/>
              </a:rPr>
              <a:t>（逾時封包）：待補 count</a:t>
            </a:r>
          </a:p>
        </p:txBody>
      </p:sp>
      <p:sp>
        <p:nvSpPr>
          <p:cNvPr id="22" name="P057 service"/>
          <p:cNvSpPr/>
          <p:nvPr/>
        </p:nvSpPr>
        <p:spPr>
          <a:xfrm>
            <a:off x="6309360" y="3163824"/>
            <a:ext cx="5102352" cy="1517904"/>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57 service heading"/>
          <p:cNvSpPr txBox="1"/>
          <p:nvPr/>
        </p:nvSpPr>
        <p:spPr>
          <a:xfrm>
            <a:off x="6455664" y="3273552"/>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SERVICE GATE｜判讀順序</a:t>
            </a:r>
          </a:p>
        </p:txBody>
      </p:sp>
      <p:sp>
        <p:nvSpPr>
          <p:cNvPr id="24" name="P057 service body"/>
          <p:cNvSpPr txBox="1"/>
          <p:nvPr/>
        </p:nvSpPr>
        <p:spPr>
          <a:xfrm>
            <a:off x="6473952" y="3675887"/>
            <a:ext cx="4773168" cy="896111"/>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1">
                <a:solidFill>
                  <a:srgbClr val="25324A"/>
                </a:solidFill>
                <a:latin typeface="Times New Roman"/>
                <a:ea typeface="標楷體"/>
                <a:cs typeface="Times New Roman"/>
              </a:rPr>
              <a:t>deadline_pass</a:t>
            </a:r>
            <a:r>
              <a:rPr sz="1600" b="0" i="0">
                <a:solidFill>
                  <a:srgbClr val="25324A"/>
                </a:solidFill>
                <a:latin typeface="Times New Roman"/>
                <a:ea typeface="標楷體"/>
                <a:cs typeface="Times New Roman"/>
              </a:rPr>
              <a:t>（期限布林）：待補</a:t>
            </a:r>
          </a:p>
          <a:p>
            <a:pPr algn="ctr">
              <a:lnSpc>
                <a:spcPct val="84000"/>
              </a:lnSpc>
              <a:spcBef>
                <a:spcPts val="0"/>
              </a:spcBef>
              <a:spcAft>
                <a:spcPts val="0"/>
              </a:spcAft>
            </a:pPr>
            <a:r>
              <a:rPr sz="1600" b="0" i="1">
                <a:solidFill>
                  <a:srgbClr val="25324A"/>
                </a:solidFill>
                <a:latin typeface="Times New Roman"/>
                <a:ea typeface="標楷體"/>
                <a:cs typeface="Times New Roman"/>
              </a:rPr>
              <a:t>service_pass</a:t>
            </a:r>
            <a:r>
              <a:rPr sz="1600" b="0" i="0">
                <a:solidFill>
                  <a:srgbClr val="25324A"/>
                </a:solidFill>
                <a:latin typeface="Times New Roman"/>
                <a:ea typeface="標楷體"/>
                <a:cs typeface="Times New Roman"/>
              </a:rPr>
              <a:t>（服務布林）：待補</a:t>
            </a:r>
          </a:p>
          <a:p>
            <a:pPr algn="ctr">
              <a:lnSpc>
                <a:spcPct val="84000"/>
              </a:lnSpc>
              <a:spcBef>
                <a:spcPts val="0"/>
              </a:spcBef>
              <a:spcAft>
                <a:spcPts val="0"/>
              </a:spcAft>
            </a:pPr>
            <a:r>
              <a:rPr sz="1600" b="0" i="1">
                <a:solidFill>
                  <a:srgbClr val="25324A"/>
                </a:solidFill>
                <a:latin typeface="Times New Roman"/>
                <a:ea typeface="標楷體"/>
                <a:cs typeface="Times New Roman"/>
              </a:rPr>
              <a:t>endpoint_energy_j</a:t>
            </a:r>
            <a:r>
              <a:rPr sz="1600" b="0" i="0">
                <a:solidFill>
                  <a:srgbClr val="25324A"/>
                </a:solidFill>
                <a:latin typeface="Times New Roman"/>
                <a:ea typeface="標楷體"/>
                <a:cs typeface="Times New Roman"/>
              </a:rPr>
              <a:t>（端點能量）：待補 J</a:t>
            </a:r>
          </a:p>
          <a:p>
            <a:pPr algn="ctr">
              <a:lnSpc>
                <a:spcPct val="84000"/>
              </a:lnSpc>
              <a:spcBef>
                <a:spcPts val="0"/>
              </a:spcBef>
              <a:spcAft>
                <a:spcPts val="0"/>
              </a:spcAft>
            </a:pPr>
            <a:r>
              <a:rPr sz="1600" b="0" i="0">
                <a:solidFill>
                  <a:srgbClr val="25324A"/>
                </a:solidFill>
                <a:latin typeface="Times New Roman"/>
                <a:ea typeface="標楷體"/>
                <a:cs typeface="Times New Roman"/>
              </a:rPr>
              <a:t>數值均由 P056 stdout path 讀取</a:t>
            </a:r>
          </a:p>
        </p:txBody>
      </p:sp>
      <p:sp>
        <p:nvSpPr>
          <p:cNvPr id="25" name="Mechanism label"/>
          <p:cNvSpPr/>
          <p:nvPr/>
        </p:nvSpPr>
        <p:spPr>
          <a:xfrm>
            <a:off x="1060704" y="4937760"/>
            <a:ext cx="10058400" cy="365760"/>
          </a:xfrm>
          <a:prstGeom prst="roundRect">
            <a:avLst/>
          </a:prstGeom>
          <a:solidFill>
            <a:srgbClr val="F7F8FC"/>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candidate 的 hold=1 只有在 transition 改變 packet／service／J 時才形成可解釋 evidence</a:t>
            </a:r>
          </a:p>
        </p:txBody>
      </p:sp>
      <p:sp>
        <p:nvSpPr>
          <p:cNvPr id="26" name="Evidence status"/>
          <p:cNvSpPr/>
          <p:nvPr/>
        </p:nvSpPr>
        <p:spPr>
          <a:xfrm>
            <a:off x="804672" y="5340096"/>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P058｜B-05：B freeze 是 Trace B gate</a:t>
            </a:r>
          </a:p>
        </p:txBody>
      </p:sp>
      <p:sp>
        <p:nvSpPr>
          <p:cNvPr id="3" name="P058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B checkpoint 綁住 A predecessor 與 STABLE_STEPS=1；Trace B 不再調參。</a:t>
            </a:r>
          </a:p>
        </p:txBody>
      </p:sp>
      <p:sp>
        <p:nvSpPr>
          <p:cNvPr id="4" name="P058 lineage 1"/>
          <p:cNvSpPr/>
          <p:nvPr/>
        </p:nvSpPr>
        <p:spPr>
          <a:xfrm>
            <a:off x="603504" y="1572768"/>
            <a:ext cx="3273552" cy="1426464"/>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8 lineage 1 heading"/>
          <p:cNvSpPr txBox="1"/>
          <p:nvPr/>
        </p:nvSpPr>
        <p:spPr>
          <a:xfrm>
            <a:off x="749808" y="1682495"/>
            <a:ext cx="29809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A predecessor</a:t>
            </a:r>
          </a:p>
        </p:txBody>
      </p:sp>
      <p:sp>
        <p:nvSpPr>
          <p:cNvPr id="6" name="P058 lineage 1 body"/>
          <p:cNvSpPr txBox="1"/>
          <p:nvPr/>
        </p:nvSpPr>
        <p:spPr>
          <a:xfrm>
            <a:off x="768096" y="2084832"/>
            <a:ext cx="2944368" cy="804672"/>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800" b="0" i="1">
                <a:solidFill>
                  <a:srgbClr val="25324A"/>
                </a:solidFill>
                <a:latin typeface="Times New Roman"/>
                <a:ea typeface="標楷體"/>
                <a:cs typeface="Times New Roman"/>
              </a:rPr>
              <a:t>lab-a-frozen.py</a:t>
            </a:r>
          </a:p>
          <a:p>
            <a:pPr algn="ctr">
              <a:lnSpc>
                <a:spcPct val="84000"/>
              </a:lnSpc>
              <a:spcBef>
                <a:spcPts val="0"/>
              </a:spcBef>
              <a:spcAft>
                <a:spcPts val="0"/>
              </a:spcAft>
            </a:pPr>
            <a:r>
              <a:rPr sz="1800" b="0" i="1">
                <a:solidFill>
                  <a:srgbClr val="25324A"/>
                </a:solidFill>
                <a:latin typeface="Times New Roman"/>
                <a:ea typeface="標楷體"/>
                <a:cs typeface="Times New Roman"/>
              </a:rPr>
              <a:t>REST_DURING_GAP =</a:t>
            </a:r>
          </a:p>
          <a:p>
            <a:pPr algn="ctr">
              <a:lnSpc>
                <a:spcPct val="84000"/>
              </a:lnSpc>
              <a:spcBef>
                <a:spcPts val="0"/>
              </a:spcBef>
              <a:spcAft>
                <a:spcPts val="0"/>
              </a:spcAft>
            </a:pPr>
            <a:r>
              <a:rPr sz="1800" b="0" i="1">
                <a:solidFill>
                  <a:srgbClr val="25324A"/>
                </a:solidFill>
                <a:latin typeface="Times New Roman"/>
                <a:ea typeface="標楷體"/>
                <a:cs typeface="Times New Roman"/>
              </a:rPr>
              <a:t>WAIT</a:t>
            </a:r>
          </a:p>
        </p:txBody>
      </p:sp>
      <p:sp>
        <p:nvSpPr>
          <p:cNvPr id="7" name="P058 lineage connector"/>
          <p:cNvSpPr/>
          <p:nvPr/>
        </p:nvSpPr>
        <p:spPr>
          <a:xfrm>
            <a:off x="3986784" y="2084831"/>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8 lineage 2"/>
          <p:cNvSpPr/>
          <p:nvPr/>
        </p:nvSpPr>
        <p:spPr>
          <a:xfrm>
            <a:off x="4279392" y="1572768"/>
            <a:ext cx="3273552" cy="1426464"/>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58 lineage 2 heading"/>
          <p:cNvSpPr txBox="1"/>
          <p:nvPr/>
        </p:nvSpPr>
        <p:spPr>
          <a:xfrm>
            <a:off x="4425696" y="1682495"/>
            <a:ext cx="29809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660066"/>
                </a:solidFill>
                <a:latin typeface="Times New Roman"/>
                <a:ea typeface="標楷體"/>
                <a:cs typeface="Times New Roman"/>
              </a:rPr>
              <a:t>B checkpoint</a:t>
            </a:r>
          </a:p>
        </p:txBody>
      </p:sp>
      <p:sp>
        <p:nvSpPr>
          <p:cNvPr id="10" name="P058 lineage 2 body"/>
          <p:cNvSpPr txBox="1"/>
          <p:nvPr/>
        </p:nvSpPr>
        <p:spPr>
          <a:xfrm>
            <a:off x="4443983" y="2084832"/>
            <a:ext cx="2944368" cy="804672"/>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800" b="0" i="1">
                <a:solidFill>
                  <a:srgbClr val="25324A"/>
                </a:solidFill>
                <a:latin typeface="Times New Roman"/>
                <a:ea typeface="標楷體"/>
                <a:cs typeface="Times New Roman"/>
              </a:rPr>
              <a:t>lab-b-frozen.py</a:t>
            </a:r>
          </a:p>
          <a:p>
            <a:pPr algn="ctr">
              <a:lnSpc>
                <a:spcPct val="84000"/>
              </a:lnSpc>
              <a:spcBef>
                <a:spcPts val="0"/>
              </a:spcBef>
              <a:spcAft>
                <a:spcPts val="0"/>
              </a:spcAft>
            </a:pPr>
            <a:r>
              <a:rPr sz="1800" b="0" i="1">
                <a:solidFill>
                  <a:srgbClr val="25324A"/>
                </a:solidFill>
                <a:latin typeface="Times New Roman"/>
                <a:ea typeface="標楷體"/>
                <a:cs typeface="Times New Roman"/>
              </a:rPr>
              <a:t>STABLE_STEPS = 1</a:t>
            </a:r>
          </a:p>
        </p:txBody>
      </p:sp>
      <p:sp>
        <p:nvSpPr>
          <p:cNvPr id="11" name="P058 lineage connector"/>
          <p:cNvSpPr/>
          <p:nvPr/>
        </p:nvSpPr>
        <p:spPr>
          <a:xfrm>
            <a:off x="7662671" y="2084831"/>
            <a:ext cx="310896" cy="384048"/>
          </a:xfrm>
          <a:prstGeom prst="chevron">
            <a:avLst/>
          </a:prstGeom>
          <a:solidFill>
            <a:srgbClr val="8468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58 lineage 3"/>
          <p:cNvSpPr/>
          <p:nvPr/>
        </p:nvSpPr>
        <p:spPr>
          <a:xfrm>
            <a:off x="7955279" y="1572768"/>
            <a:ext cx="3273552" cy="1426464"/>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58 lineage 3 heading"/>
          <p:cNvSpPr txBox="1"/>
          <p:nvPr/>
        </p:nvSpPr>
        <p:spPr>
          <a:xfrm>
            <a:off x="8101583" y="1682495"/>
            <a:ext cx="29809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007374"/>
                </a:solidFill>
                <a:latin typeface="Times New Roman"/>
                <a:ea typeface="標楷體"/>
                <a:cs typeface="Times New Roman"/>
              </a:rPr>
              <a:t>Trace B entry</a:t>
            </a:r>
          </a:p>
        </p:txBody>
      </p:sp>
      <p:sp>
        <p:nvSpPr>
          <p:cNvPr id="14" name="P058 lineage 3 body"/>
          <p:cNvSpPr txBox="1"/>
          <p:nvPr/>
        </p:nvSpPr>
        <p:spPr>
          <a:xfrm>
            <a:off x="8119871" y="2084832"/>
            <a:ext cx="2944368" cy="804672"/>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800" b="0" i="0">
                <a:solidFill>
                  <a:srgbClr val="25324A"/>
                </a:solidFill>
                <a:latin typeface="Times New Roman"/>
                <a:ea typeface="標楷體"/>
                <a:cs typeface="Times New Roman"/>
              </a:rPr>
              <a:t>P056 第三條 path</a:t>
            </a:r>
          </a:p>
          <a:p>
            <a:pPr algn="ctr">
              <a:lnSpc>
                <a:spcPct val="84000"/>
              </a:lnSpc>
              <a:spcBef>
                <a:spcPts val="0"/>
              </a:spcBef>
              <a:spcAft>
                <a:spcPts val="0"/>
              </a:spcAft>
            </a:pPr>
            <a:r>
              <a:rPr sz="1800" b="0" i="0">
                <a:solidFill>
                  <a:srgbClr val="25324A"/>
                </a:solidFill>
                <a:latin typeface="Times New Roman"/>
                <a:ea typeface="標楷體"/>
                <a:cs typeface="Times New Roman"/>
              </a:rPr>
              <a:t>withheld case</a:t>
            </a:r>
          </a:p>
        </p:txBody>
      </p:sp>
      <p:sp>
        <p:nvSpPr>
          <p:cNvPr id="15" name="P058 checkpoint fields"/>
          <p:cNvSpPr/>
          <p:nvPr/>
        </p:nvSpPr>
        <p:spPr>
          <a:xfrm>
            <a:off x="786384" y="3383280"/>
            <a:ext cx="10625328" cy="1298448"/>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58 field heading"/>
          <p:cNvSpPr txBox="1"/>
          <p:nvPr/>
        </p:nvSpPr>
        <p:spPr>
          <a:xfrm>
            <a:off x="1005840" y="3566160"/>
            <a:ext cx="10149840" cy="274320"/>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800" b="1" i="0">
                <a:solidFill>
                  <a:srgbClr val="660066"/>
                </a:solidFill>
                <a:latin typeface="Times New Roman"/>
                <a:ea typeface="標楷體"/>
                <a:cs typeface="Times New Roman"/>
              </a:rPr>
              <a:t>checkpoint evidence（欄位用途）</a:t>
            </a:r>
          </a:p>
        </p:txBody>
      </p:sp>
      <p:sp>
        <p:nvSpPr>
          <p:cNvPr id="17" name="P058 field body"/>
          <p:cNvSpPr txBox="1"/>
          <p:nvPr/>
        </p:nvSpPr>
        <p:spPr>
          <a:xfrm>
            <a:off x="1042415" y="3931920"/>
            <a:ext cx="10040112" cy="493776"/>
          </a:xfrm>
          <a:prstGeom prst="rect">
            <a:avLst/>
          </a:prstGeom>
          <a:noFill/>
          <a:ln>
            <a:noFill/>
          </a:ln>
        </p:spPr>
        <p:txBody>
          <a:bodyPr wrap="square" anchor="ctr" lIns="18288" tIns="9144" rIns="18288" bIns="9144">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active_block_id：</a:t>
            </a:r>
            <a:r>
              <a:rPr sz="1600" b="0" i="1">
                <a:solidFill>
                  <a:srgbClr val="25324A"/>
                </a:solidFill>
                <a:latin typeface="Times New Roman"/>
                <a:ea typeface="標楷體"/>
                <a:cs typeface="Times New Roman"/>
              </a:rPr>
              <a:t>lab-b-enter-exit-hold</a:t>
            </a:r>
            <a:r>
              <a:rPr sz="1600" b="0" i="0">
                <a:solidFill>
                  <a:srgbClr val="25324A"/>
                </a:solidFill>
                <a:latin typeface="Times New Roman"/>
                <a:ea typeface="標楷體"/>
                <a:cs typeface="Times New Roman"/>
              </a:rPr>
              <a:t>｜predecessor：A frozen identity</a:t>
            </a:r>
          </a:p>
          <a:p>
            <a:pPr algn="ctr">
              <a:lnSpc>
                <a:spcPct val="84000"/>
              </a:lnSpc>
              <a:spcBef>
                <a:spcPts val="0"/>
              </a:spcBef>
              <a:spcAft>
                <a:spcPts val="0"/>
              </a:spcAft>
            </a:pPr>
            <a:r>
              <a:rPr sz="1600" b="0" i="0">
                <a:solidFill>
                  <a:srgbClr val="25324A"/>
                </a:solidFill>
                <a:latin typeface="Times New Roman"/>
                <a:ea typeface="標楷體"/>
                <a:cs typeface="Times New Roman"/>
              </a:rPr>
              <a:t>seed role：Trace A／Trace B｜receipt identity：candidate freeze</a:t>
            </a:r>
          </a:p>
        </p:txBody>
      </p:sp>
      <p:sp>
        <p:nvSpPr>
          <p:cNvPr id="18" name="Mechanism label"/>
          <p:cNvSpPr/>
          <p:nvPr/>
        </p:nvSpPr>
        <p:spPr>
          <a:xfrm>
            <a:off x="1115568" y="4937760"/>
            <a:ext cx="9966960" cy="36576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entry gate：B checkpoint 存在且與 A predecessor 對得上；不符合時停止 Trace B</a:t>
            </a:r>
          </a:p>
        </p:txBody>
      </p:sp>
      <p:sp>
        <p:nvSpPr>
          <p:cNvPr id="19" name="Evidence status"/>
          <p:cNvSpPr/>
          <p:nvPr/>
        </p:nvSpPr>
        <p:spPr>
          <a:xfrm>
            <a:off x="804672" y="5340096"/>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P059｜B-06：Trace B 界定泛化邊界</a:t>
            </a:r>
          </a:p>
        </p:txBody>
      </p:sp>
      <p:sp>
        <p:nvSpPr>
          <p:cNvPr id="3" name="P059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100" b="1" i="0">
                <a:solidFill>
                  <a:srgbClr val="25356B"/>
                </a:solidFill>
                <a:latin typeface="Times New Roman"/>
                <a:ea typeface="標楷體"/>
                <a:cs typeface="Times New Roman"/>
              </a:rPr>
              <a:t>Trace B 只檢驗 hold=1 在新窗口／traffic 下的條件式效果，不接受 retune。</a:t>
            </a:r>
          </a:p>
        </p:txBody>
      </p:sp>
      <p:sp>
        <p:nvSpPr>
          <p:cNvPr id="4" name="P059 frozen"/>
          <p:cNvSpPr/>
          <p:nvPr/>
        </p:nvSpPr>
        <p:spPr>
          <a:xfrm>
            <a:off x="786384" y="1572768"/>
            <a:ext cx="5102352" cy="2542032"/>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59 frozen heading"/>
          <p:cNvSpPr txBox="1"/>
          <p:nvPr/>
        </p:nvSpPr>
        <p:spPr>
          <a:xfrm>
            <a:off x="932688" y="1682495"/>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4967C2"/>
                </a:solidFill>
                <a:latin typeface="Times New Roman"/>
                <a:ea typeface="標楷體"/>
                <a:cs typeface="Times New Roman"/>
              </a:rPr>
              <a:t>FROZEN POLICY｜固定不變</a:t>
            </a:r>
          </a:p>
        </p:txBody>
      </p:sp>
      <p:sp>
        <p:nvSpPr>
          <p:cNvPr id="6" name="P059 frozen body"/>
          <p:cNvSpPr txBox="1"/>
          <p:nvPr/>
        </p:nvSpPr>
        <p:spPr>
          <a:xfrm>
            <a:off x="950976" y="2084832"/>
            <a:ext cx="4773168" cy="192023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來源：</a:t>
            </a:r>
            <a:r>
              <a:rPr sz="1900" b="0" i="1">
                <a:solidFill>
                  <a:srgbClr val="25324A"/>
                </a:solidFill>
                <a:latin typeface="Times New Roman"/>
                <a:ea typeface="標楷體"/>
                <a:cs typeface="Times New Roman"/>
              </a:rPr>
              <a:t>lab-b-frozen.py</a:t>
            </a:r>
          </a:p>
          <a:p>
            <a:pPr algn="ctr">
              <a:lnSpc>
                <a:spcPct val="96000"/>
              </a:lnSpc>
              <a:spcBef>
                <a:spcPts val="0"/>
              </a:spcBef>
              <a:spcAft>
                <a:spcPts val="0"/>
              </a:spcAft>
            </a:pPr>
            <a:r>
              <a:rPr sz="1900" b="0" i="0">
                <a:solidFill>
                  <a:srgbClr val="25324A"/>
                </a:solidFill>
                <a:latin typeface="Times New Roman"/>
                <a:ea typeface="標楷體"/>
                <a:cs typeface="Times New Roman"/>
              </a:rPr>
              <a:t>A：</a:t>
            </a:r>
            <a:r>
              <a:rPr sz="1900" b="0" i="1">
                <a:solidFill>
                  <a:srgbClr val="25324A"/>
                </a:solidFill>
                <a:latin typeface="Times New Roman"/>
                <a:ea typeface="標楷體"/>
                <a:cs typeface="Times New Roman"/>
              </a:rPr>
              <a:t>REST_DURING_GAP = WAIT</a:t>
            </a:r>
          </a:p>
          <a:p>
            <a:pPr algn="ctr">
              <a:lnSpc>
                <a:spcPct val="96000"/>
              </a:lnSpc>
              <a:spcBef>
                <a:spcPts val="0"/>
              </a:spcBef>
              <a:spcAft>
                <a:spcPts val="0"/>
              </a:spcAft>
            </a:pPr>
            <a:r>
              <a:rPr sz="1900" b="0" i="0">
                <a:solidFill>
                  <a:srgbClr val="25324A"/>
                </a:solidFill>
                <a:latin typeface="Times New Roman"/>
                <a:ea typeface="標楷體"/>
                <a:cs typeface="Times New Roman"/>
              </a:rPr>
              <a:t>B：</a:t>
            </a:r>
            <a:r>
              <a:rPr sz="1900" b="0" i="1">
                <a:solidFill>
                  <a:srgbClr val="25324A"/>
                </a:solidFill>
                <a:latin typeface="Times New Roman"/>
                <a:ea typeface="標楷體"/>
                <a:cs typeface="Times New Roman"/>
              </a:rPr>
              <a:t>STABLE_STEPS = 1</a:t>
            </a:r>
          </a:p>
          <a:p>
            <a:pPr algn="ctr">
              <a:lnSpc>
                <a:spcPct val="96000"/>
              </a:lnSpc>
              <a:spcBef>
                <a:spcPts val="0"/>
              </a:spcBef>
              <a:spcAft>
                <a:spcPts val="0"/>
              </a:spcAft>
            </a:pPr>
            <a:r>
              <a:rPr sz="1900" b="0" i="0">
                <a:solidFill>
                  <a:srgbClr val="25324A"/>
                </a:solidFill>
                <a:latin typeface="Times New Roman"/>
                <a:ea typeface="標楷體"/>
                <a:cs typeface="Times New Roman"/>
              </a:rPr>
              <a:t>新 freeze：0</a:t>
            </a:r>
          </a:p>
          <a:p>
            <a:pPr algn="ctr">
              <a:lnSpc>
                <a:spcPct val="96000"/>
              </a:lnSpc>
              <a:spcBef>
                <a:spcPts val="0"/>
              </a:spcBef>
              <a:spcAft>
                <a:spcPts val="0"/>
              </a:spcAft>
            </a:pPr>
            <a:r>
              <a:rPr sz="1900" b="0" i="0">
                <a:solidFill>
                  <a:srgbClr val="25324A"/>
                </a:solidFill>
                <a:latin typeface="Times New Roman"/>
                <a:ea typeface="標楷體"/>
                <a:cs typeface="Times New Roman"/>
              </a:rPr>
              <a:t>結果入口：P056 第三條 stdout path</a:t>
            </a:r>
          </a:p>
        </p:txBody>
      </p:sp>
      <p:sp>
        <p:nvSpPr>
          <p:cNvPr id="7" name="P059 Trace B evidence"/>
          <p:cNvSpPr/>
          <p:nvPr/>
        </p:nvSpPr>
        <p:spPr>
          <a:xfrm>
            <a:off x="6272784" y="1572768"/>
            <a:ext cx="5102352" cy="25420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59 Trace B evidence heading"/>
          <p:cNvSpPr txBox="1"/>
          <p:nvPr/>
        </p:nvSpPr>
        <p:spPr>
          <a:xfrm>
            <a:off x="6419088" y="1682495"/>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900" b="1" i="0">
                <a:solidFill>
                  <a:srgbClr val="846826"/>
                </a:solidFill>
                <a:latin typeface="Times New Roman"/>
                <a:ea typeface="標楷體"/>
                <a:cs typeface="Times New Roman"/>
              </a:rPr>
              <a:t>TRACE B EVIDENCE｜值待補</a:t>
            </a:r>
          </a:p>
        </p:txBody>
      </p:sp>
      <p:sp>
        <p:nvSpPr>
          <p:cNvPr id="9" name="P059 Trace B evidence body"/>
          <p:cNvSpPr txBox="1"/>
          <p:nvPr/>
        </p:nvSpPr>
        <p:spPr>
          <a:xfrm>
            <a:off x="6437376" y="2084832"/>
            <a:ext cx="4773168" cy="192023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800" b="0" i="1">
                <a:solidFill>
                  <a:srgbClr val="25324A"/>
                </a:solidFill>
                <a:latin typeface="Times New Roman"/>
                <a:ea typeface="標楷體"/>
                <a:cs typeface="Times New Roman"/>
              </a:rPr>
              <a:t>expired_packets</a:t>
            </a:r>
            <a:r>
              <a:rPr sz="1800" b="0" i="0">
                <a:solidFill>
                  <a:srgbClr val="25324A"/>
                </a:solidFill>
                <a:latin typeface="Times New Roman"/>
                <a:ea typeface="標楷體"/>
                <a:cs typeface="Times New Roman"/>
              </a:rPr>
              <a:t>（逾時封包）：待補 count</a:t>
            </a:r>
          </a:p>
          <a:p>
            <a:pPr algn="ctr">
              <a:lnSpc>
                <a:spcPct val="96000"/>
              </a:lnSpc>
              <a:spcBef>
                <a:spcPts val="0"/>
              </a:spcBef>
              <a:spcAft>
                <a:spcPts val="0"/>
              </a:spcAft>
            </a:pPr>
            <a:r>
              <a:rPr sz="1800" b="0" i="1">
                <a:solidFill>
                  <a:srgbClr val="25324A"/>
                </a:solidFill>
                <a:latin typeface="Times New Roman"/>
                <a:ea typeface="標楷體"/>
                <a:cs typeface="Times New Roman"/>
              </a:rPr>
              <a:t>delivered_bits</a:t>
            </a:r>
            <a:r>
              <a:rPr sz="1800" b="0" i="0">
                <a:solidFill>
                  <a:srgbClr val="25324A"/>
                </a:solidFill>
                <a:latin typeface="Times New Roman"/>
                <a:ea typeface="標楷體"/>
                <a:cs typeface="Times New Roman"/>
              </a:rPr>
              <a:t>（交付資料）：待補 bit</a:t>
            </a:r>
          </a:p>
          <a:p>
            <a:pPr algn="ctr">
              <a:lnSpc>
                <a:spcPct val="96000"/>
              </a:lnSpc>
              <a:spcBef>
                <a:spcPts val="0"/>
              </a:spcBef>
              <a:spcAft>
                <a:spcPts val="0"/>
              </a:spcAft>
            </a:pPr>
            <a:r>
              <a:rPr sz="1800" b="0" i="1">
                <a:solidFill>
                  <a:srgbClr val="25324A"/>
                </a:solidFill>
                <a:latin typeface="Times New Roman"/>
                <a:ea typeface="標楷體"/>
                <a:cs typeface="Times New Roman"/>
              </a:rPr>
              <a:t>service_pass</a:t>
            </a:r>
            <a:r>
              <a:rPr sz="1800" b="0" i="0">
                <a:solidFill>
                  <a:srgbClr val="25324A"/>
                </a:solidFill>
                <a:latin typeface="Times New Roman"/>
                <a:ea typeface="標楷體"/>
                <a:cs typeface="Times New Roman"/>
              </a:rPr>
              <a:t>（服務布林）：待補</a:t>
            </a:r>
          </a:p>
          <a:p>
            <a:pPr algn="ctr">
              <a:lnSpc>
                <a:spcPct val="96000"/>
              </a:lnSpc>
              <a:spcBef>
                <a:spcPts val="0"/>
              </a:spcBef>
              <a:spcAft>
                <a:spcPts val="0"/>
              </a:spcAft>
            </a:pPr>
            <a:r>
              <a:rPr sz="1800" b="0" i="1">
                <a:solidFill>
                  <a:srgbClr val="25324A"/>
                </a:solidFill>
                <a:latin typeface="Times New Roman"/>
                <a:ea typeface="標楷體"/>
                <a:cs typeface="Times New Roman"/>
              </a:rPr>
              <a:t>endpoint_energy_j</a:t>
            </a:r>
            <a:r>
              <a:rPr sz="1800" b="0" i="0">
                <a:solidFill>
                  <a:srgbClr val="25324A"/>
                </a:solidFill>
                <a:latin typeface="Times New Roman"/>
                <a:ea typeface="標楷體"/>
                <a:cs typeface="Times New Roman"/>
              </a:rPr>
              <a:t>（端點能量）：待補 J</a:t>
            </a:r>
          </a:p>
          <a:p>
            <a:pPr algn="ctr">
              <a:lnSpc>
                <a:spcPct val="96000"/>
              </a:lnSpc>
              <a:spcBef>
                <a:spcPts val="0"/>
              </a:spcBef>
              <a:spcAft>
                <a:spcPts val="0"/>
              </a:spcAft>
            </a:pPr>
            <a:r>
              <a:rPr sz="1800" b="0" i="0">
                <a:solidFill>
                  <a:srgbClr val="25324A"/>
                </a:solidFill>
                <a:latin typeface="Times New Roman"/>
                <a:ea typeface="標楷體"/>
                <a:cs typeface="Times New Roman"/>
              </a:rPr>
              <a:t>來源：同 run result／replay</a:t>
            </a:r>
          </a:p>
        </p:txBody>
      </p:sp>
      <p:sp>
        <p:nvSpPr>
          <p:cNvPr id="10" name="P059 boundary"/>
          <p:cNvSpPr/>
          <p:nvPr/>
        </p:nvSpPr>
        <p:spPr>
          <a:xfrm>
            <a:off x="932688" y="4443984"/>
            <a:ext cx="10332720" cy="548640"/>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59 boundary text"/>
          <p:cNvSpPr txBox="1"/>
          <p:nvPr/>
        </p:nvSpPr>
        <p:spPr>
          <a:xfrm>
            <a:off x="1097280" y="4553712"/>
            <a:ext cx="10003536" cy="329184"/>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800" b="1" i="0">
                <a:solidFill>
                  <a:srgbClr val="992A2A"/>
                </a:solidFill>
                <a:latin typeface="Times New Roman"/>
                <a:ea typeface="標楷體"/>
                <a:cs typeface="Times New Roman"/>
              </a:rPr>
              <a:t>Trace B 方向不同 → 結論只限 Trace A，不外推 changing windows。</a:t>
            </a:r>
          </a:p>
        </p:txBody>
      </p:sp>
      <p:sp>
        <p:nvSpPr>
          <p:cNvPr id="12"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P060｜B-07：too-slow 與 ping-pong</a:t>
            </a:r>
          </a:p>
        </p:txBody>
      </p:sp>
      <p:sp>
        <p:nvSpPr>
          <p:cNvPr id="3" name="P060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service loss 可能來自 hold 過長或 enter／exit 過近；先分開事件證據。</a:t>
            </a:r>
          </a:p>
        </p:txBody>
      </p:sp>
      <p:sp>
        <p:nvSpPr>
          <p:cNvPr id="4" name="P060 too slow"/>
          <p:cNvSpPr/>
          <p:nvPr/>
        </p:nvSpPr>
        <p:spPr>
          <a:xfrm>
            <a:off x="768096" y="1572768"/>
            <a:ext cx="5084064" cy="2542032"/>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60 too slow heading"/>
          <p:cNvSpPr txBox="1"/>
          <p:nvPr/>
        </p:nvSpPr>
        <p:spPr>
          <a:xfrm>
            <a:off x="914400"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992A2A"/>
                </a:solidFill>
                <a:latin typeface="Times New Roman"/>
                <a:ea typeface="標楷體"/>
                <a:cs typeface="Times New Roman"/>
              </a:rPr>
              <a:t>TOO-SLOW｜進入太晚</a:t>
            </a:r>
          </a:p>
        </p:txBody>
      </p:sp>
      <p:sp>
        <p:nvSpPr>
          <p:cNvPr id="6" name="P060 too slow body"/>
          <p:cNvSpPr txBox="1"/>
          <p:nvPr/>
        </p:nvSpPr>
        <p:spPr>
          <a:xfrm>
            <a:off x="932688" y="2084832"/>
            <a:ext cx="4754879" cy="192023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原因：</a:t>
            </a:r>
            <a:r>
              <a:rPr sz="1900" b="0" i="1">
                <a:solidFill>
                  <a:srgbClr val="25324A"/>
                </a:solidFill>
                <a:latin typeface="Times New Roman"/>
                <a:ea typeface="標楷體"/>
                <a:cs typeface="Times New Roman"/>
              </a:rPr>
              <a:t>STABLE_STEPS</a:t>
            </a:r>
            <a:r>
              <a:rPr sz="1900" b="0" i="0">
                <a:solidFill>
                  <a:srgbClr val="25324A"/>
                </a:solidFill>
                <a:latin typeface="Times New Roman"/>
                <a:ea typeface="標楷體"/>
                <a:cs typeface="Times New Roman"/>
              </a:rPr>
              <a:t> hold 太長</a:t>
            </a:r>
          </a:p>
          <a:p>
            <a:pPr algn="ctr">
              <a:lnSpc>
                <a:spcPct val="96000"/>
              </a:lnSpc>
              <a:spcBef>
                <a:spcPts val="0"/>
              </a:spcBef>
              <a:spcAft>
                <a:spcPts val="0"/>
              </a:spcAft>
            </a:pPr>
            <a:r>
              <a:rPr sz="1900" b="0" i="0">
                <a:solidFill>
                  <a:srgbClr val="25324A"/>
                </a:solidFill>
                <a:latin typeface="Times New Roman"/>
                <a:ea typeface="標楷體"/>
                <a:cs typeface="Times New Roman"/>
              </a:rPr>
              <a:t>機制：quality 達標後仍在 REST</a:t>
            </a:r>
          </a:p>
          <a:p>
            <a:pPr algn="ctr">
              <a:lnSpc>
                <a:spcPct val="96000"/>
              </a:lnSpc>
              <a:spcBef>
                <a:spcPts val="0"/>
              </a:spcBef>
              <a:spcAft>
                <a:spcPts val="0"/>
              </a:spcAft>
            </a:pPr>
            <a:r>
              <a:rPr sz="1900" b="0" i="0">
                <a:solidFill>
                  <a:srgbClr val="25324A"/>
                </a:solidFill>
                <a:latin typeface="Times New Roman"/>
                <a:ea typeface="標楷體"/>
                <a:cs typeface="Times New Roman"/>
              </a:rPr>
              <a:t>事件：較晚 </a:t>
            </a:r>
            <a:r>
              <a:rPr sz="1900" b="0" i="1">
                <a:solidFill>
                  <a:srgbClr val="25324A"/>
                </a:solidFill>
                <a:latin typeface="Times New Roman"/>
                <a:ea typeface="標楷體"/>
                <a:cs typeface="Times New Roman"/>
              </a:rPr>
              <a:t>MODE_CHANGE</a:t>
            </a:r>
          </a:p>
          <a:p>
            <a:pPr algn="ctr">
              <a:lnSpc>
                <a:spcPct val="96000"/>
              </a:lnSpc>
              <a:spcBef>
                <a:spcPts val="0"/>
              </a:spcBef>
              <a:spcAft>
                <a:spcPts val="0"/>
              </a:spcAft>
            </a:pPr>
            <a:r>
              <a:rPr sz="1900" b="0" i="0">
                <a:solidFill>
                  <a:srgbClr val="25324A"/>
                </a:solidFill>
                <a:latin typeface="Times New Roman"/>
                <a:ea typeface="標楷體"/>
                <a:cs typeface="Times New Roman"/>
              </a:rPr>
              <a:t>結果：contact window 用完</a:t>
            </a:r>
          </a:p>
          <a:p>
            <a:pPr algn="ctr">
              <a:lnSpc>
                <a:spcPct val="96000"/>
              </a:lnSpc>
              <a:spcBef>
                <a:spcPts val="0"/>
              </a:spcBef>
              <a:spcAft>
                <a:spcPts val="0"/>
              </a:spcAft>
            </a:pPr>
            <a:r>
              <a:rPr sz="1900" b="0" i="0">
                <a:solidFill>
                  <a:srgbClr val="25324A"/>
                </a:solidFill>
                <a:latin typeface="Times New Roman"/>
                <a:ea typeface="標楷體"/>
                <a:cs typeface="Times New Roman"/>
              </a:rPr>
              <a:t>觀察：deadline／expired／service</a:t>
            </a:r>
          </a:p>
        </p:txBody>
      </p:sp>
      <p:sp>
        <p:nvSpPr>
          <p:cNvPr id="7" name="P060 ping pong"/>
          <p:cNvSpPr/>
          <p:nvPr/>
        </p:nvSpPr>
        <p:spPr>
          <a:xfrm>
            <a:off x="6272784" y="1572768"/>
            <a:ext cx="5084064" cy="254203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60 ping pong heading"/>
          <p:cNvSpPr txBox="1"/>
          <p:nvPr/>
        </p:nvSpPr>
        <p:spPr>
          <a:xfrm>
            <a:off x="6419088"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846826"/>
                </a:solidFill>
                <a:latin typeface="Times New Roman"/>
                <a:ea typeface="標楷體"/>
                <a:cs typeface="Times New Roman"/>
              </a:rPr>
              <a:t>PING-PONG｜邊界來回</a:t>
            </a:r>
          </a:p>
        </p:txBody>
      </p:sp>
      <p:sp>
        <p:nvSpPr>
          <p:cNvPr id="9" name="P060 ping pong body"/>
          <p:cNvSpPr txBox="1"/>
          <p:nvPr/>
        </p:nvSpPr>
        <p:spPr>
          <a:xfrm>
            <a:off x="6437376" y="2084832"/>
            <a:ext cx="4754879" cy="1920239"/>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原因：ENTER／EXIT 間隔太窄</a:t>
            </a:r>
          </a:p>
          <a:p>
            <a:pPr algn="ctr">
              <a:lnSpc>
                <a:spcPct val="96000"/>
              </a:lnSpc>
              <a:spcBef>
                <a:spcPts val="0"/>
              </a:spcBef>
              <a:spcAft>
                <a:spcPts val="0"/>
              </a:spcAft>
            </a:pPr>
            <a:r>
              <a:rPr sz="1900" b="0" i="0">
                <a:solidFill>
                  <a:srgbClr val="25324A"/>
                </a:solidFill>
                <a:latin typeface="Times New Roman"/>
                <a:ea typeface="標楷體"/>
                <a:cs typeface="Times New Roman"/>
              </a:rPr>
              <a:t>機制：mode 反覆切換</a:t>
            </a:r>
          </a:p>
          <a:p>
            <a:pPr algn="ctr">
              <a:lnSpc>
                <a:spcPct val="96000"/>
              </a:lnSpc>
              <a:spcBef>
                <a:spcPts val="0"/>
              </a:spcBef>
              <a:spcAft>
                <a:spcPts val="0"/>
              </a:spcAft>
            </a:pPr>
            <a:r>
              <a:rPr sz="1900" b="0" i="0">
                <a:solidFill>
                  <a:srgbClr val="25324A"/>
                </a:solidFill>
                <a:latin typeface="Times New Roman"/>
                <a:ea typeface="標楷體"/>
                <a:cs typeface="Times New Roman"/>
              </a:rPr>
              <a:t>事件：多次 </a:t>
            </a:r>
            <a:r>
              <a:rPr sz="1900" b="0" i="1">
                <a:solidFill>
                  <a:srgbClr val="25324A"/>
                </a:solidFill>
                <a:latin typeface="Times New Roman"/>
                <a:ea typeface="標楷體"/>
                <a:cs typeface="Times New Roman"/>
              </a:rPr>
              <a:t>MODE_CHANGE</a:t>
            </a:r>
          </a:p>
          <a:p>
            <a:pPr algn="ctr">
              <a:lnSpc>
                <a:spcPct val="96000"/>
              </a:lnSpc>
              <a:spcBef>
                <a:spcPts val="0"/>
              </a:spcBef>
              <a:spcAft>
                <a:spcPts val="0"/>
              </a:spcAft>
            </a:pPr>
            <a:r>
              <a:rPr sz="1900" b="0" i="0">
                <a:solidFill>
                  <a:srgbClr val="25324A"/>
                </a:solidFill>
                <a:latin typeface="Times New Roman"/>
                <a:ea typeface="標楷體"/>
                <a:cs typeface="Times New Roman"/>
              </a:rPr>
              <a:t>結果：retry／transition cost</a:t>
            </a:r>
          </a:p>
          <a:p>
            <a:pPr algn="ctr">
              <a:lnSpc>
                <a:spcPct val="96000"/>
              </a:lnSpc>
              <a:spcBef>
                <a:spcPts val="0"/>
              </a:spcBef>
              <a:spcAft>
                <a:spcPts val="0"/>
              </a:spcAft>
            </a:pPr>
            <a:r>
              <a:rPr sz="1900" b="0" i="0">
                <a:solidFill>
                  <a:srgbClr val="25324A"/>
                </a:solidFill>
                <a:latin typeface="Times New Roman"/>
                <a:ea typeface="標楷體"/>
                <a:cs typeface="Times New Roman"/>
              </a:rPr>
              <a:t>觀察：packet／energy ledger</a:t>
            </a:r>
          </a:p>
        </p:txBody>
      </p:sp>
      <p:sp>
        <p:nvSpPr>
          <p:cNvPr id="10" name="P060 comparison connector"/>
          <p:cNvSpPr/>
          <p:nvPr/>
        </p:nvSpPr>
        <p:spPr>
          <a:xfrm>
            <a:off x="5925312" y="2596896"/>
            <a:ext cx="310896" cy="384048"/>
          </a:xfrm>
          <a:prstGeom prst="chevron">
            <a:avLst/>
          </a:prstGeom>
          <a:solidFill>
            <a:srgbClr val="253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60 comparison rule"/>
          <p:cNvSpPr/>
          <p:nvPr/>
        </p:nvSpPr>
        <p:spPr>
          <a:xfrm>
            <a:off x="914400" y="4462272"/>
            <a:ext cx="10369296" cy="566928"/>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60 comparison text"/>
          <p:cNvSpPr txBox="1"/>
          <p:nvPr/>
        </p:nvSpPr>
        <p:spPr>
          <a:xfrm>
            <a:off x="1060704" y="4599432"/>
            <a:ext cx="10076688" cy="274320"/>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1700" b="1" i="0">
                <a:solidFill>
                  <a:srgbClr val="25356B"/>
                </a:solidFill>
                <a:latin typeface="Times New Roman"/>
                <a:ea typeface="標楷體"/>
                <a:cs typeface="Times New Roman"/>
              </a:rPr>
              <a:t>判定：</a:t>
            </a:r>
            <a:r>
              <a:rPr sz="1700" b="1" i="1">
                <a:solidFill>
                  <a:srgbClr val="25356B"/>
                </a:solidFill>
                <a:latin typeface="Times New Roman"/>
                <a:ea typeface="標楷體"/>
                <a:cs typeface="Times New Roman"/>
              </a:rPr>
              <a:t>MODE_CHANGE</a:t>
            </a:r>
            <a:r>
              <a:rPr sz="1700" b="1" i="0">
                <a:solidFill>
                  <a:srgbClr val="25356B"/>
                </a:solidFill>
                <a:latin typeface="Times New Roman"/>
                <a:ea typeface="標楷體"/>
                <a:cs typeface="Times New Roman"/>
              </a:rPr>
              <a:t> + packet + service + endpoint ledger；quality 只是 context。</a:t>
            </a:r>
          </a:p>
        </p:txBody>
      </p:sp>
      <p:sp>
        <p:nvSpPr>
          <p:cNvPr id="13" name="Evidence status"/>
          <p:cNvSpPr/>
          <p:nvPr/>
        </p:nvSpPr>
        <p:spPr>
          <a:xfrm>
            <a:off x="804672" y="5230368"/>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P061｜Lab B 結論：hysteresis 不是保證</a:t>
            </a:r>
          </a:p>
        </p:txBody>
      </p:sp>
      <p:sp>
        <p:nvSpPr>
          <p:cNvPr id="3" name="P061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Lab B 同時保留 Trace A mechanism 與 Trace B boundary。</a:t>
            </a:r>
          </a:p>
        </p:txBody>
      </p:sp>
      <p:sp>
        <p:nvSpPr>
          <p:cNvPr id="4" name="P061 Trace A"/>
          <p:cNvSpPr/>
          <p:nvPr/>
        </p:nvSpPr>
        <p:spPr>
          <a:xfrm>
            <a:off x="768096" y="1572768"/>
            <a:ext cx="5084064" cy="248716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61 Trace A heading"/>
          <p:cNvSpPr txBox="1"/>
          <p:nvPr/>
        </p:nvSpPr>
        <p:spPr>
          <a:xfrm>
            <a:off x="914400"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007374"/>
                </a:solidFill>
                <a:latin typeface="Times New Roman"/>
                <a:ea typeface="標楷體"/>
                <a:cs typeface="Times New Roman"/>
              </a:rPr>
              <a:t>TRACE A｜支持什麼</a:t>
            </a:r>
          </a:p>
        </p:txBody>
      </p:sp>
      <p:sp>
        <p:nvSpPr>
          <p:cNvPr id="6" name="P061 Trace A body"/>
          <p:cNvSpPr txBox="1"/>
          <p:nvPr/>
        </p:nvSpPr>
        <p:spPr>
          <a:xfrm>
            <a:off x="932688" y="2084832"/>
            <a:ext cx="4754879" cy="1865376"/>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policy identity：B frozen</a:t>
            </a:r>
          </a:p>
          <a:p>
            <a:pPr algn="ctr">
              <a:lnSpc>
                <a:spcPct val="96000"/>
              </a:lnSpc>
              <a:spcBef>
                <a:spcPts val="0"/>
              </a:spcBef>
              <a:spcAft>
                <a:spcPts val="0"/>
              </a:spcAft>
            </a:pPr>
            <a:r>
              <a:rPr sz="1900" b="0" i="1">
                <a:solidFill>
                  <a:srgbClr val="25324A"/>
                </a:solidFill>
                <a:latin typeface="Times New Roman"/>
                <a:ea typeface="標楷體"/>
                <a:cs typeface="Times New Roman"/>
              </a:rPr>
              <a:t>STABLE_STEPS = 1</a:t>
            </a:r>
          </a:p>
          <a:p>
            <a:pPr algn="ctr">
              <a:lnSpc>
                <a:spcPct val="96000"/>
              </a:lnSpc>
              <a:spcBef>
                <a:spcPts val="0"/>
              </a:spcBef>
              <a:spcAft>
                <a:spcPts val="0"/>
              </a:spcAft>
            </a:pPr>
            <a:r>
              <a:rPr sz="1900" b="0" i="0">
                <a:solidFill>
                  <a:srgbClr val="25324A"/>
                </a:solidFill>
                <a:latin typeface="Times New Roman"/>
                <a:ea typeface="標楷體"/>
                <a:cs typeface="Times New Roman"/>
              </a:rPr>
              <a:t>觀察：enter transition、packet、service、J</a:t>
            </a:r>
          </a:p>
          <a:p>
            <a:pPr algn="ctr">
              <a:lnSpc>
                <a:spcPct val="96000"/>
              </a:lnSpc>
              <a:spcBef>
                <a:spcPts val="0"/>
              </a:spcBef>
              <a:spcAft>
                <a:spcPts val="0"/>
              </a:spcAft>
            </a:pPr>
            <a:r>
              <a:rPr sz="1900" b="0" i="0">
                <a:solidFill>
                  <a:srgbClr val="25324A"/>
                </a:solidFill>
                <a:latin typeface="Times New Roman"/>
                <a:ea typeface="標楷體"/>
                <a:cs typeface="Times New Roman"/>
              </a:rPr>
              <a:t>結論欄位：待補</a:t>
            </a:r>
          </a:p>
          <a:p>
            <a:pPr algn="ctr">
              <a:lnSpc>
                <a:spcPct val="96000"/>
              </a:lnSpc>
              <a:spcBef>
                <a:spcPts val="0"/>
              </a:spcBef>
              <a:spcAft>
                <a:spcPts val="0"/>
              </a:spcAft>
            </a:pPr>
            <a:r>
              <a:rPr sz="1900" b="0" i="0">
                <a:solidFill>
                  <a:srgbClr val="25324A"/>
                </a:solidFill>
                <a:latin typeface="Times New Roman"/>
                <a:ea typeface="標楷體"/>
                <a:cs typeface="Times New Roman"/>
              </a:rPr>
              <a:t>適用條件：Trace A window／traffic</a:t>
            </a:r>
          </a:p>
        </p:txBody>
      </p:sp>
      <p:sp>
        <p:nvSpPr>
          <p:cNvPr id="7" name="P061 Trace B"/>
          <p:cNvSpPr/>
          <p:nvPr/>
        </p:nvSpPr>
        <p:spPr>
          <a:xfrm>
            <a:off x="6272784" y="1572768"/>
            <a:ext cx="5084064" cy="248716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61 Trace B heading"/>
          <p:cNvSpPr txBox="1"/>
          <p:nvPr/>
        </p:nvSpPr>
        <p:spPr>
          <a:xfrm>
            <a:off x="6419088" y="1682495"/>
            <a:ext cx="4791455"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2000" b="1" i="0">
                <a:solidFill>
                  <a:srgbClr val="992A2A"/>
                </a:solidFill>
                <a:latin typeface="Times New Roman"/>
                <a:ea typeface="標楷體"/>
                <a:cs typeface="Times New Roman"/>
              </a:rPr>
              <a:t>TRACE B｜縮小什麼</a:t>
            </a:r>
          </a:p>
        </p:txBody>
      </p:sp>
      <p:sp>
        <p:nvSpPr>
          <p:cNvPr id="9" name="P061 Trace B body"/>
          <p:cNvSpPr txBox="1"/>
          <p:nvPr/>
        </p:nvSpPr>
        <p:spPr>
          <a:xfrm>
            <a:off x="6437376" y="2084832"/>
            <a:ext cx="4754879" cy="1865376"/>
          </a:xfrm>
          <a:prstGeom prst="rect">
            <a:avLst/>
          </a:prstGeom>
          <a:noFill/>
          <a:ln>
            <a:noFill/>
          </a:ln>
        </p:spPr>
        <p:txBody>
          <a:bodyPr wrap="square" anchor="ctr" lIns="27432" tIns="18288" rIns="27432" bIns="18288">
            <a:spAutoFit/>
          </a:bodyPr>
          <a:lstStyle/>
          <a:p>
            <a:pPr algn="ctr">
              <a:lnSpc>
                <a:spcPct val="96000"/>
              </a:lnSpc>
              <a:spcBef>
                <a:spcPts val="0"/>
              </a:spcBef>
              <a:spcAft>
                <a:spcPts val="0"/>
              </a:spcAft>
            </a:pPr>
            <a:r>
              <a:rPr sz="1900" b="0" i="0">
                <a:solidFill>
                  <a:srgbClr val="25324A"/>
                </a:solidFill>
                <a:latin typeface="Times New Roman"/>
                <a:ea typeface="標楷體"/>
                <a:cs typeface="Times New Roman"/>
              </a:rPr>
              <a:t>相同 frozen policy</a:t>
            </a:r>
          </a:p>
          <a:p>
            <a:pPr algn="ctr">
              <a:lnSpc>
                <a:spcPct val="96000"/>
              </a:lnSpc>
              <a:spcBef>
                <a:spcPts val="0"/>
              </a:spcBef>
              <a:spcAft>
                <a:spcPts val="0"/>
              </a:spcAft>
            </a:pPr>
            <a:r>
              <a:rPr sz="1900" b="0" i="0">
                <a:solidFill>
                  <a:srgbClr val="25324A"/>
                </a:solidFill>
                <a:latin typeface="Times New Roman"/>
                <a:ea typeface="標楷體"/>
                <a:cs typeface="Times New Roman"/>
              </a:rPr>
              <a:t>新 quality／window／traffic</a:t>
            </a:r>
          </a:p>
          <a:p>
            <a:pPr algn="ctr">
              <a:lnSpc>
                <a:spcPct val="96000"/>
              </a:lnSpc>
              <a:spcBef>
                <a:spcPts val="0"/>
              </a:spcBef>
              <a:spcAft>
                <a:spcPts val="0"/>
              </a:spcAft>
            </a:pPr>
            <a:r>
              <a:rPr sz="1900" b="0" i="0">
                <a:solidFill>
                  <a:srgbClr val="25324A"/>
                </a:solidFill>
                <a:latin typeface="Times New Roman"/>
                <a:ea typeface="標楷體"/>
                <a:cs typeface="Times New Roman"/>
              </a:rPr>
              <a:t>觀察：expired、deadline、service、J</a:t>
            </a:r>
          </a:p>
          <a:p>
            <a:pPr algn="ctr">
              <a:lnSpc>
                <a:spcPct val="96000"/>
              </a:lnSpc>
              <a:spcBef>
                <a:spcPts val="0"/>
              </a:spcBef>
              <a:spcAft>
                <a:spcPts val="0"/>
              </a:spcAft>
            </a:pPr>
            <a:r>
              <a:rPr sz="1900" b="0" i="0">
                <a:solidFill>
                  <a:srgbClr val="25324A"/>
                </a:solidFill>
                <a:latin typeface="Times New Roman"/>
                <a:ea typeface="標楷體"/>
                <a:cs typeface="Times New Roman"/>
              </a:rPr>
              <a:t>boundary 欄位：待補</a:t>
            </a:r>
          </a:p>
          <a:p>
            <a:pPr algn="ctr">
              <a:lnSpc>
                <a:spcPct val="96000"/>
              </a:lnSpc>
              <a:spcBef>
                <a:spcPts val="0"/>
              </a:spcBef>
              <a:spcAft>
                <a:spcPts val="0"/>
              </a:spcAft>
            </a:pPr>
            <a:r>
              <a:rPr sz="1900" b="0" i="0">
                <a:solidFill>
                  <a:srgbClr val="25324A"/>
                </a:solidFill>
                <a:latin typeface="Times New Roman"/>
                <a:ea typeface="標楷體"/>
                <a:cs typeface="Times New Roman"/>
              </a:rPr>
              <a:t>外推範圍：不成立</a:t>
            </a:r>
          </a:p>
        </p:txBody>
      </p:sp>
      <p:sp>
        <p:nvSpPr>
          <p:cNvPr id="10" name="P061 qualified conclusion"/>
          <p:cNvSpPr/>
          <p:nvPr/>
        </p:nvSpPr>
        <p:spPr>
          <a:xfrm>
            <a:off x="914400" y="4370832"/>
            <a:ext cx="10369296" cy="804672"/>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061 conclusion text"/>
          <p:cNvSpPr txBox="1"/>
          <p:nvPr/>
        </p:nvSpPr>
        <p:spPr>
          <a:xfrm>
            <a:off x="1078992" y="4517136"/>
            <a:ext cx="10040112" cy="512064"/>
          </a:xfrm>
          <a:prstGeom prst="rect">
            <a:avLst/>
          </a:prstGeom>
          <a:noFill/>
          <a:ln>
            <a:noFill/>
          </a:ln>
        </p:spPr>
        <p:txBody>
          <a:bodyPr wrap="square" anchor="ctr" lIns="27432" tIns="9144" rIns="27432" bIns="9144">
            <a:spAutoFit/>
          </a:bodyPr>
          <a:lstStyle/>
          <a:p>
            <a:pPr algn="ctr">
              <a:lnSpc>
                <a:spcPct val="100000"/>
              </a:lnSpc>
              <a:spcBef>
                <a:spcPts val="0"/>
              </a:spcBef>
              <a:spcAft>
                <a:spcPts val="0"/>
              </a:spcAft>
            </a:pPr>
            <a:r>
              <a:rPr sz="1800" b="1" i="0">
                <a:solidFill>
                  <a:srgbClr val="25356B"/>
                </a:solidFill>
                <a:latin typeface="Times New Roman"/>
                <a:ea typeface="標楷體"/>
                <a:cs typeface="Times New Roman"/>
              </a:rPr>
              <a:t>結論句：Trace A 的 hold=1 使 ______；Trace B 以 ______ 限制 service；有效條件：______。</a:t>
            </a:r>
          </a:p>
        </p:txBody>
      </p:sp>
      <p:sp>
        <p:nvSpPr>
          <p:cNvPr id="12" name="Evidence status"/>
          <p:cNvSpPr/>
          <p:nvPr/>
        </p:nvSpPr>
        <p:spPr>
          <a:xfrm>
            <a:off x="804672" y="5340096"/>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P062｜中斷復原：policy 與 result 分開</a:t>
            </a:r>
          </a:p>
        </p:txBody>
      </p:sp>
      <p:sp>
        <p:nvSpPr>
          <p:cNvPr id="3" name="P062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復原 policy 只恢復 lineage；compile 後 rerun 才有新 result_path。</a:t>
            </a:r>
          </a:p>
        </p:txBody>
      </p:sp>
      <p:sp>
        <p:nvSpPr>
          <p:cNvPr id="4" name="P062 step 1"/>
          <p:cNvSpPr/>
          <p:nvPr/>
        </p:nvSpPr>
        <p:spPr>
          <a:xfrm>
            <a:off x="585216" y="1572768"/>
            <a:ext cx="2542032" cy="1463040"/>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62 step 1 heading"/>
          <p:cNvSpPr txBox="1"/>
          <p:nvPr/>
        </p:nvSpPr>
        <p:spPr>
          <a:xfrm>
            <a:off x="731520"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4967C2"/>
                </a:solidFill>
                <a:latin typeface="Times New Roman"/>
                <a:ea typeface="標楷體"/>
                <a:cs typeface="Times New Roman"/>
              </a:rPr>
              <a:t>01｜copy</a:t>
            </a:r>
          </a:p>
        </p:txBody>
      </p:sp>
      <p:sp>
        <p:nvSpPr>
          <p:cNvPr id="6" name="P062 step 1 body"/>
          <p:cNvSpPr txBox="1"/>
          <p:nvPr/>
        </p:nvSpPr>
        <p:spPr>
          <a:xfrm>
            <a:off x="749808" y="2084832"/>
            <a:ext cx="2212848" cy="841248"/>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identity 正確的 checkpoint</a:t>
            </a:r>
          </a:p>
          <a:p>
            <a:pPr algn="ctr">
              <a:lnSpc>
                <a:spcPct val="84000"/>
              </a:lnSpc>
              <a:spcBef>
                <a:spcPts val="0"/>
              </a:spcBef>
              <a:spcAft>
                <a:spcPts val="0"/>
              </a:spcAft>
            </a:pPr>
            <a:r>
              <a:rPr sz="1600" b="0" i="0">
                <a:solidFill>
                  <a:srgbClr val="25324A"/>
                </a:solidFill>
                <a:latin typeface="Times New Roman"/>
                <a:ea typeface="標楷體"/>
                <a:cs typeface="Times New Roman"/>
              </a:rPr>
              <a:t>A frozen／B frozen</a:t>
            </a:r>
          </a:p>
          <a:p>
            <a:pPr algn="ctr">
              <a:lnSpc>
                <a:spcPct val="84000"/>
              </a:lnSpc>
              <a:spcBef>
                <a:spcPts val="0"/>
              </a:spcBef>
              <a:spcAft>
                <a:spcPts val="0"/>
              </a:spcAft>
            </a:pPr>
            <a:r>
              <a:rPr sz="1600" b="0" i="0">
                <a:solidFill>
                  <a:srgbClr val="25324A"/>
                </a:solidFill>
                <a:latin typeface="Times New Roman"/>
                <a:ea typeface="標楷體"/>
                <a:cs typeface="Times New Roman"/>
              </a:rPr>
              <a:t>或 release baseline</a:t>
            </a:r>
          </a:p>
        </p:txBody>
      </p:sp>
      <p:sp>
        <p:nvSpPr>
          <p:cNvPr id="7" name="P062 step connector"/>
          <p:cNvSpPr/>
          <p:nvPr/>
        </p:nvSpPr>
        <p:spPr>
          <a:xfrm>
            <a:off x="3218688" y="2103120"/>
            <a:ext cx="310896" cy="38404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62 step 2"/>
          <p:cNvSpPr/>
          <p:nvPr/>
        </p:nvSpPr>
        <p:spPr>
          <a:xfrm>
            <a:off x="3364992" y="1572768"/>
            <a:ext cx="2542032" cy="1463040"/>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62 step 2 heading"/>
          <p:cNvSpPr txBox="1"/>
          <p:nvPr/>
        </p:nvSpPr>
        <p:spPr>
          <a:xfrm>
            <a:off x="3511296"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660066"/>
                </a:solidFill>
                <a:latin typeface="Times New Roman"/>
                <a:ea typeface="標楷體"/>
                <a:cs typeface="Times New Roman"/>
              </a:rPr>
              <a:t>02｜compile</a:t>
            </a:r>
          </a:p>
        </p:txBody>
      </p:sp>
      <p:sp>
        <p:nvSpPr>
          <p:cNvPr id="10" name="P062 step 2 body"/>
          <p:cNvSpPr txBox="1"/>
          <p:nvPr/>
        </p:nvSpPr>
        <p:spPr>
          <a:xfrm>
            <a:off x="3529584" y="2084832"/>
            <a:ext cx="2212848" cy="841248"/>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POSIX／Windows：先做 py_compile</a:t>
            </a:r>
          </a:p>
        </p:txBody>
      </p:sp>
      <p:sp>
        <p:nvSpPr>
          <p:cNvPr id="11" name="P062 step connector"/>
          <p:cNvSpPr/>
          <p:nvPr/>
        </p:nvSpPr>
        <p:spPr>
          <a:xfrm>
            <a:off x="5998464" y="2103120"/>
            <a:ext cx="310896" cy="384048"/>
          </a:xfrm>
          <a:prstGeom prst="chevron">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62 step 3"/>
          <p:cNvSpPr/>
          <p:nvPr/>
        </p:nvSpPr>
        <p:spPr>
          <a:xfrm>
            <a:off x="6144768" y="1572768"/>
            <a:ext cx="2542032" cy="1463040"/>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62 step 3 heading"/>
          <p:cNvSpPr txBox="1"/>
          <p:nvPr/>
        </p:nvSpPr>
        <p:spPr>
          <a:xfrm>
            <a:off x="6291072"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03｜exact rerun</a:t>
            </a:r>
          </a:p>
        </p:txBody>
      </p:sp>
      <p:sp>
        <p:nvSpPr>
          <p:cNvPr id="14" name="P062 step 3 body"/>
          <p:cNvSpPr txBox="1"/>
          <p:nvPr/>
        </p:nvSpPr>
        <p:spPr>
          <a:xfrm>
            <a:off x="6309360" y="2084832"/>
            <a:ext cx="2212848" cy="841248"/>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重跑對應 case</a:t>
            </a:r>
          </a:p>
          <a:p>
            <a:pPr algn="ctr">
              <a:lnSpc>
                <a:spcPct val="84000"/>
              </a:lnSpc>
              <a:spcBef>
                <a:spcPts val="0"/>
              </a:spcBef>
              <a:spcAft>
                <a:spcPts val="0"/>
              </a:spcAft>
            </a:pPr>
            <a:r>
              <a:rPr sz="1600" b="0" i="0">
                <a:solidFill>
                  <a:srgbClr val="25324A"/>
                </a:solidFill>
                <a:latin typeface="Times New Roman"/>
                <a:ea typeface="標楷體"/>
                <a:cs typeface="Times New Roman"/>
              </a:rPr>
              <a:t>不改 scenario／runner／JSON</a:t>
            </a:r>
          </a:p>
        </p:txBody>
      </p:sp>
      <p:sp>
        <p:nvSpPr>
          <p:cNvPr id="15" name="P062 step connector"/>
          <p:cNvSpPr/>
          <p:nvPr/>
        </p:nvSpPr>
        <p:spPr>
          <a:xfrm>
            <a:off x="8778240" y="2103120"/>
            <a:ext cx="310896" cy="38404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62 step 4"/>
          <p:cNvSpPr/>
          <p:nvPr/>
        </p:nvSpPr>
        <p:spPr>
          <a:xfrm>
            <a:off x="8924544" y="1572768"/>
            <a:ext cx="2542032" cy="1463040"/>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62 step 4 heading"/>
          <p:cNvSpPr txBox="1"/>
          <p:nvPr/>
        </p:nvSpPr>
        <p:spPr>
          <a:xfrm>
            <a:off x="9070848" y="1682495"/>
            <a:ext cx="224942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846826"/>
                </a:solidFill>
                <a:latin typeface="Times New Roman"/>
                <a:ea typeface="標楷體"/>
                <a:cs typeface="Times New Roman"/>
              </a:rPr>
              <a:t>04｜new receipt</a:t>
            </a:r>
          </a:p>
        </p:txBody>
      </p:sp>
      <p:sp>
        <p:nvSpPr>
          <p:cNvPr id="18" name="P062 step 4 body"/>
          <p:cNvSpPr txBox="1"/>
          <p:nvPr/>
        </p:nvSpPr>
        <p:spPr>
          <a:xfrm>
            <a:off x="9089136" y="2084832"/>
            <a:ext cx="2212848" cy="841248"/>
          </a:xfrm>
          <a:prstGeom prst="rect">
            <a:avLst/>
          </a:prstGeom>
          <a:noFill/>
          <a:ln>
            <a:noFill/>
          </a:ln>
        </p:spPr>
        <p:txBody>
          <a:bodyPr wrap="square" anchor="ctr" lIns="27432" tIns="18288" rIns="27432" bIns="18288">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保存新的 stdout result_path</a:t>
            </a:r>
          </a:p>
          <a:p>
            <a:pPr algn="ctr">
              <a:lnSpc>
                <a:spcPct val="84000"/>
              </a:lnSpc>
              <a:spcBef>
                <a:spcPts val="0"/>
              </a:spcBef>
              <a:spcAft>
                <a:spcPts val="0"/>
              </a:spcAft>
            </a:pPr>
            <a:r>
              <a:rPr sz="1600" b="0" i="0">
                <a:solidFill>
                  <a:srgbClr val="25324A"/>
                </a:solidFill>
                <a:latin typeface="Times New Roman"/>
                <a:ea typeface="標楷體"/>
                <a:cs typeface="Times New Roman"/>
              </a:rPr>
              <a:t>配對同目錄 replay</a:t>
            </a:r>
          </a:p>
        </p:txBody>
      </p:sp>
      <p:sp>
        <p:nvSpPr>
          <p:cNvPr id="19" name="P062 POSIX restore"/>
          <p:cNvSpPr/>
          <p:nvPr/>
        </p:nvSpPr>
        <p:spPr>
          <a:xfrm>
            <a:off x="749808" y="3401568"/>
            <a:ext cx="5212080" cy="1408176"/>
          </a:xfrm>
          <a:prstGeom prst="roundRect">
            <a:avLst/>
          </a:prstGeom>
          <a:solidFill>
            <a:srgbClr val="F7F8FC"/>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62 POSIX heading"/>
          <p:cNvSpPr txBox="1"/>
          <p:nvPr/>
        </p:nvSpPr>
        <p:spPr>
          <a:xfrm>
            <a:off x="950976" y="3566160"/>
            <a:ext cx="4809744" cy="219456"/>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4967C2"/>
                </a:solidFill>
                <a:latin typeface="Times New Roman"/>
                <a:ea typeface="標楷體"/>
                <a:cs typeface="Times New Roman"/>
              </a:rPr>
              <a:t>POSIX／WSL exact restore</a:t>
            </a:r>
          </a:p>
        </p:txBody>
      </p:sp>
      <p:sp>
        <p:nvSpPr>
          <p:cNvPr id="21" name="P062 POSIX commands"/>
          <p:cNvSpPr txBox="1"/>
          <p:nvPr/>
        </p:nvSpPr>
        <p:spPr>
          <a:xfrm>
            <a:off x="749808" y="3858768"/>
            <a:ext cx="5212080" cy="768096"/>
          </a:xfrm>
          <a:prstGeom prst="rect">
            <a:avLst/>
          </a:prstGeom>
          <a:noFill/>
          <a:ln>
            <a:noFill/>
          </a:ln>
        </p:spPr>
        <p:txBody>
          <a:bodyPr wrap="square" anchor="ctr" lIns="0" tIns="0" rIns="0" bIns="0">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cp artifacts/checkpoints/lab-a-frozen.py student_policy.py</a:t>
            </a:r>
          </a:p>
          <a:p>
            <a:pPr algn="ctr">
              <a:lnSpc>
                <a:spcPct val="84000"/>
              </a:lnSpc>
              <a:spcBef>
                <a:spcPts val="0"/>
              </a:spcBef>
              <a:spcAft>
                <a:spcPts val="0"/>
              </a:spcAft>
            </a:pPr>
            <a:r>
              <a:rPr sz="1600" b="0" i="0">
                <a:solidFill>
                  <a:srgbClr val="25324A"/>
                </a:solidFill>
                <a:latin typeface="Times New Roman"/>
                <a:ea typeface="標楷體"/>
                <a:cs typeface="Times New Roman"/>
              </a:rPr>
              <a:t>cp artifacts/checkpoints/lab-b-frozen.py student_policy.py</a:t>
            </a:r>
          </a:p>
          <a:p>
            <a:pPr algn="ctr">
              <a:lnSpc>
                <a:spcPct val="84000"/>
              </a:lnSpc>
              <a:spcBef>
                <a:spcPts val="0"/>
              </a:spcBef>
              <a:spcAft>
                <a:spcPts val="0"/>
              </a:spcAft>
            </a:pPr>
            <a:r>
              <a:rPr sz="1600" b="0" i="0">
                <a:solidFill>
                  <a:srgbClr val="25324A"/>
                </a:solidFill>
                <a:latin typeface="Times New Roman"/>
                <a:ea typeface="標楷體"/>
                <a:cs typeface="Times New Roman"/>
              </a:rPr>
              <a:t>cp student_policy.baseline.py student_policy.py</a:t>
            </a:r>
          </a:p>
        </p:txBody>
      </p:sp>
      <p:sp>
        <p:nvSpPr>
          <p:cNvPr id="22" name="P062 Windows restore"/>
          <p:cNvSpPr/>
          <p:nvPr/>
        </p:nvSpPr>
        <p:spPr>
          <a:xfrm>
            <a:off x="6236208" y="3401568"/>
            <a:ext cx="5212080" cy="1408176"/>
          </a:xfrm>
          <a:prstGeom prst="roundRect">
            <a:avLst/>
          </a:prstGeom>
          <a:solidFill>
            <a:srgbClr val="F7F8FC"/>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62 Windows heading"/>
          <p:cNvSpPr txBox="1"/>
          <p:nvPr/>
        </p:nvSpPr>
        <p:spPr>
          <a:xfrm>
            <a:off x="6437376" y="3566160"/>
            <a:ext cx="4809744" cy="219456"/>
          </a:xfrm>
          <a:prstGeom prst="rect">
            <a:avLst/>
          </a:prstGeom>
          <a:noFill/>
          <a:ln>
            <a:noFill/>
          </a:ln>
        </p:spPr>
        <p:txBody>
          <a:bodyPr wrap="square" anchor="ctr" lIns="9144" tIns="0" rIns="9144" bIns="0">
            <a:spAutoFit/>
          </a:bodyPr>
          <a:lstStyle/>
          <a:p>
            <a:pPr algn="ctr">
              <a:lnSpc>
                <a:spcPct val="100000"/>
              </a:lnSpc>
              <a:spcBef>
                <a:spcPts val="0"/>
              </a:spcBef>
              <a:spcAft>
                <a:spcPts val="0"/>
              </a:spcAft>
            </a:pPr>
            <a:r>
              <a:rPr sz="1700" b="1" i="0">
                <a:solidFill>
                  <a:srgbClr val="660066"/>
                </a:solidFill>
                <a:latin typeface="Times New Roman"/>
                <a:ea typeface="標楷體"/>
                <a:cs typeface="Times New Roman"/>
              </a:rPr>
              <a:t>Windows Command Prompt exact restore</a:t>
            </a:r>
          </a:p>
        </p:txBody>
      </p:sp>
      <p:sp>
        <p:nvSpPr>
          <p:cNvPr id="24" name="P062 Windows commands"/>
          <p:cNvSpPr txBox="1"/>
          <p:nvPr/>
        </p:nvSpPr>
        <p:spPr>
          <a:xfrm>
            <a:off x="6236208" y="3858768"/>
            <a:ext cx="5212080" cy="768096"/>
          </a:xfrm>
          <a:prstGeom prst="rect">
            <a:avLst/>
          </a:prstGeom>
          <a:noFill/>
          <a:ln>
            <a:noFill/>
          </a:ln>
        </p:spPr>
        <p:txBody>
          <a:bodyPr wrap="square" anchor="ctr" lIns="0" tIns="0" rIns="0" bIns="0">
            <a:spAutoFit/>
          </a:bodyPr>
          <a:lstStyle/>
          <a:p>
            <a:pPr algn="ctr">
              <a:lnSpc>
                <a:spcPct val="84000"/>
              </a:lnSpc>
              <a:spcBef>
                <a:spcPts val="0"/>
              </a:spcBef>
              <a:spcAft>
                <a:spcPts val="0"/>
              </a:spcAft>
            </a:pPr>
            <a:r>
              <a:rPr sz="1600" b="0" i="0">
                <a:solidFill>
                  <a:srgbClr val="25324A"/>
                </a:solidFill>
                <a:latin typeface="Times New Roman"/>
                <a:ea typeface="標楷體"/>
                <a:cs typeface="Times New Roman"/>
              </a:rPr>
              <a:t>copy /Y artifacts\checkpoints\lab-a-frozen.py student_policy.py</a:t>
            </a:r>
          </a:p>
          <a:p>
            <a:pPr algn="ctr">
              <a:lnSpc>
                <a:spcPct val="84000"/>
              </a:lnSpc>
              <a:spcBef>
                <a:spcPts val="0"/>
              </a:spcBef>
              <a:spcAft>
                <a:spcPts val="0"/>
              </a:spcAft>
            </a:pPr>
            <a:r>
              <a:rPr sz="1600" b="0" i="0">
                <a:solidFill>
                  <a:srgbClr val="25324A"/>
                </a:solidFill>
                <a:latin typeface="Times New Roman"/>
                <a:ea typeface="標楷體"/>
                <a:cs typeface="Times New Roman"/>
              </a:rPr>
              <a:t>copy /Y artifacts\checkpoints\lab-b-frozen.py student_policy.py</a:t>
            </a:r>
          </a:p>
          <a:p>
            <a:pPr algn="ctr">
              <a:lnSpc>
                <a:spcPct val="84000"/>
              </a:lnSpc>
              <a:spcBef>
                <a:spcPts val="0"/>
              </a:spcBef>
              <a:spcAft>
                <a:spcPts val="0"/>
              </a:spcAft>
            </a:pPr>
            <a:r>
              <a:rPr sz="1600" b="0" i="0">
                <a:solidFill>
                  <a:srgbClr val="25324A"/>
                </a:solidFill>
                <a:latin typeface="Times New Roman"/>
                <a:ea typeface="標楷體"/>
                <a:cs typeface="Times New Roman"/>
              </a:rPr>
              <a:t>copy /Y student_policy.baseline.py student_policy.py</a:t>
            </a:r>
          </a:p>
        </p:txBody>
      </p:sp>
      <p:sp>
        <p:nvSpPr>
          <p:cNvPr id="25" name="Mechanism label"/>
          <p:cNvSpPr/>
          <p:nvPr/>
        </p:nvSpPr>
        <p:spPr>
          <a:xfrm>
            <a:off x="1078992" y="5047488"/>
            <a:ext cx="10040112" cy="384048"/>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policy checkpoint ≠ result artifact；遺失 result 時重跑 exact case，使用新 path，不手改 JSON</a:t>
            </a:r>
          </a:p>
        </p:txBody>
      </p:sp>
      <p:sp>
        <p:nvSpPr>
          <p:cNvPr id="26" name="Evidence status"/>
          <p:cNvSpPr/>
          <p:nvPr/>
        </p:nvSpPr>
        <p:spPr>
          <a:xfrm>
            <a:off x="804672" y="5468112"/>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anchor="ctr" lIns="9144" tIns="0" rIns="9144" bIns="0"/>
          <a:lstStyle/>
          <a:p>
            <a:pPr algn="l">
              <a:lnSpc>
                <a:spcPct val="100000"/>
              </a:lnSpc>
              <a:spcBef>
                <a:spcPts val="0"/>
              </a:spcBef>
              <a:spcAft>
                <a:spcPts val="0"/>
              </a:spcAft>
            </a:pPr>
            <a:r>
              <a:rPr sz="2800" b="1" i="0">
                <a:solidFill>
                  <a:srgbClr val="25356B"/>
                </a:solidFill>
                <a:latin typeface="Times New Roman"/>
                <a:ea typeface="標楷體"/>
                <a:cs typeface="Times New Roman"/>
              </a:rPr>
              <a:t>P063｜result.json：驗證、回放、工作簿</a:t>
            </a:r>
          </a:p>
        </p:txBody>
      </p:sp>
      <p:sp>
        <p:nvSpPr>
          <p:cNvPr id="3" name="P063 lead"/>
          <p:cNvSpPr txBox="1"/>
          <p:nvPr/>
        </p:nvSpPr>
        <p:spPr>
          <a:xfrm>
            <a:off x="859536" y="960120"/>
            <a:ext cx="10369296" cy="384048"/>
          </a:xfrm>
          <a:prstGeom prst="rect">
            <a:avLst/>
          </a:prstGeom>
          <a:noFill/>
          <a:ln>
            <a:noFill/>
          </a:ln>
        </p:spPr>
        <p:txBody>
          <a:bodyPr wrap="square" anchor="ctr" lIns="18288" tIns="0" rIns="18288" bIns="0">
            <a:spAutoFit/>
          </a:bodyPr>
          <a:lstStyle/>
          <a:p>
            <a:pPr algn="ctr">
              <a:lnSpc>
                <a:spcPct val="100000"/>
              </a:lnSpc>
              <a:spcBef>
                <a:spcPts val="0"/>
              </a:spcBef>
              <a:spcAft>
                <a:spcPts val="0"/>
              </a:spcAft>
            </a:pPr>
            <a:r>
              <a:rPr sz="2000" b="1" i="0">
                <a:solidFill>
                  <a:srgbClr val="25356B"/>
                </a:solidFill>
                <a:latin typeface="Times New Roman"/>
                <a:ea typeface="標楷體"/>
                <a:cs typeface="Times New Roman"/>
              </a:rPr>
              <a:t>網站只驗證 runner evidence；不執行 policy，不改稱 endpoint energy。</a:t>
            </a:r>
          </a:p>
        </p:txBody>
      </p:sp>
      <p:sp>
        <p:nvSpPr>
          <p:cNvPr id="4" name="P063 bridge node 1"/>
          <p:cNvSpPr/>
          <p:nvPr/>
        </p:nvSpPr>
        <p:spPr>
          <a:xfrm>
            <a:off x="530352" y="1572768"/>
            <a:ext cx="2596896" cy="1389888"/>
          </a:xfrm>
          <a:prstGeom prst="roundRect">
            <a:avLst/>
          </a:prstGeom>
          <a:solidFill>
            <a:srgbClr val="ECF1FE"/>
          </a:solidFill>
          <a:ln w="1524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063 bridge node 1 heading"/>
          <p:cNvSpPr txBox="1"/>
          <p:nvPr/>
        </p:nvSpPr>
        <p:spPr>
          <a:xfrm>
            <a:off x="676656" y="1682495"/>
            <a:ext cx="230428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700" b="1" i="0">
                <a:solidFill>
                  <a:srgbClr val="4967C2"/>
                </a:solidFill>
                <a:latin typeface="Times New Roman"/>
                <a:ea typeface="標楷體"/>
                <a:cs typeface="Times New Roman"/>
              </a:rPr>
              <a:t>RUNNER｜執行器</a:t>
            </a:r>
          </a:p>
        </p:txBody>
      </p:sp>
      <p:sp>
        <p:nvSpPr>
          <p:cNvPr id="6" name="P063 bridge node 1 body"/>
          <p:cNvSpPr txBox="1"/>
          <p:nvPr/>
        </p:nvSpPr>
        <p:spPr>
          <a:xfrm>
            <a:off x="694944" y="2084832"/>
            <a:ext cx="2267712" cy="768096"/>
          </a:xfrm>
          <a:prstGeom prst="rect">
            <a:avLst/>
          </a:prstGeom>
          <a:noFill/>
          <a:ln>
            <a:noFill/>
          </a:ln>
        </p:spPr>
        <p:txBody>
          <a:bodyPr wrap="square" anchor="ctr" lIns="27432" tIns="18288" rIns="27432" bIns="18288">
            <a:spAutoFit/>
          </a:bodyPr>
          <a:lstStyle/>
          <a:p>
            <a:pPr algn="ctr">
              <a:lnSpc>
                <a:spcPct val="80000"/>
              </a:lnSpc>
              <a:spcBef>
                <a:spcPts val="0"/>
              </a:spcBef>
              <a:spcAft>
                <a:spcPts val="0"/>
              </a:spcAft>
            </a:pPr>
            <a:r>
              <a:rPr sz="1600" b="0" i="0">
                <a:solidFill>
                  <a:srgbClr val="25324A"/>
                </a:solidFill>
                <a:latin typeface="Times New Roman"/>
                <a:ea typeface="標楷體"/>
                <a:cs typeface="Times New Roman"/>
              </a:rPr>
              <a:t>stdout </a:t>
            </a:r>
            <a:r>
              <a:rPr sz="1600" b="0" i="1">
                <a:solidFill>
                  <a:srgbClr val="25324A"/>
                </a:solidFill>
                <a:latin typeface="Times New Roman"/>
                <a:ea typeface="標楷體"/>
                <a:cs typeface="Times New Roman"/>
              </a:rPr>
              <a:t>result_path</a:t>
            </a:r>
          </a:p>
          <a:p>
            <a:pPr algn="ctr">
              <a:lnSpc>
                <a:spcPct val="80000"/>
              </a:lnSpc>
              <a:spcBef>
                <a:spcPts val="0"/>
              </a:spcBef>
              <a:spcAft>
                <a:spcPts val="0"/>
              </a:spcAft>
            </a:pPr>
            <a:r>
              <a:rPr sz="1600" b="0" i="0">
                <a:solidFill>
                  <a:srgbClr val="25324A"/>
                </a:solidFill>
                <a:latin typeface="Times New Roman"/>
                <a:ea typeface="標楷體"/>
                <a:cs typeface="Times New Roman"/>
              </a:rPr>
              <a:t>選取該次 </a:t>
            </a:r>
            <a:r>
              <a:rPr sz="1600" b="0" i="1">
                <a:solidFill>
                  <a:srgbClr val="25324A"/>
                </a:solidFill>
                <a:latin typeface="Times New Roman"/>
                <a:ea typeface="標楷體"/>
                <a:cs typeface="Times New Roman"/>
              </a:rPr>
              <a:t>result.json</a:t>
            </a:r>
          </a:p>
        </p:txBody>
      </p:sp>
      <p:sp>
        <p:nvSpPr>
          <p:cNvPr id="7" name="P063 bridge connector"/>
          <p:cNvSpPr/>
          <p:nvPr/>
        </p:nvSpPr>
        <p:spPr>
          <a:xfrm>
            <a:off x="3218688" y="2084831"/>
            <a:ext cx="310896" cy="384048"/>
          </a:xfrm>
          <a:prstGeom prst="chevron">
            <a:avLst/>
          </a:prstGeom>
          <a:solidFill>
            <a:srgbClr val="496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063 bridge node 2"/>
          <p:cNvSpPr/>
          <p:nvPr/>
        </p:nvSpPr>
        <p:spPr>
          <a:xfrm>
            <a:off x="3328416" y="1572768"/>
            <a:ext cx="2596896" cy="1389888"/>
          </a:xfrm>
          <a:prstGeom prst="roundRect">
            <a:avLst/>
          </a:prstGeom>
          <a:solidFill>
            <a:srgbClr val="F4EDF7"/>
          </a:solidFill>
          <a:ln w="1524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063 bridge node 2 heading"/>
          <p:cNvSpPr txBox="1"/>
          <p:nvPr/>
        </p:nvSpPr>
        <p:spPr>
          <a:xfrm>
            <a:off x="3474720" y="1682495"/>
            <a:ext cx="230428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700" b="1" i="0">
                <a:solidFill>
                  <a:srgbClr val="660066"/>
                </a:solidFill>
                <a:latin typeface="Times New Roman"/>
                <a:ea typeface="標楷體"/>
                <a:cs typeface="Times New Roman"/>
              </a:rPr>
              <a:t>VALIDATOR｜檢核</a:t>
            </a:r>
          </a:p>
        </p:txBody>
      </p:sp>
      <p:sp>
        <p:nvSpPr>
          <p:cNvPr id="10" name="P063 bridge node 2 body"/>
          <p:cNvSpPr txBox="1"/>
          <p:nvPr/>
        </p:nvSpPr>
        <p:spPr>
          <a:xfrm>
            <a:off x="3493008" y="2084832"/>
            <a:ext cx="2267712" cy="768096"/>
          </a:xfrm>
          <a:prstGeom prst="rect">
            <a:avLst/>
          </a:prstGeom>
          <a:noFill/>
          <a:ln>
            <a:noFill/>
          </a:ln>
        </p:spPr>
        <p:txBody>
          <a:bodyPr wrap="square" anchor="ctr" lIns="27432" tIns="18288" rIns="27432" bIns="18288">
            <a:spAutoFit/>
          </a:bodyPr>
          <a:lstStyle/>
          <a:p>
            <a:pPr algn="ctr">
              <a:lnSpc>
                <a:spcPct val="80000"/>
              </a:lnSpc>
              <a:spcBef>
                <a:spcPts val="0"/>
              </a:spcBef>
              <a:spcAft>
                <a:spcPts val="0"/>
              </a:spcAft>
            </a:pPr>
            <a:r>
              <a:rPr sz="1600" b="0" i="0">
                <a:solidFill>
                  <a:srgbClr val="25324A"/>
                </a:solidFill>
                <a:latin typeface="Times New Roman"/>
                <a:ea typeface="標楷體"/>
                <a:cs typeface="Times New Roman"/>
              </a:rPr>
              <a:t>schema／identity／units</a:t>
            </a:r>
          </a:p>
          <a:p>
            <a:pPr algn="ctr">
              <a:lnSpc>
                <a:spcPct val="80000"/>
              </a:lnSpc>
              <a:spcBef>
                <a:spcPts val="0"/>
              </a:spcBef>
              <a:spcAft>
                <a:spcPts val="0"/>
              </a:spcAft>
            </a:pPr>
            <a:r>
              <a:rPr sz="1600" b="0" i="0">
                <a:solidFill>
                  <a:srgbClr val="25324A"/>
                </a:solidFill>
                <a:latin typeface="Times New Roman"/>
                <a:ea typeface="標楷體"/>
                <a:cs typeface="Times New Roman"/>
              </a:rPr>
              <a:t>provenance：I／P／O</a:t>
            </a:r>
          </a:p>
          <a:p>
            <a:pPr algn="ctr">
              <a:lnSpc>
                <a:spcPct val="80000"/>
              </a:lnSpc>
              <a:spcBef>
                <a:spcPts val="0"/>
              </a:spcBef>
              <a:spcAft>
                <a:spcPts val="0"/>
              </a:spcAft>
            </a:pPr>
            <a:r>
              <a:rPr sz="1600" b="0" i="0">
                <a:solidFill>
                  <a:srgbClr val="25324A"/>
                </a:solidFill>
                <a:latin typeface="Times New Roman"/>
                <a:ea typeface="標楷體"/>
                <a:cs typeface="Times New Roman"/>
              </a:rPr>
              <a:t>result.json；fail closed</a:t>
            </a:r>
          </a:p>
        </p:txBody>
      </p:sp>
      <p:sp>
        <p:nvSpPr>
          <p:cNvPr id="11" name="P063 bridge connector"/>
          <p:cNvSpPr/>
          <p:nvPr/>
        </p:nvSpPr>
        <p:spPr>
          <a:xfrm>
            <a:off x="6016752" y="2084831"/>
            <a:ext cx="310896" cy="384048"/>
          </a:xfrm>
          <a:prstGeom prst="chevron">
            <a:avLst/>
          </a:prstGeom>
          <a:solidFill>
            <a:srgbClr val="6600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063 bridge node 3"/>
          <p:cNvSpPr/>
          <p:nvPr/>
        </p:nvSpPr>
        <p:spPr>
          <a:xfrm>
            <a:off x="6126480" y="1572768"/>
            <a:ext cx="2596896" cy="1389888"/>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063 bridge node 3 heading"/>
          <p:cNvSpPr txBox="1"/>
          <p:nvPr/>
        </p:nvSpPr>
        <p:spPr>
          <a:xfrm>
            <a:off x="6272784" y="1682495"/>
            <a:ext cx="230428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700" b="1" i="0">
                <a:solidFill>
                  <a:srgbClr val="007374"/>
                </a:solidFill>
                <a:latin typeface="Times New Roman"/>
                <a:ea typeface="標楷體"/>
                <a:cs typeface="Times New Roman"/>
              </a:rPr>
              <a:t>REPLAY｜事件回放</a:t>
            </a:r>
          </a:p>
        </p:txBody>
      </p:sp>
      <p:sp>
        <p:nvSpPr>
          <p:cNvPr id="14" name="P063 bridge node 3 body"/>
          <p:cNvSpPr txBox="1"/>
          <p:nvPr/>
        </p:nvSpPr>
        <p:spPr>
          <a:xfrm>
            <a:off x="6291072" y="2084832"/>
            <a:ext cx="2267712" cy="768096"/>
          </a:xfrm>
          <a:prstGeom prst="rect">
            <a:avLst/>
          </a:prstGeom>
          <a:noFill/>
          <a:ln>
            <a:noFill/>
          </a:ln>
        </p:spPr>
        <p:txBody>
          <a:bodyPr wrap="square" anchor="ctr" lIns="27432" tIns="18288" rIns="27432" bIns="18288">
            <a:spAutoFit/>
          </a:bodyPr>
          <a:lstStyle/>
          <a:p>
            <a:pPr algn="ctr">
              <a:lnSpc>
                <a:spcPct val="80000"/>
              </a:lnSpc>
              <a:spcBef>
                <a:spcPts val="0"/>
              </a:spcBef>
              <a:spcAft>
                <a:spcPts val="0"/>
              </a:spcAft>
            </a:pPr>
            <a:r>
              <a:rPr sz="1600" b="0" i="0">
                <a:solidFill>
                  <a:srgbClr val="25324A"/>
                </a:solidFill>
                <a:latin typeface="Times New Roman"/>
                <a:ea typeface="標楷體"/>
                <a:cs typeface="Times New Roman"/>
              </a:rPr>
              <a:t>same run</a:t>
            </a:r>
          </a:p>
          <a:p>
            <a:pPr algn="ctr">
              <a:lnSpc>
                <a:spcPct val="80000"/>
              </a:lnSpc>
              <a:spcBef>
                <a:spcPts val="0"/>
              </a:spcBef>
              <a:spcAft>
                <a:spcPts val="0"/>
              </a:spcAft>
            </a:pPr>
            <a:r>
              <a:rPr sz="1600" b="0" i="1">
                <a:solidFill>
                  <a:srgbClr val="25324A"/>
                </a:solidFill>
                <a:latin typeface="Times New Roman"/>
                <a:ea typeface="標楷體"/>
                <a:cs typeface="Times New Roman"/>
              </a:rPr>
              <a:t>endpoint-replay.json</a:t>
            </a:r>
          </a:p>
          <a:p>
            <a:pPr algn="ctr">
              <a:lnSpc>
                <a:spcPct val="80000"/>
              </a:lnSpc>
              <a:spcBef>
                <a:spcPts val="0"/>
              </a:spcBef>
              <a:spcAft>
                <a:spcPts val="0"/>
              </a:spcAft>
            </a:pPr>
            <a:r>
              <a:rPr sz="1600" b="0" i="0">
                <a:solidFill>
                  <a:srgbClr val="25324A"/>
                </a:solidFill>
                <a:latin typeface="Times New Roman"/>
                <a:ea typeface="標楷體"/>
                <a:cs typeface="Times New Roman"/>
              </a:rPr>
              <a:t>state／queue／packet</a:t>
            </a:r>
          </a:p>
        </p:txBody>
      </p:sp>
      <p:sp>
        <p:nvSpPr>
          <p:cNvPr id="15" name="P063 bridge connector"/>
          <p:cNvSpPr/>
          <p:nvPr/>
        </p:nvSpPr>
        <p:spPr>
          <a:xfrm>
            <a:off x="8814816" y="2084831"/>
            <a:ext cx="310896" cy="384048"/>
          </a:xfrm>
          <a:prstGeom prst="chevron">
            <a:avLst/>
          </a:prstGeom>
          <a:solidFill>
            <a:srgbClr val="0073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063 bridge node 4"/>
          <p:cNvSpPr/>
          <p:nvPr/>
        </p:nvSpPr>
        <p:spPr>
          <a:xfrm>
            <a:off x="8924544" y="1572768"/>
            <a:ext cx="2596896" cy="1389888"/>
          </a:xfrm>
          <a:prstGeom prst="roundRect">
            <a:avLst/>
          </a:prstGeom>
          <a:solidFill>
            <a:srgbClr val="FDF9E2"/>
          </a:solidFill>
          <a:ln w="1524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063 bridge node 4 heading"/>
          <p:cNvSpPr txBox="1"/>
          <p:nvPr/>
        </p:nvSpPr>
        <p:spPr>
          <a:xfrm>
            <a:off x="9070848" y="1682495"/>
            <a:ext cx="2304288"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700" b="1" i="0">
                <a:solidFill>
                  <a:srgbClr val="846826"/>
                </a:solidFill>
                <a:latin typeface="Times New Roman"/>
                <a:ea typeface="標楷體"/>
                <a:cs typeface="Times New Roman"/>
              </a:rPr>
              <a:t>WORKBOOK｜比較</a:t>
            </a:r>
          </a:p>
        </p:txBody>
      </p:sp>
      <p:sp>
        <p:nvSpPr>
          <p:cNvPr id="18" name="P063 bridge node 4 body"/>
          <p:cNvSpPr txBox="1"/>
          <p:nvPr/>
        </p:nvSpPr>
        <p:spPr>
          <a:xfrm>
            <a:off x="9089136" y="2084832"/>
            <a:ext cx="2267712" cy="768096"/>
          </a:xfrm>
          <a:prstGeom prst="rect">
            <a:avLst/>
          </a:prstGeom>
          <a:noFill/>
          <a:ln>
            <a:noFill/>
          </a:ln>
        </p:spPr>
        <p:txBody>
          <a:bodyPr wrap="square" anchor="ctr" lIns="27432" tIns="18288" rIns="27432" bIns="18288">
            <a:spAutoFit/>
          </a:bodyPr>
          <a:lstStyle/>
          <a:p>
            <a:pPr algn="ctr">
              <a:lnSpc>
                <a:spcPct val="80000"/>
              </a:lnSpc>
              <a:spcBef>
                <a:spcPts val="0"/>
              </a:spcBef>
              <a:spcAft>
                <a:spcPts val="0"/>
              </a:spcAft>
            </a:pPr>
            <a:r>
              <a:rPr sz="1600" b="0" i="0">
                <a:solidFill>
                  <a:srgbClr val="25324A"/>
                </a:solidFill>
                <a:latin typeface="Times New Roman"/>
                <a:ea typeface="標楷體"/>
                <a:cs typeface="Times New Roman"/>
              </a:rPr>
              <a:t>baseline／candidate</a:t>
            </a:r>
          </a:p>
          <a:p>
            <a:pPr algn="ctr">
              <a:lnSpc>
                <a:spcPct val="80000"/>
              </a:lnSpc>
              <a:spcBef>
                <a:spcPts val="0"/>
              </a:spcBef>
              <a:spcAft>
                <a:spcPts val="0"/>
              </a:spcAft>
            </a:pPr>
            <a:r>
              <a:rPr sz="1600" b="0" i="0">
                <a:solidFill>
                  <a:srgbClr val="25324A"/>
                </a:solidFill>
                <a:latin typeface="Times New Roman"/>
                <a:ea typeface="標楷體"/>
                <a:cs typeface="Times New Roman"/>
              </a:rPr>
              <a:t>withheld；lineage</a:t>
            </a:r>
          </a:p>
          <a:p>
            <a:pPr algn="ctr">
              <a:lnSpc>
                <a:spcPct val="80000"/>
              </a:lnSpc>
              <a:spcBef>
                <a:spcPts val="0"/>
              </a:spcBef>
              <a:spcAft>
                <a:spcPts val="0"/>
              </a:spcAft>
            </a:pPr>
            <a:r>
              <a:rPr sz="1600" b="0" i="0">
                <a:solidFill>
                  <a:srgbClr val="25324A"/>
                </a:solidFill>
                <a:latin typeface="Times New Roman"/>
                <a:ea typeface="標楷體"/>
                <a:cs typeface="Times New Roman"/>
              </a:rPr>
              <a:t>interpretation</a:t>
            </a:r>
          </a:p>
        </p:txBody>
      </p:sp>
      <p:sp>
        <p:nvSpPr>
          <p:cNvPr id="19" name="P063 success"/>
          <p:cNvSpPr/>
          <p:nvPr/>
        </p:nvSpPr>
        <p:spPr>
          <a:xfrm>
            <a:off x="786384" y="3401568"/>
            <a:ext cx="5102352" cy="1517904"/>
          </a:xfrm>
          <a:prstGeom prst="roundRect">
            <a:avLst/>
          </a:prstGeom>
          <a:solidFill>
            <a:srgbClr val="E8F7F4"/>
          </a:solidFill>
          <a:ln w="1524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063 success heading"/>
          <p:cNvSpPr txBox="1"/>
          <p:nvPr/>
        </p:nvSpPr>
        <p:spPr>
          <a:xfrm>
            <a:off x="932688" y="3511296"/>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007374"/>
                </a:solidFill>
                <a:latin typeface="Times New Roman"/>
                <a:ea typeface="標楷體"/>
                <a:cs typeface="Times New Roman"/>
              </a:rPr>
              <a:t>SUCCESS｜驗證通過</a:t>
            </a:r>
          </a:p>
        </p:txBody>
      </p:sp>
      <p:sp>
        <p:nvSpPr>
          <p:cNvPr id="21" name="P063 success body"/>
          <p:cNvSpPr txBox="1"/>
          <p:nvPr/>
        </p:nvSpPr>
        <p:spPr>
          <a:xfrm>
            <a:off x="950976" y="3913632"/>
            <a:ext cx="4773168" cy="896111"/>
          </a:xfrm>
          <a:prstGeom prst="rect">
            <a:avLst/>
          </a:prstGeom>
          <a:noFill/>
          <a:ln>
            <a:noFill/>
          </a:ln>
        </p:spPr>
        <p:txBody>
          <a:bodyPr wrap="square" anchor="ctr" lIns="27432" tIns="18288" rIns="27432" bIns="18288">
            <a:spAutoFit/>
          </a:bodyPr>
          <a:lstStyle/>
          <a:p>
            <a:pPr algn="ctr">
              <a:lnSpc>
                <a:spcPct val="82000"/>
              </a:lnSpc>
              <a:spcBef>
                <a:spcPts val="0"/>
              </a:spcBef>
              <a:spcAft>
                <a:spcPts val="0"/>
              </a:spcAft>
            </a:pPr>
            <a:r>
              <a:rPr sz="1600" b="0" i="0">
                <a:solidFill>
                  <a:srgbClr val="25324A"/>
                </a:solidFill>
                <a:latin typeface="Times New Roman"/>
                <a:ea typeface="標楷體"/>
                <a:cs typeface="Times New Roman"/>
              </a:rPr>
              <a:t>同一 scenario／case／run identity</a:t>
            </a:r>
          </a:p>
          <a:p>
            <a:pPr algn="ctr">
              <a:lnSpc>
                <a:spcPct val="82000"/>
              </a:lnSpc>
              <a:spcBef>
                <a:spcPts val="0"/>
              </a:spcBef>
              <a:spcAft>
                <a:spcPts val="0"/>
              </a:spcAft>
            </a:pPr>
            <a:r>
              <a:rPr sz="1600" b="0" i="0">
                <a:solidFill>
                  <a:srgbClr val="25324A"/>
                </a:solidFill>
                <a:latin typeface="Times New Roman"/>
                <a:ea typeface="標楷體"/>
                <a:cs typeface="Times New Roman"/>
              </a:rPr>
              <a:t>同 run pair 產生 endpoint replay</a:t>
            </a:r>
          </a:p>
          <a:p>
            <a:pPr algn="ctr">
              <a:lnSpc>
                <a:spcPct val="82000"/>
              </a:lnSpc>
              <a:spcBef>
                <a:spcPts val="0"/>
              </a:spcBef>
              <a:spcAft>
                <a:spcPts val="0"/>
              </a:spcAft>
            </a:pPr>
            <a:r>
              <a:rPr sz="1600" b="0" i="0">
                <a:solidFill>
                  <a:srgbClr val="25324A"/>
                </a:solidFill>
                <a:latin typeface="Times New Roman"/>
                <a:ea typeface="標楷體"/>
                <a:cs typeface="Times New Roman"/>
              </a:rPr>
              <a:t>workbook 留下 lineage record</a:t>
            </a:r>
          </a:p>
          <a:p>
            <a:pPr algn="ctr">
              <a:lnSpc>
                <a:spcPct val="82000"/>
              </a:lnSpc>
              <a:spcBef>
                <a:spcPts val="0"/>
              </a:spcBef>
              <a:spcAft>
                <a:spcPts val="0"/>
              </a:spcAft>
            </a:pPr>
            <a:r>
              <a:rPr sz="1600" b="0" i="0">
                <a:solidFill>
                  <a:srgbClr val="25324A"/>
                </a:solidFill>
                <a:latin typeface="Times New Roman"/>
                <a:ea typeface="標楷體"/>
                <a:cs typeface="Times New Roman"/>
              </a:rPr>
              <a:t>scope：endpoint radio／processing</a:t>
            </a:r>
          </a:p>
        </p:txBody>
      </p:sp>
      <p:sp>
        <p:nvSpPr>
          <p:cNvPr id="22" name="P063 reject"/>
          <p:cNvSpPr/>
          <p:nvPr/>
        </p:nvSpPr>
        <p:spPr>
          <a:xfrm>
            <a:off x="6272784" y="3401568"/>
            <a:ext cx="5102352" cy="1517904"/>
          </a:xfrm>
          <a:prstGeom prst="roundRect">
            <a:avLst/>
          </a:prstGeom>
          <a:solidFill>
            <a:srgbClr val="FDEFEF"/>
          </a:solidFill>
          <a:ln w="1524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063 reject heading"/>
          <p:cNvSpPr txBox="1"/>
          <p:nvPr/>
        </p:nvSpPr>
        <p:spPr>
          <a:xfrm>
            <a:off x="6419088" y="3511296"/>
            <a:ext cx="4809744" cy="329184"/>
          </a:xfrm>
          <a:prstGeom prst="rect">
            <a:avLst/>
          </a:prstGeom>
          <a:noFill/>
          <a:ln>
            <a:noFill/>
          </a:ln>
        </p:spPr>
        <p:txBody>
          <a:bodyPr wrap="square" anchor="ctr" lIns="18288" tIns="0" rIns="18288" bIns="0">
            <a:spAutoFit/>
          </a:bodyPr>
          <a:lstStyle/>
          <a:p>
            <a:pPr algn="ctr">
              <a:lnSpc>
                <a:spcPct val="92000"/>
              </a:lnSpc>
              <a:spcBef>
                <a:spcPts val="0"/>
              </a:spcBef>
              <a:spcAft>
                <a:spcPts val="0"/>
              </a:spcAft>
            </a:pPr>
            <a:r>
              <a:rPr sz="1800" b="1" i="0">
                <a:solidFill>
                  <a:srgbClr val="992A2A"/>
                </a:solidFill>
                <a:latin typeface="Times New Roman"/>
                <a:ea typeface="標楷體"/>
                <a:cs typeface="Times New Roman"/>
              </a:rPr>
              <a:t>REJECT｜fail closed</a:t>
            </a:r>
          </a:p>
        </p:txBody>
      </p:sp>
      <p:sp>
        <p:nvSpPr>
          <p:cNvPr id="24" name="P063 reject body"/>
          <p:cNvSpPr txBox="1"/>
          <p:nvPr/>
        </p:nvSpPr>
        <p:spPr>
          <a:xfrm>
            <a:off x="6437376" y="3913632"/>
            <a:ext cx="4773168" cy="896111"/>
          </a:xfrm>
          <a:prstGeom prst="rect">
            <a:avLst/>
          </a:prstGeom>
          <a:noFill/>
          <a:ln>
            <a:noFill/>
          </a:ln>
        </p:spPr>
        <p:txBody>
          <a:bodyPr wrap="square" anchor="ctr" lIns="27432" tIns="18288" rIns="27432" bIns="18288">
            <a:spAutoFit/>
          </a:bodyPr>
          <a:lstStyle/>
          <a:p>
            <a:pPr algn="ctr">
              <a:lnSpc>
                <a:spcPct val="82000"/>
              </a:lnSpc>
              <a:spcBef>
                <a:spcPts val="0"/>
              </a:spcBef>
              <a:spcAft>
                <a:spcPts val="0"/>
              </a:spcAft>
            </a:pPr>
            <a:r>
              <a:rPr sz="1600" b="0" i="0">
                <a:solidFill>
                  <a:srgbClr val="25324A"/>
                </a:solidFill>
                <a:latin typeface="Times New Roman"/>
                <a:ea typeface="標楷體"/>
                <a:cs typeface="Times New Roman"/>
              </a:rPr>
              <a:t>schema／identity／units／provenance mismatch</a:t>
            </a:r>
          </a:p>
          <a:p>
            <a:pPr algn="ctr">
              <a:lnSpc>
                <a:spcPct val="82000"/>
              </a:lnSpc>
              <a:spcBef>
                <a:spcPts val="0"/>
              </a:spcBef>
              <a:spcAft>
                <a:spcPts val="0"/>
              </a:spcAft>
            </a:pPr>
            <a:r>
              <a:rPr sz="1600" b="0" i="0">
                <a:solidFill>
                  <a:srgbClr val="25324A"/>
                </a:solidFill>
                <a:latin typeface="Times New Roman"/>
                <a:ea typeface="標楷體"/>
                <a:cs typeface="Times New Roman"/>
              </a:rPr>
              <a:t>匯入拒絕，原 workbook 不變</a:t>
            </a:r>
          </a:p>
          <a:p>
            <a:pPr algn="ctr">
              <a:lnSpc>
                <a:spcPct val="82000"/>
              </a:lnSpc>
              <a:spcBef>
                <a:spcPts val="0"/>
              </a:spcBef>
              <a:spcAft>
                <a:spcPts val="0"/>
              </a:spcAft>
            </a:pPr>
            <a:r>
              <a:rPr sz="1600" b="0" i="0">
                <a:solidFill>
                  <a:srgbClr val="25324A"/>
                </a:solidFill>
                <a:latin typeface="Times New Roman"/>
                <a:ea typeface="標楷體"/>
                <a:cs typeface="Times New Roman"/>
              </a:rPr>
              <a:t>保留錯誤與 stdout path</a:t>
            </a:r>
          </a:p>
          <a:p>
            <a:pPr algn="ctr">
              <a:lnSpc>
                <a:spcPct val="82000"/>
              </a:lnSpc>
              <a:spcBef>
                <a:spcPts val="0"/>
              </a:spcBef>
              <a:spcAft>
                <a:spcPts val="0"/>
              </a:spcAft>
            </a:pPr>
            <a:r>
              <a:rPr sz="1600" b="0" i="0">
                <a:solidFill>
                  <a:srgbClr val="25324A"/>
                </a:solidFill>
                <a:latin typeface="Times New Roman"/>
                <a:ea typeface="標楷體"/>
                <a:cs typeface="Times New Roman"/>
              </a:rPr>
              <a:t>回到 P062 重跑 exact case</a:t>
            </a:r>
          </a:p>
        </p:txBody>
      </p:sp>
      <p:sp>
        <p:nvSpPr>
          <p:cNvPr id="25" name="Mechanism label"/>
          <p:cNvSpPr/>
          <p:nvPr/>
        </p:nvSpPr>
        <p:spPr>
          <a:xfrm>
            <a:off x="1005840" y="5029200"/>
            <a:ext cx="10168128" cy="365760"/>
          </a:xfrm>
          <a:prstGeom prst="roundRect">
            <a:avLst/>
          </a:prstGeom>
          <a:solidFill>
            <a:srgbClr val="F7F8FC"/>
          </a:solidFill>
          <a:ln w="15240">
            <a:solidFill>
              <a:srgbClr val="25356B"/>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2000"/>
              </a:lnSpc>
              <a:spcBef>
                <a:spcPts val="0"/>
              </a:spcBef>
              <a:spcAft>
                <a:spcPts val="0"/>
              </a:spcAft>
            </a:pPr>
            <a:r>
              <a:rPr sz="1700" b="1" i="0">
                <a:solidFill>
                  <a:srgbClr val="25356B"/>
                </a:solidFill>
                <a:latin typeface="Times New Roman"/>
                <a:ea typeface="標楷體"/>
                <a:cs typeface="Times New Roman"/>
              </a:rPr>
              <a:t>上傳 result evidence，不是 policy source；網站驗證、回放、保存，不重算 policy</a:t>
            </a:r>
          </a:p>
        </p:txBody>
      </p:sp>
      <p:sp>
        <p:nvSpPr>
          <p:cNvPr id="26" name="Evidence status"/>
          <p:cNvSpPr/>
          <p:nvPr/>
        </p:nvSpPr>
        <p:spPr>
          <a:xfrm>
            <a:off x="804672" y="5468112"/>
            <a:ext cx="10588752" cy="402336"/>
          </a:xfrm>
          <a:prstGeom prst="roundRect">
            <a:avLst/>
          </a:prstGeom>
          <a:solidFill>
            <a:srgbClr val="F7F8FC"/>
          </a:solidFill>
          <a:ln w="15240">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wrap="square" lIns="27432" tIns="9144" rIns="27432" bIns="9144"/>
          <a:lstStyle/>
          <a:p>
            <a:pPr algn="ctr">
              <a:lnSpc>
                <a:spcPct val="90000"/>
              </a:lnSpc>
              <a:spcBef>
                <a:spcPts val="0"/>
              </a:spcBef>
              <a:spcAft>
                <a:spcPts val="0"/>
              </a:spcAft>
            </a:pPr>
            <a:r>
              <a:rPr sz="1600" b="0" i="0">
                <a:solidFill>
                  <a:srgbClr val="65758B"/>
                </a:solidFill>
                <a:latin typeface="Times New Roman"/>
                <a:ea typeface="標楷體"/>
                <a:cs typeface="Times New Roman"/>
              </a:rPr>
              <a:t>目前 evidence：待補；數值以本次 stdout result_path 與同目錄 replay 為準</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P064｜Lab C：急件應提前多久送出？</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問題：急件應提前多久送出，才不會為省能量而誤期？</a:t>
            </a:r>
          </a:p>
        </p:txBody>
      </p:sp>
      <p:sp>
        <p:nvSpPr>
          <p:cNvPr id="6" name="Queue visual"/>
          <p:cNvSpPr/>
          <p:nvPr/>
        </p:nvSpPr>
        <p:spPr>
          <a:xfrm>
            <a:off x="768096" y="1572768"/>
            <a:ext cx="3401568" cy="2468880"/>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Queue visual heading"/>
          <p:cNvSpPr txBox="1"/>
          <p:nvPr/>
        </p:nvSpPr>
        <p:spPr>
          <a:xfrm>
            <a:off x="896112" y="1645920"/>
            <a:ext cx="314553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4967C2"/>
                </a:solidFill>
                <a:latin typeface="Times New Roman"/>
                <a:ea typeface="標楷體"/>
                <a:cs typeface="Times New Roman"/>
              </a:rPr>
              <a:t>急件在佇列</a:t>
            </a:r>
          </a:p>
        </p:txBody>
      </p:sp>
      <p:sp>
        <p:nvSpPr>
          <p:cNvPr id="8" name="Queue visual body"/>
          <p:cNvSpPr txBox="1"/>
          <p:nvPr/>
        </p:nvSpPr>
        <p:spPr>
          <a:xfrm>
            <a:off x="905256" y="2066543"/>
            <a:ext cx="3127248" cy="1883664"/>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400" b="0" i="0">
                <a:solidFill>
                  <a:srgbClr val="25324A"/>
                </a:solidFill>
                <a:latin typeface="Times New Roman"/>
                <a:ea typeface="標楷體"/>
                <a:cs typeface="Times New Roman"/>
              </a:rPr>
              <a:t>期限倒數</a:t>
            </a:r>
          </a:p>
          <a:p>
            <a:pPr algn="ctr">
              <a:lnSpc>
                <a:spcPct val="100000"/>
              </a:lnSpc>
              <a:spcBef>
                <a:spcPts val="0"/>
              </a:spcBef>
              <a:spcAft>
                <a:spcPts val="0"/>
              </a:spcAft>
            </a:pPr>
            <a:r>
              <a:rPr sz="2400" b="0" i="0">
                <a:solidFill>
                  <a:srgbClr val="25324A"/>
                </a:solidFill>
                <a:latin typeface="Times New Roman"/>
                <a:ea typeface="標楷體"/>
                <a:cs typeface="Times New Roman"/>
              </a:rPr>
              <a:t>等待越久，越可能誤期</a:t>
            </a:r>
          </a:p>
        </p:txBody>
      </p:sp>
      <p:cxnSp>
        <p:nvCxnSpPr>
          <p:cNvPr id="9" name="Queue to service gate"/>
          <p:cNvCxnSpPr/>
          <p:nvPr/>
        </p:nvCxnSpPr>
        <p:spPr>
          <a:xfrm>
            <a:off x="4315968" y="2788920"/>
            <a:ext cx="274320" cy="0"/>
          </a:xfrm>
          <a:prstGeom prst="line">
            <a:avLst/>
          </a:prstGeom>
          <a:ln w="25400">
            <a:solidFill>
              <a:srgbClr val="660066"/>
            </a:solidFill>
          </a:ln>
        </p:spPr>
        <p:style>
          <a:lnRef idx="2">
            <a:schemeClr val="accent1"/>
          </a:lnRef>
          <a:fillRef idx="0">
            <a:schemeClr val="accent1"/>
          </a:fillRef>
          <a:effectRef idx="1">
            <a:schemeClr val="accent1"/>
          </a:effectRef>
          <a:fontRef idx="minor">
            <a:schemeClr val="tx1"/>
          </a:fontRef>
        </p:style>
      </p:cxnSp>
      <p:sp>
        <p:nvSpPr>
          <p:cNvPr id="10" name="Service gate visual"/>
          <p:cNvSpPr/>
          <p:nvPr/>
        </p:nvSpPr>
        <p:spPr>
          <a:xfrm>
            <a:off x="4681728" y="1572768"/>
            <a:ext cx="6784848" cy="2468880"/>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Service gate visual heading"/>
          <p:cNvSpPr txBox="1"/>
          <p:nvPr/>
        </p:nvSpPr>
        <p:spPr>
          <a:xfrm>
            <a:off x="4809744" y="1645920"/>
            <a:ext cx="652881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服務窗口｜gate</a:t>
            </a:r>
          </a:p>
        </p:txBody>
      </p:sp>
      <p:sp>
        <p:nvSpPr>
          <p:cNvPr id="12" name="Service gate visual body"/>
          <p:cNvSpPr txBox="1"/>
          <p:nvPr/>
        </p:nvSpPr>
        <p:spPr>
          <a:xfrm>
            <a:off x="4818888" y="2066543"/>
            <a:ext cx="6510528" cy="1883664"/>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300" b="0" i="0">
                <a:solidFill>
                  <a:srgbClr val="25324A"/>
                </a:solidFill>
                <a:latin typeface="Times New Roman"/>
                <a:ea typeface="標楷體"/>
                <a:cs typeface="Times New Roman"/>
              </a:rPr>
              <a:t>窗口開啟 → 可以送出</a:t>
            </a:r>
          </a:p>
          <a:p>
            <a:pPr algn="ctr">
              <a:lnSpc>
                <a:spcPct val="100000"/>
              </a:lnSpc>
              <a:spcBef>
                <a:spcPts val="0"/>
              </a:spcBef>
              <a:spcAft>
                <a:spcPts val="0"/>
              </a:spcAft>
            </a:pPr>
            <a:r>
              <a:rPr sz="2300" b="0" i="0">
                <a:solidFill>
                  <a:srgbClr val="25324A"/>
                </a:solidFill>
                <a:latin typeface="Times New Roman"/>
                <a:ea typeface="標楷體"/>
                <a:cs typeface="Times New Roman"/>
              </a:rPr>
              <a:t>距限接近 → 優先處理</a:t>
            </a:r>
          </a:p>
          <a:p>
            <a:pPr algn="ctr">
              <a:lnSpc>
                <a:spcPct val="100000"/>
              </a:lnSpc>
              <a:spcBef>
                <a:spcPts val="0"/>
              </a:spcBef>
              <a:spcAft>
                <a:spcPts val="0"/>
              </a:spcAft>
            </a:pPr>
            <a:r>
              <a:rPr sz="2300" b="0" i="0">
                <a:solidFill>
                  <a:srgbClr val="25324A"/>
                </a:solidFill>
                <a:latin typeface="Times New Roman"/>
                <a:ea typeface="標楷體"/>
                <a:cs typeface="Times New Roman"/>
              </a:rPr>
              <a:t>窗口關閉 → 不得送出</a:t>
            </a:r>
          </a:p>
        </p:txBody>
      </p:sp>
      <p:sp>
        <p:nvSpPr>
          <p:cNvPr id="13" name="Queue gate reading order"/>
          <p:cNvSpPr/>
          <p:nvPr/>
        </p:nvSpPr>
        <p:spPr>
          <a:xfrm>
            <a:off x="877824" y="4224528"/>
            <a:ext cx="10387584" cy="56692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本頁讀法｜先建立問題；下一頁開啟實際檔案，確認哪一行控制急件時間。</a:t>
            </a:r>
          </a:p>
        </p:txBody>
      </p:sp>
      <p:sp>
        <p:nvSpPr>
          <p:cNvPr id="14" name="Queue age field"/>
          <p:cNvSpPr/>
          <p:nvPr/>
        </p:nvSpPr>
        <p:spPr>
          <a:xfrm>
            <a:off x="749808" y="4956048"/>
            <a:ext cx="10698480" cy="841248"/>
          </a:xfrm>
          <a:prstGeom prst="roundRect">
            <a:avLst/>
          </a:prstGeom>
          <a:solidFill>
            <a:srgbClr val="F2F4F8"/>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queue age</a:t>
            </a:r>
            <a:r>
              <a:rPr sz="1800" b="0" i="0">
                <a:solidFill>
                  <a:srgbClr val="25324A"/>
                </a:solidFill>
                <a:latin typeface="Times New Roman"/>
                <a:ea typeface="標楷體"/>
                <a:cs typeface="Times New Roman"/>
              </a:rPr>
              <a:t>｜等待時間</a:t>
            </a:r>
          </a:p>
          <a:p>
            <a:pPr algn="l">
              <a:lnSpc>
                <a:spcPct val="84000"/>
              </a:lnSpc>
              <a:spcBef>
                <a:spcPts val="0"/>
              </a:spcBef>
              <a:spcAft>
                <a:spcPts val="0"/>
              </a:spcAft>
            </a:pPr>
            <a:r>
              <a:rPr sz="1800" b="0" i="0">
                <a:solidFill>
                  <a:srgbClr val="25324A"/>
                </a:solidFill>
                <a:latin typeface="Times New Roman"/>
                <a:ea typeface="標楷體"/>
                <a:cs typeface="Times New Roman"/>
              </a:rPr>
              <a:t>來源 runner trace；作用 顯示等待成本；單位 s；數字越高代表排隊越久。</a:t>
            </a:r>
            <a:r>
              <a:rPr sz="1800" b="0" i="1">
                <a:solidFill>
                  <a:srgbClr val="25324A"/>
                </a:solidFill>
                <a:latin typeface="Times New Roman"/>
                <a:ea typeface="標楷體"/>
                <a:cs typeface="Times New Roman"/>
              </a:rPr>
              <a:t>deadline</a:t>
            </a:r>
            <a:r>
              <a:rPr sz="1800" b="0" i="0">
                <a:solidFill>
                  <a:srgbClr val="25324A"/>
                </a:solidFill>
                <a:latin typeface="Times New Roman"/>
                <a:ea typeface="標楷體"/>
                <a:cs typeface="Times New Roman"/>
              </a:rPr>
              <a:t> 先判期限，</a:t>
            </a:r>
            <a:r>
              <a:rPr sz="1800" b="0" i="1">
                <a:solidFill>
                  <a:srgbClr val="25324A"/>
                </a:solidFill>
                <a:latin typeface="Times New Roman"/>
                <a:ea typeface="標楷體"/>
                <a:cs typeface="Times New Roman"/>
              </a:rPr>
              <a:t>endpoint J</a:t>
            </a:r>
            <a:r>
              <a:rPr sz="1800" b="0" i="0">
                <a:solidFill>
                  <a:srgbClr val="25324A"/>
                </a:solidFill>
                <a:latin typeface="Times New Roman"/>
                <a:ea typeface="標楷體"/>
                <a:cs typeface="Times New Roman"/>
              </a:rPr>
              <a:t> 只在服務結果後解釋。</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P065｜打開實際檔案：急件門檻 20 秒</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先讀原始決策：它只看急件距限與佇列，不改任何值。</a:t>
            </a:r>
          </a:p>
        </p:txBody>
      </p:sp>
      <p:sp>
        <p:nvSpPr>
          <p:cNvPr id="6" name="Policy file heading"/>
          <p:cNvSpPr txBox="1"/>
          <p:nvPr/>
        </p:nvSpPr>
        <p:spPr>
          <a:xfrm>
            <a:off x="841248" y="1298448"/>
            <a:ext cx="5532120" cy="256032"/>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800" b="1" i="1">
                <a:solidFill>
                  <a:srgbClr val="25356B"/>
                </a:solidFill>
                <a:latin typeface="Times New Roman"/>
                <a:ea typeface="標楷體"/>
                <a:cs typeface="Times New Roman"/>
              </a:rPr>
              <a:t>student_policy.py</a:t>
            </a:r>
            <a:r>
              <a:rPr sz="1800" b="1" i="0">
                <a:solidFill>
                  <a:srgbClr val="25356B"/>
                </a:solidFill>
                <a:latin typeface="Times New Roman"/>
                <a:ea typeface="標楷體"/>
                <a:cs typeface="Times New Roman"/>
              </a:rPr>
              <a:t>｜</a:t>
            </a:r>
            <a:r>
              <a:rPr sz="1800" b="1" i="1">
                <a:solidFill>
                  <a:srgbClr val="25356B"/>
                </a:solidFill>
                <a:latin typeface="Times New Roman"/>
                <a:ea typeface="標楷體"/>
                <a:cs typeface="Times New Roman"/>
              </a:rPr>
              <a:t>lab-c-batch-urgent</a:t>
            </a:r>
            <a:r>
              <a:rPr sz="1800" b="1" i="0">
                <a:solidFill>
                  <a:srgbClr val="25356B"/>
                </a:solidFill>
                <a:latin typeface="Times New Roman"/>
                <a:ea typeface="標楷體"/>
                <a:cs typeface="Times New Roman"/>
              </a:rPr>
              <a:t>（只讀）</a:t>
            </a:r>
          </a:p>
        </p:txBody>
      </p:sp>
      <p:sp>
        <p:nvSpPr>
          <p:cNvPr id="7" name="Original Lab C annotated mirror"/>
          <p:cNvSpPr/>
          <p:nvPr/>
        </p:nvSpPr>
        <p:spPr>
          <a:xfrm>
            <a:off x="768096" y="1591056"/>
            <a:ext cx="5532120" cy="2670048"/>
          </a:xfrm>
          <a:prstGeom prst="roundRect">
            <a:avLst/>
          </a:prstGeom>
          <a:solidFill>
            <a:srgbClr val="FAF7E8"/>
          </a:solidFill>
          <a:ln w="13970">
            <a:solidFill>
              <a:srgbClr val="25356B"/>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8" name="Original Lab C annotated mirror text"/>
          <p:cNvSpPr txBox="1"/>
          <p:nvPr/>
        </p:nvSpPr>
        <p:spPr>
          <a:xfrm>
            <a:off x="877824" y="1682496"/>
            <a:ext cx="5312664" cy="2505456"/>
          </a:xfrm>
          <a:prstGeom prst="rect">
            <a:avLst/>
          </a:prstGeom>
          <a:noFill/>
          <a:ln>
            <a:noFill/>
          </a:ln>
        </p:spPr>
        <p:txBody>
          <a:bodyPr wrap="square" lIns="54864" tIns="36576" rIns="54864" bIns="36576" anchor="t">
            <a:spAutoFit/>
          </a:bodyPr>
          <a:lstStyle/>
          <a:p>
            <a:pPr algn="l">
              <a:lnSpc>
                <a:spcPct val="74000"/>
              </a:lnSpc>
              <a:spcBef>
                <a:spcPts val="0"/>
              </a:spcBef>
              <a:spcAft>
                <a:spcPts val="0"/>
              </a:spcAft>
            </a:pPr>
            <a:r>
              <a:rPr sz="1800" b="0" i="0">
                <a:solidFill>
                  <a:srgbClr val="25324A"/>
                </a:solidFill>
                <a:latin typeface="Times New Roman"/>
                <a:ea typeface="標楷體"/>
                <a:cs typeface="Times New Roman"/>
              </a:rPr>
              <a:t># === LORA EDITABLE: lab-c-batch-urgent ===</a:t>
            </a:r>
          </a:p>
          <a:p>
            <a:pPr algn="l">
              <a:lnSpc>
                <a:spcPct val="74000"/>
              </a:lnSpc>
              <a:spcBef>
                <a:spcPts val="0"/>
              </a:spcBef>
              <a:spcAft>
                <a:spcPts val="0"/>
              </a:spcAft>
            </a:pPr>
            <a:r>
              <a:rPr sz="1800" b="0" i="0">
                <a:solidFill>
                  <a:srgbClr val="25324A"/>
                </a:solidFill>
                <a:latin typeface="Times New Roman"/>
                <a:ea typeface="標楷體"/>
                <a:cs typeface="Times New Roman"/>
              </a:rPr>
              <a:t>BATCH_SIZE = 3          # 佇列達 3 才批次</a:t>
            </a:r>
          </a:p>
          <a:p>
            <a:pPr algn="l">
              <a:lnSpc>
                <a:spcPct val="74000"/>
              </a:lnSpc>
              <a:spcBef>
                <a:spcPts val="0"/>
              </a:spcBef>
              <a:spcAft>
                <a:spcPts val="0"/>
              </a:spcAft>
            </a:pPr>
            <a:r>
              <a:rPr sz="1800" b="0" i="0">
                <a:solidFill>
                  <a:srgbClr val="25324A"/>
                </a:solidFill>
                <a:latin typeface="Times New Roman"/>
                <a:ea typeface="標楷體"/>
                <a:cs typeface="Times New Roman"/>
              </a:rPr>
              <a:t>URGENT_MARGIN_S = 20    # 距限 ≤ 20 秒才急送</a:t>
            </a:r>
          </a:p>
          <a:p>
            <a:pPr algn="l">
              <a:lnSpc>
                <a:spcPct val="74000"/>
              </a:lnSpc>
              <a:spcBef>
                <a:spcPts val="0"/>
              </a:spcBef>
              <a:spcAft>
                <a:spcPts val="0"/>
              </a:spcAft>
            </a:pPr>
            <a:r>
              <a:rPr sz="1800" b="0" i="0">
                <a:solidFill>
                  <a:srgbClr val="25324A"/>
                </a:solidFill>
                <a:latin typeface="Times New Roman"/>
                <a:ea typeface="標楷體"/>
                <a:cs typeface="Times New Roman"/>
              </a:rPr>
              <a:t># === LORA END EDITABLE: lab-c-batch-urgent ===</a:t>
            </a:r>
          </a:p>
          <a:p>
            <a:pPr algn="l">
              <a:lnSpc>
                <a:spcPct val="74000"/>
              </a:lnSpc>
              <a:spcBef>
                <a:spcPts val="0"/>
              </a:spcBef>
              <a:spcAft>
                <a:spcPts val="0"/>
              </a:spcAft>
            </a:pPr>
            <a:r>
              <a:rPr sz="1800" b="0" i="0">
                <a:solidFill>
                  <a:srgbClr val="25324A"/>
                </a:solidFill>
                <a:latin typeface="Times New Roman"/>
                <a:ea typeface="標楷體"/>
                <a:cs typeface="Times New Roman"/>
              </a:rPr>
              <a:t># 有急件且距限 ≤ 門檻 → 優先急件</a:t>
            </a:r>
          </a:p>
          <a:p>
            <a:pPr algn="l">
              <a:lnSpc>
                <a:spcPct val="74000"/>
              </a:lnSpc>
              <a:spcBef>
                <a:spcPts val="0"/>
              </a:spcBef>
              <a:spcAft>
                <a:spcPts val="0"/>
              </a:spcAft>
            </a:pPr>
            <a:r>
              <a:rPr sz="1800" b="0" i="0">
                <a:solidFill>
                  <a:srgbClr val="25324A"/>
                </a:solidFill>
                <a:latin typeface="Times New Roman"/>
                <a:ea typeface="標楷體"/>
                <a:cs typeface="Times New Roman"/>
              </a:rPr>
              <a:t>if observation.urgent_pending and observation.urgent_due_in_s &lt;= URGENT_MARGIN_S:</a:t>
            </a:r>
          </a:p>
          <a:p>
            <a:pPr algn="l">
              <a:lnSpc>
                <a:spcPct val="74000"/>
              </a:lnSpc>
              <a:spcBef>
                <a:spcPts val="0"/>
              </a:spcBef>
              <a:spcAft>
                <a:spcPts val="0"/>
              </a:spcAft>
            </a:pPr>
            <a:r>
              <a:rPr sz="1800" b="0" i="0">
                <a:solidFill>
                  <a:srgbClr val="25324A"/>
                </a:solidFill>
                <a:latin typeface="Times New Roman"/>
                <a:ea typeface="標楷體"/>
                <a:cs typeface="Times New Roman"/>
              </a:rPr>
              <a:t>    return SEND_URGENT</a:t>
            </a:r>
          </a:p>
        </p:txBody>
      </p:sp>
      <p:sp>
        <p:nvSpPr>
          <p:cNvPr id="9" name="Choose action order"/>
          <p:cNvSpPr/>
          <p:nvPr/>
        </p:nvSpPr>
        <p:spPr>
          <a:xfrm>
            <a:off x="6565392" y="1591056"/>
            <a:ext cx="4828032" cy="267004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0" name="Choose action order heading"/>
          <p:cNvSpPr txBox="1"/>
          <p:nvPr/>
        </p:nvSpPr>
        <p:spPr>
          <a:xfrm>
            <a:off x="6693407" y="1664208"/>
            <a:ext cx="4572000"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000" b="1" i="0">
                <a:solidFill>
                  <a:srgbClr val="4967C2"/>
                </a:solidFill>
                <a:latin typeface="Times New Roman"/>
                <a:ea typeface="標楷體"/>
                <a:cs typeface="Times New Roman"/>
              </a:rPr>
              <a:t>完整動作順序</a:t>
            </a:r>
          </a:p>
        </p:txBody>
      </p:sp>
      <p:sp>
        <p:nvSpPr>
          <p:cNvPr id="11" name="Choose action order body"/>
          <p:cNvSpPr txBox="1"/>
          <p:nvPr/>
        </p:nvSpPr>
        <p:spPr>
          <a:xfrm>
            <a:off x="6702552" y="2084832"/>
            <a:ext cx="4553712" cy="2084831"/>
          </a:xfrm>
          <a:prstGeom prst="rect">
            <a:avLst/>
          </a:prstGeom>
          <a:noFill/>
          <a:ln>
            <a:noFill/>
          </a:ln>
        </p:spPr>
        <p:txBody>
          <a:bodyPr wrap="square" lIns="73152" tIns="36576" rIns="73152" bIns="36576" anchor="t">
            <a:spAutoFit/>
          </a:bodyPr>
          <a:lstStyle/>
          <a:p>
            <a:pPr algn="l">
              <a:lnSpc>
                <a:spcPct val="100000"/>
              </a:lnSpc>
              <a:spcBef>
                <a:spcPts val="0"/>
              </a:spcBef>
              <a:spcAft>
                <a:spcPts val="0"/>
              </a:spcAft>
            </a:pPr>
            <a:r>
              <a:rPr sz="1800" b="0" i="0">
                <a:solidFill>
                  <a:srgbClr val="25324A"/>
                </a:solidFill>
                <a:latin typeface="Times New Roman"/>
                <a:ea typeface="標楷體"/>
                <a:cs typeface="Times New Roman"/>
              </a:rPr>
              <a:t>1 窗口關閉 → SLEEP</a:t>
            </a:r>
          </a:p>
          <a:p>
            <a:pPr algn="l">
              <a:lnSpc>
                <a:spcPct val="100000"/>
              </a:lnSpc>
              <a:spcBef>
                <a:spcPts val="0"/>
              </a:spcBef>
              <a:spcAft>
                <a:spcPts val="0"/>
              </a:spcAft>
            </a:pPr>
            <a:r>
              <a:rPr sz="1800" b="0" i="0">
                <a:solidFill>
                  <a:srgbClr val="25324A"/>
                </a:solidFill>
                <a:latin typeface="Times New Roman"/>
                <a:ea typeface="標楷體"/>
                <a:cs typeface="Times New Roman"/>
              </a:rPr>
              <a:t>2 急件距限內 → SEND_URGENT</a:t>
            </a:r>
          </a:p>
          <a:p>
            <a:pPr algn="l">
              <a:lnSpc>
                <a:spcPct val="100000"/>
              </a:lnSpc>
              <a:spcBef>
                <a:spcPts val="0"/>
              </a:spcBef>
              <a:spcAft>
                <a:spcPts val="0"/>
              </a:spcAft>
            </a:pPr>
            <a:r>
              <a:rPr sz="1800" b="0" i="0">
                <a:solidFill>
                  <a:srgbClr val="25324A"/>
                </a:solidFill>
                <a:latin typeface="Times New Roman"/>
                <a:ea typeface="標楷體"/>
                <a:cs typeface="Times New Roman"/>
              </a:rPr>
              <a:t>3 間隔未到 → REST_DURING_GAP</a:t>
            </a:r>
          </a:p>
          <a:p>
            <a:pPr algn="l">
              <a:lnSpc>
                <a:spcPct val="100000"/>
              </a:lnSpc>
              <a:spcBef>
                <a:spcPts val="0"/>
              </a:spcBef>
              <a:spcAft>
                <a:spcPts val="0"/>
              </a:spcAft>
            </a:pPr>
            <a:r>
              <a:rPr sz="1800" b="0" i="0">
                <a:solidFill>
                  <a:srgbClr val="25324A"/>
                </a:solidFill>
                <a:latin typeface="Times New Roman"/>
                <a:ea typeface="標楷體"/>
                <a:cs typeface="Times New Roman"/>
              </a:rPr>
              <a:t>4 品質未穩定 → HOLD</a:t>
            </a:r>
          </a:p>
          <a:p>
            <a:pPr algn="l">
              <a:lnSpc>
                <a:spcPct val="100000"/>
              </a:lnSpc>
              <a:spcBef>
                <a:spcPts val="0"/>
              </a:spcBef>
              <a:spcAft>
                <a:spcPts val="0"/>
              </a:spcAft>
            </a:pPr>
            <a:r>
              <a:rPr sz="1800" b="0" i="0">
                <a:solidFill>
                  <a:srgbClr val="25324A"/>
                </a:solidFill>
                <a:latin typeface="Times New Roman"/>
                <a:ea typeface="標楷體"/>
                <a:cs typeface="Times New Roman"/>
              </a:rPr>
              <a:t>5 佇列達 3 → FLUSH_BATCH</a:t>
            </a:r>
          </a:p>
          <a:p>
            <a:pPr algn="l">
              <a:lnSpc>
                <a:spcPct val="100000"/>
              </a:lnSpc>
              <a:spcBef>
                <a:spcPts val="0"/>
              </a:spcBef>
              <a:spcAft>
                <a:spcPts val="0"/>
              </a:spcAft>
            </a:pPr>
            <a:r>
              <a:rPr sz="1800" b="0" i="0">
                <a:solidFill>
                  <a:srgbClr val="25324A"/>
                </a:solidFill>
                <a:latin typeface="Times New Roman"/>
                <a:ea typeface="標楷體"/>
                <a:cs typeface="Times New Roman"/>
              </a:rPr>
              <a:t>6 其餘 → WAIT</a:t>
            </a:r>
          </a:p>
        </p:txBody>
      </p:sp>
      <p:sp>
        <p:nvSpPr>
          <p:cNvPr id="12" name="Branch order reading"/>
          <p:cNvSpPr/>
          <p:nvPr/>
        </p:nvSpPr>
        <p:spPr>
          <a:xfrm>
            <a:off x="877824" y="4443984"/>
            <a:ext cx="10387584" cy="548640"/>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機制｜先判窗口與急件；只有前面都未命中，佇列達 3 才進入批次。</a:t>
            </a:r>
          </a:p>
        </p:txBody>
      </p:sp>
      <p:sp>
        <p:nvSpPr>
          <p:cNvPr id="13" name="Lab C constant definitions"/>
          <p:cNvSpPr/>
          <p:nvPr/>
        </p:nvSpPr>
        <p:spPr>
          <a:xfrm>
            <a:off x="749808" y="4901184"/>
            <a:ext cx="10698480" cy="950976"/>
          </a:xfrm>
          <a:prstGeom prst="roundRect">
            <a:avLst/>
          </a:prstGeom>
          <a:solidFill>
            <a:srgbClr val="F2F4F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URGENT_MARGIN_S</a:t>
            </a:r>
            <a:r>
              <a:rPr sz="1800" b="0" i="0">
                <a:solidFill>
                  <a:srgbClr val="25324A"/>
                </a:solidFill>
                <a:latin typeface="Times New Roman"/>
                <a:ea typeface="標楷體"/>
                <a:cs typeface="Times New Roman"/>
              </a:rPr>
              <a:t>｜急件距限門檻</a:t>
            </a:r>
          </a:p>
          <a:p>
            <a:pPr algn="l">
              <a:lnSpc>
                <a:spcPct val="84000"/>
              </a:lnSpc>
              <a:spcBef>
                <a:spcPts val="0"/>
              </a:spcBef>
              <a:spcAft>
                <a:spcPts val="0"/>
              </a:spcAft>
            </a:pPr>
            <a:r>
              <a:rPr sz="1800" b="0" i="0">
                <a:solidFill>
                  <a:srgbClr val="25324A"/>
                </a:solidFill>
                <a:latin typeface="Times New Roman"/>
                <a:ea typeface="標楷體"/>
                <a:cs typeface="Times New Roman"/>
              </a:rPr>
              <a:t>來源 /home/u24/lora-energy-lab/student_policy.py 的 </a:t>
            </a:r>
            <a:r>
              <a:rPr sz="1800" b="0" i="1">
                <a:solidFill>
                  <a:srgbClr val="25324A"/>
                </a:solidFill>
                <a:latin typeface="Times New Roman"/>
                <a:ea typeface="標楷體"/>
                <a:cs typeface="Times New Roman"/>
              </a:rPr>
              <a:t>lab-c-batch-urgent</a:t>
            </a:r>
            <a:r>
              <a:rPr sz="1800" b="0" i="0">
                <a:solidFill>
                  <a:srgbClr val="25324A"/>
                </a:solidFill>
                <a:latin typeface="Times New Roman"/>
                <a:ea typeface="標楷體"/>
                <a:cs typeface="Times New Roman"/>
              </a:rPr>
              <a:t>；單位 s；20 表示距限 20 秒內才走急件分支，較小值較晚、較大值較早。</a:t>
            </a:r>
            <a:r>
              <a:rPr sz="1800" b="0" i="1">
                <a:solidFill>
                  <a:srgbClr val="25324A"/>
                </a:solidFill>
                <a:latin typeface="Times New Roman"/>
                <a:ea typeface="標楷體"/>
                <a:cs typeface="Times New Roman"/>
              </a:rPr>
              <a:t>BATCH_SIZE = 3</a:t>
            </a:r>
            <a:r>
              <a:rPr sz="1800" b="0" i="0">
                <a:solidFill>
                  <a:srgbClr val="25324A"/>
                </a:solidFill>
                <a:latin typeface="Times New Roman"/>
                <a:ea typeface="標楷體"/>
                <a:cs typeface="Times New Roman"/>
              </a:rPr>
              <a:t>、Lab A／B frozen blocks、runner、scenario、schemas、其他常數／函式／檔案均不變。</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P066｜第一輪執行：基準 20 → 候選 5</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順序固定：baseline 20 → candidate 5；每次都保存同一對結果檔。</a:t>
            </a:r>
          </a:p>
        </p:txBody>
      </p:sp>
      <p:sp>
        <p:nvSpPr>
          <p:cNvPr id="6" name="Baseline run receipt"/>
          <p:cNvSpPr/>
          <p:nvPr/>
        </p:nvSpPr>
        <p:spPr>
          <a:xfrm>
            <a:off x="768096" y="1572768"/>
            <a:ext cx="5084064" cy="248716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Baseline run receipt heading"/>
          <p:cNvSpPr txBox="1"/>
          <p:nvPr/>
        </p:nvSpPr>
        <p:spPr>
          <a:xfrm>
            <a:off x="896112" y="1645920"/>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4967C2"/>
                </a:solidFill>
                <a:latin typeface="Times New Roman"/>
                <a:ea typeface="標楷體"/>
                <a:cs typeface="Times New Roman"/>
              </a:rPr>
              <a:t>基準組｜baseline 20</a:t>
            </a:r>
          </a:p>
        </p:txBody>
      </p:sp>
      <p:sp>
        <p:nvSpPr>
          <p:cNvPr id="8" name="Baseline run receipt body"/>
          <p:cNvSpPr txBox="1"/>
          <p:nvPr/>
        </p:nvSpPr>
        <p:spPr>
          <a:xfrm>
            <a:off x="905256" y="2066543"/>
            <a:ext cx="4809744" cy="1901952"/>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先讀本次基準結果，再保留它的配對檔。</a:t>
            </a:r>
          </a:p>
          <a:p>
            <a:pPr algn="l">
              <a:lnSpc>
                <a:spcPct val="100000"/>
              </a:lnSpc>
              <a:spcBef>
                <a:spcPts val="0"/>
              </a:spcBef>
              <a:spcAft>
                <a:spcPts val="0"/>
              </a:spcAft>
            </a:pPr>
            <a:r>
              <a:rPr sz="2100" b="0" i="0">
                <a:solidFill>
                  <a:srgbClr val="25324A"/>
                </a:solidFill>
                <a:latin typeface="Times New Roman"/>
                <a:ea typeface="標楷體"/>
                <a:cs typeface="Times New Roman"/>
              </a:rPr>
              <a:t>bash course.sh run --lab C --case baseline</a:t>
            </a:r>
          </a:p>
          <a:p>
            <a:pPr algn="l">
              <a:lnSpc>
                <a:spcPct val="100000"/>
              </a:lnSpc>
              <a:spcBef>
                <a:spcPts val="0"/>
              </a:spcBef>
              <a:spcAft>
                <a:spcPts val="0"/>
              </a:spcAft>
            </a:pPr>
            <a:r>
              <a:rPr sz="2100" b="0" i="0">
                <a:solidFill>
                  <a:srgbClr val="25324A"/>
                </a:solidFill>
                <a:latin typeface="Times New Roman"/>
                <a:ea typeface="標楷體"/>
                <a:cs typeface="Times New Roman"/>
              </a:rPr>
              <a:t>Windows：course.cmd run --lab C --case baseline</a:t>
            </a:r>
          </a:p>
        </p:txBody>
      </p:sp>
      <p:cxnSp>
        <p:nvCxnSpPr>
          <p:cNvPr id="9" name="Baseline to candidate"/>
          <p:cNvCxnSpPr/>
          <p:nvPr/>
        </p:nvCxnSpPr>
        <p:spPr>
          <a:xfrm>
            <a:off x="5998464" y="2788920"/>
            <a:ext cx="274319"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Candidate run receipt"/>
          <p:cNvSpPr/>
          <p:nvPr/>
        </p:nvSpPr>
        <p:spPr>
          <a:xfrm>
            <a:off x="6364224" y="1572768"/>
            <a:ext cx="5084064" cy="248716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Candidate run receipt heading"/>
          <p:cNvSpPr txBox="1"/>
          <p:nvPr/>
        </p:nvSpPr>
        <p:spPr>
          <a:xfrm>
            <a:off x="6492240" y="1645920"/>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660066"/>
                </a:solidFill>
                <a:latin typeface="Times New Roman"/>
                <a:ea typeface="標楷體"/>
                <a:cs typeface="Times New Roman"/>
              </a:rPr>
              <a:t>候選組｜candidate 5</a:t>
            </a:r>
          </a:p>
        </p:txBody>
      </p:sp>
      <p:sp>
        <p:nvSpPr>
          <p:cNvPr id="12" name="Candidate run receipt body"/>
          <p:cNvSpPr txBox="1"/>
          <p:nvPr/>
        </p:nvSpPr>
        <p:spPr>
          <a:xfrm>
            <a:off x="6501384" y="2066543"/>
            <a:ext cx="4809744" cy="1901952"/>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先讀本次候選結果，再保留它的配對檔。</a:t>
            </a:r>
          </a:p>
          <a:p>
            <a:pPr algn="l">
              <a:lnSpc>
                <a:spcPct val="100000"/>
              </a:lnSpc>
              <a:spcBef>
                <a:spcPts val="0"/>
              </a:spcBef>
              <a:spcAft>
                <a:spcPts val="0"/>
              </a:spcAft>
            </a:pPr>
            <a:r>
              <a:rPr sz="2100" b="0" i="0">
                <a:solidFill>
                  <a:srgbClr val="25324A"/>
                </a:solidFill>
                <a:latin typeface="Times New Roman"/>
                <a:ea typeface="標楷體"/>
                <a:cs typeface="Times New Roman"/>
              </a:rPr>
              <a:t>bash course.sh run --lab C --case candidate</a:t>
            </a:r>
          </a:p>
          <a:p>
            <a:pPr algn="l">
              <a:lnSpc>
                <a:spcPct val="100000"/>
              </a:lnSpc>
              <a:spcBef>
                <a:spcPts val="0"/>
              </a:spcBef>
              <a:spcAft>
                <a:spcPts val="0"/>
              </a:spcAft>
            </a:pPr>
            <a:r>
              <a:rPr sz="2100" b="0" i="0">
                <a:solidFill>
                  <a:srgbClr val="25324A"/>
                </a:solidFill>
                <a:latin typeface="Times New Roman"/>
                <a:ea typeface="標楷體"/>
                <a:cs typeface="Times New Roman"/>
              </a:rPr>
              <a:t>Windows：course.cmd run --lab C --case candidate</a:t>
            </a:r>
          </a:p>
        </p:txBody>
      </p:sp>
      <p:sp>
        <p:nvSpPr>
          <p:cNvPr id="13" name="Run artifact reading"/>
          <p:cNvSpPr/>
          <p:nvPr/>
        </p:nvSpPr>
        <p:spPr>
          <a:xfrm>
            <a:off x="877824" y="4224528"/>
            <a:ext cx="10387584" cy="56692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成功訊號｜stdout 印出 </a:t>
            </a:r>
            <a:r>
              <a:rPr sz="2000" b="1" i="0">
                <a:solidFill>
                  <a:srgbClr val="25324A"/>
                </a:solidFill>
                <a:latin typeface="Times New Roman"/>
                <a:ea typeface="標楷體"/>
                <a:cs typeface="Times New Roman"/>
              </a:rPr>
              <a:t>`result_path`</a:t>
            </a:r>
            <a:r>
              <a:rPr sz="2000" b="1" i="0">
                <a:solidFill>
                  <a:srgbClr val="25324A"/>
                </a:solidFill>
                <a:latin typeface="Times New Roman"/>
                <a:ea typeface="標楷體"/>
                <a:cs typeface="Times New Roman"/>
              </a:rPr>
              <a:t>；同一 run 目錄保存 </a:t>
            </a:r>
            <a:r>
              <a:rPr sz="2000" b="1" i="0">
                <a:solidFill>
                  <a:srgbClr val="25324A"/>
                </a:solidFill>
                <a:latin typeface="Times New Roman"/>
                <a:ea typeface="標楷體"/>
                <a:cs typeface="Times New Roman"/>
              </a:rPr>
              <a:t>`result.json`</a:t>
            </a:r>
            <a:r>
              <a:rPr sz="2000" b="1" i="0">
                <a:solidFill>
                  <a:srgbClr val="25324A"/>
                </a:solidFill>
                <a:latin typeface="Times New Roman"/>
                <a:ea typeface="標楷體"/>
                <a:cs typeface="Times New Roman"/>
              </a:rPr>
              <a:t> + </a:t>
            </a:r>
            <a:r>
              <a:rPr sz="2000" b="1" i="0">
                <a:solidFill>
                  <a:srgbClr val="25324A"/>
                </a:solidFill>
                <a:latin typeface="Times New Roman"/>
                <a:ea typeface="標楷體"/>
                <a:cs typeface="Times New Roman"/>
              </a:rPr>
              <a:t>`endpoint-replay.json`</a:t>
            </a:r>
            <a:r>
              <a:rPr sz="2000" b="1" i="0">
                <a:solidFill>
                  <a:srgbClr val="25324A"/>
                </a:solidFill>
                <a:latin typeface="Times New Roman"/>
                <a:ea typeface="標楷體"/>
                <a:cs typeface="Times New Roman"/>
              </a:rPr>
              <a:t>，先完成 20 再完成 5。</a:t>
            </a:r>
          </a:p>
        </p:txBody>
      </p:sp>
      <p:sp>
        <p:nvSpPr>
          <p:cNvPr id="14" name="Result path definition"/>
          <p:cNvSpPr/>
          <p:nvPr/>
        </p:nvSpPr>
        <p:spPr>
          <a:xfrm>
            <a:off x="749808" y="4919472"/>
            <a:ext cx="10698480" cy="896112"/>
          </a:xfrm>
          <a:prstGeom prst="roundRect">
            <a:avLst/>
          </a:prstGeom>
          <a:solidFill>
            <a:srgbClr val="F2F4F8"/>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｜結果路徑</a:t>
            </a:r>
          </a:p>
          <a:p>
            <a:pPr algn="l">
              <a:lnSpc>
                <a:spcPct val="84000"/>
              </a:lnSpc>
              <a:spcBef>
                <a:spcPts val="0"/>
              </a:spcBef>
              <a:spcAft>
                <a:spcPts val="0"/>
              </a:spcAft>
            </a:pPr>
            <a:r>
              <a:rPr sz="1800" b="0" i="0">
                <a:solidFill>
                  <a:srgbClr val="25324A"/>
                </a:solidFill>
                <a:latin typeface="Times New Roman"/>
                <a:ea typeface="標楷體"/>
                <a:cs typeface="Times New Roman"/>
              </a:rPr>
              <a:t>來源 runner stdout；值型態 file path；作用 定位本次 </a:t>
            </a:r>
            <a:r>
              <a:rPr sz="1800" b="0" i="1">
                <a:solidFill>
                  <a:srgbClr val="25324A"/>
                </a:solidFill>
                <a:latin typeface="Times New Roman"/>
                <a:ea typeface="標楷體"/>
                <a:cs typeface="Times New Roman"/>
              </a:rPr>
              <a:t>result.json</a:t>
            </a:r>
            <a:r>
              <a:rPr sz="1800" b="0" i="0">
                <a:solidFill>
                  <a:srgbClr val="25324A"/>
                </a:solidFill>
                <a:latin typeface="Times New Roman"/>
                <a:ea typeface="標楷體"/>
                <a:cs typeface="Times New Roman"/>
              </a:rPr>
              <a:t> 與配對 </a:t>
            </a: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；判讀 路徑相同才算一對，數字以本次收據為準。</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P067｜第一次修改：急件門檻 20→5</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20→5：較小門檻會讓急件分支更晚出現。</a:t>
            </a:r>
          </a:p>
        </p:txBody>
      </p:sp>
      <p:sp>
        <p:nvSpPr>
          <p:cNvPr id="6" name="Exact edit before"/>
          <p:cNvSpPr/>
          <p:nvPr/>
        </p:nvSpPr>
        <p:spPr>
          <a:xfrm>
            <a:off x="768096" y="1591056"/>
            <a:ext cx="3310128" cy="221284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Exact edit before heading"/>
          <p:cNvSpPr txBox="1"/>
          <p:nvPr/>
        </p:nvSpPr>
        <p:spPr>
          <a:xfrm>
            <a:off x="896112" y="1664208"/>
            <a:ext cx="30540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4967C2"/>
                </a:solidFill>
                <a:latin typeface="Times New Roman"/>
                <a:ea typeface="標楷體"/>
                <a:cs typeface="Times New Roman"/>
              </a:rPr>
              <a:t>修改前｜baseline</a:t>
            </a:r>
          </a:p>
        </p:txBody>
      </p:sp>
      <p:sp>
        <p:nvSpPr>
          <p:cNvPr id="8" name="Exact edit before body"/>
          <p:cNvSpPr txBox="1"/>
          <p:nvPr/>
        </p:nvSpPr>
        <p:spPr>
          <a:xfrm>
            <a:off x="905256" y="2084832"/>
            <a:ext cx="3035808" cy="1627631"/>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800" b="0" i="1">
                <a:solidFill>
                  <a:srgbClr val="25324A"/>
                </a:solidFill>
                <a:latin typeface="Times New Roman"/>
                <a:ea typeface="標楷體"/>
                <a:cs typeface="Times New Roman"/>
              </a:rPr>
              <a:t>BATCH_SIZE = 3</a:t>
            </a:r>
          </a:p>
          <a:p>
            <a:pPr algn="ctr">
              <a:lnSpc>
                <a:spcPct val="100000"/>
              </a:lnSpc>
              <a:spcBef>
                <a:spcPts val="0"/>
              </a:spcBef>
              <a:spcAft>
                <a:spcPts val="0"/>
              </a:spcAft>
            </a:pPr>
            <a:r>
              <a:rPr sz="1800" b="0" i="1">
                <a:solidFill>
                  <a:srgbClr val="25324A"/>
                </a:solidFill>
                <a:latin typeface="Times New Roman"/>
                <a:ea typeface="標楷體"/>
                <a:cs typeface="Times New Roman"/>
              </a:rPr>
              <a:t>URGENT_MARGIN_S = 20</a:t>
            </a:r>
          </a:p>
          <a:p>
            <a:pPr algn="ctr">
              <a:lnSpc>
                <a:spcPct val="100000"/>
              </a:lnSpc>
              <a:spcBef>
                <a:spcPts val="0"/>
              </a:spcBef>
              <a:spcAft>
                <a:spcPts val="0"/>
              </a:spcAft>
            </a:pPr>
            <a:r>
              <a:rPr sz="1800" b="0" i="0">
                <a:solidFill>
                  <a:srgbClr val="25324A"/>
                </a:solidFill>
                <a:latin typeface="Times New Roman"/>
                <a:ea typeface="標楷體"/>
                <a:cs typeface="Times New Roman"/>
              </a:rPr>
              <a:t>距限 ≤ 20 秒 → 急件先送</a:t>
            </a:r>
          </a:p>
        </p:txBody>
      </p:sp>
      <p:cxnSp>
        <p:nvCxnSpPr>
          <p:cNvPr id="9" name="Exact edit connector"/>
          <p:cNvCxnSpPr/>
          <p:nvPr/>
        </p:nvCxnSpPr>
        <p:spPr>
          <a:xfrm>
            <a:off x="4224528" y="2706624"/>
            <a:ext cx="274320" cy="0"/>
          </a:xfrm>
          <a:prstGeom prst="line">
            <a:avLst/>
          </a:prstGeom>
          <a:ln w="25400">
            <a:solidFill>
              <a:srgbClr val="846826"/>
            </a:solidFill>
          </a:ln>
        </p:spPr>
        <p:style>
          <a:lnRef idx="2">
            <a:schemeClr val="accent1"/>
          </a:lnRef>
          <a:fillRef idx="0">
            <a:schemeClr val="accent1"/>
          </a:fillRef>
          <a:effectRef idx="1">
            <a:schemeClr val="accent1"/>
          </a:effectRef>
          <a:fontRef idx="minor">
            <a:schemeClr val="tx1"/>
          </a:fontRef>
        </p:style>
      </p:cxnSp>
      <p:sp>
        <p:nvSpPr>
          <p:cNvPr id="10" name="Exact edit after"/>
          <p:cNvSpPr/>
          <p:nvPr/>
        </p:nvSpPr>
        <p:spPr>
          <a:xfrm>
            <a:off x="4480560" y="1591056"/>
            <a:ext cx="3310128" cy="221284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Exact edit after heading"/>
          <p:cNvSpPr txBox="1"/>
          <p:nvPr/>
        </p:nvSpPr>
        <p:spPr>
          <a:xfrm>
            <a:off x="4608576" y="1664208"/>
            <a:ext cx="30540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修改後｜candidate</a:t>
            </a:r>
          </a:p>
        </p:txBody>
      </p:sp>
      <p:sp>
        <p:nvSpPr>
          <p:cNvPr id="12" name="Exact edit after body"/>
          <p:cNvSpPr txBox="1"/>
          <p:nvPr/>
        </p:nvSpPr>
        <p:spPr>
          <a:xfrm>
            <a:off x="4617720" y="2084832"/>
            <a:ext cx="3035808" cy="1627631"/>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800" b="0" i="1">
                <a:solidFill>
                  <a:srgbClr val="25324A"/>
                </a:solidFill>
                <a:latin typeface="Times New Roman"/>
                <a:ea typeface="標楷體"/>
                <a:cs typeface="Times New Roman"/>
              </a:rPr>
              <a:t>BATCH_SIZE = 3</a:t>
            </a:r>
          </a:p>
          <a:p>
            <a:pPr algn="ctr">
              <a:lnSpc>
                <a:spcPct val="100000"/>
              </a:lnSpc>
              <a:spcBef>
                <a:spcPts val="0"/>
              </a:spcBef>
              <a:spcAft>
                <a:spcPts val="0"/>
              </a:spcAft>
            </a:pPr>
            <a:r>
              <a:rPr sz="1800" b="0" i="1">
                <a:solidFill>
                  <a:srgbClr val="25324A"/>
                </a:solidFill>
                <a:latin typeface="Times New Roman"/>
                <a:ea typeface="標楷體"/>
                <a:cs typeface="Times New Roman"/>
              </a:rPr>
              <a:t>URGENT_MARGIN_S = 5</a:t>
            </a:r>
          </a:p>
          <a:p>
            <a:pPr algn="ctr">
              <a:lnSpc>
                <a:spcPct val="100000"/>
              </a:lnSpc>
              <a:spcBef>
                <a:spcPts val="0"/>
              </a:spcBef>
              <a:spcAft>
                <a:spcPts val="0"/>
              </a:spcAft>
            </a:pPr>
            <a:r>
              <a:rPr sz="1800" b="0" i="0">
                <a:solidFill>
                  <a:srgbClr val="25324A"/>
                </a:solidFill>
                <a:latin typeface="Times New Roman"/>
                <a:ea typeface="標楷體"/>
                <a:cs typeface="Times New Roman"/>
              </a:rPr>
              <a:t>距限 ≤ 5 秒 → 急件先送</a:t>
            </a:r>
          </a:p>
        </p:txBody>
      </p:sp>
      <p:sp>
        <p:nvSpPr>
          <p:cNvPr id="13" name="Edit boundary"/>
          <p:cNvSpPr/>
          <p:nvPr/>
        </p:nvSpPr>
        <p:spPr>
          <a:xfrm>
            <a:off x="8193024" y="1591056"/>
            <a:ext cx="3255264" cy="221284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4" name="Edit boundary heading"/>
          <p:cNvSpPr txBox="1"/>
          <p:nvPr/>
        </p:nvSpPr>
        <p:spPr>
          <a:xfrm>
            <a:off x="8321040" y="1664208"/>
            <a:ext cx="2999232"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800" b="1" i="0">
                <a:solidFill>
                  <a:srgbClr val="846826"/>
                </a:solidFill>
                <a:latin typeface="Times New Roman"/>
                <a:ea typeface="標楷體"/>
                <a:cs typeface="Times New Roman"/>
              </a:rPr>
              <a:t>不變｜A/B</a:t>
            </a:r>
          </a:p>
        </p:txBody>
      </p:sp>
      <p:sp>
        <p:nvSpPr>
          <p:cNvPr id="15" name="Edit boundary body"/>
          <p:cNvSpPr txBox="1"/>
          <p:nvPr/>
        </p:nvSpPr>
        <p:spPr>
          <a:xfrm>
            <a:off x="8330184" y="2084832"/>
            <a:ext cx="2980944" cy="1627631"/>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800" b="0" i="0">
                <a:solidFill>
                  <a:srgbClr val="25324A"/>
                </a:solidFill>
                <a:latin typeface="Times New Roman"/>
                <a:ea typeface="標楷體"/>
                <a:cs typeface="Times New Roman"/>
              </a:rPr>
              <a:t>file：student_policy.py</a:t>
            </a:r>
          </a:p>
          <a:p>
            <a:pPr algn="l">
              <a:lnSpc>
                <a:spcPct val="100000"/>
              </a:lnSpc>
              <a:spcBef>
                <a:spcPts val="0"/>
              </a:spcBef>
              <a:spcAft>
                <a:spcPts val="0"/>
              </a:spcAft>
            </a:pPr>
            <a:r>
              <a:rPr sz="1800" b="0" i="0">
                <a:solidFill>
                  <a:srgbClr val="25324A"/>
                </a:solidFill>
                <a:latin typeface="Times New Roman"/>
                <a:ea typeface="標楷體"/>
                <a:cs typeface="Times New Roman"/>
              </a:rPr>
              <a:t>block：lab-c-batch-urgent</a:t>
            </a:r>
          </a:p>
          <a:p>
            <a:pPr algn="l">
              <a:lnSpc>
                <a:spcPct val="100000"/>
              </a:lnSpc>
              <a:spcBef>
                <a:spcPts val="0"/>
              </a:spcBef>
              <a:spcAft>
                <a:spcPts val="0"/>
              </a:spcAft>
            </a:pPr>
            <a:r>
              <a:rPr sz="1800" b="0" i="1">
                <a:solidFill>
                  <a:srgbClr val="25324A"/>
                </a:solidFill>
                <a:latin typeface="Times New Roman"/>
                <a:ea typeface="標楷體"/>
                <a:cs typeface="Times New Roman"/>
              </a:rPr>
              <a:t>BATCH_SIZE = 3</a:t>
            </a:r>
            <a:r>
              <a:rPr sz="1800" b="0" i="0">
                <a:solidFill>
                  <a:srgbClr val="25324A"/>
                </a:solidFill>
                <a:latin typeface="Times New Roman"/>
                <a:ea typeface="標楷體"/>
                <a:cs typeface="Times New Roman"/>
              </a:rPr>
              <a:t>；A/B frozen</a:t>
            </a:r>
          </a:p>
          <a:p>
            <a:pPr algn="l">
              <a:lnSpc>
                <a:spcPct val="100000"/>
              </a:lnSpc>
              <a:spcBef>
                <a:spcPts val="0"/>
              </a:spcBef>
              <a:spcAft>
                <a:spcPts val="0"/>
              </a:spcAft>
            </a:pPr>
            <a:r>
              <a:rPr sz="1800" b="0" i="0">
                <a:solidFill>
                  <a:srgbClr val="25324A"/>
                </a:solidFill>
                <a:latin typeface="Times New Roman"/>
                <a:ea typeface="標楷體"/>
                <a:cs typeface="Times New Roman"/>
              </a:rPr>
              <a:t>runner／scenario／schemas</a:t>
            </a:r>
          </a:p>
          <a:p>
            <a:pPr algn="l">
              <a:lnSpc>
                <a:spcPct val="100000"/>
              </a:lnSpc>
              <a:spcBef>
                <a:spcPts val="0"/>
              </a:spcBef>
              <a:spcAft>
                <a:spcPts val="0"/>
              </a:spcAft>
            </a:pPr>
            <a:r>
              <a:rPr sz="1800" b="0" i="0">
                <a:solidFill>
                  <a:srgbClr val="25324A"/>
                </a:solidFill>
                <a:latin typeface="Times New Roman"/>
                <a:ea typeface="標楷體"/>
                <a:cs typeface="Times New Roman"/>
              </a:rPr>
              <a:t>其餘常數、函式、檔案</a:t>
            </a:r>
          </a:p>
        </p:txBody>
      </p:sp>
      <p:sp>
        <p:nvSpPr>
          <p:cNvPr id="16" name="Edit why"/>
          <p:cNvSpPr/>
          <p:nvPr/>
        </p:nvSpPr>
        <p:spPr>
          <a:xfrm>
            <a:off x="877824" y="4224528"/>
            <a:ext cx="10387584" cy="566928"/>
          </a:xfrm>
          <a:prstGeom prst="roundRect">
            <a:avLst/>
          </a:prstGeom>
          <a:solidFill>
            <a:srgbClr val="FAF7E8"/>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機制｜距限是現在到期限的秒數；門檻越小，必須更接近期限才回傳 </a:t>
            </a:r>
            <a:r>
              <a:rPr sz="2000" b="1" i="0">
                <a:solidFill>
                  <a:srgbClr val="25324A"/>
                </a:solidFill>
                <a:latin typeface="Times New Roman"/>
                <a:ea typeface="標楷體"/>
                <a:cs typeface="Times New Roman"/>
              </a:rPr>
              <a:t>`SEND_URGENT`</a:t>
            </a:r>
            <a:r>
              <a:rPr sz="2000" b="1" i="0">
                <a:solidFill>
                  <a:srgbClr val="25324A"/>
                </a:solidFill>
                <a:latin typeface="Times New Roman"/>
                <a:ea typeface="標楷體"/>
                <a:cs typeface="Times New Roman"/>
              </a:rPr>
              <a:t>，可能壓低 delivery／deadline。</a:t>
            </a:r>
          </a:p>
        </p:txBody>
      </p:sp>
      <p:sp>
        <p:nvSpPr>
          <p:cNvPr id="17" name="Edit observe fields"/>
          <p:cNvSpPr/>
          <p:nvPr/>
        </p:nvSpPr>
        <p:spPr>
          <a:xfrm>
            <a:off x="749808" y="4846320"/>
            <a:ext cx="10698480" cy="969264"/>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先讀，再執行｜candidate</a:t>
            </a:r>
          </a:p>
          <a:p>
            <a:pPr algn="l">
              <a:lnSpc>
                <a:spcPct val="84000"/>
              </a:lnSpc>
              <a:spcBef>
                <a:spcPts val="0"/>
              </a:spcBef>
              <a:spcAft>
                <a:spcPts val="0"/>
              </a:spcAft>
            </a:pPr>
            <a:r>
              <a:rPr sz="1800" b="0" i="0">
                <a:solidFill>
                  <a:srgbClr val="25324A"/>
                </a:solidFill>
                <a:latin typeface="Times New Roman"/>
                <a:ea typeface="標楷體"/>
                <a:cs typeface="Times New Roman"/>
              </a:rPr>
              <a:t>先讀：只觀察這次 candidate，不改其他值。命令：bash course.sh run --lab C --case candidate；Windows 使用 course.cmd 等價命令。成功訊號：stdout 印 </a:t>
            </a: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，同一目錄有 </a:t>
            </a:r>
            <a:r>
              <a:rPr sz="1800" b="0" i="1">
                <a:solidFill>
                  <a:srgbClr val="25324A"/>
                </a:solidFill>
                <a:latin typeface="Times New Roman"/>
                <a:ea typeface="標楷體"/>
                <a:cs typeface="Times New Roman"/>
              </a:rPr>
              <a:t>result.json</a:t>
            </a:r>
            <a:r>
              <a:rPr sz="1800" b="0" i="0">
                <a:solidFill>
                  <a:srgbClr val="25324A"/>
                </a:solidFill>
                <a:latin typeface="Times New Roman"/>
                <a:ea typeface="標楷體"/>
                <a:cs typeface="Times New Roman"/>
              </a:rPr>
              <a:t> + </a:t>
            </a: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；再讀 urgent send、delivery、service／deadline、endpoint J。</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P068｜執行前：把 5 秒預測寫成可反駁句</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先寫下可被資料推翻的預測：5 秒可能省電，也可能誤期。</a:t>
            </a:r>
          </a:p>
        </p:txBody>
      </p:sp>
      <p:sp>
        <p:nvSpPr>
          <p:cNvPr id="6" name="Prediction field"/>
          <p:cNvSpPr/>
          <p:nvPr/>
        </p:nvSpPr>
        <p:spPr>
          <a:xfrm>
            <a:off x="768096" y="1591056"/>
            <a:ext cx="2432304" cy="217627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Prediction field heading"/>
          <p:cNvSpPr txBox="1"/>
          <p:nvPr/>
        </p:nvSpPr>
        <p:spPr>
          <a:xfrm>
            <a:off x="896112" y="1664208"/>
            <a:ext cx="2176272"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4967C2"/>
                </a:solidFill>
                <a:latin typeface="Times New Roman"/>
                <a:ea typeface="標楷體"/>
                <a:cs typeface="Times New Roman"/>
              </a:rPr>
              <a:t>距限｜due</a:t>
            </a:r>
          </a:p>
        </p:txBody>
      </p:sp>
      <p:sp>
        <p:nvSpPr>
          <p:cNvPr id="8" name="Prediction field body"/>
          <p:cNvSpPr txBox="1"/>
          <p:nvPr/>
        </p:nvSpPr>
        <p:spPr>
          <a:xfrm>
            <a:off x="905256" y="2084832"/>
            <a:ext cx="2157984" cy="1591055"/>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1">
                <a:solidFill>
                  <a:srgbClr val="25324A"/>
                </a:solidFill>
                <a:latin typeface="Times New Roman"/>
                <a:ea typeface="標楷體"/>
                <a:cs typeface="Times New Roman"/>
              </a:rPr>
              <a:t>urgent_due_in_s</a:t>
            </a:r>
          </a:p>
          <a:p>
            <a:pPr algn="ctr">
              <a:lnSpc>
                <a:spcPct val="100000"/>
              </a:lnSpc>
              <a:spcBef>
                <a:spcPts val="0"/>
              </a:spcBef>
              <a:spcAft>
                <a:spcPts val="0"/>
              </a:spcAft>
            </a:pPr>
            <a:r>
              <a:rPr sz="2200" b="0" i="0">
                <a:solidFill>
                  <a:srgbClr val="25324A"/>
                </a:solidFill>
                <a:latin typeface="Times New Roman"/>
                <a:ea typeface="標楷體"/>
                <a:cs typeface="Times New Roman"/>
              </a:rPr>
              <a:t>單位 s；越小越急</a:t>
            </a:r>
          </a:p>
        </p:txBody>
      </p:sp>
      <p:sp>
        <p:nvSpPr>
          <p:cNvPr id="9" name="Prediction field"/>
          <p:cNvSpPr/>
          <p:nvPr/>
        </p:nvSpPr>
        <p:spPr>
          <a:xfrm>
            <a:off x="3529584" y="1591056"/>
            <a:ext cx="2432304" cy="217627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0" name="Prediction field heading"/>
          <p:cNvSpPr txBox="1"/>
          <p:nvPr/>
        </p:nvSpPr>
        <p:spPr>
          <a:xfrm>
            <a:off x="3657600" y="1664208"/>
            <a:ext cx="2176272"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007374"/>
                </a:solidFill>
                <a:latin typeface="Times New Roman"/>
                <a:ea typeface="標楷體"/>
                <a:cs typeface="Times New Roman"/>
              </a:rPr>
              <a:t>佇列｜queue</a:t>
            </a:r>
          </a:p>
        </p:txBody>
      </p:sp>
      <p:sp>
        <p:nvSpPr>
          <p:cNvPr id="11" name="Prediction field body"/>
          <p:cNvSpPr txBox="1"/>
          <p:nvPr/>
        </p:nvSpPr>
        <p:spPr>
          <a:xfrm>
            <a:off x="3666744" y="2084832"/>
            <a:ext cx="2157984" cy="1591055"/>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1">
                <a:solidFill>
                  <a:srgbClr val="25324A"/>
                </a:solidFill>
                <a:latin typeface="Times New Roman"/>
                <a:ea typeface="標楷體"/>
                <a:cs typeface="Times New Roman"/>
              </a:rPr>
              <a:t>queue_size</a:t>
            </a:r>
          </a:p>
          <a:p>
            <a:pPr algn="ctr">
              <a:lnSpc>
                <a:spcPct val="100000"/>
              </a:lnSpc>
              <a:spcBef>
                <a:spcPts val="0"/>
              </a:spcBef>
              <a:spcAft>
                <a:spcPts val="0"/>
              </a:spcAft>
            </a:pPr>
            <a:r>
              <a:rPr sz="2200" b="0" i="0">
                <a:solidFill>
                  <a:srgbClr val="25324A"/>
                </a:solidFill>
                <a:latin typeface="Times New Roman"/>
                <a:ea typeface="標楷體"/>
                <a:cs typeface="Times New Roman"/>
              </a:rPr>
              <a:t>單位 count；越高壓力越大</a:t>
            </a:r>
          </a:p>
        </p:txBody>
      </p:sp>
      <p:sp>
        <p:nvSpPr>
          <p:cNvPr id="12" name="Prediction field"/>
          <p:cNvSpPr/>
          <p:nvPr/>
        </p:nvSpPr>
        <p:spPr>
          <a:xfrm>
            <a:off x="6291072" y="1591056"/>
            <a:ext cx="2432304" cy="217627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3" name="Prediction field heading"/>
          <p:cNvSpPr txBox="1"/>
          <p:nvPr/>
        </p:nvSpPr>
        <p:spPr>
          <a:xfrm>
            <a:off x="6419088" y="1664208"/>
            <a:ext cx="2176272"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992A2A"/>
                </a:solidFill>
                <a:latin typeface="Times New Roman"/>
                <a:ea typeface="標楷體"/>
                <a:cs typeface="Times New Roman"/>
              </a:rPr>
              <a:t>服務／期限</a:t>
            </a:r>
          </a:p>
        </p:txBody>
      </p:sp>
      <p:sp>
        <p:nvSpPr>
          <p:cNvPr id="14" name="Prediction field body"/>
          <p:cNvSpPr txBox="1"/>
          <p:nvPr/>
        </p:nvSpPr>
        <p:spPr>
          <a:xfrm>
            <a:off x="6428232" y="2084832"/>
            <a:ext cx="2157984" cy="1591055"/>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1">
                <a:solidFill>
                  <a:srgbClr val="25324A"/>
                </a:solidFill>
                <a:latin typeface="Times New Roman"/>
                <a:ea typeface="標楷體"/>
                <a:cs typeface="Times New Roman"/>
              </a:rPr>
              <a:t>service_pass</a:t>
            </a:r>
            <a:r>
              <a:rPr sz="2200" b="0" i="0">
                <a:solidFill>
                  <a:srgbClr val="25324A"/>
                </a:solidFill>
                <a:latin typeface="Times New Roman"/>
                <a:ea typeface="標楷體"/>
                <a:cs typeface="Times New Roman"/>
              </a:rPr>
              <a:t>／</a:t>
            </a:r>
            <a:r>
              <a:rPr sz="2200" b="0" i="1">
                <a:solidFill>
                  <a:srgbClr val="25324A"/>
                </a:solidFill>
                <a:latin typeface="Times New Roman"/>
                <a:ea typeface="標楷體"/>
                <a:cs typeface="Times New Roman"/>
              </a:rPr>
              <a:t>deadline_pass</a:t>
            </a:r>
          </a:p>
          <a:p>
            <a:pPr algn="ctr">
              <a:lnSpc>
                <a:spcPct val="100000"/>
              </a:lnSpc>
              <a:spcBef>
                <a:spcPts val="0"/>
              </a:spcBef>
              <a:spcAft>
                <a:spcPts val="0"/>
              </a:spcAft>
            </a:pPr>
            <a:r>
              <a:rPr sz="2200" b="0" i="0">
                <a:solidFill>
                  <a:srgbClr val="25324A"/>
                </a:solidFill>
                <a:latin typeface="Times New Roman"/>
                <a:ea typeface="標楷體"/>
                <a:cs typeface="Times New Roman"/>
              </a:rPr>
              <a:t>FAIL 先於 J</a:t>
            </a:r>
          </a:p>
        </p:txBody>
      </p:sp>
      <p:sp>
        <p:nvSpPr>
          <p:cNvPr id="15" name="Prediction field"/>
          <p:cNvSpPr/>
          <p:nvPr/>
        </p:nvSpPr>
        <p:spPr>
          <a:xfrm>
            <a:off x="9052560" y="1591056"/>
            <a:ext cx="2432304" cy="2176272"/>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6" name="Prediction field heading"/>
          <p:cNvSpPr txBox="1"/>
          <p:nvPr/>
        </p:nvSpPr>
        <p:spPr>
          <a:xfrm>
            <a:off x="9180576" y="1664208"/>
            <a:ext cx="2176272"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846826"/>
                </a:solidFill>
                <a:latin typeface="Times New Roman"/>
                <a:ea typeface="標楷體"/>
                <a:cs typeface="Times New Roman"/>
              </a:rPr>
              <a:t>端點能量｜J</a:t>
            </a:r>
          </a:p>
        </p:txBody>
      </p:sp>
      <p:sp>
        <p:nvSpPr>
          <p:cNvPr id="17" name="Prediction field body"/>
          <p:cNvSpPr txBox="1"/>
          <p:nvPr/>
        </p:nvSpPr>
        <p:spPr>
          <a:xfrm>
            <a:off x="9189720" y="2084832"/>
            <a:ext cx="2157984" cy="1591055"/>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1">
                <a:solidFill>
                  <a:srgbClr val="25324A"/>
                </a:solidFill>
                <a:latin typeface="Times New Roman"/>
                <a:ea typeface="標楷體"/>
                <a:cs typeface="Times New Roman"/>
              </a:rPr>
              <a:t>endpoint_energy_j</a:t>
            </a:r>
          </a:p>
          <a:p>
            <a:pPr algn="ctr">
              <a:lnSpc>
                <a:spcPct val="100000"/>
              </a:lnSpc>
              <a:spcBef>
                <a:spcPts val="0"/>
              </a:spcBef>
              <a:spcAft>
                <a:spcPts val="0"/>
              </a:spcAft>
            </a:pPr>
            <a:r>
              <a:rPr sz="2200" b="0" i="0">
                <a:solidFill>
                  <a:srgbClr val="25324A"/>
                </a:solidFill>
                <a:latin typeface="Times New Roman"/>
                <a:ea typeface="標楷體"/>
                <a:cs typeface="Times New Roman"/>
              </a:rPr>
              <a:t>單位 J；低只代表耗能較少</a:t>
            </a:r>
          </a:p>
        </p:txBody>
      </p:sp>
      <p:sp>
        <p:nvSpPr>
          <p:cNvPr id="18" name="Prediction sentence"/>
          <p:cNvSpPr/>
          <p:nvPr/>
        </p:nvSpPr>
        <p:spPr>
          <a:xfrm>
            <a:off x="877824" y="4224528"/>
            <a:ext cx="10387584" cy="621792"/>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預測句｜較晚急件介入可能減少早期 wake／TX；delivery 或 deadline FAIL 即推翻純省能量說法。</a:t>
            </a:r>
          </a:p>
        </p:txBody>
      </p:sp>
      <p:sp>
        <p:nvSpPr>
          <p:cNvPr id="19" name="Prediction falsifier"/>
          <p:cNvSpPr/>
          <p:nvPr/>
        </p:nvSpPr>
        <p:spPr>
          <a:xfrm>
            <a:off x="749808" y="4882896"/>
            <a:ext cx="10698480" cy="914400"/>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證據順序</a:t>
            </a:r>
          </a:p>
          <a:p>
            <a:pPr algn="l">
              <a:lnSpc>
                <a:spcPct val="84000"/>
              </a:lnSpc>
              <a:spcBef>
                <a:spcPts val="0"/>
              </a:spcBef>
              <a:spcAft>
                <a:spcPts val="0"/>
              </a:spcAft>
            </a:pPr>
            <a:r>
              <a:rPr sz="1800" b="0" i="0">
                <a:solidFill>
                  <a:srgbClr val="25324A"/>
                </a:solidFill>
                <a:latin typeface="Times New Roman"/>
                <a:ea typeface="標楷體"/>
                <a:cs typeface="Times New Roman"/>
              </a:rPr>
              <a:t>來源 observation／result summary／endpoint ledger；先讀服務／期限，再回到 packet 與 state 解釋 J。</a:t>
            </a:r>
            <a:r>
              <a:rPr sz="1800" b="0" i="1">
                <a:solidFill>
                  <a:srgbClr val="25324A"/>
                </a:solidFill>
                <a:latin typeface="Times New Roman"/>
                <a:ea typeface="標楷體"/>
                <a:cs typeface="Times New Roman"/>
              </a:rPr>
              <a:t>urgent_due_in_s</a:t>
            </a:r>
            <a:r>
              <a:rPr sz="1800" b="0" i="0">
                <a:solidFill>
                  <a:srgbClr val="25324A"/>
                </a:solidFill>
                <a:latin typeface="Times New Roman"/>
                <a:ea typeface="標楷體"/>
                <a:cs typeface="Times New Roman"/>
              </a:rPr>
              <a:t> 越小越急；</a:t>
            </a:r>
            <a:r>
              <a:rPr sz="1800" b="0" i="1">
                <a:solidFill>
                  <a:srgbClr val="25324A"/>
                </a:solidFill>
                <a:latin typeface="Times New Roman"/>
                <a:ea typeface="標楷體"/>
                <a:cs typeface="Times New Roman"/>
              </a:rPr>
              <a:t>endpoint_energy_j</a:t>
            </a:r>
            <a:r>
              <a:rPr sz="1800" b="0" i="0">
                <a:solidFill>
                  <a:srgbClr val="25324A"/>
                </a:solidFill>
                <a:latin typeface="Times New Roman"/>
                <a:ea typeface="標楷體"/>
                <a:cs typeface="Times New Roman"/>
              </a:rPr>
              <a:t> 越低只代表耗能較少，不能覆蓋 FAIL。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P069｜第一次比較：先看服務，再看端點效率</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先判服務是否完成，再看端點用了多少能量。</a:t>
            </a:r>
          </a:p>
        </p:txBody>
      </p:sp>
      <p:sp>
        <p:nvSpPr>
          <p:cNvPr id="6" name="Baseline result"/>
          <p:cNvSpPr/>
          <p:nvPr/>
        </p:nvSpPr>
        <p:spPr>
          <a:xfrm>
            <a:off x="768096" y="1609344"/>
            <a:ext cx="5084064" cy="2340864"/>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Baseline result heading"/>
          <p:cNvSpPr txBox="1"/>
          <p:nvPr/>
        </p:nvSpPr>
        <p:spPr>
          <a:xfrm>
            <a:off x="896112" y="1682496"/>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4967C2"/>
                </a:solidFill>
                <a:latin typeface="Times New Roman"/>
                <a:ea typeface="標楷體"/>
                <a:cs typeface="Times New Roman"/>
              </a:rPr>
              <a:t>基準組｜margin 20</a:t>
            </a:r>
          </a:p>
        </p:txBody>
      </p:sp>
      <p:sp>
        <p:nvSpPr>
          <p:cNvPr id="8" name="Baseline result body"/>
          <p:cNvSpPr txBox="1"/>
          <p:nvPr/>
        </p:nvSpPr>
        <p:spPr>
          <a:xfrm>
            <a:off x="905256" y="2103120"/>
            <a:ext cx="4809744" cy="17556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000" b="0" i="0">
                <a:solidFill>
                  <a:srgbClr val="25324A"/>
                </a:solidFill>
                <a:latin typeface="Times New Roman"/>
                <a:ea typeface="標楷體"/>
                <a:cs typeface="Times New Roman"/>
              </a:rPr>
              <a:t>服務／期限：PASS／PASS</a:t>
            </a:r>
          </a:p>
          <a:p>
            <a:pPr algn="l">
              <a:lnSpc>
                <a:spcPct val="100000"/>
              </a:lnSpc>
              <a:spcBef>
                <a:spcPts val="0"/>
              </a:spcBef>
              <a:spcAft>
                <a:spcPts val="0"/>
              </a:spcAft>
            </a:pPr>
            <a:r>
              <a:rPr sz="2000" b="0" i="0">
                <a:solidFill>
                  <a:srgbClr val="25324A"/>
                </a:solidFill>
                <a:latin typeface="Times New Roman"/>
                <a:ea typeface="標楷體"/>
                <a:cs typeface="Times New Roman"/>
              </a:rPr>
              <a:t>送達資料：10,400 bit（越多越完整）</a:t>
            </a:r>
          </a:p>
          <a:p>
            <a:pPr algn="l">
              <a:lnSpc>
                <a:spcPct val="100000"/>
              </a:lnSpc>
              <a:spcBef>
                <a:spcPts val="0"/>
              </a:spcBef>
              <a:spcAft>
                <a:spcPts val="0"/>
              </a:spcAft>
            </a:pPr>
            <a:r>
              <a:rPr sz="2000" b="0" i="0">
                <a:solidFill>
                  <a:srgbClr val="25324A"/>
                </a:solidFill>
                <a:latin typeface="Times New Roman"/>
                <a:ea typeface="標楷體"/>
                <a:cs typeface="Times New Roman"/>
              </a:rPr>
              <a:t>端點能量：10.66 J（J 越低越省）</a:t>
            </a:r>
          </a:p>
        </p:txBody>
      </p:sp>
      <p:cxnSp>
        <p:nvCxnSpPr>
          <p:cNvPr id="9" name="Gate comparison connector"/>
          <p:cNvCxnSpPr/>
          <p:nvPr/>
        </p:nvCxnSpPr>
        <p:spPr>
          <a:xfrm>
            <a:off x="5998464" y="2779776"/>
            <a:ext cx="274319" cy="0"/>
          </a:xfrm>
          <a:prstGeom prst="line">
            <a:avLst/>
          </a:prstGeom>
          <a:ln w="25400">
            <a:solidFill>
              <a:srgbClr val="992A2A"/>
            </a:solidFill>
          </a:ln>
        </p:spPr>
        <p:style>
          <a:lnRef idx="2">
            <a:schemeClr val="accent1"/>
          </a:lnRef>
          <a:fillRef idx="0">
            <a:schemeClr val="accent1"/>
          </a:fillRef>
          <a:effectRef idx="1">
            <a:schemeClr val="accent1"/>
          </a:effectRef>
          <a:fontRef idx="minor">
            <a:schemeClr val="tx1"/>
          </a:fontRef>
        </p:style>
      </p:cxnSp>
      <p:sp>
        <p:nvSpPr>
          <p:cNvPr id="10" name="Candidate result"/>
          <p:cNvSpPr/>
          <p:nvPr/>
        </p:nvSpPr>
        <p:spPr>
          <a:xfrm>
            <a:off x="6364224" y="1609344"/>
            <a:ext cx="5084064" cy="2340864"/>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Candidate result heading"/>
          <p:cNvSpPr txBox="1"/>
          <p:nvPr/>
        </p:nvSpPr>
        <p:spPr>
          <a:xfrm>
            <a:off x="6492240" y="1682496"/>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660066"/>
                </a:solidFill>
                <a:latin typeface="Times New Roman"/>
                <a:ea typeface="標楷體"/>
                <a:cs typeface="Times New Roman"/>
              </a:rPr>
              <a:t>修改組｜margin 5</a:t>
            </a:r>
          </a:p>
        </p:txBody>
      </p:sp>
      <p:sp>
        <p:nvSpPr>
          <p:cNvPr id="12" name="Candidate result body"/>
          <p:cNvSpPr txBox="1"/>
          <p:nvPr/>
        </p:nvSpPr>
        <p:spPr>
          <a:xfrm>
            <a:off x="6501384" y="2103120"/>
            <a:ext cx="4809744" cy="17556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900" b="0" i="0">
                <a:solidFill>
                  <a:srgbClr val="25324A"/>
                </a:solidFill>
                <a:latin typeface="Times New Roman"/>
                <a:ea typeface="標楷體"/>
                <a:cs typeface="Times New Roman"/>
              </a:rPr>
              <a:t>服務／期限：FAIL／FAIL</a:t>
            </a:r>
          </a:p>
          <a:p>
            <a:pPr algn="l">
              <a:lnSpc>
                <a:spcPct val="100000"/>
              </a:lnSpc>
              <a:spcBef>
                <a:spcPts val="0"/>
              </a:spcBef>
              <a:spcAft>
                <a:spcPts val="0"/>
              </a:spcAft>
            </a:pPr>
            <a:r>
              <a:rPr sz="1900" b="0" i="0">
                <a:solidFill>
                  <a:srgbClr val="25324A"/>
                </a:solidFill>
                <a:latin typeface="Times New Roman"/>
                <a:ea typeface="標楷體"/>
                <a:cs typeface="Times New Roman"/>
              </a:rPr>
              <a:t>送達資料：9,600 bit（少 800 bit）</a:t>
            </a:r>
          </a:p>
          <a:p>
            <a:pPr algn="l">
              <a:lnSpc>
                <a:spcPct val="100000"/>
              </a:lnSpc>
              <a:spcBef>
                <a:spcPts val="0"/>
              </a:spcBef>
              <a:spcAft>
                <a:spcPts val="0"/>
              </a:spcAft>
            </a:pPr>
            <a:r>
              <a:rPr sz="1900" b="0" i="0">
                <a:solidFill>
                  <a:srgbClr val="25324A"/>
                </a:solidFill>
                <a:latin typeface="Times New Roman"/>
                <a:ea typeface="標楷體"/>
                <a:cs typeface="Times New Roman"/>
              </a:rPr>
              <a:t>端點能量：9.74 J；效率 bit/J 較高</a:t>
            </a:r>
          </a:p>
          <a:p>
            <a:pPr algn="l">
              <a:lnSpc>
                <a:spcPct val="100000"/>
              </a:lnSpc>
              <a:spcBef>
                <a:spcPts val="0"/>
              </a:spcBef>
              <a:spcAft>
                <a:spcPts val="0"/>
              </a:spcAft>
            </a:pPr>
            <a:r>
              <a:rPr sz="1900" b="0" i="0">
                <a:solidFill>
                  <a:srgbClr val="25324A"/>
                </a:solidFill>
                <a:latin typeface="Times New Roman"/>
                <a:ea typeface="標楷體"/>
                <a:cs typeface="Times New Roman"/>
              </a:rPr>
              <a:t>但 FAIL 先判，不能稱成功</a:t>
            </a:r>
          </a:p>
        </p:txBody>
      </p:sp>
      <p:sp>
        <p:nvSpPr>
          <p:cNvPr id="13" name="Candidate causal sentence"/>
          <p:cNvSpPr/>
          <p:nvPr/>
        </p:nvSpPr>
        <p:spPr>
          <a:xfrm>
            <a:off x="877824" y="4242816"/>
            <a:ext cx="10387584" cy="566928"/>
          </a:xfrm>
          <a:prstGeom prst="roundRect">
            <a:avLst/>
          </a:prstGeom>
          <a:solidFill>
            <a:srgbClr val="FAF7E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因果解讀｜少交付 800 bit 且兩個 gate FAIL；較高 bit/J 不改寫為成功節能。</a:t>
            </a:r>
          </a:p>
        </p:txBody>
      </p:sp>
      <p:sp>
        <p:nvSpPr>
          <p:cNvPr id="14" name="Fixed comparison boundary"/>
          <p:cNvSpPr/>
          <p:nvPr/>
        </p:nvSpPr>
        <p:spPr>
          <a:xfrm>
            <a:off x="749808" y="4882896"/>
            <a:ext cx="10698480" cy="950976"/>
          </a:xfrm>
          <a:prstGeom prst="roundRect">
            <a:avLst/>
          </a:prstGeom>
          <a:solidFill>
            <a:srgbClr val="F2F4F8"/>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欄位讀法｜來源與單位</a:t>
            </a:r>
          </a:p>
          <a:p>
            <a:pPr algn="l">
              <a:lnSpc>
                <a:spcPct val="84000"/>
              </a:lnSpc>
              <a:spcBef>
                <a:spcPts val="0"/>
              </a:spcBef>
              <a:spcAft>
                <a:spcPts val="0"/>
              </a:spcAft>
            </a:pPr>
            <a:r>
              <a:rPr sz="1800" b="0" i="1">
                <a:solidFill>
                  <a:srgbClr val="25324A"/>
                </a:solidFill>
                <a:latin typeface="Times New Roman"/>
                <a:ea typeface="標楷體"/>
                <a:cs typeface="Times New Roman"/>
              </a:rPr>
              <a:t>service_pass</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deadline_pass</a:t>
            </a:r>
            <a:r>
              <a:rPr sz="1800" b="0" i="0">
                <a:solidFill>
                  <a:srgbClr val="25324A"/>
                </a:solidFill>
                <a:latin typeface="Times New Roman"/>
                <a:ea typeface="標楷體"/>
                <a:cs typeface="Times New Roman"/>
              </a:rPr>
              <a:t>：result.json 的布林 gate，PASS 才往下讀；</a:t>
            </a:r>
            <a:r>
              <a:rPr sz="1800" b="0" i="1">
                <a:solidFill>
                  <a:srgbClr val="25324A"/>
                </a:solidFill>
                <a:latin typeface="Times New Roman"/>
                <a:ea typeface="標楷體"/>
                <a:cs typeface="Times New Roman"/>
              </a:rPr>
              <a:t>delivered_bits</a:t>
            </a:r>
            <a:r>
              <a:rPr sz="1800" b="0" i="0">
                <a:solidFill>
                  <a:srgbClr val="25324A"/>
                </a:solidFill>
                <a:latin typeface="Times New Roman"/>
                <a:ea typeface="標楷體"/>
                <a:cs typeface="Times New Roman"/>
              </a:rPr>
              <a:t>：result.json 的 bit，越多越完整；</a:t>
            </a:r>
            <a:r>
              <a:rPr sz="1800" b="0" i="1">
                <a:solidFill>
                  <a:srgbClr val="25324A"/>
                </a:solidFill>
                <a:latin typeface="Times New Roman"/>
                <a:ea typeface="標楷體"/>
                <a:cs typeface="Times New Roman"/>
              </a:rPr>
              <a:t>endpoint_energy_j</a:t>
            </a:r>
            <a:r>
              <a:rPr sz="1800" b="0" i="0">
                <a:solidFill>
                  <a:srgbClr val="25324A"/>
                </a:solidFill>
                <a:latin typeface="Times New Roman"/>
                <a:ea typeface="標楷體"/>
                <a:cs typeface="Times New Roman"/>
              </a:rPr>
              <a:t>：replay／ledger 的 J，越低越省；</a:t>
            </a:r>
            <a:r>
              <a:rPr sz="1800" b="0" i="1">
                <a:solidFill>
                  <a:srgbClr val="25324A"/>
                </a:solidFill>
                <a:latin typeface="Times New Roman"/>
                <a:ea typeface="標楷體"/>
                <a:cs typeface="Times New Roman"/>
              </a:rPr>
              <a:t>bit_per_j</a:t>
            </a:r>
            <a:r>
              <a:rPr sz="1800" b="0" i="0">
                <a:solidFill>
                  <a:srgbClr val="25324A"/>
                </a:solidFill>
                <a:latin typeface="Times New Roman"/>
                <a:ea typeface="標楷體"/>
                <a:cs typeface="Times New Roman"/>
              </a:rPr>
              <a:t>：bit/J，越高效率，但不能覆蓋 FAIL。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P070｜第二次修改：急件門檻 5→30</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5→30：較大門檻會讓急件分支更早出現。</a:t>
            </a:r>
          </a:p>
        </p:txBody>
      </p:sp>
      <p:sp>
        <p:nvSpPr>
          <p:cNvPr id="6" name="Revision before"/>
          <p:cNvSpPr/>
          <p:nvPr/>
        </p:nvSpPr>
        <p:spPr>
          <a:xfrm>
            <a:off x="768096" y="1591056"/>
            <a:ext cx="3310128" cy="221284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Revision before heading"/>
          <p:cNvSpPr txBox="1"/>
          <p:nvPr/>
        </p:nvSpPr>
        <p:spPr>
          <a:xfrm>
            <a:off x="896112" y="1664208"/>
            <a:ext cx="30540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修改前｜candidate</a:t>
            </a:r>
          </a:p>
        </p:txBody>
      </p:sp>
      <p:sp>
        <p:nvSpPr>
          <p:cNvPr id="8" name="Revision before body"/>
          <p:cNvSpPr txBox="1"/>
          <p:nvPr/>
        </p:nvSpPr>
        <p:spPr>
          <a:xfrm>
            <a:off x="905256" y="2084832"/>
            <a:ext cx="3035808" cy="1627631"/>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800" b="0" i="1">
                <a:solidFill>
                  <a:srgbClr val="25324A"/>
                </a:solidFill>
                <a:latin typeface="Times New Roman"/>
                <a:ea typeface="標楷體"/>
                <a:cs typeface="Times New Roman"/>
              </a:rPr>
              <a:t>URGENT_MARGIN_S = 5</a:t>
            </a:r>
          </a:p>
          <a:p>
            <a:pPr algn="ctr">
              <a:lnSpc>
                <a:spcPct val="100000"/>
              </a:lnSpc>
              <a:spcBef>
                <a:spcPts val="0"/>
              </a:spcBef>
              <a:spcAft>
                <a:spcPts val="0"/>
              </a:spcAft>
            </a:pPr>
            <a:r>
              <a:rPr sz="1800" b="0" i="0">
                <a:solidFill>
                  <a:srgbClr val="25324A"/>
                </a:solidFill>
                <a:latin typeface="Times New Roman"/>
                <a:ea typeface="標楷體"/>
                <a:cs typeface="Times New Roman"/>
              </a:rPr>
              <a:t>距限 ≤ 5 秒 → 急件先送</a:t>
            </a:r>
          </a:p>
          <a:p>
            <a:pPr algn="ctr">
              <a:lnSpc>
                <a:spcPct val="100000"/>
              </a:lnSpc>
              <a:spcBef>
                <a:spcPts val="0"/>
              </a:spcBef>
              <a:spcAft>
                <a:spcPts val="0"/>
              </a:spcAft>
            </a:pPr>
            <a:r>
              <a:rPr sz="1800" b="0" i="0">
                <a:solidFill>
                  <a:srgbClr val="25324A"/>
                </a:solidFill>
                <a:latin typeface="Times New Roman"/>
                <a:ea typeface="標楷體"/>
                <a:cs typeface="Times New Roman"/>
              </a:rPr>
              <a:t>delivery／deadline：FAIL</a:t>
            </a:r>
          </a:p>
        </p:txBody>
      </p:sp>
      <p:cxnSp>
        <p:nvCxnSpPr>
          <p:cNvPr id="9" name="Revision connector"/>
          <p:cNvCxnSpPr/>
          <p:nvPr/>
        </p:nvCxnSpPr>
        <p:spPr>
          <a:xfrm>
            <a:off x="4224528" y="2706624"/>
            <a:ext cx="274320" cy="0"/>
          </a:xfrm>
          <a:prstGeom prst="line">
            <a:avLst/>
          </a:prstGeom>
          <a:ln w="25400">
            <a:solidFill>
              <a:srgbClr val="007374"/>
            </a:solidFill>
          </a:ln>
        </p:spPr>
        <p:style>
          <a:lnRef idx="2">
            <a:schemeClr val="accent1"/>
          </a:lnRef>
          <a:fillRef idx="0">
            <a:schemeClr val="accent1"/>
          </a:fillRef>
          <a:effectRef idx="1">
            <a:schemeClr val="accent1"/>
          </a:effectRef>
          <a:fontRef idx="minor">
            <a:schemeClr val="tx1"/>
          </a:fontRef>
        </p:style>
      </p:cxnSp>
      <p:sp>
        <p:nvSpPr>
          <p:cNvPr id="10" name="Revision after"/>
          <p:cNvSpPr/>
          <p:nvPr/>
        </p:nvSpPr>
        <p:spPr>
          <a:xfrm>
            <a:off x="4480560" y="1591056"/>
            <a:ext cx="3310128" cy="221284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Revision after heading"/>
          <p:cNvSpPr txBox="1"/>
          <p:nvPr/>
        </p:nvSpPr>
        <p:spPr>
          <a:xfrm>
            <a:off x="4608576" y="1664208"/>
            <a:ext cx="30540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007374"/>
                </a:solidFill>
                <a:latin typeface="Times New Roman"/>
                <a:ea typeface="標楷體"/>
                <a:cs typeface="Times New Roman"/>
              </a:rPr>
              <a:t>修改後｜revision</a:t>
            </a:r>
          </a:p>
        </p:txBody>
      </p:sp>
      <p:sp>
        <p:nvSpPr>
          <p:cNvPr id="12" name="Revision after body"/>
          <p:cNvSpPr txBox="1"/>
          <p:nvPr/>
        </p:nvSpPr>
        <p:spPr>
          <a:xfrm>
            <a:off x="4617720" y="2084832"/>
            <a:ext cx="3035808" cy="1627631"/>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800" b="0" i="1">
                <a:solidFill>
                  <a:srgbClr val="25324A"/>
                </a:solidFill>
                <a:latin typeface="Times New Roman"/>
                <a:ea typeface="標楷體"/>
                <a:cs typeface="Times New Roman"/>
              </a:rPr>
              <a:t>URGENT_MARGIN_S = 30</a:t>
            </a:r>
          </a:p>
          <a:p>
            <a:pPr algn="ctr">
              <a:lnSpc>
                <a:spcPct val="100000"/>
              </a:lnSpc>
              <a:spcBef>
                <a:spcPts val="0"/>
              </a:spcBef>
              <a:spcAft>
                <a:spcPts val="0"/>
              </a:spcAft>
            </a:pPr>
            <a:r>
              <a:rPr sz="1800" b="0" i="0">
                <a:solidFill>
                  <a:srgbClr val="25324A"/>
                </a:solidFill>
                <a:latin typeface="Times New Roman"/>
                <a:ea typeface="標楷體"/>
                <a:cs typeface="Times New Roman"/>
              </a:rPr>
              <a:t>距限 ≤ 30 秒 → 急件先送</a:t>
            </a:r>
          </a:p>
          <a:p>
            <a:pPr algn="ctr">
              <a:lnSpc>
                <a:spcPct val="100000"/>
              </a:lnSpc>
              <a:spcBef>
                <a:spcPts val="0"/>
              </a:spcBef>
              <a:spcAft>
                <a:spcPts val="0"/>
              </a:spcAft>
            </a:pPr>
            <a:r>
              <a:rPr sz="1800" b="0" i="0">
                <a:solidFill>
                  <a:srgbClr val="25324A"/>
                </a:solidFill>
                <a:latin typeface="Times New Roman"/>
                <a:ea typeface="標楷體"/>
                <a:cs typeface="Times New Roman"/>
              </a:rPr>
              <a:t>較早介入，觀察是否恢復服務</a:t>
            </a:r>
          </a:p>
        </p:txBody>
      </p:sp>
      <p:sp>
        <p:nvSpPr>
          <p:cNvPr id="13" name="Revision boundary"/>
          <p:cNvSpPr/>
          <p:nvPr/>
        </p:nvSpPr>
        <p:spPr>
          <a:xfrm>
            <a:off x="8193024" y="1591056"/>
            <a:ext cx="3255264" cy="221284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4" name="Revision boundary heading"/>
          <p:cNvSpPr txBox="1"/>
          <p:nvPr/>
        </p:nvSpPr>
        <p:spPr>
          <a:xfrm>
            <a:off x="8321040" y="1664208"/>
            <a:ext cx="2999232"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800" b="1" i="0">
                <a:solidFill>
                  <a:srgbClr val="846826"/>
                </a:solidFill>
                <a:latin typeface="Times New Roman"/>
                <a:ea typeface="標楷體"/>
                <a:cs typeface="Times New Roman"/>
              </a:rPr>
              <a:t>不變｜A/B</a:t>
            </a:r>
          </a:p>
        </p:txBody>
      </p:sp>
      <p:sp>
        <p:nvSpPr>
          <p:cNvPr id="15" name="Revision boundary body"/>
          <p:cNvSpPr txBox="1"/>
          <p:nvPr/>
        </p:nvSpPr>
        <p:spPr>
          <a:xfrm>
            <a:off x="8330184" y="2084832"/>
            <a:ext cx="2980944" cy="1627631"/>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1800" b="0" i="0">
                <a:solidFill>
                  <a:srgbClr val="25324A"/>
                </a:solidFill>
                <a:latin typeface="Times New Roman"/>
                <a:ea typeface="標楷體"/>
                <a:cs typeface="Times New Roman"/>
              </a:rPr>
              <a:t>file：student_policy.py</a:t>
            </a:r>
          </a:p>
          <a:p>
            <a:pPr algn="l">
              <a:lnSpc>
                <a:spcPct val="100000"/>
              </a:lnSpc>
              <a:spcBef>
                <a:spcPts val="0"/>
              </a:spcBef>
              <a:spcAft>
                <a:spcPts val="0"/>
              </a:spcAft>
            </a:pPr>
            <a:r>
              <a:rPr sz="1800" b="0" i="0">
                <a:solidFill>
                  <a:srgbClr val="25324A"/>
                </a:solidFill>
                <a:latin typeface="Times New Roman"/>
                <a:ea typeface="標楷體"/>
                <a:cs typeface="Times New Roman"/>
              </a:rPr>
              <a:t>block：lab-c-batch-urgent</a:t>
            </a:r>
          </a:p>
          <a:p>
            <a:pPr algn="l">
              <a:lnSpc>
                <a:spcPct val="100000"/>
              </a:lnSpc>
              <a:spcBef>
                <a:spcPts val="0"/>
              </a:spcBef>
              <a:spcAft>
                <a:spcPts val="0"/>
              </a:spcAft>
            </a:pPr>
            <a:r>
              <a:rPr sz="1800" b="0" i="1">
                <a:solidFill>
                  <a:srgbClr val="25324A"/>
                </a:solidFill>
                <a:latin typeface="Times New Roman"/>
                <a:ea typeface="標楷體"/>
                <a:cs typeface="Times New Roman"/>
              </a:rPr>
              <a:t>BATCH_SIZE = 3</a:t>
            </a:r>
            <a:r>
              <a:rPr sz="1800" b="0" i="0">
                <a:solidFill>
                  <a:srgbClr val="25324A"/>
                </a:solidFill>
                <a:latin typeface="Times New Roman"/>
                <a:ea typeface="標楷體"/>
                <a:cs typeface="Times New Roman"/>
              </a:rPr>
              <a:t>；A/B frozen</a:t>
            </a:r>
          </a:p>
          <a:p>
            <a:pPr algn="l">
              <a:lnSpc>
                <a:spcPct val="100000"/>
              </a:lnSpc>
              <a:spcBef>
                <a:spcPts val="0"/>
              </a:spcBef>
              <a:spcAft>
                <a:spcPts val="0"/>
              </a:spcAft>
            </a:pPr>
            <a:r>
              <a:rPr sz="1800" b="0" i="0">
                <a:solidFill>
                  <a:srgbClr val="25324A"/>
                </a:solidFill>
                <a:latin typeface="Times New Roman"/>
                <a:ea typeface="標楷體"/>
                <a:cs typeface="Times New Roman"/>
              </a:rPr>
              <a:t>runner／scenario／schemas</a:t>
            </a:r>
          </a:p>
          <a:p>
            <a:pPr algn="l">
              <a:lnSpc>
                <a:spcPct val="100000"/>
              </a:lnSpc>
              <a:spcBef>
                <a:spcPts val="0"/>
              </a:spcBef>
              <a:spcAft>
                <a:spcPts val="0"/>
              </a:spcAft>
            </a:pPr>
            <a:r>
              <a:rPr sz="1800" b="0" i="0">
                <a:solidFill>
                  <a:srgbClr val="25324A"/>
                </a:solidFill>
                <a:latin typeface="Times New Roman"/>
                <a:ea typeface="標楷體"/>
                <a:cs typeface="Times New Roman"/>
              </a:rPr>
              <a:t>其餘常數、函式、檔案</a:t>
            </a:r>
          </a:p>
        </p:txBody>
      </p:sp>
      <p:sp>
        <p:nvSpPr>
          <p:cNvPr id="16" name="Revision why"/>
          <p:cNvSpPr/>
          <p:nvPr/>
        </p:nvSpPr>
        <p:spPr>
          <a:xfrm>
            <a:off x="877824" y="4224528"/>
            <a:ext cx="10387584" cy="566928"/>
          </a:xfrm>
          <a:prstGeom prst="roundRect">
            <a:avLst/>
          </a:prstGeom>
          <a:solidFill>
            <a:srgbClr val="FAF7E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機制｜距限 ≤ 門檻才回傳 </a:t>
            </a:r>
            <a:r>
              <a:rPr sz="2000" b="1" i="0">
                <a:solidFill>
                  <a:srgbClr val="25324A"/>
                </a:solidFill>
                <a:latin typeface="Times New Roman"/>
                <a:ea typeface="標楷體"/>
                <a:cs typeface="Times New Roman"/>
              </a:rPr>
              <a:t>`SEND_URGENT`</a:t>
            </a:r>
            <a:r>
              <a:rPr sz="2000" b="1" i="0">
                <a:solidFill>
                  <a:srgbClr val="25324A"/>
                </a:solidFill>
                <a:latin typeface="Times New Roman"/>
                <a:ea typeface="標楷體"/>
                <a:cs typeface="Times New Roman"/>
              </a:rPr>
              <a:t>；門檻越大，越早介入，可能增加 wake／TX 但保住期限。只允許這一次修訂。</a:t>
            </a:r>
          </a:p>
        </p:txBody>
      </p:sp>
      <p:sp>
        <p:nvSpPr>
          <p:cNvPr id="17" name="Revision observe fields"/>
          <p:cNvSpPr/>
          <p:nvPr/>
        </p:nvSpPr>
        <p:spPr>
          <a:xfrm>
            <a:off x="749808" y="4828032"/>
            <a:ext cx="10698480" cy="987552"/>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先讀，再執行｜revision</a:t>
            </a:r>
          </a:p>
          <a:p>
            <a:pPr algn="l">
              <a:lnSpc>
                <a:spcPct val="84000"/>
              </a:lnSpc>
              <a:spcBef>
                <a:spcPts val="0"/>
              </a:spcBef>
              <a:spcAft>
                <a:spcPts val="0"/>
              </a:spcAft>
            </a:pPr>
            <a:r>
              <a:rPr sz="1800" b="0" i="0">
                <a:solidFill>
                  <a:srgbClr val="25324A"/>
                </a:solidFill>
                <a:latin typeface="Times New Roman"/>
                <a:ea typeface="標楷體"/>
                <a:cs typeface="Times New Roman"/>
              </a:rPr>
              <a:t>先讀：只觀察這次 revision，不改其他值。命令：bash course.sh run --lab C --case revision --freeze；Windows 使用 course.cmd 等價命令。成功訊號：stdout 印 </a:t>
            </a: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，同一目錄有 </a:t>
            </a:r>
            <a:r>
              <a:rPr sz="1800" b="0" i="1">
                <a:solidFill>
                  <a:srgbClr val="25324A"/>
                </a:solidFill>
                <a:latin typeface="Times New Roman"/>
                <a:ea typeface="標楷體"/>
                <a:cs typeface="Times New Roman"/>
              </a:rPr>
              <a:t>result.json</a:t>
            </a:r>
            <a:r>
              <a:rPr sz="1800" b="0" i="0">
                <a:solidFill>
                  <a:srgbClr val="25324A"/>
                </a:solidFill>
                <a:latin typeface="Times New Roman"/>
                <a:ea typeface="標楷體"/>
                <a:cs typeface="Times New Roman"/>
              </a:rPr>
              <a:t> + </a:t>
            </a: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；再讀 delivery、deadline、state ledger、endpoint J 與 freeze receipt。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P071｜執行前：把 30 秒預測寫成取捨句</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先比兩種介入時機，再看服務與能量取捨。</a:t>
            </a:r>
          </a:p>
        </p:txBody>
      </p:sp>
      <p:sp>
        <p:nvSpPr>
          <p:cNvPr id="6" name="Late intervention timeline"/>
          <p:cNvSpPr/>
          <p:nvPr/>
        </p:nvSpPr>
        <p:spPr>
          <a:xfrm>
            <a:off x="768096" y="1609344"/>
            <a:ext cx="5084064" cy="239572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Late intervention timeline heading"/>
          <p:cNvSpPr txBox="1"/>
          <p:nvPr/>
        </p:nvSpPr>
        <p:spPr>
          <a:xfrm>
            <a:off x="896112" y="1682496"/>
            <a:ext cx="4828031"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660066"/>
                </a:solidFill>
                <a:latin typeface="Times New Roman"/>
                <a:ea typeface="標楷體"/>
                <a:cs typeface="Times New Roman"/>
              </a:rPr>
              <a:t>門檻 5｜較晚介入</a:t>
            </a:r>
          </a:p>
        </p:txBody>
      </p:sp>
      <p:sp>
        <p:nvSpPr>
          <p:cNvPr id="8" name="Late intervention timeline body"/>
          <p:cNvSpPr txBox="1"/>
          <p:nvPr/>
        </p:nvSpPr>
        <p:spPr>
          <a:xfrm>
            <a:off x="905256" y="2103120"/>
            <a:ext cx="4809744" cy="18105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批次 → 期限 → 急件</a:t>
            </a:r>
          </a:p>
          <a:p>
            <a:pPr algn="ctr">
              <a:lnSpc>
                <a:spcPct val="100000"/>
              </a:lnSpc>
              <a:spcBef>
                <a:spcPts val="0"/>
              </a:spcBef>
              <a:spcAft>
                <a:spcPts val="0"/>
              </a:spcAft>
            </a:pPr>
            <a:r>
              <a:rPr sz="2200" b="0" i="0">
                <a:solidFill>
                  <a:srgbClr val="25324A"/>
                </a:solidFill>
                <a:latin typeface="Times New Roman"/>
                <a:ea typeface="標楷體"/>
                <a:cs typeface="Times New Roman"/>
              </a:rPr>
              <a:t>較少早期 wake／TX，但 delivery 可能受壓</a:t>
            </a:r>
          </a:p>
        </p:txBody>
      </p:sp>
      <p:cxnSp>
        <p:nvCxnSpPr>
          <p:cNvPr id="9" name="Intervention comparison"/>
          <p:cNvCxnSpPr/>
          <p:nvPr/>
        </p:nvCxnSpPr>
        <p:spPr>
          <a:xfrm>
            <a:off x="5998464" y="2788920"/>
            <a:ext cx="274319"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Early intervention timeline"/>
          <p:cNvSpPr/>
          <p:nvPr/>
        </p:nvSpPr>
        <p:spPr>
          <a:xfrm>
            <a:off x="6364224" y="1609344"/>
            <a:ext cx="5084064" cy="239572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Early intervention timeline heading"/>
          <p:cNvSpPr txBox="1"/>
          <p:nvPr/>
        </p:nvSpPr>
        <p:spPr>
          <a:xfrm>
            <a:off x="6492240" y="1682496"/>
            <a:ext cx="4828031"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門檻 30｜較早介入</a:t>
            </a:r>
          </a:p>
        </p:txBody>
      </p:sp>
      <p:sp>
        <p:nvSpPr>
          <p:cNvPr id="12" name="Early intervention timeline body"/>
          <p:cNvSpPr txBox="1"/>
          <p:nvPr/>
        </p:nvSpPr>
        <p:spPr>
          <a:xfrm>
            <a:off x="6501384" y="2103120"/>
            <a:ext cx="4809744" cy="18105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急件 → wake／TX → delivery</a:t>
            </a:r>
          </a:p>
          <a:p>
            <a:pPr algn="ctr">
              <a:lnSpc>
                <a:spcPct val="100000"/>
              </a:lnSpc>
              <a:spcBef>
                <a:spcPts val="0"/>
              </a:spcBef>
              <a:spcAft>
                <a:spcPts val="0"/>
              </a:spcAft>
            </a:pPr>
            <a:r>
              <a:rPr sz="2200" b="0" i="0">
                <a:solidFill>
                  <a:srgbClr val="25324A"/>
                </a:solidFill>
                <a:latin typeface="Times New Roman"/>
                <a:ea typeface="標楷體"/>
                <a:cs typeface="Times New Roman"/>
              </a:rPr>
              <a:t>較可能保住期限，也可能增加 energy cost</a:t>
            </a:r>
          </a:p>
        </p:txBody>
      </p:sp>
      <p:sp>
        <p:nvSpPr>
          <p:cNvPr id="13" name="Revision prediction"/>
          <p:cNvSpPr/>
          <p:nvPr/>
        </p:nvSpPr>
        <p:spPr>
          <a:xfrm>
            <a:off x="877824" y="4261104"/>
            <a:ext cx="10387584" cy="566928"/>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條件式預測｜只有 delivery、deadline、state ledger 與 endpoint J 同時對上，取捨敘述才成立。</a:t>
            </a:r>
          </a:p>
        </p:txBody>
      </p:sp>
      <p:sp>
        <p:nvSpPr>
          <p:cNvPr id="14" name="Revision evidence fields"/>
          <p:cNvSpPr/>
          <p:nvPr/>
        </p:nvSpPr>
        <p:spPr>
          <a:xfrm>
            <a:off x="749808" y="4901184"/>
            <a:ext cx="10698480" cy="877824"/>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證據欄位｜來源與高低</a:t>
            </a:r>
          </a:p>
          <a:p>
            <a:pPr algn="l">
              <a:lnSpc>
                <a:spcPct val="84000"/>
              </a:lnSpc>
              <a:spcBef>
                <a:spcPts val="0"/>
              </a:spcBef>
              <a:spcAft>
                <a:spcPts val="0"/>
              </a:spcAft>
            </a:pPr>
            <a:r>
              <a:rPr sz="1800" b="0" i="1">
                <a:solidFill>
                  <a:srgbClr val="25324A"/>
                </a:solidFill>
                <a:latin typeface="Times New Roman"/>
                <a:ea typeface="標楷體"/>
                <a:cs typeface="Times New Roman"/>
              </a:rPr>
              <a:t>delivery</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deadline</a:t>
            </a:r>
            <a:r>
              <a:rPr sz="1800" b="0" i="0">
                <a:solidFill>
                  <a:srgbClr val="25324A"/>
                </a:solidFill>
                <a:latin typeface="Times New Roman"/>
                <a:ea typeface="標楷體"/>
                <a:cs typeface="Times New Roman"/>
              </a:rPr>
              <a:t>：result 的布林結果，PASS 才算完成；</a:t>
            </a:r>
            <a:r>
              <a:rPr sz="1800" b="0" i="1">
                <a:solidFill>
                  <a:srgbClr val="25324A"/>
                </a:solidFill>
                <a:latin typeface="Times New Roman"/>
                <a:ea typeface="標楷體"/>
                <a:cs typeface="Times New Roman"/>
              </a:rPr>
              <a:t>retry</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expiry</a:t>
            </a:r>
            <a:r>
              <a:rPr sz="1800" b="0" i="0">
                <a:solidFill>
                  <a:srgbClr val="25324A"/>
                </a:solidFill>
                <a:latin typeface="Times New Roman"/>
                <a:ea typeface="標楷體"/>
                <a:cs typeface="Times New Roman"/>
              </a:rPr>
              <a:t>：packet events 的 count，越高表示重試／過期越多；</a:t>
            </a:r>
            <a:r>
              <a:rPr sz="1800" b="0" i="1">
                <a:solidFill>
                  <a:srgbClr val="25324A"/>
                </a:solidFill>
                <a:latin typeface="Times New Roman"/>
                <a:ea typeface="標楷體"/>
                <a:cs typeface="Times New Roman"/>
              </a:rPr>
              <a:t>endpoint J</a:t>
            </a:r>
            <a:r>
              <a:rPr sz="1800" b="0" i="0">
                <a:solidFill>
                  <a:srgbClr val="25324A"/>
                </a:solidFill>
                <a:latin typeface="Times New Roman"/>
                <a:ea typeface="標楷體"/>
                <a:cs typeface="Times New Roman"/>
              </a:rPr>
              <a:t>：ledger 的 J，越低耗能較少但不能覆蓋 FAIL。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P072｜依序執行：30 freeze → surprise</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順序固定：revision 30 --freeze → surprise；程式內容不再改。</a:t>
            </a:r>
          </a:p>
        </p:txBody>
      </p:sp>
      <p:sp>
        <p:nvSpPr>
          <p:cNvPr id="6" name="Revision run receipt"/>
          <p:cNvSpPr/>
          <p:nvPr/>
        </p:nvSpPr>
        <p:spPr>
          <a:xfrm>
            <a:off x="768096" y="1591056"/>
            <a:ext cx="5084064" cy="245059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Revision run receipt heading"/>
          <p:cNvSpPr txBox="1"/>
          <p:nvPr/>
        </p:nvSpPr>
        <p:spPr>
          <a:xfrm>
            <a:off x="896112" y="1664208"/>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007374"/>
                </a:solidFill>
                <a:latin typeface="Times New Roman"/>
                <a:ea typeface="標楷體"/>
                <a:cs typeface="Times New Roman"/>
              </a:rPr>
              <a:t>修訂組｜revision 30 freeze</a:t>
            </a:r>
          </a:p>
        </p:txBody>
      </p:sp>
      <p:sp>
        <p:nvSpPr>
          <p:cNvPr id="8" name="Revision run receipt body"/>
          <p:cNvSpPr txBox="1"/>
          <p:nvPr/>
        </p:nvSpPr>
        <p:spPr>
          <a:xfrm>
            <a:off x="905256" y="2084832"/>
            <a:ext cx="4809744" cy="1865376"/>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先讀固定後的結果，再保存收據。</a:t>
            </a:r>
          </a:p>
          <a:p>
            <a:pPr algn="l">
              <a:lnSpc>
                <a:spcPct val="100000"/>
              </a:lnSpc>
              <a:spcBef>
                <a:spcPts val="0"/>
              </a:spcBef>
              <a:spcAft>
                <a:spcPts val="0"/>
              </a:spcAft>
            </a:pPr>
            <a:r>
              <a:rPr sz="2100" b="0" i="0">
                <a:solidFill>
                  <a:srgbClr val="25324A"/>
                </a:solidFill>
                <a:latin typeface="Times New Roman"/>
                <a:ea typeface="標楷體"/>
                <a:cs typeface="Times New Roman"/>
              </a:rPr>
              <a:t>bash course.sh run --lab C --case revision --freeze</a:t>
            </a:r>
          </a:p>
          <a:p>
            <a:pPr algn="l">
              <a:lnSpc>
                <a:spcPct val="100000"/>
              </a:lnSpc>
              <a:spcBef>
                <a:spcPts val="0"/>
              </a:spcBef>
              <a:spcAft>
                <a:spcPts val="0"/>
              </a:spcAft>
            </a:pPr>
            <a:r>
              <a:rPr sz="2100" b="0" i="0">
                <a:solidFill>
                  <a:srgbClr val="25324A"/>
                </a:solidFill>
                <a:latin typeface="Times New Roman"/>
                <a:ea typeface="標楷體"/>
                <a:cs typeface="Times New Roman"/>
              </a:rPr>
              <a:t>stdout → result_path + freeze receipt</a:t>
            </a:r>
          </a:p>
        </p:txBody>
      </p:sp>
      <p:cxnSp>
        <p:nvCxnSpPr>
          <p:cNvPr id="9" name="Freeze to surprise connector"/>
          <p:cNvCxnSpPr/>
          <p:nvPr/>
        </p:nvCxnSpPr>
        <p:spPr>
          <a:xfrm>
            <a:off x="5998464" y="2816352"/>
            <a:ext cx="274319"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Surprise run receipt"/>
          <p:cNvSpPr/>
          <p:nvPr/>
        </p:nvSpPr>
        <p:spPr>
          <a:xfrm>
            <a:off x="6364224" y="1591056"/>
            <a:ext cx="5084064" cy="245059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Surprise run receipt heading"/>
          <p:cNvSpPr txBox="1"/>
          <p:nvPr/>
        </p:nvSpPr>
        <p:spPr>
          <a:xfrm>
            <a:off x="6492240" y="1664208"/>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660066"/>
                </a:solidFill>
                <a:latin typeface="Times New Roman"/>
                <a:ea typeface="標楷體"/>
                <a:cs typeface="Times New Roman"/>
              </a:rPr>
              <a:t>保留組｜surprise withheld</a:t>
            </a:r>
          </a:p>
        </p:txBody>
      </p:sp>
      <p:sp>
        <p:nvSpPr>
          <p:cNvPr id="12" name="Surprise run receipt body"/>
          <p:cNvSpPr txBox="1"/>
          <p:nvPr/>
        </p:nvSpPr>
        <p:spPr>
          <a:xfrm>
            <a:off x="6501384" y="2084832"/>
            <a:ext cx="4809744" cy="1865376"/>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先讀新情境的結果；程式與門檻不再改。</a:t>
            </a:r>
          </a:p>
          <a:p>
            <a:pPr algn="l">
              <a:lnSpc>
                <a:spcPct val="100000"/>
              </a:lnSpc>
              <a:spcBef>
                <a:spcPts val="0"/>
              </a:spcBef>
              <a:spcAft>
                <a:spcPts val="0"/>
              </a:spcAft>
            </a:pPr>
            <a:r>
              <a:rPr sz="2100" b="0" i="0">
                <a:solidFill>
                  <a:srgbClr val="25324A"/>
                </a:solidFill>
                <a:latin typeface="Times New Roman"/>
                <a:ea typeface="標楷體"/>
                <a:cs typeface="Times New Roman"/>
              </a:rPr>
              <a:t>bash course.sh run --lab C --case surprise</a:t>
            </a:r>
          </a:p>
          <a:p>
            <a:pPr algn="l">
              <a:lnSpc>
                <a:spcPct val="100000"/>
              </a:lnSpc>
              <a:spcBef>
                <a:spcPts val="0"/>
              </a:spcBef>
              <a:spcAft>
                <a:spcPts val="0"/>
              </a:spcAft>
            </a:pPr>
            <a:r>
              <a:rPr sz="2100" b="0" i="0">
                <a:solidFill>
                  <a:srgbClr val="25324A"/>
                </a:solidFill>
                <a:latin typeface="Times New Roman"/>
                <a:ea typeface="標楷體"/>
                <a:cs typeface="Times New Roman"/>
              </a:rPr>
              <a:t>policy bytes unchanged；讀 withheld evidence</a:t>
            </a:r>
          </a:p>
        </p:txBody>
      </p:sp>
      <p:sp>
        <p:nvSpPr>
          <p:cNvPr id="13" name="Freeze boundary"/>
          <p:cNvSpPr/>
          <p:nvPr/>
        </p:nvSpPr>
        <p:spPr>
          <a:xfrm>
            <a:off x="877824" y="4242816"/>
            <a:ext cx="10387584" cy="566928"/>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固定 → 保留｜新的 case 不新增修改；failure 只縮小 claim，不重新調參。</a:t>
            </a:r>
          </a:p>
        </p:txBody>
      </p:sp>
      <p:sp>
        <p:nvSpPr>
          <p:cNvPr id="14" name="Freeze definition"/>
          <p:cNvSpPr/>
          <p:nvPr/>
        </p:nvSpPr>
        <p:spPr>
          <a:xfrm>
            <a:off x="749808" y="4882896"/>
            <a:ext cx="10698480" cy="914400"/>
          </a:xfrm>
          <a:prstGeom prst="roundRect">
            <a:avLst/>
          </a:prstGeom>
          <a:solidFill>
            <a:srgbClr val="F2F4F8"/>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freeze</a:t>
            </a:r>
            <a:r>
              <a:rPr sz="1800" b="0" i="0">
                <a:solidFill>
                  <a:srgbClr val="25324A"/>
                </a:solidFill>
                <a:latin typeface="Times New Roman"/>
                <a:ea typeface="標楷體"/>
                <a:cs typeface="Times New Roman"/>
              </a:rPr>
              <a:t>｜凍結收據</a:t>
            </a:r>
          </a:p>
          <a:p>
            <a:pPr algn="l">
              <a:lnSpc>
                <a:spcPct val="84000"/>
              </a:lnSpc>
              <a:spcBef>
                <a:spcPts val="0"/>
              </a:spcBef>
              <a:spcAft>
                <a:spcPts val="0"/>
              </a:spcAft>
            </a:pPr>
            <a:r>
              <a:rPr sz="1800" b="0" i="0">
                <a:solidFill>
                  <a:srgbClr val="25324A"/>
                </a:solidFill>
                <a:latin typeface="Times New Roman"/>
                <a:ea typeface="標楷體"/>
                <a:cs typeface="Times New Roman"/>
              </a:rPr>
              <a:t>來源 runner receipt；作用 綁定 policy bytes／case；判讀 identity 不符即停止。成功訊號是 stdout </a:t>
            </a: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 與 freeze receipt；每一目錄的 </a:t>
            </a:r>
            <a:r>
              <a:rPr sz="1800" b="0" i="1">
                <a:solidFill>
                  <a:srgbClr val="25324A"/>
                </a:solidFill>
                <a:latin typeface="Times New Roman"/>
                <a:ea typeface="標楷體"/>
                <a:cs typeface="Times New Roman"/>
              </a:rPr>
              <a:t>result.json</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 必須成對，surprise 只讀 matching evidence。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P073｜三筆結果：基準 20／候選 5／修訂 30</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先把三筆結果排在一起：20、5、30；先看服務，再看端點能量。</a:t>
            </a:r>
          </a:p>
        </p:txBody>
      </p:sp>
      <p:sp>
        <p:nvSpPr>
          <p:cNvPr id="6" name="Three-way evidence column"/>
          <p:cNvSpPr/>
          <p:nvPr/>
        </p:nvSpPr>
        <p:spPr>
          <a:xfrm>
            <a:off x="640080" y="1609344"/>
            <a:ext cx="3401568" cy="239572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Three-way evidence column heading"/>
          <p:cNvSpPr txBox="1"/>
          <p:nvPr/>
        </p:nvSpPr>
        <p:spPr>
          <a:xfrm>
            <a:off x="768096" y="1682496"/>
            <a:ext cx="314553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4967C2"/>
                </a:solidFill>
                <a:latin typeface="Times New Roman"/>
                <a:ea typeface="標楷體"/>
                <a:cs typeface="Times New Roman"/>
              </a:rPr>
              <a:t>基準組</a:t>
            </a:r>
          </a:p>
          <a:p>
            <a:pPr algn="ctr">
              <a:lnSpc>
                <a:spcPct val="100000"/>
              </a:lnSpc>
              <a:spcBef>
                <a:spcPts val="0"/>
              </a:spcBef>
              <a:spcAft>
                <a:spcPts val="0"/>
              </a:spcAft>
            </a:pPr>
            <a:r>
              <a:rPr sz="2000" b="1" i="0">
                <a:solidFill>
                  <a:srgbClr val="4967C2"/>
                </a:solidFill>
                <a:latin typeface="Times New Roman"/>
                <a:ea typeface="標楷體"/>
                <a:cs typeface="Times New Roman"/>
              </a:rPr>
              <a:t>margin 20</a:t>
            </a:r>
          </a:p>
        </p:txBody>
      </p:sp>
      <p:sp>
        <p:nvSpPr>
          <p:cNvPr id="8" name="Three-way evidence column body"/>
          <p:cNvSpPr txBox="1"/>
          <p:nvPr/>
        </p:nvSpPr>
        <p:spPr>
          <a:xfrm>
            <a:off x="777240" y="2103120"/>
            <a:ext cx="3127248" cy="18105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服務／期限 PASS／PASS</a:t>
            </a:r>
          </a:p>
          <a:p>
            <a:pPr algn="ctr">
              <a:lnSpc>
                <a:spcPct val="100000"/>
              </a:lnSpc>
              <a:spcBef>
                <a:spcPts val="0"/>
              </a:spcBef>
              <a:spcAft>
                <a:spcPts val="0"/>
              </a:spcAft>
            </a:pPr>
            <a:r>
              <a:rPr sz="2200" b="0" i="0">
                <a:solidFill>
                  <a:srgbClr val="25324A"/>
                </a:solidFill>
                <a:latin typeface="Times New Roman"/>
                <a:ea typeface="標楷體"/>
                <a:cs typeface="Times New Roman"/>
              </a:rPr>
              <a:t>10,400 bit；10.66 J</a:t>
            </a:r>
          </a:p>
        </p:txBody>
      </p:sp>
      <p:sp>
        <p:nvSpPr>
          <p:cNvPr id="9" name="Three-way evidence column"/>
          <p:cNvSpPr/>
          <p:nvPr/>
        </p:nvSpPr>
        <p:spPr>
          <a:xfrm>
            <a:off x="4297680" y="1609344"/>
            <a:ext cx="3401568" cy="239572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0" name="Three-way evidence column heading"/>
          <p:cNvSpPr txBox="1"/>
          <p:nvPr/>
        </p:nvSpPr>
        <p:spPr>
          <a:xfrm>
            <a:off x="4425696" y="1682496"/>
            <a:ext cx="314553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候選組</a:t>
            </a:r>
          </a:p>
          <a:p>
            <a:pPr algn="ctr">
              <a:lnSpc>
                <a:spcPct val="100000"/>
              </a:lnSpc>
              <a:spcBef>
                <a:spcPts val="0"/>
              </a:spcBef>
              <a:spcAft>
                <a:spcPts val="0"/>
              </a:spcAft>
            </a:pPr>
            <a:r>
              <a:rPr sz="2000" b="1" i="0">
                <a:solidFill>
                  <a:srgbClr val="660066"/>
                </a:solidFill>
                <a:latin typeface="Times New Roman"/>
                <a:ea typeface="標楷體"/>
                <a:cs typeface="Times New Roman"/>
              </a:rPr>
              <a:t>margin 5</a:t>
            </a:r>
          </a:p>
        </p:txBody>
      </p:sp>
      <p:sp>
        <p:nvSpPr>
          <p:cNvPr id="11" name="Three-way evidence column body"/>
          <p:cNvSpPr txBox="1"/>
          <p:nvPr/>
        </p:nvSpPr>
        <p:spPr>
          <a:xfrm>
            <a:off x="4434840" y="2103120"/>
            <a:ext cx="3127248" cy="18105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服務／期限 FAIL／FAIL</a:t>
            </a:r>
          </a:p>
          <a:p>
            <a:pPr algn="ctr">
              <a:lnSpc>
                <a:spcPct val="100000"/>
              </a:lnSpc>
              <a:spcBef>
                <a:spcPts val="0"/>
              </a:spcBef>
              <a:spcAft>
                <a:spcPts val="0"/>
              </a:spcAft>
            </a:pPr>
            <a:r>
              <a:rPr sz="2200" b="0" i="0">
                <a:solidFill>
                  <a:srgbClr val="25324A"/>
                </a:solidFill>
                <a:latin typeface="Times New Roman"/>
                <a:ea typeface="標楷體"/>
                <a:cs typeface="Times New Roman"/>
              </a:rPr>
              <a:t>9,600 bit；9.74 J</a:t>
            </a:r>
          </a:p>
        </p:txBody>
      </p:sp>
      <p:sp>
        <p:nvSpPr>
          <p:cNvPr id="12" name="Three-way evidence column"/>
          <p:cNvSpPr/>
          <p:nvPr/>
        </p:nvSpPr>
        <p:spPr>
          <a:xfrm>
            <a:off x="7955279" y="1609344"/>
            <a:ext cx="3401568" cy="239572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3" name="Three-way evidence column heading"/>
          <p:cNvSpPr txBox="1"/>
          <p:nvPr/>
        </p:nvSpPr>
        <p:spPr>
          <a:xfrm>
            <a:off x="8083296" y="1682496"/>
            <a:ext cx="314553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007374"/>
                </a:solidFill>
                <a:latin typeface="Times New Roman"/>
                <a:ea typeface="標楷體"/>
                <a:cs typeface="Times New Roman"/>
              </a:rPr>
              <a:t>修訂組</a:t>
            </a:r>
          </a:p>
          <a:p>
            <a:pPr algn="ctr">
              <a:lnSpc>
                <a:spcPct val="100000"/>
              </a:lnSpc>
              <a:spcBef>
                <a:spcPts val="0"/>
              </a:spcBef>
              <a:spcAft>
                <a:spcPts val="0"/>
              </a:spcAft>
            </a:pPr>
            <a:r>
              <a:rPr sz="2000" b="1" i="0">
                <a:solidFill>
                  <a:srgbClr val="007374"/>
                </a:solidFill>
                <a:latin typeface="Times New Roman"/>
                <a:ea typeface="標楷體"/>
                <a:cs typeface="Times New Roman"/>
              </a:rPr>
              <a:t>margin 30</a:t>
            </a:r>
          </a:p>
        </p:txBody>
      </p:sp>
      <p:sp>
        <p:nvSpPr>
          <p:cNvPr id="14" name="Three-way evidence column body"/>
          <p:cNvSpPr txBox="1"/>
          <p:nvPr/>
        </p:nvSpPr>
        <p:spPr>
          <a:xfrm>
            <a:off x="8092440" y="2103120"/>
            <a:ext cx="3127248" cy="18105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服務／期限 PASS／PASS</a:t>
            </a:r>
          </a:p>
          <a:p>
            <a:pPr algn="ctr">
              <a:lnSpc>
                <a:spcPct val="100000"/>
              </a:lnSpc>
              <a:spcBef>
                <a:spcPts val="0"/>
              </a:spcBef>
              <a:spcAft>
                <a:spcPts val="0"/>
              </a:spcAft>
            </a:pPr>
            <a:r>
              <a:rPr sz="2200" b="0" i="0">
                <a:solidFill>
                  <a:srgbClr val="25324A"/>
                </a:solidFill>
                <a:latin typeface="Times New Roman"/>
                <a:ea typeface="標楷體"/>
                <a:cs typeface="Times New Roman"/>
              </a:rPr>
              <a:t>10,400 bit；10.66 J</a:t>
            </a:r>
          </a:p>
        </p:txBody>
      </p:sp>
      <p:cxnSp>
        <p:nvCxnSpPr>
          <p:cNvPr id="15" name="Three-way connector"/>
          <p:cNvCxnSpPr/>
          <p:nvPr/>
        </p:nvCxnSpPr>
        <p:spPr>
          <a:xfrm>
            <a:off x="4059936" y="2816352"/>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cxnSp>
        <p:nvCxnSpPr>
          <p:cNvPr id="16" name="Three-way connector"/>
          <p:cNvCxnSpPr/>
          <p:nvPr/>
        </p:nvCxnSpPr>
        <p:spPr>
          <a:xfrm>
            <a:off x="7717536" y="2816352"/>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7" name="Three-way causal sentence"/>
          <p:cNvSpPr/>
          <p:nvPr/>
        </p:nvSpPr>
        <p:spPr>
          <a:xfrm>
            <a:off x="877824" y="4242816"/>
            <a:ext cx="10387584" cy="566928"/>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因果句｜candidate 少交付且 gate FAIL；revision 在固定條件下恢復 gate，不代表 30 永遠最佳。</a:t>
            </a:r>
          </a:p>
        </p:txBody>
      </p:sp>
      <p:sp>
        <p:nvSpPr>
          <p:cNvPr id="18" name="Three-way evidence source"/>
          <p:cNvSpPr/>
          <p:nvPr/>
        </p:nvSpPr>
        <p:spPr>
          <a:xfrm>
            <a:off x="749808" y="4882896"/>
            <a:ext cx="10698480" cy="950976"/>
          </a:xfrm>
          <a:prstGeom prst="roundRect">
            <a:avLst/>
          </a:prstGeom>
          <a:solidFill>
            <a:srgbClr val="F2F4F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比較欄位｜來源與判讀</a:t>
            </a:r>
          </a:p>
          <a:p>
            <a:pPr algn="l">
              <a:lnSpc>
                <a:spcPct val="84000"/>
              </a:lnSpc>
              <a:spcBef>
                <a:spcPts val="0"/>
              </a:spcBef>
              <a:spcAft>
                <a:spcPts val="0"/>
              </a:spcAft>
            </a:pPr>
            <a:r>
              <a:rPr sz="1800" b="0" i="1">
                <a:solidFill>
                  <a:srgbClr val="25324A"/>
                </a:solidFill>
                <a:latin typeface="Times New Roman"/>
                <a:ea typeface="標楷體"/>
                <a:cs typeface="Times New Roman"/>
              </a:rPr>
              <a:t>service／deadline</a:t>
            </a:r>
            <a:r>
              <a:rPr sz="1800" b="0" i="0">
                <a:solidFill>
                  <a:srgbClr val="25324A"/>
                </a:solidFill>
                <a:latin typeface="Times New Roman"/>
                <a:ea typeface="標楷體"/>
                <a:cs typeface="Times New Roman"/>
              </a:rPr>
              <a:t>：result gate，PASS 才往下讀；</a:t>
            </a:r>
            <a:r>
              <a:rPr sz="1800" b="0" i="1">
                <a:solidFill>
                  <a:srgbClr val="25324A"/>
                </a:solidFill>
                <a:latin typeface="Times New Roman"/>
                <a:ea typeface="標楷體"/>
                <a:cs typeface="Times New Roman"/>
              </a:rPr>
              <a:t>delivered_bits</a:t>
            </a:r>
            <a:r>
              <a:rPr sz="1800" b="0" i="0">
                <a:solidFill>
                  <a:srgbClr val="25324A"/>
                </a:solidFill>
                <a:latin typeface="Times New Roman"/>
                <a:ea typeface="標楷體"/>
                <a:cs typeface="Times New Roman"/>
              </a:rPr>
              <a:t>：bit，越高越完整；</a:t>
            </a:r>
            <a:r>
              <a:rPr sz="1800" b="0" i="1">
                <a:solidFill>
                  <a:srgbClr val="25324A"/>
                </a:solidFill>
                <a:latin typeface="Times New Roman"/>
                <a:ea typeface="標楷體"/>
                <a:cs typeface="Times New Roman"/>
              </a:rPr>
              <a:t>endpoint J</a:t>
            </a:r>
            <a:r>
              <a:rPr sz="1800" b="0" i="0">
                <a:solidFill>
                  <a:srgbClr val="25324A"/>
                </a:solidFill>
                <a:latin typeface="Times New Roman"/>
                <a:ea typeface="標楷體"/>
                <a:cs typeface="Times New Roman"/>
              </a:rPr>
              <a:t>：J，越低耗能較少；</a:t>
            </a:r>
            <a:r>
              <a:rPr sz="1800" b="0" i="1">
                <a:solidFill>
                  <a:srgbClr val="25324A"/>
                </a:solidFill>
                <a:latin typeface="Times New Roman"/>
                <a:ea typeface="標楷體"/>
                <a:cs typeface="Times New Roman"/>
              </a:rPr>
              <a:t>bit/J</a:t>
            </a:r>
            <a:r>
              <a:rPr sz="1800" b="0" i="0">
                <a:solidFill>
                  <a:srgbClr val="25324A"/>
                </a:solidFill>
                <a:latin typeface="Times New Roman"/>
                <a:ea typeface="標楷體"/>
                <a:cs typeface="Times New Roman"/>
              </a:rPr>
              <a:t>：效率，越高較好但不能覆蓋 FAIL。數值以 P066／P072 stdout </a:t>
            </a:r>
            <a:r>
              <a:rPr sz="1800" b="0" i="1">
                <a:solidFill>
                  <a:srgbClr val="25324A"/>
                </a:solidFill>
                <a:latin typeface="Times New Roman"/>
                <a:ea typeface="標楷體"/>
                <a:cs typeface="Times New Roman"/>
              </a:rPr>
              <a:t>result_path</a:t>
            </a:r>
            <a:r>
              <a:rPr sz="1800" b="0" i="0">
                <a:solidFill>
                  <a:srgbClr val="25324A"/>
                </a:solidFill>
                <a:latin typeface="Times New Roman"/>
                <a:ea typeface="標楷體"/>
                <a:cs typeface="Times New Roman"/>
              </a:rPr>
              <a:t> 為準。</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P074｜保留情境：沿用 30，不重調</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另一個情境沿用原程式；低端點能量不代表服務成功。</a:t>
            </a:r>
          </a:p>
        </p:txBody>
      </p:sp>
      <p:sp>
        <p:nvSpPr>
          <p:cNvPr id="6" name="Frozen policy card"/>
          <p:cNvSpPr/>
          <p:nvPr/>
        </p:nvSpPr>
        <p:spPr>
          <a:xfrm>
            <a:off x="768096" y="1609344"/>
            <a:ext cx="5084064" cy="2468880"/>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Frozen policy card heading"/>
          <p:cNvSpPr txBox="1"/>
          <p:nvPr/>
        </p:nvSpPr>
        <p:spPr>
          <a:xfrm>
            <a:off x="896112" y="1682496"/>
            <a:ext cx="4828031"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凍結修訂｜revision</a:t>
            </a:r>
          </a:p>
        </p:txBody>
      </p:sp>
      <p:sp>
        <p:nvSpPr>
          <p:cNvPr id="8" name="Frozen policy card body"/>
          <p:cNvSpPr txBox="1"/>
          <p:nvPr/>
        </p:nvSpPr>
        <p:spPr>
          <a:xfrm>
            <a:off x="905256" y="2103120"/>
            <a:ext cx="4809744" cy="1883664"/>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300" b="0" i="1">
                <a:solidFill>
                  <a:srgbClr val="25324A"/>
                </a:solidFill>
                <a:latin typeface="Times New Roman"/>
                <a:ea typeface="標楷體"/>
                <a:cs typeface="Times New Roman"/>
              </a:rPr>
              <a:t>URGENT_MARGIN_S = 30</a:t>
            </a:r>
          </a:p>
          <a:p>
            <a:pPr algn="ctr">
              <a:lnSpc>
                <a:spcPct val="100000"/>
              </a:lnSpc>
              <a:spcBef>
                <a:spcPts val="0"/>
              </a:spcBef>
              <a:spcAft>
                <a:spcPts val="0"/>
              </a:spcAft>
            </a:pPr>
            <a:r>
              <a:rPr sz="2300" b="0" i="0">
                <a:solidFill>
                  <a:srgbClr val="25324A"/>
                </a:solidFill>
                <a:latin typeface="Times New Roman"/>
                <a:ea typeface="標楷體"/>
                <a:cs typeface="Times New Roman"/>
              </a:rPr>
              <a:t>程式內容不變，沿用原條件</a:t>
            </a:r>
          </a:p>
        </p:txBody>
      </p:sp>
      <p:cxnSp>
        <p:nvCxnSpPr>
          <p:cNvPr id="9" name="Withheld boundary connector"/>
          <p:cNvCxnSpPr/>
          <p:nvPr/>
        </p:nvCxnSpPr>
        <p:spPr>
          <a:xfrm>
            <a:off x="5998464" y="2834640"/>
            <a:ext cx="274319" cy="0"/>
          </a:xfrm>
          <a:prstGeom prst="line">
            <a:avLst/>
          </a:prstGeom>
          <a:ln w="25400">
            <a:solidFill>
              <a:srgbClr val="992A2A"/>
            </a:solidFill>
          </a:ln>
        </p:spPr>
        <p:style>
          <a:lnRef idx="2">
            <a:schemeClr val="accent1"/>
          </a:lnRef>
          <a:fillRef idx="0">
            <a:schemeClr val="accent1"/>
          </a:fillRef>
          <a:effectRef idx="1">
            <a:schemeClr val="accent1"/>
          </a:effectRef>
          <a:fontRef idx="minor">
            <a:schemeClr val="tx1"/>
          </a:fontRef>
        </p:style>
      </p:cxnSp>
      <p:sp>
        <p:nvSpPr>
          <p:cNvPr id="10" name="Surprise evidence card"/>
          <p:cNvSpPr/>
          <p:nvPr/>
        </p:nvSpPr>
        <p:spPr>
          <a:xfrm>
            <a:off x="6364224" y="1609344"/>
            <a:ext cx="5084064" cy="2468880"/>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Surprise evidence card heading"/>
          <p:cNvSpPr txBox="1"/>
          <p:nvPr/>
        </p:nvSpPr>
        <p:spPr>
          <a:xfrm>
            <a:off x="6492240" y="1682496"/>
            <a:ext cx="4828031"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200" b="1" i="0">
                <a:solidFill>
                  <a:srgbClr val="992A2A"/>
                </a:solidFill>
                <a:latin typeface="Times New Roman"/>
                <a:ea typeface="標楷體"/>
                <a:cs typeface="Times New Roman"/>
              </a:rPr>
              <a:t>保留情境｜same policy</a:t>
            </a:r>
          </a:p>
        </p:txBody>
      </p:sp>
      <p:sp>
        <p:nvSpPr>
          <p:cNvPr id="12" name="Surprise evidence card body"/>
          <p:cNvSpPr txBox="1"/>
          <p:nvPr/>
        </p:nvSpPr>
        <p:spPr>
          <a:xfrm>
            <a:off x="6501384" y="2103120"/>
            <a:ext cx="4809744" cy="1883664"/>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服務／期限：FAIL／FAIL</a:t>
            </a:r>
          </a:p>
          <a:p>
            <a:pPr algn="l">
              <a:lnSpc>
                <a:spcPct val="100000"/>
              </a:lnSpc>
              <a:spcBef>
                <a:spcPts val="0"/>
              </a:spcBef>
              <a:spcAft>
                <a:spcPts val="0"/>
              </a:spcAft>
            </a:pPr>
            <a:r>
              <a:rPr sz="2100" b="0" i="0">
                <a:solidFill>
                  <a:srgbClr val="25324A"/>
                </a:solidFill>
                <a:latin typeface="Times New Roman"/>
                <a:ea typeface="標楷體"/>
                <a:cs typeface="Times New Roman"/>
              </a:rPr>
              <a:t>2,400 bit；5.41 J；3 expired packets</a:t>
            </a:r>
          </a:p>
        </p:txBody>
      </p:sp>
      <p:sp>
        <p:nvSpPr>
          <p:cNvPr id="13" name="Withheld boundary sentence"/>
          <p:cNvSpPr/>
          <p:nvPr/>
        </p:nvSpPr>
        <p:spPr>
          <a:xfrm>
            <a:off x="877824" y="4261104"/>
            <a:ext cx="10387584" cy="566928"/>
          </a:xfrm>
          <a:prstGeom prst="roundRect">
            <a:avLst/>
          </a:prstGeom>
          <a:solidFill>
            <a:srgbClr val="FAF7E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BOUNDARY READING｜surprise 低 J 仍是 failure；保存為 frozen policy 的適用邊界。</a:t>
            </a:r>
          </a:p>
        </p:txBody>
      </p:sp>
      <p:sp>
        <p:nvSpPr>
          <p:cNvPr id="14" name="Withheld evidence source"/>
          <p:cNvSpPr/>
          <p:nvPr/>
        </p:nvSpPr>
        <p:spPr>
          <a:xfrm>
            <a:off x="749808" y="4882896"/>
            <a:ext cx="10698480" cy="914400"/>
          </a:xfrm>
          <a:prstGeom prst="roundRect">
            <a:avLst/>
          </a:prstGeom>
          <a:solidFill>
            <a:srgbClr val="F2F4F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來源範圍｜數值判讀</a:t>
            </a:r>
          </a:p>
          <a:p>
            <a:pPr algn="l">
              <a:lnSpc>
                <a:spcPct val="84000"/>
              </a:lnSpc>
              <a:spcBef>
                <a:spcPts val="0"/>
              </a:spcBef>
              <a:spcAft>
                <a:spcPts val="0"/>
              </a:spcAft>
            </a:pPr>
            <a:r>
              <a:rPr sz="1800" b="0" i="0">
                <a:solidFill>
                  <a:srgbClr val="25324A"/>
                </a:solidFill>
                <a:latin typeface="Times New Roman"/>
                <a:ea typeface="標楷體"/>
                <a:cs typeface="Times New Roman"/>
              </a:rPr>
              <a:t>來源 </a:t>
            </a:r>
            <a:r>
              <a:rPr sz="1800" b="0" i="1">
                <a:solidFill>
                  <a:srgbClr val="25324A"/>
                </a:solidFill>
                <a:latin typeface="Times New Roman"/>
                <a:ea typeface="標楷體"/>
                <a:cs typeface="Times New Roman"/>
              </a:rPr>
              <a:t>result.json</a:t>
            </a:r>
            <a:r>
              <a:rPr sz="1800" b="0" i="0">
                <a:solidFill>
                  <a:srgbClr val="25324A"/>
                </a:solidFill>
                <a:latin typeface="Times New Roman"/>
                <a:ea typeface="標楷體"/>
                <a:cs typeface="Times New Roman"/>
              </a:rPr>
              <a:t> + </a:t>
            </a:r>
            <a:r>
              <a:rPr sz="1800" b="0" i="1">
                <a:solidFill>
                  <a:srgbClr val="25324A"/>
                </a:solidFill>
                <a:latin typeface="Times New Roman"/>
                <a:ea typeface="標楷體"/>
                <a:cs typeface="Times New Roman"/>
              </a:rPr>
              <a:t>endpoint-replay.json</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delivered_bits</a:t>
            </a:r>
            <a:r>
              <a:rPr sz="1800" b="0" i="0">
                <a:solidFill>
                  <a:srgbClr val="25324A"/>
                </a:solidFill>
                <a:latin typeface="Times New Roman"/>
                <a:ea typeface="標楷體"/>
                <a:cs typeface="Times New Roman"/>
              </a:rPr>
              <a:t> 單位 bit，越高越完整；</a:t>
            </a:r>
            <a:r>
              <a:rPr sz="1800" b="0" i="1">
                <a:solidFill>
                  <a:srgbClr val="25324A"/>
                </a:solidFill>
                <a:latin typeface="Times New Roman"/>
                <a:ea typeface="標楷體"/>
                <a:cs typeface="Times New Roman"/>
              </a:rPr>
              <a:t>endpoint J</a:t>
            </a:r>
            <a:r>
              <a:rPr sz="1800" b="0" i="0">
                <a:solidFill>
                  <a:srgbClr val="25324A"/>
                </a:solidFill>
                <a:latin typeface="Times New Roman"/>
                <a:ea typeface="標楷體"/>
                <a:cs typeface="Times New Roman"/>
              </a:rPr>
              <a:t> 單位 J，越低耗能較少；service／deadline FAIL 先判，低 J 不等於成功。</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P075｜Lab C 結語：服務／期限先於端點 J</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四道門依序檢查；最後才描述端點能量。</a:t>
            </a:r>
          </a:p>
        </p:txBody>
      </p:sp>
      <p:sp>
        <p:nvSpPr>
          <p:cNvPr id="6" name="Gate-first ladder"/>
          <p:cNvSpPr/>
          <p:nvPr/>
        </p:nvSpPr>
        <p:spPr>
          <a:xfrm>
            <a:off x="640080" y="1627632"/>
            <a:ext cx="2542032" cy="148132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Gate-first ladder heading"/>
          <p:cNvSpPr txBox="1"/>
          <p:nvPr/>
        </p:nvSpPr>
        <p:spPr>
          <a:xfrm>
            <a:off x="768096" y="1700784"/>
            <a:ext cx="2286000"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4967C2"/>
                </a:solidFill>
                <a:latin typeface="Times New Roman"/>
                <a:ea typeface="標楷體"/>
                <a:cs typeface="Times New Roman"/>
              </a:rPr>
              <a:t>1｜服務</a:t>
            </a:r>
          </a:p>
        </p:txBody>
      </p:sp>
      <p:sp>
        <p:nvSpPr>
          <p:cNvPr id="8" name="Gate-first ladder body"/>
          <p:cNvSpPr txBox="1"/>
          <p:nvPr/>
        </p:nvSpPr>
        <p:spPr>
          <a:xfrm>
            <a:off x="777240" y="2121408"/>
            <a:ext cx="2267712" cy="8961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service：是否完成</a:t>
            </a:r>
          </a:p>
        </p:txBody>
      </p:sp>
      <p:cxnSp>
        <p:nvCxnSpPr>
          <p:cNvPr id="9" name="Gate-first connector"/>
          <p:cNvCxnSpPr/>
          <p:nvPr/>
        </p:nvCxnSpPr>
        <p:spPr>
          <a:xfrm>
            <a:off x="3218687" y="2359152"/>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Gate-first ladder"/>
          <p:cNvSpPr/>
          <p:nvPr/>
        </p:nvSpPr>
        <p:spPr>
          <a:xfrm>
            <a:off x="3493008" y="1627632"/>
            <a:ext cx="2542032" cy="148132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Gate-first ladder heading"/>
          <p:cNvSpPr txBox="1"/>
          <p:nvPr/>
        </p:nvSpPr>
        <p:spPr>
          <a:xfrm>
            <a:off x="3621024" y="1700784"/>
            <a:ext cx="2286000"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660066"/>
                </a:solidFill>
                <a:latin typeface="Times New Roman"/>
                <a:ea typeface="標楷體"/>
                <a:cs typeface="Times New Roman"/>
              </a:rPr>
              <a:t>2｜期限</a:t>
            </a:r>
          </a:p>
        </p:txBody>
      </p:sp>
      <p:sp>
        <p:nvSpPr>
          <p:cNvPr id="12" name="Gate-first ladder body"/>
          <p:cNvSpPr txBox="1"/>
          <p:nvPr/>
        </p:nvSpPr>
        <p:spPr>
          <a:xfrm>
            <a:off x="3630168" y="2121408"/>
            <a:ext cx="2267712" cy="8961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deadline：是否達標</a:t>
            </a:r>
          </a:p>
        </p:txBody>
      </p:sp>
      <p:cxnSp>
        <p:nvCxnSpPr>
          <p:cNvPr id="13" name="Gate-first connector"/>
          <p:cNvCxnSpPr/>
          <p:nvPr/>
        </p:nvCxnSpPr>
        <p:spPr>
          <a:xfrm>
            <a:off x="6071616" y="2359152"/>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4" name="Gate-first ladder"/>
          <p:cNvSpPr/>
          <p:nvPr/>
        </p:nvSpPr>
        <p:spPr>
          <a:xfrm>
            <a:off x="6345936" y="1627632"/>
            <a:ext cx="2542032" cy="148132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5" name="Gate-first ladder heading"/>
          <p:cNvSpPr txBox="1"/>
          <p:nvPr/>
        </p:nvSpPr>
        <p:spPr>
          <a:xfrm>
            <a:off x="6473952" y="1700784"/>
            <a:ext cx="2286000"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007374"/>
                </a:solidFill>
                <a:latin typeface="Times New Roman"/>
                <a:ea typeface="標楷體"/>
                <a:cs typeface="Times New Roman"/>
              </a:rPr>
              <a:t>3｜交付</a:t>
            </a:r>
          </a:p>
        </p:txBody>
      </p:sp>
      <p:sp>
        <p:nvSpPr>
          <p:cNvPr id="16" name="Gate-first ladder body"/>
          <p:cNvSpPr txBox="1"/>
          <p:nvPr/>
        </p:nvSpPr>
        <p:spPr>
          <a:xfrm>
            <a:off x="6483096" y="2121408"/>
            <a:ext cx="2267712" cy="8961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delivery：送達／過期</a:t>
            </a:r>
          </a:p>
        </p:txBody>
      </p:sp>
      <p:cxnSp>
        <p:nvCxnSpPr>
          <p:cNvPr id="17" name="Gate-first connector"/>
          <p:cNvCxnSpPr/>
          <p:nvPr/>
        </p:nvCxnSpPr>
        <p:spPr>
          <a:xfrm>
            <a:off x="8924544" y="2359152"/>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8" name="Gate-first ladder"/>
          <p:cNvSpPr/>
          <p:nvPr/>
        </p:nvSpPr>
        <p:spPr>
          <a:xfrm>
            <a:off x="9198863" y="1627632"/>
            <a:ext cx="2542032" cy="148132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9" name="Gate-first ladder heading"/>
          <p:cNvSpPr txBox="1"/>
          <p:nvPr/>
        </p:nvSpPr>
        <p:spPr>
          <a:xfrm>
            <a:off x="9326880" y="1700784"/>
            <a:ext cx="2286000"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1" i="0">
                <a:solidFill>
                  <a:srgbClr val="846826"/>
                </a:solidFill>
                <a:latin typeface="Times New Roman"/>
                <a:ea typeface="標楷體"/>
                <a:cs typeface="Times New Roman"/>
              </a:rPr>
              <a:t>4｜端點 J</a:t>
            </a:r>
          </a:p>
        </p:txBody>
      </p:sp>
      <p:sp>
        <p:nvSpPr>
          <p:cNvPr id="20" name="Gate-first ladder body"/>
          <p:cNvSpPr txBox="1"/>
          <p:nvPr/>
        </p:nvSpPr>
        <p:spPr>
          <a:xfrm>
            <a:off x="9336024" y="2121408"/>
            <a:ext cx="2267712" cy="89611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0" i="0">
                <a:solidFill>
                  <a:srgbClr val="25324A"/>
                </a:solidFill>
                <a:latin typeface="Times New Roman"/>
                <a:ea typeface="標楷體"/>
                <a:cs typeface="Times New Roman"/>
              </a:rPr>
              <a:t>最後看能量</a:t>
            </a:r>
          </a:p>
        </p:txBody>
      </p:sp>
      <p:sp>
        <p:nvSpPr>
          <p:cNvPr id="21" name="Debrief conclusion"/>
          <p:cNvSpPr/>
          <p:nvPr/>
        </p:nvSpPr>
        <p:spPr>
          <a:xfrm>
            <a:off x="877824" y="3547872"/>
            <a:ext cx="10387584" cy="749808"/>
          </a:xfrm>
          <a:prstGeom prst="roundRect">
            <a:avLst/>
          </a:prstGeom>
          <a:solidFill>
            <a:srgbClr val="FAF7E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結論｜margin 5 低 J 但 gate FAIL；margin 30 恢復固定條件 gate；surprise 暴露窗口限制。</a:t>
            </a:r>
          </a:p>
        </p:txBody>
      </p:sp>
      <p:sp>
        <p:nvSpPr>
          <p:cNvPr id="22" name="Claim ceiling"/>
          <p:cNvSpPr/>
          <p:nvPr/>
        </p:nvSpPr>
        <p:spPr>
          <a:xfrm>
            <a:off x="749808" y="4882896"/>
            <a:ext cx="10698480" cy="877824"/>
          </a:xfrm>
          <a:prstGeom prst="roundRect">
            <a:avLst/>
          </a:prstGeom>
          <a:solidFill>
            <a:srgbClr val="F2F4F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主張邊界</a:t>
            </a:r>
          </a:p>
          <a:p>
            <a:pPr algn="l">
              <a:lnSpc>
                <a:spcPct val="84000"/>
              </a:lnSpc>
              <a:spcBef>
                <a:spcPts val="0"/>
              </a:spcBef>
              <a:spcAft>
                <a:spcPts val="0"/>
              </a:spcAft>
            </a:pPr>
            <a:r>
              <a:rPr sz="1800" b="0" i="0">
                <a:solidFill>
                  <a:srgbClr val="25324A"/>
                </a:solidFill>
                <a:latin typeface="Times New Roman"/>
                <a:ea typeface="標楷體"/>
                <a:cs typeface="Times New Roman"/>
              </a:rPr>
              <a:t>SIMULATED TEACHING DATA；NOT LIVE；NOT MEASURED；NOT CANONICAL-PARITY-VERIFIED。低 J 不覆蓋服務 FAIL。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P076｜網站責任：驗證、重播、保存比較</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本機先產生資料；網站只驗證、重播、保存比較。</a:t>
            </a:r>
          </a:p>
        </p:txBody>
      </p:sp>
      <p:sp>
        <p:nvSpPr>
          <p:cNvPr id="6" name="Website responsibility node"/>
          <p:cNvSpPr/>
          <p:nvPr/>
        </p:nvSpPr>
        <p:spPr>
          <a:xfrm>
            <a:off x="621792" y="1627632"/>
            <a:ext cx="2395728" cy="1792224"/>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Website responsibility node heading"/>
          <p:cNvSpPr txBox="1"/>
          <p:nvPr/>
        </p:nvSpPr>
        <p:spPr>
          <a:xfrm>
            <a:off x="749808"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4967C2"/>
                </a:solidFill>
                <a:latin typeface="Times New Roman"/>
                <a:ea typeface="標楷體"/>
                <a:cs typeface="Times New Roman"/>
              </a:rPr>
              <a:t>本機 runner</a:t>
            </a:r>
          </a:p>
        </p:txBody>
      </p:sp>
      <p:sp>
        <p:nvSpPr>
          <p:cNvPr id="8" name="Website responsibility node body"/>
          <p:cNvSpPr txBox="1"/>
          <p:nvPr/>
        </p:nvSpPr>
        <p:spPr>
          <a:xfrm>
            <a:off x="758952" y="2121408"/>
            <a:ext cx="2121408" cy="1207007"/>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result.json</a:t>
            </a:r>
          </a:p>
          <a:p>
            <a:pPr algn="ctr">
              <a:lnSpc>
                <a:spcPct val="100000"/>
              </a:lnSpc>
              <a:spcBef>
                <a:spcPts val="0"/>
              </a:spcBef>
              <a:spcAft>
                <a:spcPts val="0"/>
              </a:spcAft>
            </a:pPr>
            <a:r>
              <a:rPr sz="2000" b="0" i="0">
                <a:solidFill>
                  <a:srgbClr val="25324A"/>
                </a:solidFill>
                <a:latin typeface="Times New Roman"/>
                <a:ea typeface="標楷體"/>
                <a:cs typeface="Times New Roman"/>
              </a:rPr>
              <a:t>endpoint-replay.json</a:t>
            </a:r>
          </a:p>
        </p:txBody>
      </p:sp>
      <p:cxnSp>
        <p:nvCxnSpPr>
          <p:cNvPr id="9" name="Website boundary connector"/>
          <p:cNvCxnSpPr/>
          <p:nvPr/>
        </p:nvCxnSpPr>
        <p:spPr>
          <a:xfrm>
            <a:off x="3072384" y="2523744"/>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Website responsibility node"/>
          <p:cNvSpPr/>
          <p:nvPr/>
        </p:nvSpPr>
        <p:spPr>
          <a:xfrm>
            <a:off x="3474720" y="1627632"/>
            <a:ext cx="2395728" cy="1792224"/>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Website responsibility node heading"/>
          <p:cNvSpPr txBox="1"/>
          <p:nvPr/>
        </p:nvSpPr>
        <p:spPr>
          <a:xfrm>
            <a:off x="3602736"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660066"/>
                </a:solidFill>
                <a:latin typeface="Times New Roman"/>
                <a:ea typeface="標楷體"/>
                <a:cs typeface="Times New Roman"/>
              </a:rPr>
              <a:t>匯入｜JSON</a:t>
            </a:r>
          </a:p>
        </p:txBody>
      </p:sp>
      <p:sp>
        <p:nvSpPr>
          <p:cNvPr id="12" name="Website responsibility node body"/>
          <p:cNvSpPr txBox="1"/>
          <p:nvPr/>
        </p:nvSpPr>
        <p:spPr>
          <a:xfrm>
            <a:off x="3611879" y="2121408"/>
            <a:ext cx="2121408" cy="1207007"/>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schema／identity／units</a:t>
            </a:r>
          </a:p>
          <a:p>
            <a:pPr algn="ctr">
              <a:lnSpc>
                <a:spcPct val="100000"/>
              </a:lnSpc>
              <a:spcBef>
                <a:spcPts val="0"/>
              </a:spcBef>
              <a:spcAft>
                <a:spcPts val="0"/>
              </a:spcAft>
            </a:pPr>
            <a:r>
              <a:rPr sz="2000" b="0" i="0">
                <a:solidFill>
                  <a:srgbClr val="25324A"/>
                </a:solidFill>
                <a:latin typeface="Times New Roman"/>
                <a:ea typeface="標楷體"/>
                <a:cs typeface="Times New Roman"/>
              </a:rPr>
              <a:t>不執行 Python</a:t>
            </a:r>
          </a:p>
        </p:txBody>
      </p:sp>
      <p:cxnSp>
        <p:nvCxnSpPr>
          <p:cNvPr id="13" name="Website boundary connector"/>
          <p:cNvCxnSpPr/>
          <p:nvPr/>
        </p:nvCxnSpPr>
        <p:spPr>
          <a:xfrm>
            <a:off x="5925312" y="2523744"/>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4" name="Website responsibility node"/>
          <p:cNvSpPr/>
          <p:nvPr/>
        </p:nvSpPr>
        <p:spPr>
          <a:xfrm>
            <a:off x="6327648" y="1627632"/>
            <a:ext cx="2395728" cy="1792224"/>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5" name="Website responsibility node heading"/>
          <p:cNvSpPr txBox="1"/>
          <p:nvPr/>
        </p:nvSpPr>
        <p:spPr>
          <a:xfrm>
            <a:off x="6455664"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007374"/>
                </a:solidFill>
                <a:latin typeface="Times New Roman"/>
                <a:ea typeface="標楷體"/>
                <a:cs typeface="Times New Roman"/>
              </a:rPr>
              <a:t>重播｜REPLAY</a:t>
            </a:r>
          </a:p>
        </p:txBody>
      </p:sp>
      <p:sp>
        <p:nvSpPr>
          <p:cNvPr id="16" name="Website responsibility node body"/>
          <p:cNvSpPr txBox="1"/>
          <p:nvPr/>
        </p:nvSpPr>
        <p:spPr>
          <a:xfrm>
            <a:off x="6464808" y="2121408"/>
            <a:ext cx="2121408" cy="1207007"/>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queue／state／packet</a:t>
            </a:r>
          </a:p>
          <a:p>
            <a:pPr algn="ctr">
              <a:lnSpc>
                <a:spcPct val="100000"/>
              </a:lnSpc>
              <a:spcBef>
                <a:spcPts val="0"/>
              </a:spcBef>
              <a:spcAft>
                <a:spcPts val="0"/>
              </a:spcAft>
            </a:pPr>
            <a:r>
              <a:rPr sz="2000" b="0" i="0">
                <a:solidFill>
                  <a:srgbClr val="25324A"/>
                </a:solidFill>
                <a:latin typeface="Times New Roman"/>
                <a:ea typeface="標楷體"/>
                <a:cs typeface="Times New Roman"/>
              </a:rPr>
              <a:t>不重跑 policy</a:t>
            </a:r>
          </a:p>
        </p:txBody>
      </p:sp>
      <p:cxnSp>
        <p:nvCxnSpPr>
          <p:cNvPr id="17" name="Website boundary connector"/>
          <p:cNvCxnSpPr/>
          <p:nvPr/>
        </p:nvCxnSpPr>
        <p:spPr>
          <a:xfrm>
            <a:off x="8778240" y="2523744"/>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8" name="Website responsibility node"/>
          <p:cNvSpPr/>
          <p:nvPr/>
        </p:nvSpPr>
        <p:spPr>
          <a:xfrm>
            <a:off x="9180576" y="1627632"/>
            <a:ext cx="2395728" cy="1792224"/>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9" name="Website responsibility node heading"/>
          <p:cNvSpPr txBox="1"/>
          <p:nvPr/>
        </p:nvSpPr>
        <p:spPr>
          <a:xfrm>
            <a:off x="9308592"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846826"/>
                </a:solidFill>
                <a:latin typeface="Times New Roman"/>
                <a:ea typeface="標楷體"/>
                <a:cs typeface="Times New Roman"/>
              </a:rPr>
              <a:t>比較｜表單</a:t>
            </a:r>
          </a:p>
        </p:txBody>
      </p:sp>
      <p:sp>
        <p:nvSpPr>
          <p:cNvPr id="20" name="Website responsibility node body"/>
          <p:cNvSpPr txBox="1"/>
          <p:nvPr/>
        </p:nvSpPr>
        <p:spPr>
          <a:xfrm>
            <a:off x="9317736" y="2121408"/>
            <a:ext cx="2121408" cy="1207007"/>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四個 role + prediction</a:t>
            </a:r>
          </a:p>
          <a:p>
            <a:pPr algn="ctr">
              <a:lnSpc>
                <a:spcPct val="100000"/>
              </a:lnSpc>
              <a:spcBef>
                <a:spcPts val="0"/>
              </a:spcBef>
              <a:spcAft>
                <a:spcPts val="0"/>
              </a:spcAft>
            </a:pPr>
            <a:r>
              <a:rPr sz="2000" b="0" i="0">
                <a:solidFill>
                  <a:srgbClr val="25324A"/>
                </a:solidFill>
                <a:latin typeface="Times New Roman"/>
                <a:ea typeface="標楷體"/>
                <a:cs typeface="Times New Roman"/>
              </a:rPr>
              <a:t>保留來源鏈</a:t>
            </a:r>
          </a:p>
        </p:txBody>
      </p:sp>
      <p:sp>
        <p:nvSpPr>
          <p:cNvPr id="21" name="Website boundary sentence"/>
          <p:cNvSpPr/>
          <p:nvPr/>
        </p:nvSpPr>
        <p:spPr>
          <a:xfrm>
            <a:off x="877824" y="3895344"/>
            <a:ext cx="10387584" cy="640080"/>
          </a:xfrm>
          <a:prstGeom prst="roundRect">
            <a:avLst/>
          </a:prstGeom>
          <a:solidFill>
            <a:srgbClr val="FAF7E8"/>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責任邊界｜網站只接受 JSON artifact；Python policy 與 endpoint result 留在本機 runner。</a:t>
            </a:r>
          </a:p>
        </p:txBody>
      </p:sp>
      <p:sp>
        <p:nvSpPr>
          <p:cNvPr id="22" name="Website evidence source"/>
          <p:cNvSpPr/>
          <p:nvPr/>
        </p:nvSpPr>
        <p:spPr>
          <a:xfrm>
            <a:off x="749808" y="4791456"/>
            <a:ext cx="10698480" cy="950976"/>
          </a:xfrm>
          <a:prstGeom prst="roundRect">
            <a:avLst/>
          </a:prstGeom>
          <a:solidFill>
            <a:srgbClr val="F2F4F8"/>
          </a:solidFill>
          <a:ln w="13970">
            <a:solidFill>
              <a:srgbClr val="65758B"/>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網站讀法｜現有 browser record</a:t>
            </a:r>
          </a:p>
          <a:p>
            <a:pPr algn="l">
              <a:lnSpc>
                <a:spcPct val="84000"/>
              </a:lnSpc>
              <a:spcBef>
                <a:spcPts val="0"/>
              </a:spcBef>
              <a:spcAft>
                <a:spcPts val="0"/>
              </a:spcAft>
            </a:pPr>
            <a:r>
              <a:rPr sz="1800" b="0" i="0">
                <a:solidFill>
                  <a:srgbClr val="25324A"/>
                </a:solidFill>
                <a:latin typeface="Times New Roman"/>
                <a:ea typeface="標楷體"/>
                <a:cs typeface="Times New Roman"/>
              </a:rPr>
              <a:t>先讀 service／deadline，再讀 packet delivery／expiry，再讀 Radio／state event，最後讀 endpoint J 與 bit/J；browser accepted 不等同 live measurement，fresh runner parity 待取得。</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P077｜匯入檢查：來源與單位逐層驗證</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匯入檔案先逐層驗證；任何失敗都保留原狀。</a:t>
            </a:r>
          </a:p>
        </p:txBody>
      </p:sp>
      <p:sp>
        <p:nvSpPr>
          <p:cNvPr id="6" name="Import validation step"/>
          <p:cNvSpPr/>
          <p:nvPr/>
        </p:nvSpPr>
        <p:spPr>
          <a:xfrm>
            <a:off x="621792" y="1627632"/>
            <a:ext cx="2395728" cy="202996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Import validation step heading"/>
          <p:cNvSpPr txBox="1"/>
          <p:nvPr/>
        </p:nvSpPr>
        <p:spPr>
          <a:xfrm>
            <a:off x="749808"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4967C2"/>
                </a:solidFill>
                <a:latin typeface="Times New Roman"/>
                <a:ea typeface="標楷體"/>
                <a:cs typeface="Times New Roman"/>
              </a:rPr>
              <a:t>01–02｜檔案</a:t>
            </a:r>
          </a:p>
        </p:txBody>
      </p:sp>
      <p:sp>
        <p:nvSpPr>
          <p:cNvPr id="8" name="Import validation step body"/>
          <p:cNvSpPr txBox="1"/>
          <p:nvPr/>
        </p:nvSpPr>
        <p:spPr>
          <a:xfrm>
            <a:off x="758952" y="2121408"/>
            <a:ext cx="2121408" cy="144475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schema／scenario_id</a:t>
            </a:r>
          </a:p>
        </p:txBody>
      </p:sp>
      <p:cxnSp>
        <p:nvCxnSpPr>
          <p:cNvPr id="9" name="Validation progression"/>
          <p:cNvCxnSpPr/>
          <p:nvPr/>
        </p:nvCxnSpPr>
        <p:spPr>
          <a:xfrm>
            <a:off x="3072384" y="2642616"/>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Import validation step"/>
          <p:cNvSpPr/>
          <p:nvPr/>
        </p:nvSpPr>
        <p:spPr>
          <a:xfrm>
            <a:off x="3474720" y="1627632"/>
            <a:ext cx="2395728" cy="2029968"/>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Import validation step heading"/>
          <p:cNvSpPr txBox="1"/>
          <p:nvPr/>
        </p:nvSpPr>
        <p:spPr>
          <a:xfrm>
            <a:off x="3602736"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660066"/>
                </a:solidFill>
                <a:latin typeface="Times New Roman"/>
                <a:ea typeface="標楷體"/>
                <a:cs typeface="Times New Roman"/>
              </a:rPr>
              <a:t>03–04｜來源</a:t>
            </a:r>
          </a:p>
        </p:txBody>
      </p:sp>
      <p:sp>
        <p:nvSpPr>
          <p:cNvPr id="12" name="Import validation step body"/>
          <p:cNvSpPr txBox="1"/>
          <p:nvPr/>
        </p:nvSpPr>
        <p:spPr>
          <a:xfrm>
            <a:off x="3611879" y="2121408"/>
            <a:ext cx="2121408" cy="144475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lineage／policy block</a:t>
            </a:r>
          </a:p>
        </p:txBody>
      </p:sp>
      <p:cxnSp>
        <p:nvCxnSpPr>
          <p:cNvPr id="13" name="Validation progression"/>
          <p:cNvCxnSpPr/>
          <p:nvPr/>
        </p:nvCxnSpPr>
        <p:spPr>
          <a:xfrm>
            <a:off x="5925312" y="2642616"/>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4" name="Import validation step"/>
          <p:cNvSpPr/>
          <p:nvPr/>
        </p:nvSpPr>
        <p:spPr>
          <a:xfrm>
            <a:off x="6327648" y="1627632"/>
            <a:ext cx="2395728" cy="202996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5" name="Import validation step heading"/>
          <p:cNvSpPr txBox="1"/>
          <p:nvPr/>
        </p:nvSpPr>
        <p:spPr>
          <a:xfrm>
            <a:off x="6455664"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007374"/>
                </a:solidFill>
                <a:latin typeface="Times New Roman"/>
                <a:ea typeface="標楷體"/>
                <a:cs typeface="Times New Roman"/>
              </a:rPr>
              <a:t>05–06｜單位</a:t>
            </a:r>
          </a:p>
        </p:txBody>
      </p:sp>
      <p:sp>
        <p:nvSpPr>
          <p:cNvPr id="16" name="Import validation step body"/>
          <p:cNvSpPr txBox="1"/>
          <p:nvPr/>
        </p:nvSpPr>
        <p:spPr>
          <a:xfrm>
            <a:off x="6464808" y="2121408"/>
            <a:ext cx="2121408" cy="144475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energy sum／packet legality</a:t>
            </a:r>
          </a:p>
        </p:txBody>
      </p:sp>
      <p:cxnSp>
        <p:nvCxnSpPr>
          <p:cNvPr id="17" name="Validation progression"/>
          <p:cNvCxnSpPr/>
          <p:nvPr/>
        </p:nvCxnSpPr>
        <p:spPr>
          <a:xfrm>
            <a:off x="8778240" y="2642616"/>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8" name="Import validation step"/>
          <p:cNvSpPr/>
          <p:nvPr/>
        </p:nvSpPr>
        <p:spPr>
          <a:xfrm>
            <a:off x="9180576" y="1627632"/>
            <a:ext cx="2395728" cy="2029968"/>
          </a:xfrm>
          <a:prstGeom prst="roundRect">
            <a:avLst/>
          </a:prstGeom>
          <a:solidFill>
            <a:srgbClr val="FDF9E2"/>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9" name="Import validation step heading"/>
          <p:cNvSpPr txBox="1"/>
          <p:nvPr/>
        </p:nvSpPr>
        <p:spPr>
          <a:xfrm>
            <a:off x="9308592" y="1700784"/>
            <a:ext cx="2139696" cy="38404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900" b="1" i="0">
                <a:solidFill>
                  <a:srgbClr val="846826"/>
                </a:solidFill>
                <a:latin typeface="Times New Roman"/>
                <a:ea typeface="標楷體"/>
                <a:cs typeface="Times New Roman"/>
              </a:rPr>
              <a:t>07｜主張</a:t>
            </a:r>
          </a:p>
        </p:txBody>
      </p:sp>
      <p:sp>
        <p:nvSpPr>
          <p:cNvPr id="20" name="Import validation step body"/>
          <p:cNvSpPr txBox="1"/>
          <p:nvPr/>
        </p:nvSpPr>
        <p:spPr>
          <a:xfrm>
            <a:off x="9317736" y="2121408"/>
            <a:ext cx="2121408" cy="1444752"/>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000" b="0" i="0">
                <a:solidFill>
                  <a:srgbClr val="25324A"/>
                </a:solidFill>
                <a:latin typeface="Times New Roman"/>
                <a:ea typeface="標楷體"/>
                <a:cs typeface="Times New Roman"/>
              </a:rPr>
              <a:t>scope／workbook record</a:t>
            </a:r>
          </a:p>
        </p:txBody>
      </p:sp>
      <p:sp>
        <p:nvSpPr>
          <p:cNvPr id="21" name="Fail closed boundary"/>
          <p:cNvSpPr/>
          <p:nvPr/>
        </p:nvSpPr>
        <p:spPr>
          <a:xfrm>
            <a:off x="877824" y="4023360"/>
            <a:ext cx="10387584" cy="640080"/>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FAIL CLOSED｜任一層失敗：session／workbook 不變；保存錯誤與 path，回 matching artifact。</a:t>
            </a:r>
          </a:p>
        </p:txBody>
      </p:sp>
      <p:sp>
        <p:nvSpPr>
          <p:cNvPr id="22" name="Scenario identity field"/>
          <p:cNvSpPr/>
          <p:nvPr/>
        </p:nvSpPr>
        <p:spPr>
          <a:xfrm>
            <a:off x="749808" y="4846320"/>
            <a:ext cx="10698480" cy="914400"/>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scenario_id</a:t>
            </a:r>
            <a:r>
              <a:rPr sz="1800" b="0" i="0">
                <a:solidFill>
                  <a:srgbClr val="25324A"/>
                </a:solidFill>
                <a:latin typeface="Times New Roman"/>
                <a:ea typeface="標楷體"/>
                <a:cs typeface="Times New Roman"/>
              </a:rPr>
              <a:t>｜情境識別碼</a:t>
            </a:r>
          </a:p>
          <a:p>
            <a:pPr algn="l">
              <a:lnSpc>
                <a:spcPct val="84000"/>
              </a:lnSpc>
              <a:spcBef>
                <a:spcPts val="0"/>
              </a:spcBef>
              <a:spcAft>
                <a:spcPts val="0"/>
              </a:spcAft>
            </a:pPr>
            <a:r>
              <a:rPr sz="1800" b="0" i="0">
                <a:solidFill>
                  <a:srgbClr val="25324A"/>
                </a:solidFill>
                <a:latin typeface="Times New Roman"/>
                <a:ea typeface="標楷體"/>
                <a:cs typeface="Times New Roman"/>
              </a:rPr>
              <a:t>來源 scenario package；值型態 identifier；作用 綁定同一情境；相同才可比較，缺失或不符即停止。七層驗證完整後才 materialize replay。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P078｜事件重播：逐格讀取佇列、動作、狀態、封包</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畫面每一格都對應同一條事件記錄；一起讀動作與封包結果。</a:t>
            </a:r>
          </a:p>
        </p:txBody>
      </p:sp>
      <p:sp>
        <p:nvSpPr>
          <p:cNvPr id="6" name="Replay screenshot panel"/>
          <p:cNvSpPr/>
          <p:nvPr/>
        </p:nvSpPr>
        <p:spPr>
          <a:xfrm>
            <a:off x="694944" y="1609344"/>
            <a:ext cx="5522976" cy="2395728"/>
          </a:xfrm>
          <a:prstGeom prst="roundRect">
            <a:avLst/>
          </a:prstGeom>
          <a:solidFill>
            <a:srgbClr val="F2F4F8"/>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pic>
        <p:nvPicPr>
          <p:cNvPr id="7" name="Current replay frame crop" descr="replay-frame.png"/>
          <p:cNvPicPr>
            <a:picLocks noChangeAspect="1"/>
          </p:cNvPicPr>
          <p:nvPr/>
        </p:nvPicPr>
        <p:blipFill>
          <a:blip r:embed="rId2"/>
          <a:stretch>
            <a:fillRect/>
          </a:stretch>
        </p:blipFill>
        <p:spPr>
          <a:xfrm>
            <a:off x="822960" y="1755648"/>
            <a:ext cx="5266944" cy="2066543"/>
          </a:xfrm>
          <a:prstGeom prst="rect">
            <a:avLst/>
          </a:prstGeom>
        </p:spPr>
      </p:pic>
      <p:sp>
        <p:nvSpPr>
          <p:cNvPr id="8" name="Replay causal path"/>
          <p:cNvSpPr/>
          <p:nvPr/>
        </p:nvSpPr>
        <p:spPr>
          <a:xfrm>
            <a:off x="6510528" y="1609344"/>
            <a:ext cx="4937760" cy="2395728"/>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9" name="Replay path heading"/>
          <p:cNvSpPr txBox="1"/>
          <p:nvPr/>
        </p:nvSpPr>
        <p:spPr>
          <a:xfrm>
            <a:off x="6748272" y="1792224"/>
            <a:ext cx="4462272" cy="310896"/>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007374"/>
                </a:solidFill>
                <a:latin typeface="Times New Roman"/>
                <a:ea typeface="標楷體"/>
                <a:cs typeface="Times New Roman"/>
              </a:rPr>
              <a:t>事件讀法</a:t>
            </a:r>
          </a:p>
        </p:txBody>
      </p:sp>
      <p:sp>
        <p:nvSpPr>
          <p:cNvPr id="10" name="Replay path step"/>
          <p:cNvSpPr/>
          <p:nvPr/>
        </p:nvSpPr>
        <p:spPr>
          <a:xfrm>
            <a:off x="6821424" y="2212848"/>
            <a:ext cx="4315968" cy="5303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Queue／Action</a:t>
            </a:r>
          </a:p>
          <a:p>
            <a:pPr algn="ctr">
              <a:lnSpc>
                <a:spcPct val="84000"/>
              </a:lnSpc>
              <a:spcBef>
                <a:spcPts val="0"/>
              </a:spcBef>
              <a:spcAft>
                <a:spcPts val="0"/>
              </a:spcAft>
            </a:pPr>
            <a:r>
              <a:rPr sz="1800" b="0" i="0">
                <a:solidFill>
                  <a:srgbClr val="25324A"/>
                </a:solidFill>
                <a:latin typeface="Times New Roman"/>
                <a:ea typeface="標楷體"/>
                <a:cs typeface="Times New Roman"/>
              </a:rPr>
              <a:t>佇列 → policy 動作</a:t>
            </a:r>
          </a:p>
        </p:txBody>
      </p:sp>
      <p:sp>
        <p:nvSpPr>
          <p:cNvPr id="11" name="Replay path step"/>
          <p:cNvSpPr/>
          <p:nvPr/>
        </p:nvSpPr>
        <p:spPr>
          <a:xfrm>
            <a:off x="6821424" y="2779776"/>
            <a:ext cx="4315968" cy="5303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Radio／state</a:t>
            </a:r>
          </a:p>
          <a:p>
            <a:pPr algn="ctr">
              <a:lnSpc>
                <a:spcPct val="84000"/>
              </a:lnSpc>
              <a:spcBef>
                <a:spcPts val="0"/>
              </a:spcBef>
              <a:spcAft>
                <a:spcPts val="0"/>
              </a:spcAft>
            </a:pPr>
            <a:r>
              <a:rPr sz="1800" b="0" i="0">
                <a:solidFill>
                  <a:srgbClr val="25324A"/>
                </a:solidFill>
                <a:latin typeface="Times New Roman"/>
                <a:ea typeface="標楷體"/>
                <a:cs typeface="Times New Roman"/>
              </a:rPr>
              <a:t>狀態：SLEEP／TX／RX</a:t>
            </a:r>
          </a:p>
        </p:txBody>
      </p:sp>
      <p:sp>
        <p:nvSpPr>
          <p:cNvPr id="12" name="Replay path step"/>
          <p:cNvSpPr/>
          <p:nvPr/>
        </p:nvSpPr>
        <p:spPr>
          <a:xfrm>
            <a:off x="6821424" y="3346704"/>
            <a:ext cx="4315968"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Packet／service</a:t>
            </a:r>
          </a:p>
          <a:p>
            <a:pPr algn="ctr">
              <a:lnSpc>
                <a:spcPct val="84000"/>
              </a:lnSpc>
              <a:spcBef>
                <a:spcPts val="0"/>
              </a:spcBef>
              <a:spcAft>
                <a:spcPts val="0"/>
              </a:spcAft>
            </a:pPr>
            <a:r>
              <a:rPr sz="1800" b="0" i="0">
                <a:solidFill>
                  <a:srgbClr val="25324A"/>
                </a:solidFill>
                <a:latin typeface="Times New Roman"/>
                <a:ea typeface="標楷體"/>
                <a:cs typeface="Times New Roman"/>
              </a:rPr>
              <a:t>送達／過期 → 期限／J</a:t>
            </a:r>
          </a:p>
        </p:txBody>
      </p:sp>
      <p:sp>
        <p:nvSpPr>
          <p:cNvPr id="13" name="Replay boundary"/>
          <p:cNvSpPr/>
          <p:nvPr/>
        </p:nvSpPr>
        <p:spPr>
          <a:xfrm>
            <a:off x="877824" y="4242816"/>
            <a:ext cx="10387584" cy="566928"/>
          </a:xfrm>
          <a:prstGeom prst="roundRect">
            <a:avLst/>
          </a:prstGeom>
          <a:solidFill>
            <a:srgbClr val="FAF7E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900" b="1" i="0">
                <a:solidFill>
                  <a:srgbClr val="25324A"/>
                </a:solidFill>
                <a:latin typeface="Times New Roman"/>
                <a:ea typeface="標楷體"/>
                <a:cs typeface="Times New Roman"/>
              </a:rPr>
              <a:t>重播邊界｜讀取已驗證 event ledger，不重新執行 policy，也不在瀏覽器推導新數值。</a:t>
            </a:r>
          </a:p>
        </p:txBody>
      </p:sp>
      <p:sp>
        <p:nvSpPr>
          <p:cNvPr id="14" name="Replay fields"/>
          <p:cNvSpPr/>
          <p:nvPr/>
        </p:nvSpPr>
        <p:spPr>
          <a:xfrm>
            <a:off x="749808" y="4846320"/>
            <a:ext cx="10698480" cy="914400"/>
          </a:xfrm>
          <a:prstGeom prst="roundRect">
            <a:avLst/>
          </a:prstGeom>
          <a:solidFill>
            <a:srgbClr val="F2F4F8"/>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0">
                <a:solidFill>
                  <a:srgbClr val="25324A"/>
                </a:solidFill>
                <a:latin typeface="Times New Roman"/>
                <a:ea typeface="標楷體"/>
                <a:cs typeface="Times New Roman"/>
              </a:rPr>
              <a:t>欄位讀法｜來源、單位、高低</a:t>
            </a:r>
          </a:p>
          <a:p>
            <a:pPr algn="l">
              <a:lnSpc>
                <a:spcPct val="84000"/>
              </a:lnSpc>
              <a:spcBef>
                <a:spcPts val="0"/>
              </a:spcBef>
              <a:spcAft>
                <a:spcPts val="0"/>
              </a:spcAft>
            </a:pPr>
            <a:r>
              <a:rPr sz="1800" b="0" i="1">
                <a:solidFill>
                  <a:srgbClr val="25324A"/>
                </a:solidFill>
                <a:latin typeface="Times New Roman"/>
                <a:ea typeface="標楷體"/>
                <a:cs typeface="Times New Roman"/>
              </a:rPr>
              <a:t>Queue</a:t>
            </a:r>
            <a:r>
              <a:rPr sz="1800" b="0" i="0">
                <a:solidFill>
                  <a:srgbClr val="25324A"/>
                </a:solidFill>
                <a:latin typeface="Times New Roman"/>
                <a:ea typeface="標楷體"/>
                <a:cs typeface="Times New Roman"/>
              </a:rPr>
              <a:t>：frame，count，越高待處理越多；</a:t>
            </a:r>
            <a:r>
              <a:rPr sz="1800" b="0" i="1">
                <a:solidFill>
                  <a:srgbClr val="25324A"/>
                </a:solidFill>
                <a:latin typeface="Times New Roman"/>
                <a:ea typeface="標楷體"/>
                <a:cs typeface="Times New Roman"/>
              </a:rPr>
              <a:t>Action</a:t>
            </a:r>
            <a:r>
              <a:rPr sz="1800" b="0" i="0">
                <a:solidFill>
                  <a:srgbClr val="25324A"/>
                </a:solidFill>
                <a:latin typeface="Times New Roman"/>
                <a:ea typeface="標楷體"/>
                <a:cs typeface="Times New Roman"/>
              </a:rPr>
              <a:t>：policy token，對回程式分支；</a:t>
            </a:r>
            <a:r>
              <a:rPr sz="1800" b="0" i="1">
                <a:solidFill>
                  <a:srgbClr val="25324A"/>
                </a:solidFill>
                <a:latin typeface="Times New Roman"/>
                <a:ea typeface="標楷體"/>
                <a:cs typeface="Times New Roman"/>
              </a:rPr>
              <a:t>Radio</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state</a:t>
            </a:r>
            <a:r>
              <a:rPr sz="1800" b="0" i="0">
                <a:solidFill>
                  <a:srgbClr val="25324A"/>
                </a:solidFill>
                <a:latin typeface="Times New Roman"/>
                <a:ea typeface="標楷體"/>
                <a:cs typeface="Times New Roman"/>
              </a:rPr>
              <a:t>：frame event，確認 SLEEP／TX／RX；</a:t>
            </a:r>
            <a:r>
              <a:rPr sz="1800" b="0" i="1">
                <a:solidFill>
                  <a:srgbClr val="25324A"/>
                </a:solidFill>
                <a:latin typeface="Times New Roman"/>
                <a:ea typeface="標楷體"/>
                <a:cs typeface="Times New Roman"/>
              </a:rPr>
              <a:t>endpoint J</a:t>
            </a:r>
            <a:r>
              <a:rPr sz="1800" b="0" i="0">
                <a:solidFill>
                  <a:srgbClr val="25324A"/>
                </a:solidFill>
                <a:latin typeface="Times New Roman"/>
                <a:ea typeface="標楷體"/>
                <a:cs typeface="Times New Roman"/>
              </a:rPr>
              <a:t>：ledger，J，越低耗能較少，但服務 FAIL 仍先保留。</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P079｜比較紀錄：四個角色共用來源鏈</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比較紀錄把四個角色放在同一條來源鏈，方便重開核對。</a:t>
            </a:r>
          </a:p>
        </p:txBody>
      </p:sp>
      <p:sp>
        <p:nvSpPr>
          <p:cNvPr id="6" name="Ledger screenshot panel"/>
          <p:cNvSpPr/>
          <p:nvPr/>
        </p:nvSpPr>
        <p:spPr>
          <a:xfrm>
            <a:off x="694944" y="1609344"/>
            <a:ext cx="5522976" cy="2395728"/>
          </a:xfrm>
          <a:prstGeom prst="roundRect">
            <a:avLst/>
          </a:prstGeom>
          <a:solidFill>
            <a:srgbClr val="F2F4F8"/>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pic>
        <p:nvPicPr>
          <p:cNvPr id="7" name="Current execution ledger crop" descr="ledger.png"/>
          <p:cNvPicPr>
            <a:picLocks noChangeAspect="1"/>
          </p:cNvPicPr>
          <p:nvPr/>
        </p:nvPicPr>
        <p:blipFill>
          <a:blip r:embed="rId2"/>
          <a:stretch>
            <a:fillRect/>
          </a:stretch>
        </p:blipFill>
        <p:spPr>
          <a:xfrm>
            <a:off x="822960" y="1773936"/>
            <a:ext cx="5266944" cy="1389888"/>
          </a:xfrm>
          <a:prstGeom prst="rect">
            <a:avLst/>
          </a:prstGeom>
        </p:spPr>
      </p:pic>
      <p:sp>
        <p:nvSpPr>
          <p:cNvPr id="8" name="Ledger evidence label"/>
          <p:cNvSpPr txBox="1"/>
          <p:nvPr/>
        </p:nvSpPr>
        <p:spPr>
          <a:xfrm>
            <a:off x="877824" y="3273552"/>
            <a:ext cx="5157216" cy="292608"/>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1800" b="1" i="0">
                <a:solidFill>
                  <a:srgbClr val="65758B"/>
                </a:solidFill>
                <a:latin typeface="Times New Roman"/>
                <a:ea typeface="標楷體"/>
                <a:cs typeface="Times New Roman"/>
              </a:rPr>
              <a:t>current browser record｜execution ledger</a:t>
            </a:r>
          </a:p>
        </p:txBody>
      </p:sp>
      <p:sp>
        <p:nvSpPr>
          <p:cNvPr id="9" name="Workbook spread"/>
          <p:cNvSpPr/>
          <p:nvPr/>
        </p:nvSpPr>
        <p:spPr>
          <a:xfrm>
            <a:off x="6510528" y="1609344"/>
            <a:ext cx="4937760" cy="2395728"/>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0" name="Workbook spread heading"/>
          <p:cNvSpPr txBox="1"/>
          <p:nvPr/>
        </p:nvSpPr>
        <p:spPr>
          <a:xfrm>
            <a:off x="6784848" y="1792224"/>
            <a:ext cx="4389120" cy="310896"/>
          </a:xfrm>
          <a:prstGeom prst="rect">
            <a:avLst/>
          </a:prstGeom>
          <a:noFill/>
          <a:ln>
            <a:noFill/>
          </a:ln>
        </p:spPr>
        <p:txBody>
          <a:bodyPr wrap="square" lIns="73152" tIns="36576" rIns="73152" bIns="36576" anchor="ctr">
            <a:spAutoFit/>
          </a:bodyPr>
          <a:lstStyle/>
          <a:p>
            <a:pPr algn="ctr">
              <a:lnSpc>
                <a:spcPct val="100000"/>
              </a:lnSpc>
              <a:spcBef>
                <a:spcPts val="0"/>
              </a:spcBef>
              <a:spcAft>
                <a:spcPts val="0"/>
              </a:spcAft>
            </a:pPr>
            <a:r>
              <a:rPr sz="2200" b="1" i="0">
                <a:solidFill>
                  <a:srgbClr val="4967C2"/>
                </a:solidFill>
                <a:latin typeface="Times New Roman"/>
                <a:ea typeface="標楷體"/>
                <a:cs typeface="Times New Roman"/>
              </a:rPr>
              <a:t>四個角色</a:t>
            </a:r>
          </a:p>
        </p:txBody>
      </p:sp>
      <p:sp>
        <p:nvSpPr>
          <p:cNvPr id="11" name="Workbook role"/>
          <p:cNvSpPr/>
          <p:nvPr/>
        </p:nvSpPr>
        <p:spPr>
          <a:xfrm>
            <a:off x="6803136" y="2267712"/>
            <a:ext cx="1956816" cy="53035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基準組</a:t>
            </a:r>
          </a:p>
          <a:p>
            <a:pPr algn="ctr">
              <a:lnSpc>
                <a:spcPct val="84000"/>
              </a:lnSpc>
              <a:spcBef>
                <a:spcPts val="0"/>
              </a:spcBef>
              <a:spcAft>
                <a:spcPts val="0"/>
              </a:spcAft>
            </a:pPr>
            <a:r>
              <a:rPr sz="1800" b="0" i="0">
                <a:solidFill>
                  <a:srgbClr val="25324A"/>
                </a:solidFill>
                <a:latin typeface="Times New Roman"/>
                <a:ea typeface="標楷體"/>
                <a:cs typeface="Times New Roman"/>
              </a:rPr>
              <a:t>baseline 結果</a:t>
            </a:r>
          </a:p>
        </p:txBody>
      </p:sp>
      <p:sp>
        <p:nvSpPr>
          <p:cNvPr id="12" name="Workbook role"/>
          <p:cNvSpPr/>
          <p:nvPr/>
        </p:nvSpPr>
        <p:spPr>
          <a:xfrm>
            <a:off x="9015984" y="2267712"/>
            <a:ext cx="1956816" cy="53035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候選組</a:t>
            </a:r>
          </a:p>
          <a:p>
            <a:pPr algn="ctr">
              <a:lnSpc>
                <a:spcPct val="84000"/>
              </a:lnSpc>
              <a:spcBef>
                <a:spcPts val="0"/>
              </a:spcBef>
              <a:spcAft>
                <a:spcPts val="0"/>
              </a:spcAft>
            </a:pPr>
            <a:r>
              <a:rPr sz="1800" b="0" i="0">
                <a:solidFill>
                  <a:srgbClr val="25324A"/>
                </a:solidFill>
                <a:latin typeface="Times New Roman"/>
                <a:ea typeface="標楷體"/>
                <a:cs typeface="Times New Roman"/>
              </a:rPr>
              <a:t>candidate 修改</a:t>
            </a:r>
          </a:p>
        </p:txBody>
      </p:sp>
      <p:sp>
        <p:nvSpPr>
          <p:cNvPr id="13" name="Workbook role"/>
          <p:cNvSpPr/>
          <p:nvPr/>
        </p:nvSpPr>
        <p:spPr>
          <a:xfrm>
            <a:off x="6803136" y="2962656"/>
            <a:ext cx="1956816" cy="53035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修訂組</a:t>
            </a:r>
          </a:p>
          <a:p>
            <a:pPr algn="ctr">
              <a:lnSpc>
                <a:spcPct val="84000"/>
              </a:lnSpc>
              <a:spcBef>
                <a:spcPts val="0"/>
              </a:spcBef>
              <a:spcAft>
                <a:spcPts val="0"/>
              </a:spcAft>
            </a:pPr>
            <a:r>
              <a:rPr sz="1800" b="0" i="0">
                <a:solidFill>
                  <a:srgbClr val="25324A"/>
                </a:solidFill>
                <a:latin typeface="Times New Roman"/>
                <a:ea typeface="標楷體"/>
                <a:cs typeface="Times New Roman"/>
              </a:rPr>
              <a:t>revision gate</a:t>
            </a:r>
          </a:p>
        </p:txBody>
      </p:sp>
      <p:sp>
        <p:nvSpPr>
          <p:cNvPr id="14" name="Workbook role"/>
          <p:cNvSpPr/>
          <p:nvPr/>
        </p:nvSpPr>
        <p:spPr>
          <a:xfrm>
            <a:off x="9015984" y="2962656"/>
            <a:ext cx="1956816" cy="530352"/>
          </a:xfrm>
          <a:prstGeom prst="roundRect">
            <a:avLst/>
          </a:prstGeom>
          <a:solidFill>
            <a:srgbClr val="FDEFEF"/>
          </a:solidFill>
          <a:ln w="13970">
            <a:solidFill>
              <a:srgbClr val="992A2A"/>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ctr">
              <a:lnSpc>
                <a:spcPct val="84000"/>
              </a:lnSpc>
              <a:spcBef>
                <a:spcPts val="0"/>
              </a:spcBef>
              <a:spcAft>
                <a:spcPts val="0"/>
              </a:spcAft>
            </a:pPr>
            <a:r>
              <a:rPr sz="1800" b="0" i="0">
                <a:solidFill>
                  <a:srgbClr val="25324A"/>
                </a:solidFill>
                <a:latin typeface="Times New Roman"/>
                <a:ea typeface="標楷體"/>
                <a:cs typeface="Times New Roman"/>
              </a:rPr>
              <a:t>保留組</a:t>
            </a:r>
          </a:p>
          <a:p>
            <a:pPr algn="ctr">
              <a:lnSpc>
                <a:spcPct val="84000"/>
              </a:lnSpc>
              <a:spcBef>
                <a:spcPts val="0"/>
              </a:spcBef>
              <a:spcAft>
                <a:spcPts val="0"/>
              </a:spcAft>
            </a:pPr>
            <a:r>
              <a:rPr sz="1800" b="0" i="0">
                <a:solidFill>
                  <a:srgbClr val="25324A"/>
                </a:solidFill>
                <a:latin typeface="Times New Roman"/>
                <a:ea typeface="標楷體"/>
                <a:cs typeface="Times New Roman"/>
              </a:rPr>
              <a:t>surprise 邊界</a:t>
            </a:r>
          </a:p>
        </p:txBody>
      </p:sp>
      <p:sp>
        <p:nvSpPr>
          <p:cNvPr id="15" name="Workbook record fields"/>
          <p:cNvSpPr/>
          <p:nvPr/>
        </p:nvSpPr>
        <p:spPr>
          <a:xfrm>
            <a:off x="877824" y="4242816"/>
            <a:ext cx="10387584" cy="566928"/>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1800" b="1" i="0">
                <a:solidFill>
                  <a:srgbClr val="25324A"/>
                </a:solidFill>
                <a:latin typeface="Times New Roman"/>
                <a:ea typeface="標楷體"/>
                <a:cs typeface="Times New Roman"/>
              </a:rPr>
              <a:t>比較紀錄｜保存 prediction、changed line、result_path、replay、gate、endpoint scope 與 recovery note。</a:t>
            </a:r>
          </a:p>
        </p:txBody>
      </p:sp>
      <p:sp>
        <p:nvSpPr>
          <p:cNvPr id="16" name="Workbook definition"/>
          <p:cNvSpPr/>
          <p:nvPr/>
        </p:nvSpPr>
        <p:spPr>
          <a:xfrm>
            <a:off x="749808" y="4846320"/>
            <a:ext cx="10698480" cy="914400"/>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provenance</a:t>
            </a:r>
            <a:r>
              <a:rPr sz="1800" b="0" i="0">
                <a:solidFill>
                  <a:srgbClr val="25324A"/>
                </a:solidFill>
                <a:latin typeface="Times New Roman"/>
                <a:ea typeface="標楷體"/>
                <a:cs typeface="Times New Roman"/>
              </a:rPr>
              <a:t>｜來源鏈</a:t>
            </a:r>
          </a:p>
          <a:p>
            <a:pPr algn="l">
              <a:lnSpc>
                <a:spcPct val="84000"/>
              </a:lnSpc>
              <a:spcBef>
                <a:spcPts val="0"/>
              </a:spcBef>
              <a:spcAft>
                <a:spcPts val="0"/>
              </a:spcAft>
            </a:pPr>
            <a:r>
              <a:rPr sz="1800" b="0" i="0">
                <a:solidFill>
                  <a:srgbClr val="25324A"/>
                </a:solidFill>
                <a:latin typeface="Times New Roman"/>
                <a:ea typeface="標楷體"/>
                <a:cs typeface="Times New Roman"/>
              </a:rPr>
              <a:t>來源 /course workbook；值型態 saved record；作用 保存四個角色的 lineage；缺必要 evidence 就維持 INCOMPLETE，不補寫答案。</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ative layout2 title"/>
          <p:cNvSpPr>
            <a:spLocks noGrp="1"/>
          </p:cNvSpPr>
          <p:nvPr>
            <p:ph type="title"/>
          </p:nvPr>
        </p:nvSpPr>
        <p:spPr>
          <a:xfrm>
            <a:off x="656591" y="187007"/>
            <a:ext cx="9462768" cy="480060"/>
          </a:xfrm>
        </p:spPr>
        <p:txBody>
          <a:bodyPr wrap="square" lIns="18288" tIns="0" rIns="18288" bIns="0" anchor="ctr"/>
          <a:lstStyle/>
          <a:p>
            <a:pPr algn="l">
              <a:lnSpc>
                <a:spcPct val="100000"/>
              </a:lnSpc>
              <a:spcBef>
                <a:spcPts val="0"/>
              </a:spcBef>
              <a:spcAft>
                <a:spcPts val="0"/>
              </a:spcAft>
            </a:pPr>
            <a:r>
              <a:rPr sz="2800" b="1" i="0">
                <a:solidFill>
                  <a:srgbClr val="25356B"/>
                </a:solidFill>
                <a:latin typeface="Times New Roman"/>
                <a:ea typeface="標楷體"/>
                <a:cs typeface="Times New Roman"/>
              </a:rPr>
              <a:t>P080｜保存與重開：先核對身份，再恢復來源鏈</a:t>
            </a:r>
          </a:p>
        </p:txBody>
      </p:sp>
      <p:sp>
        <p:nvSpPr>
          <p:cNvPr id="4" name="Content Placeholder 3"/>
          <p:cNvSpPr>
            <a:spLocks noGrp="1"/>
          </p:cNvSpPr>
          <p:nvPr>
            <p:ph idx="10"/>
          </p:nvPr>
        </p:nvSpPr>
        <p:spPr/>
        <p:txBody>
          <a:bodyPr/>
          <a:lstStyle/>
          <a:p/>
        </p:txBody>
      </p:sp>
      <p:sp>
        <p:nvSpPr>
          <p:cNvPr id="5" name="Teaching proposition"/>
          <p:cNvSpPr txBox="1"/>
          <p:nvPr/>
        </p:nvSpPr>
        <p:spPr>
          <a:xfrm>
            <a:off x="749808" y="850392"/>
            <a:ext cx="10698480" cy="411480"/>
          </a:xfrm>
          <a:prstGeom prst="rect">
            <a:avLst/>
          </a:prstGeom>
          <a:noFill/>
          <a:ln>
            <a:noFill/>
          </a:ln>
        </p:spPr>
        <p:txBody>
          <a:bodyPr wrap="square" lIns="18288" tIns="0" rIns="18288" bIns="0" anchor="ctr">
            <a:spAutoFit/>
          </a:bodyPr>
          <a:lstStyle/>
          <a:p>
            <a:pPr algn="ctr">
              <a:lnSpc>
                <a:spcPct val="100000"/>
              </a:lnSpc>
              <a:spcBef>
                <a:spcPts val="0"/>
              </a:spcBef>
              <a:spcAft>
                <a:spcPts val="0"/>
              </a:spcAft>
            </a:pPr>
            <a:r>
              <a:rPr sz="2400" b="1" i="0">
                <a:solidFill>
                  <a:srgbClr val="25356B"/>
                </a:solidFill>
                <a:latin typeface="Times New Roman"/>
                <a:ea typeface="標楷體"/>
                <a:cs typeface="Times New Roman"/>
              </a:rPr>
              <a:t>保存、關閉、重開都先核對身份，再恢復同一條來源鏈。</a:t>
            </a:r>
          </a:p>
        </p:txBody>
      </p:sp>
      <p:sp>
        <p:nvSpPr>
          <p:cNvPr id="6" name="Reopen loop step"/>
          <p:cNvSpPr/>
          <p:nvPr/>
        </p:nvSpPr>
        <p:spPr>
          <a:xfrm>
            <a:off x="768096" y="1627632"/>
            <a:ext cx="3273552" cy="1627632"/>
          </a:xfrm>
          <a:prstGeom prst="roundRect">
            <a:avLst/>
          </a:prstGeom>
          <a:solidFill>
            <a:srgbClr val="ECF1FE"/>
          </a:solidFill>
          <a:ln w="13970">
            <a:solidFill>
              <a:srgbClr val="4967C2"/>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7" name="Reopen loop step heading"/>
          <p:cNvSpPr txBox="1"/>
          <p:nvPr/>
        </p:nvSpPr>
        <p:spPr>
          <a:xfrm>
            <a:off x="896112" y="1700784"/>
            <a:ext cx="3017520"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1" i="0">
                <a:solidFill>
                  <a:srgbClr val="4967C2"/>
                </a:solidFill>
                <a:latin typeface="Times New Roman"/>
                <a:ea typeface="標楷體"/>
                <a:cs typeface="Times New Roman"/>
              </a:rPr>
              <a:t>01｜保存 SAVE</a:t>
            </a:r>
          </a:p>
        </p:txBody>
      </p:sp>
      <p:sp>
        <p:nvSpPr>
          <p:cNvPr id="8" name="Reopen loop step body"/>
          <p:cNvSpPr txBox="1"/>
          <p:nvPr/>
        </p:nvSpPr>
        <p:spPr>
          <a:xfrm>
            <a:off x="905256" y="2121408"/>
            <a:ext cx="2999232" cy="1042416"/>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保存預測＋結果／重播</a:t>
            </a:r>
          </a:p>
        </p:txBody>
      </p:sp>
      <p:cxnSp>
        <p:nvCxnSpPr>
          <p:cNvPr id="9" name="Reopen loop connector"/>
          <p:cNvCxnSpPr/>
          <p:nvPr/>
        </p:nvCxnSpPr>
        <p:spPr>
          <a:xfrm>
            <a:off x="4114800" y="2441448"/>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0" name="Reopen loop step"/>
          <p:cNvSpPr/>
          <p:nvPr/>
        </p:nvSpPr>
        <p:spPr>
          <a:xfrm>
            <a:off x="4425696" y="1627632"/>
            <a:ext cx="3273552" cy="1627632"/>
          </a:xfrm>
          <a:prstGeom prst="roundRect">
            <a:avLst/>
          </a:prstGeom>
          <a:solidFill>
            <a:srgbClr val="F4EDF7"/>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1" name="Reopen loop step heading"/>
          <p:cNvSpPr txBox="1"/>
          <p:nvPr/>
        </p:nvSpPr>
        <p:spPr>
          <a:xfrm>
            <a:off x="4553712" y="1700784"/>
            <a:ext cx="3017520"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1" i="0">
                <a:solidFill>
                  <a:srgbClr val="660066"/>
                </a:solidFill>
                <a:latin typeface="Times New Roman"/>
                <a:ea typeface="標楷體"/>
                <a:cs typeface="Times New Roman"/>
              </a:rPr>
              <a:t>02｜關閉 CLOSE</a:t>
            </a:r>
          </a:p>
        </p:txBody>
      </p:sp>
      <p:sp>
        <p:nvSpPr>
          <p:cNvPr id="12" name="Reopen loop step body"/>
          <p:cNvSpPr txBox="1"/>
          <p:nvPr/>
        </p:nvSpPr>
        <p:spPr>
          <a:xfrm>
            <a:off x="4562856" y="2121408"/>
            <a:ext cx="2999232" cy="1042416"/>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不改 runner 檔案</a:t>
            </a:r>
          </a:p>
        </p:txBody>
      </p:sp>
      <p:cxnSp>
        <p:nvCxnSpPr>
          <p:cNvPr id="13" name="Reopen loop connector"/>
          <p:cNvCxnSpPr/>
          <p:nvPr/>
        </p:nvCxnSpPr>
        <p:spPr>
          <a:xfrm>
            <a:off x="7772400" y="2441448"/>
            <a:ext cx="274320" cy="0"/>
          </a:xfrm>
          <a:prstGeom prst="line">
            <a:avLst/>
          </a:prstGeom>
          <a:ln w="25400">
            <a:solidFill>
              <a:srgbClr val="25356B"/>
            </a:solidFill>
          </a:ln>
        </p:spPr>
        <p:style>
          <a:lnRef idx="2">
            <a:schemeClr val="accent1"/>
          </a:lnRef>
          <a:fillRef idx="0">
            <a:schemeClr val="accent1"/>
          </a:fillRef>
          <a:effectRef idx="1">
            <a:schemeClr val="accent1"/>
          </a:effectRef>
          <a:fontRef idx="minor">
            <a:schemeClr val="tx1"/>
          </a:fontRef>
        </p:style>
      </p:cxnSp>
      <p:sp>
        <p:nvSpPr>
          <p:cNvPr id="14" name="Reopen loop step"/>
          <p:cNvSpPr/>
          <p:nvPr/>
        </p:nvSpPr>
        <p:spPr>
          <a:xfrm>
            <a:off x="8083296" y="1627632"/>
            <a:ext cx="3273552" cy="1627632"/>
          </a:xfrm>
          <a:prstGeom prst="roundRect">
            <a:avLst/>
          </a:prstGeom>
          <a:solidFill>
            <a:srgbClr val="E8F7F4"/>
          </a:solidFill>
          <a:ln w="13970">
            <a:solidFill>
              <a:srgbClr val="007374"/>
            </a:solidFill>
          </a:ln>
        </p:spPr>
        <p:style>
          <a:lnRef idx="1">
            <a:schemeClr val="accent1"/>
          </a:lnRef>
          <a:fillRef idx="3">
            <a:schemeClr val="accent1"/>
          </a:fillRef>
          <a:effectRef idx="2">
            <a:schemeClr val="accent1"/>
          </a:effectRef>
          <a:fontRef idx="minor">
            <a:schemeClr val="lt1"/>
          </a:fontRef>
        </p:style>
        <p:txBody>
          <a:bodyPr rtlCol="0" anchor="t" wrap="square" lIns="73152" tIns="36576" rIns="73152" bIns="36576"/>
          <a:lstStyle/>
          <a:p>
            <a:pPr algn="l">
              <a:lnSpc>
                <a:spcPct val="100000"/>
              </a:lnSpc>
              <a:spcBef>
                <a:spcPts val="0"/>
              </a:spcBef>
              <a:spcAft>
                <a:spcPts val="0"/>
              </a:spcAft>
            </a:pPr>
          </a:p>
        </p:txBody>
      </p:sp>
      <p:sp>
        <p:nvSpPr>
          <p:cNvPr id="15" name="Reopen loop step heading"/>
          <p:cNvSpPr txBox="1"/>
          <p:nvPr/>
        </p:nvSpPr>
        <p:spPr>
          <a:xfrm>
            <a:off x="8211312" y="1700784"/>
            <a:ext cx="3017520" cy="384048"/>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1" i="0">
                <a:solidFill>
                  <a:srgbClr val="007374"/>
                </a:solidFill>
                <a:latin typeface="Times New Roman"/>
                <a:ea typeface="標楷體"/>
                <a:cs typeface="Times New Roman"/>
              </a:rPr>
              <a:t>03｜重開</a:t>
            </a:r>
          </a:p>
        </p:txBody>
      </p:sp>
      <p:sp>
        <p:nvSpPr>
          <p:cNvPr id="16" name="Reopen loop step body"/>
          <p:cNvSpPr txBox="1"/>
          <p:nvPr/>
        </p:nvSpPr>
        <p:spPr>
          <a:xfrm>
            <a:off x="8220456" y="2121408"/>
            <a:ext cx="2999232" cy="1042416"/>
          </a:xfrm>
          <a:prstGeom prst="rect">
            <a:avLst/>
          </a:prstGeom>
          <a:noFill/>
          <a:ln>
            <a:noFill/>
          </a:ln>
        </p:spPr>
        <p:txBody>
          <a:bodyPr wrap="square" lIns="73152" tIns="36576" rIns="73152" bIns="36576" anchor="ctr">
            <a:spAutoFit/>
          </a:bodyPr>
          <a:lstStyle/>
          <a:p>
            <a:pPr algn="l">
              <a:lnSpc>
                <a:spcPct val="100000"/>
              </a:lnSpc>
              <a:spcBef>
                <a:spcPts val="0"/>
              </a:spcBef>
              <a:spcAft>
                <a:spcPts val="0"/>
              </a:spcAft>
            </a:pPr>
            <a:r>
              <a:rPr sz="2100" b="0" i="0">
                <a:solidFill>
                  <a:srgbClr val="25324A"/>
                </a:solidFill>
                <a:latin typeface="Times New Roman"/>
                <a:ea typeface="標楷體"/>
                <a:cs typeface="Times New Roman"/>
              </a:rPr>
              <a:t>OPEN／REBIND：核對情境＋端點</a:t>
            </a:r>
          </a:p>
        </p:txBody>
      </p:sp>
      <p:sp>
        <p:nvSpPr>
          <p:cNvPr id="17" name="Reopen status"/>
          <p:cNvSpPr/>
          <p:nvPr/>
        </p:nvSpPr>
        <p:spPr>
          <a:xfrm>
            <a:off x="877824" y="3822191"/>
            <a:ext cx="10387584" cy="749808"/>
          </a:xfrm>
          <a:prstGeom prst="roundRect">
            <a:avLst/>
          </a:prstGeom>
          <a:solidFill>
            <a:srgbClr val="FAF7E8"/>
          </a:solidFill>
          <a:ln w="13970">
            <a:solidFill>
              <a:srgbClr val="846826"/>
            </a:solidFill>
          </a:ln>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lstStyle/>
          <a:p>
            <a:pPr algn="ctr">
              <a:lnSpc>
                <a:spcPct val="84000"/>
              </a:lnSpc>
              <a:spcBef>
                <a:spcPts val="0"/>
              </a:spcBef>
              <a:spcAft>
                <a:spcPts val="0"/>
              </a:spcAft>
            </a:pPr>
            <a:r>
              <a:rPr sz="2000" b="1" i="0">
                <a:solidFill>
                  <a:srgbClr val="25324A"/>
                </a:solidFill>
                <a:latin typeface="Times New Roman"/>
                <a:ea typeface="標楷體"/>
                <a:cs typeface="Times New Roman"/>
              </a:rPr>
              <a:t>完成度｜身份、prediction、result／replay 齊全才 COMPLETE；缺件維持 INCOMPLETE 並 recovery，不改寫 FAIL。</a:t>
            </a:r>
          </a:p>
        </p:txBody>
      </p:sp>
      <p:sp>
        <p:nvSpPr>
          <p:cNvPr id="18" name="Workbook status definition"/>
          <p:cNvSpPr/>
          <p:nvPr/>
        </p:nvSpPr>
        <p:spPr>
          <a:xfrm>
            <a:off x="749808" y="4846320"/>
            <a:ext cx="10698480" cy="914400"/>
          </a:xfrm>
          <a:prstGeom prst="roundRect">
            <a:avLst/>
          </a:prstGeom>
          <a:solidFill>
            <a:srgbClr val="F2F4F8"/>
          </a:solidFill>
          <a:ln w="13970">
            <a:solidFill>
              <a:srgbClr val="660066"/>
            </a:solidFill>
          </a:ln>
        </p:spPr>
        <p:style>
          <a:lnRef idx="1">
            <a:schemeClr val="accent1"/>
          </a:lnRef>
          <a:fillRef idx="3">
            <a:schemeClr val="accent1"/>
          </a:fillRef>
          <a:effectRef idx="2">
            <a:schemeClr val="accent1"/>
          </a:effectRef>
          <a:fontRef idx="minor">
            <a:schemeClr val="lt1"/>
          </a:fontRef>
        </p:style>
        <p:txBody>
          <a:bodyPr rtlCol="0" anchor="ctr" wrap="square" lIns="54864" tIns="18288" rIns="54864" bIns="18288"/>
          <a:lstStyle/>
          <a:p>
            <a:pPr algn="l">
              <a:lnSpc>
                <a:spcPct val="84000"/>
              </a:lnSpc>
              <a:spcBef>
                <a:spcPts val="0"/>
              </a:spcBef>
              <a:spcAft>
                <a:spcPts val="0"/>
              </a:spcAft>
            </a:pPr>
            <a:r>
              <a:rPr sz="1800" b="0" i="1">
                <a:solidFill>
                  <a:srgbClr val="25324A"/>
                </a:solidFill>
                <a:latin typeface="Times New Roman"/>
                <a:ea typeface="標楷體"/>
                <a:cs typeface="Times New Roman"/>
              </a:rPr>
              <a:t>COMPLETE</a:t>
            </a:r>
            <a:r>
              <a:rPr sz="1800" b="0" i="0">
                <a:solidFill>
                  <a:srgbClr val="25324A"/>
                </a:solidFill>
                <a:latin typeface="Times New Roman"/>
                <a:ea typeface="標楷體"/>
                <a:cs typeface="Times New Roman"/>
              </a:rPr>
              <a:t>／</a:t>
            </a:r>
            <a:r>
              <a:rPr sz="1800" b="0" i="1">
                <a:solidFill>
                  <a:srgbClr val="25324A"/>
                </a:solidFill>
                <a:latin typeface="Times New Roman"/>
                <a:ea typeface="標楷體"/>
                <a:cs typeface="Times New Roman"/>
              </a:rPr>
              <a:t>INCOMPLETE</a:t>
            </a:r>
            <a:r>
              <a:rPr sz="1800" b="0" i="0">
                <a:solidFill>
                  <a:srgbClr val="25324A"/>
                </a:solidFill>
                <a:latin typeface="Times New Roman"/>
                <a:ea typeface="標楷體"/>
                <a:cs typeface="Times New Roman"/>
              </a:rPr>
              <a:t>｜完成度狀態</a:t>
            </a:r>
          </a:p>
          <a:p>
            <a:pPr algn="l">
              <a:lnSpc>
                <a:spcPct val="84000"/>
              </a:lnSpc>
              <a:spcBef>
                <a:spcPts val="0"/>
              </a:spcBef>
              <a:spcAft>
                <a:spcPts val="0"/>
              </a:spcAft>
            </a:pPr>
            <a:r>
              <a:rPr sz="1800" b="0" i="0">
                <a:solidFill>
                  <a:srgbClr val="25324A"/>
                </a:solidFill>
                <a:latin typeface="Times New Roman"/>
                <a:ea typeface="標楷體"/>
                <a:cs typeface="Times New Roman"/>
              </a:rPr>
              <a:t>來源 workbook validator；值型態 status enum；作用 反映必要 evidence 是否齊全；判讀 COMPLETE 不等於 service PASS，也不等於 scientific parity。</a:t>
            </a:r>
          </a:p>
        </p:txBody>
      </p:sp>
    </p:spTree>
  </p:cSld>
  <p:clrMapOvr>
    <a:masterClrMapping/>
  </p:clrMapOvr>
</p:sld>
</file>

<file path=ppt/slides/slide87.xml><?xml version="1.0" encoding="utf-8"?>
<p:sld xmlns:a="http://schemas.openxmlformats.org/drawingml/2006/main"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P081</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：智慧農場的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gate-first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讀法</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changing-service-window</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trace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閘道可用時段；</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先讀，</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後讀</a:t>
            </a:r>
            <a:endParaRPr lang="en-US" sz="2400" dirty="0"/>
          </a:p>
        </p:txBody>
      </p:sp>
      <p:sp>
        <p:nvSpPr>
          <p:cNvPr id="4" name="Shape 2"/>
          <p:cNvSpPr/>
          <p:nvPr/>
        </p:nvSpPr>
        <p:spPr>
          <a:xfrm>
            <a:off x="822960" y="1572768"/>
            <a:ext cx="3383280" cy="621792"/>
          </a:xfrm>
          <a:prstGeom prst="roundRect">
            <a:avLst/>
          </a:prstGeom>
          <a:solidFill>
            <a:srgbClr val="ECF1FE"/>
          </a:solidFill>
          <a:ln w="15240">
            <a:solidFill>
              <a:srgbClr val="4967C2"/>
            </a:solidFill>
            <a:prstDash val="solid"/>
          </a:ln>
        </p:spPr>
      </p:sp>
      <p:sp>
        <p:nvSpPr>
          <p:cNvPr id="5" name="Text 3"/>
          <p:cNvSpPr/>
          <p:nvPr/>
        </p:nvSpPr>
        <p:spPr>
          <a:xfrm>
            <a:off x="950976" y="1682496"/>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資料等待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age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；單位：時間；作用：判讀批次等待</a:t>
            </a:r>
            <a:endParaRPr lang="en-US" sz="2000" dirty="0"/>
          </a:p>
        </p:txBody>
      </p:sp>
      <p:sp>
        <p:nvSpPr>
          <p:cNvPr id="6" name="Shape 4"/>
          <p:cNvSpPr/>
          <p:nvPr/>
        </p:nvSpPr>
        <p:spPr>
          <a:xfrm>
            <a:off x="822960" y="2340864"/>
            <a:ext cx="3383280" cy="621792"/>
          </a:xfrm>
          <a:prstGeom prst="roundRect">
            <a:avLst/>
          </a:prstGeom>
          <a:solidFill>
            <a:srgbClr val="FDF9E2"/>
          </a:solidFill>
          <a:ln w="15240">
            <a:solidFill>
              <a:srgbClr val="846826"/>
            </a:solidFill>
            <a:prstDash val="solid"/>
          </a:ln>
        </p:spPr>
      </p:sp>
      <p:sp>
        <p:nvSpPr>
          <p:cNvPr id="7" name="Text 5"/>
          <p:cNvSpPr/>
          <p:nvPr/>
        </p:nvSpPr>
        <p:spPr>
          <a:xfrm>
            <a:off x="950976" y="2450592"/>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批次大小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BATCH_SIZE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constant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count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；作用：決定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flush</a:t>
            </a:r>
            <a:endParaRPr lang="en-US" sz="2000" dirty="0"/>
          </a:p>
        </p:txBody>
      </p:sp>
      <p:sp>
        <p:nvSpPr>
          <p:cNvPr id="8" name="Shape 6"/>
          <p:cNvSpPr/>
          <p:nvPr/>
        </p:nvSpPr>
        <p:spPr>
          <a:xfrm>
            <a:off x="822960" y="3108960"/>
            <a:ext cx="3383280" cy="621792"/>
          </a:xfrm>
          <a:prstGeom prst="roundRect">
            <a:avLst/>
          </a:prstGeom>
          <a:solidFill>
            <a:srgbClr val="F4EDF7"/>
          </a:solidFill>
          <a:ln w="15240">
            <a:solidFill>
              <a:srgbClr val="660066"/>
            </a:solidFill>
            <a:prstDash val="solid"/>
          </a:ln>
        </p:spPr>
      </p:sp>
      <p:sp>
        <p:nvSpPr>
          <p:cNvPr id="9" name="Text 7"/>
          <p:cNvSpPr/>
          <p:nvPr/>
        </p:nvSpPr>
        <p:spPr>
          <a:xfrm>
            <a:off x="950976" y="3218688"/>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告警門檻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margin</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；單位：秒；作用：決定優先送出時機</a:t>
            </a:r>
            <a:endParaRPr lang="en-US" sz="2000" dirty="0"/>
          </a:p>
        </p:txBody>
      </p:sp>
      <p:sp>
        <p:nvSpPr>
          <p:cNvPr id="10" name="Shape 8"/>
          <p:cNvSpPr/>
          <p:nvPr/>
        </p:nvSpPr>
        <p:spPr>
          <a:xfrm>
            <a:off x="822960" y="3877056"/>
            <a:ext cx="3383280" cy="621792"/>
          </a:xfrm>
          <a:prstGeom prst="roundRect">
            <a:avLst/>
          </a:prstGeom>
          <a:solidFill>
            <a:srgbClr val="E8F7F4"/>
          </a:solidFill>
          <a:ln w="15240">
            <a:solidFill>
              <a:srgbClr val="007374"/>
            </a:solidFill>
            <a:prstDash val="solid"/>
          </a:ln>
        </p:spPr>
      </p:sp>
      <p:sp>
        <p:nvSpPr>
          <p:cNvPr id="11" name="Text 9"/>
          <p:cNvSpPr/>
          <p:nvPr/>
        </p:nvSpPr>
        <p:spPr>
          <a:xfrm>
            <a:off x="950976" y="3986784"/>
            <a:ext cx="3127248" cy="402336"/>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服務閘門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verdict</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；作用：核對 </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delivery</a:t>
            </a:r>
            <a:pPr algn="ctr" indent="0" marL="0">
              <a:lnSpc>
                <a:spcPct val="100000"/>
              </a:lnSpc>
              <a:buNone/>
            </a:pPr>
            <a:r>
              <a:rPr lang="en-US" sz="20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b="1" i="1" dirty="0">
                <a:solidFill>
                  <a:srgbClr val="25324A"/>
                </a:solidFill>
                <a:latin typeface="Times New Roman" pitchFamily="34" charset="0"/>
                <a:ea typeface="標楷體" pitchFamily="34" charset="-122"/>
                <a:cs typeface="Times New Roman" pitchFamily="34" charset="-120"/>
              </a:rPr>
              <a:t>freshness</a:t>
            </a:r>
            <a:endParaRPr lang="en-US" sz="2000" dirty="0"/>
          </a:p>
        </p:txBody>
      </p:sp>
      <p:sp>
        <p:nvSpPr>
          <p:cNvPr id="12" name="Shape 10"/>
          <p:cNvSpPr/>
          <p:nvPr/>
        </p:nvSpPr>
        <p:spPr>
          <a:xfrm>
            <a:off x="4736592" y="1481328"/>
            <a:ext cx="6629400" cy="2139696"/>
          </a:xfrm>
          <a:prstGeom prst="rect">
            <a:avLst/>
          </a:prstGeom>
          <a:solidFill>
            <a:srgbClr val="F7F8FC"/>
          </a:solidFill>
          <a:ln w="15240">
            <a:solidFill>
              <a:srgbClr val="D7DEEA"/>
            </a:solidFill>
            <a:prstDash val="solid"/>
          </a:ln>
        </p:spPr>
      </p:sp>
      <p:sp>
        <p:nvSpPr>
          <p:cNvPr id="13" name="Text 11"/>
          <p:cNvSpPr/>
          <p:nvPr/>
        </p:nvSpPr>
        <p:spPr>
          <a:xfrm>
            <a:off x="4992624" y="1645920"/>
            <a:ext cx="6108192" cy="347472"/>
          </a:xfrm>
          <a:prstGeom prst="rect">
            <a:avLst/>
          </a:prstGeom>
          <a:noFill/>
          <a:ln/>
        </p:spPr>
        <p:txBody>
          <a:bodyPr wrap="square" lIns="635" tIns="635" rIns="635" bIns="635" rtlCol="0" anchor="ctr">
            <a:normAutofit/>
          </a:bodyPr>
          <a:lstStyle/>
          <a:p>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閘道可用時段的 </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transfer</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000" b="1" dirty="0">
                <a:solidFill>
                  <a:srgbClr val="25356B"/>
                </a:solidFill>
                <a:latin typeface="Times New Roman" pitchFamily="34" charset="0"/>
                <a:ea typeface="標楷體" pitchFamily="34" charset="-122"/>
                <a:cs typeface="Times New Roman" pitchFamily="34" charset="-120"/>
              </a:rPr>
              <a:t>map</a:t>
            </a:r>
            <a:endParaRPr lang="en-US" sz="2000" dirty="0"/>
          </a:p>
        </p:txBody>
      </p:sp>
      <p:sp>
        <p:nvSpPr>
          <p:cNvPr id="14" name="Shape 12"/>
          <p:cNvSpPr/>
          <p:nvPr/>
        </p:nvSpPr>
        <p:spPr>
          <a:xfrm>
            <a:off x="5010912" y="2267712"/>
            <a:ext cx="1225296" cy="566928"/>
          </a:xfrm>
          <a:prstGeom prst="rect">
            <a:avLst/>
          </a:prstGeom>
          <a:solidFill>
            <a:srgbClr val="4967C2"/>
          </a:solidFill>
          <a:ln w="15240">
            <a:solidFill>
              <a:srgbClr val="4967C2"/>
            </a:solidFill>
            <a:prstDash val="solid"/>
          </a:ln>
        </p:spPr>
      </p:sp>
      <p:sp>
        <p:nvSpPr>
          <p:cNvPr id="15" name="Text 13"/>
          <p:cNvSpPr/>
          <p:nvPr/>
        </p:nvSpPr>
        <p:spPr>
          <a:xfrm>
            <a:off x="5038344" y="2350008"/>
            <a:ext cx="117043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資料排隊</a:t>
            </a:r>
            <a:endParaRPr lang="en-US" sz="1800" dirty="0"/>
          </a:p>
        </p:txBody>
      </p:sp>
      <p:sp>
        <p:nvSpPr>
          <p:cNvPr id="16" name="Shape 14"/>
          <p:cNvSpPr/>
          <p:nvPr/>
        </p:nvSpPr>
        <p:spPr>
          <a:xfrm>
            <a:off x="6309360" y="2331720"/>
            <a:ext cx="384048" cy="438912"/>
          </a:xfrm>
          <a:prstGeom prst="chevron">
            <a:avLst/>
          </a:prstGeom>
          <a:solidFill>
            <a:srgbClr val="25356B"/>
          </a:solidFill>
          <a:ln w="12700">
            <a:solidFill>
              <a:srgbClr val="25356B">
                <a:alpha val="0"/>
              </a:srgbClr>
            </a:solidFill>
            <a:prstDash val="solid"/>
          </a:ln>
        </p:spPr>
      </p:sp>
      <p:sp>
        <p:nvSpPr>
          <p:cNvPr id="17" name="Shape 15"/>
          <p:cNvSpPr/>
          <p:nvPr/>
        </p:nvSpPr>
        <p:spPr>
          <a:xfrm>
            <a:off x="6766560" y="2267712"/>
            <a:ext cx="1060704" cy="566928"/>
          </a:xfrm>
          <a:prstGeom prst="rect">
            <a:avLst/>
          </a:prstGeom>
          <a:solidFill>
            <a:srgbClr val="CBD5E1"/>
          </a:solidFill>
          <a:ln w="15240">
            <a:solidFill>
              <a:srgbClr val="CBD5E1"/>
            </a:solidFill>
            <a:prstDash val="solid"/>
          </a:ln>
        </p:spPr>
      </p:sp>
      <p:sp>
        <p:nvSpPr>
          <p:cNvPr id="18" name="Text 16"/>
          <p:cNvSpPr/>
          <p:nvPr/>
        </p:nvSpPr>
        <p:spPr>
          <a:xfrm>
            <a:off x="6793992" y="2350008"/>
            <a:ext cx="100584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25324A"/>
                </a:solidFill>
                <a:latin typeface="Times New Roman" pitchFamily="34" charset="0"/>
                <a:ea typeface="標楷體" pitchFamily="34" charset="-122"/>
                <a:cs typeface="Times New Roman" pitchFamily="34" charset="-120"/>
              </a:rPr>
              <a:t>閘道關閉</a:t>
            </a:r>
            <a:endParaRPr lang="en-US" sz="1800" dirty="0"/>
          </a:p>
        </p:txBody>
      </p:sp>
      <p:sp>
        <p:nvSpPr>
          <p:cNvPr id="19" name="Shape 17"/>
          <p:cNvSpPr/>
          <p:nvPr/>
        </p:nvSpPr>
        <p:spPr>
          <a:xfrm>
            <a:off x="7900416" y="2331720"/>
            <a:ext cx="384048" cy="438912"/>
          </a:xfrm>
          <a:prstGeom prst="chevron">
            <a:avLst/>
          </a:prstGeom>
          <a:solidFill>
            <a:srgbClr val="25356B"/>
          </a:solidFill>
          <a:ln w="12700">
            <a:solidFill>
              <a:srgbClr val="25356B">
                <a:alpha val="0"/>
              </a:srgbClr>
            </a:solidFill>
            <a:prstDash val="solid"/>
          </a:ln>
        </p:spPr>
      </p:sp>
      <p:sp>
        <p:nvSpPr>
          <p:cNvPr id="20" name="Shape 18"/>
          <p:cNvSpPr/>
          <p:nvPr/>
        </p:nvSpPr>
        <p:spPr>
          <a:xfrm>
            <a:off x="8357616" y="2267712"/>
            <a:ext cx="1133856" cy="566928"/>
          </a:xfrm>
          <a:prstGeom prst="rect">
            <a:avLst/>
          </a:prstGeom>
          <a:solidFill>
            <a:srgbClr val="660066"/>
          </a:solidFill>
          <a:ln w="15240">
            <a:solidFill>
              <a:srgbClr val="660066"/>
            </a:solidFill>
            <a:prstDash val="solid"/>
          </a:ln>
        </p:spPr>
      </p:sp>
      <p:sp>
        <p:nvSpPr>
          <p:cNvPr id="21" name="Text 19"/>
          <p:cNvSpPr/>
          <p:nvPr/>
        </p:nvSpPr>
        <p:spPr>
          <a:xfrm>
            <a:off x="8385048" y="2350008"/>
            <a:ext cx="107899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告警可用</a:t>
            </a:r>
            <a:endParaRPr lang="en-US" sz="1800" dirty="0"/>
          </a:p>
        </p:txBody>
      </p:sp>
      <p:sp>
        <p:nvSpPr>
          <p:cNvPr id="22" name="Shape 20"/>
          <p:cNvSpPr/>
          <p:nvPr/>
        </p:nvSpPr>
        <p:spPr>
          <a:xfrm>
            <a:off x="9564624" y="2331720"/>
            <a:ext cx="384048" cy="438912"/>
          </a:xfrm>
          <a:prstGeom prst="chevron">
            <a:avLst/>
          </a:prstGeom>
          <a:solidFill>
            <a:srgbClr val="25356B"/>
          </a:solidFill>
          <a:ln w="12700">
            <a:solidFill>
              <a:srgbClr val="25356B">
                <a:alpha val="0"/>
              </a:srgbClr>
            </a:solidFill>
            <a:prstDash val="solid"/>
          </a:ln>
        </p:spPr>
      </p:sp>
      <p:sp>
        <p:nvSpPr>
          <p:cNvPr id="23" name="Shape 21"/>
          <p:cNvSpPr/>
          <p:nvPr/>
        </p:nvSpPr>
        <p:spPr>
          <a:xfrm>
            <a:off x="10021824" y="2267712"/>
            <a:ext cx="1243584" cy="566928"/>
          </a:xfrm>
          <a:prstGeom prst="rect">
            <a:avLst/>
          </a:prstGeom>
          <a:solidFill>
            <a:srgbClr val="007374"/>
          </a:solidFill>
          <a:ln w="15240">
            <a:solidFill>
              <a:srgbClr val="007374"/>
            </a:solidFill>
            <a:prstDash val="solid"/>
          </a:ln>
        </p:spPr>
      </p:sp>
      <p:sp>
        <p:nvSpPr>
          <p:cNvPr id="24" name="Text 22"/>
          <p:cNvSpPr/>
          <p:nvPr/>
        </p:nvSpPr>
        <p:spPr>
          <a:xfrm>
            <a:off x="10049256" y="2350008"/>
            <a:ext cx="118872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FFFFFF"/>
                </a:solidFill>
                <a:latin typeface="Times New Roman" pitchFamily="34" charset="0"/>
                <a:ea typeface="標楷體" pitchFamily="34" charset="-122"/>
                <a:cs typeface="Times New Roman" pitchFamily="34" charset="-120"/>
              </a:rPr>
              <a:t>批次上傳</a:t>
            </a:r>
            <a:endParaRPr lang="en-US" sz="1800" dirty="0"/>
          </a:p>
        </p:txBody>
      </p:sp>
      <p:sp>
        <p:nvSpPr>
          <p:cNvPr id="25" name="Text 23"/>
          <p:cNvSpPr/>
          <p:nvPr/>
        </p:nvSpPr>
        <p:spPr>
          <a:xfrm>
            <a:off x="5010912" y="2999232"/>
            <a:ext cx="6053328" cy="365760"/>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灌溉告警：期限接近 →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SEND_URGENT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；一般資料：</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batch</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flush</a:t>
            </a:r>
            <a:endParaRPr lang="en-US" sz="2000" dirty="0"/>
          </a:p>
        </p:txBody>
      </p:sp>
      <p:sp>
        <p:nvSpPr>
          <p:cNvPr id="26" name="Shape 24"/>
          <p:cNvSpPr/>
          <p:nvPr/>
        </p:nvSpPr>
        <p:spPr>
          <a:xfrm>
            <a:off x="4736592" y="3931920"/>
            <a:ext cx="6629400" cy="1078992"/>
          </a:xfrm>
          <a:prstGeom prst="roundRect">
            <a:avLst/>
          </a:prstGeom>
          <a:solidFill>
            <a:srgbClr val="FDEFEF"/>
          </a:solidFill>
          <a:ln w="15240">
            <a:solidFill>
              <a:srgbClr val="992A2A"/>
            </a:solidFill>
            <a:prstDash val="solid"/>
          </a:ln>
        </p:spPr>
      </p:sp>
      <p:sp>
        <p:nvSpPr>
          <p:cNvPr id="27" name="Text 25"/>
          <p:cNvSpPr/>
          <p:nvPr/>
        </p:nvSpPr>
        <p:spPr>
          <a:xfrm>
            <a:off x="4882896" y="4041648"/>
            <a:ext cx="633679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可推翻條件 </a:t>
            </a:r>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Falsifier</a:t>
            </a:r>
            <a:endParaRPr lang="en-US" sz="1800" dirty="0"/>
          </a:p>
        </p:txBody>
      </p:sp>
      <p:sp>
        <p:nvSpPr>
          <p:cNvPr id="28" name="Text 26"/>
          <p:cNvSpPr/>
          <p:nvPr/>
        </p:nvSpPr>
        <p:spPr>
          <a:xfrm>
            <a:off x="4882896" y="4434840"/>
            <a:ext cx="6336792" cy="466344"/>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告警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freshness</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過期時，</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失敗；較低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不足以保留成功判定。</a:t>
            </a:r>
            <a:endParaRPr lang="en-US" sz="2400" dirty="0"/>
          </a:p>
        </p:txBody>
      </p:sp>
      <p:sp>
        <p:nvSpPr>
          <p:cNvPr id="29" name="Shape 27"/>
          <p:cNvSpPr/>
          <p:nvPr/>
        </p:nvSpPr>
        <p:spPr>
          <a:xfrm>
            <a:off x="2212848" y="5376672"/>
            <a:ext cx="7754112" cy="420624"/>
          </a:xfrm>
          <a:prstGeom prst="roundRect">
            <a:avLst/>
          </a:prstGeom>
          <a:solidFill>
            <a:srgbClr val="F4EDF7"/>
          </a:solidFill>
          <a:ln w="15240">
            <a:solidFill>
              <a:srgbClr val="660066"/>
            </a:solidFill>
            <a:prstDash val="solid"/>
          </a:ln>
        </p:spPr>
      </p:sp>
      <p:sp>
        <p:nvSpPr>
          <p:cNvPr id="30" name="Text 28"/>
          <p:cNvSpPr/>
          <p:nvPr/>
        </p:nvSpPr>
        <p:spPr>
          <a:xfrm>
            <a:off x="2286000" y="5413248"/>
            <a:ext cx="76078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Transfer</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hypothesis</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farm</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field</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KPI</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待補</a:t>
            </a:r>
            <a:endParaRPr lang="en-US" sz="1800" dirty="0"/>
          </a:p>
        </p:txBody>
      </p:sp>
      <p:sp>
        <p:nvSpPr>
          <p:cNvPr id="3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88.xml><?xml version="1.0" encoding="utf-8"?>
<p:sld xmlns:a="http://schemas.openxmlformats.org/drawingml/2006/main"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P082</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HVAC</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deadline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與批次</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HVAC</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的低負載時段可批次；設備告警的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需要更早取得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機會</a:t>
            </a:r>
            <a:endParaRPr lang="en-US" sz="2400" dirty="0"/>
          </a:p>
        </p:txBody>
      </p:sp>
      <p:sp>
        <p:nvSpPr>
          <p:cNvPr id="4" name="Shape 2"/>
          <p:cNvSpPr/>
          <p:nvPr/>
        </p:nvSpPr>
        <p:spPr>
          <a:xfrm>
            <a:off x="822960" y="1481328"/>
            <a:ext cx="10552176" cy="1060704"/>
          </a:xfrm>
          <a:prstGeom prst="rect">
            <a:avLst/>
          </a:prstGeom>
          <a:solidFill>
            <a:srgbClr val="F7F8FC"/>
          </a:solidFill>
          <a:ln w="15240">
            <a:solidFill>
              <a:srgbClr val="D7DEEA"/>
            </a:solidFill>
            <a:prstDash val="solid"/>
          </a:ln>
        </p:spPr>
      </p:sp>
      <p:sp>
        <p:nvSpPr>
          <p:cNvPr id="5" name="Text 3"/>
          <p:cNvSpPr/>
          <p:nvPr/>
        </p:nvSpPr>
        <p:spPr>
          <a:xfrm>
            <a:off x="1060704" y="1645920"/>
            <a:ext cx="309067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HVAC</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cycle</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：低負載／可連線窗口</a:t>
            </a:r>
            <a:endParaRPr lang="en-US" sz="1800" dirty="0"/>
          </a:p>
        </p:txBody>
      </p:sp>
      <p:sp>
        <p:nvSpPr>
          <p:cNvPr id="6" name="Shape 4"/>
          <p:cNvSpPr/>
          <p:nvPr/>
        </p:nvSpPr>
        <p:spPr>
          <a:xfrm>
            <a:off x="4242816" y="1719072"/>
            <a:ext cx="1280160" cy="475488"/>
          </a:xfrm>
          <a:prstGeom prst="rect">
            <a:avLst/>
          </a:prstGeom>
          <a:solidFill>
            <a:srgbClr val="CBD5E1"/>
          </a:solidFill>
          <a:ln w="15240">
            <a:solidFill>
              <a:srgbClr val="CBD5E1"/>
            </a:solidFill>
            <a:prstDash val="solid"/>
          </a:ln>
        </p:spPr>
      </p:sp>
      <p:sp>
        <p:nvSpPr>
          <p:cNvPr id="7" name="Text 5"/>
          <p:cNvSpPr/>
          <p:nvPr/>
        </p:nvSpPr>
        <p:spPr>
          <a:xfrm>
            <a:off x="4270248" y="1773936"/>
            <a:ext cx="1225296"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24A"/>
                </a:solidFill>
                <a:latin typeface="Times New Roman" pitchFamily="34" charset="0"/>
                <a:ea typeface="標楷體" pitchFamily="34" charset="-122"/>
                <a:cs typeface="Times New Roman" pitchFamily="34" charset="-120"/>
              </a:rPr>
              <a:t>高負載</a:t>
            </a:r>
            <a:endParaRPr lang="en-US" sz="1600" dirty="0"/>
          </a:p>
        </p:txBody>
      </p:sp>
      <p:sp>
        <p:nvSpPr>
          <p:cNvPr id="8" name="Shape 6"/>
          <p:cNvSpPr/>
          <p:nvPr/>
        </p:nvSpPr>
        <p:spPr>
          <a:xfrm>
            <a:off x="5596128" y="1719072"/>
            <a:ext cx="1298448" cy="475488"/>
          </a:xfrm>
          <a:prstGeom prst="rect">
            <a:avLst/>
          </a:prstGeom>
          <a:solidFill>
            <a:srgbClr val="007374"/>
          </a:solidFill>
          <a:ln w="15240">
            <a:solidFill>
              <a:srgbClr val="007374"/>
            </a:solidFill>
            <a:prstDash val="solid"/>
          </a:ln>
        </p:spPr>
      </p:sp>
      <p:sp>
        <p:nvSpPr>
          <p:cNvPr id="9" name="Text 7"/>
          <p:cNvSpPr/>
          <p:nvPr/>
        </p:nvSpPr>
        <p:spPr>
          <a:xfrm>
            <a:off x="5623560" y="1773936"/>
            <a:ext cx="124358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低負載</a:t>
            </a:r>
            <a:endParaRPr lang="en-US" sz="1600" dirty="0"/>
          </a:p>
        </p:txBody>
      </p:sp>
      <p:sp>
        <p:nvSpPr>
          <p:cNvPr id="10" name="Shape 8"/>
          <p:cNvSpPr/>
          <p:nvPr/>
        </p:nvSpPr>
        <p:spPr>
          <a:xfrm>
            <a:off x="6967728" y="1719072"/>
            <a:ext cx="1627632" cy="475488"/>
          </a:xfrm>
          <a:prstGeom prst="rect">
            <a:avLst/>
          </a:prstGeom>
          <a:solidFill>
            <a:srgbClr val="4967C2"/>
          </a:solidFill>
          <a:ln w="15240">
            <a:solidFill>
              <a:srgbClr val="4967C2"/>
            </a:solidFill>
            <a:prstDash val="solid"/>
          </a:ln>
        </p:spPr>
      </p:sp>
      <p:sp>
        <p:nvSpPr>
          <p:cNvPr id="11" name="Text 9"/>
          <p:cNvSpPr/>
          <p:nvPr/>
        </p:nvSpPr>
        <p:spPr>
          <a:xfrm>
            <a:off x="6995160" y="1773936"/>
            <a:ext cx="1572768"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品質穩定 </a:t>
            </a:r>
            <a:pPr algn="ctr" indent="0" marL="0">
              <a:lnSpc>
                <a:spcPct val="100000"/>
              </a:lnSpc>
              <a:buNone/>
            </a:pPr>
            <a:r>
              <a:rPr lang="en-US" sz="1600" b="1" i="1" dirty="0">
                <a:solidFill>
                  <a:srgbClr val="FFFFFF"/>
                </a:solidFill>
                <a:latin typeface="Times New Roman" pitchFamily="34" charset="0"/>
                <a:ea typeface="標楷體" pitchFamily="34" charset="-122"/>
                <a:cs typeface="Times New Roman" pitchFamily="34" charset="-120"/>
              </a:rPr>
              <a:t>quality</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stable</a:t>
            </a:r>
            <a:endParaRPr lang="en-US" sz="1600" dirty="0"/>
          </a:p>
        </p:txBody>
      </p:sp>
      <p:sp>
        <p:nvSpPr>
          <p:cNvPr id="12" name="Shape 10"/>
          <p:cNvSpPr/>
          <p:nvPr/>
        </p:nvSpPr>
        <p:spPr>
          <a:xfrm>
            <a:off x="8668512" y="1719072"/>
            <a:ext cx="1353312" cy="475488"/>
          </a:xfrm>
          <a:prstGeom prst="rect">
            <a:avLst/>
          </a:prstGeom>
          <a:solidFill>
            <a:srgbClr val="660066"/>
          </a:solidFill>
          <a:ln w="15240">
            <a:solidFill>
              <a:srgbClr val="660066"/>
            </a:solidFill>
            <a:prstDash val="solid"/>
          </a:ln>
        </p:spPr>
      </p:sp>
      <p:sp>
        <p:nvSpPr>
          <p:cNvPr id="13" name="Text 11"/>
          <p:cNvSpPr/>
          <p:nvPr/>
        </p:nvSpPr>
        <p:spPr>
          <a:xfrm>
            <a:off x="8695944" y="1773936"/>
            <a:ext cx="1298448"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告警窗口</a:t>
            </a:r>
            <a:endParaRPr lang="en-US" sz="1600" dirty="0"/>
          </a:p>
        </p:txBody>
      </p:sp>
      <p:sp>
        <p:nvSpPr>
          <p:cNvPr id="14" name="Shape 12"/>
          <p:cNvSpPr/>
          <p:nvPr/>
        </p:nvSpPr>
        <p:spPr>
          <a:xfrm>
            <a:off x="822960" y="2889504"/>
            <a:ext cx="4974336" cy="1463040"/>
          </a:xfrm>
          <a:prstGeom prst="roundRect">
            <a:avLst/>
          </a:prstGeom>
          <a:solidFill>
            <a:srgbClr val="ECF1FE"/>
          </a:solidFill>
          <a:ln w="15240">
            <a:solidFill>
              <a:srgbClr val="4967C2"/>
            </a:solidFill>
            <a:prstDash val="solid"/>
          </a:ln>
        </p:spPr>
      </p:sp>
      <p:sp>
        <p:nvSpPr>
          <p:cNvPr id="15" name="Text 13"/>
          <p:cNvSpPr/>
          <p:nvPr/>
        </p:nvSpPr>
        <p:spPr>
          <a:xfrm>
            <a:off x="950976" y="2999232"/>
            <a:ext cx="4718304" cy="12435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一般遙測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normal</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telemetry</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batch</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flush</a:t>
            </a:r>
            <a:pPr algn="ctr" indent="0" marL="0">
              <a:lnSpc>
                <a:spcPct val="100000"/>
              </a:lnSpc>
              <a:buNone/>
            </a:pP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作用：減少啟用次數；判讀：</a:t>
            </a:r>
            <a:endParaRPr lang="en-US" sz="2400" dirty="0"/>
          </a:p>
          <a:p>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age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freshness</a:t>
            </a:r>
            <a:endParaRPr lang="en-US" sz="2400" dirty="0"/>
          </a:p>
        </p:txBody>
      </p:sp>
      <p:sp>
        <p:nvSpPr>
          <p:cNvPr id="16" name="Shape 14"/>
          <p:cNvSpPr/>
          <p:nvPr/>
        </p:nvSpPr>
        <p:spPr>
          <a:xfrm>
            <a:off x="6126480" y="2889504"/>
            <a:ext cx="5248656" cy="1463040"/>
          </a:xfrm>
          <a:prstGeom prst="roundRect">
            <a:avLst/>
          </a:prstGeom>
          <a:solidFill>
            <a:srgbClr val="F4EDF7"/>
          </a:solidFill>
          <a:ln w="15240">
            <a:solidFill>
              <a:srgbClr val="660066"/>
            </a:solidFill>
            <a:prstDash val="solid"/>
          </a:ln>
        </p:spPr>
      </p:sp>
      <p:sp>
        <p:nvSpPr>
          <p:cNvPr id="17" name="Text 15"/>
          <p:cNvSpPr/>
          <p:nvPr/>
        </p:nvSpPr>
        <p:spPr>
          <a:xfrm>
            <a:off x="6254496" y="2999232"/>
            <a:ext cx="4992624" cy="12435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急件告警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alarm</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接近 →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SEND_URGENT</a:t>
            </a:r>
            <a:pPr algn="ctr" indent="0" marL="0">
              <a:lnSpc>
                <a:spcPct val="100000"/>
              </a:lnSpc>
              <a:buNone/>
            </a:pP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作用：保住告警服務；判讀：</a:t>
            </a:r>
            <a:endParaRPr lang="en-US" sz="2400" dirty="0"/>
          </a:p>
          <a:p>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delivery</a:t>
            </a:r>
            <a:pPr algn="ct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deadline</a:t>
            </a:r>
            <a:endParaRPr lang="en-US" sz="2400" dirty="0"/>
          </a:p>
        </p:txBody>
      </p:sp>
      <p:sp>
        <p:nvSpPr>
          <p:cNvPr id="18" name="Shape 16"/>
          <p:cNvSpPr/>
          <p:nvPr/>
        </p:nvSpPr>
        <p:spPr>
          <a:xfrm>
            <a:off x="822960" y="4590288"/>
            <a:ext cx="10552176" cy="896112"/>
          </a:xfrm>
          <a:prstGeom prst="roundRect">
            <a:avLst/>
          </a:prstGeom>
          <a:solidFill>
            <a:srgbClr val="E8F7F4"/>
          </a:solidFill>
          <a:ln w="15240">
            <a:solidFill>
              <a:srgbClr val="007374"/>
            </a:solidFill>
            <a:prstDash val="solid"/>
          </a:ln>
        </p:spPr>
      </p:sp>
      <p:sp>
        <p:nvSpPr>
          <p:cNvPr id="19" name="Text 17"/>
          <p:cNvSpPr/>
          <p:nvPr/>
        </p:nvSpPr>
        <p:spPr>
          <a:xfrm>
            <a:off x="969264" y="4700016"/>
            <a:ext cx="102595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端點能量帳本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ledger</a:t>
            </a:r>
            <a:endParaRPr lang="en-US" sz="1800" dirty="0"/>
          </a:p>
        </p:txBody>
      </p:sp>
      <p:sp>
        <p:nvSpPr>
          <p:cNvPr id="20" name="Text 18"/>
          <p:cNvSpPr/>
          <p:nvPr/>
        </p:nvSpPr>
        <p:spPr>
          <a:xfrm>
            <a:off x="969264" y="5074920"/>
            <a:ext cx="10259568" cy="301752"/>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model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awake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idle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wake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process</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TX</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RX</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sleep</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21" name="Shape 19"/>
          <p:cNvSpPr/>
          <p:nvPr/>
        </p:nvSpPr>
        <p:spPr>
          <a:xfrm>
            <a:off x="2121408" y="5577840"/>
            <a:ext cx="7955280" cy="420624"/>
          </a:xfrm>
          <a:prstGeom prst="roundRect">
            <a:avLst/>
          </a:prstGeom>
          <a:solidFill>
            <a:srgbClr val="E8F7F4"/>
          </a:solidFill>
          <a:ln w="15240">
            <a:solidFill>
              <a:srgbClr val="007374"/>
            </a:solidFill>
            <a:prstDash val="solid"/>
          </a:ln>
        </p:spPr>
      </p:sp>
      <p:sp>
        <p:nvSpPr>
          <p:cNvPr id="22" name="Text 20"/>
          <p:cNvSpPr/>
          <p:nvPr/>
        </p:nvSpPr>
        <p:spPr>
          <a:xfrm>
            <a:off x="2194560" y="5614416"/>
            <a:ext cx="7808976"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Transfer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mechanism</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only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HVAC</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measured</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KPI</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sp>
        <p:nvSpPr>
          <p:cNvPr id="24"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89.xml><?xml version="1.0" encoding="utf-8"?>
<p:sld xmlns:a="http://schemas.openxmlformats.org/drawingml/2006/main"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P083</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edge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inference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freshness</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可移植因果句：</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observation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endParaRPr lang="en-US" sz="2400" dirty="0"/>
          </a:p>
        </p:txBody>
      </p:sp>
      <p:sp>
        <p:nvSpPr>
          <p:cNvPr id="4" name="Shape 2"/>
          <p:cNvSpPr/>
          <p:nvPr/>
        </p:nvSpPr>
        <p:spPr>
          <a:xfrm>
            <a:off x="713232" y="1682496"/>
            <a:ext cx="1993392" cy="1298448"/>
          </a:xfrm>
          <a:prstGeom prst="roundRect">
            <a:avLst/>
          </a:prstGeom>
          <a:solidFill>
            <a:srgbClr val="ECF1FE"/>
          </a:solidFill>
          <a:ln w="15240">
            <a:solidFill>
              <a:srgbClr val="4967C2"/>
            </a:solidFill>
            <a:prstDash val="solid"/>
          </a:ln>
        </p:spPr>
      </p:sp>
      <p:sp>
        <p:nvSpPr>
          <p:cNvPr id="5" name="Text 3"/>
          <p:cNvSpPr/>
          <p:nvPr/>
        </p:nvSpPr>
        <p:spPr>
          <a:xfrm>
            <a:off x="859536"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觀測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Observation</a:t>
            </a:r>
            <a:endParaRPr lang="en-US" sz="1800" dirty="0"/>
          </a:p>
        </p:txBody>
      </p:sp>
      <p:sp>
        <p:nvSpPr>
          <p:cNvPr id="6" name="Text 4"/>
          <p:cNvSpPr/>
          <p:nvPr/>
        </p:nvSpPr>
        <p:spPr>
          <a:xfrm>
            <a:off x="859536"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trace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quality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window</a:t>
            </a:r>
            <a:endParaRPr lang="en-US" sz="2400" dirty="0"/>
          </a:p>
        </p:txBody>
      </p:sp>
      <p:sp>
        <p:nvSpPr>
          <p:cNvPr id="7" name="Shape 5"/>
          <p:cNvSpPr/>
          <p:nvPr/>
        </p:nvSpPr>
        <p:spPr>
          <a:xfrm>
            <a:off x="2779776" y="2121408"/>
            <a:ext cx="384048" cy="438912"/>
          </a:xfrm>
          <a:prstGeom prst="chevron">
            <a:avLst/>
          </a:prstGeom>
          <a:solidFill>
            <a:srgbClr val="4967C2"/>
          </a:solidFill>
          <a:ln w="12700">
            <a:solidFill>
              <a:srgbClr val="4967C2">
                <a:alpha val="0"/>
              </a:srgbClr>
            </a:solidFill>
            <a:prstDash val="solid"/>
          </a:ln>
        </p:spPr>
      </p:sp>
      <p:sp>
        <p:nvSpPr>
          <p:cNvPr id="8" name="Shape 6"/>
          <p:cNvSpPr/>
          <p:nvPr/>
        </p:nvSpPr>
        <p:spPr>
          <a:xfrm>
            <a:off x="2990088" y="1682496"/>
            <a:ext cx="1993392" cy="1298448"/>
          </a:xfrm>
          <a:prstGeom prst="roundRect">
            <a:avLst/>
          </a:prstGeom>
          <a:solidFill>
            <a:srgbClr val="FDF9E2"/>
          </a:solidFill>
          <a:ln w="15240">
            <a:solidFill>
              <a:srgbClr val="846826"/>
            </a:solidFill>
            <a:prstDash val="solid"/>
          </a:ln>
        </p:spPr>
      </p:sp>
      <p:sp>
        <p:nvSpPr>
          <p:cNvPr id="9" name="Text 7"/>
          <p:cNvSpPr/>
          <p:nvPr/>
        </p:nvSpPr>
        <p:spPr>
          <a:xfrm>
            <a:off x="3136392"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策略動作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Policy</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action</a:t>
            </a:r>
            <a:endParaRPr lang="en-US" sz="1800" dirty="0"/>
          </a:p>
        </p:txBody>
      </p:sp>
      <p:sp>
        <p:nvSpPr>
          <p:cNvPr id="10" name="Text 8"/>
          <p:cNvSpPr/>
          <p:nvPr/>
        </p:nvSpPr>
        <p:spPr>
          <a:xfrm>
            <a:off x="3136392"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API</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；值：</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；作用：選擇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action</a:t>
            </a:r>
            <a:endParaRPr lang="en-US" sz="2400" dirty="0"/>
          </a:p>
        </p:txBody>
      </p:sp>
      <p:sp>
        <p:nvSpPr>
          <p:cNvPr id="11" name="Shape 9"/>
          <p:cNvSpPr/>
          <p:nvPr/>
        </p:nvSpPr>
        <p:spPr>
          <a:xfrm>
            <a:off x="5056632" y="2121408"/>
            <a:ext cx="384048" cy="438912"/>
          </a:xfrm>
          <a:prstGeom prst="chevron">
            <a:avLst/>
          </a:prstGeom>
          <a:solidFill>
            <a:srgbClr val="846826"/>
          </a:solidFill>
          <a:ln w="12700">
            <a:solidFill>
              <a:srgbClr val="846826">
                <a:alpha val="0"/>
              </a:srgbClr>
            </a:solidFill>
            <a:prstDash val="solid"/>
          </a:ln>
        </p:spPr>
      </p:sp>
      <p:sp>
        <p:nvSpPr>
          <p:cNvPr id="12" name="Shape 10"/>
          <p:cNvSpPr/>
          <p:nvPr/>
        </p:nvSpPr>
        <p:spPr>
          <a:xfrm>
            <a:off x="5266944" y="1682496"/>
            <a:ext cx="1993392" cy="1298448"/>
          </a:xfrm>
          <a:prstGeom prst="roundRect">
            <a:avLst/>
          </a:prstGeom>
          <a:solidFill>
            <a:srgbClr val="F4EDF7"/>
          </a:solidFill>
          <a:ln w="15240">
            <a:solidFill>
              <a:srgbClr val="660066"/>
            </a:solidFill>
            <a:prstDash val="solid"/>
          </a:ln>
        </p:spPr>
      </p:sp>
      <p:sp>
        <p:nvSpPr>
          <p:cNvPr id="13" name="Text 11"/>
          <p:cNvSpPr/>
          <p:nvPr/>
        </p:nvSpPr>
        <p:spPr>
          <a:xfrm>
            <a:off x="5413248"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事件帳本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Event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ledger</a:t>
            </a:r>
            <a:endParaRPr lang="en-US" sz="1800" dirty="0"/>
          </a:p>
        </p:txBody>
      </p:sp>
      <p:sp>
        <p:nvSpPr>
          <p:cNvPr id="14" name="Text 12"/>
          <p:cNvSpPr/>
          <p:nvPr/>
        </p:nvSpPr>
        <p:spPr>
          <a:xfrm>
            <a:off x="5413248"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retry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delivery</a:t>
            </a:r>
            <a:endParaRPr lang="en-US" sz="2400" dirty="0"/>
          </a:p>
        </p:txBody>
      </p:sp>
      <p:sp>
        <p:nvSpPr>
          <p:cNvPr id="15" name="Shape 13"/>
          <p:cNvSpPr/>
          <p:nvPr/>
        </p:nvSpPr>
        <p:spPr>
          <a:xfrm>
            <a:off x="7333488" y="2121408"/>
            <a:ext cx="384048" cy="438912"/>
          </a:xfrm>
          <a:prstGeom prst="chevron">
            <a:avLst/>
          </a:prstGeom>
          <a:solidFill>
            <a:srgbClr val="660066"/>
          </a:solidFill>
          <a:ln w="12700">
            <a:solidFill>
              <a:srgbClr val="660066">
                <a:alpha val="0"/>
              </a:srgbClr>
            </a:solidFill>
            <a:prstDash val="solid"/>
          </a:ln>
        </p:spPr>
      </p:sp>
      <p:sp>
        <p:nvSpPr>
          <p:cNvPr id="16" name="Shape 14"/>
          <p:cNvSpPr/>
          <p:nvPr/>
        </p:nvSpPr>
        <p:spPr>
          <a:xfrm>
            <a:off x="7543800" y="1682496"/>
            <a:ext cx="1993392" cy="1298448"/>
          </a:xfrm>
          <a:prstGeom prst="roundRect">
            <a:avLst/>
          </a:prstGeom>
          <a:solidFill>
            <a:srgbClr val="E8F7F4"/>
          </a:solidFill>
          <a:ln w="15240">
            <a:solidFill>
              <a:srgbClr val="007374"/>
            </a:solidFill>
            <a:prstDash val="solid"/>
          </a:ln>
        </p:spPr>
      </p:sp>
      <p:sp>
        <p:nvSpPr>
          <p:cNvPr id="17" name="Text 15"/>
          <p:cNvSpPr/>
          <p:nvPr/>
        </p:nvSpPr>
        <p:spPr>
          <a:xfrm>
            <a:off x="7690104"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服務閘門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gate</a:t>
            </a:r>
            <a:endParaRPr lang="en-US" sz="1800" dirty="0"/>
          </a:p>
        </p:txBody>
      </p:sp>
      <p:sp>
        <p:nvSpPr>
          <p:cNvPr id="18" name="Text 16"/>
          <p:cNvSpPr/>
          <p:nvPr/>
        </p:nvSpPr>
        <p:spPr>
          <a:xfrm>
            <a:off x="7690104"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；值：</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verdict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；作用：核對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freshness</a:t>
            </a:r>
            <a:endParaRPr lang="en-US" sz="2400" dirty="0"/>
          </a:p>
        </p:txBody>
      </p:sp>
      <p:sp>
        <p:nvSpPr>
          <p:cNvPr id="19" name="Shape 17"/>
          <p:cNvSpPr/>
          <p:nvPr/>
        </p:nvSpPr>
        <p:spPr>
          <a:xfrm>
            <a:off x="9610344" y="2121408"/>
            <a:ext cx="384048" cy="438912"/>
          </a:xfrm>
          <a:prstGeom prst="chevron">
            <a:avLst/>
          </a:prstGeom>
          <a:solidFill>
            <a:srgbClr val="007374"/>
          </a:solidFill>
          <a:ln w="12700">
            <a:solidFill>
              <a:srgbClr val="007374">
                <a:alpha val="0"/>
              </a:srgbClr>
            </a:solidFill>
            <a:prstDash val="solid"/>
          </a:ln>
        </p:spPr>
      </p:sp>
      <p:sp>
        <p:nvSpPr>
          <p:cNvPr id="20" name="Shape 18"/>
          <p:cNvSpPr/>
          <p:nvPr/>
        </p:nvSpPr>
        <p:spPr>
          <a:xfrm>
            <a:off x="9820656" y="1682496"/>
            <a:ext cx="1993392" cy="1298448"/>
          </a:xfrm>
          <a:prstGeom prst="roundRect">
            <a:avLst/>
          </a:prstGeom>
          <a:solidFill>
            <a:srgbClr val="FDEFEF"/>
          </a:solidFill>
          <a:ln w="15240">
            <a:solidFill>
              <a:srgbClr val="992A2A"/>
            </a:solidFill>
            <a:prstDash val="solid"/>
          </a:ln>
        </p:spPr>
      </p:sp>
      <p:sp>
        <p:nvSpPr>
          <p:cNvPr id="21" name="Text 19"/>
          <p:cNvSpPr/>
          <p:nvPr/>
        </p:nvSpPr>
        <p:spPr>
          <a:xfrm>
            <a:off x="9966960" y="1792224"/>
            <a:ext cx="17007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端點能量 </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J</a:t>
            </a:r>
            <a:endParaRPr lang="en-US" sz="1800" dirty="0"/>
          </a:p>
        </p:txBody>
      </p:sp>
      <p:sp>
        <p:nvSpPr>
          <p:cNvPr id="22" name="Text 20"/>
          <p:cNvSpPr/>
          <p:nvPr/>
        </p:nvSpPr>
        <p:spPr>
          <a:xfrm>
            <a:off x="9966960" y="2249424"/>
            <a:ext cx="1700784" cy="62179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model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；作用：累積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scope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能量</a:t>
            </a:r>
            <a:endParaRPr lang="en-US" sz="2400" dirty="0"/>
          </a:p>
        </p:txBody>
      </p:sp>
      <p:sp>
        <p:nvSpPr>
          <p:cNvPr id="23" name="Shape 21"/>
          <p:cNvSpPr/>
          <p:nvPr/>
        </p:nvSpPr>
        <p:spPr>
          <a:xfrm>
            <a:off x="822960" y="3401568"/>
            <a:ext cx="4956048" cy="1371600"/>
          </a:xfrm>
          <a:prstGeom prst="roundRect">
            <a:avLst/>
          </a:prstGeom>
          <a:solidFill>
            <a:srgbClr val="ECF1FE"/>
          </a:solidFill>
          <a:ln w="15240">
            <a:solidFill>
              <a:srgbClr val="4967C2"/>
            </a:solidFill>
            <a:prstDash val="solid"/>
          </a:ln>
        </p:spPr>
      </p:sp>
      <p:sp>
        <p:nvSpPr>
          <p:cNvPr id="24" name="Text 22"/>
          <p:cNvSpPr/>
          <p:nvPr/>
        </p:nvSpPr>
        <p:spPr>
          <a:xfrm>
            <a:off x="969264" y="3511296"/>
            <a:ext cx="4663440"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可轉移場景</a:t>
            </a:r>
            <a:endParaRPr lang="en-US" sz="1800" dirty="0"/>
          </a:p>
        </p:txBody>
      </p:sp>
      <p:sp>
        <p:nvSpPr>
          <p:cNvPr id="25" name="Text 23"/>
          <p:cNvSpPr/>
          <p:nvPr/>
        </p:nvSpPr>
        <p:spPr>
          <a:xfrm>
            <a:off x="969264" y="3931920"/>
            <a:ext cx="4663440" cy="731520"/>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邊緣影像摘要：一般摘要可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batch</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；安全告警走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urgent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物流追蹤：位置卡可等待連線窗口。</a:t>
            </a:r>
            <a:endParaRPr lang="en-US" sz="2400" dirty="0"/>
          </a:p>
        </p:txBody>
      </p:sp>
      <p:sp>
        <p:nvSpPr>
          <p:cNvPr id="26" name="Shape 24"/>
          <p:cNvSpPr/>
          <p:nvPr/>
        </p:nvSpPr>
        <p:spPr>
          <a:xfrm>
            <a:off x="6126480" y="3401568"/>
            <a:ext cx="5248656" cy="1371600"/>
          </a:xfrm>
          <a:prstGeom prst="roundRect">
            <a:avLst/>
          </a:prstGeom>
          <a:solidFill>
            <a:srgbClr val="FDF9E2"/>
          </a:solidFill>
          <a:ln w="15240">
            <a:solidFill>
              <a:srgbClr val="846826"/>
            </a:solidFill>
            <a:prstDash val="solid"/>
          </a:ln>
        </p:spPr>
      </p:sp>
      <p:sp>
        <p:nvSpPr>
          <p:cNvPr id="27" name="Text 25"/>
          <p:cNvSpPr/>
          <p:nvPr/>
        </p:nvSpPr>
        <p:spPr>
          <a:xfrm>
            <a:off x="6272784" y="3511296"/>
            <a:ext cx="4956048"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可推翻條件</a:t>
            </a:r>
            <a:endParaRPr lang="en-US" sz="1800" dirty="0"/>
          </a:p>
        </p:txBody>
      </p:sp>
      <p:sp>
        <p:nvSpPr>
          <p:cNvPr id="28" name="Text 26"/>
          <p:cNvSpPr/>
          <p:nvPr/>
        </p:nvSpPr>
        <p:spPr>
          <a:xfrm>
            <a:off x="6272784" y="3931920"/>
            <a:ext cx="4956048" cy="731520"/>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窗口縮短、</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traffic</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增加或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提前時，重新檢驗較大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urgent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margin</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p:txBody>
      </p:sp>
      <p:sp>
        <p:nvSpPr>
          <p:cNvPr id="29" name="Text 27"/>
          <p:cNvSpPr/>
          <p:nvPr/>
        </p:nvSpPr>
        <p:spPr>
          <a:xfrm>
            <a:off x="960120" y="5266944"/>
            <a:ext cx="10259568"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transfer</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數值待補；保留 </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condition</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660066"/>
                </a:solidFill>
                <a:latin typeface="Times New Roman" pitchFamily="34" charset="0"/>
                <a:ea typeface="標楷體" pitchFamily="34" charset="-122"/>
                <a:cs typeface="Times New Roman" pitchFamily="34" charset="-120"/>
              </a:rPr>
              <a:t>action</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event</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gate</a:t>
            </a:r>
            <a:pPr algn="ctr" indent="0" marL="0">
              <a:lnSpc>
                <a:spcPct val="100000"/>
              </a:lnSpc>
              <a:buNone/>
            </a:pPr>
            <a:r>
              <a:rPr lang="en-US" sz="2000" dirty="0">
                <a:solidFill>
                  <a:srgbClr val="660066"/>
                </a:solidFill>
                <a:latin typeface="Times New Roman" pitchFamily="34" charset="0"/>
                <a:ea typeface="標楷體" pitchFamily="34" charset="-122"/>
                <a:cs typeface="Times New Roman" pitchFamily="34" charset="-120"/>
              </a:rPr>
              <a:t> 的可檢驗關係</a:t>
            </a:r>
            <a:endParaRPr lang="en-US" sz="2000" dirty="0"/>
          </a:p>
        </p:txBody>
      </p:sp>
      <p:sp>
        <p:nvSpPr>
          <p:cNvPr id="31"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0.xml><?xml version="1.0" encoding="utf-8"?>
<p:sld xmlns:a="http://schemas.openxmlformats.org/drawingml/2006/main"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P084</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Transfer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exit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：把因果句帶回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workbook</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離場保存：假說、</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lineage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falsifier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；現場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KPI</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仍以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sp>
        <p:nvSpPr>
          <p:cNvPr id="4" name="Shape 2"/>
          <p:cNvSpPr/>
          <p:nvPr/>
        </p:nvSpPr>
        <p:spPr>
          <a:xfrm>
            <a:off x="822960" y="1645920"/>
            <a:ext cx="2834640" cy="1572768"/>
          </a:xfrm>
          <a:prstGeom prst="roundRect">
            <a:avLst/>
          </a:prstGeom>
          <a:solidFill>
            <a:srgbClr val="ECF1FE"/>
          </a:solidFill>
          <a:ln w="15240">
            <a:solidFill>
              <a:srgbClr val="4967C2"/>
            </a:solidFill>
            <a:prstDash val="solid"/>
          </a:ln>
        </p:spPr>
      </p:sp>
      <p:sp>
        <p:nvSpPr>
          <p:cNvPr id="5" name="Text 3"/>
          <p:cNvSpPr/>
          <p:nvPr/>
        </p:nvSpPr>
        <p:spPr>
          <a:xfrm>
            <a:off x="969264"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可移植假說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hypothesis</a:t>
            </a:r>
            <a:endParaRPr lang="en-US" sz="1800" dirty="0"/>
          </a:p>
        </p:txBody>
      </p:sp>
      <p:sp>
        <p:nvSpPr>
          <p:cNvPr id="6" name="Text 4"/>
          <p:cNvSpPr/>
          <p:nvPr/>
        </p:nvSpPr>
        <p:spPr>
          <a:xfrm>
            <a:off x="969264"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urgent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margin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會改變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trade-off</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7" name="Shape 5"/>
          <p:cNvSpPr/>
          <p:nvPr/>
        </p:nvSpPr>
        <p:spPr>
          <a:xfrm>
            <a:off x="4041648" y="1645920"/>
            <a:ext cx="2834640" cy="1572768"/>
          </a:xfrm>
          <a:prstGeom prst="roundRect">
            <a:avLst/>
          </a:prstGeom>
          <a:solidFill>
            <a:srgbClr val="E8F7F4"/>
          </a:solidFill>
          <a:ln w="15240">
            <a:solidFill>
              <a:srgbClr val="007374"/>
            </a:solidFill>
            <a:prstDash val="solid"/>
          </a:ln>
        </p:spPr>
      </p:sp>
      <p:sp>
        <p:nvSpPr>
          <p:cNvPr id="8" name="Text 6"/>
          <p:cNvSpPr/>
          <p:nvPr/>
        </p:nvSpPr>
        <p:spPr>
          <a:xfrm>
            <a:off x="4187952"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工作簿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lineage</a:t>
            </a:r>
            <a:endParaRPr lang="en-US" sz="1800" dirty="0"/>
          </a:p>
        </p:txBody>
      </p:sp>
      <p:sp>
        <p:nvSpPr>
          <p:cNvPr id="9" name="Text 7"/>
          <p:cNvSpPr/>
          <p:nvPr/>
        </p:nvSpPr>
        <p:spPr>
          <a:xfrm>
            <a:off x="4187952"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baseline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candidate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revision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surprise</a:t>
            </a:r>
            <a:pPr algn="ctr" indent="0" marL="0">
              <a:lnSpc>
                <a:spcPct val="100000"/>
              </a:lnSpc>
              <a:buNone/>
            </a:pPr>
            <a:endParaRPr lang="en-US" sz="2000" dirty="0"/>
          </a:p>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保留 </a:t>
            </a:r>
            <a:endParaRPr lang="en-US" sz="2000" dirty="0"/>
          </a:p>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10" name="Shape 8"/>
          <p:cNvSpPr/>
          <p:nvPr/>
        </p:nvSpPr>
        <p:spPr>
          <a:xfrm>
            <a:off x="7260336" y="1645920"/>
            <a:ext cx="2834640" cy="1572768"/>
          </a:xfrm>
          <a:prstGeom prst="roundRect">
            <a:avLst/>
          </a:prstGeom>
          <a:solidFill>
            <a:srgbClr val="F4EDF7"/>
          </a:solidFill>
          <a:ln w="15240">
            <a:solidFill>
              <a:srgbClr val="660066"/>
            </a:solidFill>
            <a:prstDash val="solid"/>
          </a:ln>
        </p:spPr>
      </p:sp>
      <p:sp>
        <p:nvSpPr>
          <p:cNvPr id="11" name="Text 9"/>
          <p:cNvSpPr/>
          <p:nvPr/>
        </p:nvSpPr>
        <p:spPr>
          <a:xfrm>
            <a:off x="7406640" y="1755648"/>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可推翻條件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falsifier</a:t>
            </a:r>
            <a:endParaRPr lang="en-US" sz="1800" dirty="0"/>
          </a:p>
        </p:txBody>
      </p:sp>
      <p:sp>
        <p:nvSpPr>
          <p:cNvPr id="12" name="Text 10"/>
          <p:cNvSpPr/>
          <p:nvPr/>
        </p:nvSpPr>
        <p:spPr>
          <a:xfrm>
            <a:off x="7406640" y="2231136"/>
            <a:ext cx="2542032" cy="877824"/>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窗口、</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traffic</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改變時，</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重新裁決。</a:t>
            </a:r>
            <a:endParaRPr lang="en-US" sz="2000" dirty="0"/>
          </a:p>
        </p:txBody>
      </p:sp>
      <p:sp>
        <p:nvSpPr>
          <p:cNvPr id="13" name="Shape 11"/>
          <p:cNvSpPr/>
          <p:nvPr/>
        </p:nvSpPr>
        <p:spPr>
          <a:xfrm>
            <a:off x="2194560" y="3858768"/>
            <a:ext cx="7168896" cy="0"/>
          </a:xfrm>
          <a:prstGeom prst="line">
            <a:avLst/>
          </a:prstGeom>
          <a:noFill/>
          <a:ln w="30480">
            <a:solidFill>
              <a:srgbClr val="25356B"/>
            </a:solidFill>
            <a:prstDash val="solid"/>
          </a:ln>
        </p:spPr>
      </p:sp>
      <p:sp>
        <p:nvSpPr>
          <p:cNvPr id="14" name="Shape 12"/>
          <p:cNvSpPr/>
          <p:nvPr/>
        </p:nvSpPr>
        <p:spPr>
          <a:xfrm>
            <a:off x="2194560" y="3767328"/>
            <a:ext cx="182880" cy="182880"/>
          </a:xfrm>
          <a:prstGeom prst="ellipse">
            <a:avLst/>
          </a:prstGeom>
          <a:solidFill>
            <a:srgbClr val="4967C2"/>
          </a:solidFill>
          <a:ln w="12700">
            <a:solidFill>
              <a:srgbClr val="4967C2"/>
            </a:solidFill>
            <a:prstDash val="solid"/>
          </a:ln>
        </p:spPr>
      </p:sp>
      <p:sp>
        <p:nvSpPr>
          <p:cNvPr id="15" name="Shape 13"/>
          <p:cNvSpPr/>
          <p:nvPr/>
        </p:nvSpPr>
        <p:spPr>
          <a:xfrm>
            <a:off x="5742432" y="3767328"/>
            <a:ext cx="182880" cy="182880"/>
          </a:xfrm>
          <a:prstGeom prst="ellipse">
            <a:avLst/>
          </a:prstGeom>
          <a:solidFill>
            <a:srgbClr val="007374"/>
          </a:solidFill>
          <a:ln w="12700">
            <a:solidFill>
              <a:srgbClr val="007374"/>
            </a:solidFill>
            <a:prstDash val="solid"/>
          </a:ln>
        </p:spPr>
      </p:sp>
      <p:sp>
        <p:nvSpPr>
          <p:cNvPr id="16" name="Shape 14"/>
          <p:cNvSpPr/>
          <p:nvPr/>
        </p:nvSpPr>
        <p:spPr>
          <a:xfrm>
            <a:off x="9290304" y="3767328"/>
            <a:ext cx="182880" cy="182880"/>
          </a:xfrm>
          <a:prstGeom prst="ellipse">
            <a:avLst/>
          </a:prstGeom>
          <a:solidFill>
            <a:srgbClr val="660066"/>
          </a:solidFill>
          <a:ln w="12700">
            <a:solidFill>
              <a:srgbClr val="660066"/>
            </a:solidFill>
            <a:prstDash val="solid"/>
          </a:ln>
        </p:spPr>
      </p:sp>
      <p:sp>
        <p:nvSpPr>
          <p:cNvPr id="17" name="Text 15"/>
          <p:cNvSpPr/>
          <p:nvPr/>
        </p:nvSpPr>
        <p:spPr>
          <a:xfrm>
            <a:off x="1664208" y="4041648"/>
            <a:ext cx="129844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prediction</a:t>
            </a:r>
            <a:endParaRPr lang="en-US" sz="1800" dirty="0"/>
          </a:p>
        </p:txBody>
      </p:sp>
      <p:sp>
        <p:nvSpPr>
          <p:cNvPr id="18" name="Text 16"/>
          <p:cNvSpPr/>
          <p:nvPr/>
        </p:nvSpPr>
        <p:spPr>
          <a:xfrm>
            <a:off x="4882896" y="4041648"/>
            <a:ext cx="173736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result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replay</a:t>
            </a:r>
            <a:endParaRPr lang="en-US" sz="1800" dirty="0"/>
          </a:p>
        </p:txBody>
      </p:sp>
      <p:sp>
        <p:nvSpPr>
          <p:cNvPr id="19" name="Text 17"/>
          <p:cNvSpPr/>
          <p:nvPr/>
        </p:nvSpPr>
        <p:spPr>
          <a:xfrm>
            <a:off x="8558784" y="4041648"/>
            <a:ext cx="16642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interpretation</a:t>
            </a:r>
            <a:endParaRPr lang="en-US" sz="1800" dirty="0"/>
          </a:p>
        </p:txBody>
      </p:sp>
      <p:sp>
        <p:nvSpPr>
          <p:cNvPr id="20" name="Shape 18"/>
          <p:cNvSpPr/>
          <p:nvPr/>
        </p:nvSpPr>
        <p:spPr>
          <a:xfrm>
            <a:off x="1005840" y="4645152"/>
            <a:ext cx="10131552" cy="859536"/>
          </a:xfrm>
          <a:prstGeom prst="roundRect">
            <a:avLst/>
          </a:prstGeom>
          <a:solidFill>
            <a:srgbClr val="FDEFEF"/>
          </a:solidFill>
          <a:ln w="15240">
            <a:solidFill>
              <a:srgbClr val="992A2A"/>
            </a:solidFill>
            <a:prstDash val="solid"/>
          </a:ln>
        </p:spPr>
      </p:sp>
      <p:sp>
        <p:nvSpPr>
          <p:cNvPr id="21" name="Text 19"/>
          <p:cNvSpPr/>
          <p:nvPr/>
        </p:nvSpPr>
        <p:spPr>
          <a:xfrm>
            <a:off x="1152144" y="4754880"/>
            <a:ext cx="98389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主張邊界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claim</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22" name="Text 20"/>
          <p:cNvSpPr/>
          <p:nvPr/>
        </p:nvSpPr>
        <p:spPr>
          <a:xfrm>
            <a:off x="1152144" y="5129784"/>
            <a:ext cx="9838944" cy="265176"/>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coherent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simulated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live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field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measurement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canonical/system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待補。</a:t>
            </a:r>
            <a:endParaRPr lang="en-US" sz="1600" dirty="0"/>
          </a:p>
        </p:txBody>
      </p:sp>
      <p:sp>
        <p:nvSpPr>
          <p:cNvPr id="24"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1.xml><?xml version="1.0" encoding="utf-8"?>
<p:sld xmlns:a="http://schemas.openxmlformats.org/drawingml/2006/main" xmlns:ns2="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P085</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：來源與匯入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case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：匯入前後分開保存</a:t>
            </a:r>
            <a:endParaRPr lang="en-US" sz="2400" dirty="0"/>
          </a:p>
        </p:txBody>
      </p:sp>
      <p:sp>
        <p:nvSpPr>
          <p:cNvPr id="4" name="Shape 2"/>
          <p:cNvSpPr/>
          <p:nvPr/>
        </p:nvSpPr>
        <p:spPr>
          <a:xfrm>
            <a:off x="877824" y="1353312"/>
            <a:ext cx="5065776" cy="420624"/>
          </a:xfrm>
          <a:prstGeom prst="roundRect">
            <a:avLst/>
          </a:prstGeom>
          <a:solidFill>
            <a:srgbClr val="E8F7F4"/>
          </a:solidFill>
          <a:ln w="15240">
            <a:solidFill>
              <a:srgbClr val="007374"/>
            </a:solidFill>
            <a:prstDash val="solid"/>
          </a:ln>
        </p:spPr>
      </p:sp>
      <p:sp>
        <p:nvSpPr>
          <p:cNvPr id="5" name="Text 3"/>
          <p:cNvSpPr/>
          <p:nvPr/>
        </p:nvSpPr>
        <p:spPr>
          <a:xfrm>
            <a:off x="950976" y="1389888"/>
            <a:ext cx="4919472"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metrics</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pic>
        <p:nvPicPr>
          <p:cNvPr id="6" name="Image 0" descr="identifier-free A metrics crop">    </p:cNvPr>
          <p:cNvPicPr>
            <a:picLocks noChangeAspect="1"/>
          </p:cNvPicPr>
          <p:nvPr/>
        </p:nvPicPr>
        <p:blipFill>
          <a:blip ns2:embed="rId1"/>
          <a:stretch>
            <a:fillRect/>
          </a:stretch>
        </p:blipFill>
        <p:spPr>
          <a:xfrm>
            <a:off x="877824" y="1847088"/>
            <a:ext cx="5065776" cy="347472"/>
          </a:xfrm>
          <a:prstGeom prst="rect">
            <a:avLst/>
          </a:prstGeom>
        </p:spPr>
      </p:pic>
      <p:sp>
        <p:nvSpPr>
          <p:cNvPr id="7" name="Shape 4"/>
          <p:cNvSpPr/>
          <p:nvPr/>
        </p:nvSpPr>
        <p:spPr>
          <a:xfrm>
            <a:off x="877824" y="1847088"/>
            <a:ext cx="5065776" cy="347472"/>
          </a:xfrm>
          <a:prstGeom prst="rect">
            <a:avLst/>
          </a:prstGeom>
          <a:solidFill>
            <a:srgbClr val="FFFFFF">
              <a:alpha val="0"/>
            </a:srgbClr>
          </a:solidFill>
          <a:ln w="12700">
            <a:solidFill>
              <a:srgbClr val="D7DEEA"/>
            </a:solidFill>
            <a:prstDash val="solid"/>
          </a:ln>
        </p:spPr>
      </p:sp>
      <p:sp>
        <p:nvSpPr>
          <p:cNvPr id="8" name="Shape 5"/>
          <p:cNvSpPr/>
          <p:nvPr/>
        </p:nvSpPr>
        <p:spPr>
          <a:xfrm>
            <a:off x="877824" y="2578608"/>
            <a:ext cx="5065776" cy="1188720"/>
          </a:xfrm>
          <a:prstGeom prst="roundRect">
            <a:avLst/>
          </a:prstGeom>
          <a:solidFill>
            <a:srgbClr val="ECF1FE"/>
          </a:solidFill>
          <a:ln w="15240">
            <a:solidFill>
              <a:srgbClr val="4967C2"/>
            </a:solidFill>
            <a:prstDash val="solid"/>
          </a:ln>
        </p:spPr>
      </p:sp>
      <p:sp>
        <p:nvSpPr>
          <p:cNvPr id="9" name="Text 6"/>
          <p:cNvSpPr/>
          <p:nvPr/>
        </p:nvSpPr>
        <p:spPr>
          <a:xfrm>
            <a:off x="1024128" y="2688336"/>
            <a:ext cx="4773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browser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record</a:t>
            </a:r>
            <a:endParaRPr lang="en-US" sz="1800" dirty="0"/>
          </a:p>
        </p:txBody>
      </p:sp>
      <p:sp>
        <p:nvSpPr>
          <p:cNvPr id="10" name="Text 7"/>
          <p:cNvSpPr/>
          <p:nvPr/>
        </p:nvSpPr>
        <p:spPr>
          <a:xfrm>
            <a:off x="1024128" y="3090672"/>
            <a:ext cx="4773168" cy="56692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可讀取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summary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header</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identifier-free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crop</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待補。</a:t>
            </a:r>
            <a:endParaRPr lang="en-US" sz="2400" dirty="0"/>
          </a:p>
        </p:txBody>
      </p:sp>
      <p:sp>
        <p:nvSpPr>
          <p:cNvPr id="11" name="Shape 8"/>
          <p:cNvSpPr/>
          <p:nvPr/>
        </p:nvSpPr>
        <p:spPr>
          <a:xfrm>
            <a:off x="6272784" y="1353312"/>
            <a:ext cx="4956048" cy="420624"/>
          </a:xfrm>
          <a:prstGeom prst="roundRect">
            <a:avLst/>
          </a:prstGeom>
          <a:solidFill>
            <a:srgbClr val="F4EDF7"/>
          </a:solidFill>
          <a:ln w="15240">
            <a:solidFill>
              <a:srgbClr val="660066"/>
            </a:solidFill>
            <a:prstDash val="solid"/>
          </a:ln>
        </p:spPr>
      </p:sp>
      <p:sp>
        <p:nvSpPr>
          <p:cNvPr id="12" name="Text 9"/>
          <p:cNvSpPr/>
          <p:nvPr/>
        </p:nvSpPr>
        <p:spPr>
          <a:xfrm>
            <a:off x="6345936" y="1389888"/>
            <a:ext cx="480974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｜明示備用</a:t>
            </a:r>
            <a:endParaRPr lang="en-US" sz="1800" dirty="0"/>
          </a:p>
        </p:txBody>
      </p:sp>
      <p:sp>
        <p:nvSpPr>
          <p:cNvPr id="13" name="Shape 10"/>
          <p:cNvSpPr/>
          <p:nvPr/>
        </p:nvSpPr>
        <p:spPr>
          <a:xfrm>
            <a:off x="6272784" y="1847088"/>
            <a:ext cx="4956048" cy="1920240"/>
          </a:xfrm>
          <a:prstGeom prst="roundRect">
            <a:avLst/>
          </a:prstGeom>
          <a:solidFill>
            <a:srgbClr val="F4EDF7"/>
          </a:solidFill>
          <a:ln w="15240">
            <a:solidFill>
              <a:srgbClr val="660066"/>
            </a:solidFill>
            <a:prstDash val="solid"/>
          </a:ln>
        </p:spPr>
      </p:sp>
      <p:sp>
        <p:nvSpPr>
          <p:cNvPr id="14" name="Text 11"/>
          <p:cNvSpPr/>
          <p:nvPr/>
        </p:nvSpPr>
        <p:spPr>
          <a:xfrm>
            <a:off x="6419088" y="1956816"/>
            <a:ext cx="466344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同情境備用資料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record</a:t>
            </a:r>
            <a:endParaRPr lang="en-US" sz="1800" dirty="0"/>
          </a:p>
        </p:txBody>
      </p:sp>
      <p:sp>
        <p:nvSpPr>
          <p:cNvPr id="15" name="Text 12"/>
          <p:cNvSpPr/>
          <p:nvPr/>
        </p:nvSpPr>
        <p:spPr>
          <a:xfrm>
            <a:off x="6419088" y="2414016"/>
            <a:ext cx="4663440" cy="124358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Lab</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surprise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用途：練習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claim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boundary</a:t>
            </a:r>
            <a:endParaRPr lang="en-US" sz="2400" dirty="0"/>
          </a:p>
        </p:txBody>
      </p:sp>
      <p:sp>
        <p:nvSpPr>
          <p:cNvPr id="16" name="Shape 13"/>
          <p:cNvSpPr/>
          <p:nvPr/>
        </p:nvSpPr>
        <p:spPr>
          <a:xfrm>
            <a:off x="3493008" y="4078224"/>
            <a:ext cx="5212080" cy="658368"/>
          </a:xfrm>
          <a:prstGeom prst="roundRect">
            <a:avLst/>
          </a:prstGeom>
          <a:solidFill>
            <a:srgbClr val="FDF9E2"/>
          </a:solidFill>
          <a:ln w="15240">
            <a:solidFill>
              <a:srgbClr val="846826"/>
            </a:solidFill>
            <a:prstDash val="solid"/>
          </a:ln>
        </p:spPr>
      </p:sp>
      <p:sp>
        <p:nvSpPr>
          <p:cNvPr id="17" name="Text 14"/>
          <p:cNvSpPr/>
          <p:nvPr/>
        </p:nvSpPr>
        <p:spPr>
          <a:xfrm>
            <a:off x="3657600" y="4224528"/>
            <a:ext cx="488289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來源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＋案例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case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＋角色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role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＋服務 </a:t>
            </a:r>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 匯入狀態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import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state</a:t>
            </a:r>
            <a:endParaRPr lang="en-US" sz="1800" dirty="0"/>
          </a:p>
        </p:txBody>
      </p:sp>
      <p:sp>
        <p:nvSpPr>
          <p:cNvPr id="18" name="Shape 15"/>
          <p:cNvSpPr/>
          <p:nvPr/>
        </p:nvSpPr>
        <p:spPr>
          <a:xfrm>
            <a:off x="3401568" y="3767328"/>
            <a:ext cx="1280160" cy="274320"/>
          </a:xfrm>
          <a:prstGeom prst="line">
            <a:avLst/>
          </a:prstGeom>
          <a:noFill/>
          <a:ln w="22860">
            <a:solidFill>
              <a:srgbClr val="4967C2"/>
            </a:solidFill>
            <a:prstDash val="solid"/>
          </a:ln>
        </p:spPr>
      </p:sp>
      <p:sp>
        <p:nvSpPr>
          <p:cNvPr id="19" name="Shape 16"/>
          <p:cNvSpPr/>
          <p:nvPr/>
        </p:nvSpPr>
        <p:spPr>
          <a:xfrm>
            <a:off x="7461504" y="3767328"/>
            <a:ext cx="1280160" cy="274320"/>
          </a:xfrm>
          <a:prstGeom prst="line">
            <a:avLst/>
          </a:prstGeom>
          <a:noFill/>
          <a:ln w="22860">
            <a:solidFill>
              <a:srgbClr val="660066"/>
            </a:solidFill>
            <a:prstDash val="solid"/>
          </a:ln>
        </p:spPr>
      </p:sp>
      <p:sp>
        <p:nvSpPr>
          <p:cNvPr id="20" name="Text 17"/>
          <p:cNvSpPr/>
          <p:nvPr/>
        </p:nvSpPr>
        <p:spPr>
          <a:xfrm>
            <a:off x="1060704" y="5230368"/>
            <a:ext cx="10058400"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匯入通過後才更新 </a:t>
            </a:r>
            <a:pPr algn="ctr" indent="0" marL="0">
              <a:lnSpc>
                <a:spcPct val="100000"/>
              </a:lnSpc>
              <a:buNone/>
            </a:pPr>
            <a:r>
              <a:rPr lang="en-US" sz="2000"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i="1" dirty="0">
                <a:solidFill>
                  <a:srgbClr val="25356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000" dirty="0">
                <a:solidFill>
                  <a:srgbClr val="25356B"/>
                </a:solidFill>
                <a:latin typeface="Times New Roman" pitchFamily="34" charset="0"/>
                <a:ea typeface="標楷體" pitchFamily="34" charset="-122"/>
                <a:cs typeface="Times New Roman" pitchFamily="34" charset="-120"/>
              </a:rPr>
              <a:t>；來源缺件保持待補</a:t>
            </a:r>
            <a:endParaRPr lang="en-US" sz="2000" dirty="0"/>
          </a:p>
        </p:txBody>
      </p:sp>
      <p:sp>
        <p:nvSpPr>
          <p:cNvPr id="2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2.xml><?xml version="1.0" encoding="utf-8"?>
<p:sld xmlns:a="http://schemas.openxmlformats.org/drawingml/2006/main" xmlns:ns2="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P086</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service-first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summary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delivered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data</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J</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bit/J</a:t>
            </a:r>
            <a:endParaRPr lang="en-US" sz="2400" dirty="0"/>
          </a:p>
        </p:txBody>
      </p:sp>
      <p:pic>
        <p:nvPicPr>
          <p:cNvPr id="4" name="Image 0" descr="identifier-free A metrics crop">    </p:cNvPr>
          <p:cNvPicPr>
            <a:picLocks noChangeAspect="1"/>
          </p:cNvPicPr>
          <p:nvPr/>
        </p:nvPicPr>
        <p:blipFill>
          <a:blip ns2:embed="rId1"/>
          <a:stretch>
            <a:fillRect/>
          </a:stretch>
        </p:blipFill>
        <p:spPr>
          <a:xfrm>
            <a:off x="822960" y="1389888"/>
            <a:ext cx="5577840" cy="384048"/>
          </a:xfrm>
          <a:prstGeom prst="rect">
            <a:avLst/>
          </a:prstGeom>
        </p:spPr>
      </p:pic>
      <p:sp>
        <p:nvSpPr>
          <p:cNvPr id="5" name="Shape 2"/>
          <p:cNvSpPr/>
          <p:nvPr/>
        </p:nvSpPr>
        <p:spPr>
          <a:xfrm>
            <a:off x="822960" y="1389888"/>
            <a:ext cx="5577840" cy="384048"/>
          </a:xfrm>
          <a:prstGeom prst="rect">
            <a:avLst/>
          </a:prstGeom>
          <a:solidFill>
            <a:srgbClr val="FFFFFF">
              <a:alpha val="0"/>
            </a:srgbClr>
          </a:solidFill>
          <a:ln w="12700">
            <a:solidFill>
              <a:srgbClr val="D7DEEA"/>
            </a:solidFill>
            <a:prstDash val="solid"/>
          </a:ln>
        </p:spPr>
      </p:sp>
      <p:sp>
        <p:nvSpPr>
          <p:cNvPr id="6" name="Shape 3"/>
          <p:cNvSpPr/>
          <p:nvPr/>
        </p:nvSpPr>
        <p:spPr>
          <a:xfrm>
            <a:off x="1664208" y="2103120"/>
            <a:ext cx="3895344" cy="420624"/>
          </a:xfrm>
          <a:prstGeom prst="roundRect">
            <a:avLst/>
          </a:prstGeom>
          <a:solidFill>
            <a:srgbClr val="E8F7F4"/>
          </a:solidFill>
          <a:ln w="15240">
            <a:solidFill>
              <a:srgbClr val="007374"/>
            </a:solidFill>
            <a:prstDash val="solid"/>
          </a:ln>
        </p:spPr>
      </p:sp>
      <p:sp>
        <p:nvSpPr>
          <p:cNvPr id="7" name="Text 4"/>
          <p:cNvSpPr/>
          <p:nvPr/>
        </p:nvSpPr>
        <p:spPr>
          <a:xfrm>
            <a:off x="1737360" y="2139696"/>
            <a:ext cx="374904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metrics</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6894576" y="1353312"/>
            <a:ext cx="4297680" cy="713232"/>
          </a:xfrm>
          <a:prstGeom prst="roundRect">
            <a:avLst/>
          </a:prstGeom>
          <a:solidFill>
            <a:srgbClr val="FDEFEF"/>
          </a:solidFill>
          <a:ln w="15240">
            <a:solidFill>
              <a:srgbClr val="992A2A"/>
            </a:solidFill>
            <a:prstDash val="solid"/>
          </a:ln>
        </p:spPr>
      </p:sp>
      <p:sp>
        <p:nvSpPr>
          <p:cNvPr id="9" name="Text 6"/>
          <p:cNvSpPr/>
          <p:nvPr/>
        </p:nvSpPr>
        <p:spPr>
          <a:xfrm>
            <a:off x="7095744" y="1463040"/>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992A2A"/>
                </a:solidFill>
                <a:latin typeface="Times New Roman" pitchFamily="34" charset="0"/>
                <a:ea typeface="標楷體" pitchFamily="34" charset="-122"/>
                <a:cs typeface="Times New Roman" pitchFamily="34" charset="-120"/>
              </a:rPr>
              <a:t>服務 </a:t>
            </a:r>
            <a:pPr algn="l" indent="0" marL="0">
              <a:lnSpc>
                <a:spcPct val="100000"/>
              </a:lnSpc>
              <a:buNone/>
            </a:pPr>
            <a:r>
              <a:rPr lang="en-US" sz="2400" b="1" dirty="0">
                <a:solidFill>
                  <a:srgbClr val="992A2A"/>
                </a:solidFill>
                <a:latin typeface="Times New Roman" pitchFamily="34" charset="0"/>
                <a:ea typeface="標楷體" pitchFamily="34" charset="-122"/>
                <a:cs typeface="Times New Roman" pitchFamily="34" charset="-120"/>
              </a:rPr>
              <a:t>gate</a:t>
            </a:r>
            <a:endParaRPr lang="en-US" sz="2400" dirty="0"/>
          </a:p>
        </p:txBody>
      </p:sp>
      <p:sp>
        <p:nvSpPr>
          <p:cNvPr id="10" name="Text 7"/>
          <p:cNvSpPr/>
          <p:nvPr/>
        </p:nvSpPr>
        <p:spPr>
          <a:xfrm>
            <a:off x="9253728" y="1463040"/>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FAIL</a:t>
            </a:r>
            <a:endParaRPr lang="en-US" sz="2400" dirty="0"/>
          </a:p>
        </p:txBody>
      </p:sp>
      <p:sp>
        <p:nvSpPr>
          <p:cNvPr id="11" name="Shape 8"/>
          <p:cNvSpPr/>
          <p:nvPr/>
        </p:nvSpPr>
        <p:spPr>
          <a:xfrm>
            <a:off x="8796528" y="2121408"/>
            <a:ext cx="384048" cy="438912"/>
          </a:xfrm>
          <a:prstGeom prst="chevron">
            <a:avLst/>
          </a:prstGeom>
          <a:solidFill>
            <a:srgbClr val="992A2A"/>
          </a:solidFill>
          <a:ln w="12700">
            <a:solidFill>
              <a:srgbClr val="992A2A">
                <a:alpha val="0"/>
              </a:srgbClr>
            </a:solidFill>
            <a:prstDash val="solid"/>
          </a:ln>
        </p:spPr>
      </p:sp>
      <p:sp>
        <p:nvSpPr>
          <p:cNvPr id="12" name="Shape 9"/>
          <p:cNvSpPr/>
          <p:nvPr/>
        </p:nvSpPr>
        <p:spPr>
          <a:xfrm>
            <a:off x="6894576" y="2249424"/>
            <a:ext cx="4297680" cy="713232"/>
          </a:xfrm>
          <a:prstGeom prst="roundRect">
            <a:avLst/>
          </a:prstGeom>
          <a:solidFill>
            <a:srgbClr val="ECF1FE"/>
          </a:solidFill>
          <a:ln w="15240">
            <a:solidFill>
              <a:srgbClr val="4967C2"/>
            </a:solidFill>
            <a:prstDash val="solid"/>
          </a:ln>
        </p:spPr>
      </p:sp>
      <p:sp>
        <p:nvSpPr>
          <p:cNvPr id="13" name="Text 10"/>
          <p:cNvSpPr/>
          <p:nvPr/>
        </p:nvSpPr>
        <p:spPr>
          <a:xfrm>
            <a:off x="7095744" y="2359152"/>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4967C2"/>
                </a:solidFill>
                <a:latin typeface="Times New Roman" pitchFamily="34" charset="0"/>
                <a:ea typeface="標楷體" pitchFamily="34" charset="-122"/>
                <a:cs typeface="Times New Roman" pitchFamily="34" charset="-120"/>
              </a:rPr>
              <a:t>已送達資料</a:t>
            </a:r>
            <a:endParaRPr lang="en-US" sz="2400" dirty="0"/>
          </a:p>
        </p:txBody>
      </p:sp>
      <p:sp>
        <p:nvSpPr>
          <p:cNvPr id="14" name="Text 11"/>
          <p:cNvSpPr/>
          <p:nvPr/>
        </p:nvSpPr>
        <p:spPr>
          <a:xfrm>
            <a:off x="9253728" y="2359152"/>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4800</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bit</a:t>
            </a:r>
            <a:endParaRPr lang="en-US" sz="2400" dirty="0"/>
          </a:p>
        </p:txBody>
      </p:sp>
      <p:sp>
        <p:nvSpPr>
          <p:cNvPr id="15" name="Shape 12"/>
          <p:cNvSpPr/>
          <p:nvPr/>
        </p:nvSpPr>
        <p:spPr>
          <a:xfrm>
            <a:off x="8796528" y="3017520"/>
            <a:ext cx="384048" cy="438912"/>
          </a:xfrm>
          <a:prstGeom prst="chevron">
            <a:avLst/>
          </a:prstGeom>
          <a:solidFill>
            <a:srgbClr val="4967C2"/>
          </a:solidFill>
          <a:ln w="12700">
            <a:solidFill>
              <a:srgbClr val="4967C2">
                <a:alpha val="0"/>
              </a:srgbClr>
            </a:solidFill>
            <a:prstDash val="solid"/>
          </a:ln>
        </p:spPr>
      </p:sp>
      <p:sp>
        <p:nvSpPr>
          <p:cNvPr id="16" name="Shape 13"/>
          <p:cNvSpPr/>
          <p:nvPr/>
        </p:nvSpPr>
        <p:spPr>
          <a:xfrm>
            <a:off x="6894576" y="3145536"/>
            <a:ext cx="4297680" cy="713232"/>
          </a:xfrm>
          <a:prstGeom prst="roundRect">
            <a:avLst/>
          </a:prstGeom>
          <a:solidFill>
            <a:srgbClr val="E8F7F4"/>
          </a:solidFill>
          <a:ln w="15240">
            <a:solidFill>
              <a:srgbClr val="007374"/>
            </a:solidFill>
            <a:prstDash val="solid"/>
          </a:ln>
        </p:spPr>
      </p:sp>
      <p:sp>
        <p:nvSpPr>
          <p:cNvPr id="17" name="Text 14"/>
          <p:cNvSpPr/>
          <p:nvPr/>
        </p:nvSpPr>
        <p:spPr>
          <a:xfrm>
            <a:off x="7095744" y="3255264"/>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007374"/>
                </a:solidFill>
                <a:latin typeface="Times New Roman" pitchFamily="34" charset="0"/>
                <a:ea typeface="標楷體" pitchFamily="34" charset="-122"/>
                <a:cs typeface="Times New Roman" pitchFamily="34" charset="-120"/>
              </a:rPr>
              <a:t>端點能量</a:t>
            </a:r>
            <a:endParaRPr lang="en-US" sz="2400" dirty="0"/>
          </a:p>
        </p:txBody>
      </p:sp>
      <p:sp>
        <p:nvSpPr>
          <p:cNvPr id="18" name="Text 15"/>
          <p:cNvSpPr/>
          <p:nvPr/>
        </p:nvSpPr>
        <p:spPr>
          <a:xfrm>
            <a:off x="9253728" y="3255264"/>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6.92</a:t>
            </a:r>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 </a:t>
            </a:r>
            <a:pPr algn="r" indent="0" marL="0">
              <a:lnSpc>
                <a:spcPct val="100000"/>
              </a:lnSpc>
              <a:buNone/>
            </a:pPr>
            <a:r>
              <a:rPr lang="en-US" sz="2400" b="1" i="1" dirty="0">
                <a:solidFill>
                  <a:srgbClr val="25324A"/>
                </a:solidFill>
                <a:latin typeface="Times New Roman" pitchFamily="34" charset="0"/>
                <a:ea typeface="標楷體" pitchFamily="34" charset="-122"/>
                <a:cs typeface="Times New Roman" pitchFamily="34" charset="-120"/>
              </a:rPr>
              <a:t>J</a:t>
            </a:r>
            <a:endParaRPr lang="en-US" sz="2400" dirty="0"/>
          </a:p>
        </p:txBody>
      </p:sp>
      <p:sp>
        <p:nvSpPr>
          <p:cNvPr id="19" name="Shape 16"/>
          <p:cNvSpPr/>
          <p:nvPr/>
        </p:nvSpPr>
        <p:spPr>
          <a:xfrm>
            <a:off x="8796528" y="3913632"/>
            <a:ext cx="384048" cy="438912"/>
          </a:xfrm>
          <a:prstGeom prst="chevron">
            <a:avLst/>
          </a:prstGeom>
          <a:solidFill>
            <a:srgbClr val="007374"/>
          </a:solidFill>
          <a:ln w="12700">
            <a:solidFill>
              <a:srgbClr val="007374">
                <a:alpha val="0"/>
              </a:srgbClr>
            </a:solidFill>
            <a:prstDash val="solid"/>
          </a:ln>
        </p:spPr>
      </p:sp>
      <p:sp>
        <p:nvSpPr>
          <p:cNvPr id="20" name="Shape 17"/>
          <p:cNvSpPr/>
          <p:nvPr/>
        </p:nvSpPr>
        <p:spPr>
          <a:xfrm>
            <a:off x="6894576" y="4041648"/>
            <a:ext cx="4297680" cy="713232"/>
          </a:xfrm>
          <a:prstGeom prst="roundRect">
            <a:avLst/>
          </a:prstGeom>
          <a:solidFill>
            <a:srgbClr val="FDF9E2"/>
          </a:solidFill>
          <a:ln w="15240">
            <a:solidFill>
              <a:srgbClr val="846826"/>
            </a:solidFill>
            <a:prstDash val="solid"/>
          </a:ln>
        </p:spPr>
      </p:sp>
      <p:sp>
        <p:nvSpPr>
          <p:cNvPr id="21" name="Text 18"/>
          <p:cNvSpPr/>
          <p:nvPr/>
        </p:nvSpPr>
        <p:spPr>
          <a:xfrm>
            <a:off x="7095744" y="4151376"/>
            <a:ext cx="2048256" cy="438912"/>
          </a:xfrm>
          <a:prstGeom prst="rect">
            <a:avLst/>
          </a:prstGeom>
          <a:noFill/>
          <a:ln/>
        </p:spPr>
        <p:txBody>
          <a:bodyPr wrap="square" lIns="635" tIns="635" rIns="635" bIns="635" rtlCol="0" anchor="ctr">
            <a:normAutofit/>
          </a:bodyPr>
          <a:lstStyle/>
          <a:p>
            <a:pPr algn="l" indent="0" marL="0">
              <a:lnSpc>
                <a:spcPct val="100000"/>
              </a:lnSpc>
              <a:buNone/>
            </a:pPr>
            <a:r>
              <a:rPr lang="en-US" sz="2400" b="1" dirty="0">
                <a:solidFill>
                  <a:srgbClr val="846826"/>
                </a:solidFill>
                <a:latin typeface="Times New Roman" pitchFamily="34" charset="0"/>
                <a:ea typeface="標楷體" pitchFamily="34" charset="-122"/>
                <a:cs typeface="Times New Roman" pitchFamily="34" charset="-120"/>
              </a:rPr>
              <a:t>端點 </a:t>
            </a:r>
            <a:pPr algn="l" indent="0" marL="0">
              <a:lnSpc>
                <a:spcPct val="100000"/>
              </a:lnSpc>
              <a:buNone/>
            </a:pPr>
            <a:r>
              <a:rPr lang="en-US" sz="2400" b="1" i="1" dirty="0">
                <a:solidFill>
                  <a:srgbClr val="846826"/>
                </a:solidFill>
                <a:latin typeface="Times New Roman" pitchFamily="34" charset="0"/>
                <a:ea typeface="標楷體" pitchFamily="34" charset="-122"/>
                <a:cs typeface="Times New Roman" pitchFamily="34" charset="-120"/>
              </a:rPr>
              <a:t>bit/J</a:t>
            </a:r>
            <a:endParaRPr lang="en-US" sz="2400" dirty="0"/>
          </a:p>
        </p:txBody>
      </p:sp>
      <p:sp>
        <p:nvSpPr>
          <p:cNvPr id="22" name="Text 19"/>
          <p:cNvSpPr/>
          <p:nvPr/>
        </p:nvSpPr>
        <p:spPr>
          <a:xfrm>
            <a:off x="9253728" y="4151376"/>
            <a:ext cx="1664208" cy="438912"/>
          </a:xfrm>
          <a:prstGeom prst="rect">
            <a:avLst/>
          </a:prstGeom>
          <a:noFill/>
          <a:ln/>
        </p:spPr>
        <p:txBody>
          <a:bodyPr wrap="square" lIns="635" tIns="635" rIns="635" bIns="635" rtlCol="0" anchor="ctr">
            <a:normAutofit/>
          </a:bodyPr>
          <a:lstStyle/>
          <a:p>
            <a:pPr algn="r" indent="0" marL="0">
              <a:lnSpc>
                <a:spcPct val="100000"/>
              </a:lnSpc>
              <a:buNone/>
            </a:pPr>
            <a:r>
              <a:rPr lang="en-US" sz="2400" b="1" dirty="0">
                <a:solidFill>
                  <a:srgbClr val="25324A"/>
                </a:solidFill>
                <a:latin typeface="Times New Roman" pitchFamily="34" charset="0"/>
                <a:ea typeface="標楷體" pitchFamily="34" charset="-122"/>
                <a:cs typeface="Times New Roman" pitchFamily="34" charset="-120"/>
              </a:rPr>
              <a:t>693.641618</a:t>
            </a:r>
            <a:endParaRPr lang="en-US" sz="2400" dirty="0"/>
          </a:p>
        </p:txBody>
      </p:sp>
      <p:sp>
        <p:nvSpPr>
          <p:cNvPr id="23" name="Shape 20"/>
          <p:cNvSpPr/>
          <p:nvPr/>
        </p:nvSpPr>
        <p:spPr>
          <a:xfrm>
            <a:off x="822960" y="2944368"/>
            <a:ext cx="5577840" cy="1517904"/>
          </a:xfrm>
          <a:prstGeom prst="roundRect">
            <a:avLst/>
          </a:prstGeom>
          <a:solidFill>
            <a:srgbClr val="FDEFEF"/>
          </a:solidFill>
          <a:ln w="15240">
            <a:solidFill>
              <a:srgbClr val="992A2A"/>
            </a:solidFill>
            <a:prstDash val="solid"/>
          </a:ln>
        </p:spPr>
      </p:sp>
      <p:sp>
        <p:nvSpPr>
          <p:cNvPr id="24" name="Text 21"/>
          <p:cNvSpPr/>
          <p:nvPr/>
        </p:nvSpPr>
        <p:spPr>
          <a:xfrm>
            <a:off x="969264" y="3054096"/>
            <a:ext cx="5285232" cy="329184"/>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第一判讀</a:t>
            </a:r>
            <a:endParaRPr lang="en-US" sz="1800" dirty="0"/>
          </a:p>
        </p:txBody>
      </p:sp>
      <p:sp>
        <p:nvSpPr>
          <p:cNvPr id="25" name="Text 22"/>
          <p:cNvSpPr/>
          <p:nvPr/>
        </p:nvSpPr>
        <p:spPr>
          <a:xfrm>
            <a:off x="969264" y="3493008"/>
            <a:ext cx="5285232" cy="859536"/>
          </a:xfrm>
          <a:prstGeom prst="rect">
            <a:avLst/>
          </a:prstGeom>
          <a:noFill/>
          <a:ln/>
        </p:spPr>
        <p:txBody>
          <a:bodyPr wrap="square" lIns="635" tIns="635" rIns="635" bIns="635" rtlCol="0" anchor="t">
            <a:normAutofit/>
          </a:bodyPr>
          <a:lstStyle/>
          <a:p>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FAIL</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先界定服務邊界；</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4800</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bit</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描述完成量。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l"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bit/J</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的意義在 </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l"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之後說明。</a:t>
            </a:r>
            <a:endParaRPr lang="en-US" sz="2400" dirty="0"/>
          </a:p>
        </p:txBody>
      </p:sp>
      <p:sp>
        <p:nvSpPr>
          <p:cNvPr id="26" name="Shape 23"/>
          <p:cNvSpPr/>
          <p:nvPr/>
        </p:nvSpPr>
        <p:spPr>
          <a:xfrm>
            <a:off x="822960" y="4608576"/>
            <a:ext cx="10369296" cy="914400"/>
          </a:xfrm>
          <a:prstGeom prst="roundRect">
            <a:avLst/>
          </a:prstGeom>
          <a:solidFill>
            <a:srgbClr val="FDF9E2"/>
          </a:solidFill>
          <a:ln w="15240">
            <a:solidFill>
              <a:srgbClr val="846826"/>
            </a:solidFill>
            <a:prstDash val="solid"/>
          </a:ln>
        </p:spPr>
      </p:sp>
      <p:sp>
        <p:nvSpPr>
          <p:cNvPr id="27" name="Text 24"/>
          <p:cNvSpPr/>
          <p:nvPr/>
        </p:nvSpPr>
        <p:spPr>
          <a:xfrm>
            <a:off x="969264" y="4718304"/>
            <a:ext cx="100766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欄位契約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field</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contract</a:t>
            </a:r>
            <a:endParaRPr lang="en-US" sz="1800" dirty="0"/>
          </a:p>
        </p:txBody>
      </p:sp>
      <p:sp>
        <p:nvSpPr>
          <p:cNvPr id="28" name="Text 25"/>
          <p:cNvSpPr/>
          <p:nvPr/>
        </p:nvSpPr>
        <p:spPr>
          <a:xfrm>
            <a:off x="969264" y="5102352"/>
            <a:ext cx="10076688"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accepted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teaching</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bit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bit/J</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｜解釋：效率數字描述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，不改寫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FAIL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3.xml><?xml version="1.0" encoding="utf-8"?>
<p:sld xmlns:a="http://schemas.openxmlformats.org/drawingml/2006/main" xmlns:ns2="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P087</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frame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selector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與八欄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replay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同一個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：八個欄位共同定義事件脈絡</a:t>
            </a:r>
            <a:endParaRPr lang="en-US" sz="2400" dirty="0"/>
          </a:p>
        </p:txBody>
      </p:sp>
      <p:pic>
        <p:nvPicPr>
          <p:cNvPr id="4" name="Image 0" descr="identifier-free replay frame crop">    </p:cNvPr>
          <p:cNvPicPr>
            <a:picLocks noChangeAspect="1"/>
          </p:cNvPicPr>
          <p:nvPr/>
        </p:nvPicPr>
        <p:blipFill>
          <a:blip ns2:embed="rId1"/>
          <a:stretch>
            <a:fillRect/>
          </a:stretch>
        </p:blipFill>
        <p:spPr>
          <a:xfrm>
            <a:off x="822960" y="1353312"/>
            <a:ext cx="7333488" cy="1609344"/>
          </a:xfrm>
          <a:prstGeom prst="rect">
            <a:avLst/>
          </a:prstGeom>
        </p:spPr>
      </p:pic>
      <p:sp>
        <p:nvSpPr>
          <p:cNvPr id="5" name="Shape 2"/>
          <p:cNvSpPr/>
          <p:nvPr/>
        </p:nvSpPr>
        <p:spPr>
          <a:xfrm>
            <a:off x="822960" y="1353312"/>
            <a:ext cx="7333488" cy="1609344"/>
          </a:xfrm>
          <a:prstGeom prst="rect">
            <a:avLst/>
          </a:prstGeom>
          <a:solidFill>
            <a:srgbClr val="FFFFFF">
              <a:alpha val="0"/>
            </a:srgbClr>
          </a:solidFill>
          <a:ln w="12700">
            <a:solidFill>
              <a:srgbClr val="D7DEEA"/>
            </a:solidFill>
            <a:prstDash val="solid"/>
          </a:ln>
        </p:spPr>
      </p:sp>
      <p:sp>
        <p:nvSpPr>
          <p:cNvPr id="6" name="Shape 3"/>
          <p:cNvSpPr/>
          <p:nvPr/>
        </p:nvSpPr>
        <p:spPr>
          <a:xfrm>
            <a:off x="8485632" y="1371600"/>
            <a:ext cx="2761488" cy="420624"/>
          </a:xfrm>
          <a:prstGeom prst="roundRect">
            <a:avLst/>
          </a:prstGeom>
          <a:solidFill>
            <a:srgbClr val="E8F7F4"/>
          </a:solidFill>
          <a:ln w="15240">
            <a:solidFill>
              <a:srgbClr val="007374"/>
            </a:solidFill>
            <a:prstDash val="solid"/>
          </a:ln>
        </p:spPr>
      </p:sp>
      <p:sp>
        <p:nvSpPr>
          <p:cNvPr id="7" name="Text 4"/>
          <p:cNvSpPr/>
          <p:nvPr/>
        </p:nvSpPr>
        <p:spPr>
          <a:xfrm>
            <a:off x="8558784" y="1408176"/>
            <a:ext cx="261518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replay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8485632" y="1938528"/>
            <a:ext cx="2761488" cy="1024128"/>
          </a:xfrm>
          <a:prstGeom prst="roundRect">
            <a:avLst/>
          </a:prstGeom>
          <a:solidFill>
            <a:srgbClr val="FDF9E2"/>
          </a:solidFill>
          <a:ln w="15240">
            <a:solidFill>
              <a:srgbClr val="846826"/>
            </a:solidFill>
            <a:prstDash val="solid"/>
          </a:ln>
        </p:spPr>
      </p:sp>
      <p:sp>
        <p:nvSpPr>
          <p:cNvPr id="9" name="Text 6"/>
          <p:cNvSpPr/>
          <p:nvPr/>
        </p:nvSpPr>
        <p:spPr>
          <a:xfrm>
            <a:off x="8631936" y="2048256"/>
            <a:ext cx="246888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selector</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選擇器</a:t>
            </a:r>
            <a:endParaRPr lang="en-US" sz="1800" dirty="0"/>
          </a:p>
        </p:txBody>
      </p:sp>
      <p:sp>
        <p:nvSpPr>
          <p:cNvPr id="10" name="Text 7"/>
          <p:cNvSpPr/>
          <p:nvPr/>
        </p:nvSpPr>
        <p:spPr>
          <a:xfrm>
            <a:off x="8631936" y="2432304"/>
            <a:ext cx="2468880" cy="42062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1</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56</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0</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成功切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；欄位同步更新。</a:t>
            </a:r>
            <a:endParaRPr lang="en-US" sz="2400" dirty="0"/>
          </a:p>
        </p:txBody>
      </p:sp>
      <p:sp>
        <p:nvSpPr>
          <p:cNvPr id="11" name="Shape 8"/>
          <p:cNvSpPr/>
          <p:nvPr/>
        </p:nvSpPr>
        <p:spPr>
          <a:xfrm>
            <a:off x="822960" y="3310128"/>
            <a:ext cx="2578608" cy="841248"/>
          </a:xfrm>
          <a:prstGeom prst="roundRect">
            <a:avLst/>
          </a:prstGeom>
          <a:solidFill>
            <a:srgbClr val="ECF1FE"/>
          </a:solidFill>
          <a:ln w="15240">
            <a:solidFill>
              <a:srgbClr val="4967C2"/>
            </a:solidFill>
            <a:prstDash val="solid"/>
          </a:ln>
        </p:spPr>
      </p:sp>
      <p:sp>
        <p:nvSpPr>
          <p:cNvPr id="12" name="Text 9"/>
          <p:cNvSpPr/>
          <p:nvPr/>
        </p:nvSpPr>
        <p:spPr>
          <a:xfrm>
            <a:off x="914400"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4967C2"/>
                </a:solidFill>
                <a:latin typeface="Times New Roman" pitchFamily="34" charset="0"/>
                <a:ea typeface="標楷體" pitchFamily="34" charset="-122"/>
                <a:cs typeface="Times New Roman" pitchFamily="34" charset="-120"/>
              </a:rPr>
              <a:t>Radio</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無線電</a:t>
            </a:r>
            <a:endParaRPr lang="en-US" sz="1800" dirty="0"/>
          </a:p>
        </p:txBody>
      </p:sp>
      <p:sp>
        <p:nvSpPr>
          <p:cNvPr id="13" name="Text 10"/>
          <p:cNvSpPr/>
          <p:nvPr/>
        </p:nvSpPr>
        <p:spPr>
          <a:xfrm>
            <a:off x="914400"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ledger</a:t>
            </a:r>
            <a:endParaRPr lang="en-US" sz="1600" dirty="0"/>
          </a:p>
        </p:txBody>
      </p:sp>
      <p:sp>
        <p:nvSpPr>
          <p:cNvPr id="14" name="Shape 11"/>
          <p:cNvSpPr/>
          <p:nvPr/>
        </p:nvSpPr>
        <p:spPr>
          <a:xfrm>
            <a:off x="3593592" y="3310128"/>
            <a:ext cx="2578608" cy="841248"/>
          </a:xfrm>
          <a:prstGeom prst="roundRect">
            <a:avLst/>
          </a:prstGeom>
          <a:solidFill>
            <a:srgbClr val="FDF9E2"/>
          </a:solidFill>
          <a:ln w="15240">
            <a:solidFill>
              <a:srgbClr val="846826"/>
            </a:solidFill>
            <a:prstDash val="solid"/>
          </a:ln>
        </p:spPr>
      </p:sp>
      <p:sp>
        <p:nvSpPr>
          <p:cNvPr id="15" name="Text 12"/>
          <p:cNvSpPr/>
          <p:nvPr/>
        </p:nvSpPr>
        <p:spPr>
          <a:xfrm>
            <a:off x="3685032"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Action</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動作</a:t>
            </a:r>
            <a:endParaRPr lang="en-US" sz="1800" dirty="0"/>
          </a:p>
        </p:txBody>
      </p:sp>
      <p:sp>
        <p:nvSpPr>
          <p:cNvPr id="16" name="Text 13"/>
          <p:cNvSpPr/>
          <p:nvPr/>
        </p:nvSpPr>
        <p:spPr>
          <a:xfrm>
            <a:off x="3685032"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enum</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API</a:t>
            </a:r>
            <a:endParaRPr lang="en-US" sz="1600" dirty="0"/>
          </a:p>
        </p:txBody>
      </p:sp>
      <p:sp>
        <p:nvSpPr>
          <p:cNvPr id="17" name="Shape 14"/>
          <p:cNvSpPr/>
          <p:nvPr/>
        </p:nvSpPr>
        <p:spPr>
          <a:xfrm>
            <a:off x="6364224" y="3310128"/>
            <a:ext cx="2578608" cy="841248"/>
          </a:xfrm>
          <a:prstGeom prst="roundRect">
            <a:avLst/>
          </a:prstGeom>
          <a:solidFill>
            <a:srgbClr val="F4EDF7"/>
          </a:solidFill>
          <a:ln w="15240">
            <a:solidFill>
              <a:srgbClr val="660066"/>
            </a:solidFill>
            <a:prstDash val="solid"/>
          </a:ln>
        </p:spPr>
      </p:sp>
      <p:sp>
        <p:nvSpPr>
          <p:cNvPr id="18" name="Text 15"/>
          <p:cNvSpPr/>
          <p:nvPr/>
        </p:nvSpPr>
        <p:spPr>
          <a:xfrm>
            <a:off x="6455664"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queue</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count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佇列數</a:t>
            </a:r>
            <a:endParaRPr lang="en-US" sz="1800" dirty="0"/>
          </a:p>
        </p:txBody>
      </p:sp>
      <p:sp>
        <p:nvSpPr>
          <p:cNvPr id="19" name="Text 16"/>
          <p:cNvSpPr/>
          <p:nvPr/>
        </p:nvSpPr>
        <p:spPr>
          <a:xfrm>
            <a:off x="6455664"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endParaRPr lang="en-US" sz="1600" dirty="0"/>
          </a:p>
        </p:txBody>
      </p:sp>
      <p:sp>
        <p:nvSpPr>
          <p:cNvPr id="20" name="Shape 17"/>
          <p:cNvSpPr/>
          <p:nvPr/>
        </p:nvSpPr>
        <p:spPr>
          <a:xfrm>
            <a:off x="9134856" y="3310128"/>
            <a:ext cx="2578608" cy="841248"/>
          </a:xfrm>
          <a:prstGeom prst="roundRect">
            <a:avLst/>
          </a:prstGeom>
          <a:solidFill>
            <a:srgbClr val="E8F7F4"/>
          </a:solidFill>
          <a:ln w="15240">
            <a:solidFill>
              <a:srgbClr val="007374"/>
            </a:solidFill>
            <a:prstDash val="solid"/>
          </a:ln>
        </p:spPr>
      </p:sp>
      <p:sp>
        <p:nvSpPr>
          <p:cNvPr id="21" name="Text 18"/>
          <p:cNvSpPr/>
          <p:nvPr/>
        </p:nvSpPr>
        <p:spPr>
          <a:xfrm>
            <a:off x="9226296" y="340156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累積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J</a:t>
            </a:r>
            <a:endParaRPr lang="en-US" sz="1800" dirty="0"/>
          </a:p>
        </p:txBody>
      </p:sp>
      <p:sp>
        <p:nvSpPr>
          <p:cNvPr id="22" name="Text 19"/>
          <p:cNvSpPr/>
          <p:nvPr/>
        </p:nvSpPr>
        <p:spPr>
          <a:xfrm>
            <a:off x="9226296" y="373989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J</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ledger</a:t>
            </a:r>
            <a:endParaRPr lang="en-US" sz="1600" dirty="0"/>
          </a:p>
        </p:txBody>
      </p:sp>
      <p:sp>
        <p:nvSpPr>
          <p:cNvPr id="23" name="Shape 20"/>
          <p:cNvSpPr/>
          <p:nvPr/>
        </p:nvSpPr>
        <p:spPr>
          <a:xfrm>
            <a:off x="822960" y="4361688"/>
            <a:ext cx="2578608" cy="841248"/>
          </a:xfrm>
          <a:prstGeom prst="roundRect">
            <a:avLst/>
          </a:prstGeom>
          <a:solidFill>
            <a:srgbClr val="ECF1FE"/>
          </a:solidFill>
          <a:ln w="15240">
            <a:solidFill>
              <a:srgbClr val="4967C2"/>
            </a:solidFill>
            <a:prstDash val="solid"/>
          </a:ln>
        </p:spPr>
      </p:sp>
      <p:sp>
        <p:nvSpPr>
          <p:cNvPr id="24" name="Text 21"/>
          <p:cNvSpPr/>
          <p:nvPr/>
        </p:nvSpPr>
        <p:spPr>
          <a:xfrm>
            <a:off x="914400"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Elapsed</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經過時間</a:t>
            </a:r>
            <a:endParaRPr lang="en-US" sz="1800" dirty="0"/>
          </a:p>
        </p:txBody>
      </p:sp>
      <p:sp>
        <p:nvSpPr>
          <p:cNvPr id="25" name="Text 22"/>
          <p:cNvSpPr/>
          <p:nvPr/>
        </p:nvSpPr>
        <p:spPr>
          <a:xfrm>
            <a:off x="914400"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時間｜</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26" name="Shape 23"/>
          <p:cNvSpPr/>
          <p:nvPr/>
        </p:nvSpPr>
        <p:spPr>
          <a:xfrm>
            <a:off x="3593592" y="4361688"/>
            <a:ext cx="2578608" cy="841248"/>
          </a:xfrm>
          <a:prstGeom prst="roundRect">
            <a:avLst/>
          </a:prstGeom>
          <a:solidFill>
            <a:srgbClr val="FDF9E2"/>
          </a:solidFill>
          <a:ln w="15240">
            <a:solidFill>
              <a:srgbClr val="846826"/>
            </a:solidFill>
            <a:prstDash val="solid"/>
          </a:ln>
        </p:spPr>
      </p:sp>
      <p:sp>
        <p:nvSpPr>
          <p:cNvPr id="27" name="Text 24"/>
          <p:cNvSpPr/>
          <p:nvPr/>
        </p:nvSpPr>
        <p:spPr>
          <a:xfrm>
            <a:off x="3685032"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846826"/>
                </a:solidFill>
                <a:latin typeface="Times New Roman" pitchFamily="34" charset="0"/>
                <a:ea typeface="標楷體" pitchFamily="34" charset="-122"/>
                <a:cs typeface="Times New Roman" pitchFamily="34" charset="-120"/>
              </a:rPr>
              <a:t>Contact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ID</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接觸識別碼</a:t>
            </a:r>
            <a:endParaRPr lang="en-US" sz="1800" dirty="0"/>
          </a:p>
        </p:txBody>
      </p:sp>
      <p:sp>
        <p:nvSpPr>
          <p:cNvPr id="28" name="Text 25"/>
          <p:cNvSpPr/>
          <p:nvPr/>
        </p:nvSpPr>
        <p:spPr>
          <a:xfrm>
            <a:off x="3685032"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identifier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contact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29" name="Shape 26"/>
          <p:cNvSpPr/>
          <p:nvPr/>
        </p:nvSpPr>
        <p:spPr>
          <a:xfrm>
            <a:off x="6364224" y="4361688"/>
            <a:ext cx="2578608" cy="841248"/>
          </a:xfrm>
          <a:prstGeom prst="roundRect">
            <a:avLst/>
          </a:prstGeom>
          <a:solidFill>
            <a:srgbClr val="F4EDF7"/>
          </a:solidFill>
          <a:ln w="15240">
            <a:solidFill>
              <a:srgbClr val="660066"/>
            </a:solidFill>
            <a:prstDash val="solid"/>
          </a:ln>
        </p:spPr>
      </p:sp>
      <p:sp>
        <p:nvSpPr>
          <p:cNvPr id="30" name="Text 27"/>
          <p:cNvSpPr/>
          <p:nvPr/>
        </p:nvSpPr>
        <p:spPr>
          <a:xfrm>
            <a:off x="6455664"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Contact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接觸狀態</a:t>
            </a:r>
            <a:endParaRPr lang="en-US" sz="1800" dirty="0"/>
          </a:p>
        </p:txBody>
      </p:sp>
      <p:sp>
        <p:nvSpPr>
          <p:cNvPr id="31" name="Text 28"/>
          <p:cNvSpPr/>
          <p:nvPr/>
        </p:nvSpPr>
        <p:spPr>
          <a:xfrm>
            <a:off x="6455664"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開啟／關閉｜</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contact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event</a:t>
            </a:r>
            <a:endParaRPr lang="en-US" sz="1600" dirty="0"/>
          </a:p>
        </p:txBody>
      </p:sp>
      <p:sp>
        <p:nvSpPr>
          <p:cNvPr id="32" name="Shape 29"/>
          <p:cNvSpPr/>
          <p:nvPr/>
        </p:nvSpPr>
        <p:spPr>
          <a:xfrm>
            <a:off x="9134856" y="4361688"/>
            <a:ext cx="2578608" cy="841248"/>
          </a:xfrm>
          <a:prstGeom prst="roundRect">
            <a:avLst/>
          </a:prstGeom>
          <a:solidFill>
            <a:srgbClr val="E8F7F4"/>
          </a:solidFill>
          <a:ln w="15240">
            <a:solidFill>
              <a:srgbClr val="007374"/>
            </a:solidFill>
            <a:prstDash val="solid"/>
          </a:ln>
        </p:spPr>
      </p:sp>
      <p:sp>
        <p:nvSpPr>
          <p:cNvPr id="33" name="Text 30"/>
          <p:cNvSpPr/>
          <p:nvPr/>
        </p:nvSpPr>
        <p:spPr>
          <a:xfrm>
            <a:off x="9226296" y="4453128"/>
            <a:ext cx="239572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Quality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連線品質</a:t>
            </a:r>
            <a:endParaRPr lang="en-US" sz="1800" dirty="0"/>
          </a:p>
        </p:txBody>
      </p:sp>
      <p:sp>
        <p:nvSpPr>
          <p:cNvPr id="34" name="Text 31"/>
          <p:cNvSpPr/>
          <p:nvPr/>
        </p:nvSpPr>
        <p:spPr>
          <a:xfrm>
            <a:off x="9226296" y="4791456"/>
            <a:ext cx="2395728" cy="256032"/>
          </a:xfrm>
          <a:prstGeom prst="rect">
            <a:avLst/>
          </a:prstGeom>
          <a:noFill/>
          <a:ln/>
        </p:spPr>
        <p:txBody>
          <a:bodyPr wrap="square" lIns="635" tIns="635" rIns="635" bIns="635" rtlCol="0" anchor="ctr">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ordinal</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band</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runner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trace</a:t>
            </a:r>
            <a:endParaRPr lang="en-US" sz="1600" dirty="0"/>
          </a:p>
        </p:txBody>
      </p:sp>
      <p:sp>
        <p:nvSpPr>
          <p:cNvPr id="36"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4.xml><?xml version="1.0" encoding="utf-8"?>
<p:sld xmlns:a="http://schemas.openxmlformats.org/drawingml/2006/main" xmlns:ns2="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P088</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queue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packet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event</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告訴當下仍有什麼工作；</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才確認結果如何形成</a:t>
            </a:r>
            <a:endParaRPr lang="en-US" sz="2400" dirty="0"/>
          </a:p>
        </p:txBody>
      </p:sp>
      <p:pic>
        <p:nvPicPr>
          <p:cNvPr id="4" name="Image 0" descr="identifier-free replay frame crop">    </p:cNvPr>
          <p:cNvPicPr>
            <a:picLocks noChangeAspect="1"/>
          </p:cNvPicPr>
          <p:nvPr/>
        </p:nvPicPr>
        <p:blipFill>
          <a:blip ns2:embed="rId1"/>
          <a:stretch>
            <a:fillRect/>
          </a:stretch>
        </p:blipFill>
        <p:spPr>
          <a:xfrm>
            <a:off x="822960" y="1353312"/>
            <a:ext cx="4992624" cy="1078992"/>
          </a:xfrm>
          <a:prstGeom prst="rect">
            <a:avLst/>
          </a:prstGeom>
        </p:spPr>
      </p:pic>
      <p:sp>
        <p:nvSpPr>
          <p:cNvPr id="5" name="Shape 2"/>
          <p:cNvSpPr/>
          <p:nvPr/>
        </p:nvSpPr>
        <p:spPr>
          <a:xfrm>
            <a:off x="822960" y="1353312"/>
            <a:ext cx="4992624" cy="1078992"/>
          </a:xfrm>
          <a:prstGeom prst="rect">
            <a:avLst/>
          </a:prstGeom>
          <a:solidFill>
            <a:srgbClr val="FFFFFF">
              <a:alpha val="0"/>
            </a:srgbClr>
          </a:solidFill>
          <a:ln w="12700">
            <a:solidFill>
              <a:srgbClr val="D7DEEA"/>
            </a:solidFill>
            <a:prstDash val="solid"/>
          </a:ln>
        </p:spPr>
      </p:sp>
      <p:sp>
        <p:nvSpPr>
          <p:cNvPr id="6" name="Shape 3"/>
          <p:cNvSpPr/>
          <p:nvPr/>
        </p:nvSpPr>
        <p:spPr>
          <a:xfrm>
            <a:off x="1078992" y="2542032"/>
            <a:ext cx="4480560" cy="420624"/>
          </a:xfrm>
          <a:prstGeom prst="roundRect">
            <a:avLst/>
          </a:prstGeom>
          <a:solidFill>
            <a:srgbClr val="E8F7F4"/>
          </a:solidFill>
          <a:ln w="15240">
            <a:solidFill>
              <a:srgbClr val="007374"/>
            </a:solidFill>
            <a:prstDash val="solid"/>
          </a:ln>
        </p:spPr>
      </p:sp>
      <p:sp>
        <p:nvSpPr>
          <p:cNvPr id="7" name="Text 4"/>
          <p:cNvSpPr/>
          <p:nvPr/>
        </p:nvSpPr>
        <p:spPr>
          <a:xfrm>
            <a:off x="1152144" y="2578608"/>
            <a:ext cx="4334256"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queue/event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panel</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待補</a:t>
            </a:r>
            <a:endParaRPr lang="en-US" sz="1800" dirty="0"/>
          </a:p>
        </p:txBody>
      </p:sp>
      <p:sp>
        <p:nvSpPr>
          <p:cNvPr id="8" name="Shape 5"/>
          <p:cNvSpPr/>
          <p:nvPr/>
        </p:nvSpPr>
        <p:spPr>
          <a:xfrm>
            <a:off x="6217920" y="1353312"/>
            <a:ext cx="2249424" cy="1078992"/>
          </a:xfrm>
          <a:prstGeom prst="roundRect">
            <a:avLst/>
          </a:prstGeom>
          <a:solidFill>
            <a:srgbClr val="ECF1FE"/>
          </a:solidFill>
          <a:ln w="15240">
            <a:solidFill>
              <a:srgbClr val="4967C2"/>
            </a:solidFill>
            <a:prstDash val="solid"/>
          </a:ln>
        </p:spPr>
      </p:sp>
      <p:sp>
        <p:nvSpPr>
          <p:cNvPr id="9" name="Text 6"/>
          <p:cNvSpPr/>
          <p:nvPr/>
        </p:nvSpPr>
        <p:spPr>
          <a:xfrm>
            <a:off x="6364224" y="1463040"/>
            <a:ext cx="195681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目前佇列</a:t>
            </a:r>
            <a:endParaRPr lang="en-US" sz="1800" dirty="0"/>
          </a:p>
        </p:txBody>
      </p:sp>
      <p:sp>
        <p:nvSpPr>
          <p:cNvPr id="10" name="Text 7"/>
          <p:cNvSpPr/>
          <p:nvPr/>
        </p:nvSpPr>
        <p:spPr>
          <a:xfrm>
            <a:off x="6364224" y="1865376"/>
            <a:ext cx="1956816"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normal-1</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item</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packet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count</a:t>
            </a:r>
            <a:endParaRPr lang="en-US" sz="2400" dirty="0"/>
          </a:p>
        </p:txBody>
      </p:sp>
      <p:sp>
        <p:nvSpPr>
          <p:cNvPr id="11" name="Shape 8"/>
          <p:cNvSpPr/>
          <p:nvPr/>
        </p:nvSpPr>
        <p:spPr>
          <a:xfrm>
            <a:off x="8759952" y="1353312"/>
            <a:ext cx="2249424" cy="1078992"/>
          </a:xfrm>
          <a:prstGeom prst="roundRect">
            <a:avLst/>
          </a:prstGeom>
          <a:solidFill>
            <a:srgbClr val="F4EDF7"/>
          </a:solidFill>
          <a:ln w="15240">
            <a:solidFill>
              <a:srgbClr val="660066"/>
            </a:solidFill>
            <a:prstDash val="solid"/>
          </a:ln>
        </p:spPr>
      </p:sp>
      <p:sp>
        <p:nvSpPr>
          <p:cNvPr id="12" name="Text 9"/>
          <p:cNvSpPr/>
          <p:nvPr/>
        </p:nvSpPr>
        <p:spPr>
          <a:xfrm>
            <a:off x="8906256" y="1463040"/>
            <a:ext cx="195681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目前事件</a:t>
            </a:r>
            <a:endParaRPr lang="en-US" sz="1800" dirty="0"/>
          </a:p>
        </p:txBody>
      </p:sp>
      <p:sp>
        <p:nvSpPr>
          <p:cNvPr id="13" name="Text 10"/>
          <p:cNvSpPr/>
          <p:nvPr/>
        </p:nvSpPr>
        <p:spPr>
          <a:xfrm>
            <a:off x="8906256" y="1865376"/>
            <a:ext cx="1956816"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evt-0000</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anchor</a:t>
            </a:r>
            <a:endParaRPr lang="en-US" sz="2400" dirty="0"/>
          </a:p>
        </p:txBody>
      </p:sp>
      <p:sp>
        <p:nvSpPr>
          <p:cNvPr id="14" name="Shape 11"/>
          <p:cNvSpPr/>
          <p:nvPr/>
        </p:nvSpPr>
        <p:spPr>
          <a:xfrm>
            <a:off x="822960" y="3401568"/>
            <a:ext cx="1938528" cy="713232"/>
          </a:xfrm>
          <a:prstGeom prst="roundRect">
            <a:avLst/>
          </a:prstGeom>
          <a:solidFill>
            <a:srgbClr val="ECF1FE"/>
          </a:solidFill>
          <a:ln w="15240">
            <a:solidFill>
              <a:srgbClr val="4967C2"/>
            </a:solidFill>
            <a:prstDash val="solid"/>
          </a:ln>
        </p:spPr>
      </p:sp>
      <p:sp>
        <p:nvSpPr>
          <p:cNvPr id="15" name="Text 12"/>
          <p:cNvSpPr/>
          <p:nvPr/>
        </p:nvSpPr>
        <p:spPr>
          <a:xfrm>
            <a:off x="896112"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生成／入列</a:t>
            </a:r>
            <a:endParaRPr lang="en-US" sz="1800" dirty="0"/>
          </a:p>
        </p:txBody>
      </p:sp>
      <p:sp>
        <p:nvSpPr>
          <p:cNvPr id="16" name="Shape 13"/>
          <p:cNvSpPr/>
          <p:nvPr/>
        </p:nvSpPr>
        <p:spPr>
          <a:xfrm>
            <a:off x="2816352" y="3547872"/>
            <a:ext cx="384048" cy="438912"/>
          </a:xfrm>
          <a:prstGeom prst="chevron">
            <a:avLst/>
          </a:prstGeom>
          <a:solidFill>
            <a:srgbClr val="4967C2"/>
          </a:solidFill>
          <a:ln w="12700">
            <a:solidFill>
              <a:srgbClr val="4967C2">
                <a:alpha val="0"/>
              </a:srgbClr>
            </a:solidFill>
            <a:prstDash val="solid"/>
          </a:ln>
        </p:spPr>
      </p:sp>
      <p:sp>
        <p:nvSpPr>
          <p:cNvPr id="17" name="Shape 14"/>
          <p:cNvSpPr/>
          <p:nvPr/>
        </p:nvSpPr>
        <p:spPr>
          <a:xfrm>
            <a:off x="3044952" y="3401568"/>
            <a:ext cx="1938528" cy="713232"/>
          </a:xfrm>
          <a:prstGeom prst="roundRect">
            <a:avLst/>
          </a:prstGeom>
          <a:solidFill>
            <a:srgbClr val="FDF9E2"/>
          </a:solidFill>
          <a:ln w="15240">
            <a:solidFill>
              <a:srgbClr val="846826"/>
            </a:solidFill>
            <a:prstDash val="solid"/>
          </a:ln>
        </p:spPr>
      </p:sp>
      <p:sp>
        <p:nvSpPr>
          <p:cNvPr id="18" name="Text 15"/>
          <p:cNvSpPr/>
          <p:nvPr/>
        </p:nvSpPr>
        <p:spPr>
          <a:xfrm>
            <a:off x="3118104"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嘗試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attempt</a:t>
            </a:r>
            <a:endParaRPr lang="en-US" sz="1800" dirty="0"/>
          </a:p>
        </p:txBody>
      </p:sp>
      <p:sp>
        <p:nvSpPr>
          <p:cNvPr id="19" name="Shape 16"/>
          <p:cNvSpPr/>
          <p:nvPr/>
        </p:nvSpPr>
        <p:spPr>
          <a:xfrm>
            <a:off x="5038344" y="3547872"/>
            <a:ext cx="384048" cy="438912"/>
          </a:xfrm>
          <a:prstGeom prst="chevron">
            <a:avLst/>
          </a:prstGeom>
          <a:solidFill>
            <a:srgbClr val="846826"/>
          </a:solidFill>
          <a:ln w="12700">
            <a:solidFill>
              <a:srgbClr val="846826">
                <a:alpha val="0"/>
              </a:srgbClr>
            </a:solidFill>
            <a:prstDash val="solid"/>
          </a:ln>
        </p:spPr>
      </p:sp>
      <p:sp>
        <p:nvSpPr>
          <p:cNvPr id="20" name="Shape 17"/>
          <p:cNvSpPr/>
          <p:nvPr/>
        </p:nvSpPr>
        <p:spPr>
          <a:xfrm>
            <a:off x="5266944" y="3401568"/>
            <a:ext cx="1938528" cy="713232"/>
          </a:xfrm>
          <a:prstGeom prst="roundRect">
            <a:avLst/>
          </a:prstGeom>
          <a:solidFill>
            <a:srgbClr val="F4EDF7"/>
          </a:solidFill>
          <a:ln w="15240">
            <a:solidFill>
              <a:srgbClr val="660066"/>
            </a:solidFill>
            <a:prstDash val="solid"/>
          </a:ln>
        </p:spPr>
      </p:sp>
      <p:sp>
        <p:nvSpPr>
          <p:cNvPr id="21" name="Text 18"/>
          <p:cNvSpPr/>
          <p:nvPr/>
        </p:nvSpPr>
        <p:spPr>
          <a:xfrm>
            <a:off x="5340096"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重試／碰撞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retry</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collision</a:t>
            </a:r>
            <a:endParaRPr lang="en-US" sz="1800" dirty="0"/>
          </a:p>
        </p:txBody>
      </p:sp>
      <p:sp>
        <p:nvSpPr>
          <p:cNvPr id="22" name="Shape 19"/>
          <p:cNvSpPr/>
          <p:nvPr/>
        </p:nvSpPr>
        <p:spPr>
          <a:xfrm>
            <a:off x="7260336" y="3547872"/>
            <a:ext cx="384048" cy="438912"/>
          </a:xfrm>
          <a:prstGeom prst="chevron">
            <a:avLst/>
          </a:prstGeom>
          <a:solidFill>
            <a:srgbClr val="660066"/>
          </a:solidFill>
          <a:ln w="12700">
            <a:solidFill>
              <a:srgbClr val="660066">
                <a:alpha val="0"/>
              </a:srgbClr>
            </a:solidFill>
            <a:prstDash val="solid"/>
          </a:ln>
        </p:spPr>
      </p:sp>
      <p:sp>
        <p:nvSpPr>
          <p:cNvPr id="23" name="Shape 20"/>
          <p:cNvSpPr/>
          <p:nvPr/>
        </p:nvSpPr>
        <p:spPr>
          <a:xfrm>
            <a:off x="7488936" y="3401568"/>
            <a:ext cx="1938528" cy="713232"/>
          </a:xfrm>
          <a:prstGeom prst="roundRect">
            <a:avLst/>
          </a:prstGeom>
          <a:solidFill>
            <a:srgbClr val="E8F7F4"/>
          </a:solidFill>
          <a:ln w="15240">
            <a:solidFill>
              <a:srgbClr val="007374"/>
            </a:solidFill>
            <a:prstDash val="solid"/>
          </a:ln>
        </p:spPr>
      </p:sp>
      <p:sp>
        <p:nvSpPr>
          <p:cNvPr id="24" name="Text 21"/>
          <p:cNvSpPr/>
          <p:nvPr/>
        </p:nvSpPr>
        <p:spPr>
          <a:xfrm>
            <a:off x="7562088"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已送達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delivered</a:t>
            </a:r>
            <a:endParaRPr lang="en-US" sz="1800" dirty="0"/>
          </a:p>
        </p:txBody>
      </p:sp>
      <p:sp>
        <p:nvSpPr>
          <p:cNvPr id="25" name="Shape 22"/>
          <p:cNvSpPr/>
          <p:nvPr/>
        </p:nvSpPr>
        <p:spPr>
          <a:xfrm>
            <a:off x="9482328" y="3547872"/>
            <a:ext cx="384048" cy="438912"/>
          </a:xfrm>
          <a:prstGeom prst="chevron">
            <a:avLst/>
          </a:prstGeom>
          <a:solidFill>
            <a:srgbClr val="007374"/>
          </a:solidFill>
          <a:ln w="12700">
            <a:solidFill>
              <a:srgbClr val="007374">
                <a:alpha val="0"/>
              </a:srgbClr>
            </a:solidFill>
            <a:prstDash val="solid"/>
          </a:ln>
        </p:spPr>
      </p:sp>
      <p:sp>
        <p:nvSpPr>
          <p:cNvPr id="26" name="Shape 23"/>
          <p:cNvSpPr/>
          <p:nvPr/>
        </p:nvSpPr>
        <p:spPr>
          <a:xfrm>
            <a:off x="9710928" y="3401568"/>
            <a:ext cx="1938528" cy="713232"/>
          </a:xfrm>
          <a:prstGeom prst="roundRect">
            <a:avLst/>
          </a:prstGeom>
          <a:solidFill>
            <a:srgbClr val="FDEFEF"/>
          </a:solidFill>
          <a:ln w="15240">
            <a:solidFill>
              <a:srgbClr val="992A2A"/>
            </a:solidFill>
            <a:prstDash val="solid"/>
          </a:ln>
        </p:spPr>
      </p:sp>
      <p:sp>
        <p:nvSpPr>
          <p:cNvPr id="27" name="Text 24"/>
          <p:cNvSpPr/>
          <p:nvPr/>
        </p:nvSpPr>
        <p:spPr>
          <a:xfrm>
            <a:off x="9784080" y="3602736"/>
            <a:ext cx="1792224"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過期／服務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expired</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992A2A"/>
                </a:solidFill>
                <a:latin typeface="Times New Roman" pitchFamily="34" charset="0"/>
                <a:ea typeface="標楷體" pitchFamily="34" charset="-122"/>
                <a:cs typeface="Times New Roman" pitchFamily="34" charset="-120"/>
              </a:rPr>
              <a:t>service</a:t>
            </a:r>
            <a:endParaRPr lang="en-US" sz="1800" dirty="0"/>
          </a:p>
        </p:txBody>
      </p:sp>
      <p:sp>
        <p:nvSpPr>
          <p:cNvPr id="28" name="Shape 25"/>
          <p:cNvSpPr/>
          <p:nvPr/>
        </p:nvSpPr>
        <p:spPr>
          <a:xfrm>
            <a:off x="987552" y="4608576"/>
            <a:ext cx="10131552" cy="914400"/>
          </a:xfrm>
          <a:prstGeom prst="roundRect">
            <a:avLst/>
          </a:prstGeom>
          <a:solidFill>
            <a:srgbClr val="FDF9E2"/>
          </a:solidFill>
          <a:ln w="15240">
            <a:solidFill>
              <a:srgbClr val="846826"/>
            </a:solidFill>
            <a:prstDash val="solid"/>
          </a:ln>
        </p:spPr>
      </p:sp>
      <p:sp>
        <p:nvSpPr>
          <p:cNvPr id="29" name="Text 26"/>
          <p:cNvSpPr/>
          <p:nvPr/>
        </p:nvSpPr>
        <p:spPr>
          <a:xfrm>
            <a:off x="1133856" y="4718304"/>
            <a:ext cx="98389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判讀</a:t>
            </a:r>
            <a:endParaRPr lang="en-US" sz="1800" dirty="0"/>
          </a:p>
        </p:txBody>
      </p:sp>
      <p:sp>
        <p:nvSpPr>
          <p:cNvPr id="30" name="Text 27"/>
          <p:cNvSpPr/>
          <p:nvPr/>
        </p:nvSpPr>
        <p:spPr>
          <a:xfrm>
            <a:off x="1133856" y="5102352"/>
            <a:ext cx="9838944" cy="310896"/>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queue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變空是狀態變化；</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delivered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expired</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event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才能支持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結果。</a:t>
            </a:r>
            <a:endParaRPr lang="en-US" sz="1800" dirty="0"/>
          </a:p>
        </p:txBody>
      </p:sp>
      <p:sp>
        <p:nvSpPr>
          <p:cNvPr id="32"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5.xml><?xml version="1.0" encoding="utf-8"?>
<p:sld xmlns:a="http://schemas.openxmlformats.org/drawingml/2006/main"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P089</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timeline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對回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policy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branch</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描述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transition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branch</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action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為何出現</a:t>
            </a:r>
            <a:endParaRPr lang="en-US" sz="2400" dirty="0"/>
          </a:p>
        </p:txBody>
      </p:sp>
      <p:sp>
        <p:nvSpPr>
          <p:cNvPr id="4" name="Shape 2"/>
          <p:cNvSpPr/>
          <p:nvPr/>
        </p:nvSpPr>
        <p:spPr>
          <a:xfrm>
            <a:off x="822960" y="1335024"/>
            <a:ext cx="4151376" cy="1078992"/>
          </a:xfrm>
          <a:prstGeom prst="rect">
            <a:avLst/>
          </a:prstGeom>
          <a:solidFill>
            <a:srgbClr val="F7F8FC"/>
          </a:solidFill>
          <a:ln w="15240">
            <a:solidFill>
              <a:srgbClr val="D7DEEA"/>
            </a:solidFill>
            <a:prstDash val="solid"/>
          </a:ln>
        </p:spPr>
      </p:sp>
      <p:sp>
        <p:nvSpPr>
          <p:cNvPr id="5" name="Text 3"/>
          <p:cNvSpPr/>
          <p:nvPr/>
        </p:nvSpPr>
        <p:spPr>
          <a:xfrm>
            <a:off x="969264" y="1444752"/>
            <a:ext cx="3858768" cy="859536"/>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radio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contact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285232" y="1335024"/>
            <a:ext cx="6089904" cy="1078992"/>
          </a:xfrm>
          <a:prstGeom prst="rect">
            <a:avLst/>
          </a:prstGeom>
          <a:solidFill>
            <a:srgbClr val="F7F8FC"/>
          </a:solidFill>
          <a:ln w="15240">
            <a:solidFill>
              <a:srgbClr val="D7DEEA"/>
            </a:solidFill>
            <a:prstDash val="solid"/>
          </a:ln>
        </p:spPr>
      </p:sp>
      <p:sp>
        <p:nvSpPr>
          <p:cNvPr id="7" name="Text 5"/>
          <p:cNvSpPr/>
          <p:nvPr/>
        </p:nvSpPr>
        <p:spPr>
          <a:xfrm>
            <a:off x="5504688" y="1481328"/>
            <a:ext cx="2304288" cy="292608"/>
          </a:xfrm>
          <a:prstGeom prst="rect">
            <a:avLst/>
          </a:prstGeom>
          <a:noFill/>
          <a:ln/>
        </p:spPr>
        <p:txBody>
          <a:bodyPr wrap="square" lIns="635" tIns="635" rIns="635" bIns="635" rtlCol="0" anchor="ctr">
            <a:normAutofit/>
          </a:bodyPr>
          <a:lstStyle/>
          <a:p>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可編輯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transition</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l"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strip</a:t>
            </a:r>
            <a:endParaRPr lang="en-US" sz="1800" dirty="0"/>
          </a:p>
        </p:txBody>
      </p:sp>
      <p:sp>
        <p:nvSpPr>
          <p:cNvPr id="8" name="Shape 6"/>
          <p:cNvSpPr/>
          <p:nvPr/>
        </p:nvSpPr>
        <p:spPr>
          <a:xfrm>
            <a:off x="7991856" y="1664208"/>
            <a:ext cx="658368" cy="438912"/>
          </a:xfrm>
          <a:prstGeom prst="rect">
            <a:avLst/>
          </a:prstGeom>
          <a:solidFill>
            <a:srgbClr val="CBD5E1"/>
          </a:solidFill>
          <a:ln w="15240">
            <a:solidFill>
              <a:srgbClr val="CBD5E1"/>
            </a:solidFill>
            <a:prstDash val="solid"/>
          </a:ln>
        </p:spPr>
      </p:sp>
      <p:sp>
        <p:nvSpPr>
          <p:cNvPr id="9" name="Text 7"/>
          <p:cNvSpPr/>
          <p:nvPr/>
        </p:nvSpPr>
        <p:spPr>
          <a:xfrm>
            <a:off x="8010144" y="1737360"/>
            <a:ext cx="62179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24A"/>
                </a:solidFill>
                <a:latin typeface="Times New Roman" pitchFamily="34" charset="0"/>
                <a:ea typeface="標楷體" pitchFamily="34" charset="-122"/>
                <a:cs typeface="Times New Roman" pitchFamily="34" charset="-120"/>
              </a:rPr>
              <a:t>關閉</a:t>
            </a:r>
            <a:endParaRPr lang="en-US" sz="1600" dirty="0"/>
          </a:p>
        </p:txBody>
      </p:sp>
      <p:sp>
        <p:nvSpPr>
          <p:cNvPr id="10" name="Shape 8"/>
          <p:cNvSpPr/>
          <p:nvPr/>
        </p:nvSpPr>
        <p:spPr>
          <a:xfrm>
            <a:off x="8695944" y="1664208"/>
            <a:ext cx="658368" cy="438912"/>
          </a:xfrm>
          <a:prstGeom prst="rect">
            <a:avLst/>
          </a:prstGeom>
          <a:solidFill>
            <a:srgbClr val="007374"/>
          </a:solidFill>
          <a:ln w="15240">
            <a:solidFill>
              <a:srgbClr val="007374"/>
            </a:solidFill>
            <a:prstDash val="solid"/>
          </a:ln>
        </p:spPr>
      </p:sp>
      <p:sp>
        <p:nvSpPr>
          <p:cNvPr id="11" name="Text 9"/>
          <p:cNvSpPr/>
          <p:nvPr/>
        </p:nvSpPr>
        <p:spPr>
          <a:xfrm>
            <a:off x="8714232" y="1737360"/>
            <a:ext cx="62179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開啟</a:t>
            </a:r>
            <a:endParaRPr lang="en-US" sz="1600" dirty="0"/>
          </a:p>
        </p:txBody>
      </p:sp>
      <p:sp>
        <p:nvSpPr>
          <p:cNvPr id="12" name="Shape 10"/>
          <p:cNvSpPr/>
          <p:nvPr/>
        </p:nvSpPr>
        <p:spPr>
          <a:xfrm>
            <a:off x="9400032" y="1664208"/>
            <a:ext cx="786384" cy="438912"/>
          </a:xfrm>
          <a:prstGeom prst="rect">
            <a:avLst/>
          </a:prstGeom>
          <a:solidFill>
            <a:srgbClr val="4967C2"/>
          </a:solidFill>
          <a:ln w="15240">
            <a:solidFill>
              <a:srgbClr val="4967C2"/>
            </a:solidFill>
            <a:prstDash val="solid"/>
          </a:ln>
        </p:spPr>
      </p:sp>
      <p:sp>
        <p:nvSpPr>
          <p:cNvPr id="13" name="Text 11"/>
          <p:cNvSpPr/>
          <p:nvPr/>
        </p:nvSpPr>
        <p:spPr>
          <a:xfrm>
            <a:off x="9418320" y="1737360"/>
            <a:ext cx="749808"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品質穩定 </a:t>
            </a:r>
            <a:pPr algn="ctr" indent="0" marL="0">
              <a:lnSpc>
                <a:spcPct val="100000"/>
              </a:lnSpc>
              <a:buNone/>
            </a:pPr>
            <a:r>
              <a:rPr lang="en-US" sz="1600" b="1" i="1" dirty="0">
                <a:solidFill>
                  <a:srgbClr val="FFFFFF"/>
                </a:solidFill>
                <a:latin typeface="Times New Roman" pitchFamily="34" charset="0"/>
                <a:ea typeface="標楷體" pitchFamily="34" charset="-122"/>
                <a:cs typeface="Times New Roman" pitchFamily="34" charset="-120"/>
              </a:rPr>
              <a:t>quality</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stable</a:t>
            </a:r>
            <a:endParaRPr lang="en-US" sz="1600" dirty="0"/>
          </a:p>
        </p:txBody>
      </p:sp>
      <p:sp>
        <p:nvSpPr>
          <p:cNvPr id="14" name="Shape 12"/>
          <p:cNvSpPr/>
          <p:nvPr/>
        </p:nvSpPr>
        <p:spPr>
          <a:xfrm>
            <a:off x="10232136" y="1664208"/>
            <a:ext cx="841248" cy="438912"/>
          </a:xfrm>
          <a:prstGeom prst="rect">
            <a:avLst/>
          </a:prstGeom>
          <a:solidFill>
            <a:srgbClr val="846826"/>
          </a:solidFill>
          <a:ln w="15240">
            <a:solidFill>
              <a:srgbClr val="846826"/>
            </a:solidFill>
            <a:prstDash val="solid"/>
          </a:ln>
        </p:spPr>
      </p:sp>
      <p:sp>
        <p:nvSpPr>
          <p:cNvPr id="15" name="Text 13"/>
          <p:cNvSpPr/>
          <p:nvPr/>
        </p:nvSpPr>
        <p:spPr>
          <a:xfrm>
            <a:off x="10250424" y="1737360"/>
            <a:ext cx="804672"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喚醒 </a:t>
            </a:r>
            <a:pPr algn="ctr" indent="0" marL="0">
              <a:lnSpc>
                <a:spcPct val="100000"/>
              </a:lnSpc>
              <a:buNone/>
            </a:pPr>
            <a:r>
              <a:rPr lang="en-US" sz="1600" b="1" dirty="0">
                <a:solidFill>
                  <a:srgbClr val="FFFFFF"/>
                </a:solidFill>
                <a:latin typeface="Times New Roman" pitchFamily="34" charset="0"/>
                <a:ea typeface="標楷體" pitchFamily="34" charset="-122"/>
                <a:cs typeface="Times New Roman" pitchFamily="34" charset="-120"/>
              </a:rPr>
              <a:t>AWAKE</a:t>
            </a:r>
            <a:endParaRPr lang="en-US" sz="1600" dirty="0"/>
          </a:p>
        </p:txBody>
      </p:sp>
      <p:sp>
        <p:nvSpPr>
          <p:cNvPr id="16" name="Shape 14"/>
          <p:cNvSpPr/>
          <p:nvPr/>
        </p:nvSpPr>
        <p:spPr>
          <a:xfrm>
            <a:off x="3438144" y="2487168"/>
            <a:ext cx="6382512" cy="420624"/>
          </a:xfrm>
          <a:prstGeom prst="roundRect">
            <a:avLst/>
          </a:prstGeom>
          <a:solidFill>
            <a:srgbClr val="F7F8FC"/>
          </a:solidFill>
          <a:ln w="15240">
            <a:solidFill>
              <a:srgbClr val="25356B"/>
            </a:solidFill>
            <a:prstDash val="solid"/>
          </a:ln>
        </p:spPr>
      </p:sp>
      <p:sp>
        <p:nvSpPr>
          <p:cNvPr id="17" name="Text 15"/>
          <p:cNvSpPr/>
          <p:nvPr/>
        </p:nvSpPr>
        <p:spPr>
          <a:xfrm>
            <a:off x="3511296" y="2523744"/>
            <a:ext cx="62362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來源：</a:t>
            </a:r>
            <a:pPr algn="ctr" indent="0" marL="0">
              <a:lnSpc>
                <a:spcPct val="100000"/>
              </a:lnSpc>
              <a:buNone/>
            </a:pPr>
            <a:r>
              <a:rPr lang="en-US" sz="18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 </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policy</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｜單位：</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bool</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、秒、</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packet</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25356B"/>
                </a:solidFill>
                <a:latin typeface="Times New Roman" pitchFamily="34" charset="0"/>
                <a:ea typeface="標楷體" pitchFamily="34" charset="-122"/>
                <a:cs typeface="Times New Roman" pitchFamily="34" charset="-120"/>
              </a:rPr>
              <a:t>count</a:t>
            </a:r>
            <a:endParaRPr lang="en-US" sz="1800" dirty="0"/>
          </a:p>
        </p:txBody>
      </p:sp>
      <p:sp>
        <p:nvSpPr>
          <p:cNvPr id="18" name="Shape 16"/>
          <p:cNvSpPr/>
          <p:nvPr/>
        </p:nvSpPr>
        <p:spPr>
          <a:xfrm>
            <a:off x="822960" y="2962656"/>
            <a:ext cx="3145536" cy="457200"/>
          </a:xfrm>
          <a:prstGeom prst="roundRect">
            <a:avLst/>
          </a:prstGeom>
          <a:solidFill>
            <a:srgbClr val="ECF1FE"/>
          </a:solidFill>
          <a:ln w="15240">
            <a:solidFill>
              <a:srgbClr val="4967C2"/>
            </a:solidFill>
            <a:prstDash val="solid"/>
          </a:ln>
        </p:spPr>
      </p:sp>
      <p:sp>
        <p:nvSpPr>
          <p:cNvPr id="19" name="Text 17"/>
          <p:cNvSpPr/>
          <p:nvPr/>
        </p:nvSpPr>
        <p:spPr>
          <a:xfrm>
            <a:off x="932688" y="305409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窗口關閉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contact_open</a:t>
            </a:r>
            <a:endParaRPr lang="en-US" sz="1600" dirty="0"/>
          </a:p>
        </p:txBody>
      </p:sp>
      <p:sp>
        <p:nvSpPr>
          <p:cNvPr id="20" name="Shape 18"/>
          <p:cNvSpPr/>
          <p:nvPr/>
        </p:nvSpPr>
        <p:spPr>
          <a:xfrm>
            <a:off x="4133088" y="2980944"/>
            <a:ext cx="384048" cy="438912"/>
          </a:xfrm>
          <a:prstGeom prst="chevron">
            <a:avLst/>
          </a:prstGeom>
          <a:solidFill>
            <a:srgbClr val="4967C2"/>
          </a:solidFill>
          <a:ln w="12700">
            <a:solidFill>
              <a:srgbClr val="4967C2">
                <a:alpha val="0"/>
              </a:srgbClr>
            </a:solidFill>
            <a:prstDash val="solid"/>
          </a:ln>
        </p:spPr>
      </p:sp>
      <p:sp>
        <p:nvSpPr>
          <p:cNvPr id="21" name="Shape 19"/>
          <p:cNvSpPr/>
          <p:nvPr/>
        </p:nvSpPr>
        <p:spPr>
          <a:xfrm>
            <a:off x="4681728" y="2962656"/>
            <a:ext cx="2322576" cy="457200"/>
          </a:xfrm>
          <a:prstGeom prst="roundRect">
            <a:avLst/>
          </a:prstGeom>
          <a:solidFill>
            <a:srgbClr val="ECF1FE"/>
          </a:solidFill>
          <a:ln w="15240">
            <a:solidFill>
              <a:srgbClr val="4967C2"/>
            </a:solidFill>
            <a:prstDash val="solid"/>
          </a:ln>
        </p:spPr>
      </p:sp>
      <p:sp>
        <p:nvSpPr>
          <p:cNvPr id="22" name="Text 20"/>
          <p:cNvSpPr/>
          <p:nvPr/>
        </p:nvSpPr>
        <p:spPr>
          <a:xfrm>
            <a:off x="4791456" y="305409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休眠 </a:t>
            </a:r>
            <a:pPr algn="ctr" indent="0" marL="0">
              <a:lnSpc>
                <a:spcPct val="100000"/>
              </a:lnSpc>
              <a:buNone/>
            </a:pPr>
            <a:r>
              <a:rPr lang="en-US" sz="1600" b="1" i="1" dirty="0">
                <a:solidFill>
                  <a:srgbClr val="4967C2"/>
                </a:solidFill>
                <a:latin typeface="Times New Roman" pitchFamily="34" charset="0"/>
                <a:ea typeface="標楷體" pitchFamily="34" charset="-122"/>
                <a:cs typeface="Times New Roman" pitchFamily="34" charset="-120"/>
              </a:rPr>
              <a:t>SLEEP</a:t>
            </a:r>
            <a:endParaRPr lang="en-US" sz="1600" dirty="0"/>
          </a:p>
        </p:txBody>
      </p:sp>
      <p:sp>
        <p:nvSpPr>
          <p:cNvPr id="23" name="Text 21"/>
          <p:cNvSpPr/>
          <p:nvPr/>
        </p:nvSpPr>
        <p:spPr>
          <a:xfrm>
            <a:off x="7278624" y="305409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窗口布林為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false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 安全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state</a:t>
            </a:r>
            <a:endParaRPr lang="en-US" sz="1600" dirty="0"/>
          </a:p>
        </p:txBody>
      </p:sp>
      <p:sp>
        <p:nvSpPr>
          <p:cNvPr id="24" name="Shape 22"/>
          <p:cNvSpPr/>
          <p:nvPr/>
        </p:nvSpPr>
        <p:spPr>
          <a:xfrm>
            <a:off x="822960" y="3511296"/>
            <a:ext cx="3145536" cy="457200"/>
          </a:xfrm>
          <a:prstGeom prst="roundRect">
            <a:avLst/>
          </a:prstGeom>
          <a:solidFill>
            <a:srgbClr val="F4EDF7"/>
          </a:solidFill>
          <a:ln w="15240">
            <a:solidFill>
              <a:srgbClr val="660066"/>
            </a:solidFill>
            <a:prstDash val="solid"/>
          </a:ln>
        </p:spPr>
      </p:sp>
      <p:sp>
        <p:nvSpPr>
          <p:cNvPr id="25" name="Text 23"/>
          <p:cNvSpPr/>
          <p:nvPr/>
        </p:nvSpPr>
        <p:spPr>
          <a:xfrm>
            <a:off x="932688" y="360273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急件待送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urgent</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pending</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due</a:t>
            </a:r>
            <a:endParaRPr lang="en-US" sz="1600" dirty="0"/>
          </a:p>
        </p:txBody>
      </p:sp>
      <p:sp>
        <p:nvSpPr>
          <p:cNvPr id="26" name="Shape 24"/>
          <p:cNvSpPr/>
          <p:nvPr/>
        </p:nvSpPr>
        <p:spPr>
          <a:xfrm>
            <a:off x="4133088" y="3529584"/>
            <a:ext cx="384048" cy="438912"/>
          </a:xfrm>
          <a:prstGeom prst="chevron">
            <a:avLst/>
          </a:prstGeom>
          <a:solidFill>
            <a:srgbClr val="660066"/>
          </a:solidFill>
          <a:ln w="12700">
            <a:solidFill>
              <a:srgbClr val="660066">
                <a:alpha val="0"/>
              </a:srgbClr>
            </a:solidFill>
            <a:prstDash val="solid"/>
          </a:ln>
        </p:spPr>
      </p:sp>
      <p:sp>
        <p:nvSpPr>
          <p:cNvPr id="27" name="Shape 25"/>
          <p:cNvSpPr/>
          <p:nvPr/>
        </p:nvSpPr>
        <p:spPr>
          <a:xfrm>
            <a:off x="4681728" y="3511296"/>
            <a:ext cx="2322576" cy="457200"/>
          </a:xfrm>
          <a:prstGeom prst="roundRect">
            <a:avLst/>
          </a:prstGeom>
          <a:solidFill>
            <a:srgbClr val="F4EDF7"/>
          </a:solidFill>
          <a:ln w="15240">
            <a:solidFill>
              <a:srgbClr val="660066"/>
            </a:solidFill>
            <a:prstDash val="solid"/>
          </a:ln>
        </p:spPr>
      </p:sp>
      <p:sp>
        <p:nvSpPr>
          <p:cNvPr id="28" name="Text 26"/>
          <p:cNvSpPr/>
          <p:nvPr/>
        </p:nvSpPr>
        <p:spPr>
          <a:xfrm>
            <a:off x="4791456" y="360273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緊急送出 </a:t>
            </a:r>
            <a:pPr algn="ctr" indent="0" marL="0">
              <a:lnSpc>
                <a:spcPct val="100000"/>
              </a:lnSpc>
              <a:buNone/>
            </a:pPr>
            <a:r>
              <a:rPr lang="en-US" sz="1600" b="1" i="1" dirty="0">
                <a:solidFill>
                  <a:srgbClr val="660066"/>
                </a:solidFill>
                <a:latin typeface="Times New Roman" pitchFamily="34" charset="0"/>
                <a:ea typeface="標楷體" pitchFamily="34" charset="-122"/>
                <a:cs typeface="Times New Roman" pitchFamily="34" charset="-120"/>
              </a:rPr>
              <a:t>SEND_URGENT</a:t>
            </a:r>
            <a:endParaRPr lang="en-US" sz="1600" dirty="0"/>
          </a:p>
        </p:txBody>
      </p:sp>
      <p:sp>
        <p:nvSpPr>
          <p:cNvPr id="29" name="Text 27"/>
          <p:cNvSpPr/>
          <p:nvPr/>
        </p:nvSpPr>
        <p:spPr>
          <a:xfrm>
            <a:off x="7278624" y="360273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due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是剩餘秒數；期限條件優先</a:t>
            </a:r>
            <a:endParaRPr lang="en-US" sz="1600" dirty="0"/>
          </a:p>
        </p:txBody>
      </p:sp>
      <p:sp>
        <p:nvSpPr>
          <p:cNvPr id="30" name="Shape 28"/>
          <p:cNvSpPr/>
          <p:nvPr/>
        </p:nvSpPr>
        <p:spPr>
          <a:xfrm>
            <a:off x="822960" y="4059936"/>
            <a:ext cx="3145536" cy="457200"/>
          </a:xfrm>
          <a:prstGeom prst="roundRect">
            <a:avLst/>
          </a:prstGeom>
          <a:solidFill>
            <a:srgbClr val="FDF9E2"/>
          </a:solidFill>
          <a:ln w="15240">
            <a:solidFill>
              <a:srgbClr val="846826"/>
            </a:solidFill>
            <a:prstDash val="solid"/>
          </a:ln>
        </p:spPr>
      </p:sp>
      <p:sp>
        <p:nvSpPr>
          <p:cNvPr id="31" name="Text 29"/>
          <p:cNvSpPr/>
          <p:nvPr/>
        </p:nvSpPr>
        <p:spPr>
          <a:xfrm>
            <a:off x="932688" y="415137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節奏間隔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pacing</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gap</a:t>
            </a:r>
            <a:endParaRPr lang="en-US" sz="1600" dirty="0"/>
          </a:p>
        </p:txBody>
      </p:sp>
      <p:sp>
        <p:nvSpPr>
          <p:cNvPr id="32" name="Shape 30"/>
          <p:cNvSpPr/>
          <p:nvPr/>
        </p:nvSpPr>
        <p:spPr>
          <a:xfrm>
            <a:off x="4133088" y="4078224"/>
            <a:ext cx="384048" cy="438912"/>
          </a:xfrm>
          <a:prstGeom prst="chevron">
            <a:avLst/>
          </a:prstGeom>
          <a:solidFill>
            <a:srgbClr val="846826"/>
          </a:solidFill>
          <a:ln w="12700">
            <a:solidFill>
              <a:srgbClr val="846826">
                <a:alpha val="0"/>
              </a:srgbClr>
            </a:solidFill>
            <a:prstDash val="solid"/>
          </a:ln>
        </p:spPr>
      </p:sp>
      <p:sp>
        <p:nvSpPr>
          <p:cNvPr id="33" name="Shape 31"/>
          <p:cNvSpPr/>
          <p:nvPr/>
        </p:nvSpPr>
        <p:spPr>
          <a:xfrm>
            <a:off x="4681728" y="4059936"/>
            <a:ext cx="2322576" cy="457200"/>
          </a:xfrm>
          <a:prstGeom prst="roundRect">
            <a:avLst/>
          </a:prstGeom>
          <a:solidFill>
            <a:srgbClr val="FDF9E2"/>
          </a:solidFill>
          <a:ln w="15240">
            <a:solidFill>
              <a:srgbClr val="846826"/>
            </a:solidFill>
            <a:prstDash val="solid"/>
          </a:ln>
        </p:spPr>
      </p:sp>
      <p:sp>
        <p:nvSpPr>
          <p:cNvPr id="34" name="Text 32"/>
          <p:cNvSpPr/>
          <p:nvPr/>
        </p:nvSpPr>
        <p:spPr>
          <a:xfrm>
            <a:off x="4791456" y="415137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間隔休息 </a:t>
            </a:r>
            <a:pPr algn="ctr" indent="0" marL="0">
              <a:lnSpc>
                <a:spcPct val="100000"/>
              </a:lnSpc>
              <a:buNone/>
            </a:pPr>
            <a:r>
              <a:rPr lang="en-US" sz="1600" b="1" i="1" dirty="0">
                <a:solidFill>
                  <a:srgbClr val="846826"/>
                </a:solidFill>
                <a:latin typeface="Times New Roman" pitchFamily="34" charset="0"/>
                <a:ea typeface="標楷體" pitchFamily="34" charset="-122"/>
                <a:cs typeface="Times New Roman" pitchFamily="34" charset="-120"/>
              </a:rPr>
              <a:t>REST_DURING_GAP</a:t>
            </a:r>
            <a:endParaRPr lang="en-US" sz="1600" dirty="0"/>
          </a:p>
        </p:txBody>
      </p:sp>
      <p:sp>
        <p:nvSpPr>
          <p:cNvPr id="35" name="Text 33"/>
          <p:cNvSpPr/>
          <p:nvPr/>
        </p:nvSpPr>
        <p:spPr>
          <a:xfrm>
            <a:off x="7278624" y="415137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steps_since_send</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仍在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gap</a:t>
            </a:r>
            <a:endParaRPr lang="en-US" sz="1600" dirty="0"/>
          </a:p>
        </p:txBody>
      </p:sp>
      <p:sp>
        <p:nvSpPr>
          <p:cNvPr id="36" name="Shape 34"/>
          <p:cNvSpPr/>
          <p:nvPr/>
        </p:nvSpPr>
        <p:spPr>
          <a:xfrm>
            <a:off x="822960" y="4608576"/>
            <a:ext cx="3145536" cy="457200"/>
          </a:xfrm>
          <a:prstGeom prst="roundRect">
            <a:avLst/>
          </a:prstGeom>
          <a:solidFill>
            <a:srgbClr val="E8F7F4"/>
          </a:solidFill>
          <a:ln w="15240">
            <a:solidFill>
              <a:srgbClr val="007374"/>
            </a:solidFill>
            <a:prstDash val="solid"/>
          </a:ln>
        </p:spPr>
      </p:sp>
      <p:sp>
        <p:nvSpPr>
          <p:cNvPr id="37" name="Text 35"/>
          <p:cNvSpPr/>
          <p:nvPr/>
        </p:nvSpPr>
        <p:spPr>
          <a:xfrm>
            <a:off x="932688" y="470001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品質就緒 +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queue</a:t>
            </a:r>
            <a:endParaRPr lang="en-US" sz="1600" dirty="0"/>
          </a:p>
        </p:txBody>
      </p:sp>
      <p:sp>
        <p:nvSpPr>
          <p:cNvPr id="38" name="Shape 36"/>
          <p:cNvSpPr/>
          <p:nvPr/>
        </p:nvSpPr>
        <p:spPr>
          <a:xfrm>
            <a:off x="4133088" y="4626864"/>
            <a:ext cx="384048" cy="438912"/>
          </a:xfrm>
          <a:prstGeom prst="chevron">
            <a:avLst/>
          </a:prstGeom>
          <a:solidFill>
            <a:srgbClr val="007374"/>
          </a:solidFill>
          <a:ln w="12700">
            <a:solidFill>
              <a:srgbClr val="007374">
                <a:alpha val="0"/>
              </a:srgbClr>
            </a:solidFill>
            <a:prstDash val="solid"/>
          </a:ln>
        </p:spPr>
      </p:sp>
      <p:sp>
        <p:nvSpPr>
          <p:cNvPr id="39" name="Shape 37"/>
          <p:cNvSpPr/>
          <p:nvPr/>
        </p:nvSpPr>
        <p:spPr>
          <a:xfrm>
            <a:off x="4681728" y="4608576"/>
            <a:ext cx="2322576" cy="457200"/>
          </a:xfrm>
          <a:prstGeom prst="roundRect">
            <a:avLst/>
          </a:prstGeom>
          <a:solidFill>
            <a:srgbClr val="E8F7F4"/>
          </a:solidFill>
          <a:ln w="15240">
            <a:solidFill>
              <a:srgbClr val="007374"/>
            </a:solidFill>
            <a:prstDash val="solid"/>
          </a:ln>
        </p:spPr>
      </p:sp>
      <p:sp>
        <p:nvSpPr>
          <p:cNvPr id="40" name="Text 38"/>
          <p:cNvSpPr/>
          <p:nvPr/>
        </p:nvSpPr>
        <p:spPr>
          <a:xfrm>
            <a:off x="4791456" y="470001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批次送出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FLUSH_BATCH</a:t>
            </a:r>
            <a:endParaRPr lang="en-US" sz="1600" dirty="0"/>
          </a:p>
        </p:txBody>
      </p:sp>
      <p:sp>
        <p:nvSpPr>
          <p:cNvPr id="41" name="Text 39"/>
          <p:cNvSpPr/>
          <p:nvPr/>
        </p:nvSpPr>
        <p:spPr>
          <a:xfrm>
            <a:off x="7278624" y="470001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達到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batch</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size</a:t>
            </a:r>
            <a:endParaRPr lang="en-US" sz="1600" dirty="0"/>
          </a:p>
        </p:txBody>
      </p:sp>
      <p:sp>
        <p:nvSpPr>
          <p:cNvPr id="42" name="Shape 40"/>
          <p:cNvSpPr/>
          <p:nvPr/>
        </p:nvSpPr>
        <p:spPr>
          <a:xfrm>
            <a:off x="822960" y="5157216"/>
            <a:ext cx="3145536" cy="457200"/>
          </a:xfrm>
          <a:prstGeom prst="roundRect">
            <a:avLst/>
          </a:prstGeom>
          <a:solidFill>
            <a:srgbClr val="FDEFEF"/>
          </a:solidFill>
          <a:ln w="15240">
            <a:solidFill>
              <a:srgbClr val="992A2A"/>
            </a:solidFill>
            <a:prstDash val="solid"/>
          </a:ln>
        </p:spPr>
      </p:sp>
      <p:sp>
        <p:nvSpPr>
          <p:cNvPr id="43" name="Text 41"/>
          <p:cNvSpPr/>
          <p:nvPr/>
        </p:nvSpPr>
        <p:spPr>
          <a:xfrm>
            <a:off x="932688" y="5248656"/>
            <a:ext cx="292608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其他觀測 </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observation</a:t>
            </a:r>
            <a:endParaRPr lang="en-US" sz="1600" dirty="0"/>
          </a:p>
        </p:txBody>
      </p:sp>
      <p:sp>
        <p:nvSpPr>
          <p:cNvPr id="44" name="Shape 42"/>
          <p:cNvSpPr/>
          <p:nvPr/>
        </p:nvSpPr>
        <p:spPr>
          <a:xfrm>
            <a:off x="4133088" y="5175504"/>
            <a:ext cx="384048" cy="438912"/>
          </a:xfrm>
          <a:prstGeom prst="chevron">
            <a:avLst/>
          </a:prstGeom>
          <a:solidFill>
            <a:srgbClr val="992A2A"/>
          </a:solidFill>
          <a:ln w="12700">
            <a:solidFill>
              <a:srgbClr val="992A2A">
                <a:alpha val="0"/>
              </a:srgbClr>
            </a:solidFill>
            <a:prstDash val="solid"/>
          </a:ln>
        </p:spPr>
      </p:sp>
      <p:sp>
        <p:nvSpPr>
          <p:cNvPr id="45" name="Shape 43"/>
          <p:cNvSpPr/>
          <p:nvPr/>
        </p:nvSpPr>
        <p:spPr>
          <a:xfrm>
            <a:off x="4681728" y="5157216"/>
            <a:ext cx="2322576" cy="457200"/>
          </a:xfrm>
          <a:prstGeom prst="roundRect">
            <a:avLst/>
          </a:prstGeom>
          <a:solidFill>
            <a:srgbClr val="FDEFEF"/>
          </a:solidFill>
          <a:ln w="15240">
            <a:solidFill>
              <a:srgbClr val="992A2A"/>
            </a:solidFill>
            <a:prstDash val="solid"/>
          </a:ln>
        </p:spPr>
      </p:sp>
      <p:sp>
        <p:nvSpPr>
          <p:cNvPr id="46" name="Text 44"/>
          <p:cNvSpPr/>
          <p:nvPr/>
        </p:nvSpPr>
        <p:spPr>
          <a:xfrm>
            <a:off x="4791456" y="5248656"/>
            <a:ext cx="21031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等待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WAIT</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／單筆送出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SEND_ONE</a:t>
            </a:r>
            <a:endParaRPr lang="en-US" sz="1600" dirty="0"/>
          </a:p>
        </p:txBody>
      </p:sp>
      <p:sp>
        <p:nvSpPr>
          <p:cNvPr id="47" name="Text 45"/>
          <p:cNvSpPr/>
          <p:nvPr/>
        </p:nvSpPr>
        <p:spPr>
          <a:xfrm>
            <a:off x="7278624" y="5248656"/>
            <a:ext cx="3931920" cy="256032"/>
          </a:xfrm>
          <a:prstGeom prst="rect">
            <a:avLst/>
          </a:prstGeom>
          <a:noFill/>
          <a:ln/>
        </p:spPr>
        <p:txBody>
          <a:bodyPr wrap="square" lIns="635" tIns="635" rIns="635" bIns="635" rtlCol="0" anchor="ctr">
            <a:normAutofit/>
          </a:bodyPr>
          <a:lstStyle/>
          <a:p>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queue</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count</a:t>
            </a:r>
            <a:pPr algn="l"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決定一般 </a:t>
            </a:r>
            <a:pPr algn="l"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action</a:t>
            </a:r>
            <a:endParaRPr lang="en-US" sz="1600" dirty="0"/>
          </a:p>
        </p:txBody>
      </p:sp>
      <p:sp>
        <p:nvSpPr>
          <p:cNvPr id="48" name="Text 46"/>
          <p:cNvSpPr/>
          <p:nvPr/>
        </p:nvSpPr>
        <p:spPr>
          <a:xfrm>
            <a:off x="950976" y="5650992"/>
            <a:ext cx="10222992" cy="384048"/>
          </a:xfrm>
          <a:prstGeom prst="rect">
            <a:avLst/>
          </a:prstGeom>
          <a:noFill/>
          <a:ln/>
        </p:spPr>
        <p:txBody>
          <a:bodyPr wrap="square" lIns="635" tIns="635" rIns="635" bIns="635" rtlCol="0" anchor="ctr">
            <a:normAutofit/>
          </a:bodyPr>
          <a:lstStyle/>
          <a:p>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timeline</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待補；</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transition</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strip</a:t>
            </a:r>
            <a:pPr algn="ctr" indent="0" marL="0">
              <a:lnSpc>
                <a:spcPct val="100000"/>
              </a:lnSpc>
              <a:buNone/>
            </a:pPr>
            <a:r>
              <a:rPr lang="en-US" sz="2000" dirty="0">
                <a:solidFill>
                  <a:srgbClr val="65758B"/>
                </a:solidFill>
                <a:latin typeface="Times New Roman" pitchFamily="34" charset="0"/>
                <a:ea typeface="標楷體" pitchFamily="34" charset="-122"/>
                <a:cs typeface="Times New Roman" pitchFamily="34" charset="-120"/>
              </a:rPr>
              <a:t> 只表達事件順序，不表達連續功率</a:t>
            </a:r>
            <a:endParaRPr lang="en-US" sz="2000" dirty="0"/>
          </a:p>
        </p:txBody>
      </p:sp>
      <p:sp>
        <p:nvSpPr>
          <p:cNvPr id="5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6.xml><?xml version="1.0" encoding="utf-8"?>
<p:sld xmlns:a="http://schemas.openxmlformats.org/drawingml/2006/main" xmlns:ns2="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P090</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ledger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strategy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gate</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execution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：目前選取是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display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strategy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verdict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由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matched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pic>
        <p:nvPicPr>
          <p:cNvPr id="4" name="Image 0" descr="identifier-free execution ledger crop">    </p:cNvPr>
          <p:cNvPicPr>
            <a:picLocks noChangeAspect="1"/>
          </p:cNvPicPr>
          <p:nvPr/>
        </p:nvPicPr>
        <p:blipFill>
          <a:blip ns2:embed="rId1"/>
          <a:stretch>
            <a:fillRect/>
          </a:stretch>
        </p:blipFill>
        <p:spPr>
          <a:xfrm>
            <a:off x="822960" y="1353312"/>
            <a:ext cx="7388352" cy="603504"/>
          </a:xfrm>
          <a:prstGeom prst="rect">
            <a:avLst/>
          </a:prstGeom>
        </p:spPr>
      </p:pic>
      <p:sp>
        <p:nvSpPr>
          <p:cNvPr id="5" name="Shape 2"/>
          <p:cNvSpPr/>
          <p:nvPr/>
        </p:nvSpPr>
        <p:spPr>
          <a:xfrm>
            <a:off x="822960" y="1353312"/>
            <a:ext cx="7388352" cy="603504"/>
          </a:xfrm>
          <a:prstGeom prst="rect">
            <a:avLst/>
          </a:prstGeom>
          <a:solidFill>
            <a:srgbClr val="FFFFFF">
              <a:alpha val="0"/>
            </a:srgbClr>
          </a:solidFill>
          <a:ln w="12700">
            <a:solidFill>
              <a:srgbClr val="D7DEEA"/>
            </a:solidFill>
            <a:prstDash val="solid"/>
          </a:ln>
        </p:spPr>
      </p:sp>
      <p:sp>
        <p:nvSpPr>
          <p:cNvPr id="6" name="Shape 3"/>
          <p:cNvSpPr/>
          <p:nvPr/>
        </p:nvSpPr>
        <p:spPr>
          <a:xfrm>
            <a:off x="8485632" y="1426464"/>
            <a:ext cx="2724912" cy="420624"/>
          </a:xfrm>
          <a:prstGeom prst="roundRect">
            <a:avLst/>
          </a:prstGeom>
          <a:solidFill>
            <a:srgbClr val="E8F7F4"/>
          </a:solidFill>
          <a:ln w="15240">
            <a:solidFill>
              <a:srgbClr val="007374"/>
            </a:solidFill>
            <a:prstDash val="solid"/>
          </a:ln>
        </p:spPr>
      </p:sp>
      <p:sp>
        <p:nvSpPr>
          <p:cNvPr id="7" name="Text 4"/>
          <p:cNvSpPr/>
          <p:nvPr/>
        </p:nvSpPr>
        <p:spPr>
          <a:xfrm>
            <a:off x="8558784" y="1463040"/>
            <a:ext cx="257860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ledger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8" name="Shape 5"/>
          <p:cNvSpPr/>
          <p:nvPr/>
        </p:nvSpPr>
        <p:spPr>
          <a:xfrm>
            <a:off x="822960" y="2395728"/>
            <a:ext cx="3236976" cy="749808"/>
          </a:xfrm>
          <a:prstGeom prst="roundRect">
            <a:avLst/>
          </a:prstGeom>
          <a:solidFill>
            <a:srgbClr val="ECF1FE"/>
          </a:solidFill>
          <a:ln w="15240">
            <a:solidFill>
              <a:srgbClr val="4967C2"/>
            </a:solidFill>
            <a:prstDash val="solid"/>
          </a:ln>
        </p:spPr>
      </p:sp>
      <p:sp>
        <p:nvSpPr>
          <p:cNvPr id="9" name="Text 6"/>
          <p:cNvSpPr/>
          <p:nvPr/>
        </p:nvSpPr>
        <p:spPr>
          <a:xfrm>
            <a:off x="932688"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實驗／案例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600" b="1" i="1" dirty="0">
                <a:solidFill>
                  <a:srgbClr val="4967C2"/>
                </a:solidFill>
                <a:latin typeface="Times New Roman" pitchFamily="34" charset="0"/>
                <a:ea typeface="標楷體" pitchFamily="34" charset="-122"/>
                <a:cs typeface="Times New Roman" pitchFamily="34" charset="-120"/>
              </a:rPr>
              <a:t>case</a:t>
            </a:r>
            <a:endParaRPr lang="en-US" sz="1600" dirty="0"/>
          </a:p>
        </p:txBody>
      </p:sp>
      <p:sp>
        <p:nvSpPr>
          <p:cNvPr id="10" name="Text 7"/>
          <p:cNvSpPr/>
          <p:nvPr/>
        </p:nvSpPr>
        <p:spPr>
          <a:xfrm>
            <a:off x="932688"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A</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baseline</a:t>
            </a:r>
            <a:endParaRPr lang="en-US" sz="1600" dirty="0"/>
          </a:p>
        </p:txBody>
      </p:sp>
      <p:sp>
        <p:nvSpPr>
          <p:cNvPr id="11" name="Shape 8"/>
          <p:cNvSpPr/>
          <p:nvPr/>
        </p:nvSpPr>
        <p:spPr>
          <a:xfrm>
            <a:off x="4315968" y="2395728"/>
            <a:ext cx="3236976" cy="749808"/>
          </a:xfrm>
          <a:prstGeom prst="roundRect">
            <a:avLst/>
          </a:prstGeom>
          <a:solidFill>
            <a:srgbClr val="FDF9E2"/>
          </a:solidFill>
          <a:ln w="15240">
            <a:solidFill>
              <a:srgbClr val="846826"/>
            </a:solidFill>
            <a:prstDash val="solid"/>
          </a:ln>
        </p:spPr>
      </p:sp>
      <p:sp>
        <p:nvSpPr>
          <p:cNvPr id="12" name="Text 9"/>
          <p:cNvSpPr/>
          <p:nvPr/>
        </p:nvSpPr>
        <p:spPr>
          <a:xfrm>
            <a:off x="4425696"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目前顯示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display</a:t>
            </a:r>
            <a:endParaRPr lang="en-US" sz="1600" dirty="0"/>
          </a:p>
        </p:txBody>
      </p:sp>
      <p:sp>
        <p:nvSpPr>
          <p:cNvPr id="13" name="Text 10"/>
          <p:cNvSpPr/>
          <p:nvPr/>
        </p:nvSpPr>
        <p:spPr>
          <a:xfrm>
            <a:off x="4425696"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目前</a:t>
            </a:r>
            <a:endParaRPr lang="en-US" sz="1600" dirty="0"/>
          </a:p>
        </p:txBody>
      </p:sp>
      <p:sp>
        <p:nvSpPr>
          <p:cNvPr id="14" name="Shape 11"/>
          <p:cNvSpPr/>
          <p:nvPr/>
        </p:nvSpPr>
        <p:spPr>
          <a:xfrm>
            <a:off x="7808976" y="2395728"/>
            <a:ext cx="3236976" cy="749808"/>
          </a:xfrm>
          <a:prstGeom prst="roundRect">
            <a:avLst/>
          </a:prstGeom>
          <a:solidFill>
            <a:srgbClr val="F4EDF7"/>
          </a:solidFill>
          <a:ln w="15240">
            <a:solidFill>
              <a:srgbClr val="660066"/>
            </a:solidFill>
            <a:prstDash val="solid"/>
          </a:ln>
        </p:spPr>
      </p:sp>
      <p:sp>
        <p:nvSpPr>
          <p:cNvPr id="15" name="Text 12"/>
          <p:cNvSpPr/>
          <p:nvPr/>
        </p:nvSpPr>
        <p:spPr>
          <a:xfrm>
            <a:off x="7918704" y="2487168"/>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角色 </a:t>
            </a:r>
            <a:pPr algn="ctr" indent="0" marL="0">
              <a:lnSpc>
                <a:spcPct val="100000"/>
              </a:lnSpc>
              <a:buNone/>
            </a:pPr>
            <a:r>
              <a:rPr lang="en-US" sz="1600" b="1" i="1" dirty="0">
                <a:solidFill>
                  <a:srgbClr val="660066"/>
                </a:solidFill>
                <a:latin typeface="Times New Roman" pitchFamily="34" charset="0"/>
                <a:ea typeface="標楷體" pitchFamily="34" charset="-122"/>
                <a:cs typeface="Times New Roman" pitchFamily="34" charset="-120"/>
              </a:rPr>
              <a:t>role</a:t>
            </a:r>
            <a:endParaRPr lang="en-US" sz="1600" dirty="0"/>
          </a:p>
        </p:txBody>
      </p:sp>
      <p:sp>
        <p:nvSpPr>
          <p:cNvPr id="16" name="Text 13"/>
          <p:cNvSpPr/>
          <p:nvPr/>
        </p:nvSpPr>
        <p:spPr>
          <a:xfrm>
            <a:off x="7918704" y="2816352"/>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基準</a:t>
            </a:r>
            <a:endParaRPr lang="en-US" sz="1600" dirty="0"/>
          </a:p>
        </p:txBody>
      </p:sp>
      <p:sp>
        <p:nvSpPr>
          <p:cNvPr id="17" name="Shape 14"/>
          <p:cNvSpPr/>
          <p:nvPr/>
        </p:nvSpPr>
        <p:spPr>
          <a:xfrm>
            <a:off x="822960" y="3328416"/>
            <a:ext cx="3236976" cy="749808"/>
          </a:xfrm>
          <a:prstGeom prst="roundRect">
            <a:avLst/>
          </a:prstGeom>
          <a:solidFill>
            <a:srgbClr val="FDEFEF"/>
          </a:solidFill>
          <a:ln w="15240">
            <a:solidFill>
              <a:srgbClr val="992A2A"/>
            </a:solidFill>
            <a:prstDash val="solid"/>
          </a:ln>
        </p:spPr>
      </p:sp>
      <p:sp>
        <p:nvSpPr>
          <p:cNvPr id="18" name="Text 15"/>
          <p:cNvSpPr/>
          <p:nvPr/>
        </p:nvSpPr>
        <p:spPr>
          <a:xfrm>
            <a:off x="932688"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服務 </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service</a:t>
            </a:r>
            <a:endParaRPr lang="en-US" sz="1600" dirty="0"/>
          </a:p>
        </p:txBody>
      </p:sp>
      <p:sp>
        <p:nvSpPr>
          <p:cNvPr id="19" name="Text 16"/>
          <p:cNvSpPr/>
          <p:nvPr/>
        </p:nvSpPr>
        <p:spPr>
          <a:xfrm>
            <a:off x="932688"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FAIL</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gate</a:t>
            </a:r>
            <a:endParaRPr lang="en-US" sz="1600" dirty="0"/>
          </a:p>
        </p:txBody>
      </p:sp>
      <p:sp>
        <p:nvSpPr>
          <p:cNvPr id="20" name="Shape 17"/>
          <p:cNvSpPr/>
          <p:nvPr/>
        </p:nvSpPr>
        <p:spPr>
          <a:xfrm>
            <a:off x="4315968" y="3328416"/>
            <a:ext cx="3236976" cy="749808"/>
          </a:xfrm>
          <a:prstGeom prst="roundRect">
            <a:avLst/>
          </a:prstGeom>
          <a:solidFill>
            <a:srgbClr val="E8F7F4"/>
          </a:solidFill>
          <a:ln w="15240">
            <a:solidFill>
              <a:srgbClr val="007374"/>
            </a:solidFill>
            <a:prstDash val="solid"/>
          </a:ln>
        </p:spPr>
      </p:sp>
      <p:sp>
        <p:nvSpPr>
          <p:cNvPr id="21" name="Text 18"/>
          <p:cNvSpPr/>
          <p:nvPr/>
        </p:nvSpPr>
        <p:spPr>
          <a:xfrm>
            <a:off x="4425696"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端點能量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J</a:t>
            </a:r>
            <a:endParaRPr lang="en-US" sz="1600" dirty="0"/>
          </a:p>
        </p:txBody>
      </p:sp>
      <p:sp>
        <p:nvSpPr>
          <p:cNvPr id="22" name="Text 19"/>
          <p:cNvSpPr/>
          <p:nvPr/>
        </p:nvSpPr>
        <p:spPr>
          <a:xfrm>
            <a:off x="4425696"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6.92</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J</a:t>
            </a:r>
            <a:endParaRPr lang="en-US" sz="1600" dirty="0"/>
          </a:p>
        </p:txBody>
      </p:sp>
      <p:sp>
        <p:nvSpPr>
          <p:cNvPr id="23" name="Shape 20"/>
          <p:cNvSpPr/>
          <p:nvPr/>
        </p:nvSpPr>
        <p:spPr>
          <a:xfrm>
            <a:off x="7808976" y="3328416"/>
            <a:ext cx="3236976" cy="749808"/>
          </a:xfrm>
          <a:prstGeom prst="roundRect">
            <a:avLst/>
          </a:prstGeom>
          <a:solidFill>
            <a:srgbClr val="F2F3F8"/>
          </a:solidFill>
          <a:ln w="15240">
            <a:solidFill>
              <a:srgbClr val="25356B"/>
            </a:solidFill>
            <a:prstDash val="solid"/>
          </a:ln>
        </p:spPr>
      </p:sp>
      <p:sp>
        <p:nvSpPr>
          <p:cNvPr id="24" name="Text 21"/>
          <p:cNvSpPr/>
          <p:nvPr/>
        </p:nvSpPr>
        <p:spPr>
          <a:xfrm>
            <a:off x="7918704" y="3419856"/>
            <a:ext cx="30175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25356B"/>
                </a:solidFill>
                <a:latin typeface="Times New Roman" pitchFamily="34" charset="0"/>
                <a:ea typeface="標楷體" pitchFamily="34" charset="-122"/>
                <a:cs typeface="Times New Roman" pitchFamily="34" charset="-120"/>
              </a:rPr>
              <a:t>來源 </a:t>
            </a:r>
            <a:pPr algn="ctr" indent="0" marL="0">
              <a:lnSpc>
                <a:spcPct val="100000"/>
              </a:lnSpc>
              <a:buNone/>
            </a:pPr>
            <a:r>
              <a:rPr lang="en-US" sz="1600" b="1" i="1" dirty="0">
                <a:solidFill>
                  <a:srgbClr val="25356B"/>
                </a:solidFill>
                <a:latin typeface="Times New Roman" pitchFamily="34" charset="0"/>
                <a:ea typeface="標楷體" pitchFamily="34" charset="-122"/>
                <a:cs typeface="Times New Roman" pitchFamily="34" charset="-120"/>
              </a:rPr>
              <a:t>source</a:t>
            </a:r>
            <a:endParaRPr lang="en-US" sz="1600" dirty="0"/>
          </a:p>
        </p:txBody>
      </p:sp>
      <p:sp>
        <p:nvSpPr>
          <p:cNvPr id="25" name="Text 22"/>
          <p:cNvSpPr/>
          <p:nvPr/>
        </p:nvSpPr>
        <p:spPr>
          <a:xfrm>
            <a:off x="7918704" y="3749040"/>
            <a:ext cx="3017520" cy="219456"/>
          </a:xfrm>
          <a:prstGeom prst="rect">
            <a:avLst/>
          </a:prstGeom>
          <a:noFill/>
          <a:ln/>
        </p:spPr>
        <p:txBody>
          <a:bodyPr wrap="square" lIns="635" tIns="635" rIns="635" bIns="635" rtlCol="0" anchor="ctr">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同情境備用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fallback</a:t>
            </a:r>
            <a:endParaRPr lang="en-US" sz="1600" dirty="0"/>
          </a:p>
        </p:txBody>
      </p:sp>
      <p:sp>
        <p:nvSpPr>
          <p:cNvPr id="26" name="Shape 23"/>
          <p:cNvSpPr/>
          <p:nvPr/>
        </p:nvSpPr>
        <p:spPr>
          <a:xfrm>
            <a:off x="822960" y="4498848"/>
            <a:ext cx="10369296" cy="1024128"/>
          </a:xfrm>
          <a:prstGeom prst="roundRect">
            <a:avLst/>
          </a:prstGeom>
          <a:solidFill>
            <a:srgbClr val="FDF9E2"/>
          </a:solidFill>
          <a:ln w="15240">
            <a:solidFill>
              <a:srgbClr val="846826"/>
            </a:solidFill>
            <a:prstDash val="solid"/>
          </a:ln>
        </p:spPr>
      </p:sp>
      <p:sp>
        <p:nvSpPr>
          <p:cNvPr id="27" name="Text 24"/>
          <p:cNvSpPr/>
          <p:nvPr/>
        </p:nvSpPr>
        <p:spPr>
          <a:xfrm>
            <a:off x="969264" y="4608576"/>
            <a:ext cx="100766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公平比較</a:t>
            </a:r>
            <a:endParaRPr lang="en-US" sz="1800" dirty="0"/>
          </a:p>
        </p:txBody>
      </p:sp>
      <p:sp>
        <p:nvSpPr>
          <p:cNvPr id="28" name="Text 25"/>
          <p:cNvSpPr/>
          <p:nvPr/>
        </p:nvSpPr>
        <p:spPr>
          <a:xfrm>
            <a:off x="969264" y="4992624"/>
            <a:ext cx="10076688" cy="42062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核對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case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role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；目前列的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selected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狀態不直接定義最佳策略。</a:t>
            </a:r>
            <a:endParaRPr lang="en-US" sz="24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7.xml><?xml version="1.0" encoding="utf-8"?>
<p:sld xmlns:a="http://schemas.openxmlformats.org/drawingml/2006/main" xmlns:ns2="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P091</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provider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endpoint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證據邊界</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opportunity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說明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artifact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；兩層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各自保留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endParaRPr lang="en-US" sz="2400" dirty="0"/>
          </a:p>
        </p:txBody>
      </p:sp>
      <p:sp>
        <p:nvSpPr>
          <p:cNvPr id="4" name="Shape 2"/>
          <p:cNvSpPr/>
          <p:nvPr/>
        </p:nvSpPr>
        <p:spPr>
          <a:xfrm>
            <a:off x="822960" y="1389888"/>
            <a:ext cx="4956048" cy="2048256"/>
          </a:xfrm>
          <a:prstGeom prst="rect">
            <a:avLst/>
          </a:prstGeom>
          <a:solidFill>
            <a:srgbClr val="F7F8FC"/>
          </a:solidFill>
          <a:ln w="15240">
            <a:solidFill>
              <a:srgbClr val="D7DEEA"/>
            </a:solidFill>
            <a:prstDash val="solid"/>
          </a:ln>
        </p:spPr>
      </p:sp>
      <p:sp>
        <p:nvSpPr>
          <p:cNvPr id="5" name="Text 3"/>
          <p:cNvSpPr/>
          <p:nvPr/>
        </p:nvSpPr>
        <p:spPr>
          <a:xfrm>
            <a:off x="969264" y="1499616"/>
            <a:ext cx="4663440" cy="1828800"/>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context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LEO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TLE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contact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cell</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frequency</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dB</a:t>
            </a:r>
            <a:endParaRPr lang="en-US" sz="2400" dirty="0"/>
          </a:p>
        </p:txBody>
      </p:sp>
      <p:sp>
        <p:nvSpPr>
          <p:cNvPr id="6" name="Shape 4"/>
          <p:cNvSpPr/>
          <p:nvPr/>
        </p:nvSpPr>
        <p:spPr>
          <a:xfrm>
            <a:off x="822960" y="3675888"/>
            <a:ext cx="4956048" cy="1152144"/>
          </a:xfrm>
          <a:prstGeom prst="roundRect">
            <a:avLst/>
          </a:prstGeom>
          <a:solidFill>
            <a:srgbClr val="ECF1FE"/>
          </a:solidFill>
          <a:ln w="15240">
            <a:solidFill>
              <a:srgbClr val="4967C2"/>
            </a:solidFill>
            <a:prstDash val="solid"/>
          </a:ln>
        </p:spPr>
      </p:sp>
      <p:sp>
        <p:nvSpPr>
          <p:cNvPr id="7" name="Text 5"/>
          <p:cNvSpPr/>
          <p:nvPr/>
        </p:nvSpPr>
        <p:spPr>
          <a:xfrm>
            <a:off x="969264" y="3785616"/>
            <a:ext cx="466344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4967C2"/>
                </a:solidFill>
                <a:latin typeface="Times New Roman" pitchFamily="34" charset="0"/>
                <a:ea typeface="標楷體" pitchFamily="34" charset="-122"/>
                <a:cs typeface="Times New Roman" pitchFamily="34" charset="-120"/>
              </a:rPr>
              <a:t>provider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層</a:t>
            </a:r>
            <a:endParaRPr lang="en-US" sz="1800" dirty="0"/>
          </a:p>
        </p:txBody>
      </p:sp>
      <p:sp>
        <p:nvSpPr>
          <p:cNvPr id="8" name="Text 6"/>
          <p:cNvSpPr/>
          <p:nvPr/>
        </p:nvSpPr>
        <p:spPr>
          <a:xfrm>
            <a:off x="969264" y="4206240"/>
            <a:ext cx="4663440" cy="512064"/>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context</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作用：描述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opportunity</a:t>
            </a:r>
            <a:endParaRPr lang="en-US" sz="2400" dirty="0"/>
          </a:p>
        </p:txBody>
      </p:sp>
      <p:pic>
        <p:nvPicPr>
          <p:cNvPr id="9" name="Image 0" descr="identifier-free endpoint replay crop">    </p:cNvPr>
          <p:cNvPicPr>
            <a:picLocks noChangeAspect="1"/>
          </p:cNvPicPr>
          <p:nvPr/>
        </p:nvPicPr>
        <p:blipFill>
          <a:blip ns2:embed="rId1"/>
          <a:stretch>
            <a:fillRect/>
          </a:stretch>
        </p:blipFill>
        <p:spPr>
          <a:xfrm>
            <a:off x="6126480" y="1389888"/>
            <a:ext cx="5065776" cy="1115568"/>
          </a:xfrm>
          <a:prstGeom prst="rect">
            <a:avLst/>
          </a:prstGeom>
        </p:spPr>
      </p:pic>
      <p:sp>
        <p:nvSpPr>
          <p:cNvPr id="10" name="Shape 7"/>
          <p:cNvSpPr/>
          <p:nvPr/>
        </p:nvSpPr>
        <p:spPr>
          <a:xfrm>
            <a:off x="6126480" y="1389888"/>
            <a:ext cx="5065776" cy="1115568"/>
          </a:xfrm>
          <a:prstGeom prst="rect">
            <a:avLst/>
          </a:prstGeom>
          <a:solidFill>
            <a:srgbClr val="FFFFFF">
              <a:alpha val="0"/>
            </a:srgbClr>
          </a:solidFill>
          <a:ln w="12700">
            <a:solidFill>
              <a:srgbClr val="D7DEEA"/>
            </a:solidFill>
            <a:prstDash val="solid"/>
          </a:ln>
        </p:spPr>
      </p:sp>
      <p:sp>
        <p:nvSpPr>
          <p:cNvPr id="11" name="Shape 8"/>
          <p:cNvSpPr/>
          <p:nvPr/>
        </p:nvSpPr>
        <p:spPr>
          <a:xfrm>
            <a:off x="7406640" y="2633472"/>
            <a:ext cx="2487168" cy="420624"/>
          </a:xfrm>
          <a:prstGeom prst="roundRect">
            <a:avLst/>
          </a:prstGeom>
          <a:solidFill>
            <a:srgbClr val="E8F7F4"/>
          </a:solidFill>
          <a:ln w="15240">
            <a:solidFill>
              <a:srgbClr val="007374"/>
            </a:solidFill>
            <a:prstDash val="solid"/>
          </a:ln>
        </p:spPr>
      </p:sp>
      <p:sp>
        <p:nvSpPr>
          <p:cNvPr id="12" name="Text 9"/>
          <p:cNvSpPr/>
          <p:nvPr/>
        </p:nvSpPr>
        <p:spPr>
          <a:xfrm>
            <a:off x="7479792" y="2670048"/>
            <a:ext cx="234086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13" name="Shape 10"/>
          <p:cNvSpPr/>
          <p:nvPr/>
        </p:nvSpPr>
        <p:spPr>
          <a:xfrm>
            <a:off x="6126480" y="3273552"/>
            <a:ext cx="5065776" cy="1554480"/>
          </a:xfrm>
          <a:prstGeom prst="roundRect">
            <a:avLst/>
          </a:prstGeom>
          <a:solidFill>
            <a:srgbClr val="E8F7F4"/>
          </a:solidFill>
          <a:ln w="15240">
            <a:solidFill>
              <a:srgbClr val="007374"/>
            </a:solidFill>
            <a:prstDash val="solid"/>
          </a:ln>
        </p:spPr>
      </p:sp>
      <p:sp>
        <p:nvSpPr>
          <p:cNvPr id="14" name="Text 11"/>
          <p:cNvSpPr/>
          <p:nvPr/>
        </p:nvSpPr>
        <p:spPr>
          <a:xfrm>
            <a:off x="6272784" y="3383280"/>
            <a:ext cx="4773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層</a:t>
            </a:r>
            <a:endParaRPr lang="en-US" sz="1800" dirty="0"/>
          </a:p>
        </p:txBody>
      </p:sp>
      <p:sp>
        <p:nvSpPr>
          <p:cNvPr id="15" name="Text 12"/>
          <p:cNvSpPr/>
          <p:nvPr/>
        </p:nvSpPr>
        <p:spPr>
          <a:xfrm>
            <a:off x="6272784" y="3822192"/>
            <a:ext cx="4773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來源：</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result.json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endpoint-replay.json</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作用：</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summary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ledger</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scope</a:t>
            </a:r>
            <a:endParaRPr lang="en-US" sz="2400" dirty="0"/>
          </a:p>
        </p:txBody>
      </p:sp>
      <p:sp>
        <p:nvSpPr>
          <p:cNvPr id="16" name="Shape 13"/>
          <p:cNvSpPr/>
          <p:nvPr/>
        </p:nvSpPr>
        <p:spPr>
          <a:xfrm>
            <a:off x="1133856" y="4919472"/>
            <a:ext cx="9674352" cy="841248"/>
          </a:xfrm>
          <a:prstGeom prst="roundRect">
            <a:avLst/>
          </a:prstGeom>
          <a:solidFill>
            <a:srgbClr val="FDEFEF"/>
          </a:solidFill>
          <a:ln w="15240">
            <a:solidFill>
              <a:srgbClr val="992A2A"/>
            </a:solidFill>
            <a:prstDash val="solid"/>
          </a:ln>
        </p:spPr>
      </p:sp>
      <p:sp>
        <p:nvSpPr>
          <p:cNvPr id="17" name="Text 14"/>
          <p:cNvSpPr/>
          <p:nvPr/>
        </p:nvSpPr>
        <p:spPr>
          <a:xfrm>
            <a:off x="1280160" y="5029200"/>
            <a:ext cx="9381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證據邊界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18" name="Text 15"/>
          <p:cNvSpPr/>
          <p:nvPr/>
        </p:nvSpPr>
        <p:spPr>
          <a:xfrm>
            <a:off x="1280160" y="5376672"/>
            <a:ext cx="9381744" cy="274320"/>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各自核對；</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system</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canonical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energy</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claim</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待補。</a:t>
            </a:r>
            <a:endParaRPr lang="en-US" sz="1800" dirty="0"/>
          </a:p>
        </p:txBody>
      </p:sp>
      <p:sp>
        <p:nvSpPr>
          <p:cNvPr id="2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8.xml><?xml version="1.0" encoding="utf-8"?>
<p:sld xmlns:a="http://schemas.openxmlformats.org/drawingml/2006/main"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P092</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Workbook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controls</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的保存與重開</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controls</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：保存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prediction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lineage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與恢復狀態</a:t>
            </a:r>
            <a:endParaRPr lang="en-US" sz="2400" dirty="0"/>
          </a:p>
        </p:txBody>
      </p:sp>
      <p:sp>
        <p:nvSpPr>
          <p:cNvPr id="4" name="Shape 2"/>
          <p:cNvSpPr/>
          <p:nvPr/>
        </p:nvSpPr>
        <p:spPr>
          <a:xfrm>
            <a:off x="822960" y="1353312"/>
            <a:ext cx="3986784" cy="1975104"/>
          </a:xfrm>
          <a:prstGeom prst="rect">
            <a:avLst/>
          </a:prstGeom>
          <a:solidFill>
            <a:srgbClr val="F7F8FC"/>
          </a:solidFill>
          <a:ln w="15240">
            <a:solidFill>
              <a:srgbClr val="D7DEEA"/>
            </a:solidFill>
            <a:prstDash val="solid"/>
          </a:ln>
        </p:spPr>
      </p:sp>
      <p:sp>
        <p:nvSpPr>
          <p:cNvPr id="5" name="Text 3"/>
          <p:cNvSpPr/>
          <p:nvPr/>
        </p:nvSpPr>
        <p:spPr>
          <a:xfrm>
            <a:off x="969264" y="1463040"/>
            <a:ext cx="3694176" cy="1755648"/>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controls</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157216" y="1353312"/>
            <a:ext cx="2834640" cy="896112"/>
          </a:xfrm>
          <a:prstGeom prst="roundRect">
            <a:avLst/>
          </a:prstGeom>
          <a:solidFill>
            <a:srgbClr val="ECF1FE"/>
          </a:solidFill>
          <a:ln w="15240">
            <a:solidFill>
              <a:srgbClr val="4967C2"/>
            </a:solidFill>
            <a:prstDash val="solid"/>
          </a:ln>
        </p:spPr>
      </p:sp>
      <p:sp>
        <p:nvSpPr>
          <p:cNvPr id="7" name="Text 5"/>
          <p:cNvSpPr/>
          <p:nvPr/>
        </p:nvSpPr>
        <p:spPr>
          <a:xfrm>
            <a:off x="5303520" y="146304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建立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checkpoint</a:t>
            </a:r>
            <a:endParaRPr lang="en-US" sz="1800" dirty="0"/>
          </a:p>
        </p:txBody>
      </p:sp>
      <p:sp>
        <p:nvSpPr>
          <p:cNvPr id="8" name="Text 6"/>
          <p:cNvSpPr/>
          <p:nvPr/>
        </p:nvSpPr>
        <p:spPr>
          <a:xfrm>
            <a:off x="5303520" y="182880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prediction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lineage</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寫可恢復狀態</a:t>
            </a:r>
            <a:endParaRPr lang="en-US" sz="1800" dirty="0"/>
          </a:p>
        </p:txBody>
      </p:sp>
      <p:sp>
        <p:nvSpPr>
          <p:cNvPr id="9" name="Shape 7"/>
          <p:cNvSpPr/>
          <p:nvPr/>
        </p:nvSpPr>
        <p:spPr>
          <a:xfrm>
            <a:off x="8284464" y="1353312"/>
            <a:ext cx="2834640" cy="896112"/>
          </a:xfrm>
          <a:prstGeom prst="roundRect">
            <a:avLst/>
          </a:prstGeom>
          <a:solidFill>
            <a:srgbClr val="E8F7F4"/>
          </a:solidFill>
          <a:ln w="15240">
            <a:solidFill>
              <a:srgbClr val="007374"/>
            </a:solidFill>
            <a:prstDash val="solid"/>
          </a:ln>
        </p:spPr>
      </p:sp>
      <p:sp>
        <p:nvSpPr>
          <p:cNvPr id="10" name="Text 8"/>
          <p:cNvSpPr/>
          <p:nvPr/>
        </p:nvSpPr>
        <p:spPr>
          <a:xfrm>
            <a:off x="8430768" y="146304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恢復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restore</a:t>
            </a:r>
            <a:endParaRPr lang="en-US" sz="1800" dirty="0"/>
          </a:p>
        </p:txBody>
      </p:sp>
      <p:sp>
        <p:nvSpPr>
          <p:cNvPr id="11" name="Text 9"/>
          <p:cNvSpPr/>
          <p:nvPr/>
        </p:nvSpPr>
        <p:spPr>
          <a:xfrm>
            <a:off x="8430768" y="182880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checkpoint</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更新目前 </a:t>
            </a: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record</a:t>
            </a:r>
            <a:endParaRPr lang="en-US" sz="1800" dirty="0"/>
          </a:p>
        </p:txBody>
      </p:sp>
      <p:sp>
        <p:nvSpPr>
          <p:cNvPr id="12" name="Shape 10"/>
          <p:cNvSpPr/>
          <p:nvPr/>
        </p:nvSpPr>
        <p:spPr>
          <a:xfrm>
            <a:off x="5157216" y="2450592"/>
            <a:ext cx="2834640" cy="896112"/>
          </a:xfrm>
          <a:prstGeom prst="roundRect">
            <a:avLst/>
          </a:prstGeom>
          <a:solidFill>
            <a:srgbClr val="F4EDF7"/>
          </a:solidFill>
          <a:ln w="15240">
            <a:solidFill>
              <a:srgbClr val="660066"/>
            </a:solidFill>
            <a:prstDash val="solid"/>
          </a:ln>
        </p:spPr>
      </p:sp>
      <p:sp>
        <p:nvSpPr>
          <p:cNvPr id="13" name="Text 11"/>
          <p:cNvSpPr/>
          <p:nvPr/>
        </p:nvSpPr>
        <p:spPr>
          <a:xfrm>
            <a:off x="5303520" y="256032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重設／復原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reset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undo</a:t>
            </a:r>
            <a:endParaRPr lang="en-US" sz="1800" dirty="0"/>
          </a:p>
        </p:txBody>
      </p:sp>
      <p:sp>
        <p:nvSpPr>
          <p:cNvPr id="14" name="Text 12"/>
          <p:cNvSpPr/>
          <p:nvPr/>
        </p:nvSpPr>
        <p:spPr>
          <a:xfrm>
            <a:off x="5303520" y="292608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local</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progress</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寫 </a:t>
            </a: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reset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state</a:t>
            </a:r>
            <a:endParaRPr lang="en-US" sz="1800" dirty="0"/>
          </a:p>
        </p:txBody>
      </p:sp>
      <p:sp>
        <p:nvSpPr>
          <p:cNvPr id="15" name="Shape 13"/>
          <p:cNvSpPr/>
          <p:nvPr/>
        </p:nvSpPr>
        <p:spPr>
          <a:xfrm>
            <a:off x="8284464" y="2450592"/>
            <a:ext cx="2834640" cy="896112"/>
          </a:xfrm>
          <a:prstGeom prst="roundRect">
            <a:avLst/>
          </a:prstGeom>
          <a:solidFill>
            <a:srgbClr val="FDF9E2"/>
          </a:solidFill>
          <a:ln w="15240">
            <a:solidFill>
              <a:srgbClr val="846826"/>
            </a:solidFill>
            <a:prstDash val="solid"/>
          </a:ln>
        </p:spPr>
      </p:sp>
      <p:sp>
        <p:nvSpPr>
          <p:cNvPr id="16" name="Text 14"/>
          <p:cNvSpPr/>
          <p:nvPr/>
        </p:nvSpPr>
        <p:spPr>
          <a:xfrm>
            <a:off x="8430768" y="2560320"/>
            <a:ext cx="25420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匯出／重開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export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reopen</a:t>
            </a:r>
            <a:endParaRPr lang="en-US" sz="1800" dirty="0"/>
          </a:p>
        </p:txBody>
      </p:sp>
      <p:sp>
        <p:nvSpPr>
          <p:cNvPr id="17" name="Text 15"/>
          <p:cNvSpPr/>
          <p:nvPr/>
        </p:nvSpPr>
        <p:spPr>
          <a:xfrm>
            <a:off x="8430768" y="2926080"/>
            <a:ext cx="2542032" cy="310896"/>
          </a:xfrm>
          <a:prstGeom prst="rect">
            <a:avLst/>
          </a:prstGeom>
          <a:noFill/>
          <a:ln/>
        </p:spPr>
        <p:txBody>
          <a:bodyPr wrap="square" lIns="635" tIns="635" rIns="635" bIns="635" rtlCol="0" anchor="t">
            <a:normAutofit/>
          </a:bodyPr>
          <a:lstStyle/>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lineage</a:t>
            </a:r>
            <a:pPr algn="ctr" indent="0" marL="0">
              <a:lnSpc>
                <a:spcPct val="100000"/>
              </a:lnSpc>
              <a:buNone/>
            </a:pPr>
            <a:endParaRPr lang="en-US" sz="1800" dirty="0"/>
          </a:p>
          <a:p>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更新檔案狀態</a:t>
            </a:r>
            <a:endParaRPr lang="en-US" sz="1800" dirty="0"/>
          </a:p>
        </p:txBody>
      </p:sp>
      <p:sp>
        <p:nvSpPr>
          <p:cNvPr id="18" name="Shape 16"/>
          <p:cNvSpPr/>
          <p:nvPr/>
        </p:nvSpPr>
        <p:spPr>
          <a:xfrm>
            <a:off x="5157216" y="3639312"/>
            <a:ext cx="5961888" cy="1005840"/>
          </a:xfrm>
          <a:prstGeom prst="roundRect">
            <a:avLst/>
          </a:prstGeom>
          <a:solidFill>
            <a:srgbClr val="FDEFEF"/>
          </a:solidFill>
          <a:ln w="15240">
            <a:solidFill>
              <a:srgbClr val="992A2A"/>
            </a:solidFill>
            <a:prstDash val="solid"/>
          </a:ln>
        </p:spPr>
      </p:sp>
      <p:sp>
        <p:nvSpPr>
          <p:cNvPr id="19" name="Text 17"/>
          <p:cNvSpPr/>
          <p:nvPr/>
        </p:nvSpPr>
        <p:spPr>
          <a:xfrm>
            <a:off x="5303520" y="3749040"/>
            <a:ext cx="566928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驗證失敗</a:t>
            </a:r>
            <a:endParaRPr lang="en-US" sz="1800" dirty="0"/>
          </a:p>
        </p:txBody>
      </p:sp>
      <p:sp>
        <p:nvSpPr>
          <p:cNvPr id="20" name="Text 18"/>
          <p:cNvSpPr/>
          <p:nvPr/>
        </p:nvSpPr>
        <p:spPr>
          <a:xfrm>
            <a:off x="5303520" y="4133088"/>
            <a:ext cx="5669280"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原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local</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progress</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保持；</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0</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10</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是完成段落計數。</a:t>
            </a:r>
            <a:endParaRPr lang="en-US" sz="2000" dirty="0"/>
          </a:p>
        </p:txBody>
      </p:sp>
      <p:sp>
        <p:nvSpPr>
          <p:cNvPr id="21" name="Shape 19"/>
          <p:cNvSpPr/>
          <p:nvPr/>
        </p:nvSpPr>
        <p:spPr>
          <a:xfrm>
            <a:off x="3401568" y="4517136"/>
            <a:ext cx="1261872" cy="0"/>
          </a:xfrm>
          <a:prstGeom prst="line">
            <a:avLst/>
          </a:prstGeom>
          <a:noFill/>
          <a:ln w="25400">
            <a:solidFill>
              <a:srgbClr val="25356B"/>
            </a:solidFill>
            <a:prstDash val="solid"/>
          </a:ln>
        </p:spPr>
      </p:sp>
      <p:sp>
        <p:nvSpPr>
          <p:cNvPr id="22" name="Shape 20"/>
          <p:cNvSpPr/>
          <p:nvPr/>
        </p:nvSpPr>
        <p:spPr>
          <a:xfrm>
            <a:off x="822960" y="4334256"/>
            <a:ext cx="3986784" cy="1042416"/>
          </a:xfrm>
          <a:prstGeom prst="roundRect">
            <a:avLst/>
          </a:prstGeom>
          <a:solidFill>
            <a:srgbClr val="FDF9E2"/>
          </a:solidFill>
          <a:ln w="15240">
            <a:solidFill>
              <a:srgbClr val="846826"/>
            </a:solidFill>
            <a:prstDash val="solid"/>
          </a:ln>
        </p:spPr>
      </p:sp>
      <p:sp>
        <p:nvSpPr>
          <p:cNvPr id="23" name="Text 21"/>
          <p:cNvSpPr/>
          <p:nvPr/>
        </p:nvSpPr>
        <p:spPr>
          <a:xfrm>
            <a:off x="969264" y="4443984"/>
            <a:ext cx="3694176"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完成度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gate</a:t>
            </a:r>
            <a:endParaRPr lang="en-US" sz="1800" dirty="0"/>
          </a:p>
        </p:txBody>
      </p:sp>
      <p:sp>
        <p:nvSpPr>
          <p:cNvPr id="24" name="Text 22"/>
          <p:cNvSpPr/>
          <p:nvPr/>
        </p:nvSpPr>
        <p:spPr>
          <a:xfrm>
            <a:off x="969264" y="4828032"/>
            <a:ext cx="3694176" cy="438912"/>
          </a:xfrm>
          <a:prstGeom prst="rect">
            <a:avLst/>
          </a:prstGeom>
          <a:noFill/>
          <a:ln/>
        </p:spPr>
        <p:txBody>
          <a:bodyPr wrap="square" lIns="635" tIns="635" rIns="635" bIns="635" rtlCol="0" anchor="t">
            <a:normAutofit/>
          </a:bodyPr>
          <a:lstStyle/>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interpretation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齊全後，才可記錄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COMPLETE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endParaRPr lang="en-US" sz="2400" dirty="0"/>
          </a:p>
        </p:txBody>
      </p:sp>
      <p:sp>
        <p:nvSpPr>
          <p:cNvPr id="26"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99.xml><?xml version="1.0" encoding="utf-8"?>
<p:sld xmlns:a="http://schemas.openxmlformats.org/drawingml/2006/main"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P093</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course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rejection</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recovery</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fail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closed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：既有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session</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不被改寫；</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recovery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回到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matching</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evidence</a:t>
            </a:r>
            <a:endParaRPr lang="en-US" sz="2400" dirty="0"/>
          </a:p>
        </p:txBody>
      </p:sp>
      <p:sp>
        <p:nvSpPr>
          <p:cNvPr id="4" name="Shape 2"/>
          <p:cNvSpPr/>
          <p:nvPr/>
        </p:nvSpPr>
        <p:spPr>
          <a:xfrm>
            <a:off x="822960" y="1426464"/>
            <a:ext cx="2139696" cy="1078992"/>
          </a:xfrm>
          <a:prstGeom prst="roundRect">
            <a:avLst/>
          </a:prstGeom>
          <a:solidFill>
            <a:srgbClr val="ECF1FE"/>
          </a:solidFill>
          <a:ln w="15240">
            <a:solidFill>
              <a:srgbClr val="4967C2"/>
            </a:solidFill>
            <a:prstDash val="solid"/>
          </a:ln>
        </p:spPr>
      </p:sp>
      <p:sp>
        <p:nvSpPr>
          <p:cNvPr id="5" name="Text 3"/>
          <p:cNvSpPr/>
          <p:nvPr/>
        </p:nvSpPr>
        <p:spPr>
          <a:xfrm>
            <a:off x="969264"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格式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format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schema</a:t>
            </a:r>
            <a:endParaRPr lang="en-US" sz="1800" dirty="0"/>
          </a:p>
        </p:txBody>
      </p:sp>
      <p:sp>
        <p:nvSpPr>
          <p:cNvPr id="6" name="Text 4"/>
          <p:cNvSpPr/>
          <p:nvPr/>
        </p:nvSpPr>
        <p:spPr>
          <a:xfrm>
            <a:off x="969264"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檔案結構或欄位不合約</a:t>
            </a:r>
            <a:endParaRPr lang="en-US" sz="2400" dirty="0"/>
          </a:p>
        </p:txBody>
      </p:sp>
      <p:sp>
        <p:nvSpPr>
          <p:cNvPr id="7" name="Shape 5"/>
          <p:cNvSpPr/>
          <p:nvPr/>
        </p:nvSpPr>
        <p:spPr>
          <a:xfrm>
            <a:off x="3236976" y="1426464"/>
            <a:ext cx="2139696" cy="1078992"/>
          </a:xfrm>
          <a:prstGeom prst="roundRect">
            <a:avLst/>
          </a:prstGeom>
          <a:solidFill>
            <a:srgbClr val="F4EDF7"/>
          </a:solidFill>
          <a:ln w="15240">
            <a:solidFill>
              <a:srgbClr val="660066"/>
            </a:solidFill>
            <a:prstDash val="solid"/>
          </a:ln>
        </p:spPr>
      </p:sp>
      <p:sp>
        <p:nvSpPr>
          <p:cNvPr id="8" name="Text 6"/>
          <p:cNvSpPr/>
          <p:nvPr/>
        </p:nvSpPr>
        <p:spPr>
          <a:xfrm>
            <a:off x="3383280"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身份 </a:t>
            </a:r>
            <a:pPr algn="ctr" indent="0" marL="0">
              <a:lnSpc>
                <a:spcPct val="100000"/>
              </a:lnSpc>
              <a:buNone/>
            </a:pPr>
            <a:r>
              <a:rPr lang="en-US" sz="1800" b="1" i="1" dirty="0">
                <a:solidFill>
                  <a:srgbClr val="660066"/>
                </a:solidFill>
                <a:latin typeface="Times New Roman" pitchFamily="34" charset="0"/>
                <a:ea typeface="標楷體" pitchFamily="34" charset="-122"/>
                <a:cs typeface="Times New Roman" pitchFamily="34" charset="-120"/>
              </a:rPr>
              <a:t>identity</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lineage</a:t>
            </a:r>
            <a:endParaRPr lang="en-US" sz="1800" dirty="0"/>
          </a:p>
        </p:txBody>
      </p:sp>
      <p:sp>
        <p:nvSpPr>
          <p:cNvPr id="9" name="Text 7"/>
          <p:cNvSpPr/>
          <p:nvPr/>
        </p:nvSpPr>
        <p:spPr>
          <a:xfrm>
            <a:off x="3383280"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scenario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case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或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policy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不匹配</a:t>
            </a:r>
            <a:endParaRPr lang="en-US" sz="2400" dirty="0"/>
          </a:p>
        </p:txBody>
      </p:sp>
      <p:sp>
        <p:nvSpPr>
          <p:cNvPr id="10" name="Shape 8"/>
          <p:cNvSpPr/>
          <p:nvPr/>
        </p:nvSpPr>
        <p:spPr>
          <a:xfrm>
            <a:off x="5650992" y="1426464"/>
            <a:ext cx="2139696" cy="1078992"/>
          </a:xfrm>
          <a:prstGeom prst="roundRect">
            <a:avLst/>
          </a:prstGeom>
          <a:solidFill>
            <a:srgbClr val="FDEFEF"/>
          </a:solidFill>
          <a:ln w="15240">
            <a:solidFill>
              <a:srgbClr val="992A2A"/>
            </a:solidFill>
            <a:prstDash val="solid"/>
          </a:ln>
        </p:spPr>
      </p:sp>
      <p:sp>
        <p:nvSpPr>
          <p:cNvPr id="11" name="Text 9"/>
          <p:cNvSpPr/>
          <p:nvPr/>
        </p:nvSpPr>
        <p:spPr>
          <a:xfrm>
            <a:off x="5797296" y="1536192"/>
            <a:ext cx="184708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不可變重複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immutable</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duplicate</a:t>
            </a:r>
            <a:endParaRPr lang="en-US" sz="1800" dirty="0"/>
          </a:p>
        </p:txBody>
      </p:sp>
      <p:sp>
        <p:nvSpPr>
          <p:cNvPr id="12" name="Text 10"/>
          <p:cNvSpPr/>
          <p:nvPr/>
        </p:nvSpPr>
        <p:spPr>
          <a:xfrm>
            <a:off x="5797296" y="1938528"/>
            <a:ext cx="1847088" cy="45720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同一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session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重複匯入</a:t>
            </a:r>
            <a:endParaRPr lang="en-US" sz="2400" dirty="0"/>
          </a:p>
        </p:txBody>
      </p:sp>
      <p:sp>
        <p:nvSpPr>
          <p:cNvPr id="13" name="Shape 11"/>
          <p:cNvSpPr/>
          <p:nvPr/>
        </p:nvSpPr>
        <p:spPr>
          <a:xfrm>
            <a:off x="1810512" y="2615184"/>
            <a:ext cx="4425696" cy="475488"/>
          </a:xfrm>
          <a:prstGeom prst="line">
            <a:avLst/>
          </a:prstGeom>
          <a:noFill/>
          <a:ln w="22860">
            <a:solidFill>
              <a:srgbClr val="25356B"/>
            </a:solidFill>
            <a:prstDash val="solid"/>
          </a:ln>
        </p:spPr>
      </p:sp>
      <p:sp>
        <p:nvSpPr>
          <p:cNvPr id="14" name="Shape 12"/>
          <p:cNvSpPr/>
          <p:nvPr/>
        </p:nvSpPr>
        <p:spPr>
          <a:xfrm>
            <a:off x="4663440" y="2944368"/>
            <a:ext cx="2761488" cy="713232"/>
          </a:xfrm>
          <a:prstGeom prst="roundRect">
            <a:avLst/>
          </a:prstGeom>
          <a:solidFill>
            <a:srgbClr val="FDEFEF"/>
          </a:solidFill>
          <a:ln w="15240">
            <a:solidFill>
              <a:srgbClr val="992A2A"/>
            </a:solidFill>
            <a:prstDash val="solid"/>
          </a:ln>
        </p:spPr>
      </p:sp>
      <p:sp>
        <p:nvSpPr>
          <p:cNvPr id="15" name="Text 13"/>
          <p:cNvSpPr/>
          <p:nvPr/>
        </p:nvSpPr>
        <p:spPr>
          <a:xfrm>
            <a:off x="4828032" y="3145536"/>
            <a:ext cx="243230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原 </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session</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a:t>
            </a:r>
            <a:pPr algn="ctr" indent="0" marL="0">
              <a:lnSpc>
                <a:spcPct val="100000"/>
              </a:lnSpc>
              <a:buNone/>
            </a:pPr>
            <a:r>
              <a:rPr lang="en-US" sz="1600" b="1" i="1" dirty="0">
                <a:solidFill>
                  <a:srgbClr val="992A2A"/>
                </a:solidFill>
                <a:latin typeface="Times New Roman" pitchFamily="34" charset="0"/>
                <a:ea typeface="標楷體" pitchFamily="34" charset="-122"/>
                <a:cs typeface="Times New Roman" pitchFamily="34" charset="-120"/>
              </a:rPr>
              <a:t>workbook</a:t>
            </a:r>
            <a:pPr algn="ctr" indent="0" marL="0">
              <a:lnSpc>
                <a:spcPct val="100000"/>
              </a:lnSpc>
              <a:buNone/>
            </a:pPr>
            <a:r>
              <a:rPr lang="en-US" sz="1600" b="1" dirty="0">
                <a:solidFill>
                  <a:srgbClr val="992A2A"/>
                </a:solidFill>
                <a:latin typeface="Times New Roman" pitchFamily="34" charset="0"/>
                <a:ea typeface="標楷體" pitchFamily="34" charset="-122"/>
                <a:cs typeface="Times New Roman" pitchFamily="34" charset="-120"/>
              </a:rPr>
              <a:t> 保持</a:t>
            </a:r>
            <a:endParaRPr lang="en-US" sz="1600" dirty="0"/>
          </a:p>
        </p:txBody>
      </p:sp>
      <p:sp>
        <p:nvSpPr>
          <p:cNvPr id="16" name="Shape 14"/>
          <p:cNvSpPr/>
          <p:nvPr/>
        </p:nvSpPr>
        <p:spPr>
          <a:xfrm>
            <a:off x="6035040" y="3675888"/>
            <a:ext cx="0" cy="420624"/>
          </a:xfrm>
          <a:prstGeom prst="line">
            <a:avLst/>
          </a:prstGeom>
          <a:noFill/>
          <a:ln w="22860">
            <a:solidFill>
              <a:srgbClr val="25356B"/>
            </a:solidFill>
            <a:prstDash val="solid"/>
          </a:ln>
        </p:spPr>
      </p:sp>
      <p:sp>
        <p:nvSpPr>
          <p:cNvPr id="17" name="Shape 15"/>
          <p:cNvSpPr/>
          <p:nvPr/>
        </p:nvSpPr>
        <p:spPr>
          <a:xfrm>
            <a:off x="822960" y="4315968"/>
            <a:ext cx="3291840" cy="1005840"/>
          </a:xfrm>
          <a:prstGeom prst="roundRect">
            <a:avLst/>
          </a:prstGeom>
          <a:solidFill>
            <a:srgbClr val="ECF1FE"/>
          </a:solidFill>
          <a:ln w="15240">
            <a:solidFill>
              <a:srgbClr val="4967C2"/>
            </a:solidFill>
            <a:prstDash val="solid"/>
          </a:ln>
        </p:spPr>
      </p:sp>
      <p:sp>
        <p:nvSpPr>
          <p:cNvPr id="18" name="Text 16"/>
          <p:cNvSpPr/>
          <p:nvPr/>
        </p:nvSpPr>
        <p:spPr>
          <a:xfrm>
            <a:off x="9692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匹配產物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matching</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artifact</a:t>
            </a:r>
            <a:endParaRPr lang="en-US" sz="1800" dirty="0"/>
          </a:p>
        </p:txBody>
      </p:sp>
      <p:sp>
        <p:nvSpPr>
          <p:cNvPr id="19" name="Text 17"/>
          <p:cNvSpPr/>
          <p:nvPr/>
        </p:nvSpPr>
        <p:spPr>
          <a:xfrm>
            <a:off x="9692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保留原始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error</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path</a:t>
            </a:r>
            <a:endParaRPr lang="en-US" sz="2000" dirty="0"/>
          </a:p>
        </p:txBody>
      </p:sp>
      <p:sp>
        <p:nvSpPr>
          <p:cNvPr id="20" name="Shape 18"/>
          <p:cNvSpPr/>
          <p:nvPr/>
        </p:nvSpPr>
        <p:spPr>
          <a:xfrm>
            <a:off x="4480560" y="4315968"/>
            <a:ext cx="3291840" cy="1005840"/>
          </a:xfrm>
          <a:prstGeom prst="roundRect">
            <a:avLst/>
          </a:prstGeom>
          <a:solidFill>
            <a:srgbClr val="E8F7F4"/>
          </a:solidFill>
          <a:ln w="15240">
            <a:solidFill>
              <a:srgbClr val="007374"/>
            </a:solidFill>
            <a:prstDash val="solid"/>
          </a:ln>
        </p:spPr>
      </p:sp>
      <p:sp>
        <p:nvSpPr>
          <p:cNvPr id="21" name="Text 19"/>
          <p:cNvSpPr/>
          <p:nvPr/>
        </p:nvSpPr>
        <p:spPr>
          <a:xfrm>
            <a:off x="46268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發行備份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release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backup</a:t>
            </a:r>
            <a:endParaRPr lang="en-US" sz="1800" dirty="0"/>
          </a:p>
        </p:txBody>
      </p:sp>
      <p:sp>
        <p:nvSpPr>
          <p:cNvPr id="22" name="Text 20"/>
          <p:cNvSpPr/>
          <p:nvPr/>
        </p:nvSpPr>
        <p:spPr>
          <a:xfrm>
            <a:off x="46268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回到最後已知正確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block</a:t>
            </a:r>
            <a:endParaRPr lang="en-US" sz="2000" dirty="0"/>
          </a:p>
        </p:txBody>
      </p:sp>
      <p:sp>
        <p:nvSpPr>
          <p:cNvPr id="23" name="Shape 21"/>
          <p:cNvSpPr/>
          <p:nvPr/>
        </p:nvSpPr>
        <p:spPr>
          <a:xfrm>
            <a:off x="8138160" y="4315968"/>
            <a:ext cx="3291840" cy="1005840"/>
          </a:xfrm>
          <a:prstGeom prst="roundRect">
            <a:avLst/>
          </a:prstGeom>
          <a:solidFill>
            <a:srgbClr val="F4EDF7"/>
          </a:solidFill>
          <a:ln w="15240">
            <a:solidFill>
              <a:srgbClr val="660066"/>
            </a:solidFill>
            <a:prstDash val="solid"/>
          </a:ln>
        </p:spPr>
      </p:sp>
      <p:sp>
        <p:nvSpPr>
          <p:cNvPr id="24" name="Text 22"/>
          <p:cNvSpPr/>
          <p:nvPr/>
        </p:nvSpPr>
        <p:spPr>
          <a:xfrm>
            <a:off x="8284464" y="4425696"/>
            <a:ext cx="299923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同情境備用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same-scenario</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endParaRPr lang="en-US" sz="1800" dirty="0"/>
          </a:p>
        </p:txBody>
      </p:sp>
      <p:sp>
        <p:nvSpPr>
          <p:cNvPr id="25" name="Text 23"/>
          <p:cNvSpPr/>
          <p:nvPr/>
        </p:nvSpPr>
        <p:spPr>
          <a:xfrm>
            <a:off x="8284464" y="4809744"/>
            <a:ext cx="2999232" cy="402336"/>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明示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；保存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recovery</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note</a:t>
            </a:r>
            <a:endParaRPr lang="en-US" sz="2000" dirty="0"/>
          </a:p>
        </p:txBody>
      </p:sp>
      <p:sp>
        <p:nvSpPr>
          <p:cNvPr id="26" name="Shape 24"/>
          <p:cNvSpPr/>
          <p:nvPr/>
        </p:nvSpPr>
        <p:spPr>
          <a:xfrm>
            <a:off x="4187952" y="2450592"/>
            <a:ext cx="3822192" cy="420624"/>
          </a:xfrm>
          <a:prstGeom prst="roundRect">
            <a:avLst/>
          </a:prstGeom>
          <a:solidFill>
            <a:srgbClr val="FDF9E2"/>
          </a:solidFill>
          <a:ln w="15240">
            <a:solidFill>
              <a:srgbClr val="846826"/>
            </a:solidFill>
            <a:prstDash val="solid"/>
          </a:ln>
        </p:spPr>
      </p:sp>
      <p:sp>
        <p:nvSpPr>
          <p:cNvPr id="27" name="Text 25"/>
          <p:cNvSpPr/>
          <p:nvPr/>
        </p:nvSpPr>
        <p:spPr>
          <a:xfrm>
            <a:off x="4261104" y="2487168"/>
            <a:ext cx="3675888"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rejection</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 待補</a:t>
            </a:r>
            <a:endParaRPr lang="en-US" sz="1800" dirty="0"/>
          </a:p>
        </p:txBody>
      </p:sp>
      <p:sp>
        <p:nvSpPr>
          <p:cNvPr id="29"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00.xml><?xml version="1.0" encoding="utf-8"?>
<p:sld xmlns:a="http://schemas.openxmlformats.org/drawingml/2006/main"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P094</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Prepare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READY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terminal</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receipt</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READY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是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terminal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receipt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的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record</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runner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artifact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另由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import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定義</a:t>
            </a:r>
            <a:endParaRPr lang="en-US" sz="2400" dirty="0"/>
          </a:p>
        </p:txBody>
      </p:sp>
      <p:sp>
        <p:nvSpPr>
          <p:cNvPr id="4" name="Shape 2"/>
          <p:cNvSpPr/>
          <p:nvPr/>
        </p:nvSpPr>
        <p:spPr>
          <a:xfrm>
            <a:off x="822960" y="1371600"/>
            <a:ext cx="4005072" cy="1938528"/>
          </a:xfrm>
          <a:prstGeom prst="rect">
            <a:avLst/>
          </a:prstGeom>
          <a:solidFill>
            <a:srgbClr val="F7F8FC"/>
          </a:solidFill>
          <a:ln w="15240">
            <a:solidFill>
              <a:srgbClr val="D7DEEA"/>
            </a:solidFill>
            <a:prstDash val="solid"/>
          </a:ln>
        </p:spPr>
      </p:sp>
      <p:sp>
        <p:nvSpPr>
          <p:cNvPr id="5" name="Text 3"/>
          <p:cNvSpPr/>
          <p:nvPr/>
        </p:nvSpPr>
        <p:spPr>
          <a:xfrm>
            <a:off x="969264" y="1481328"/>
            <a:ext cx="3712464" cy="171907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Prepare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machine-readable</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READY</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receipt</a:t>
            </a:r>
            <a:endParaRPr lang="en-US" sz="2400" dirty="0"/>
          </a:p>
        </p:txBody>
      </p:sp>
      <p:sp>
        <p:nvSpPr>
          <p:cNvPr id="6" name="Shape 4"/>
          <p:cNvSpPr/>
          <p:nvPr/>
        </p:nvSpPr>
        <p:spPr>
          <a:xfrm>
            <a:off x="5212080" y="1371600"/>
            <a:ext cx="2779776" cy="1517904"/>
          </a:xfrm>
          <a:prstGeom prst="roundRect">
            <a:avLst/>
          </a:prstGeom>
          <a:solidFill>
            <a:srgbClr val="E8F7F4"/>
          </a:solidFill>
          <a:ln w="15240">
            <a:solidFill>
              <a:srgbClr val="007374"/>
            </a:solidFill>
            <a:prstDash val="solid"/>
          </a:ln>
        </p:spPr>
      </p:sp>
      <p:sp>
        <p:nvSpPr>
          <p:cNvPr id="7" name="Text 5"/>
          <p:cNvSpPr/>
          <p:nvPr/>
        </p:nvSpPr>
        <p:spPr>
          <a:xfrm>
            <a:off x="5358384" y="1481328"/>
            <a:ext cx="2487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記錄 </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READY</a:t>
            </a:r>
            <a:endParaRPr lang="en-US" sz="1800" dirty="0"/>
          </a:p>
        </p:txBody>
      </p:sp>
      <p:sp>
        <p:nvSpPr>
          <p:cNvPr id="8" name="Text 6"/>
          <p:cNvSpPr/>
          <p:nvPr/>
        </p:nvSpPr>
        <p:spPr>
          <a:xfrm>
            <a:off x="5358384" y="1883664"/>
            <a:ext cx="2487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terminal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receipt</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status</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成功：顯示已就緒</a:t>
            </a:r>
            <a:endParaRPr lang="en-US" sz="2400" dirty="0"/>
          </a:p>
        </p:txBody>
      </p:sp>
      <p:sp>
        <p:nvSpPr>
          <p:cNvPr id="9" name="Shape 7"/>
          <p:cNvSpPr/>
          <p:nvPr/>
        </p:nvSpPr>
        <p:spPr>
          <a:xfrm>
            <a:off x="8485632" y="1371600"/>
            <a:ext cx="2779776" cy="1517904"/>
          </a:xfrm>
          <a:prstGeom prst="roundRect">
            <a:avLst/>
          </a:prstGeom>
          <a:solidFill>
            <a:srgbClr val="FDF9E2"/>
          </a:solidFill>
          <a:ln w="15240">
            <a:solidFill>
              <a:srgbClr val="846826"/>
            </a:solidFill>
            <a:prstDash val="solid"/>
          </a:ln>
        </p:spPr>
      </p:sp>
      <p:sp>
        <p:nvSpPr>
          <p:cNvPr id="10" name="Text 8"/>
          <p:cNvSpPr/>
          <p:nvPr/>
        </p:nvSpPr>
        <p:spPr>
          <a:xfrm>
            <a:off x="8631936" y="1481328"/>
            <a:ext cx="248716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記錄備用環境</a:t>
            </a:r>
            <a:endParaRPr lang="en-US" sz="1800" dirty="0"/>
          </a:p>
        </p:txBody>
      </p:sp>
      <p:sp>
        <p:nvSpPr>
          <p:cNvPr id="11" name="Text 9"/>
          <p:cNvSpPr/>
          <p:nvPr/>
        </p:nvSpPr>
        <p:spPr>
          <a:xfrm>
            <a:off x="8631936" y="1883664"/>
            <a:ext cx="2487168" cy="8961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choice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browser-local</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成功：顯示備用路徑</a:t>
            </a:r>
            <a:endParaRPr lang="en-US" sz="2400" dirty="0"/>
          </a:p>
        </p:txBody>
      </p:sp>
      <p:sp>
        <p:nvSpPr>
          <p:cNvPr id="12" name="Shape 10"/>
          <p:cNvSpPr/>
          <p:nvPr/>
        </p:nvSpPr>
        <p:spPr>
          <a:xfrm>
            <a:off x="822960" y="3730752"/>
            <a:ext cx="10442448" cy="969264"/>
          </a:xfrm>
          <a:prstGeom prst="rect">
            <a:avLst/>
          </a:prstGeom>
          <a:solidFill>
            <a:srgbClr val="ECF1FE"/>
          </a:solidFill>
          <a:ln w="15240">
            <a:solidFill>
              <a:srgbClr val="4967C2"/>
            </a:solidFill>
            <a:prstDash val="solid"/>
          </a:ln>
        </p:spPr>
      </p:sp>
      <p:sp>
        <p:nvSpPr>
          <p:cNvPr id="13" name="Text 11"/>
          <p:cNvSpPr/>
          <p:nvPr/>
        </p:nvSpPr>
        <p:spPr>
          <a:xfrm>
            <a:off x="1115568" y="3913632"/>
            <a:ext cx="4480560"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terminal</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runner</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setup</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verify</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run</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result</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artifact</a:t>
            </a:r>
            <a:endParaRPr lang="en-US" sz="1800" dirty="0"/>
          </a:p>
        </p:txBody>
      </p:sp>
      <p:sp>
        <p:nvSpPr>
          <p:cNvPr id="14" name="Shape 12"/>
          <p:cNvSpPr/>
          <p:nvPr/>
        </p:nvSpPr>
        <p:spPr>
          <a:xfrm>
            <a:off x="5833872" y="3840480"/>
            <a:ext cx="384048" cy="438912"/>
          </a:xfrm>
          <a:prstGeom prst="chevron">
            <a:avLst/>
          </a:prstGeom>
          <a:solidFill>
            <a:srgbClr val="4967C2"/>
          </a:solidFill>
          <a:ln w="12700">
            <a:solidFill>
              <a:srgbClr val="4967C2">
                <a:alpha val="0"/>
              </a:srgbClr>
            </a:solidFill>
            <a:prstDash val="solid"/>
          </a:ln>
        </p:spPr>
      </p:sp>
      <p:sp>
        <p:nvSpPr>
          <p:cNvPr id="15" name="Text 13"/>
          <p:cNvSpPr/>
          <p:nvPr/>
        </p:nvSpPr>
        <p:spPr>
          <a:xfrm>
            <a:off x="6345936" y="3913632"/>
            <a:ext cx="4498848" cy="292608"/>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browser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route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READY</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source</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record</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import</a:t>
            </a:r>
            <a:endParaRPr lang="en-US" sz="1800" dirty="0"/>
          </a:p>
        </p:txBody>
      </p:sp>
      <p:sp>
        <p:nvSpPr>
          <p:cNvPr id="16" name="Shape 14"/>
          <p:cNvSpPr/>
          <p:nvPr/>
        </p:nvSpPr>
        <p:spPr>
          <a:xfrm>
            <a:off x="1883664" y="4846320"/>
            <a:ext cx="8357616" cy="877824"/>
          </a:xfrm>
          <a:prstGeom prst="roundRect">
            <a:avLst/>
          </a:prstGeom>
          <a:solidFill>
            <a:srgbClr val="FDEFEF"/>
          </a:solidFill>
          <a:ln w="15240">
            <a:solidFill>
              <a:srgbClr val="992A2A"/>
            </a:solidFill>
            <a:prstDash val="solid"/>
          </a:ln>
        </p:spPr>
      </p:sp>
      <p:sp>
        <p:nvSpPr>
          <p:cNvPr id="17" name="Text 15"/>
          <p:cNvSpPr/>
          <p:nvPr/>
        </p:nvSpPr>
        <p:spPr>
          <a:xfrm>
            <a:off x="2029968" y="4956048"/>
            <a:ext cx="806500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證據邊界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boundary</a:t>
            </a:r>
            <a:endParaRPr lang="en-US" sz="1800" dirty="0"/>
          </a:p>
        </p:txBody>
      </p:sp>
      <p:sp>
        <p:nvSpPr>
          <p:cNvPr id="18" name="Text 16"/>
          <p:cNvSpPr/>
          <p:nvPr/>
        </p:nvSpPr>
        <p:spPr>
          <a:xfrm>
            <a:off x="2029968" y="5285232"/>
            <a:ext cx="8065008" cy="329184"/>
          </a:xfrm>
          <a:prstGeom prst="rect">
            <a:avLst/>
          </a:prstGeom>
          <a:noFill/>
          <a:ln/>
        </p:spPr>
        <p:txBody>
          <a:bodyPr wrap="square" lIns="635" tIns="635" rIns="635" bIns="635" rtlCol="0" anchor="t">
            <a:normAutofit/>
          </a:bodyPr>
          <a:lstStyle/>
          <a:p>
            <a:pPr algn="ctr" indent="0" marL="0">
              <a:lnSpc>
                <a:spcPct val="100000"/>
              </a:lnSpc>
              <a:buNone/>
            </a:pPr>
            <a:r>
              <a:rPr lang="en-US" sz="1800" i="1" dirty="0">
                <a:solidFill>
                  <a:srgbClr val="25324A"/>
                </a:solidFill>
                <a:latin typeface="Times New Roman" pitchFamily="34" charset="0"/>
                <a:ea typeface="標楷體" pitchFamily="34" charset="-122"/>
                <a:cs typeface="Times New Roman" pitchFamily="34" charset="-120"/>
              </a:rPr>
              <a:t>READY</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記錄狀態；</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runner</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receipt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定義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setup</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run</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artifact</a:t>
            </a:r>
            <a:pPr algn="ctr" indent="0" marL="0">
              <a:lnSpc>
                <a:spcPct val="100000"/>
              </a:lnSpc>
              <a:buNone/>
            </a:pPr>
            <a:r>
              <a:rPr lang="en-US" sz="1800" dirty="0">
                <a:solidFill>
                  <a:srgbClr val="25324A"/>
                </a:solidFill>
                <a:latin typeface="Times New Roman" pitchFamily="34" charset="0"/>
                <a:ea typeface="標楷體" pitchFamily="34" charset="-122"/>
                <a:cs typeface="Times New Roman" pitchFamily="34" charset="-120"/>
              </a:rPr>
              <a:t>。</a:t>
            </a:r>
            <a:endParaRPr lang="en-US" sz="1800" dirty="0"/>
          </a:p>
        </p:txBody>
      </p:sp>
      <p:sp>
        <p:nvSpPr>
          <p:cNvPr id="2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01.xml><?xml version="1.0" encoding="utf-8"?>
<p:sld xmlns:a="http://schemas.openxmlformats.org/drawingml/2006/main"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P095</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｜導覽與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fallback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loader</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導覽、語言、工作台與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fallback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loader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：按鈕改變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focus</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或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selection</a:t>
            </a:r>
            <a:endParaRPr lang="en-US" sz="2400" dirty="0"/>
          </a:p>
        </p:txBody>
      </p:sp>
      <p:sp>
        <p:nvSpPr>
          <p:cNvPr id="4" name="Shape 2"/>
          <p:cNvSpPr/>
          <p:nvPr/>
        </p:nvSpPr>
        <p:spPr>
          <a:xfrm>
            <a:off x="822960" y="1389888"/>
            <a:ext cx="2395728" cy="1170432"/>
          </a:xfrm>
          <a:prstGeom prst="roundRect">
            <a:avLst/>
          </a:prstGeom>
          <a:solidFill>
            <a:srgbClr val="ECF1FE"/>
          </a:solidFill>
          <a:ln w="15240">
            <a:solidFill>
              <a:srgbClr val="4967C2"/>
            </a:solidFill>
            <a:prstDash val="solid"/>
          </a:ln>
        </p:spPr>
      </p:sp>
      <p:sp>
        <p:nvSpPr>
          <p:cNvPr id="5" name="Text 3"/>
          <p:cNvSpPr/>
          <p:nvPr/>
        </p:nvSpPr>
        <p:spPr>
          <a:xfrm>
            <a:off x="9692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焦點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focus</a:t>
            </a:r>
            <a:endParaRPr lang="en-US" sz="1800" dirty="0"/>
          </a:p>
        </p:txBody>
      </p:sp>
      <p:sp>
        <p:nvSpPr>
          <p:cNvPr id="6" name="Text 4"/>
          <p:cNvSpPr/>
          <p:nvPr/>
        </p:nvSpPr>
        <p:spPr>
          <a:xfrm>
            <a:off x="9692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直接前往操作區</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返回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Leo</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首頁</a:t>
            </a:r>
            <a:endParaRPr lang="en-US" sz="2400" dirty="0"/>
          </a:p>
        </p:txBody>
      </p:sp>
      <p:sp>
        <p:nvSpPr>
          <p:cNvPr id="7" name="Shape 5"/>
          <p:cNvSpPr/>
          <p:nvPr/>
        </p:nvSpPr>
        <p:spPr>
          <a:xfrm>
            <a:off x="3566160" y="1389888"/>
            <a:ext cx="2395728" cy="1170432"/>
          </a:xfrm>
          <a:prstGeom prst="roundRect">
            <a:avLst/>
          </a:prstGeom>
          <a:solidFill>
            <a:srgbClr val="FDF9E2"/>
          </a:solidFill>
          <a:ln w="15240">
            <a:solidFill>
              <a:srgbClr val="846826"/>
            </a:solidFill>
            <a:prstDash val="solid"/>
          </a:ln>
        </p:spPr>
      </p:sp>
      <p:sp>
        <p:nvSpPr>
          <p:cNvPr id="8" name="Text 6"/>
          <p:cNvSpPr/>
          <p:nvPr/>
        </p:nvSpPr>
        <p:spPr>
          <a:xfrm>
            <a:off x="37124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語言 </a:t>
            </a:r>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language</a:t>
            </a:r>
            <a:endParaRPr lang="en-US" sz="1800" dirty="0"/>
          </a:p>
        </p:txBody>
      </p:sp>
      <p:sp>
        <p:nvSpPr>
          <p:cNvPr id="9" name="Text 7"/>
          <p:cNvSpPr/>
          <p:nvPr/>
        </p:nvSpPr>
        <p:spPr>
          <a:xfrm>
            <a:off x="37124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繁中／</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EN</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只切換畫面語言</a:t>
            </a:r>
            <a:endParaRPr lang="en-US" sz="2400" dirty="0"/>
          </a:p>
        </p:txBody>
      </p:sp>
      <p:sp>
        <p:nvSpPr>
          <p:cNvPr id="10" name="Shape 8"/>
          <p:cNvSpPr/>
          <p:nvPr/>
        </p:nvSpPr>
        <p:spPr>
          <a:xfrm>
            <a:off x="6309360" y="1389888"/>
            <a:ext cx="2395728" cy="1170432"/>
          </a:xfrm>
          <a:prstGeom prst="roundRect">
            <a:avLst/>
          </a:prstGeom>
          <a:solidFill>
            <a:srgbClr val="E8F7F4"/>
          </a:solidFill>
          <a:ln w="15240">
            <a:solidFill>
              <a:srgbClr val="007374"/>
            </a:solidFill>
            <a:prstDash val="solid"/>
          </a:ln>
        </p:spPr>
      </p:sp>
      <p:sp>
        <p:nvSpPr>
          <p:cNvPr id="11" name="Text 9"/>
          <p:cNvSpPr/>
          <p:nvPr/>
        </p:nvSpPr>
        <p:spPr>
          <a:xfrm>
            <a:off x="64556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工作台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route</a:t>
            </a:r>
            <a:endParaRPr lang="en-US" sz="1800" dirty="0"/>
          </a:p>
        </p:txBody>
      </p:sp>
      <p:sp>
        <p:nvSpPr>
          <p:cNvPr id="12" name="Text 10"/>
          <p:cNvSpPr/>
          <p:nvPr/>
        </p:nvSpPr>
        <p:spPr>
          <a:xfrm>
            <a:off x="64556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準備／實驗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B</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證據／學習單</a:t>
            </a:r>
            <a:endParaRPr lang="en-US" sz="2400" dirty="0"/>
          </a:p>
        </p:txBody>
      </p:sp>
      <p:sp>
        <p:nvSpPr>
          <p:cNvPr id="13" name="Shape 11"/>
          <p:cNvSpPr/>
          <p:nvPr/>
        </p:nvSpPr>
        <p:spPr>
          <a:xfrm>
            <a:off x="9052560" y="1389888"/>
            <a:ext cx="2395728" cy="1170432"/>
          </a:xfrm>
          <a:prstGeom prst="roundRect">
            <a:avLst/>
          </a:prstGeom>
          <a:solidFill>
            <a:srgbClr val="F4EDF7"/>
          </a:solidFill>
          <a:ln w="15240">
            <a:solidFill>
              <a:srgbClr val="660066"/>
            </a:solidFill>
            <a:prstDash val="solid"/>
          </a:ln>
        </p:spPr>
      </p:sp>
      <p:sp>
        <p:nvSpPr>
          <p:cNvPr id="14" name="Text 12"/>
          <p:cNvSpPr/>
          <p:nvPr/>
        </p:nvSpPr>
        <p:spPr>
          <a:xfrm>
            <a:off x="9198864" y="1499616"/>
            <a:ext cx="2103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紀錄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record</a:t>
            </a:r>
            <a:endParaRPr lang="en-US" sz="1800" dirty="0"/>
          </a:p>
        </p:txBody>
      </p:sp>
      <p:sp>
        <p:nvSpPr>
          <p:cNvPr id="15" name="Text 13"/>
          <p:cNvSpPr/>
          <p:nvPr/>
        </p:nvSpPr>
        <p:spPr>
          <a:xfrm>
            <a:off x="9198864" y="1901952"/>
            <a:ext cx="2103120" cy="548640"/>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證據／學習單</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保留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workbook</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focus</a:t>
            </a:r>
            <a:endParaRPr lang="en-US" sz="2400" dirty="0"/>
          </a:p>
        </p:txBody>
      </p:sp>
      <p:sp>
        <p:nvSpPr>
          <p:cNvPr id="16" name="Shape 14"/>
          <p:cNvSpPr/>
          <p:nvPr/>
        </p:nvSpPr>
        <p:spPr>
          <a:xfrm>
            <a:off x="1316736" y="3054096"/>
            <a:ext cx="8796528" cy="0"/>
          </a:xfrm>
          <a:prstGeom prst="line">
            <a:avLst/>
          </a:prstGeom>
          <a:noFill/>
          <a:ln w="25400">
            <a:solidFill>
              <a:srgbClr val="25356B"/>
            </a:solidFill>
            <a:prstDash val="solid"/>
          </a:ln>
        </p:spPr>
      </p:sp>
      <p:sp>
        <p:nvSpPr>
          <p:cNvPr id="17" name="Shape 15"/>
          <p:cNvSpPr/>
          <p:nvPr/>
        </p:nvSpPr>
        <p:spPr>
          <a:xfrm>
            <a:off x="1225296" y="2962656"/>
            <a:ext cx="182880" cy="182880"/>
          </a:xfrm>
          <a:prstGeom prst="ellipse">
            <a:avLst/>
          </a:prstGeom>
          <a:solidFill>
            <a:srgbClr val="4967C2"/>
          </a:solidFill>
          <a:ln w="12700">
            <a:solidFill>
              <a:srgbClr val="4967C2"/>
            </a:solidFill>
            <a:prstDash val="solid"/>
          </a:ln>
        </p:spPr>
      </p:sp>
      <p:sp>
        <p:nvSpPr>
          <p:cNvPr id="18" name="Shape 16"/>
          <p:cNvSpPr/>
          <p:nvPr/>
        </p:nvSpPr>
        <p:spPr>
          <a:xfrm>
            <a:off x="10021824" y="2962656"/>
            <a:ext cx="182880" cy="182880"/>
          </a:xfrm>
          <a:prstGeom prst="ellipse">
            <a:avLst/>
          </a:prstGeom>
          <a:solidFill>
            <a:srgbClr val="660066"/>
          </a:solidFill>
          <a:ln w="12700">
            <a:solidFill>
              <a:srgbClr val="660066"/>
            </a:solidFill>
            <a:prstDash val="solid"/>
          </a:ln>
        </p:spPr>
      </p:sp>
      <p:sp>
        <p:nvSpPr>
          <p:cNvPr id="19" name="Shape 17"/>
          <p:cNvSpPr/>
          <p:nvPr/>
        </p:nvSpPr>
        <p:spPr>
          <a:xfrm>
            <a:off x="822960" y="3438144"/>
            <a:ext cx="4681728" cy="1335024"/>
          </a:xfrm>
          <a:prstGeom prst="roundRect">
            <a:avLst/>
          </a:prstGeom>
          <a:solidFill>
            <a:srgbClr val="F4EDF7"/>
          </a:solidFill>
          <a:ln w="15240">
            <a:solidFill>
              <a:srgbClr val="660066"/>
            </a:solidFill>
            <a:prstDash val="solid"/>
          </a:ln>
        </p:spPr>
      </p:sp>
      <p:sp>
        <p:nvSpPr>
          <p:cNvPr id="20" name="Text 18"/>
          <p:cNvSpPr/>
          <p:nvPr/>
        </p:nvSpPr>
        <p:spPr>
          <a:xfrm>
            <a:off x="969264" y="3547872"/>
            <a:ext cx="438912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fallback</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loader</a:t>
            </a:r>
            <a:endParaRPr lang="en-US" sz="1800" dirty="0"/>
          </a:p>
        </p:txBody>
      </p:sp>
      <p:sp>
        <p:nvSpPr>
          <p:cNvPr id="21" name="Text 19"/>
          <p:cNvSpPr/>
          <p:nvPr/>
        </p:nvSpPr>
        <p:spPr>
          <a:xfrm>
            <a:off x="969264" y="3950208"/>
            <a:ext cx="4389120" cy="71323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experiment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order</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寫 </a:t>
            </a: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selected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fallback</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成功：更新 </a:t>
            </a:r>
            <a:endParaRPr lang="en-US" sz="2400" dirty="0"/>
          </a:p>
          <a:p>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source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不符：原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保持</a:t>
            </a:r>
            <a:endParaRPr lang="en-US" sz="2400" dirty="0"/>
          </a:p>
        </p:txBody>
      </p:sp>
      <p:sp>
        <p:nvSpPr>
          <p:cNvPr id="22" name="Shape 20"/>
          <p:cNvSpPr/>
          <p:nvPr/>
        </p:nvSpPr>
        <p:spPr>
          <a:xfrm>
            <a:off x="5998464" y="3438144"/>
            <a:ext cx="5193792" cy="1335024"/>
          </a:xfrm>
          <a:prstGeom prst="roundRect">
            <a:avLst/>
          </a:prstGeom>
          <a:solidFill>
            <a:srgbClr val="ECF1FE"/>
          </a:solidFill>
          <a:ln w="15240">
            <a:solidFill>
              <a:srgbClr val="4967C2"/>
            </a:solidFill>
            <a:prstDash val="solid"/>
          </a:ln>
        </p:spPr>
      </p:sp>
      <p:sp>
        <p:nvSpPr>
          <p:cNvPr id="23" name="Text 21"/>
          <p:cNvSpPr/>
          <p:nvPr/>
        </p:nvSpPr>
        <p:spPr>
          <a:xfrm>
            <a:off x="6144768" y="3547872"/>
            <a:ext cx="490118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責任邊界</a:t>
            </a:r>
            <a:endParaRPr lang="en-US" sz="1800" dirty="0"/>
          </a:p>
        </p:txBody>
      </p:sp>
      <p:sp>
        <p:nvSpPr>
          <p:cNvPr id="24" name="Text 22"/>
          <p:cNvSpPr/>
          <p:nvPr/>
        </p:nvSpPr>
        <p:spPr>
          <a:xfrm>
            <a:off x="6144768" y="3950208"/>
            <a:ext cx="4901184" cy="71323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切頁或切語言只改畫面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state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identity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upload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仍依各自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gate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讀取。</a:t>
            </a:r>
            <a:endParaRPr lang="en-US" sz="2400" dirty="0"/>
          </a:p>
        </p:txBody>
      </p:sp>
      <p:sp>
        <p:nvSpPr>
          <p:cNvPr id="25" name="Shape 23"/>
          <p:cNvSpPr/>
          <p:nvPr/>
        </p:nvSpPr>
        <p:spPr>
          <a:xfrm>
            <a:off x="2487168" y="5266944"/>
            <a:ext cx="7187184" cy="420624"/>
          </a:xfrm>
          <a:prstGeom prst="roundRect">
            <a:avLst/>
          </a:prstGeom>
          <a:solidFill>
            <a:srgbClr val="F7F8FC"/>
          </a:solidFill>
          <a:ln w="15240">
            <a:solidFill>
              <a:srgbClr val="65758B"/>
            </a:solidFill>
            <a:prstDash val="solid"/>
          </a:ln>
        </p:spPr>
      </p:sp>
      <p:sp>
        <p:nvSpPr>
          <p:cNvPr id="26" name="Text 24"/>
          <p:cNvSpPr/>
          <p:nvPr/>
        </p:nvSpPr>
        <p:spPr>
          <a:xfrm>
            <a:off x="2560320" y="5303520"/>
            <a:ext cx="7040880"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navigation</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待補｜</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editable</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navigation</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65758B"/>
                </a:solidFill>
                <a:latin typeface="Times New Roman" pitchFamily="34" charset="0"/>
                <a:ea typeface="標楷體" pitchFamily="34" charset="-122"/>
                <a:cs typeface="Times New Roman" pitchFamily="34" charset="-120"/>
              </a:rPr>
              <a:t>map</a:t>
            </a:r>
            <a:endParaRPr lang="en-US" sz="1800" dirty="0"/>
          </a:p>
        </p:txBody>
      </p:sp>
      <p:sp>
        <p:nvSpPr>
          <p:cNvPr id="28"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02.xml><?xml version="1.0" encoding="utf-8"?>
<p:sld xmlns:a="http://schemas.openxmlformats.org/drawingml/2006/main"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P096</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Task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lock</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與證據按鈕</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task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lock</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只保存課程段落；</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runner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gate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各自維持責任</a:t>
            </a:r>
            <a:endParaRPr lang="en-US" sz="2400" dirty="0"/>
          </a:p>
        </p:txBody>
      </p:sp>
      <p:sp>
        <p:nvSpPr>
          <p:cNvPr id="4" name="Shape 2"/>
          <p:cNvSpPr/>
          <p:nvPr/>
        </p:nvSpPr>
        <p:spPr>
          <a:xfrm>
            <a:off x="877824" y="3730752"/>
            <a:ext cx="1335024" cy="658368"/>
          </a:xfrm>
          <a:prstGeom prst="roundRect">
            <a:avLst/>
          </a:prstGeom>
          <a:solidFill>
            <a:srgbClr val="ECF1FE"/>
          </a:solidFill>
          <a:ln w="15240">
            <a:solidFill>
              <a:srgbClr val="4967C2"/>
            </a:solidFill>
            <a:prstDash val="solid"/>
          </a:ln>
        </p:spPr>
      </p:sp>
      <p:sp>
        <p:nvSpPr>
          <p:cNvPr id="5" name="Text 3"/>
          <p:cNvSpPr/>
          <p:nvPr/>
        </p:nvSpPr>
        <p:spPr>
          <a:xfrm>
            <a:off x="950976" y="3913632"/>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1</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4967C2"/>
                </a:solidFill>
                <a:latin typeface="Times New Roman" pitchFamily="34" charset="0"/>
                <a:ea typeface="標楷體" pitchFamily="34" charset="-122"/>
                <a:cs typeface="Times New Roman" pitchFamily="34" charset="-120"/>
              </a:rPr>
              <a:t>3</a:t>
            </a:r>
            <a:endParaRPr lang="en-US" sz="1600" dirty="0"/>
          </a:p>
        </p:txBody>
      </p:sp>
      <p:sp>
        <p:nvSpPr>
          <p:cNvPr id="6" name="Shape 4"/>
          <p:cNvSpPr/>
          <p:nvPr/>
        </p:nvSpPr>
        <p:spPr>
          <a:xfrm>
            <a:off x="2359152" y="3072384"/>
            <a:ext cx="1335024" cy="658368"/>
          </a:xfrm>
          <a:prstGeom prst="roundRect">
            <a:avLst/>
          </a:prstGeom>
          <a:solidFill>
            <a:srgbClr val="E8F7F4"/>
          </a:solidFill>
          <a:ln w="15240">
            <a:solidFill>
              <a:srgbClr val="007374"/>
            </a:solidFill>
            <a:prstDash val="solid"/>
          </a:ln>
        </p:spPr>
      </p:sp>
      <p:sp>
        <p:nvSpPr>
          <p:cNvPr id="7" name="Text 5"/>
          <p:cNvSpPr/>
          <p:nvPr/>
        </p:nvSpPr>
        <p:spPr>
          <a:xfrm>
            <a:off x="2432304" y="3255264"/>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4</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6</a:t>
            </a:r>
            <a:endParaRPr lang="en-US" sz="1600" dirty="0"/>
          </a:p>
        </p:txBody>
      </p:sp>
      <p:sp>
        <p:nvSpPr>
          <p:cNvPr id="8" name="Shape 6"/>
          <p:cNvSpPr/>
          <p:nvPr/>
        </p:nvSpPr>
        <p:spPr>
          <a:xfrm>
            <a:off x="3840480" y="2414016"/>
            <a:ext cx="1335024" cy="658368"/>
          </a:xfrm>
          <a:prstGeom prst="roundRect">
            <a:avLst/>
          </a:prstGeom>
          <a:solidFill>
            <a:srgbClr val="F4EDF7"/>
          </a:solidFill>
          <a:ln w="15240">
            <a:solidFill>
              <a:srgbClr val="660066"/>
            </a:solidFill>
            <a:prstDash val="solid"/>
          </a:ln>
        </p:spPr>
      </p:sp>
      <p:sp>
        <p:nvSpPr>
          <p:cNvPr id="9" name="Text 7"/>
          <p:cNvSpPr/>
          <p:nvPr/>
        </p:nvSpPr>
        <p:spPr>
          <a:xfrm>
            <a:off x="3913632" y="2596896"/>
            <a:ext cx="1188720" cy="256032"/>
          </a:xfrm>
          <a:prstGeom prst="rect">
            <a:avLst/>
          </a:prstGeom>
          <a:noFill/>
          <a:ln/>
        </p:spPr>
        <p:txBody>
          <a:bodyPr wrap="square" lIns="635" tIns="635" rIns="635" bIns="635" rtlCol="0" anchor="ctr">
            <a:normAutofit/>
          </a:bodyPr>
          <a:lstStyle/>
          <a:p>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Task</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7</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a:t>
            </a:r>
            <a:pPr algn="ctr" indent="0" marL="0">
              <a:lnSpc>
                <a:spcPct val="100000"/>
              </a:lnSpc>
              <a:buNone/>
            </a:pPr>
            <a:r>
              <a:rPr lang="en-US" sz="1600" b="1" dirty="0">
                <a:solidFill>
                  <a:srgbClr val="660066"/>
                </a:solidFill>
                <a:latin typeface="Times New Roman" pitchFamily="34" charset="0"/>
                <a:ea typeface="標楷體" pitchFamily="34" charset="-122"/>
                <a:cs typeface="Times New Roman" pitchFamily="34" charset="-120"/>
              </a:rPr>
              <a:t>10</a:t>
            </a:r>
            <a:endParaRPr lang="en-US" sz="1600" dirty="0"/>
          </a:p>
        </p:txBody>
      </p:sp>
      <p:sp>
        <p:nvSpPr>
          <p:cNvPr id="10" name="Shape 8"/>
          <p:cNvSpPr/>
          <p:nvPr/>
        </p:nvSpPr>
        <p:spPr>
          <a:xfrm>
            <a:off x="5504688" y="1408176"/>
            <a:ext cx="2688336" cy="1298448"/>
          </a:xfrm>
          <a:prstGeom prst="roundRect">
            <a:avLst/>
          </a:prstGeom>
          <a:solidFill>
            <a:srgbClr val="ECF1FE"/>
          </a:solidFill>
          <a:ln w="15240">
            <a:solidFill>
              <a:srgbClr val="4967C2"/>
            </a:solidFill>
            <a:prstDash val="solid"/>
          </a:ln>
        </p:spPr>
      </p:sp>
      <p:sp>
        <p:nvSpPr>
          <p:cNvPr id="11" name="Text 9"/>
          <p:cNvSpPr/>
          <p:nvPr/>
        </p:nvSpPr>
        <p:spPr>
          <a:xfrm>
            <a:off x="5650992" y="1517904"/>
            <a:ext cx="23957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檢查證據並繼續</a:t>
            </a:r>
            <a:endParaRPr lang="en-US" sz="1800" dirty="0"/>
          </a:p>
        </p:txBody>
      </p:sp>
      <p:sp>
        <p:nvSpPr>
          <p:cNvPr id="12" name="Text 10"/>
          <p:cNvSpPr/>
          <p:nvPr/>
        </p:nvSpPr>
        <p:spPr>
          <a:xfrm>
            <a:off x="5650992" y="1938528"/>
            <a:ext cx="2395728" cy="65836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讀目前段落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evidence</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成功：保存並解鎖下一段</a:t>
            </a:r>
            <a:endParaRPr lang="en-US" sz="2400" dirty="0"/>
          </a:p>
        </p:txBody>
      </p:sp>
      <p:sp>
        <p:nvSpPr>
          <p:cNvPr id="13" name="Shape 11"/>
          <p:cNvSpPr/>
          <p:nvPr/>
        </p:nvSpPr>
        <p:spPr>
          <a:xfrm>
            <a:off x="8595360" y="1408176"/>
            <a:ext cx="2688336" cy="1298448"/>
          </a:xfrm>
          <a:prstGeom prst="roundRect">
            <a:avLst/>
          </a:prstGeom>
          <a:solidFill>
            <a:srgbClr val="FDF9E2"/>
          </a:solidFill>
          <a:ln w="15240">
            <a:solidFill>
              <a:srgbClr val="846826"/>
            </a:solidFill>
            <a:prstDash val="solid"/>
          </a:ln>
        </p:spPr>
      </p:sp>
      <p:sp>
        <p:nvSpPr>
          <p:cNvPr id="14" name="Text 12"/>
          <p:cNvSpPr/>
          <p:nvPr/>
        </p:nvSpPr>
        <p:spPr>
          <a:xfrm>
            <a:off x="8741664" y="1517904"/>
            <a:ext cx="23957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證據已鎖定</a:t>
            </a:r>
            <a:endParaRPr lang="en-US" sz="1800" dirty="0"/>
          </a:p>
        </p:txBody>
      </p:sp>
      <p:sp>
        <p:nvSpPr>
          <p:cNvPr id="15" name="Text 13"/>
          <p:cNvSpPr/>
          <p:nvPr/>
        </p:nvSpPr>
        <p:spPr>
          <a:xfrm>
            <a:off x="8741664" y="1938528"/>
            <a:ext cx="2395728" cy="658368"/>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讀完成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endParaRPr lang="en-US" sz="2400" dirty="0"/>
          </a:p>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成功：顯示保存狀態</a:t>
            </a:r>
            <a:endParaRPr lang="en-US" sz="2400" dirty="0"/>
          </a:p>
        </p:txBody>
      </p:sp>
      <p:sp>
        <p:nvSpPr>
          <p:cNvPr id="16" name="Shape 14"/>
          <p:cNvSpPr/>
          <p:nvPr/>
        </p:nvSpPr>
        <p:spPr>
          <a:xfrm>
            <a:off x="3675888" y="3054096"/>
            <a:ext cx="7607808" cy="1042416"/>
          </a:xfrm>
          <a:prstGeom prst="roundRect">
            <a:avLst/>
          </a:prstGeom>
          <a:solidFill>
            <a:srgbClr val="E8F7F4"/>
          </a:solidFill>
          <a:ln w="15240">
            <a:solidFill>
              <a:srgbClr val="007374"/>
            </a:solidFill>
            <a:prstDash val="solid"/>
          </a:ln>
        </p:spPr>
      </p:sp>
      <p:sp>
        <p:nvSpPr>
          <p:cNvPr id="17" name="Text 15"/>
          <p:cNvSpPr/>
          <p:nvPr/>
        </p:nvSpPr>
        <p:spPr>
          <a:xfrm>
            <a:off x="3822192" y="3163824"/>
            <a:ext cx="7315200"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Task</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1</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10</a:t>
            </a:r>
            <a:endParaRPr lang="en-US" sz="1800" dirty="0"/>
          </a:p>
        </p:txBody>
      </p:sp>
      <p:sp>
        <p:nvSpPr>
          <p:cNvPr id="18" name="Text 16"/>
          <p:cNvSpPr/>
          <p:nvPr/>
        </p:nvSpPr>
        <p:spPr>
          <a:xfrm>
            <a:off x="3822192" y="3547872"/>
            <a:ext cx="7315200" cy="438912"/>
          </a:xfrm>
          <a:prstGeom prst="rect">
            <a:avLst/>
          </a:prstGeom>
          <a:noFill/>
          <a:ln/>
        </p:spPr>
        <p:txBody>
          <a:bodyPr wrap="square" lIns="635" tIns="635" rIns="635" bIns="635" rtlCol="0" anchor="t">
            <a:normAutofit/>
          </a:bodyPr>
          <a:lstStyle/>
          <a:p>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表示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completion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record</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service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deadline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result</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a:t>
            </a:r>
            <a:pPr algn="ctr" indent="0" marL="0">
              <a:lnSpc>
                <a:spcPct val="100000"/>
              </a:lnSpc>
              <a:buNone/>
            </a:pPr>
            <a:r>
              <a:rPr lang="en-US" sz="2400" i="1" dirty="0">
                <a:solidFill>
                  <a:srgbClr val="25324A"/>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interpretation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仍依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evidence</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chain</a:t>
            </a:r>
            <a:pPr algn="ctr" indent="0" marL="0">
              <a:lnSpc>
                <a:spcPct val="100000"/>
              </a:lnSpc>
              <a:buNone/>
            </a:pPr>
            <a:r>
              <a:rPr lang="en-US" sz="2400" dirty="0">
                <a:solidFill>
                  <a:srgbClr val="25324A"/>
                </a:solidFill>
                <a:latin typeface="Times New Roman" pitchFamily="34" charset="0"/>
                <a:ea typeface="標楷體" pitchFamily="34" charset="-122"/>
                <a:cs typeface="Times New Roman" pitchFamily="34" charset="-120"/>
              </a:rPr>
              <a:t> 判讀。</a:t>
            </a:r>
            <a:endParaRPr lang="en-US" sz="2400" dirty="0"/>
          </a:p>
        </p:txBody>
      </p:sp>
      <p:sp>
        <p:nvSpPr>
          <p:cNvPr id="19" name="Shape 17"/>
          <p:cNvSpPr/>
          <p:nvPr/>
        </p:nvSpPr>
        <p:spPr>
          <a:xfrm>
            <a:off x="822960" y="4645152"/>
            <a:ext cx="10460736" cy="932688"/>
          </a:xfrm>
          <a:prstGeom prst="roundRect">
            <a:avLst/>
          </a:prstGeom>
          <a:solidFill>
            <a:srgbClr val="FDEFEF"/>
          </a:solidFill>
          <a:ln w="15240">
            <a:solidFill>
              <a:srgbClr val="992A2A"/>
            </a:solidFill>
            <a:prstDash val="solid"/>
          </a:ln>
        </p:spPr>
      </p:sp>
      <p:sp>
        <p:nvSpPr>
          <p:cNvPr id="20" name="Text 18"/>
          <p:cNvSpPr/>
          <p:nvPr/>
        </p:nvSpPr>
        <p:spPr>
          <a:xfrm>
            <a:off x="969264" y="4754880"/>
            <a:ext cx="10168128"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task-control</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crop</a:t>
            </a:r>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 待補</a:t>
            </a:r>
            <a:endParaRPr lang="en-US" sz="1800" dirty="0"/>
          </a:p>
        </p:txBody>
      </p:sp>
      <p:sp>
        <p:nvSpPr>
          <p:cNvPr id="21" name="Text 19"/>
          <p:cNvSpPr/>
          <p:nvPr/>
        </p:nvSpPr>
        <p:spPr>
          <a:xfrm>
            <a:off x="969264" y="5102352"/>
            <a:ext cx="10168128" cy="365760"/>
          </a:xfrm>
          <a:prstGeom prst="rect">
            <a:avLst/>
          </a:prstGeom>
          <a:noFill/>
          <a:ln/>
        </p:spPr>
        <p:txBody>
          <a:bodyPr wrap="square" lIns="635" tIns="635" rIns="635" bIns="635" rtlCol="0" anchor="t">
            <a:normAutofit/>
          </a:bodyPr>
          <a:lstStyle/>
          <a:p>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editable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staircase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只保留段落狀態與控制語義。</a:t>
            </a:r>
            <a:endParaRPr lang="en-US" sz="2000" dirty="0"/>
          </a:p>
        </p:txBody>
      </p:sp>
      <p:sp>
        <p:nvSpPr>
          <p:cNvPr id="23"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slides/slide103.xml><?xml version="1.0" encoding="utf-8"?>
<p:sld xmlns:a="http://schemas.openxmlformats.org/drawingml/2006/main" xmlns:ns2="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56591" y="187008"/>
            <a:ext cx="9462769" cy="480060"/>
          </a:xfrm>
          <a:prstGeom prst="rect">
            <a:avLst/>
          </a:prstGeom>
          <a:noFill/>
          <a:ln/>
        </p:spPr>
        <p:txBody>
          <a:bodyPr wrap="square" lIns="0" tIns="0" rIns="0" bIns="0" rtlCol="0" anchor="ctr">
            <a:normAutofit/>
          </a:bodyPr>
          <a:lstStyle/>
          <a:p>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P097</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Provider</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replay</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：兩層 </a:t>
            </a:r>
            <a:pPr algn="l" indent="0" marL="0">
              <a:lnSpc>
                <a:spcPct val="100000"/>
              </a:lnSpc>
              <a:buNone/>
            </a:pPr>
            <a:r>
              <a:rPr lang="en-US" sz="2800" b="1" i="1" dirty="0">
                <a:solidFill>
                  <a:srgbClr val="35377F"/>
                </a:solidFill>
                <a:latin typeface="Times New Roman" pitchFamily="34" charset="0"/>
                <a:ea typeface="標楷體" pitchFamily="34" charset="-122"/>
                <a:cs typeface="Times New Roman" pitchFamily="34" charset="-120"/>
              </a:rPr>
              <a:t>frame</a:t>
            </a:r>
            <a:pPr algn="l" indent="0" marL="0">
              <a:lnSpc>
                <a:spcPct val="100000"/>
              </a:lnSpc>
              <a:buNone/>
            </a:pPr>
            <a:r>
              <a:rPr lang="en-US" sz="2800" b="1" dirty="0">
                <a:solidFill>
                  <a:srgbClr val="35377F"/>
                </a:solidFill>
                <a:latin typeface="Times New Roman" pitchFamily="34" charset="0"/>
                <a:ea typeface="標楷體" pitchFamily="34" charset="-122"/>
                <a:cs typeface="Times New Roman" pitchFamily="34" charset="-120"/>
              </a:rPr>
              <a:t> 識別</a:t>
            </a:r>
            <a:endParaRPr lang="en-US" sz="2800" dirty="0"/>
          </a:p>
        </p:txBody>
      </p:sp>
      <p:sp>
        <p:nvSpPr>
          <p:cNvPr id="3" name="Text 1"/>
          <p:cNvSpPr/>
          <p:nvPr/>
        </p:nvSpPr>
        <p:spPr>
          <a:xfrm>
            <a:off x="822960" y="932688"/>
            <a:ext cx="10561320" cy="438912"/>
          </a:xfrm>
          <a:prstGeom prst="rect">
            <a:avLst/>
          </a:prstGeom>
          <a:noFill/>
          <a:ln/>
        </p:spPr>
        <p:txBody>
          <a:bodyPr wrap="square" lIns="635" tIns="635" rIns="635" bIns="635" rtlCol="0" anchor="ctr">
            <a:normAutofit/>
          </a:bodyPr>
          <a:lstStyle/>
          <a:p>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與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endpoint</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replay</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各自移動，各自保留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frame</a:t>
            </a:r>
            <a:pPr algn="ctr" indent="0" marL="0">
              <a:lnSpc>
                <a:spcPct val="100000"/>
              </a:lnSpc>
              <a:buNone/>
            </a:pPr>
            <a:r>
              <a:rPr lang="en-US" sz="2400" b="1" dirty="0">
                <a:solidFill>
                  <a:srgbClr val="25356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25356B"/>
                </a:solidFill>
                <a:latin typeface="Times New Roman" pitchFamily="34" charset="0"/>
                <a:ea typeface="標楷體" pitchFamily="34" charset="-122"/>
                <a:cs typeface="Times New Roman" pitchFamily="34" charset="-120"/>
              </a:rPr>
              <a:t>identity</a:t>
            </a:r>
            <a:endParaRPr lang="en-US" sz="2400" dirty="0"/>
          </a:p>
        </p:txBody>
      </p:sp>
      <p:sp>
        <p:nvSpPr>
          <p:cNvPr id="4" name="Shape 2"/>
          <p:cNvSpPr/>
          <p:nvPr/>
        </p:nvSpPr>
        <p:spPr>
          <a:xfrm>
            <a:off x="822960" y="1353312"/>
            <a:ext cx="3913632" cy="1005840"/>
          </a:xfrm>
          <a:prstGeom prst="rect">
            <a:avLst/>
          </a:prstGeom>
          <a:solidFill>
            <a:srgbClr val="F7F8FC"/>
          </a:solidFill>
          <a:ln w="15240">
            <a:solidFill>
              <a:srgbClr val="D7DEEA"/>
            </a:solidFill>
            <a:prstDash val="solid"/>
          </a:ln>
        </p:spPr>
      </p:sp>
      <p:sp>
        <p:nvSpPr>
          <p:cNvPr id="5" name="Text 3"/>
          <p:cNvSpPr/>
          <p:nvPr/>
        </p:nvSpPr>
        <p:spPr>
          <a:xfrm>
            <a:off x="969264" y="1463040"/>
            <a:ext cx="3621024" cy="786384"/>
          </a:xfrm>
          <a:prstGeom prst="rect">
            <a:avLst/>
          </a:prstGeom>
          <a:noFill/>
          <a:ln/>
        </p:spPr>
        <p:txBody>
          <a:bodyPr wrap="square" lIns="635" tIns="635" rIns="635" bIns="635" rtlCol="0" anchor="ctr">
            <a:normAutofit/>
          </a:bodyPr>
          <a:lstStyle/>
          <a:p>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待補：</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current</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i="1" dirty="0">
                <a:solidFill>
                  <a:srgbClr val="65758B"/>
                </a:solidFill>
                <a:latin typeface="Times New Roman" pitchFamily="34" charset="0"/>
                <a:ea typeface="標楷體" pitchFamily="34" charset="-122"/>
                <a:cs typeface="Times New Roman" pitchFamily="34" charset="-120"/>
              </a:rPr>
              <a:t>provider</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control</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 </a:t>
            </a:r>
            <a:pPr algn="ctr" indent="0" marL="0">
              <a:lnSpc>
                <a:spcPct val="100000"/>
              </a:lnSpc>
              <a:buNone/>
            </a:pPr>
            <a:r>
              <a:rPr lang="en-US" sz="2400" b="1" dirty="0">
                <a:solidFill>
                  <a:srgbClr val="65758B"/>
                </a:solidFill>
                <a:latin typeface="Times New Roman" pitchFamily="34" charset="0"/>
                <a:ea typeface="標楷體" pitchFamily="34" charset="-122"/>
                <a:cs typeface="Times New Roman" pitchFamily="34" charset="-120"/>
              </a:rPr>
              <a:t>crop</a:t>
            </a:r>
            <a:endParaRPr lang="en-US" sz="2400" dirty="0"/>
          </a:p>
        </p:txBody>
      </p:sp>
      <p:sp>
        <p:nvSpPr>
          <p:cNvPr id="6" name="Shape 4"/>
          <p:cNvSpPr/>
          <p:nvPr/>
        </p:nvSpPr>
        <p:spPr>
          <a:xfrm>
            <a:off x="5047488" y="1353312"/>
            <a:ext cx="2816352" cy="822960"/>
          </a:xfrm>
          <a:prstGeom prst="roundRect">
            <a:avLst/>
          </a:prstGeom>
          <a:solidFill>
            <a:srgbClr val="E8F7F4"/>
          </a:solidFill>
          <a:ln w="15240">
            <a:solidFill>
              <a:srgbClr val="007374"/>
            </a:solidFill>
            <a:prstDash val="solid"/>
          </a:ln>
        </p:spPr>
      </p:sp>
      <p:sp>
        <p:nvSpPr>
          <p:cNvPr id="7" name="Text 5"/>
          <p:cNvSpPr/>
          <p:nvPr/>
        </p:nvSpPr>
        <p:spPr>
          <a:xfrm>
            <a:off x="5193792" y="1463040"/>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播放結果</a:t>
            </a:r>
            <a:endParaRPr lang="en-US" sz="1800" dirty="0"/>
          </a:p>
        </p:txBody>
      </p:sp>
      <p:sp>
        <p:nvSpPr>
          <p:cNvPr id="8" name="Text 6"/>
          <p:cNvSpPr/>
          <p:nvPr/>
        </p:nvSpPr>
        <p:spPr>
          <a:xfrm>
            <a:off x="5193792" y="1810512"/>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播放 </a:t>
            </a:r>
            <a:endParaRPr lang="en-US" sz="1600" dirty="0"/>
          </a:p>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sequence</a:t>
            </a:r>
            <a:endParaRPr lang="en-US" sz="1600" dirty="0"/>
          </a:p>
        </p:txBody>
      </p:sp>
      <p:sp>
        <p:nvSpPr>
          <p:cNvPr id="9" name="Shape 7"/>
          <p:cNvSpPr/>
          <p:nvPr/>
        </p:nvSpPr>
        <p:spPr>
          <a:xfrm>
            <a:off x="8174736" y="1353312"/>
            <a:ext cx="2816352" cy="822960"/>
          </a:xfrm>
          <a:prstGeom prst="roundRect">
            <a:avLst/>
          </a:prstGeom>
          <a:solidFill>
            <a:srgbClr val="F4EDF7"/>
          </a:solidFill>
          <a:ln w="15240">
            <a:solidFill>
              <a:srgbClr val="660066"/>
            </a:solidFill>
            <a:prstDash val="solid"/>
          </a:ln>
        </p:spPr>
      </p:sp>
      <p:sp>
        <p:nvSpPr>
          <p:cNvPr id="10" name="Text 8"/>
          <p:cNvSpPr/>
          <p:nvPr/>
        </p:nvSpPr>
        <p:spPr>
          <a:xfrm>
            <a:off x="8321040" y="1463040"/>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660066"/>
                </a:solidFill>
                <a:latin typeface="Times New Roman" pitchFamily="34" charset="0"/>
                <a:ea typeface="標楷體" pitchFamily="34" charset="-122"/>
                <a:cs typeface="Times New Roman" pitchFamily="34" charset="-120"/>
              </a:rPr>
              <a:t>暫停重播</a:t>
            </a:r>
            <a:endParaRPr lang="en-US" sz="1800" dirty="0"/>
          </a:p>
        </p:txBody>
      </p:sp>
      <p:sp>
        <p:nvSpPr>
          <p:cNvPr id="11" name="Text 9"/>
          <p:cNvSpPr/>
          <p:nvPr/>
        </p:nvSpPr>
        <p:spPr>
          <a:xfrm>
            <a:off x="8321040" y="1810512"/>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停留目前 </a:t>
            </a:r>
            <a:endParaRPr lang="en-US" sz="1600" dirty="0"/>
          </a:p>
          <a:p>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endParaRPr lang="en-US" sz="1600" dirty="0"/>
          </a:p>
        </p:txBody>
      </p:sp>
      <p:sp>
        <p:nvSpPr>
          <p:cNvPr id="12" name="Shape 10"/>
          <p:cNvSpPr/>
          <p:nvPr/>
        </p:nvSpPr>
        <p:spPr>
          <a:xfrm>
            <a:off x="5047488" y="2304288"/>
            <a:ext cx="2816352" cy="822960"/>
          </a:xfrm>
          <a:prstGeom prst="roundRect">
            <a:avLst/>
          </a:prstGeom>
          <a:solidFill>
            <a:srgbClr val="ECF1FE"/>
          </a:solidFill>
          <a:ln w="15240">
            <a:solidFill>
              <a:srgbClr val="4967C2"/>
            </a:solidFill>
            <a:prstDash val="solid"/>
          </a:ln>
        </p:spPr>
      </p:sp>
      <p:sp>
        <p:nvSpPr>
          <p:cNvPr id="13" name="Text 11"/>
          <p:cNvSpPr/>
          <p:nvPr/>
        </p:nvSpPr>
        <p:spPr>
          <a:xfrm>
            <a:off x="5193792" y="2414016"/>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滑桿 </a:t>
            </a:r>
            <a:pPr algn="ctr" indent="0" marL="0">
              <a:lnSpc>
                <a:spcPct val="100000"/>
              </a:lnSpc>
              <a:buNone/>
            </a:pPr>
            <a:r>
              <a:rPr lang="en-US" sz="1800" b="1" dirty="0">
                <a:solidFill>
                  <a:srgbClr val="4967C2"/>
                </a:solidFill>
                <a:latin typeface="Times New Roman" pitchFamily="34" charset="0"/>
                <a:ea typeface="標楷體" pitchFamily="34" charset="-122"/>
                <a:cs typeface="Times New Roman" pitchFamily="34" charset="-120"/>
              </a:rPr>
              <a:t>slider</a:t>
            </a:r>
            <a:endParaRPr lang="en-US" sz="1800" dirty="0"/>
          </a:p>
        </p:txBody>
      </p:sp>
      <p:sp>
        <p:nvSpPr>
          <p:cNvPr id="14" name="Text 12"/>
          <p:cNvSpPr/>
          <p:nvPr/>
        </p:nvSpPr>
        <p:spPr>
          <a:xfrm>
            <a:off x="5193792" y="2761488"/>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選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寫 </a:t>
            </a:r>
            <a:endParaRPr lang="en-US" sz="1600" dirty="0"/>
          </a:p>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playback</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cursor</a:t>
            </a:r>
            <a:endParaRPr lang="en-US" sz="1600" dirty="0"/>
          </a:p>
        </p:txBody>
      </p:sp>
      <p:sp>
        <p:nvSpPr>
          <p:cNvPr id="15" name="Shape 13"/>
          <p:cNvSpPr/>
          <p:nvPr/>
        </p:nvSpPr>
        <p:spPr>
          <a:xfrm>
            <a:off x="8174736" y="2304288"/>
            <a:ext cx="2816352" cy="822960"/>
          </a:xfrm>
          <a:prstGeom prst="roundRect">
            <a:avLst/>
          </a:prstGeom>
          <a:solidFill>
            <a:srgbClr val="FDF9E2"/>
          </a:solidFill>
          <a:ln w="15240">
            <a:solidFill>
              <a:srgbClr val="846826"/>
            </a:solidFill>
            <a:prstDash val="solid"/>
          </a:ln>
        </p:spPr>
      </p:sp>
      <p:sp>
        <p:nvSpPr>
          <p:cNvPr id="16" name="Text 14"/>
          <p:cNvSpPr/>
          <p:nvPr/>
        </p:nvSpPr>
        <p:spPr>
          <a:xfrm>
            <a:off x="8321040" y="2414016"/>
            <a:ext cx="2523744"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846826"/>
                </a:solidFill>
                <a:latin typeface="Times New Roman" pitchFamily="34" charset="0"/>
                <a:ea typeface="標楷體" pitchFamily="34" charset="-122"/>
                <a:cs typeface="Times New Roman" pitchFamily="34" charset="-120"/>
              </a:rPr>
              <a:t>←／下一個畫面 →</a:t>
            </a:r>
            <a:endParaRPr lang="en-US" sz="1800" dirty="0"/>
          </a:p>
        </p:txBody>
      </p:sp>
      <p:sp>
        <p:nvSpPr>
          <p:cNvPr id="17" name="Text 15"/>
          <p:cNvSpPr/>
          <p:nvPr/>
        </p:nvSpPr>
        <p:spPr>
          <a:xfrm>
            <a:off x="8321040" y="2761488"/>
            <a:ext cx="2523744" cy="256032"/>
          </a:xfrm>
          <a:prstGeom prst="rect">
            <a:avLst/>
          </a:prstGeom>
          <a:noFill/>
          <a:ln/>
        </p:spPr>
        <p:txBody>
          <a:bodyPr wrap="square" lIns="635" tIns="635" rIns="635" bIns="635" rtlCol="0" anchor="t">
            <a:normAutofit/>
          </a:bodyPr>
          <a:lstStyle/>
          <a:p>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移動一個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1600" i="1" dirty="0">
                <a:solidFill>
                  <a:srgbClr val="25324A"/>
                </a:solidFill>
                <a:latin typeface="Times New Roman" pitchFamily="34" charset="0"/>
                <a:ea typeface="標楷體" pitchFamily="34" charset="-122"/>
                <a:cs typeface="Times New Roman" pitchFamily="34" charset="-120"/>
              </a:rPr>
              <a:t>frame</a:t>
            </a:r>
            <a:endParaRPr lang="en-US" sz="1600" dirty="0"/>
          </a:p>
        </p:txBody>
      </p:sp>
      <p:pic>
        <p:nvPicPr>
          <p:cNvPr id="18" name="Image 0" descr="identifier-free endpoint replay crop">    </p:cNvPr>
          <p:cNvPicPr>
            <a:picLocks noChangeAspect="1"/>
          </p:cNvPicPr>
          <p:nvPr/>
        </p:nvPicPr>
        <p:blipFill>
          <a:blip ns2:embed="rId1"/>
          <a:stretch>
            <a:fillRect/>
          </a:stretch>
        </p:blipFill>
        <p:spPr>
          <a:xfrm>
            <a:off x="822960" y="3255264"/>
            <a:ext cx="5650992" cy="1225296"/>
          </a:xfrm>
          <a:prstGeom prst="rect">
            <a:avLst/>
          </a:prstGeom>
        </p:spPr>
      </p:pic>
      <p:sp>
        <p:nvSpPr>
          <p:cNvPr id="19" name="Shape 16"/>
          <p:cNvSpPr/>
          <p:nvPr/>
        </p:nvSpPr>
        <p:spPr>
          <a:xfrm>
            <a:off x="822960" y="3255264"/>
            <a:ext cx="5650992" cy="1225296"/>
          </a:xfrm>
          <a:prstGeom prst="rect">
            <a:avLst/>
          </a:prstGeom>
          <a:solidFill>
            <a:srgbClr val="FFFFFF">
              <a:alpha val="0"/>
            </a:srgbClr>
          </a:solidFill>
          <a:ln w="12700">
            <a:solidFill>
              <a:srgbClr val="D7DEEA"/>
            </a:solidFill>
            <a:prstDash val="solid"/>
          </a:ln>
        </p:spPr>
      </p:sp>
      <p:sp>
        <p:nvSpPr>
          <p:cNvPr id="20" name="Shape 17"/>
          <p:cNvSpPr/>
          <p:nvPr/>
        </p:nvSpPr>
        <p:spPr>
          <a:xfrm>
            <a:off x="1536192" y="4590288"/>
            <a:ext cx="4224528" cy="420624"/>
          </a:xfrm>
          <a:prstGeom prst="roundRect">
            <a:avLst/>
          </a:prstGeom>
          <a:solidFill>
            <a:srgbClr val="E8F7F4"/>
          </a:solidFill>
          <a:ln w="15240">
            <a:solidFill>
              <a:srgbClr val="007374"/>
            </a:solidFill>
            <a:prstDash val="solid"/>
          </a:ln>
        </p:spPr>
      </p:sp>
      <p:sp>
        <p:nvSpPr>
          <p:cNvPr id="21" name="Text 18"/>
          <p:cNvSpPr/>
          <p:nvPr/>
        </p:nvSpPr>
        <p:spPr>
          <a:xfrm>
            <a:off x="1609344" y="4626864"/>
            <a:ext cx="4078224" cy="310896"/>
          </a:xfrm>
          <a:prstGeom prst="rect">
            <a:avLst/>
          </a:prstGeom>
          <a:noFill/>
          <a:ln/>
        </p:spPr>
        <p:txBody>
          <a:bodyPr wrap="square" lIns="635" tIns="635" rIns="635" bIns="635" rtlCol="0" anchor="ctr">
            <a:normAutofit/>
          </a:bodyPr>
          <a:lstStyle/>
          <a:p>
            <a:pPr algn="ctr" indent="0" marL="0">
              <a:lnSpc>
                <a:spcPct val="100000"/>
              </a:lnSpc>
              <a:buNone/>
            </a:pPr>
            <a:r>
              <a:rPr lang="en-US" sz="18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selector</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端點選擇器｜</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current</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800" b="1" dirty="0">
                <a:solidFill>
                  <a:srgbClr val="007374"/>
                </a:solidFill>
                <a:latin typeface="Times New Roman" pitchFamily="34" charset="0"/>
                <a:ea typeface="標楷體" pitchFamily="34" charset="-122"/>
                <a:cs typeface="Times New Roman" pitchFamily="34" charset="-120"/>
              </a:rPr>
              <a:t>crop</a:t>
            </a:r>
            <a:endParaRPr lang="en-US" sz="1800" dirty="0"/>
          </a:p>
        </p:txBody>
      </p:sp>
      <p:sp>
        <p:nvSpPr>
          <p:cNvPr id="22" name="Shape 19"/>
          <p:cNvSpPr/>
          <p:nvPr/>
        </p:nvSpPr>
        <p:spPr>
          <a:xfrm>
            <a:off x="6894576" y="3255264"/>
            <a:ext cx="4297680" cy="1225296"/>
          </a:xfrm>
          <a:prstGeom prst="rect">
            <a:avLst/>
          </a:prstGeom>
          <a:solidFill>
            <a:srgbClr val="FDF9E2"/>
          </a:solidFill>
          <a:ln w="15240">
            <a:solidFill>
              <a:srgbClr val="846826"/>
            </a:solidFill>
            <a:prstDash val="solid"/>
          </a:ln>
        </p:spPr>
      </p:sp>
      <p:sp>
        <p:nvSpPr>
          <p:cNvPr id="23" name="Text 20"/>
          <p:cNvSpPr/>
          <p:nvPr/>
        </p:nvSpPr>
        <p:spPr>
          <a:xfrm>
            <a:off x="7150608" y="3474720"/>
            <a:ext cx="3785616"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i="1" dirty="0">
                <a:solidFill>
                  <a:srgbClr val="846826"/>
                </a:solidFill>
                <a:latin typeface="Times New Roman" pitchFamily="34" charset="0"/>
                <a:ea typeface="標楷體" pitchFamily="34" charset="-122"/>
                <a:cs typeface="Times New Roman" pitchFamily="34" charset="-120"/>
              </a:rPr>
              <a:t>provider</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846826"/>
                </a:solidFill>
                <a:latin typeface="Times New Roman" pitchFamily="34" charset="0"/>
                <a:ea typeface="標楷體" pitchFamily="34" charset="-122"/>
                <a:cs typeface="Times New Roman" pitchFamily="34" charset="-120"/>
              </a:rPr>
              <a:t>timeline</a:t>
            </a:r>
            <a:endParaRPr lang="en-US" sz="1600" dirty="0"/>
          </a:p>
        </p:txBody>
      </p:sp>
      <p:sp>
        <p:nvSpPr>
          <p:cNvPr id="24" name="Shape 21"/>
          <p:cNvSpPr/>
          <p:nvPr/>
        </p:nvSpPr>
        <p:spPr>
          <a:xfrm>
            <a:off x="7333488" y="3877056"/>
            <a:ext cx="3291840" cy="0"/>
          </a:xfrm>
          <a:prstGeom prst="line">
            <a:avLst/>
          </a:prstGeom>
          <a:noFill/>
          <a:ln w="27940">
            <a:solidFill>
              <a:srgbClr val="846826"/>
            </a:solidFill>
            <a:prstDash val="solid"/>
          </a:ln>
        </p:spPr>
      </p:sp>
      <p:sp>
        <p:nvSpPr>
          <p:cNvPr id="25" name="Text 22"/>
          <p:cNvSpPr/>
          <p:nvPr/>
        </p:nvSpPr>
        <p:spPr>
          <a:xfrm>
            <a:off x="7132320" y="4169664"/>
            <a:ext cx="3803904" cy="274320"/>
          </a:xfrm>
          <a:prstGeom prst="rect">
            <a:avLst/>
          </a:prstGeom>
          <a:noFill/>
          <a:ln/>
        </p:spPr>
        <p:txBody>
          <a:bodyPr wrap="square" lIns="635" tIns="635" rIns="635" bIns="635" rtlCol="0" anchor="ctr">
            <a:normAutofit/>
          </a:bodyPr>
          <a:lstStyle/>
          <a:p>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endpoint</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timeline</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：獨立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frame</a:t>
            </a:r>
            <a:pPr algn="ctr" indent="0" marL="0">
              <a:lnSpc>
                <a:spcPct val="100000"/>
              </a:lnSpc>
              <a:buNone/>
            </a:pPr>
            <a:r>
              <a:rPr lang="en-US" sz="1600" b="1" dirty="0">
                <a:solidFill>
                  <a:srgbClr val="007374"/>
                </a:solidFill>
                <a:latin typeface="Times New Roman" pitchFamily="34" charset="0"/>
                <a:ea typeface="標楷體" pitchFamily="34" charset="-122"/>
                <a:cs typeface="Times New Roman" pitchFamily="34" charset="-120"/>
              </a:rPr>
              <a:t> </a:t>
            </a:r>
            <a:pPr algn="ctr" indent="0" marL="0">
              <a:lnSpc>
                <a:spcPct val="100000"/>
              </a:lnSpc>
              <a:buNone/>
            </a:pPr>
            <a:r>
              <a:rPr lang="en-US" sz="1600" b="1" i="1" dirty="0">
                <a:solidFill>
                  <a:srgbClr val="007374"/>
                </a:solidFill>
                <a:latin typeface="Times New Roman" pitchFamily="34" charset="0"/>
                <a:ea typeface="標楷體" pitchFamily="34" charset="-122"/>
                <a:cs typeface="Times New Roman" pitchFamily="34" charset="-120"/>
              </a:rPr>
              <a:t>identity</a:t>
            </a:r>
            <a:endParaRPr lang="en-US" sz="1600" dirty="0"/>
          </a:p>
        </p:txBody>
      </p:sp>
      <p:sp>
        <p:nvSpPr>
          <p:cNvPr id="26" name="Shape 23"/>
          <p:cNvSpPr/>
          <p:nvPr/>
        </p:nvSpPr>
        <p:spPr>
          <a:xfrm>
            <a:off x="6894576" y="4663440"/>
            <a:ext cx="4297680" cy="932688"/>
          </a:xfrm>
          <a:prstGeom prst="roundRect">
            <a:avLst/>
          </a:prstGeom>
          <a:solidFill>
            <a:srgbClr val="FDEFEF"/>
          </a:solidFill>
          <a:ln w="15240">
            <a:solidFill>
              <a:srgbClr val="992A2A"/>
            </a:solidFill>
            <a:prstDash val="solid"/>
          </a:ln>
        </p:spPr>
      </p:sp>
      <p:sp>
        <p:nvSpPr>
          <p:cNvPr id="27" name="Text 24"/>
          <p:cNvSpPr/>
          <p:nvPr/>
        </p:nvSpPr>
        <p:spPr>
          <a:xfrm>
            <a:off x="7040880" y="4773168"/>
            <a:ext cx="4005072" cy="329184"/>
          </a:xfrm>
          <a:prstGeom prst="rect">
            <a:avLst/>
          </a:prstGeom>
          <a:noFill/>
          <a:ln/>
        </p:spPr>
        <p:txBody>
          <a:bodyPr wrap="square" lIns="635" tIns="635" rIns="635" bIns="635" rtlCol="0" anchor="ctr">
            <a:normAutofit/>
          </a:bodyPr>
          <a:lstStyle/>
          <a:p>
            <a:pPr algn="ctr" indent="0" marL="0">
              <a:lnSpc>
                <a:spcPct val="100000"/>
              </a:lnSpc>
              <a:buNone/>
            </a:pPr>
            <a:r>
              <a:rPr lang="en-US" sz="1800" b="1" dirty="0">
                <a:solidFill>
                  <a:srgbClr val="992A2A"/>
                </a:solidFill>
                <a:latin typeface="Times New Roman" pitchFamily="34" charset="0"/>
                <a:ea typeface="標楷體" pitchFamily="34" charset="-122"/>
                <a:cs typeface="Times New Roman" pitchFamily="34" charset="-120"/>
              </a:rPr>
              <a:t>判讀</a:t>
            </a:r>
            <a:endParaRPr lang="en-US" sz="1800" dirty="0"/>
          </a:p>
        </p:txBody>
      </p:sp>
      <p:sp>
        <p:nvSpPr>
          <p:cNvPr id="28" name="Text 25"/>
          <p:cNvSpPr/>
          <p:nvPr/>
        </p:nvSpPr>
        <p:spPr>
          <a:xfrm>
            <a:off x="7040880" y="5120640"/>
            <a:ext cx="4005072" cy="365760"/>
          </a:xfrm>
          <a:prstGeom prst="rect">
            <a:avLst/>
          </a:prstGeom>
          <a:noFill/>
          <a:ln/>
        </p:spPr>
        <p:txBody>
          <a:bodyPr wrap="square" lIns="635" tIns="635" rIns="635" bIns="635" rtlCol="0" anchor="t">
            <a:normAutofit/>
          </a:bodyPr>
          <a:lstStyle/>
          <a:p>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provider</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frame</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移動不自動改寫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endpoint</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 </a:t>
            </a:r>
            <a:pPr algn="ctr" indent="0" marL="0">
              <a:lnSpc>
                <a:spcPct val="100000"/>
              </a:lnSpc>
              <a:buNone/>
            </a:pPr>
            <a:r>
              <a:rPr lang="en-US" sz="2000" i="1" dirty="0">
                <a:solidFill>
                  <a:srgbClr val="25324A"/>
                </a:solidFill>
                <a:latin typeface="Times New Roman" pitchFamily="34" charset="0"/>
                <a:ea typeface="標楷體" pitchFamily="34" charset="-122"/>
                <a:cs typeface="Times New Roman" pitchFamily="34" charset="-120"/>
              </a:rPr>
              <a:t>Action</a:t>
            </a:r>
            <a:pPr algn="ctr" indent="0" marL="0">
              <a:lnSpc>
                <a:spcPct val="100000"/>
              </a:lnSpc>
              <a:buNone/>
            </a:pPr>
            <a:r>
              <a:rPr lang="en-US" sz="2000" dirty="0">
                <a:solidFill>
                  <a:srgbClr val="25324A"/>
                </a:solidFill>
                <a:latin typeface="Times New Roman" pitchFamily="34" charset="0"/>
                <a:ea typeface="標楷體" pitchFamily="34" charset="-122"/>
                <a:cs typeface="Times New Roman" pitchFamily="34" charset="-120"/>
              </a:rPr>
              <a:t>。</a:t>
            </a:r>
            <a:endParaRPr lang="en-US" sz="2000" dirty="0"/>
          </a:p>
        </p:txBody>
      </p:sp>
      <p:sp>
        <p:nvSpPr>
          <p:cNvPr id="30" name="Text 3"/>
          <p:cNvSpPr/>
          <p:nvPr>
            <p:ph idx="105" type="title" hasCustomPrompt="1"/>
          </p:nvPr>
        </p:nvSpPr>
        <p:spPr>
          <a:xfrm>
            <a:off x="656591" y="187008"/>
            <a:ext cx="9462769" cy="480060"/>
          </a:xfrm>
          <a:prstGeom prst="rect">
            <a:avLst/>
          </a:prstGeom>
          <a:noFill/>
          <a:ln/>
        </p:spPr>
        <p:txBody>
          <a:bodyPr wrap="square" lIns="0" tIns="0" rIns="0" bIns="0" rtlCol="0" anchor="b"/>
          <a:lstStyle/>
          <a:p>
            <a:pPr algn="l" indent="0" marL="0">
              <a:buNone/>
            </a:pPr>
            <a:endParaRPr lang="en-US" sz="2800" dirty="0"/>
          </a:p>
        </p:txBody>
      </p:sp>
    </p:spTree>
  </p:cSld>
  <p:clrMapOvr>
    <a:masterClrMapping/>
  </p:clrMapOvr>
</p:sld>
</file>

<file path=ppt/theme/theme1.xml><?xml version="1.0" encoding="utf-8"?>
<a:theme xmlns:a="http://schemas.openxmlformats.org/drawingml/2006/main" name="2_佈景主題1">
  <a:themeElements>
    <a:clrScheme name="自訂 1">
      <a:dk1>
        <a:srgbClr val="35377F"/>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正式文體">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003065"/>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k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hk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hk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hk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hk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hk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hk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hk1 8">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佈景主題1" id="{929F1AC0-EDE5-4E84-B296-76809860B882}" vid="{D422FDD8-D1F8-4744-A7BD-E0F19A28C553}"/>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佈景主題1</Template>
  <TotalTime>42739</TotalTime>
  <Words>64</Words>
  <Application>Microsoft Office PowerPoint</Application>
  <PresentationFormat>寬螢幕</PresentationFormat>
  <Paragraphs>5</Paragraphs>
  <Slides>2</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vt:i4>
      </vt:variant>
    </vt:vector>
  </HeadingPairs>
  <TitlesOfParts>
    <vt:vector size="8" baseType="lpstr">
      <vt:lpstr>Times-Roman</vt:lpstr>
      <vt:lpstr>Arial</vt:lpstr>
      <vt:lpstr>Calibri</vt:lpstr>
      <vt:lpstr>Symbol</vt:lpstr>
      <vt:lpstr>Times New Roman</vt:lpstr>
      <vt:lpstr>2_佈景主題1</vt:lpstr>
      <vt:lpstr>Energy-Efficiency-Based Joint Uplink Resources Allocation for LEO Satellite Beam-Hopping System</vt:lpstr>
      <vt:lpstr>上行 LEO 衛星 BH 系統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Few-Shot Transfer Learning Approach Using Text-Label Embedding with Legal Attributes for Law Article Prediction</dc:title>
  <dc:creator>Windows 使用者</dc:creator>
  <cp:lastModifiedBy>柏宏 吳</cp:lastModifiedBy>
  <cp:revision>1493</cp:revision>
  <dcterms:created xsi:type="dcterms:W3CDTF">2019-10-21T01:22:34Z</dcterms:created>
  <dcterms:modified xsi:type="dcterms:W3CDTF">2025-12-10T11:42:30Z</dcterms:modified>
</cp:coreProperties>
</file>