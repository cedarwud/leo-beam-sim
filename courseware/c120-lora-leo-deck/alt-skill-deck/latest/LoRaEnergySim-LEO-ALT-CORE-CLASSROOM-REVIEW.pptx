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3" Type="http://schemas.openxmlformats.org/officeDocument/2006/relationships/slide" Target="slides/slide1.xml" /><Relationship Id="rId4" Type="http://schemas.openxmlformats.org/officeDocument/2006/relationships/notesMaster" Target="notesMasters/notesMaster1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Relationship Id="rId39" Type="http://schemas.openxmlformats.org/officeDocument/2006/relationships/slide" Target="slides/slide33.xml" /><Relationship Id="rId40" Type="http://schemas.openxmlformats.org/officeDocument/2006/relationships/slide" Target="slides/slide34.xml" /><Relationship Id="rId41" Type="http://schemas.openxmlformats.org/officeDocument/2006/relationships/slide" Target="slides/slide35.xml" /><Relationship Id="rId42" Type="http://schemas.openxmlformats.org/officeDocument/2006/relationships/slide" Target="slides/slide36.xml" /><Relationship Id="rId43" Type="http://schemas.openxmlformats.org/officeDocument/2006/relationships/slide" Target="slides/slide37.xml" /><Relationship Id="rId44" Type="http://schemas.openxmlformats.org/officeDocument/2006/relationships/slide" Target="slides/slide38.xml" /><Relationship Id="rId45" Type="http://schemas.openxmlformats.org/officeDocument/2006/relationships/slide" Target="slides/slide39.xml" /><Relationship Id="rId46" Type="http://schemas.openxmlformats.org/officeDocument/2006/relationships/slide" Target="slides/slide40.xml" /><Relationship Id="rId47" Type="http://schemas.openxmlformats.org/officeDocument/2006/relationships/slide" Target="slides/slide41.xml" /><Relationship Id="rId48" Type="http://schemas.openxmlformats.org/officeDocument/2006/relationships/slide" Target="slides/slide42.xml" /><Relationship Id="rId49" Type="http://schemas.openxmlformats.org/officeDocument/2006/relationships/slide" Target="slides/slide4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7.xml" /></Relationships>
</file>

<file path=ppt/notesSlides/_rels/notesSlide1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8.xml" /></Relationships>
</file>

<file path=ppt/notesSlides/_rels/notesSlide1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9.xml" /></Relationships>
</file>

<file path=ppt/notesSlides/_rels/notesSlide2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0.xml" /></Relationships>
</file>

<file path=ppt/notesSlides/_rels/notesSlide2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1.xml" /></Relationships>
</file>

<file path=ppt/notesSlides/_rels/notesSlide2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2.xml" /></Relationships>
</file>

<file path=ppt/notesSlides/_rels/notesSlide2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3.xml" /></Relationships>
</file>

<file path=ppt/notesSlides/_rels/notesSlide2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4.xml" /></Relationships>
</file>

<file path=ppt/notesSlides/_rels/notesSlide2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5.xml" /></Relationships>
</file>

<file path=ppt/notesSlides/_rels/notesSlide2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6.xml" /></Relationships>
</file>

<file path=ppt/notesSlides/_rels/notesSlide2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7.xml" /></Relationships>
</file>

<file path=ppt/notesSlides/_rels/notesSlide2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8.xml" /></Relationships>
</file>

<file path=ppt/notesSlides/_rels/notesSlide2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9.xml" /></Relationships>
</file>

<file path=ppt/notesSlides/_rels/notesSlide3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0.xml" /></Relationships>
</file>

<file path=ppt/notesSlides/_rels/notesSlide3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1.xml" /></Relationships>
</file>

<file path=ppt/notesSlides/_rels/notesSlide3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2.xml" /></Relationships>
</file>

<file path=ppt/notesSlides/_rels/notesSlide3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3.xml" /></Relationships>
</file>

<file path=ppt/notesSlides/_rels/notesSlide3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4.xml" /></Relationships>
</file>

<file path=ppt/notesSlides/_rels/notesSlide3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5.xml" /></Relationships>
</file>

<file path=ppt/notesSlides/_rels/notesSlide3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6.xml" /></Relationships>
</file>

<file path=ppt/notesSlides/_rels/notesSlide3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7.xml" /></Relationships>
</file>

<file path=ppt/notesSlides/_rels/notesSlide3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8.xml" /></Relationships>
</file>

<file path=ppt/notesSlides/_rels/notesSlide3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9.xml" /></Relationships>
</file>

<file path=ppt/notesSlides/_rels/notesSlide4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0.xml" /></Relationships>
</file>

<file path=ppt/notesSlides/_rels/notesSlide4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1.xml" /></Relationships>
</file>

<file path=ppt/notesSlides/_rels/notesSlide4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2.xml" /></Relationships>
</file>

<file path=ppt/notesSlides/_rels/notesSlide4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3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本頁先界定固定情境：端點以有限電池運作，資料封包會產生並進入佇列，服務窗口則依固定軌跡開啟、關閉或縮短。先看可服務窗口，再看策略動作，最後依服務判定與端點能量解讀結果。scenario 的中文名稱是情境定義，來源為 course package，作用是固定端點、窗口與資料規則，單位為 identifier；判讀時確認相同輸入能否重跑同一條比較路徑。下一頁將說明把這條路徑放入 LoRaEnergySim 模型的方式。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本頁把 LoRaEnergySim 定義為端點能源決策的模型參照。端點產生資料並選擇動作，資料封包依序經過產生、佇列與傳送嘗試，閘道接收封包並留下送達、碰撞與重傳事件。simulator 的中文名稱是模擬器，來源為 course package 對 LoRaEnergySim 的參照，作用是在固定時鐘重播端點、封包與能量假設，單位為一次固定執行；判讀時用它產生可比較的事件與能量證據，不把結果說成實測。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本頁說明模型能力與課程封裝的分工。GillesC/LoRaEnergySim 提供休眠、處理、發射、接收，以及封包、碰撞、重傳與端點能量的研究語言；固定情境、LEO 服務窗口、案例順序、受控策略、結構化匯入與 Leo 重播則由課程另外組織。upstream_model 的中文名稱是上游模型能力，來源為指定的 LoRaEnergySim repository provenance，作用是提供狀態、封包與能量概念，單位為能力集合；判讀時只表示模型參照，不把本課 runner 說成上游程式本身。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本頁沿讀取順序說明課程封裝：先固定 scenario.json 與 scenario_id，再在 student_policy.py 的 marked block 中做受控決策，由 runner 依序產生 baseline、candidate 與 withheld，最後把 result.json 與 endpoint replay 帶到 Leo 進行驗證、重播與 Workbook 保存。runner 的中文名稱是課程執行器，來源為 course package，作用是讀固定情境、載入受控策略並輸出 result 與 replay，單位為 run artifact；判讀時代表一條可追溯的課程執行路徑。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本頁把競賽關聯落在可反駁的因果證據：固定 scenario、策略檔與 seed 讓事件路徑可重跑，單一受控區塊讓差異可以歸因，再將結果帶回 Leo 讀取。evidence 的中文名稱是證據，來源為 result.json 與 endpoint replay，作用是保存 policy、event、service 與端點 J 的連接，單位為 record；判讀時只支持 bounded comparison。這套件不提供即時、實測或整體 LEO 能量主張，轉移到智慧農業、暖通空調或物流時仍須重訂窗口、期限與能量邊界。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本頁區分環境檢查與案例執行。setup 與 verify 只核對 package、scenario、policy 與 interpreter 條件，不代表案例已執行；只有 run case 由本機 runner 依固定輸入模擬，才會在 artifacts/&lt;run_id&gt;/ 寫入 result.json 與 endpoint-replay.json。run artifact 的中文名稱是執行產物，來源為本機 runner，作用是保存一次執行的結果與端點事件重播，單位為同一個 run 目錄；判讀時只有 run 產物可以承載本次案例的服務、封包、狀態與端點 J。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本頁先讀本機責任，再讀 Leo 的工作。Linux／macOS 終端機或 WSL 的 Linux 指令由 runner 讀取 student_policy.py，依固定情境產生 result.json 與同目錄的 endpoint-replay.json；/course 只選 result.json，負責驗證身份與結構、具象化結果、建立重播並寫入 Workbook。course import 的中文名稱是課程匯入，來源為 /course 控制項，作用是驗證 result.json 並建立 replay 與 Workbook，單位為 JSON pair；判讀時保留同目錄配對檔，不把策略原始檔交給網站。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本頁固定三次匯入與讀取順序。baseline 是基準，candidate 是受控候選，withheld 是保留反例；每次選該次 result.json，並讓同一 run 目錄的 endpoint-replay.json 保持配對。先讀 service，再讀 packet，再讀 state，最後讀 endpoint J；--freeze 產生的 receipt 與 checkpoint 只保存策略 lineage，不是一般上傳檔。import order 的中文名稱是匯入順序，來源為 /course 與配對 artifacts，作用是依序比較三次 JSON pair，單位為三次 JSON pair；判讀時不可用單一總數字取代事件順序。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本頁說明一次策略動作的三種後果路徑。SLEEP 進入低功耗休息，下一次傳送可能增加 WAKE；WAIT 保持清醒並持續累積 awake-idle 能量；SEND 類動作建立服務機會，並留下處理、發射、接收、碰撞或重試事件。action 的中文名稱是策略動作，來源為 policy API，作用是提供每次決策的唯一輸出，單位為 enum；判讀時先看它造成的狀態與封包轉移，再看服務和端點能量是否跟著變化。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本頁建立歸因順序：先確認服務窗口，再看策略動作、無線狀態與封包事件，最後判讀服務與端點能量。窗口關閉時，傳輸類動作不會進入執行，安全分支為 SLEEP。radio_state 的中文名稱是無線狀態，來源為 runner event ledger，作用是表示每個狀態區間，單位為 state enum 加 duration；判讀時用它把端點能量拆回時間段。若中間事件沒有差異，最終數值就不能直接歸因於本次修改。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本頁將操作閉環讀成四段：在 student_policy.py 的 marked block 只改一個受控常數，執行固定 case，讀取狀態、封包、服務與能量，再以動作到事件到結果的關係解釋。result.json 的中文名稱是結果資料檔，來源為 package runner，作用是保存 run identity、狀態、封包、服務與能量，單位為 JSON artifact；判讀時把它作為 replay 與 import 的輸入。預測與反例必須和結果一起保存，下一頁會說明中間事件如何支撐歸因。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本頁比較相同觀測下的基準與候選。兩者先使用同一份觀測，差異由策略動作開始，接著沿各自的事件路徑抵達服務與端點能量；只有事件路徑出現可讀差異，才有基礎討論結果差異。packet_progress 的中文名稱是封包進度，來源為 result 或 replay artifact，作用是記錄產生、佇列、嘗試、重試、送達與逾期，單位為 event count 加 time；判讀時用它連接動作與服務結果。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本頁標出 runner 可以支持的證據層級。固定 scenario、policy 與 seed 可以重跑端點狀態、封包事件、服務判定與端點 J，但不把這些結果延伸成 LEO 或 system energy、canonical efficiency、實測或即時 KPI。endpoint_energy_j 的中文名稱是端點能量，來源為 endpoint radio 與 processing model，作用是累積狀態能量，單位為 J；判讀時只把它放在 endpoint evidence layer，並與 Leo 的驗證、重播與 Workbook 記錄分開。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本頁把 LEO 放在變動服務窗口的工作情境中：窗口開啟、品質下降、窗口關閉，再度開啟，會改變端點可服務的機會；主要控制仍是端點在等待、休息與送出之間做選擇。Leo 同時提供 result 驗證、endpoint replay 與 Workbook 的證據平台。service_window 的中文名稱是服務窗口，來源為 fixed scenario trace，作用是定義合法傳輸區間，單位為 trace time；判讀時先確認動作是否落在合法窗口，再解釋服務與端點 J，不能把情境輸入說成 live satellite data。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本頁將實驗讀成四步：先在 Workbook 記錄狀態、封包、服務或端點能量的預測方向，再做一次一個常數的受控修改，依固定 case 執行，最後比較並保存結果、解釋與反例。prediction 的中文名稱是預測，來源為 workbook record，作用是指定可反駁的變化方向，單位為 statement；判讀時把它當作執行前的基準，不用事後結果倒推預測。withheld 維持 frozen policy，讓機制能在另一條固定情境中接受檢查。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本頁總覽三個受控變更。Lab A 在 student_policy.py 的 lab-a-pace-rest 把 REST_DURING_GAP 從 SLEEP 改為 WAIT，PACE_GAP_STEPS = 2 固定；Lab B 把 lab-b-enter-exit-hold 的 STABLE_STEPS 從 2 改為 1，ENTER_QUALITY=2 與 EXIT_QUALITY=1 固定；Lab C 在 lab-c-batch-urgent 依序把 URGENT_MARGIN_S 從 20 改為 5 再改為 30，BATCH_SIZE=3 固定。runner、scenario、schema 與其他區塊都不動，依 prediction、baseline、candidate、withheld 讀取服務、封包、狀態與 J。marked block 的中文名稱是受控區塊，來源為 student_policy.py，作用是限制最小決策面，單位為 one block；判讀時其餘檔案與行保持不變。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本頁正面說明 LoRaEnergySim 的三項價值。第一，提供端點狀態與能量語言，把休眠、處理、TX、RX 連到端點能量邊界；第二，提供封包、碰撞、重試與送達事件，讓策略後果能由中間證據解釋；第三，提供固定模型來源與版本，讓案例和結果可以依一致欄位比較。model_reference 的中文名稱是模型參考，來源為固定的 LoRaEnergySim repository 與版本，作用是提供端點狀態、封包事件與能量欄位的可追溯語言，單位為來源識別；判讀時沿同一模型語言比較不同策略的事件與結果。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本頁只做路徑準備。先把 release 副本從 Windows Downloads 放入 Linux staging，再進入 lora-energy-lab/ 根目錄；這個動作不修改 Windows 原檔、student_policy.py 或任何 marked block。pwd 的中文名稱是目前目錄命令，來源為 Linux／macOS 終端機，WSL 也使用 Linux 指令，作用是確認目前位置，單位為路徑文字；判讀時輸出應位於 Linux home 的課程資料夾。路徑與根目錄不一致時先停在這一頁，不進入 setup。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本頁建立可重現的 package-local 環境。Linux／macOS 終端機與 WSL 先以 setup.sh 建立 .venv，再以 course.sh verify 核對 Python 3.11.x、scenario identity、policy 結構與 engine mode；Windows 使用對應啟動器。PYTHON_BIN 的中文名稱是 Python 執行器路徑變數，來源為命令工具設定，作用是指定建立環境時採用的版本，單位為路徑文字；判讀時只有看到 READY、版本與根目錄一致，才進入後續案例，這一步尚未產生 case result。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本頁只讀環境收據，不執行案例。verify-receipt.json 的中文名稱是驗證收據檔，來源為 setup／verify 的環境檢查命令，作用是記錄 interpreter、scenario 與契約關卡，單位為 JSON 檔案；判讀時它只表示環境可用，不能代替 result.json、endpoint replay 或服務結果。Linux 可用 sed 讀取，PowerShell 可用 Get-Content，Command Prompt 可用 type；這些讀取不改檔。下一步核對狀態、版本與身份後，才進入 run case。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本頁在案例前確認三個身份條件：status 必須顯示 READY，Python 必須是 3.11.x，scenario_id 必須指向固定案例情境；同時確認 policy API version 與 package root 沒有偏移。status 的中文名稱是狀態，來源為驗證收據，作用是表示環境與契約是否可進入案例，單位為狀態值；判讀時通過只表示準備完成，不宣稱服務或能量結果。這一頁沒有 file、block 或 value 變更，下一步執行後才讀 result.json 的 service、packet、state 與 endpoint J。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本頁先標明資料怎麼產生，再決定能解讀到哪裡。engine_mode 的中文名稱是執行模式，來源為執行器紀錄，作用是分類資料產生方式，單位為模式值；固定值表示 coherent-course-simulated-adapter。upstream_execution 為 false，表示本課流程沒有執行上游研究程式；result 的 artifact_source 會再標示本機執行或同情境回復。判讀時保留 SIMULATED TEACHING DATA、NOT LIVE、NOT MEASURED、NOT CANONICAL-PARITY-VERIFIED 的邊界，不把模擬資料提升成即時、實測或整體系統指標。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本頁說明受阻時的安全路徑。正常狀態由 READY 進入 run case；若 setup 或 verify 受阻，只修復 Python、package root、lock 或 policy boundary，保持三個 marked block、runner、scenario 與 schema 不變。若使用同情境回復資料，result.json 與 endpoint-replay.json 仍須成對保存，不能把回復資料說成本機執行。artifact_source 的中文名稱是資料來源分類，來源為結果紀錄，作用是標示本機執行或回復資料，單位為來源值；判讀時先看 source，再按 service、packet、state、endpoint J、efficiency 讀取。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本頁畫出唯一可編輯邊界：實際檔案是 student_policy.py，三個區塊是 lab-a-pace-rest、lab-b-enter-exit-hold 與 lab-c-batch-urgent；一次只開目前的 lab。中文註解、choose_action()、runner、scenario、schemas、輸出契約與其他區塊保持不變。marked block 的中文名稱是標記區段，來源為檔案中的編輯標記，作用是界定一個實驗的可修改範圍，單位為程式碼區段；判讀時只比較 active block 的 before／after，並以成對 result／replay 證據支持因果。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本頁先說明 choose_action() 的輸入邊界。observation 的中文名稱是觀測快照，來源為 runner 在每個固定 step 提供的唯讀資料，作用是提供窗口、急件、期限、距上次傳送步數、傳送模式、品質、穩定步數與佇列數，單位依各欄位定義；判讀時只讀目前與過去資料，不讀未來結果或能量摘要。函式回傳一個合法 action，runner 再記錄 event 與 result。這一頁沒有 file、block 或 value 變更，下一頁讀固定的判斷順序。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本頁按程式由上而下朗讀決策順序：窗口關閉先回傳 SLEEP；窗口開啟且急件期限逼近時回傳 SEND_URGENT；pacing gap 尚未完成時回傳 REST_DURING_GAP；品質尚未達標時回傳 WAIT；品質可用且佇列達到 BATCH_SIZE 時回傳 FLUSH_BATCH，否則回傳 SEND_ONE，沒有可送資料時由 runner 安全處理為等待。action 的中文名稱是合法動作，來源為 policy API，作用是把條件轉成 runner 可執行的動作，單位為 enum；判讀時再從 state、packet、service 與 endpoint J 讀後果。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本頁只讀窗口關閉的局部程式。if 條件的縮排決定 return SLEEP 屬於哪個分支，return 的中文名稱是回傳，來源為 policy function，作用是把一個合法動作交給執行器，單位為動作值；判讀時語法正確仍不等於服務成功，必須再讀 result／replay 的實際事件。下一個命令是 .venv/bin/python -m py_compile student_policy.py，只檢查語法、不改檔；通過後執行 baseline，按 service、packet／delivery、state／event、endpoint J 讀取。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本頁先保存未修改的 Lab A 基準。Linux、macOS 與 WSL 使用 bash course.sh run --lab A --case baseline；Windows 對應為 course.cmd run --lab A --case baseline。命令讀取 packaged student_policy.py 與 fixed scenario，只在 artifacts/&lt;run_id&gt;/ 寫入 result.json、endpoint-replay.json，不回寫策略檔、runner、scenario 或 schemas。result_path 的中文名稱是結果檔路徑，來源為命令輸出，作用是定位該次 result.json，單位為路徑文字；判讀時先核對 status、run identity 與 path，再讀 service，下一步才改候選值。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本頁定位 Lab A 的單一變更面。檔案是 student_policy.py，marked block 是 lab-a-pace-rest，唯一變數是 REST_DURING_GAP；PACE_GAP_STEPS = 2、Lab B/C 區塊、runner、scenario 與 schemas 都保持不變。REST_DURING_GAP 的中文名稱是空檔動作，來源為 student_policy.py 的 active block，作用是決定傳送間隔中的休息方式，單位為 action 設定值；判讀時先確認只改這一行。下一個檢查命令是 .venv/bin/python -m py_compile student_policy.py，通過後讀 Lab A 的 baseline／candidate／hidden 事件。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A 只修改 /home/u24/lora-energy-lab/student_policy.py 的 lab-a-pace-rest block：before 是 REST_DURING_GAP = SLEEP，after 是 REST_DURING_GAP = WAIT。SLEEP 讓空檔進入低功耗休息，WAIT 讓端點保持清醒並累積 awake-idle；PACE_GAP_STEPS = 2、Lab B/C、runner、scenario、schemas 與其他行固定不變。下一個命令先執行 .venv/bin/python -m py_compile student_policy.py，再執行 bash course.sh run --lab A --case candidate --freeze。結果要讀 state duration、SLEEP／AWAKE_IDLE／WAKE、PROCESS／TX／RX、packet outcome、service 與 endpoint J，不能只看 J。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A 的機制是空檔動作改變狀態時間：SLEEP 可能降低休息能量，但再次傳送要支付 WAKE；WAIT 不支付同樣的喚醒路徑，卻會累積 awake-idle。固定檔案、block 與 before／after 仍是 REST_DURING_GAP：SLEEP → WAIT，PACE_GAP_STEPS = 2 與所有其他程式保持不變。依序執行 bash course.sh run --lab A --case baseline、bash course.sh run --lab A --case candidate --freeze、bash course.sh run --lab A --case hidden；Windows 只替換為 course.cmd。每次都讀 state duration、wake/process/TX/RX buckets、packet outcome、service 與 endpoint J，hidden 使用 frozen policy 檢查機制。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A 每次完成後，依 stdout 的 result_path 找到該次 result.json，於 /course 只匯入這個檔案，並保留同一目錄的 endpoint-replay.json。先核對 scenario ID 與 run ID，再按 service、packet 的送達／重試／逾期、state 的休眠／清醒／傳送，最後讀 endpoint J；radio_state 的中文名稱是無線狀態，來源為 result／replay artifact，作用是支持本次機制判讀，單位依欄位定義。預期差異先出現在 sleep、awake-idle、wake 與相關狀態時間，再檢查封包與服務；若中間事件沒有差異，不能把最後的焦耳差異歸因於 WAIT。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本頁定位 Lab B 的單一變更面。檔案是 student_policy.py，marked block 是 lab-b-enter-exit-hold，唯一變數是 STABLE_STEPS；ENTER_QUALITY = 2、EXIT_QUALITY = 1、Lab A/C 區塊、runner、scenario 與 schemas 保持不變。STABLE_STEPS 的中文名稱是穩定步數，來源為 student_policy.py 的 active block，作用是決定品質達標要連續維持幾個 step，單位為 steps；判讀時只比較 before／after 的進入時機與後續事件。下一個命令是 .venv/bin/python -m py_compile student_policy.py。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B 只修改 /home/u24/lora-energy-lab/student_policy.py 的 lab-b-enter-exit-hold block：before 是 STABLE_STEPS = 2，after 是 STABLE_STEPS = 1。原值要求連續兩個穩定觀察，新值在一個穩定觀察後即可讓 quality_ready 成立，因而可能提早出現 MODE_CHANGE；ENTER_QUALITY = 2、EXIT_QUALITY = 1、Lab A/C、runner、scenario、schemas 與其他行固定不變。下一個命令先執行 .venv/bin/python -m py_compile student_policy.py，再執行 bash course.sh run --lab B --case trace-a-candidate --freeze。證據要讀 transition timing、attempt、retry、delivery、service 與 endpoint J。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B 的機制是穩定觀察數改變進入可傳送模式的時間。固定檔案、block 與 before／after 是 STABLE_STEPS：2 → 1，ENTER_QUALITY = 2、EXIT_QUALITY = 1、Lab A/C、runner、scenario 與 schemas 都不變。依序執行 bash course.sh run --lab B --case trace-a-baseline、bash course.sh run --lab B --case trace-a-candidate --freeze、bash course.sh run --lab B --case trace-b；Windows 只替換為 course.cmd。Trace A 讀 quality_ready、MODE_CHANGE、attempt、retry、delivery、service 與 endpoint J；Trace B 保持 frozen policy，檢查較早進入是否仍能維持服務與代價。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B 每次完成後，依 result_path 找到 result.json，到 /course 逐次匯入，保留同一目錄的 endpoint-replay.json，並核對 scenario ID 與 run ID。先看 service，再看 packet 的 attempt、retry、delivery、expired，接著看 state 與 MODE_CHANGE，最後讀 endpoint J。MODE_CHANGE 的中文名稱是模式變更事件，來源為 result／replay artifact，作用是支持穩定門檻造成的進入時間判讀，單位依事件欄位定義。若 quality_ready 或 MODE_CHANGE 沒有預期差異，即使最後 J 不同，也不能直接歸因於 STABLE_STEPS。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本頁定位 Lab C 的單一變更面。檔案是 student_policy.py，marked block 是 lab-c-batch-urgent，唯一變數是 URGENT_MARGIN_S；BATCH_SIZE = 3、Lab A/B 區塊、runner、scenario 與 schemas 保持不變。URGENT_MARGIN_S 的中文名稱是急件提前量，來源為 student_policy.py 的 active block，作用是決定剩餘期限多早進入 SEND_URGENT 分支，單位為秒；判讀時先確認只改這一個門檻。下一個命令是 .venv/bin/python -m py_compile student_policy.py，通過後先執行 Lab C baseline。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的基準值是 /home/u24/lora-energy-lab/student_policy.py 之 lab-c-batch-urgent block 的 URGENT_MARGIN_S = 20；此頁建立 before 基準，下一頁再以 5 作為 after candidate。門檻 20 表示緊急封包剩餘期限小於等於 20 秒時，策略可以進入 SEND_URGENT；BATCH_SIZE = 3、Lab A/B、runner、scenario、schemas 與其他行固定不變。下一個命令是 bash course.sh run --lab C --case baseline。證據要讀 urgent-action timing、packet attempt／delivery／expired、deadline、service 與 endpoint J，再與 candidate 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candidate 只修改 /home/u24/lora-energy-lab/student_policy.py 的 lab-c-batch-urgent block：before 是 URGENT_MARGIN_S = 20，after 是 URGENT_MARGIN_S = 5。門檻變小代表等待到更接近期限才走 SEND_URGENT，可能錯過服務窗口或期限；BATCH_SIZE = 3、Lab A/B 區塊、runner、scenario、schemas 與其他行保持不變。下一個命令是 bash course.sh run --lab C --case candidate。證據要讀 urgent-action timing、wake／PROCESS／TX／RX、attempt、delivery、expired、deadline、service 與 endpoint J；較低 J 不能掩蓋服務失敗。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revision 仍只修改 /home/u24/lora-energy-lab/student_policy.py 的 lab-c-batch-urgent block：before 是 candidate 的 URGENT_MARGIN_S = 5，after 是 revision 的 URGENT_MARGIN_S = 30。門檻變大代表較早進入 SEND_URGENT，可能恢復服務，也可能增加 wake、PROCESS、TX 或 RX 能量；BATCH_SIZE = 3、Lab A/B、runner、scenario、schemas 與其他行固定不變。下一個命令是 bash course.sh run --lab C --case revision --freeze。證據要讀 urgent timing、delivery、deadline、service 與 endpoint J，並把 freeze 身份帶入 surprise。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本頁沿著 Lab C 的因果鏈朗讀：URGENT_MARGIN_S 的門檻改變 SEND_URGENT 時機，進而影響 wake、TX、delivery、deadline、service 與 endpoint J。20 秒是 baseline，5 秒讓策略更晚急送，30 秒讓策略更早急送；三者都在 student_policy.py 的 lab-c-batch-urgent block 中比較，BATCH_SIZE = 3、runner、scenario、schemas 與其他區塊固定。deadline_pass 的中文名稱是期限是否通過，來源為 result 的 service summary，作用是確認必要封包是否在期限內完成，單位為布林值；判讀時先看期限與服務，較低 J 但服務失敗不算改善。20 與 30 若無差異，也要保留為本案例的 null contrast。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固定四次執行與策略 lineage。先以 URGENT_MARGIN_S = 20 執行 bash course.sh run --lab C --case baseline，再改為 5 執行 candidate，接著改為 30 執行 bash course.sh run --lab C --case revision --freeze，最後保持 frozen 30 執行 bash course.sh run --lab C --case surprise；Windows 只替換為 course.cmd。每次保存 stdout 的 result_path，並按 service、packet、state、endpoint J 讀取。freeze 的中文名稱是策略凍結，來源為 revision 的執行選項，作用是保存 surprise 使用的策略身份，單位為狀態；判讀時 freeze 缺失或身份不一致就停止 withheld 案例，不重新修改策略。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每次完成後，依 result_path 找到該次 result.json，在 /course 匯入並保留同一目錄的 endpoint-replay.json，再核對 scenario ID 與 run ID。先確認 deadline 與 service，再看封包的送達、重試與逾期，接著讀急件動作時間和 wake／PROCESS／TX／RX 狀態，最後讀 endpoint J。deadline_pass 的中文名稱是期限是否通過，來源為 result／replay artifact 的 service 判定，作用是支持本次門檻機制判讀，單位為布林值；判讀時若 20 與 30 結果相同，保留此案例無差異，不補造改善。若預期中間事件沒有出現，最終 J 的差異也不能直接歸因於門檻修改。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9.xml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0.xml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1.xml" /></Relationships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2.xml" /></Relationships>
</file>

<file path=ppt/slides/_rels/slide4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3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有限電池 × 變動服務窗口</a:t>
            </a:r>
          </a:p>
        </p:txBody>
      </p:sp>
      <p:sp>
        <p:nvSpPr>
          <p:cNvPr id="3" name="Finite battery endpoint"/>
          <p:cNvSpPr/>
          <p:nvPr/>
        </p:nvSpPr>
        <p:spPr>
          <a:xfrm>
            <a:off x="841248" y="1261872"/>
            <a:ext cx="2514600" cy="261518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有限電池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</a:t>
            </a:r>
          </a:p>
        </p:txBody>
      </p:sp>
      <p:sp>
        <p:nvSpPr>
          <p:cNvPr id="4" name="Battery cell 1"/>
          <p:cNvSpPr/>
          <p:nvPr/>
        </p:nvSpPr>
        <p:spPr>
          <a:xfrm>
            <a:off x="1225296" y="3246120"/>
            <a:ext cx="402336" cy="201168"/>
          </a:xfrm>
          <a:prstGeom prst="rect">
            <a:avLst/>
          </a:prstGeom>
          <a:solidFill>
            <a:srgbClr val="99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ttery cell 2"/>
          <p:cNvSpPr/>
          <p:nvPr/>
        </p:nvSpPr>
        <p:spPr>
          <a:xfrm>
            <a:off x="1773936" y="3246120"/>
            <a:ext cx="402336" cy="201168"/>
          </a:xfrm>
          <a:prstGeom prst="rect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attery cell 3"/>
          <p:cNvSpPr/>
          <p:nvPr/>
        </p:nvSpPr>
        <p:spPr>
          <a:xfrm>
            <a:off x="2322576" y="3246120"/>
            <a:ext cx="402336" cy="201168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cket label"/>
          <p:cNvSpPr txBox="1"/>
          <p:nvPr/>
        </p:nvSpPr>
        <p:spPr>
          <a:xfrm>
            <a:off x="3685032" y="1481328"/>
            <a:ext cx="1554480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資料封包</a:t>
            </a:r>
          </a:p>
        </p:txBody>
      </p:sp>
      <p:sp>
        <p:nvSpPr>
          <p:cNvPr id="8" name="Oval 7"/>
          <p:cNvSpPr/>
          <p:nvPr/>
        </p:nvSpPr>
        <p:spPr>
          <a:xfrm>
            <a:off x="3767328" y="2130552"/>
            <a:ext cx="292608" cy="292608"/>
          </a:xfrm>
          <a:prstGeom prst="ellipse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42816" y="2130552"/>
            <a:ext cx="292608" cy="292608"/>
          </a:xfrm>
          <a:prstGeom prst="ellipse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18304" y="2130552"/>
            <a:ext cx="292608" cy="292608"/>
          </a:xfrm>
          <a:prstGeom prst="ellipse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5074920" y="2039112"/>
            <a:ext cx="457200" cy="457200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cket path"/>
          <p:cNvSpPr txBox="1"/>
          <p:nvPr/>
        </p:nvSpPr>
        <p:spPr>
          <a:xfrm>
            <a:off x="3611880" y="2688336"/>
            <a:ext cx="1938528" cy="53035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產生 → 佇列 → 送出</a:t>
            </a:r>
          </a:p>
        </p:txBody>
      </p:sp>
      <p:sp>
        <p:nvSpPr>
          <p:cNvPr id="13" name="Changing service window"/>
          <p:cNvSpPr/>
          <p:nvPr/>
        </p:nvSpPr>
        <p:spPr>
          <a:xfrm>
            <a:off x="5870448" y="1225296"/>
            <a:ext cx="5321808" cy="26883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indow headline"/>
          <p:cNvSpPr txBox="1"/>
          <p:nvPr/>
        </p:nvSpPr>
        <p:spPr>
          <a:xfrm>
            <a:off x="6199632" y="1444752"/>
            <a:ext cx="466344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會開、會關、品質會變</a:t>
            </a:r>
          </a:p>
        </p:txBody>
      </p:sp>
      <p:sp>
        <p:nvSpPr>
          <p:cNvPr id="15" name="Window segment 1"/>
          <p:cNvSpPr/>
          <p:nvPr/>
        </p:nvSpPr>
        <p:spPr>
          <a:xfrm>
            <a:off x="6291072" y="2304288"/>
            <a:ext cx="1243584" cy="658368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開啟</a:t>
            </a:r>
          </a:p>
        </p:txBody>
      </p:sp>
      <p:sp>
        <p:nvSpPr>
          <p:cNvPr id="16" name="Window segment 2"/>
          <p:cNvSpPr/>
          <p:nvPr/>
        </p:nvSpPr>
        <p:spPr>
          <a:xfrm>
            <a:off x="7598664" y="2304288"/>
            <a:ext cx="950976" cy="65836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關閉</a:t>
            </a:r>
          </a:p>
        </p:txBody>
      </p:sp>
      <p:sp>
        <p:nvSpPr>
          <p:cNvPr id="17" name="Window segment 3"/>
          <p:cNvSpPr/>
          <p:nvPr/>
        </p:nvSpPr>
        <p:spPr>
          <a:xfrm>
            <a:off x="8613648" y="2304288"/>
            <a:ext cx="1353312" cy="658368"/>
          </a:xfrm>
          <a:prstGeom prst="rect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開啟</a:t>
            </a:r>
          </a:p>
        </p:txBody>
      </p:sp>
      <p:sp>
        <p:nvSpPr>
          <p:cNvPr id="18" name="Window segment 4"/>
          <p:cNvSpPr/>
          <p:nvPr/>
        </p:nvSpPr>
        <p:spPr>
          <a:xfrm>
            <a:off x="10030968" y="2304288"/>
            <a:ext cx="1060704" cy="658368"/>
          </a:xfrm>
          <a:prstGeom prst="rect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縮短</a:t>
            </a:r>
          </a:p>
        </p:txBody>
      </p:sp>
      <p:sp>
        <p:nvSpPr>
          <p:cNvPr id="19" name="Reading order"/>
          <p:cNvSpPr/>
          <p:nvPr/>
        </p:nvSpPr>
        <p:spPr>
          <a:xfrm>
            <a:off x="1143000" y="4169663"/>
            <a:ext cx="9784080" cy="53035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先看窗口，再看動作；最後讀服務與端點能量</a:t>
            </a:r>
          </a:p>
        </p:txBody>
      </p:sp>
      <p:sp>
        <p:nvSpPr>
          <p:cNvPr id="20" name="Field contract scenario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（情境定義）｜來源：course package｜作用：固定端點、窗口與資料規則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單位：identifier｜判讀：相同輸入可重跑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是什麼</a:t>
            </a:r>
          </a:p>
        </p:txBody>
      </p:sp>
      <p:sp>
        <p:nvSpPr>
          <p:cNvPr id="3" name="Simulator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把端點的一次選擇，放進可重複的封包與能量模擬</a:t>
            </a:r>
          </a:p>
        </p:txBody>
      </p:sp>
      <p:sp>
        <p:nvSpPr>
          <p:cNvPr id="4" name="Endpoint concept"/>
          <p:cNvSpPr/>
          <p:nvPr/>
        </p:nvSpPr>
        <p:spPr>
          <a:xfrm>
            <a:off x="841248" y="1664208"/>
            <a:ext cx="2468880" cy="217627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ndpoint heading"/>
          <p:cNvSpPr txBox="1"/>
          <p:nvPr/>
        </p:nvSpPr>
        <p:spPr>
          <a:xfrm>
            <a:off x="1042415" y="1920240"/>
            <a:ext cx="2066543" cy="4937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</a:t>
            </a:r>
          </a:p>
        </p:txBody>
      </p:sp>
      <p:sp>
        <p:nvSpPr>
          <p:cNvPr id="6" name="Endpoint body"/>
          <p:cNvSpPr txBox="1"/>
          <p:nvPr/>
        </p:nvSpPr>
        <p:spPr>
          <a:xfrm>
            <a:off x="1078992" y="2615184"/>
            <a:ext cx="1993392" cy="8961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感測器＋有限電池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產生資料、選擇動作</a:t>
            </a:r>
          </a:p>
        </p:txBody>
      </p:sp>
      <p:sp>
        <p:nvSpPr>
          <p:cNvPr id="7" name="Chevron 6"/>
          <p:cNvSpPr/>
          <p:nvPr/>
        </p:nvSpPr>
        <p:spPr>
          <a:xfrm>
            <a:off x="3493008" y="2468880"/>
            <a:ext cx="420624" cy="493776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cket concept"/>
          <p:cNvSpPr/>
          <p:nvPr/>
        </p:nvSpPr>
        <p:spPr>
          <a:xfrm>
            <a:off x="4041648" y="1664208"/>
            <a:ext cx="3456432" cy="217627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et heading"/>
          <p:cNvSpPr txBox="1"/>
          <p:nvPr/>
        </p:nvSpPr>
        <p:spPr>
          <a:xfrm>
            <a:off x="4315968" y="1920240"/>
            <a:ext cx="2907792" cy="4937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資料封包</a:t>
            </a:r>
          </a:p>
        </p:txBody>
      </p:sp>
      <p:sp>
        <p:nvSpPr>
          <p:cNvPr id="10" name="Packet body"/>
          <p:cNvSpPr txBox="1"/>
          <p:nvPr/>
        </p:nvSpPr>
        <p:spPr>
          <a:xfrm>
            <a:off x="4352544" y="2615184"/>
            <a:ext cx="2834640" cy="8961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一份待傳資料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產生 → 佇列 → 嘗試傳送</a:t>
            </a:r>
          </a:p>
        </p:txBody>
      </p:sp>
      <p:sp>
        <p:nvSpPr>
          <p:cNvPr id="11" name="Chevron 10"/>
          <p:cNvSpPr/>
          <p:nvPr/>
        </p:nvSpPr>
        <p:spPr>
          <a:xfrm>
            <a:off x="7699248" y="2468880"/>
            <a:ext cx="420624" cy="493776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ateway concept"/>
          <p:cNvSpPr/>
          <p:nvPr/>
        </p:nvSpPr>
        <p:spPr>
          <a:xfrm>
            <a:off x="8247888" y="1664208"/>
            <a:ext cx="3054096" cy="217627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ateway heading"/>
          <p:cNvSpPr txBox="1"/>
          <p:nvPr/>
        </p:nvSpPr>
        <p:spPr>
          <a:xfrm>
            <a:off x="8522208" y="1920240"/>
            <a:ext cx="2505456" cy="4937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閘道</a:t>
            </a:r>
          </a:p>
        </p:txBody>
      </p:sp>
      <p:sp>
        <p:nvSpPr>
          <p:cNvPr id="14" name="Gateway body"/>
          <p:cNvSpPr txBox="1"/>
          <p:nvPr/>
        </p:nvSpPr>
        <p:spPr>
          <a:xfrm>
            <a:off x="8540496" y="2615184"/>
            <a:ext cx="2468880" cy="8961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接收資料封包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留下送達、碰撞與重傳事件</a:t>
            </a:r>
          </a:p>
        </p:txBody>
      </p:sp>
      <p:sp>
        <p:nvSpPr>
          <p:cNvPr id="15" name="Simulator question"/>
          <p:cNvSpPr/>
          <p:nvPr/>
        </p:nvSpPr>
        <p:spPr>
          <a:xfrm>
            <a:off x="1133856" y="4169663"/>
            <a:ext cx="9784080" cy="53035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它回答：同一份工作，在等待、休眠或傳送的不同決策下，服務與端點能量（J）如何一起變？</a:t>
            </a:r>
          </a:p>
        </p:txBody>
      </p:sp>
      <p:sp>
        <p:nvSpPr>
          <p:cNvPr id="16" name="Field contract simulator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simulator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（模擬器）｜來源：course package 參照 LoRaEnergySim｜作用：在固定時鐘重播端點、封包與能量假設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單位：一次固定執行｜判讀：產生可比較證據，不是實測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原始上游套件已做什麼</a:t>
            </a:r>
          </a:p>
        </p:txBody>
      </p:sp>
      <p:sp>
        <p:nvSpPr>
          <p:cNvPr id="3" name="Upstream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上游研究模型提供「端點狀態 → 封包事件 → 能量」的可重用能力</a:t>
            </a:r>
          </a:p>
        </p:txBody>
      </p:sp>
      <p:sp>
        <p:nvSpPr>
          <p:cNvPr id="4" name="Upstream capabilities"/>
          <p:cNvSpPr/>
          <p:nvPr/>
        </p:nvSpPr>
        <p:spPr>
          <a:xfrm>
            <a:off x="841248" y="1664208"/>
            <a:ext cx="5084064" cy="25603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stream heading"/>
          <p:cNvSpPr txBox="1"/>
          <p:nvPr/>
        </p:nvSpPr>
        <p:spPr>
          <a:xfrm>
            <a:off x="1115568" y="1901952"/>
            <a:ext cx="453542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上游已有的研究能力</a:t>
            </a:r>
          </a:p>
        </p:txBody>
      </p:sp>
      <p:sp>
        <p:nvSpPr>
          <p:cNvPr id="6" name="Upstream states"/>
          <p:cNvSpPr/>
          <p:nvPr/>
        </p:nvSpPr>
        <p:spPr>
          <a:xfrm>
            <a:off x="1207008" y="2596896"/>
            <a:ext cx="4334256" cy="5486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休眠／處理／發射／接收狀態</a:t>
            </a:r>
          </a:p>
        </p:txBody>
      </p:sp>
      <p:sp>
        <p:nvSpPr>
          <p:cNvPr id="7" name="Upstream packet energy"/>
          <p:cNvSpPr/>
          <p:nvPr/>
        </p:nvSpPr>
        <p:spPr>
          <a:xfrm>
            <a:off x="1207008" y="3310128"/>
            <a:ext cx="4334256" cy="5486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封包、碰撞、重傳、端點能量</a:t>
            </a:r>
          </a:p>
        </p:txBody>
      </p:sp>
      <p:sp>
        <p:nvSpPr>
          <p:cNvPr id="8" name="Course gap"/>
          <p:cNvSpPr/>
          <p:nvPr/>
        </p:nvSpPr>
        <p:spPr>
          <a:xfrm>
            <a:off x="6263640" y="1664208"/>
            <a:ext cx="5084064" cy="256032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urse gap heading"/>
          <p:cNvSpPr txBox="1"/>
          <p:nvPr/>
        </p:nvSpPr>
        <p:spPr>
          <a:xfrm>
            <a:off x="6537960" y="1901952"/>
            <a:ext cx="453542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上游沒有替本課固定的部分</a:t>
            </a:r>
          </a:p>
        </p:txBody>
      </p:sp>
      <p:sp>
        <p:nvSpPr>
          <p:cNvPr id="10" name="Missing scenario"/>
          <p:cNvSpPr/>
          <p:nvPr/>
        </p:nvSpPr>
        <p:spPr>
          <a:xfrm>
            <a:off x="6629400" y="2596896"/>
            <a:ext cx="4334256" cy="5486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固定情境、LEO 服務窗口、案例順序</a:t>
            </a:r>
          </a:p>
        </p:txBody>
      </p:sp>
      <p:sp>
        <p:nvSpPr>
          <p:cNvPr id="11" name="Missing course seam"/>
          <p:cNvSpPr/>
          <p:nvPr/>
        </p:nvSpPr>
        <p:spPr>
          <a:xfrm>
            <a:off x="6629400" y="3310128"/>
            <a:ext cx="4334256" cy="5486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受控策略、結構化匯入、Leo 重播</a:t>
            </a:r>
          </a:p>
        </p:txBody>
      </p:sp>
      <p:sp>
        <p:nvSpPr>
          <p:cNvPr id="12" name="Upstream boundary"/>
          <p:cNvSpPr txBox="1"/>
          <p:nvPr/>
        </p:nvSpPr>
        <p:spPr>
          <a:xfrm>
            <a:off x="1005840" y="4425696"/>
            <a:ext cx="10168128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因此：上游能力是參照；課程流程、案例與證據邊界由本課封裝。</a:t>
            </a:r>
          </a:p>
        </p:txBody>
      </p:sp>
      <p:sp>
        <p:nvSpPr>
          <p:cNvPr id="13" name="Field contract upstream_model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upstream_model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（上游模型能力）｜來源：GillesC/LoRaEnergySim@f854462c｜作用：提供端點狀態、封包與能量概念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單位：能力集合｜判讀：僅是上游能力，不是本課 runner 執行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課程封裝補了什麼</a:t>
            </a:r>
          </a:p>
        </p:txBody>
      </p:sp>
      <p:sp>
        <p:nvSpPr>
          <p:cNvPr id="3" name="Wrapper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把研究模型包成一條可教、可驗、可匯入的固定路徑</a:t>
            </a:r>
          </a:p>
        </p:txBody>
      </p:sp>
      <p:sp>
        <p:nvSpPr>
          <p:cNvPr id="4" name="Course wrapper step 1"/>
          <p:cNvSpPr/>
          <p:nvPr/>
        </p:nvSpPr>
        <p:spPr>
          <a:xfrm>
            <a:off x="841248" y="1682496"/>
            <a:ext cx="2249424" cy="239572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Wrapper heading 1"/>
          <p:cNvSpPr txBox="1"/>
          <p:nvPr/>
        </p:nvSpPr>
        <p:spPr>
          <a:xfrm>
            <a:off x="987552" y="1865376"/>
            <a:ext cx="195681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固定情境</a:t>
            </a:r>
          </a:p>
        </p:txBody>
      </p:sp>
      <p:sp>
        <p:nvSpPr>
          <p:cNvPr id="6" name="Wrapper body 1"/>
          <p:cNvSpPr txBox="1"/>
          <p:nvPr/>
        </p:nvSpPr>
        <p:spPr>
          <a:xfrm>
            <a:off x="1005840" y="2578608"/>
            <a:ext cx="1920240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scenario_id</a:t>
            </a:r>
          </a:p>
        </p:txBody>
      </p:sp>
      <p:sp>
        <p:nvSpPr>
          <p:cNvPr id="7" name="Chevron 6"/>
          <p:cNvSpPr/>
          <p:nvPr/>
        </p:nvSpPr>
        <p:spPr>
          <a:xfrm>
            <a:off x="3200400" y="2615184"/>
            <a:ext cx="292608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urse wrapper step 2"/>
          <p:cNvSpPr/>
          <p:nvPr/>
        </p:nvSpPr>
        <p:spPr>
          <a:xfrm>
            <a:off x="3602736" y="1682496"/>
            <a:ext cx="2249424" cy="23957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rapper heading 2"/>
          <p:cNvSpPr txBox="1"/>
          <p:nvPr/>
        </p:nvSpPr>
        <p:spPr>
          <a:xfrm>
            <a:off x="3749039" y="1865376"/>
            <a:ext cx="195681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受控決策</a:t>
            </a:r>
          </a:p>
        </p:txBody>
      </p:sp>
      <p:sp>
        <p:nvSpPr>
          <p:cNvPr id="10" name="Wrapper body 2"/>
          <p:cNvSpPr txBox="1"/>
          <p:nvPr/>
        </p:nvSpPr>
        <p:spPr>
          <a:xfrm>
            <a:off x="3767328" y="2578608"/>
            <a:ext cx="1920240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課程策略插槽；只改 marked block</a:t>
            </a:r>
          </a:p>
        </p:txBody>
      </p:sp>
      <p:sp>
        <p:nvSpPr>
          <p:cNvPr id="11" name="Chevron 10"/>
          <p:cNvSpPr/>
          <p:nvPr/>
        </p:nvSpPr>
        <p:spPr>
          <a:xfrm>
            <a:off x="5961888" y="2615184"/>
            <a:ext cx="292608" cy="420624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urse wrapper step 3"/>
          <p:cNvSpPr/>
          <p:nvPr/>
        </p:nvSpPr>
        <p:spPr>
          <a:xfrm>
            <a:off x="6364224" y="1682496"/>
            <a:ext cx="2249424" cy="239572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rapper heading 3"/>
          <p:cNvSpPr txBox="1"/>
          <p:nvPr/>
        </p:nvSpPr>
        <p:spPr>
          <a:xfrm>
            <a:off x="6510528" y="1865376"/>
            <a:ext cx="195681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本機執行</a:t>
            </a:r>
          </a:p>
        </p:txBody>
      </p:sp>
      <p:sp>
        <p:nvSpPr>
          <p:cNvPr id="14" name="Wrapper body 3"/>
          <p:cNvSpPr txBox="1"/>
          <p:nvPr/>
        </p:nvSpPr>
        <p:spPr>
          <a:xfrm>
            <a:off x="6528816" y="2578608"/>
            <a:ext cx="1920240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baseline → candidate → withheld</a:t>
            </a:r>
          </a:p>
        </p:txBody>
      </p:sp>
      <p:sp>
        <p:nvSpPr>
          <p:cNvPr id="15" name="Chevron 14"/>
          <p:cNvSpPr/>
          <p:nvPr/>
        </p:nvSpPr>
        <p:spPr>
          <a:xfrm>
            <a:off x="8723376" y="2615184"/>
            <a:ext cx="292608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urse wrapper step 4"/>
          <p:cNvSpPr/>
          <p:nvPr/>
        </p:nvSpPr>
        <p:spPr>
          <a:xfrm>
            <a:off x="9125712" y="1682496"/>
            <a:ext cx="2249424" cy="239572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Wrapper heading 4"/>
          <p:cNvSpPr txBox="1"/>
          <p:nvPr/>
        </p:nvSpPr>
        <p:spPr>
          <a:xfrm>
            <a:off x="9272016" y="1865376"/>
            <a:ext cx="195681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匯入證據</a:t>
            </a:r>
          </a:p>
        </p:txBody>
      </p:sp>
      <p:sp>
        <p:nvSpPr>
          <p:cNvPr id="18" name="Wrapper body 4"/>
          <p:cNvSpPr txBox="1"/>
          <p:nvPr/>
        </p:nvSpPr>
        <p:spPr>
          <a:xfrm>
            <a:off x="9290304" y="2578608"/>
            <a:ext cx="1920240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result.json（結果）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replay（端點重播）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Leo 網站匯入／Workbook</a:t>
            </a:r>
          </a:p>
        </p:txBody>
      </p:sp>
      <p:sp>
        <p:nvSpPr>
          <p:cNvPr id="19" name="Wrapper boundary"/>
          <p:cNvSpPr/>
          <p:nvPr/>
        </p:nvSpPr>
        <p:spPr>
          <a:xfrm>
            <a:off x="1097280" y="4279392"/>
            <a:ext cx="9985248" cy="56692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 是課程策略插槽；runner 不直接執行上游 LoRaEnergySim，上游僅能力參照。</a:t>
            </a:r>
          </a:p>
        </p:txBody>
      </p:sp>
      <p:sp>
        <p:nvSpPr>
          <p:cNvPr id="20" name="Field contract runner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（課程執行器）｜來源：course package｜作用：讀固定 scenario、載入 bounded policy、輸出 result／replay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單位：run artifact｜判讀：把一次修改連到可重播證據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為什麼競賽要用它</a:t>
            </a:r>
          </a:p>
        </p:txBody>
      </p:sp>
      <p:sp>
        <p:nvSpPr>
          <p:cNvPr id="3" name="Competition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先得到可重複的因果證據，再回到 LEO 網站解讀</a:t>
            </a:r>
          </a:p>
        </p:txBody>
      </p:sp>
      <p:sp>
        <p:nvSpPr>
          <p:cNvPr id="4" name="Competition reason 1"/>
          <p:cNvSpPr/>
          <p:nvPr/>
        </p:nvSpPr>
        <p:spPr>
          <a:xfrm>
            <a:off x="841248" y="1664208"/>
            <a:ext cx="3236976" cy="252374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etition heading 1"/>
          <p:cNvSpPr txBox="1"/>
          <p:nvPr/>
        </p:nvSpPr>
        <p:spPr>
          <a:xfrm>
            <a:off x="1005840" y="1901952"/>
            <a:ext cx="290779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可重複</a:t>
            </a:r>
          </a:p>
        </p:txBody>
      </p:sp>
      <p:sp>
        <p:nvSpPr>
          <p:cNvPr id="6" name="Competition body 1"/>
          <p:cNvSpPr txBox="1"/>
          <p:nvPr/>
        </p:nvSpPr>
        <p:spPr>
          <a:xfrm>
            <a:off x="1060704" y="2633472"/>
            <a:ext cx="2798064" cy="106070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同一情境、相同策略檔與固定種子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重跑同一條事件路徑</a:t>
            </a:r>
          </a:p>
        </p:txBody>
      </p:sp>
      <p:sp>
        <p:nvSpPr>
          <p:cNvPr id="7" name="Competition reason 2"/>
          <p:cNvSpPr/>
          <p:nvPr/>
        </p:nvSpPr>
        <p:spPr>
          <a:xfrm>
            <a:off x="4361688" y="1664208"/>
            <a:ext cx="3236976" cy="252374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etition heading 2"/>
          <p:cNvSpPr txBox="1"/>
          <p:nvPr/>
        </p:nvSpPr>
        <p:spPr>
          <a:xfrm>
            <a:off x="4526279" y="1901952"/>
            <a:ext cx="290779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可檢驗</a:t>
            </a:r>
          </a:p>
        </p:txBody>
      </p:sp>
      <p:sp>
        <p:nvSpPr>
          <p:cNvPr id="9" name="Competition body 2"/>
          <p:cNvSpPr txBox="1"/>
          <p:nvPr/>
        </p:nvSpPr>
        <p:spPr>
          <a:xfrm>
            <a:off x="4581144" y="2633472"/>
            <a:ext cx="2798064" cy="106070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改一個受控區塊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檢查封包／服務／狀態／J 是否改變</a:t>
            </a:r>
          </a:p>
        </p:txBody>
      </p:sp>
      <p:sp>
        <p:nvSpPr>
          <p:cNvPr id="10" name="Competition reason 3"/>
          <p:cNvSpPr/>
          <p:nvPr/>
        </p:nvSpPr>
        <p:spPr>
          <a:xfrm>
            <a:off x="7882127" y="1664208"/>
            <a:ext cx="3236976" cy="252374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mpetition heading 3"/>
          <p:cNvSpPr txBox="1"/>
          <p:nvPr/>
        </p:nvSpPr>
        <p:spPr>
          <a:xfrm>
            <a:off x="8046719" y="1901952"/>
            <a:ext cx="290779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可轉移</a:t>
            </a:r>
          </a:p>
        </p:txBody>
      </p:sp>
      <p:sp>
        <p:nvSpPr>
          <p:cNvPr id="12" name="Competition body 3"/>
          <p:cNvSpPr txBox="1"/>
          <p:nvPr/>
        </p:nvSpPr>
        <p:spPr>
          <a:xfrm>
            <a:off x="8101583" y="2633472"/>
            <a:ext cx="2798064" cy="106070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智慧農業、暖通空調、物流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重訂窗口、期限與能量邊界</a:t>
            </a:r>
          </a:p>
        </p:txBody>
      </p:sp>
      <p:sp>
        <p:nvSpPr>
          <p:cNvPr id="13" name="Competition claim boundary"/>
          <p:cNvSpPr/>
          <p:nvPr/>
        </p:nvSpPr>
        <p:spPr>
          <a:xfrm>
            <a:off x="1005840" y="4407408"/>
            <a:ext cx="10168128" cy="42062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本套件不是即時資料、典範系統指標或整體 LEO 能量；它先建立可反駁的端點因果證據。</a:t>
            </a:r>
          </a:p>
        </p:txBody>
      </p:sp>
      <p:sp>
        <p:nvSpPr>
          <p:cNvPr id="14" name="Field contract eviden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（證據）｜來源：result.json + endpoint replay｜作用：保存 policy → event → service／J 的路徑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單位：record｜判讀：支持 bounded comparison，不擴大 claim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只有 run case 才產生結果檔</a:t>
            </a:r>
          </a:p>
        </p:txBody>
      </p:sp>
      <p:sp>
        <p:nvSpPr>
          <p:cNvPr id="3" name="Artifact gate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setup／verify 只檢查環境；run case 才會寫入一次執行的產物</a:t>
            </a:r>
          </a:p>
        </p:txBody>
      </p:sp>
      <p:sp>
        <p:nvSpPr>
          <p:cNvPr id="4" name="Artifact gate step 1"/>
          <p:cNvSpPr/>
          <p:nvPr/>
        </p:nvSpPr>
        <p:spPr>
          <a:xfrm>
            <a:off x="841248" y="1664208"/>
            <a:ext cx="2788920" cy="257860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57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tifact gate heading 1"/>
          <p:cNvSpPr txBox="1"/>
          <p:nvPr/>
        </p:nvSpPr>
        <p:spPr>
          <a:xfrm>
            <a:off x="987552" y="1901952"/>
            <a:ext cx="2496312" cy="6217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setup／verify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環境檢查</a:t>
            </a:r>
          </a:p>
        </p:txBody>
      </p:sp>
      <p:sp>
        <p:nvSpPr>
          <p:cNvPr id="6" name="Artifact gate body 1"/>
          <p:cNvSpPr txBox="1"/>
          <p:nvPr/>
        </p:nvSpPr>
        <p:spPr>
          <a:xfrm>
            <a:off x="1042416" y="2761488"/>
            <a:ext cx="2386584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套件 package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情境 scenario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策略 policy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不產生此次 run 產物</a:t>
            </a:r>
          </a:p>
        </p:txBody>
      </p:sp>
      <p:sp>
        <p:nvSpPr>
          <p:cNvPr id="7" name="Chevron 6"/>
          <p:cNvSpPr/>
          <p:nvPr/>
        </p:nvSpPr>
        <p:spPr>
          <a:xfrm>
            <a:off x="3730752" y="2670048"/>
            <a:ext cx="310896" cy="438912"/>
          </a:xfrm>
          <a:prstGeom prst="chevron">
            <a:avLst/>
          </a:prstGeom>
          <a:solidFill>
            <a:srgbClr val="657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tifact gate step 2"/>
          <p:cNvSpPr/>
          <p:nvPr/>
        </p:nvSpPr>
        <p:spPr>
          <a:xfrm>
            <a:off x="3995928" y="1664208"/>
            <a:ext cx="2788920" cy="257860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tifact gate heading 2"/>
          <p:cNvSpPr txBox="1"/>
          <p:nvPr/>
        </p:nvSpPr>
        <p:spPr>
          <a:xfrm>
            <a:off x="4142232" y="1901952"/>
            <a:ext cx="2496312" cy="6217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run case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執行案例</a:t>
            </a:r>
          </a:p>
        </p:txBody>
      </p:sp>
      <p:sp>
        <p:nvSpPr>
          <p:cNvPr id="10" name="Artifact gate body 2"/>
          <p:cNvSpPr txBox="1"/>
          <p:nvPr/>
        </p:nvSpPr>
        <p:spPr>
          <a:xfrm>
            <a:off x="4197096" y="2761488"/>
            <a:ext cx="2386584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本機 runner 依固定輸入模擬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唯一產生結果的動作</a:t>
            </a:r>
          </a:p>
        </p:txBody>
      </p:sp>
      <p:sp>
        <p:nvSpPr>
          <p:cNvPr id="11" name="Chevron 10"/>
          <p:cNvSpPr/>
          <p:nvPr/>
        </p:nvSpPr>
        <p:spPr>
          <a:xfrm>
            <a:off x="6885432" y="2670048"/>
            <a:ext cx="310896" cy="438912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tifact gate step 3"/>
          <p:cNvSpPr/>
          <p:nvPr/>
        </p:nvSpPr>
        <p:spPr>
          <a:xfrm>
            <a:off x="7150608" y="1664208"/>
            <a:ext cx="2788920" cy="257860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tifact gate heading 3"/>
          <p:cNvSpPr txBox="1"/>
          <p:nvPr/>
        </p:nvSpPr>
        <p:spPr>
          <a:xfrm>
            <a:off x="7296912" y="1901952"/>
            <a:ext cx="2496312" cy="6217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artifacts/&lt;run_id&gt;/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執行產物目錄</a:t>
            </a:r>
          </a:p>
        </p:txBody>
      </p:sp>
      <p:sp>
        <p:nvSpPr>
          <p:cNvPr id="14" name="Artifact gate body 3"/>
          <p:cNvSpPr txBox="1"/>
          <p:nvPr/>
        </p:nvSpPr>
        <p:spPr>
          <a:xfrm>
            <a:off x="7351776" y="2761488"/>
            <a:ext cx="2386584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result.json（結果）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endpoint-replay.json（端點重播）</a:t>
            </a:r>
          </a:p>
        </p:txBody>
      </p:sp>
      <p:sp>
        <p:nvSpPr>
          <p:cNvPr id="15" name="Artifact gate rule"/>
          <p:cNvSpPr/>
          <p:nvPr/>
        </p:nvSpPr>
        <p:spPr>
          <a:xfrm>
            <a:off x="950976" y="4443984"/>
            <a:ext cx="10241280" cy="43891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只有 run case 會產生 artifacts/&lt;run_id&gt;/result.json 與 endpoint-replay.json；setup／verify 不算。</a:t>
            </a:r>
          </a:p>
        </p:txBody>
      </p:sp>
      <p:sp>
        <p:nvSpPr>
          <p:cNvPr id="16" name="Field contract run artifact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 artifact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（執行產物）｜來源：本機 runner｜作用：保存一次執行的 result 與 endpoint replay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單位：同一 run 目錄｜判讀：只有 run 產生；setup／verify 不算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課程頁 /course 只匯入結果檔</a:t>
            </a:r>
          </a:p>
        </p:txBody>
      </p:sp>
      <p:sp>
        <p:nvSpPr>
          <p:cNvPr id="3" name="Course import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本機 runner 做模擬；網站做驗證、具象化、重播與工作簿</a:t>
            </a:r>
          </a:p>
        </p:txBody>
      </p:sp>
      <p:sp>
        <p:nvSpPr>
          <p:cNvPr id="4" name="Local runner boundary"/>
          <p:cNvSpPr/>
          <p:nvPr/>
        </p:nvSpPr>
        <p:spPr>
          <a:xfrm>
            <a:off x="841248" y="1664208"/>
            <a:ext cx="3657600" cy="257860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cal runner heading"/>
          <p:cNvSpPr txBox="1"/>
          <p:nvPr/>
        </p:nvSpPr>
        <p:spPr>
          <a:xfrm>
            <a:off x="1078992" y="1883664"/>
            <a:ext cx="318211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本機 runner（模擬）</a:t>
            </a:r>
          </a:p>
        </p:txBody>
      </p:sp>
      <p:sp>
        <p:nvSpPr>
          <p:cNvPr id="6" name="Local runner body"/>
          <p:cNvSpPr txBox="1"/>
          <p:nvPr/>
        </p:nvSpPr>
        <p:spPr>
          <a:xfrm>
            <a:off x="1115568" y="2578608"/>
            <a:ext cx="3108960" cy="11887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 終端機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WSL 也使用 Linux 指令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student_policy.py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（課程策略插槽）</a:t>
            </a:r>
          </a:p>
        </p:txBody>
      </p:sp>
      <p:sp>
        <p:nvSpPr>
          <p:cNvPr id="7" name="Chevron 6"/>
          <p:cNvSpPr/>
          <p:nvPr/>
        </p:nvSpPr>
        <p:spPr>
          <a:xfrm>
            <a:off x="4617720" y="2633472"/>
            <a:ext cx="420624" cy="51206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urse import boundary"/>
          <p:cNvSpPr/>
          <p:nvPr/>
        </p:nvSpPr>
        <p:spPr>
          <a:xfrm>
            <a:off x="5212080" y="1664208"/>
            <a:ext cx="5980176" cy="257860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urse import heading"/>
          <p:cNvSpPr txBox="1"/>
          <p:nvPr/>
        </p:nvSpPr>
        <p:spPr>
          <a:xfrm>
            <a:off x="5468112" y="1883664"/>
            <a:ext cx="546811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/course（課程頁）只選 result.json</a:t>
            </a:r>
          </a:p>
        </p:txBody>
      </p:sp>
      <p:sp>
        <p:nvSpPr>
          <p:cNvPr id="10" name="Course validation"/>
          <p:cNvSpPr/>
          <p:nvPr/>
        </p:nvSpPr>
        <p:spPr>
          <a:xfrm>
            <a:off x="5577840" y="2578608"/>
            <a:ext cx="1609344" cy="53035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驗證</a:t>
            </a:r>
          </a:p>
        </p:txBody>
      </p:sp>
      <p:sp>
        <p:nvSpPr>
          <p:cNvPr id="11" name="Course materialization"/>
          <p:cNvSpPr/>
          <p:nvPr/>
        </p:nvSpPr>
        <p:spPr>
          <a:xfrm>
            <a:off x="7370064" y="2578608"/>
            <a:ext cx="1609344" cy="53035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具象化</a:t>
            </a:r>
          </a:p>
        </p:txBody>
      </p:sp>
      <p:sp>
        <p:nvSpPr>
          <p:cNvPr id="12" name="Course replay workbook"/>
          <p:cNvSpPr/>
          <p:nvPr/>
        </p:nvSpPr>
        <p:spPr>
          <a:xfrm>
            <a:off x="9162288" y="2578608"/>
            <a:ext cx="1609344" cy="53035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重播／工作簿</a:t>
            </a:r>
          </a:p>
        </p:txBody>
      </p:sp>
      <p:sp>
        <p:nvSpPr>
          <p:cNvPr id="13" name="Course pairing rule"/>
          <p:cNvSpPr txBox="1"/>
          <p:nvPr/>
        </p:nvSpPr>
        <p:spPr>
          <a:xfrm>
            <a:off x="5541264" y="3364992"/>
            <a:ext cx="5321808" cy="56692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 留在同一目錄配對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不選、不上傳 student_policy.py</a:t>
            </a:r>
          </a:p>
        </p:txBody>
      </p:sp>
      <p:sp>
        <p:nvSpPr>
          <p:cNvPr id="14" name="Course upload boundary"/>
          <p:cNvSpPr/>
          <p:nvPr/>
        </p:nvSpPr>
        <p:spPr>
          <a:xfrm>
            <a:off x="969264" y="4443984"/>
            <a:ext cx="10222992" cy="43891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policy 原始檔只在本機 runner 讀取；/course 接收 result.json，不接收 Python。</a:t>
            </a:r>
          </a:p>
        </p:txBody>
      </p:sp>
      <p:sp>
        <p:nvSpPr>
          <p:cNvPr id="15" name="Field contract course import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 import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（課程匯入）｜來源：/course 控制項｜作用：驗證 result.json，建立重播與工作簿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單位：JSON pair｜判讀：選結果檔；replay 留同目錄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三次匯入，沿同一解讀順序</a:t>
            </a:r>
          </a:p>
        </p:txBody>
      </p:sp>
      <p:sp>
        <p:nvSpPr>
          <p:cNvPr id="3" name="Import order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baseline → candidate → withheld：每次匯入一對檔案，再按同一順序解讀</a:t>
            </a:r>
          </a:p>
        </p:txBody>
      </p:sp>
      <p:sp>
        <p:nvSpPr>
          <p:cNvPr id="4" name="Import order case 1"/>
          <p:cNvSpPr/>
          <p:nvPr/>
        </p:nvSpPr>
        <p:spPr>
          <a:xfrm>
            <a:off x="841248" y="1664208"/>
            <a:ext cx="2788920" cy="257860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mport order heading 1"/>
          <p:cNvSpPr txBox="1"/>
          <p:nvPr/>
        </p:nvSpPr>
        <p:spPr>
          <a:xfrm>
            <a:off x="987552" y="1865376"/>
            <a:ext cx="2496312" cy="53035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基準</a:t>
            </a:r>
          </a:p>
        </p:txBody>
      </p:sp>
      <p:sp>
        <p:nvSpPr>
          <p:cNvPr id="6" name="Import order files 1"/>
          <p:cNvSpPr txBox="1"/>
          <p:nvPr/>
        </p:nvSpPr>
        <p:spPr>
          <a:xfrm>
            <a:off x="1097280" y="2615184"/>
            <a:ext cx="2276856" cy="69494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 replay</a:t>
            </a:r>
          </a:p>
        </p:txBody>
      </p:sp>
      <p:sp>
        <p:nvSpPr>
          <p:cNvPr id="7" name="Import order observe 1"/>
          <p:cNvSpPr txBox="1"/>
          <p:nvPr/>
        </p:nvSpPr>
        <p:spPr>
          <a:xfrm>
            <a:off x="1042416" y="3547872"/>
            <a:ext cx="238658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先看 service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服務判定</a:t>
            </a:r>
          </a:p>
        </p:txBody>
      </p:sp>
      <p:sp>
        <p:nvSpPr>
          <p:cNvPr id="8" name="Chevron 7"/>
          <p:cNvSpPr/>
          <p:nvPr/>
        </p:nvSpPr>
        <p:spPr>
          <a:xfrm>
            <a:off x="3730752" y="2670048"/>
            <a:ext cx="310896" cy="438912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mport order case 2"/>
          <p:cNvSpPr/>
          <p:nvPr/>
        </p:nvSpPr>
        <p:spPr>
          <a:xfrm>
            <a:off x="3986784" y="1664208"/>
            <a:ext cx="2788920" cy="257860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mport order heading 2"/>
          <p:cNvSpPr txBox="1"/>
          <p:nvPr/>
        </p:nvSpPr>
        <p:spPr>
          <a:xfrm>
            <a:off x="4133088" y="1865376"/>
            <a:ext cx="2496312" cy="53035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候選</a:t>
            </a:r>
          </a:p>
        </p:txBody>
      </p:sp>
      <p:sp>
        <p:nvSpPr>
          <p:cNvPr id="11" name="Import order files 2"/>
          <p:cNvSpPr txBox="1"/>
          <p:nvPr/>
        </p:nvSpPr>
        <p:spPr>
          <a:xfrm>
            <a:off x="4242816" y="2615184"/>
            <a:ext cx="2276856" cy="69494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 replay</a:t>
            </a:r>
          </a:p>
        </p:txBody>
      </p:sp>
      <p:sp>
        <p:nvSpPr>
          <p:cNvPr id="12" name="Import order observe 2"/>
          <p:cNvSpPr txBox="1"/>
          <p:nvPr/>
        </p:nvSpPr>
        <p:spPr>
          <a:xfrm>
            <a:off x="4187952" y="3547872"/>
            <a:ext cx="238658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再看 packet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封包事件</a:t>
            </a:r>
          </a:p>
        </p:txBody>
      </p:sp>
      <p:sp>
        <p:nvSpPr>
          <p:cNvPr id="13" name="Chevron 12"/>
          <p:cNvSpPr/>
          <p:nvPr/>
        </p:nvSpPr>
        <p:spPr>
          <a:xfrm>
            <a:off x="6876288" y="2670048"/>
            <a:ext cx="310896" cy="438912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mport order case 3"/>
          <p:cNvSpPr/>
          <p:nvPr/>
        </p:nvSpPr>
        <p:spPr>
          <a:xfrm>
            <a:off x="7132320" y="1664208"/>
            <a:ext cx="2788920" cy="257860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mport order heading 3"/>
          <p:cNvSpPr txBox="1"/>
          <p:nvPr/>
        </p:nvSpPr>
        <p:spPr>
          <a:xfrm>
            <a:off x="7278624" y="1865376"/>
            <a:ext cx="2496312" cy="53035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withheld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保留反例</a:t>
            </a:r>
          </a:p>
        </p:txBody>
      </p:sp>
      <p:sp>
        <p:nvSpPr>
          <p:cNvPr id="16" name="Import order files 3"/>
          <p:cNvSpPr txBox="1"/>
          <p:nvPr/>
        </p:nvSpPr>
        <p:spPr>
          <a:xfrm>
            <a:off x="7388352" y="2615184"/>
            <a:ext cx="2276856" cy="69494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 replay</a:t>
            </a:r>
          </a:p>
        </p:txBody>
      </p:sp>
      <p:sp>
        <p:nvSpPr>
          <p:cNvPr id="17" name="Import order observe 3"/>
          <p:cNvSpPr txBox="1"/>
          <p:nvPr/>
        </p:nvSpPr>
        <p:spPr>
          <a:xfrm>
            <a:off x="7333488" y="3547872"/>
            <a:ext cx="238658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再看 state → J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狀態 → 端點焦耳</a:t>
            </a:r>
          </a:p>
        </p:txBody>
      </p:sp>
      <p:sp>
        <p:nvSpPr>
          <p:cNvPr id="18" name="Import reading order"/>
          <p:cNvSpPr/>
          <p:nvPr/>
        </p:nvSpPr>
        <p:spPr>
          <a:xfrm>
            <a:off x="896112" y="4425696"/>
            <a:ext cx="7315200" cy="45720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 → packet → state → endpoint J（端點焦耳）</a:t>
            </a:r>
          </a:p>
        </p:txBody>
      </p:sp>
      <p:sp>
        <p:nvSpPr>
          <p:cNvPr id="19" name="Freeze boundary"/>
          <p:cNvSpPr/>
          <p:nvPr/>
        </p:nvSpPr>
        <p:spPr>
          <a:xfrm>
            <a:off x="8412480" y="4297680"/>
            <a:ext cx="2779776" cy="65836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9144" rIns="45720" bIns="9144"/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--freeze（凍結）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額外 receipt／checkpoint；非一般上傳</a:t>
            </a:r>
          </a:p>
        </p:txBody>
      </p:sp>
      <p:sp>
        <p:nvSpPr>
          <p:cNvPr id="20" name="Field contract import order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import order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（匯入順序）｜來源：/course + 配對 artifacts｜作用：依序比較 baseline、candidate、withheld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單位：三次 JSON pair｜判讀：service→packet→state→endpoint J；freeze 另存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一次動作，同時改變服務與能量</a:t>
            </a:r>
          </a:p>
        </p:txBody>
      </p:sp>
      <p:sp>
        <p:nvSpPr>
          <p:cNvPr id="3" name="Action lead"/>
          <p:cNvSpPr txBox="1"/>
          <p:nvPr/>
        </p:nvSpPr>
        <p:spPr>
          <a:xfrm>
            <a:off x="960120" y="960120"/>
            <a:ext cx="1019556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同一個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會沿不同路徑留下可觀察後果</a:t>
            </a:r>
          </a:p>
        </p:txBody>
      </p:sp>
      <p:sp>
        <p:nvSpPr>
          <p:cNvPr id="4" name="Action card 1"/>
          <p:cNvSpPr/>
          <p:nvPr/>
        </p:nvSpPr>
        <p:spPr>
          <a:xfrm>
            <a:off x="841248" y="1664208"/>
            <a:ext cx="3236976" cy="24688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tion heading 1"/>
          <p:cNvSpPr txBox="1"/>
          <p:nvPr/>
        </p:nvSpPr>
        <p:spPr>
          <a:xfrm>
            <a:off x="1005840" y="1856231"/>
            <a:ext cx="2907792" cy="51206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｜低功耗休息</a:t>
            </a:r>
          </a:p>
        </p:txBody>
      </p:sp>
      <p:sp>
        <p:nvSpPr>
          <p:cNvPr id="6" name="Action body 1"/>
          <p:cNvSpPr txBox="1"/>
          <p:nvPr/>
        </p:nvSpPr>
        <p:spPr>
          <a:xfrm>
            <a:off x="1078992" y="2606040"/>
            <a:ext cx="2761488" cy="10789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休息功率降低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喚醒延遲與能量增加</a:t>
            </a:r>
          </a:p>
        </p:txBody>
      </p:sp>
      <p:sp>
        <p:nvSpPr>
          <p:cNvPr id="7" name="Action card 2"/>
          <p:cNvSpPr/>
          <p:nvPr/>
        </p:nvSpPr>
        <p:spPr>
          <a:xfrm>
            <a:off x="4361688" y="1664208"/>
            <a:ext cx="3236976" cy="24688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tion heading 2"/>
          <p:cNvSpPr txBox="1"/>
          <p:nvPr/>
        </p:nvSpPr>
        <p:spPr>
          <a:xfrm>
            <a:off x="4526279" y="1856231"/>
            <a:ext cx="2907792" cy="51206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｜清醒等待</a:t>
            </a:r>
          </a:p>
        </p:txBody>
      </p:sp>
      <p:sp>
        <p:nvSpPr>
          <p:cNvPr id="9" name="Action body 2"/>
          <p:cNvSpPr txBox="1"/>
          <p:nvPr/>
        </p:nvSpPr>
        <p:spPr>
          <a:xfrm>
            <a:off x="4599431" y="2606040"/>
            <a:ext cx="2761488" cy="10789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反應能力保留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清醒閒置能量累積</a:t>
            </a:r>
          </a:p>
        </p:txBody>
      </p:sp>
      <p:sp>
        <p:nvSpPr>
          <p:cNvPr id="10" name="Action card 3"/>
          <p:cNvSpPr/>
          <p:nvPr/>
        </p:nvSpPr>
        <p:spPr>
          <a:xfrm>
            <a:off x="7882127" y="1664208"/>
            <a:ext cx="3236976" cy="24688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tion heading 3"/>
          <p:cNvSpPr txBox="1"/>
          <p:nvPr/>
        </p:nvSpPr>
        <p:spPr>
          <a:xfrm>
            <a:off x="8046719" y="1856231"/>
            <a:ext cx="2907792" cy="51206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SEND</a:t>
            </a: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｜送出封包</a:t>
            </a:r>
          </a:p>
        </p:txBody>
      </p:sp>
      <p:sp>
        <p:nvSpPr>
          <p:cNvPr id="12" name="Action body 3"/>
          <p:cNvSpPr txBox="1"/>
          <p:nvPr/>
        </p:nvSpPr>
        <p:spPr>
          <a:xfrm>
            <a:off x="8119871" y="2606040"/>
            <a:ext cx="2761488" cy="10789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服務機會增加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處理與無線事件增加</a:t>
            </a:r>
          </a:p>
        </p:txBody>
      </p:sp>
      <p:sp>
        <p:nvSpPr>
          <p:cNvPr id="13" name="Service outcome"/>
          <p:cNvSpPr/>
          <p:nvPr/>
        </p:nvSpPr>
        <p:spPr>
          <a:xfrm>
            <a:off x="1847088" y="4325112"/>
            <a:ext cx="3794760" cy="4389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服務結果</a:t>
            </a:r>
          </a:p>
        </p:txBody>
      </p:sp>
      <p:sp>
        <p:nvSpPr>
          <p:cNvPr id="14" name="Energy outcome"/>
          <p:cNvSpPr/>
          <p:nvPr/>
        </p:nvSpPr>
        <p:spPr>
          <a:xfrm>
            <a:off x="6556248" y="4325112"/>
            <a:ext cx="3794760" cy="4389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端點能量（J）</a:t>
            </a:r>
          </a:p>
        </p:txBody>
      </p:sp>
      <p:sp>
        <p:nvSpPr>
          <p:cNvPr id="15" name="Field contract a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（策略動作）｜來源：policy API｜作用：每次決策的唯一輸出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單位：enum｜判讀：觸發狀態與封包轉移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先讀中間事件，再讀最終結果</a:t>
            </a:r>
          </a:p>
        </p:txBody>
      </p:sp>
      <p:sp>
        <p:nvSpPr>
          <p:cNvPr id="3" name="Causal lead"/>
          <p:cNvSpPr txBox="1"/>
          <p:nvPr/>
        </p:nvSpPr>
        <p:spPr>
          <a:xfrm>
            <a:off x="987552" y="941832"/>
            <a:ext cx="1014984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能量或服務差異，必須由中間事件支持</a:t>
            </a:r>
          </a:p>
        </p:txBody>
      </p:sp>
      <p:sp>
        <p:nvSpPr>
          <p:cNvPr id="4" name="Causal node 1"/>
          <p:cNvSpPr/>
          <p:nvPr/>
        </p:nvSpPr>
        <p:spPr>
          <a:xfrm>
            <a:off x="768096" y="1755648"/>
            <a:ext cx="1892807" cy="13350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服務窗口</a:t>
            </a:r>
          </a:p>
        </p:txBody>
      </p:sp>
      <p:sp>
        <p:nvSpPr>
          <p:cNvPr id="5" name="Chevron 4"/>
          <p:cNvSpPr/>
          <p:nvPr/>
        </p:nvSpPr>
        <p:spPr>
          <a:xfrm>
            <a:off x="2734056" y="2167128"/>
            <a:ext cx="347472" cy="47548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usal node 2"/>
          <p:cNvSpPr/>
          <p:nvPr/>
        </p:nvSpPr>
        <p:spPr>
          <a:xfrm>
            <a:off x="3044952" y="1755648"/>
            <a:ext cx="1892807" cy="133502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策略動作</a:t>
            </a:r>
          </a:p>
        </p:txBody>
      </p:sp>
      <p:sp>
        <p:nvSpPr>
          <p:cNvPr id="7" name="Chevron 6"/>
          <p:cNvSpPr/>
          <p:nvPr/>
        </p:nvSpPr>
        <p:spPr>
          <a:xfrm>
            <a:off x="5010912" y="2167128"/>
            <a:ext cx="347472" cy="47548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usal node 3"/>
          <p:cNvSpPr/>
          <p:nvPr/>
        </p:nvSpPr>
        <p:spPr>
          <a:xfrm>
            <a:off x="5321808" y="1755648"/>
            <a:ext cx="1892807" cy="133502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無線狀態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封包事件</a:t>
            </a:r>
          </a:p>
        </p:txBody>
      </p:sp>
      <p:sp>
        <p:nvSpPr>
          <p:cNvPr id="9" name="Chevron 8"/>
          <p:cNvSpPr/>
          <p:nvPr/>
        </p:nvSpPr>
        <p:spPr>
          <a:xfrm>
            <a:off x="7287768" y="2167128"/>
            <a:ext cx="347472" cy="47548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usal node 4"/>
          <p:cNvSpPr/>
          <p:nvPr/>
        </p:nvSpPr>
        <p:spPr>
          <a:xfrm>
            <a:off x="7598664" y="1755648"/>
            <a:ext cx="1892807" cy="13350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服務判定</a:t>
            </a:r>
          </a:p>
        </p:txBody>
      </p:sp>
      <p:sp>
        <p:nvSpPr>
          <p:cNvPr id="11" name="Chevron 10"/>
          <p:cNvSpPr/>
          <p:nvPr/>
        </p:nvSpPr>
        <p:spPr>
          <a:xfrm>
            <a:off x="9564624" y="2167128"/>
            <a:ext cx="347472" cy="47548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usal node 5"/>
          <p:cNvSpPr/>
          <p:nvPr/>
        </p:nvSpPr>
        <p:spPr>
          <a:xfrm>
            <a:off x="9875520" y="1755648"/>
            <a:ext cx="1892807" cy="133502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</a:t>
            </a:r>
          </a:p>
        </p:txBody>
      </p:sp>
      <p:sp>
        <p:nvSpPr>
          <p:cNvPr id="13" name="Closed-window branch"/>
          <p:cNvSpPr/>
          <p:nvPr/>
        </p:nvSpPr>
        <p:spPr>
          <a:xfrm>
            <a:off x="1024128" y="3447288"/>
            <a:ext cx="10104120" cy="65836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窗口關閉 → 傳輸類動作不執行 → 安全分支為 </a:t>
            </a:r>
            <a:r>
              <a:rPr sz="22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4" name="Attribution rule"/>
          <p:cNvSpPr txBox="1"/>
          <p:nvPr/>
        </p:nvSpPr>
        <p:spPr>
          <a:xfrm>
            <a:off x="1133856" y="4288536"/>
            <a:ext cx="989380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若中間事件沒有差異，最後的數值變化不得歸因於本次修改。</a:t>
            </a:r>
          </a:p>
        </p:txBody>
      </p:sp>
      <p:sp>
        <p:nvSpPr>
          <p:cNvPr id="15" name="Field contract radio_stat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radio_state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（無線狀態）｜來源：runner event ledger｜作用：表示各狀態區間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單位：state enum + duration｜判讀：提供端點能量的時間分段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固定情境中的四步操作閉環</a:t>
            </a:r>
          </a:p>
        </p:txBody>
      </p:sp>
      <p:sp>
        <p:nvSpPr>
          <p:cNvPr id="3" name="Loop lead"/>
          <p:cNvSpPr txBox="1"/>
          <p:nvPr/>
        </p:nvSpPr>
        <p:spPr>
          <a:xfrm>
            <a:off x="987552" y="932688"/>
            <a:ext cx="10131552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只改一個受控常數，再沿同一條證據路徑比較</a:t>
            </a:r>
          </a:p>
        </p:txBody>
      </p:sp>
      <p:sp>
        <p:nvSpPr>
          <p:cNvPr id="4" name="Loop step 01"/>
          <p:cNvSpPr/>
          <p:nvPr/>
        </p:nvSpPr>
        <p:spPr>
          <a:xfrm>
            <a:off x="841248" y="1664208"/>
            <a:ext cx="2487168" cy="240487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op number 01"/>
          <p:cNvSpPr txBox="1"/>
          <p:nvPr/>
        </p:nvSpPr>
        <p:spPr>
          <a:xfrm>
            <a:off x="1005840" y="1828800"/>
            <a:ext cx="502920" cy="4206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</a:t>
            </a:r>
          </a:p>
        </p:txBody>
      </p:sp>
      <p:sp>
        <p:nvSpPr>
          <p:cNvPr id="6" name="Loop heading 01"/>
          <p:cNvSpPr txBox="1"/>
          <p:nvPr/>
        </p:nvSpPr>
        <p:spPr>
          <a:xfrm>
            <a:off x="1554480" y="1810512"/>
            <a:ext cx="1517904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</a:t>
            </a:r>
          </a:p>
        </p:txBody>
      </p:sp>
      <p:sp>
        <p:nvSpPr>
          <p:cNvPr id="7" name="Loop body 01"/>
          <p:cNvSpPr txBox="1"/>
          <p:nvPr/>
        </p:nvSpPr>
        <p:spPr>
          <a:xfrm>
            <a:off x="1042416" y="2542032"/>
            <a:ext cx="2084831" cy="9601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</p:txBody>
      </p:sp>
      <p:sp>
        <p:nvSpPr>
          <p:cNvPr id="8" name="Chevron 7"/>
          <p:cNvSpPr/>
          <p:nvPr/>
        </p:nvSpPr>
        <p:spPr>
          <a:xfrm>
            <a:off x="3429000" y="2615184"/>
            <a:ext cx="329184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op step 02"/>
          <p:cNvSpPr/>
          <p:nvPr/>
        </p:nvSpPr>
        <p:spPr>
          <a:xfrm>
            <a:off x="3639312" y="1664208"/>
            <a:ext cx="2487168" cy="240487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oop number 02"/>
          <p:cNvSpPr txBox="1"/>
          <p:nvPr/>
        </p:nvSpPr>
        <p:spPr>
          <a:xfrm>
            <a:off x="3803904" y="1828800"/>
            <a:ext cx="502920" cy="4206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02</a:t>
            </a:r>
          </a:p>
        </p:txBody>
      </p:sp>
      <p:sp>
        <p:nvSpPr>
          <p:cNvPr id="11" name="Loop heading 02"/>
          <p:cNvSpPr txBox="1"/>
          <p:nvPr/>
        </p:nvSpPr>
        <p:spPr>
          <a:xfrm>
            <a:off x="4352544" y="1810512"/>
            <a:ext cx="1517904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執行</a:t>
            </a:r>
          </a:p>
        </p:txBody>
      </p:sp>
      <p:sp>
        <p:nvSpPr>
          <p:cNvPr id="12" name="Loop body 02"/>
          <p:cNvSpPr txBox="1"/>
          <p:nvPr/>
        </p:nvSpPr>
        <p:spPr>
          <a:xfrm>
            <a:off x="3840480" y="2542032"/>
            <a:ext cx="2084831" cy="9601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 case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固定輸入</a:t>
            </a:r>
          </a:p>
        </p:txBody>
      </p:sp>
      <p:sp>
        <p:nvSpPr>
          <p:cNvPr id="13" name="Chevron 12"/>
          <p:cNvSpPr/>
          <p:nvPr/>
        </p:nvSpPr>
        <p:spPr>
          <a:xfrm>
            <a:off x="6227064" y="2615184"/>
            <a:ext cx="329184" cy="420624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oop step 03"/>
          <p:cNvSpPr/>
          <p:nvPr/>
        </p:nvSpPr>
        <p:spPr>
          <a:xfrm>
            <a:off x="6437376" y="1664208"/>
            <a:ext cx="2487168" cy="240487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oop number 03"/>
          <p:cNvSpPr txBox="1"/>
          <p:nvPr/>
        </p:nvSpPr>
        <p:spPr>
          <a:xfrm>
            <a:off x="6601968" y="1828800"/>
            <a:ext cx="502920" cy="4206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</a:t>
            </a:r>
          </a:p>
        </p:txBody>
      </p:sp>
      <p:sp>
        <p:nvSpPr>
          <p:cNvPr id="16" name="Loop heading 03"/>
          <p:cNvSpPr txBox="1"/>
          <p:nvPr/>
        </p:nvSpPr>
        <p:spPr>
          <a:xfrm>
            <a:off x="7150608" y="1810512"/>
            <a:ext cx="1517904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讀取</a:t>
            </a:r>
          </a:p>
        </p:txBody>
      </p:sp>
      <p:sp>
        <p:nvSpPr>
          <p:cNvPr id="17" name="Loop body 03"/>
          <p:cNvSpPr txBox="1"/>
          <p:nvPr/>
        </p:nvSpPr>
        <p:spPr>
          <a:xfrm>
            <a:off x="6638544" y="2542032"/>
            <a:ext cx="2084831" cy="9601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狀態、封包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服務、能量</a:t>
            </a:r>
          </a:p>
        </p:txBody>
      </p:sp>
      <p:sp>
        <p:nvSpPr>
          <p:cNvPr id="18" name="Chevron 17"/>
          <p:cNvSpPr/>
          <p:nvPr/>
        </p:nvSpPr>
        <p:spPr>
          <a:xfrm>
            <a:off x="9025128" y="2615184"/>
            <a:ext cx="329184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oop step 04"/>
          <p:cNvSpPr/>
          <p:nvPr/>
        </p:nvSpPr>
        <p:spPr>
          <a:xfrm>
            <a:off x="9235440" y="1664208"/>
            <a:ext cx="2487168" cy="240487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oop number 04"/>
          <p:cNvSpPr txBox="1"/>
          <p:nvPr/>
        </p:nvSpPr>
        <p:spPr>
          <a:xfrm>
            <a:off x="9400032" y="1828800"/>
            <a:ext cx="502920" cy="4206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04</a:t>
            </a:r>
          </a:p>
        </p:txBody>
      </p:sp>
      <p:sp>
        <p:nvSpPr>
          <p:cNvPr id="21" name="Loop heading 04"/>
          <p:cNvSpPr txBox="1"/>
          <p:nvPr/>
        </p:nvSpPr>
        <p:spPr>
          <a:xfrm>
            <a:off x="9948672" y="1810512"/>
            <a:ext cx="1517904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解釋</a:t>
            </a:r>
          </a:p>
        </p:txBody>
      </p:sp>
      <p:sp>
        <p:nvSpPr>
          <p:cNvPr id="22" name="Loop body 04"/>
          <p:cNvSpPr txBox="1"/>
          <p:nvPr/>
        </p:nvSpPr>
        <p:spPr>
          <a:xfrm>
            <a:off x="9436608" y="2542032"/>
            <a:ext cx="2084831" cy="9601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動作 → 事件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→ 結果</a:t>
            </a:r>
          </a:p>
        </p:txBody>
      </p:sp>
      <p:sp>
        <p:nvSpPr>
          <p:cNvPr id="23" name="Loop evidence rule"/>
          <p:cNvSpPr txBox="1"/>
          <p:nvPr/>
        </p:nvSpPr>
        <p:spPr>
          <a:xfrm>
            <a:off x="1078992" y="4315968"/>
            <a:ext cx="10021824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預測與結果同時保存；反例保留為可檢驗證據。</a:t>
            </a:r>
          </a:p>
        </p:txBody>
      </p:sp>
      <p:sp>
        <p:nvSpPr>
          <p:cNvPr id="24" name="Field contract result.js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（結果資料檔）｜來源：package runner｜作用：保存 run identity、狀態、封包、服務與能量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單位：JSON artifact｜判讀：作為 replay 與 import 的輸入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中間事件是因果歸因的必要橋樑</a:t>
            </a:r>
          </a:p>
        </p:txBody>
      </p:sp>
      <p:sp>
        <p:nvSpPr>
          <p:cNvPr id="3" name="Comparison lead"/>
          <p:cNvSpPr txBox="1"/>
          <p:nvPr/>
        </p:nvSpPr>
        <p:spPr>
          <a:xfrm>
            <a:off x="896112" y="941832"/>
            <a:ext cx="10405872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同一觀測下，比較基準與候選策略的事件路徑</a:t>
            </a:r>
          </a:p>
        </p:txBody>
      </p:sp>
      <p:sp>
        <p:nvSpPr>
          <p:cNvPr id="4" name="Shared observation top"/>
          <p:cNvSpPr/>
          <p:nvPr/>
        </p:nvSpPr>
        <p:spPr>
          <a:xfrm>
            <a:off x="841248" y="1609344"/>
            <a:ext cx="1572768" cy="93268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同一觀測</a:t>
            </a:r>
          </a:p>
        </p:txBody>
      </p:sp>
      <p:sp>
        <p:nvSpPr>
          <p:cNvPr id="5" name="Shared observation bottom"/>
          <p:cNvSpPr/>
          <p:nvPr/>
        </p:nvSpPr>
        <p:spPr>
          <a:xfrm>
            <a:off x="841248" y="2926080"/>
            <a:ext cx="1572768" cy="93268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同一觀測</a:t>
            </a:r>
          </a:p>
        </p:txBody>
      </p:sp>
      <p:sp>
        <p:nvSpPr>
          <p:cNvPr id="6" name="Chevron 5"/>
          <p:cNvSpPr/>
          <p:nvPr/>
        </p:nvSpPr>
        <p:spPr>
          <a:xfrm>
            <a:off x="2496312" y="1810512"/>
            <a:ext cx="347472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licy lane 1"/>
          <p:cNvSpPr/>
          <p:nvPr/>
        </p:nvSpPr>
        <p:spPr>
          <a:xfrm>
            <a:off x="2871216" y="1572768"/>
            <a:ext cx="1938528" cy="10058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基準策略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動作 A</a:t>
            </a:r>
          </a:p>
        </p:txBody>
      </p:sp>
      <p:sp>
        <p:nvSpPr>
          <p:cNvPr id="8" name="Chevron 7"/>
          <p:cNvSpPr/>
          <p:nvPr/>
        </p:nvSpPr>
        <p:spPr>
          <a:xfrm>
            <a:off x="4892040" y="1810512"/>
            <a:ext cx="347472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vent lane 1"/>
          <p:cNvSpPr/>
          <p:nvPr/>
        </p:nvSpPr>
        <p:spPr>
          <a:xfrm>
            <a:off x="5285232" y="1572768"/>
            <a:ext cx="2304288" cy="100584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事件路徑 A</a:t>
            </a:r>
          </a:p>
        </p:txBody>
      </p:sp>
      <p:sp>
        <p:nvSpPr>
          <p:cNvPr id="10" name="Chevron 9"/>
          <p:cNvSpPr/>
          <p:nvPr/>
        </p:nvSpPr>
        <p:spPr>
          <a:xfrm>
            <a:off x="7680960" y="1810512"/>
            <a:ext cx="347472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sult lane 1"/>
          <p:cNvSpPr/>
          <p:nvPr/>
        </p:nvSpPr>
        <p:spPr>
          <a:xfrm>
            <a:off x="8074152" y="1572768"/>
            <a:ext cx="3154680" cy="10058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服務／能量 A</a:t>
            </a:r>
          </a:p>
        </p:txBody>
      </p:sp>
      <p:sp>
        <p:nvSpPr>
          <p:cNvPr id="12" name="Chevron 11"/>
          <p:cNvSpPr/>
          <p:nvPr/>
        </p:nvSpPr>
        <p:spPr>
          <a:xfrm>
            <a:off x="2496312" y="3127248"/>
            <a:ext cx="347472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licy lane 2"/>
          <p:cNvSpPr/>
          <p:nvPr/>
        </p:nvSpPr>
        <p:spPr>
          <a:xfrm>
            <a:off x="2871216" y="2889504"/>
            <a:ext cx="1938528" cy="100584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候選策略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動作 B</a:t>
            </a:r>
          </a:p>
        </p:txBody>
      </p:sp>
      <p:sp>
        <p:nvSpPr>
          <p:cNvPr id="14" name="Chevron 13"/>
          <p:cNvSpPr/>
          <p:nvPr/>
        </p:nvSpPr>
        <p:spPr>
          <a:xfrm>
            <a:off x="4892040" y="3127248"/>
            <a:ext cx="347472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vent lane 2"/>
          <p:cNvSpPr/>
          <p:nvPr/>
        </p:nvSpPr>
        <p:spPr>
          <a:xfrm>
            <a:off x="5285232" y="2889504"/>
            <a:ext cx="2304288" cy="100584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事件路徑 B</a:t>
            </a:r>
          </a:p>
        </p:txBody>
      </p:sp>
      <p:sp>
        <p:nvSpPr>
          <p:cNvPr id="16" name="Chevron 15"/>
          <p:cNvSpPr/>
          <p:nvPr/>
        </p:nvSpPr>
        <p:spPr>
          <a:xfrm>
            <a:off x="7680960" y="3127248"/>
            <a:ext cx="347472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sult lane 2"/>
          <p:cNvSpPr/>
          <p:nvPr/>
        </p:nvSpPr>
        <p:spPr>
          <a:xfrm>
            <a:off x="8074152" y="2889504"/>
            <a:ext cx="3154680" cy="100584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服務／能量 B</a:t>
            </a:r>
          </a:p>
        </p:txBody>
      </p:sp>
      <p:sp>
        <p:nvSpPr>
          <p:cNvPr id="18" name="Causal comparison rule"/>
          <p:cNvSpPr txBox="1"/>
          <p:nvPr/>
        </p:nvSpPr>
        <p:spPr>
          <a:xfrm>
            <a:off x="960120" y="4242816"/>
            <a:ext cx="10222992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先確認事件路徑不同，才比較服務與能量。</a:t>
            </a:r>
          </a:p>
        </p:txBody>
      </p:sp>
      <p:sp>
        <p:nvSpPr>
          <p:cNvPr id="19" name="Field contract packet_progres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packet_progress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（封包進度）｜來源：result／replay artifact｜作用：記錄產生、佇列、嘗試、重試、送達與逾期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單位：event count + time｜判讀：連接策略動作與服務結果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Runner 證據有明確邊界</a:t>
            </a:r>
          </a:p>
        </p:txBody>
      </p:sp>
      <p:sp>
        <p:nvSpPr>
          <p:cNvPr id="3" name="Evidence lead"/>
          <p:cNvSpPr txBox="1"/>
          <p:nvPr/>
        </p:nvSpPr>
        <p:spPr>
          <a:xfrm>
            <a:off x="941832" y="932688"/>
            <a:ext cx="10259568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可重跑，不等於可以外推到所有能量層級</a:t>
            </a:r>
          </a:p>
        </p:txBody>
      </p:sp>
      <p:sp>
        <p:nvSpPr>
          <p:cNvPr id="4" name="Supported evidence"/>
          <p:cNvSpPr/>
          <p:nvPr/>
        </p:nvSpPr>
        <p:spPr>
          <a:xfrm>
            <a:off x="841248" y="1627632"/>
            <a:ext cx="5084064" cy="290779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nsupported evidence"/>
          <p:cNvSpPr/>
          <p:nvPr/>
        </p:nvSpPr>
        <p:spPr>
          <a:xfrm>
            <a:off x="6263640" y="1627632"/>
            <a:ext cx="5084064" cy="290779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pported heading"/>
          <p:cNvSpPr txBox="1"/>
          <p:nvPr/>
        </p:nvSpPr>
        <p:spPr>
          <a:xfrm>
            <a:off x="1115568" y="1828800"/>
            <a:ext cx="4535424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本套件可支持</a:t>
            </a:r>
          </a:p>
        </p:txBody>
      </p:sp>
      <p:sp>
        <p:nvSpPr>
          <p:cNvPr id="7" name="Supported body"/>
          <p:cNvSpPr txBox="1"/>
          <p:nvPr/>
        </p:nvSpPr>
        <p:spPr>
          <a:xfrm>
            <a:off x="1243584" y="2496312"/>
            <a:ext cx="4279392" cy="155448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 scenario／seed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端點狀態與封包事件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服務判定與端點 J</a:t>
            </a:r>
          </a:p>
        </p:txBody>
      </p:sp>
      <p:sp>
        <p:nvSpPr>
          <p:cNvPr id="8" name="Unsupported heading"/>
          <p:cNvSpPr txBox="1"/>
          <p:nvPr/>
        </p:nvSpPr>
        <p:spPr>
          <a:xfrm>
            <a:off x="6537960" y="1828800"/>
            <a:ext cx="4535424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本套件不支持</a:t>
            </a:r>
          </a:p>
        </p:txBody>
      </p:sp>
      <p:sp>
        <p:nvSpPr>
          <p:cNvPr id="9" name="Unsupported body"/>
          <p:cNvSpPr txBox="1"/>
          <p:nvPr/>
        </p:nvSpPr>
        <p:spPr>
          <a:xfrm>
            <a:off x="6711696" y="2496312"/>
            <a:ext cx="4187952" cy="155448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LEO／system energy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canonical efficiency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實測或即時 KPI</a:t>
            </a:r>
          </a:p>
        </p:txBody>
      </p:sp>
      <p:sp>
        <p:nvSpPr>
          <p:cNvPr id="10" name="Field contract endpoint_energy_j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（端點能量）｜來源：endpoint radio／processing model｜作用：累積狀態能量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單位：J｜判讀：只屬於 endpoint evidence layer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LEO 是變動服務窗口的工作範例</a:t>
            </a:r>
          </a:p>
        </p:txBody>
      </p:sp>
      <p:sp>
        <p:nvSpPr>
          <p:cNvPr id="3" name="LEO lead"/>
          <p:cNvSpPr txBox="1"/>
          <p:nvPr/>
        </p:nvSpPr>
        <p:spPr>
          <a:xfrm>
            <a:off x="950976" y="932688"/>
            <a:ext cx="1024128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LEO 改變可服務機會；主要控制仍在端點策略</a:t>
            </a:r>
          </a:p>
        </p:txBody>
      </p:sp>
      <p:sp>
        <p:nvSpPr>
          <p:cNvPr id="4" name="LEO opportunity"/>
          <p:cNvSpPr/>
          <p:nvPr/>
        </p:nvSpPr>
        <p:spPr>
          <a:xfrm>
            <a:off x="859536" y="1609344"/>
            <a:ext cx="1920240" cy="98755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低地球軌道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服務機會</a:t>
            </a:r>
          </a:p>
        </p:txBody>
      </p:sp>
      <p:sp>
        <p:nvSpPr>
          <p:cNvPr id="5" name="Chevron 4"/>
          <p:cNvSpPr/>
          <p:nvPr/>
        </p:nvSpPr>
        <p:spPr>
          <a:xfrm>
            <a:off x="2907792" y="1865376"/>
            <a:ext cx="384048" cy="47548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O window timeline"/>
          <p:cNvSpPr/>
          <p:nvPr/>
        </p:nvSpPr>
        <p:spPr>
          <a:xfrm>
            <a:off x="3383280" y="1444752"/>
            <a:ext cx="5321808" cy="13167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O timeline segment 1"/>
          <p:cNvSpPr/>
          <p:nvPr/>
        </p:nvSpPr>
        <p:spPr>
          <a:xfrm>
            <a:off x="3611880" y="1837943"/>
            <a:ext cx="1371600" cy="512064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9144" r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窗口開啟</a:t>
            </a:r>
          </a:p>
        </p:txBody>
      </p:sp>
      <p:sp>
        <p:nvSpPr>
          <p:cNvPr id="8" name="LEO timeline segment 2"/>
          <p:cNvSpPr/>
          <p:nvPr/>
        </p:nvSpPr>
        <p:spPr>
          <a:xfrm>
            <a:off x="5038344" y="1837943"/>
            <a:ext cx="1207008" cy="512064"/>
          </a:xfrm>
          <a:prstGeom prst="rect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9144" r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品質下降</a:t>
            </a:r>
          </a:p>
        </p:txBody>
      </p:sp>
      <p:sp>
        <p:nvSpPr>
          <p:cNvPr id="9" name="LEO timeline segment 3"/>
          <p:cNvSpPr/>
          <p:nvPr/>
        </p:nvSpPr>
        <p:spPr>
          <a:xfrm>
            <a:off x="6300216" y="1837943"/>
            <a:ext cx="1152144" cy="5120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9144" r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</a:t>
            </a:r>
          </a:p>
        </p:txBody>
      </p:sp>
      <p:sp>
        <p:nvSpPr>
          <p:cNvPr id="10" name="LEO timeline segment 4"/>
          <p:cNvSpPr/>
          <p:nvPr/>
        </p:nvSpPr>
        <p:spPr>
          <a:xfrm>
            <a:off x="7507223" y="1837943"/>
            <a:ext cx="1243584" cy="512064"/>
          </a:xfrm>
          <a:prstGeom prst="rect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9144" r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再度開啟</a:t>
            </a:r>
          </a:p>
        </p:txBody>
      </p:sp>
      <p:sp>
        <p:nvSpPr>
          <p:cNvPr id="11" name="Chevron 10"/>
          <p:cNvSpPr/>
          <p:nvPr/>
        </p:nvSpPr>
        <p:spPr>
          <a:xfrm>
            <a:off x="8833104" y="1865376"/>
            <a:ext cx="384048" cy="47548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ndpoint choice"/>
          <p:cNvSpPr/>
          <p:nvPr/>
        </p:nvSpPr>
        <p:spPr>
          <a:xfrm>
            <a:off x="9326880" y="1609344"/>
            <a:ext cx="1975104" cy="98755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等待／休息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／送出</a:t>
            </a:r>
          </a:p>
        </p:txBody>
      </p:sp>
      <p:sp>
        <p:nvSpPr>
          <p:cNvPr id="13" name="Transfer rule"/>
          <p:cNvSpPr txBox="1"/>
          <p:nvPr/>
        </p:nvSpPr>
        <p:spPr>
          <a:xfrm>
            <a:off x="914400" y="3035808"/>
            <a:ext cx="1031443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相同機制可以轉移；窗口、期限與能量邊界必須重新定義。</a:t>
            </a:r>
          </a:p>
        </p:txBody>
      </p:sp>
      <p:sp>
        <p:nvSpPr>
          <p:cNvPr id="14" name="Transfer example 1"/>
          <p:cNvSpPr/>
          <p:nvPr/>
        </p:nvSpPr>
        <p:spPr>
          <a:xfrm>
            <a:off x="1060704" y="3584448"/>
            <a:ext cx="2788920" cy="78638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暖通空調｜低負載時段</a:t>
            </a:r>
          </a:p>
        </p:txBody>
      </p:sp>
      <p:sp>
        <p:nvSpPr>
          <p:cNvPr id="15" name="Transfer example 2"/>
          <p:cNvSpPr/>
          <p:nvPr/>
        </p:nvSpPr>
        <p:spPr>
          <a:xfrm>
            <a:off x="4297680" y="3584448"/>
            <a:ext cx="2788920" cy="78638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邊緣閘道｜可連線時段</a:t>
            </a:r>
          </a:p>
        </p:txBody>
      </p:sp>
      <p:sp>
        <p:nvSpPr>
          <p:cNvPr id="16" name="Transfer example 3"/>
          <p:cNvSpPr/>
          <p:nvPr/>
        </p:nvSpPr>
        <p:spPr>
          <a:xfrm>
            <a:off x="7534656" y="3584448"/>
            <a:ext cx="2788920" cy="78638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物流追蹤｜回報機會</a:t>
            </a:r>
          </a:p>
        </p:txBody>
      </p:sp>
      <p:sp>
        <p:nvSpPr>
          <p:cNvPr id="17" name="Field contract service_window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service_window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（服務窗口）｜來源：fixed scenario trace｜作用：定義合法傳輸區間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單位：trace time｜判讀：決定動作是否具有服務機會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從預測到結果，保留可反駁路徑</a:t>
            </a:r>
          </a:p>
        </p:txBody>
      </p:sp>
      <p:sp>
        <p:nvSpPr>
          <p:cNvPr id="3" name="Prediction lead"/>
          <p:cNvSpPr txBox="1"/>
          <p:nvPr/>
        </p:nvSpPr>
        <p:spPr>
          <a:xfrm>
            <a:off x="950976" y="932688"/>
            <a:ext cx="1024128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先寫下方向，再執行；結果不符時保留反例</a:t>
            </a:r>
          </a:p>
        </p:txBody>
      </p:sp>
      <p:sp>
        <p:nvSpPr>
          <p:cNvPr id="4" name="Prediction step 01"/>
          <p:cNvSpPr/>
          <p:nvPr/>
        </p:nvSpPr>
        <p:spPr>
          <a:xfrm>
            <a:off x="841248" y="1645920"/>
            <a:ext cx="2286000" cy="23317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ediction number 01"/>
          <p:cNvSpPr txBox="1"/>
          <p:nvPr/>
        </p:nvSpPr>
        <p:spPr>
          <a:xfrm>
            <a:off x="1005840" y="1847088"/>
            <a:ext cx="475488" cy="40233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</a:t>
            </a:r>
          </a:p>
        </p:txBody>
      </p:sp>
      <p:sp>
        <p:nvSpPr>
          <p:cNvPr id="6" name="Prediction heading 01"/>
          <p:cNvSpPr txBox="1"/>
          <p:nvPr/>
        </p:nvSpPr>
        <p:spPr>
          <a:xfrm>
            <a:off x="1499616" y="1828800"/>
            <a:ext cx="141732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記錄預測</a:t>
            </a:r>
          </a:p>
        </p:txBody>
      </p:sp>
      <p:sp>
        <p:nvSpPr>
          <p:cNvPr id="7" name="Prediction body 01"/>
          <p:cNvSpPr txBox="1"/>
          <p:nvPr/>
        </p:nvSpPr>
        <p:spPr>
          <a:xfrm>
            <a:off x="1042416" y="2578608"/>
            <a:ext cx="1883664" cy="8778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狀態／封包／服務／J</a:t>
            </a:r>
          </a:p>
        </p:txBody>
      </p:sp>
      <p:sp>
        <p:nvSpPr>
          <p:cNvPr id="8" name="Chevron 7"/>
          <p:cNvSpPr/>
          <p:nvPr/>
        </p:nvSpPr>
        <p:spPr>
          <a:xfrm>
            <a:off x="3200400" y="2532888"/>
            <a:ext cx="292608" cy="402336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ediction step 02"/>
          <p:cNvSpPr/>
          <p:nvPr/>
        </p:nvSpPr>
        <p:spPr>
          <a:xfrm>
            <a:off x="3566160" y="1645920"/>
            <a:ext cx="2286000" cy="233172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ediction number 02"/>
          <p:cNvSpPr txBox="1"/>
          <p:nvPr/>
        </p:nvSpPr>
        <p:spPr>
          <a:xfrm>
            <a:off x="3730752" y="1847088"/>
            <a:ext cx="475488" cy="40233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02</a:t>
            </a:r>
          </a:p>
        </p:txBody>
      </p:sp>
      <p:sp>
        <p:nvSpPr>
          <p:cNvPr id="11" name="Prediction heading 02"/>
          <p:cNvSpPr txBox="1"/>
          <p:nvPr/>
        </p:nvSpPr>
        <p:spPr>
          <a:xfrm>
            <a:off x="4224528" y="1828800"/>
            <a:ext cx="141732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受控修改</a:t>
            </a:r>
          </a:p>
        </p:txBody>
      </p:sp>
      <p:sp>
        <p:nvSpPr>
          <p:cNvPr id="12" name="Prediction body 02"/>
          <p:cNvSpPr txBox="1"/>
          <p:nvPr/>
        </p:nvSpPr>
        <p:spPr>
          <a:xfrm>
            <a:off x="3767328" y="2578608"/>
            <a:ext cx="1883664" cy="8778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一次一個常數</a:t>
            </a:r>
          </a:p>
        </p:txBody>
      </p:sp>
      <p:sp>
        <p:nvSpPr>
          <p:cNvPr id="13" name="Chevron 12"/>
          <p:cNvSpPr/>
          <p:nvPr/>
        </p:nvSpPr>
        <p:spPr>
          <a:xfrm>
            <a:off x="5925312" y="2532888"/>
            <a:ext cx="292608" cy="402336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ediction step 03"/>
          <p:cNvSpPr/>
          <p:nvPr/>
        </p:nvSpPr>
        <p:spPr>
          <a:xfrm>
            <a:off x="6291072" y="1645920"/>
            <a:ext cx="2286000" cy="23317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ediction number 03"/>
          <p:cNvSpPr txBox="1"/>
          <p:nvPr/>
        </p:nvSpPr>
        <p:spPr>
          <a:xfrm>
            <a:off x="6455664" y="1847088"/>
            <a:ext cx="475488" cy="40233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</a:t>
            </a:r>
          </a:p>
        </p:txBody>
      </p:sp>
      <p:sp>
        <p:nvSpPr>
          <p:cNvPr id="16" name="Prediction heading 03"/>
          <p:cNvSpPr txBox="1"/>
          <p:nvPr/>
        </p:nvSpPr>
        <p:spPr>
          <a:xfrm>
            <a:off x="6949440" y="1828800"/>
            <a:ext cx="141732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精確執行</a:t>
            </a:r>
          </a:p>
        </p:txBody>
      </p:sp>
      <p:sp>
        <p:nvSpPr>
          <p:cNvPr id="17" name="Prediction body 03"/>
          <p:cNvSpPr txBox="1"/>
          <p:nvPr/>
        </p:nvSpPr>
        <p:spPr>
          <a:xfrm>
            <a:off x="6492240" y="2578608"/>
            <a:ext cx="1883664" cy="8778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 case 與輸入</a:t>
            </a:r>
          </a:p>
        </p:txBody>
      </p:sp>
      <p:sp>
        <p:nvSpPr>
          <p:cNvPr id="18" name="Chevron 17"/>
          <p:cNvSpPr/>
          <p:nvPr/>
        </p:nvSpPr>
        <p:spPr>
          <a:xfrm>
            <a:off x="8650224" y="2532888"/>
            <a:ext cx="292608" cy="402336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ediction step 04"/>
          <p:cNvSpPr/>
          <p:nvPr/>
        </p:nvSpPr>
        <p:spPr>
          <a:xfrm>
            <a:off x="9015984" y="1645920"/>
            <a:ext cx="2286000" cy="233172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rediction number 04"/>
          <p:cNvSpPr txBox="1"/>
          <p:nvPr/>
        </p:nvSpPr>
        <p:spPr>
          <a:xfrm>
            <a:off x="9180576" y="1847088"/>
            <a:ext cx="475488" cy="40233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04</a:t>
            </a:r>
          </a:p>
        </p:txBody>
      </p:sp>
      <p:sp>
        <p:nvSpPr>
          <p:cNvPr id="21" name="Prediction heading 04"/>
          <p:cNvSpPr txBox="1"/>
          <p:nvPr/>
        </p:nvSpPr>
        <p:spPr>
          <a:xfrm>
            <a:off x="9674352" y="1828800"/>
            <a:ext cx="141732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比較與保存</a:t>
            </a:r>
          </a:p>
        </p:txBody>
      </p:sp>
      <p:sp>
        <p:nvSpPr>
          <p:cNvPr id="22" name="Prediction body 04"/>
          <p:cNvSpPr txBox="1"/>
          <p:nvPr/>
        </p:nvSpPr>
        <p:spPr>
          <a:xfrm>
            <a:off x="9217152" y="2578608"/>
            <a:ext cx="1883664" cy="8778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結果、解釋、反例</a:t>
            </a:r>
          </a:p>
        </p:txBody>
      </p:sp>
      <p:sp>
        <p:nvSpPr>
          <p:cNvPr id="23" name="Withheld case"/>
          <p:cNvSpPr/>
          <p:nvPr/>
        </p:nvSpPr>
        <p:spPr>
          <a:xfrm>
            <a:off x="1225296" y="4224528"/>
            <a:ext cx="9747504" cy="512064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保留條件案例維持 frozen policy，用來檢查機制是否可轉移。</a:t>
            </a:r>
          </a:p>
        </p:txBody>
      </p:sp>
      <p:sp>
        <p:nvSpPr>
          <p:cNvPr id="24" name="Field contract predi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prediction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（預測）｜來源：workbook record｜作用：指定可反駁的變化方向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單位：statement｜判讀：作為執行前的比較基準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三個實驗到底改什麼</a:t>
            </a:r>
          </a:p>
        </p:txBody>
      </p:sp>
      <p:sp>
        <p:nvSpPr>
          <p:cNvPr id="3" name="Lab map lead"/>
          <p:cNvSpPr txBox="1"/>
          <p:nvPr/>
        </p:nvSpPr>
        <p:spPr>
          <a:xfrm>
            <a:off x="896112" y="932688"/>
            <a:ext cx="1036929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三次都只改 student_policy.py 的一個 marked block；runner、scenario、schema 不動</a:t>
            </a:r>
          </a:p>
        </p:txBody>
      </p:sp>
      <p:sp>
        <p:nvSpPr>
          <p:cNvPr id="4" name="Lab map card 1"/>
          <p:cNvSpPr/>
          <p:nvPr/>
        </p:nvSpPr>
        <p:spPr>
          <a:xfrm>
            <a:off x="749808" y="1627632"/>
            <a:ext cx="3145536" cy="26700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map heading 1"/>
          <p:cNvSpPr txBox="1"/>
          <p:nvPr/>
        </p:nvSpPr>
        <p:spPr>
          <a:xfrm>
            <a:off x="896112" y="1847088"/>
            <a:ext cx="2852928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Lab A｜休息方式</a:t>
            </a:r>
          </a:p>
        </p:txBody>
      </p:sp>
      <p:sp>
        <p:nvSpPr>
          <p:cNvPr id="6" name="Lab map change 1"/>
          <p:cNvSpPr txBox="1"/>
          <p:nvPr/>
        </p:nvSpPr>
        <p:spPr>
          <a:xfrm>
            <a:off x="932688" y="2542032"/>
            <a:ext cx="2779776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 → WAIT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PACE_GAP_STEPS = 2 不變</a:t>
            </a:r>
          </a:p>
        </p:txBody>
      </p:sp>
      <p:sp>
        <p:nvSpPr>
          <p:cNvPr id="7" name="Lab map observe 1"/>
          <p:cNvSpPr txBox="1"/>
          <p:nvPr/>
        </p:nvSpPr>
        <p:spPr>
          <a:xfrm>
            <a:off x="950976" y="3529584"/>
            <a:ext cx="2743200" cy="56692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觀察：SLEEP／AWAKE_IDLE／WAKE 的時間與 J；封包服務</a:t>
            </a:r>
          </a:p>
        </p:txBody>
      </p:sp>
      <p:sp>
        <p:nvSpPr>
          <p:cNvPr id="8" name="Lab map card 2"/>
          <p:cNvSpPr/>
          <p:nvPr/>
        </p:nvSpPr>
        <p:spPr>
          <a:xfrm>
            <a:off x="4160520" y="1627632"/>
            <a:ext cx="3145536" cy="26700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b map heading 2"/>
          <p:cNvSpPr txBox="1"/>
          <p:nvPr/>
        </p:nvSpPr>
        <p:spPr>
          <a:xfrm>
            <a:off x="4306824" y="1847088"/>
            <a:ext cx="2852928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Lab B｜穩定門檻</a:t>
            </a:r>
          </a:p>
        </p:txBody>
      </p:sp>
      <p:sp>
        <p:nvSpPr>
          <p:cNvPr id="10" name="Lab map change 2"/>
          <p:cNvSpPr txBox="1"/>
          <p:nvPr/>
        </p:nvSpPr>
        <p:spPr>
          <a:xfrm>
            <a:off x="4343400" y="2542032"/>
            <a:ext cx="2779776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STABLE_STEPS：2 →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ENTER_QUALITY=2／EXIT_QUALITY=1 不變</a:t>
            </a:r>
          </a:p>
        </p:txBody>
      </p:sp>
      <p:sp>
        <p:nvSpPr>
          <p:cNvPr id="11" name="Lab map observe 2"/>
          <p:cNvSpPr txBox="1"/>
          <p:nvPr/>
        </p:nvSpPr>
        <p:spPr>
          <a:xfrm>
            <a:off x="4361688" y="3529584"/>
            <a:ext cx="2743200" cy="56692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觀察：進入時機、attempt／retry／delivery、service、J</a:t>
            </a:r>
          </a:p>
        </p:txBody>
      </p:sp>
      <p:sp>
        <p:nvSpPr>
          <p:cNvPr id="12" name="Lab map card 3"/>
          <p:cNvSpPr/>
          <p:nvPr/>
        </p:nvSpPr>
        <p:spPr>
          <a:xfrm>
            <a:off x="7571231" y="1627632"/>
            <a:ext cx="3145536" cy="26700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 map heading 3"/>
          <p:cNvSpPr txBox="1"/>
          <p:nvPr/>
        </p:nvSpPr>
        <p:spPr>
          <a:xfrm>
            <a:off x="7717536" y="1847088"/>
            <a:ext cx="2852928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Lab C｜急件提前量</a:t>
            </a:r>
          </a:p>
        </p:txBody>
      </p:sp>
      <p:sp>
        <p:nvSpPr>
          <p:cNvPr id="14" name="Lab map change 3"/>
          <p:cNvSpPr txBox="1"/>
          <p:nvPr/>
        </p:nvSpPr>
        <p:spPr>
          <a:xfrm>
            <a:off x="7754111" y="2542032"/>
            <a:ext cx="2779776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URGENT_MARGIN_S：20 → 5 → 30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 不變</a:t>
            </a:r>
          </a:p>
        </p:txBody>
      </p:sp>
      <p:sp>
        <p:nvSpPr>
          <p:cNvPr id="15" name="Lab map observe 3"/>
          <p:cNvSpPr txBox="1"/>
          <p:nvPr/>
        </p:nvSpPr>
        <p:spPr>
          <a:xfrm>
            <a:off x="7772400" y="3529584"/>
            <a:ext cx="2743200" cy="56692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觀察：urgent timing、deadline／expired、service、J</a:t>
            </a:r>
          </a:p>
        </p:txBody>
      </p:sp>
      <p:sp>
        <p:nvSpPr>
          <p:cNvPr id="16" name="Lab map causal strip"/>
          <p:cNvSpPr/>
          <p:nvPr/>
        </p:nvSpPr>
        <p:spPr>
          <a:xfrm>
            <a:off x="969264" y="4480560"/>
            <a:ext cx="10241280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同一檔案／同一 scenario／固定 runner → prediction → baseline → candidate → withheld</a:t>
            </a:r>
          </a:p>
        </p:txBody>
      </p:sp>
      <p:sp>
        <p:nvSpPr>
          <p:cNvPr id="17" name="Field contract marked block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marked block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（受控區塊）｜來源：student_policy.py｜作用：限制可修改的最小決策面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單位：one block｜判讀：其他行與檔案不動，才能歸因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提供的三項價值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它提供成熟的 LoRa 端點問題框架，讓狀態、封包與能量能沿同一條路徑解讀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端點狀態與能量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把休眠、處理、TX、RX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連到端點能量邊界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封包事件與可靠度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用封包、碰撞、重試、送達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解釋策略後果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可重複研究架構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固定模型來源與版本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讓案例與結果可以比較</a:t>
            </a:r>
          </a:p>
        </p:txBody>
      </p:sp>
      <p:sp>
        <p:nvSpPr>
          <p:cNvPr id="15" name="LoRaEnergySim value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讓策略動作可以連到狀態、封包、服務與端點能量證據</a:t>
            </a:r>
          </a:p>
        </p:txBody>
      </p:sp>
      <p:sp>
        <p:nvSpPr>
          <p:cNvPr id="16" name="Field contract model_referen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model_reference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（模型參考）｜來源：固定的 LoRaEnergySim repository 與版本｜作用：提供端點狀態、封包事件與能量欄位的可追溯來源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單位：來源識別｜判讀：以相同模型語言比較不同策略的事件與結果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把下載資料搬進 Linux 課程資料夾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把下載資料搬進 Linux 課程資料夾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這一步只做路徑準備：把 release 帶進 Linux，再確認程式根目錄</a:t>
            </a:r>
          </a:p>
        </p:txBody>
      </p:sp>
      <p:sp>
        <p:nvSpPr>
          <p:cNvPr id="6" name="把下載資料搬進 Linux 課程資料夾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把下載資料搬進 Linux 課程資料夾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這個工作區</a:t>
            </a:r>
          </a:p>
        </p:txBody>
      </p:sp>
      <p:sp>
        <p:nvSpPr>
          <p:cNvPr id="8" name="把下載資料搬進 Linux 課程資料夾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WSL＝Windows 內的 Linux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/mnt/c/.../Downloads</a:t>
            </a:r>
          </a:p>
        </p:txBody>
      </p:sp>
      <p:sp>
        <p:nvSpPr>
          <p:cNvPr id="9" name="把下載資料搬進 Linux 課程資料夾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把下載資料搬進 Linux 課程資料夾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程式不改</a:t>
            </a:r>
          </a:p>
        </p:txBody>
      </p:sp>
      <p:sp>
        <p:nvSpPr>
          <p:cNvPr id="11" name="把下載資料搬進 Linux 課程資料夾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不動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只複製 release 副本</a:t>
            </a:r>
          </a:p>
        </p:txBody>
      </p:sp>
      <p:sp>
        <p:nvSpPr>
          <p:cNvPr id="12" name="把下載資料搬進 Linux 課程資料夾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把下載資料搬進 Linux 課程資料夾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進入根目錄</a:t>
            </a:r>
          </a:p>
        </p:txBody>
      </p:sp>
      <p:sp>
        <p:nvSpPr>
          <p:cNvPr id="14" name="把下載資料搬進 Linux 課程資料夾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下一步集中到 Linux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</p:txBody>
      </p:sp>
      <p:sp>
        <p:nvSpPr>
          <p:cNvPr id="15" name="把下載資料搬進 Linux 課程資料夾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把下載資料搬進 Linux 課程資料夾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核對結果</a:t>
            </a:r>
          </a:p>
        </p:txBody>
      </p:sp>
      <p:sp>
        <p:nvSpPr>
          <p:cNvPr id="17" name="把下載資料搬進 Linux 課程資料夾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pwd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只讀位置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路徑不對就先停止</a:t>
            </a:r>
          </a:p>
        </p:txBody>
      </p:sp>
      <p:sp>
        <p:nvSpPr>
          <p:cNvPr id="18" name="把下載資料搬進 Linux 課程資料夾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先把下載副本放進 Linux，再確認根目錄；路徑錯會讓後續設定讀錯檔</a:t>
            </a:r>
          </a:p>
        </p:txBody>
      </p:sp>
      <p:sp>
        <p:nvSpPr>
          <p:cNvPr id="19" name="Field contract pwd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pwd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（目前目錄命令）｜來源：Linux／macOS 終端機（WSL 也使用 Linux 指令）｜作用：確認目前位置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單位：路徑文字｜判讀：輸出應位於 Linux home 的課程資料夾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建立環境並確認 READY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建立環境並確認 READY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這一步建立可重現環境；沒有程式策略改動，先拿到 READY</a:t>
            </a:r>
          </a:p>
        </p:txBody>
      </p:sp>
      <p:sp>
        <p:nvSpPr>
          <p:cNvPr id="6" name="建立環境並確認 READY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建立環境並確認 READY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Linux／macOS 終端機</a:t>
            </a:r>
          </a:p>
        </p:txBody>
      </p:sp>
      <p:sp>
        <p:nvSpPr>
          <p:cNvPr id="8" name="建立環境並確認 READY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WSL 也使用 Linux 指令</a:t>
            </a:r>
          </a:p>
        </p:txBody>
      </p:sp>
      <p:sp>
        <p:nvSpPr>
          <p:cNvPr id="9" name="建立環境並確認 READY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建立環境並確認 READY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建立環境</a:t>
            </a:r>
          </a:p>
        </p:txBody>
      </p:sp>
      <p:sp>
        <p:nvSpPr>
          <p:cNvPr id="11" name="建立環境並確認 READY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setup.sh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不改 policy source</a:t>
            </a:r>
          </a:p>
        </p:txBody>
      </p:sp>
      <p:sp>
        <p:nvSpPr>
          <p:cNvPr id="12" name="建立環境並確認 READY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建立環境並確認 READY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下一步</a:t>
            </a:r>
          </a:p>
        </p:txBody>
      </p:sp>
      <p:sp>
        <p:nvSpPr>
          <p:cNvPr id="14" name="建立環境並確認 READY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course.sh verify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預期看到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READY</a:t>
            </a:r>
          </a:p>
        </p:txBody>
      </p:sp>
      <p:sp>
        <p:nvSpPr>
          <p:cNvPr id="15" name="建立環境並確認 READY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建立環境並確認 READY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Windows shells</a:t>
            </a:r>
          </a:p>
        </p:txBody>
      </p:sp>
      <p:sp>
        <p:nvSpPr>
          <p:cNvPr id="17" name="建立環境並確認 READY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PowerShell／Command Prompt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只讀 READY 結果</a:t>
            </a:r>
          </a:p>
        </p:txBody>
      </p:sp>
      <p:sp>
        <p:nvSpPr>
          <p:cNvPr id="18" name="建立環境並確認 READY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指定版本 → 建立隔離環境 → READY；此時尚無案例結果</a:t>
            </a:r>
          </a:p>
        </p:txBody>
      </p:sp>
      <p:sp>
        <p:nvSpPr>
          <p:cNvPr id="19" name="Field contract PYTHON_BI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（Python 執行器路徑變數）｜來源：命令工具設定｜作用：指定要使用的版本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單位：路徑文字｜判讀：供建立環境的命令讀取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READY 只代表環境可用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READY 只代表環境可用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這一步只讀環境收據；它不是案例結果，也不會改程式</a:t>
            </a:r>
          </a:p>
        </p:txBody>
      </p:sp>
      <p:sp>
        <p:nvSpPr>
          <p:cNvPr id="6" name="READY 只代表環境可用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ADY 只代表環境可用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Linux／macOS 終端機</a:t>
            </a:r>
          </a:p>
        </p:txBody>
      </p:sp>
      <p:sp>
        <p:nvSpPr>
          <p:cNvPr id="8" name="READY 只代表環境可用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WSL 也使用 Linux 指令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只讀收據</a:t>
            </a:r>
          </a:p>
        </p:txBody>
      </p:sp>
      <p:sp>
        <p:nvSpPr>
          <p:cNvPr id="9" name="READY 只代表環境可用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ADY 只代表環境可用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Windows PowerShell</a:t>
            </a:r>
          </a:p>
        </p:txBody>
      </p:sp>
      <p:sp>
        <p:nvSpPr>
          <p:cNvPr id="11" name="READY 只代表環境可用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只讀同一份收據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不修改檔案</a:t>
            </a:r>
          </a:p>
        </p:txBody>
      </p:sp>
      <p:sp>
        <p:nvSpPr>
          <p:cNvPr id="12" name="READY 只代表環境可用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ADY 只代表環境可用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Windows Command Prompt</a:t>
            </a:r>
          </a:p>
        </p:txBody>
      </p:sp>
      <p:sp>
        <p:nvSpPr>
          <p:cNvPr id="14" name="READY 只代表環境可用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只讀同一份收據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不修改檔案</a:t>
            </a:r>
          </a:p>
        </p:txBody>
      </p:sp>
      <p:sp>
        <p:nvSpPr>
          <p:cNvPr id="15" name="READY 只代表環境可用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ADY 只代表環境可用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下一步／看什麼</a:t>
            </a:r>
          </a:p>
        </p:txBody>
      </p:sp>
      <p:sp>
        <p:nvSpPr>
          <p:cNvPr id="17" name="READY 只代表環境可用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核對狀態、版本、身份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一致才進案例</a:t>
            </a:r>
          </a:p>
        </p:txBody>
      </p:sp>
      <p:sp>
        <p:nvSpPr>
          <p:cNvPr id="18" name="READY 只代表環境可用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不同工具只是在讀同一張收據；檔案內容與來源不變</a:t>
            </a:r>
          </a:p>
        </p:txBody>
      </p:sp>
      <p:sp>
        <p:nvSpPr>
          <p:cNvPr id="19" name="Field contract verify-receipt.js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verify-receipt.json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（驗證收據檔）｜來源：環境檢查命令｜作用：記錄環境與契約關卡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單位：JSON 檔案｜判讀：只解讀環境證據，不代替案例結果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確認環境與案例身份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確認環境與案例身份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這一步確認能不能進案例，以及案例是否綁定正確情境</a:t>
            </a:r>
          </a:p>
        </p:txBody>
      </p:sp>
      <p:sp>
        <p:nvSpPr>
          <p:cNvPr id="6" name="確認環境與案例身份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確認環境與案例身份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狀態</a:t>
            </a:r>
          </a:p>
        </p:txBody>
      </p:sp>
      <p:sp>
        <p:nvSpPr>
          <p:cNvPr id="8" name="確認環境與案例身份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status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必須 READY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否則不能 run</a:t>
            </a:r>
          </a:p>
        </p:txBody>
      </p:sp>
      <p:sp>
        <p:nvSpPr>
          <p:cNvPr id="9" name="確認環境與案例身份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確認環境與案例身份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版本</a:t>
            </a:r>
          </a:p>
        </p:txBody>
      </p:sp>
      <p:sp>
        <p:nvSpPr>
          <p:cNvPr id="11" name="確認環境與案例身份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必須 3.11.x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不改 policy</a:t>
            </a:r>
          </a:p>
        </p:txBody>
      </p:sp>
      <p:sp>
        <p:nvSpPr>
          <p:cNvPr id="12" name="確認環境與案例身份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確認環境與案例身份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情境</a:t>
            </a:r>
          </a:p>
        </p:txBody>
      </p:sp>
      <p:sp>
        <p:nvSpPr>
          <p:cNvPr id="14" name="確認環境與案例身份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固定案例身份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15" name="確認環境與案例身份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確認環境與案例身份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下一步／證據</a:t>
            </a:r>
          </a:p>
        </p:txBody>
      </p:sp>
      <p:sp>
        <p:nvSpPr>
          <p:cNvPr id="17" name="確認環境與案例身份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一致才執行 run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結果另看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</p:txBody>
      </p:sp>
      <p:sp>
        <p:nvSpPr>
          <p:cNvPr id="18" name="確認環境與案例身份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READY 只代表環境可用；服務與能量要等案例結果</a:t>
            </a:r>
          </a:p>
        </p:txBody>
      </p:sp>
      <p:sp>
        <p:nvSpPr>
          <p:cNvPr id="19" name="Field contract statu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（狀態）｜來源：驗證收據｜作用：表示關卡是否可進入案例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單位：狀態值｜判讀：通過只表示環境與契約一致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說清資料來源與主張邊界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說清資料來源與主張邊界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這一步標明資料來源；主張邊界比漂亮數字更重要</a:t>
            </a:r>
          </a:p>
        </p:txBody>
      </p:sp>
      <p:sp>
        <p:nvSpPr>
          <p:cNvPr id="6" name="說清資料來源與主張邊界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說清資料來源與主張邊界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資料模式</a:t>
            </a:r>
          </a:p>
        </p:txBody>
      </p:sp>
      <p:sp>
        <p:nvSpPr>
          <p:cNvPr id="8" name="說清資料來源與主張邊界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課程使用模擬資料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engine_mode</a:t>
            </a:r>
          </a:p>
        </p:txBody>
      </p:sp>
      <p:sp>
        <p:nvSpPr>
          <p:cNvPr id="9" name="說清資料來源與主張邊界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說清資料來源與主張邊界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是否實跑</a:t>
            </a:r>
          </a:p>
        </p:txBody>
      </p:sp>
      <p:sp>
        <p:nvSpPr>
          <p:cNvPr id="11" name="說清資料來源與主張邊界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沒有執行上游程式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false</a:t>
            </a:r>
          </a:p>
        </p:txBody>
      </p:sp>
      <p:sp>
        <p:nvSpPr>
          <p:cNvPr id="12" name="說清資料來源與主張邊界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說清資料來源與主張邊界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不可超出</a:t>
            </a:r>
          </a:p>
        </p:txBody>
      </p:sp>
      <p:sp>
        <p:nvSpPr>
          <p:cNvPr id="14" name="說清資料來源與主張邊界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非即時、非實測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不叫 canonical</a:t>
            </a:r>
          </a:p>
        </p:txBody>
      </p:sp>
      <p:sp>
        <p:nvSpPr>
          <p:cNvPr id="15" name="說清資料來源與主張邊界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說清資料來源與主張邊界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下一步／證據</a:t>
            </a:r>
          </a:p>
        </p:txBody>
      </p:sp>
      <p:sp>
        <p:nvSpPr>
          <p:cNvPr id="17" name="說清資料來源與主張邊界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 另產生 identity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artifact_source</a:t>
            </a:r>
          </a:p>
        </p:txBody>
      </p:sp>
      <p:sp>
        <p:nvSpPr>
          <p:cNvPr id="18" name="說清資料來源與主張邊界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先標資料來源，再決定能說到哪裡；不能把模擬說成實測</a:t>
            </a:r>
          </a:p>
        </p:txBody>
      </p:sp>
      <p:sp>
        <p:nvSpPr>
          <p:cNvPr id="19" name="Field contract engine_mod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engine_mode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（執行模式）｜來源：執行器紀錄｜作用：分類資料產生方式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單位：模式值｜判讀：模擬資料不延伸成上游程式執行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卡住時修復或保留來源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卡住時修復或保留來源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這一步處理卡關：修得好就重跑，修不好也不冒充本機執行</a:t>
            </a:r>
          </a:p>
        </p:txBody>
      </p:sp>
      <p:sp>
        <p:nvSpPr>
          <p:cNvPr id="6" name="卡住時修復或保留來源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卡住時修復或保留來源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正常</a:t>
            </a:r>
          </a:p>
        </p:txBody>
      </p:sp>
      <p:sp>
        <p:nvSpPr>
          <p:cNvPr id="8" name="卡住時修復或保留來源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READY 後執行案例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產生新結果</a:t>
            </a:r>
          </a:p>
        </p:txBody>
      </p:sp>
      <p:sp>
        <p:nvSpPr>
          <p:cNvPr id="9" name="卡住時修復或保留來源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卡住時修復或保留來源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② 修復什麼</a:t>
            </a:r>
          </a:p>
        </p:txBody>
      </p:sp>
      <p:sp>
        <p:nvSpPr>
          <p:cNvPr id="11" name="卡住時修復或保留來源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 Python、root、lock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不改 policy block</a:t>
            </a:r>
          </a:p>
        </p:txBody>
      </p:sp>
      <p:sp>
        <p:nvSpPr>
          <p:cNvPr id="12" name="卡住時修復或保留來源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卡住時修復或保留來源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③ 回復什麼</a:t>
            </a:r>
          </a:p>
        </p:txBody>
      </p:sp>
      <p:sp>
        <p:nvSpPr>
          <p:cNvPr id="14" name="卡住時修復或保留來源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同情境結果成對保存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15" name="卡住時修復或保留來源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卡住時修復或保留來源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看什麼</a:t>
            </a:r>
          </a:p>
        </p:txBody>
      </p:sp>
      <p:sp>
        <p:nvSpPr>
          <p:cNvPr id="17" name="卡住時修復或保留來源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artifact_source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判斷本機或回復</a:t>
            </a:r>
          </a:p>
        </p:txBody>
      </p:sp>
      <p:sp>
        <p:nvSpPr>
          <p:cNvPr id="18" name="卡住時修復或保留來源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修復不改策略；回復不冒充本機執行</a:t>
            </a:r>
          </a:p>
        </p:txBody>
      </p:sp>
      <p:sp>
        <p:nvSpPr>
          <p:cNvPr id="19" name="Field contract artifact_sour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artifact_source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（資料來源分類）｜來源：結果紀錄｜作用：標示本機執行或回復資料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單位：來源值｜判讀：來源模式保持原值，不改寫成本機執行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只可修改三個標記區塊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只可修改三個標記區塊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這一步畫出可編輯邊界：三個實驗區可改，其他程式只讀</a:t>
            </a:r>
          </a:p>
        </p:txBody>
      </p:sp>
      <p:sp>
        <p:nvSpPr>
          <p:cNvPr id="6" name="只可修改三個標記區塊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只可修改三個標記區塊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唯一檔案</a:t>
            </a:r>
          </a:p>
        </p:txBody>
      </p:sp>
      <p:sp>
        <p:nvSpPr>
          <p:cNvPr id="8" name="只可修改三個標記區塊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只在這裡做實驗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9" name="只可修改三個標記區塊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只可修改三個標記區塊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② 可改區段</a:t>
            </a:r>
          </a:p>
        </p:txBody>
      </p:sp>
      <p:sp>
        <p:nvSpPr>
          <p:cNvPr id="11" name="只可修改三個標記區塊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A／B／C 三個標記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</p:txBody>
      </p:sp>
      <p:sp>
        <p:nvSpPr>
          <p:cNvPr id="12" name="只可修改三個標記區塊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只可修改三個標記區塊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③ 保持不變</a:t>
            </a:r>
          </a:p>
        </p:txBody>
      </p:sp>
      <p:sp>
        <p:nvSpPr>
          <p:cNvPr id="14" name="只可修改三個標記區塊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中文註解、函式、情境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runner、schemas 不動</a:t>
            </a:r>
          </a:p>
        </p:txBody>
      </p:sp>
      <p:sp>
        <p:nvSpPr>
          <p:cNvPr id="15" name="只可修改三個標記區塊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只可修改三個標記區塊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下一步／證據</a:t>
            </a:r>
          </a:p>
        </p:txBody>
      </p:sp>
      <p:sp>
        <p:nvSpPr>
          <p:cNvPr id="17" name="只可修改三個標記區塊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只開目前 lab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結果仍看 result／replay</a:t>
            </a:r>
          </a:p>
        </p:txBody>
      </p:sp>
      <p:sp>
        <p:nvSpPr>
          <p:cNvPr id="18" name="只可修改三個標記區塊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只開目前實驗區；其他檔案與輸出契約保持不變</a:t>
            </a:r>
          </a:p>
        </p:txBody>
      </p:sp>
      <p:sp>
        <p:nvSpPr>
          <p:cNvPr id="19" name="Field contract marked block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marked block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（標記區段）｜來源：檔案標記｜作用：界定一個實驗的可編輯範圍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單位：程式碼區段｜判讀：其他套件邊界維持唯讀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程式每次判斷會看什麼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程式每次判斷會看什麼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這一步先說清楚輸入：每個 step 只看目前／過去資料</a:t>
            </a:r>
          </a:p>
        </p:txBody>
      </p:sp>
      <p:sp>
        <p:nvSpPr>
          <p:cNvPr id="6" name="程式每次判斷會看什麼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程式每次判斷會看什麼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讀目前資料</a:t>
            </a:r>
          </a:p>
        </p:txBody>
      </p:sp>
      <p:sp>
        <p:nvSpPr>
          <p:cNvPr id="8" name="程式每次判斷會看什麼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窗口、急件、間隔、品質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都是當下 snapshot</a:t>
            </a:r>
          </a:p>
        </p:txBody>
      </p:sp>
      <p:sp>
        <p:nvSpPr>
          <p:cNvPr id="9" name="程式每次判斷會看什麼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程式每次判斷會看什麼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② 不讀未來</a:t>
            </a:r>
          </a:p>
        </p:txBody>
      </p:sp>
      <p:sp>
        <p:nvSpPr>
          <p:cNvPr id="11" name="程式每次判斷會看什麼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不看結果摘要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不回看 energy</a:t>
            </a:r>
          </a:p>
        </p:txBody>
      </p:sp>
      <p:sp>
        <p:nvSpPr>
          <p:cNvPr id="12" name="程式每次判斷會看什麼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程式每次判斷會看什麼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交給函式</a:t>
            </a:r>
          </a:p>
        </p:txBody>
      </p:sp>
      <p:sp>
        <p:nvSpPr>
          <p:cNvPr id="14" name="程式每次判斷會看什麼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把目前資料交給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choose_action()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再回一個合法動作</a:t>
            </a:r>
          </a:p>
        </p:txBody>
      </p:sp>
      <p:sp>
        <p:nvSpPr>
          <p:cNvPr id="15" name="程式每次判斷會看什麼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程式每次判斷會看什麼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下一步／證據</a:t>
            </a:r>
          </a:p>
        </p:txBody>
      </p:sp>
      <p:sp>
        <p:nvSpPr>
          <p:cNvPr id="17" name="程式每次判斷會看什麼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回一個合法動作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 再記 event／result</a:t>
            </a:r>
          </a:p>
        </p:txBody>
      </p:sp>
      <p:sp>
        <p:nvSpPr>
          <p:cNvPr id="18" name="程式每次判斷會看什麼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當下觀察 → 合法動作；這一頁沒有程式值變更</a:t>
            </a:r>
          </a:p>
        </p:txBody>
      </p:sp>
      <p:sp>
        <p:nvSpPr>
          <p:cNvPr id="19" name="Field contract choose_a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choose_action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（策略函式）｜來源：student_policy.py｜作用：依當下觀察回傳一個合法動作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單位：函式契約｜判讀：只讀目前／過去欄位，不讀未來結果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判斷順序如何產生動作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判斷順序如何產生動作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這一步把合法動作順序翻成白話；鏡像可讀，不能貼回程式</a:t>
            </a:r>
          </a:p>
        </p:txBody>
      </p:sp>
      <p:sp>
        <p:nvSpPr>
          <p:cNvPr id="6" name="判斷順序如何產生動作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判斷順序如何產生動作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窗口關閉</a:t>
            </a:r>
          </a:p>
        </p:txBody>
      </p:sp>
      <p:sp>
        <p:nvSpPr>
          <p:cNvPr id="8" name="判斷順序如何產生動作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不能送出，先休息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9" name="判斷順序如何產生動作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判斷順序如何產生動作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② 期限逼近</a:t>
            </a:r>
          </a:p>
        </p:txBody>
      </p:sp>
      <p:sp>
        <p:nvSpPr>
          <p:cNvPr id="11" name="判斷順序如何產生動作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急件先送出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2" name="判斷順序如何產生動作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判斷順序如何產生動作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節奏／品質</a:t>
            </a:r>
          </a:p>
        </p:txBody>
      </p:sp>
      <p:sp>
        <p:nvSpPr>
          <p:cNvPr id="14" name="判斷順序如何產生動作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間隔未到休息；品質未穩等待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5" name="判斷順序如何產生動作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判斷順序如何產生動作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佇列／保底</a:t>
            </a:r>
          </a:p>
        </p:txBody>
      </p:sp>
      <p:sp>
        <p:nvSpPr>
          <p:cNvPr id="17" name="判斷順序如何產生動作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夠量批次，否則單筆；無事等待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FLUSH_BATCH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SEND_ONE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8" name="判斷順序如何產生動作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先看窗口，再看期限、間隔、品質與佇列；順序會改變動作</a:t>
            </a:r>
          </a:p>
        </p:txBody>
      </p:sp>
      <p:sp>
        <p:nvSpPr>
          <p:cNvPr id="19" name="Field contract a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（合法動作）｜來源：policy API｜作用：把條件轉成 runner 可執行的動作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單位：enum｜判讀：下一步從 state／packet／service／endpoint J 讀後果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縮排與回傳決定程式走哪條路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縮排與回傳決定程式走哪條路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這一步只讀一小段程式：看縮排如何選分支，再把動作交回執行器</a:t>
            </a:r>
          </a:p>
        </p:txBody>
      </p:sp>
      <p:sp>
        <p:nvSpPr>
          <p:cNvPr id="6" name="縮排與回傳決定程式走哪條路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縮排與回傳決定程式走哪條路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先看意思</a:t>
            </a:r>
          </a:p>
        </p:txBody>
      </p:sp>
      <p:sp>
        <p:nvSpPr>
          <p:cNvPr id="8" name="縮排與回傳決定程式走哪條路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窗口關閉就不送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if ...: return SLEEP</a:t>
            </a:r>
          </a:p>
        </p:txBody>
      </p:sp>
      <p:sp>
        <p:nvSpPr>
          <p:cNvPr id="9" name="縮排與回傳決定程式走哪條路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縮排與回傳決定程式走哪條路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縮排做什麼</a:t>
            </a:r>
          </a:p>
        </p:txBody>
      </p:sp>
      <p:sp>
        <p:nvSpPr>
          <p:cNvPr id="11" name="縮排與回傳決定程式走哪條路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把條件放進正確分支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 active block</a:t>
            </a:r>
          </a:p>
        </p:txBody>
      </p:sp>
      <p:sp>
        <p:nvSpPr>
          <p:cNvPr id="12" name="縮排與回傳決定程式走哪條路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縮排與回傳決定程式走哪條路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先檢查</a:t>
            </a:r>
          </a:p>
        </p:txBody>
      </p:sp>
      <p:sp>
        <p:nvSpPr>
          <p:cNvPr id="14" name="縮排與回傳決定程式走哪條路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py_compile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只檢查語法、不改檔</a:t>
            </a:r>
          </a:p>
        </p:txBody>
      </p:sp>
      <p:sp>
        <p:nvSpPr>
          <p:cNvPr id="15" name="縮排與回傳決定程式走哪條路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縮排與回傳決定程式走哪條路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下一步／看什麼</a:t>
            </a:r>
          </a:p>
        </p:txBody>
      </p:sp>
      <p:sp>
        <p:nvSpPr>
          <p:cNvPr id="17" name="縮排與回傳決定程式走哪條路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通過後跑 baseline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result／replay pair</a:t>
            </a:r>
          </a:p>
        </p:txBody>
      </p:sp>
      <p:sp>
        <p:nvSpPr>
          <p:cNvPr id="18" name="縮排與回傳決定程式走哪條路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縮排 → 分支 → 回傳 → runner 事件；語法檢查不改內容</a:t>
            </a:r>
          </a:p>
        </p:txBody>
      </p:sp>
      <p:sp>
        <p:nvSpPr>
          <p:cNvPr id="19" name="Field contract retur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return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（回傳）｜來源：policy function｜作用：把一個合法動作交給執行器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單位：動作值｜判讀：語法通過後再看 result／replay 的實際事件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先建立基準結果再比較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先建立基準結果再比較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這一步先保存沒有改動的基準，下一步才比較候選值</a:t>
            </a:r>
          </a:p>
        </p:txBody>
      </p:sp>
      <p:sp>
        <p:nvSpPr>
          <p:cNvPr id="6" name="先建立基準結果再比較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先建立基準結果再比較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固定輸入</a:t>
            </a:r>
          </a:p>
        </p:txBody>
      </p:sp>
      <p:sp>
        <p:nvSpPr>
          <p:cNvPr id="8" name="先建立基準結果再比較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packaged policy＋固定情境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不讀未來結果</a:t>
            </a:r>
          </a:p>
        </p:txBody>
      </p:sp>
      <p:sp>
        <p:nvSpPr>
          <p:cNvPr id="9" name="先建立基準結果再比較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先建立基準結果再比較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執行命令</a:t>
            </a:r>
          </a:p>
        </p:txBody>
      </p:sp>
      <p:sp>
        <p:nvSpPr>
          <p:cNvPr id="11" name="先建立基準結果再比較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只跑 baseline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12" name="先建立基準結果再比較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先建立基準結果再比較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產生結果</a:t>
            </a:r>
          </a:p>
        </p:txBody>
      </p:sp>
      <p:sp>
        <p:nvSpPr>
          <p:cNvPr id="14" name="先建立基準結果再比較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新增 result／replay pair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原始程式不回寫</a:t>
            </a:r>
          </a:p>
        </p:txBody>
      </p:sp>
      <p:sp>
        <p:nvSpPr>
          <p:cNvPr id="15" name="先建立基準結果再比較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先建立基準結果再比較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下一步／看什麼</a:t>
            </a:r>
          </a:p>
        </p:txBody>
      </p:sp>
      <p:sp>
        <p:nvSpPr>
          <p:cNvPr id="17" name="先建立基準結果再比較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確認 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status: OK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、路徑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 service，再成本</a:t>
            </a:r>
          </a:p>
        </p:txBody>
      </p:sp>
      <p:sp>
        <p:nvSpPr>
          <p:cNvPr id="18" name="先建立基準結果再比較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先保存基準，再凍結規則，最後比較候選；結果不能回頭改 block</a:t>
            </a:r>
          </a:p>
        </p:txBody>
      </p:sp>
      <p:sp>
        <p:nvSpPr>
          <p:cNvPr id="19" name="Field contract result_path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（結果檔路徑）｜來源：命令輸出｜作用：定位 result.json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單位：路徑文字｜判讀：網站只匯入 result.json；endpoint replay 只做配對，runner 不是網站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先找到唯一要改的地方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A 比較空檔休眠與清醒等待，觀察服務與端點能量的取捨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檔案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只修改這一份策略檔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標記區塊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lab-a-pace-rest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只開目前 Lab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唯一變數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其他值與檔案不動</a:t>
            </a:r>
          </a:p>
        </p:txBody>
      </p:sp>
      <p:sp>
        <p:nvSpPr>
          <p:cNvPr id="15" name="A locate boundary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保持不變：PACE_GAP_STEPS = 2、runner、scenario、schemas 與其他 Lab 區塊</a:t>
            </a:r>
          </a:p>
        </p:txBody>
      </p:sp>
      <p:sp>
        <p:nvSpPr>
          <p:cNvPr id="16" name="Field contract REST_DURING_GAP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（空檔動作）｜來源：student_policy.py marked block｜作用：控制本 Lab 的單一策略差異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單位：設定值｜判讀：只有此值可改，才能把結果差異歸因於本次修改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只改這一行：SLEEP → WAIT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兩邊程式結構完全相同；只比較反白的一個值</a:t>
            </a:r>
          </a:p>
        </p:txBody>
      </p:sp>
      <p:sp>
        <p:nvSpPr>
          <p:cNvPr id="6" name="A before"/>
          <p:cNvSpPr/>
          <p:nvPr/>
        </p:nvSpPr>
        <p:spPr>
          <a:xfrm>
            <a:off x="859536" y="1481328"/>
            <a:ext cx="506577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 before heading"/>
          <p:cNvSpPr txBox="1"/>
          <p:nvPr/>
        </p:nvSpPr>
        <p:spPr>
          <a:xfrm>
            <a:off x="1005839" y="1572768"/>
            <a:ext cx="4773168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修改前｜Before</a:t>
            </a:r>
          </a:p>
        </p:txBody>
      </p:sp>
      <p:sp>
        <p:nvSpPr>
          <p:cNvPr id="8" name="A before explanation"/>
          <p:cNvSpPr txBox="1"/>
          <p:nvPr/>
        </p:nvSpPr>
        <p:spPr>
          <a:xfrm>
            <a:off x="1005839" y="2011680"/>
            <a:ext cx="4773168" cy="175564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SLEEP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空檔進入低功耗休息</a:t>
            </a:r>
          </a:p>
        </p:txBody>
      </p:sp>
      <p:sp>
        <p:nvSpPr>
          <p:cNvPr id="9" name="A after"/>
          <p:cNvSpPr/>
          <p:nvPr/>
        </p:nvSpPr>
        <p:spPr>
          <a:xfrm>
            <a:off x="6254496" y="1481328"/>
            <a:ext cx="506577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 after heading"/>
          <p:cNvSpPr txBox="1"/>
          <p:nvPr/>
        </p:nvSpPr>
        <p:spPr>
          <a:xfrm>
            <a:off x="6400800" y="1572768"/>
            <a:ext cx="4773168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修改後｜After</a:t>
            </a:r>
          </a:p>
        </p:txBody>
      </p:sp>
      <p:sp>
        <p:nvSpPr>
          <p:cNvPr id="11" name="A after explanation"/>
          <p:cNvSpPr txBox="1"/>
          <p:nvPr/>
        </p:nvSpPr>
        <p:spPr>
          <a:xfrm>
            <a:off x="6400800" y="2011680"/>
            <a:ext cx="4773168" cy="175564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空檔保持清醒等待</a:t>
            </a:r>
          </a:p>
        </p:txBody>
      </p:sp>
      <p:sp>
        <p:nvSpPr>
          <p:cNvPr id="12" name="A one line diff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唯一修改：SLEEP → WAIT；不是修改 PACE_GAP_STEPS</a:t>
            </a:r>
          </a:p>
        </p:txBody>
      </p:sp>
      <p:sp>
        <p:nvSpPr>
          <p:cNvPr id="13" name="Field contract REST_DURING_GAP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（本次修改值）｜來源：目前 Lab 的 marked block｜作用：改變策略判斷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單位：依變數定義｜判讀：修改後先做語法檢查，再執行指定 case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為什麼 SLEEP → WAIT，接著怎麼執行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 可能減少再次喚醒，卻會累積清醒閒置能量；必須同時看服務與焦耳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91056"/>
            <a:ext cx="2505456" cy="233172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空檔進入低功耗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之後傳送要 WAKE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3630168" y="1591056"/>
            <a:ext cx="2505456" cy="233172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377647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3794760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空檔保持清醒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awake-idle 持續累積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6419088" y="1591056"/>
            <a:ext cx="2505456" cy="2331720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656539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封包後果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6583679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動作時機改變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attempt／retry／delivery</a:t>
            </a:r>
          </a:p>
        </p:txBody>
      </p:sp>
      <p:sp>
        <p:nvSpPr>
          <p:cNvPr id="15" name="Teaching card 4"/>
          <p:cNvSpPr/>
          <p:nvPr/>
        </p:nvSpPr>
        <p:spPr>
          <a:xfrm>
            <a:off x="9208008" y="1591056"/>
            <a:ext cx="2505456" cy="2331720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card 4 heading"/>
          <p:cNvSpPr txBox="1"/>
          <p:nvPr/>
        </p:nvSpPr>
        <p:spPr>
          <a:xfrm>
            <a:off x="935431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最後判斷</a:t>
            </a:r>
          </a:p>
        </p:txBody>
      </p:sp>
      <p:sp>
        <p:nvSpPr>
          <p:cNvPr id="17" name="Teaching card 4 body"/>
          <p:cNvSpPr txBox="1"/>
          <p:nvPr/>
        </p:nvSpPr>
        <p:spPr>
          <a:xfrm>
            <a:off x="9372600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 service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再比較 endpoint J</a:t>
            </a:r>
          </a:p>
        </p:txBody>
      </p:sp>
      <p:sp>
        <p:nvSpPr>
          <p:cNvPr id="18" name="Lab A commands"/>
          <p:cNvSpPr/>
          <p:nvPr/>
        </p:nvSpPr>
        <p:spPr>
          <a:xfrm>
            <a:off x="859536" y="4160520"/>
            <a:ext cx="10442448" cy="713232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ab A commands text"/>
          <p:cNvSpPr txBox="1"/>
          <p:nvPr/>
        </p:nvSpPr>
        <p:spPr>
          <a:xfrm>
            <a:off x="1005839" y="4251959"/>
            <a:ext cx="10149840" cy="530352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 →   </a:t>
            </a: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 →   </a:t>
            </a: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A --case hidden</a:t>
            </a:r>
          </a:p>
        </p:txBody>
      </p:sp>
      <p:sp>
        <p:nvSpPr>
          <p:cNvPr id="20" name="Field contract REST_DURING_GAP"/>
          <p:cNvSpPr/>
          <p:nvPr/>
        </p:nvSpPr>
        <p:spPr>
          <a:xfrm>
            <a:off x="804672" y="5001768"/>
            <a:ext cx="10561320" cy="713232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（空檔動作）｜來源：Lab A marked block｜作用：決定送出間隔中的休息方式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單位：action｜判讀：Windows 將 bash course.sh 改為 course.cmd，其餘參數不變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上傳後怎麼解讀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每次只上傳該 run 的 result.json；先確認服務，再解釋原因與能量</a:t>
            </a:r>
          </a:p>
        </p:txBody>
      </p:sp>
      <p:sp>
        <p:nvSpPr>
          <p:cNvPr id="6" name="A upload"/>
          <p:cNvSpPr/>
          <p:nvPr/>
        </p:nvSpPr>
        <p:spPr>
          <a:xfrm>
            <a:off x="859536" y="1481328"/>
            <a:ext cx="5047488" cy="181051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 upload heading"/>
          <p:cNvSpPr txBox="1"/>
          <p:nvPr/>
        </p:nvSpPr>
        <p:spPr>
          <a:xfrm>
            <a:off x="1005839" y="1572768"/>
            <a:ext cx="4754879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網站操作</a:t>
            </a:r>
          </a:p>
        </p:txBody>
      </p:sp>
      <p:sp>
        <p:nvSpPr>
          <p:cNvPr id="8" name="A upload explanation"/>
          <p:cNvSpPr txBox="1"/>
          <p:nvPr/>
        </p:nvSpPr>
        <p:spPr>
          <a:xfrm>
            <a:off x="1005839" y="2011680"/>
            <a:ext cx="4754879" cy="12070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① 依 stdout 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找檔案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②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選擇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③ 保留同目錄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④ 核對 scenario ID 與 run ID</a:t>
            </a:r>
          </a:p>
        </p:txBody>
      </p:sp>
      <p:sp>
        <p:nvSpPr>
          <p:cNvPr id="9" name="A interpret"/>
          <p:cNvSpPr/>
          <p:nvPr/>
        </p:nvSpPr>
        <p:spPr>
          <a:xfrm>
            <a:off x="6254496" y="1481328"/>
            <a:ext cx="5047488" cy="181051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 interpret heading"/>
          <p:cNvSpPr txBox="1"/>
          <p:nvPr/>
        </p:nvSpPr>
        <p:spPr>
          <a:xfrm>
            <a:off x="6400800" y="1572768"/>
            <a:ext cx="4754879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如何回答結果</a:t>
            </a:r>
          </a:p>
        </p:txBody>
      </p:sp>
      <p:sp>
        <p:nvSpPr>
          <p:cNvPr id="11" name="A interpret explanation"/>
          <p:cNvSpPr txBox="1"/>
          <p:nvPr/>
        </p:nvSpPr>
        <p:spPr>
          <a:xfrm>
            <a:off x="6400800" y="2011680"/>
            <a:ext cx="4754879" cy="12070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預期先在 sleep／awake-idle／wake 時間看到差異，再檢查封包服務與端點焦耳。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若沒有看到預期事件差異，就不能把最終數值歸因於這次修改。</a:t>
            </a:r>
          </a:p>
        </p:txBody>
      </p:sp>
      <p:sp>
        <p:nvSpPr>
          <p:cNvPr id="12" name="Read service"/>
          <p:cNvSpPr/>
          <p:nvPr/>
        </p:nvSpPr>
        <p:spPr>
          <a:xfrm>
            <a:off x="914400" y="3584448"/>
            <a:ext cx="2231136" cy="62179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① 服務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是否完成任務</a:t>
            </a:r>
          </a:p>
        </p:txBody>
      </p:sp>
      <p:sp>
        <p:nvSpPr>
          <p:cNvPr id="13" name="Read connector 1"/>
          <p:cNvSpPr/>
          <p:nvPr/>
        </p:nvSpPr>
        <p:spPr>
          <a:xfrm>
            <a:off x="3227832" y="3694176"/>
            <a:ext cx="347472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ad packet"/>
          <p:cNvSpPr/>
          <p:nvPr/>
        </p:nvSpPr>
        <p:spPr>
          <a:xfrm>
            <a:off x="3657600" y="3584448"/>
            <a:ext cx="2231136" cy="62179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② 封包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送達／重試／逾期</a:t>
            </a:r>
          </a:p>
        </p:txBody>
      </p:sp>
      <p:sp>
        <p:nvSpPr>
          <p:cNvPr id="15" name="Read connector 2"/>
          <p:cNvSpPr/>
          <p:nvPr/>
        </p:nvSpPr>
        <p:spPr>
          <a:xfrm>
            <a:off x="5971032" y="3694176"/>
            <a:ext cx="347472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ad state"/>
          <p:cNvSpPr/>
          <p:nvPr/>
        </p:nvSpPr>
        <p:spPr>
          <a:xfrm>
            <a:off x="6400800" y="3584448"/>
            <a:ext cx="2231136" cy="62179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③ 狀態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休眠／清醒／傳送</a:t>
            </a:r>
          </a:p>
        </p:txBody>
      </p:sp>
      <p:sp>
        <p:nvSpPr>
          <p:cNvPr id="17" name="Read connector 3"/>
          <p:cNvSpPr/>
          <p:nvPr/>
        </p:nvSpPr>
        <p:spPr>
          <a:xfrm>
            <a:off x="8714232" y="3694176"/>
            <a:ext cx="347472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ad energy"/>
          <p:cNvSpPr/>
          <p:nvPr/>
        </p:nvSpPr>
        <p:spPr>
          <a:xfrm>
            <a:off x="9144000" y="3584448"/>
            <a:ext cx="2231136" cy="62179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④ 端點能量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最後才讀焦耳</a:t>
            </a:r>
          </a:p>
        </p:txBody>
      </p:sp>
      <p:sp>
        <p:nvSpPr>
          <p:cNvPr id="19" name="Field contract radio_stat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radio_state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（無線狀態）｜來源：result／replay artifact｜作用：支持本 Lab 的機制判讀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單位：依欄位定義｜判讀：WAIT 是否真的改變狀態分布，必須由 replay 支持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先找到唯一要改的地方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 比較品質需要連續穩定幾步，觀察進入可送模式的時機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檔案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只修改這一份策略檔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標記區塊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只開目前 Lab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唯一變數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其他值與檔案不動</a:t>
            </a:r>
          </a:p>
        </p:txBody>
      </p:sp>
      <p:sp>
        <p:nvSpPr>
          <p:cNvPr id="15" name="B locate boundary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保持不變：ENTER_QUALITY = 2、EXIT_QUALITY = 1、runner、scenario、schemas 與其他 Lab 區塊</a:t>
            </a:r>
          </a:p>
        </p:txBody>
      </p:sp>
      <p:sp>
        <p:nvSpPr>
          <p:cNvPr id="16" name="Field contract STABLE_STEP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（穩定步數）｜來源：student_policy.py marked block｜作用：控制本 Lab 的單一策略差異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單位：設定值｜判讀：只有此值可改，才能把結果差異歸因於本次修改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只改這一行：2 →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兩邊程式結構完全相同；只比較反白的一個值</a:t>
            </a:r>
          </a:p>
        </p:txBody>
      </p:sp>
      <p:sp>
        <p:nvSpPr>
          <p:cNvPr id="6" name="B before"/>
          <p:cNvSpPr/>
          <p:nvPr/>
        </p:nvSpPr>
        <p:spPr>
          <a:xfrm>
            <a:off x="859536" y="1481328"/>
            <a:ext cx="506577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 before heading"/>
          <p:cNvSpPr txBox="1"/>
          <p:nvPr/>
        </p:nvSpPr>
        <p:spPr>
          <a:xfrm>
            <a:off x="1005839" y="1572768"/>
            <a:ext cx="4773168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修改前｜Before</a:t>
            </a:r>
          </a:p>
        </p:txBody>
      </p:sp>
      <p:sp>
        <p:nvSpPr>
          <p:cNvPr id="8" name="B before explanation"/>
          <p:cNvSpPr txBox="1"/>
          <p:nvPr/>
        </p:nvSpPr>
        <p:spPr>
          <a:xfrm>
            <a:off x="1005839" y="2011680"/>
            <a:ext cx="4773168" cy="175564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需要連續兩個穩定觀察</a:t>
            </a:r>
          </a:p>
        </p:txBody>
      </p:sp>
      <p:sp>
        <p:nvSpPr>
          <p:cNvPr id="9" name="B after"/>
          <p:cNvSpPr/>
          <p:nvPr/>
        </p:nvSpPr>
        <p:spPr>
          <a:xfrm>
            <a:off x="6254496" y="1481328"/>
            <a:ext cx="506577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 after heading"/>
          <p:cNvSpPr txBox="1"/>
          <p:nvPr/>
        </p:nvSpPr>
        <p:spPr>
          <a:xfrm>
            <a:off x="6400800" y="1572768"/>
            <a:ext cx="4773168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修改後｜After</a:t>
            </a:r>
          </a:p>
        </p:txBody>
      </p:sp>
      <p:sp>
        <p:nvSpPr>
          <p:cNvPr id="11" name="B after explanation"/>
          <p:cNvSpPr txBox="1"/>
          <p:nvPr/>
        </p:nvSpPr>
        <p:spPr>
          <a:xfrm>
            <a:off x="6400800" y="2011680"/>
            <a:ext cx="4773168" cy="175564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 = 1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一個穩定觀察就成立</a:t>
            </a:r>
          </a:p>
        </p:txBody>
      </p:sp>
      <p:sp>
        <p:nvSpPr>
          <p:cNvPr id="12" name="B one line diff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唯一修改：2 → 1；進入與退出品質門檻都不變</a:t>
            </a:r>
          </a:p>
        </p:txBody>
      </p:sp>
      <p:sp>
        <p:nvSpPr>
          <p:cNvPr id="13" name="Field contract STABLE_STEP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（本次修改值）｜來源：目前 Lab 的 marked block｜作用：改變策略判斷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單位：依變數定義｜判讀：修改後先做語法檢查，再執行指定 case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為什麼 2 → 1，接著怎麼執行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需要的穩定觀察變少，可能更早進入可送模式，也可能對短暫品質變化過度反應</a:t>
            </a:r>
          </a:p>
        </p:txBody>
      </p:sp>
      <p:sp>
        <p:nvSpPr>
          <p:cNvPr id="6" name="B two steps"/>
          <p:cNvSpPr/>
          <p:nvPr/>
        </p:nvSpPr>
        <p:spPr>
          <a:xfrm>
            <a:off x="859536" y="1481328"/>
            <a:ext cx="5065776" cy="197510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 two steps heading"/>
          <p:cNvSpPr txBox="1"/>
          <p:nvPr/>
        </p:nvSpPr>
        <p:spPr>
          <a:xfrm>
            <a:off x="1005839" y="1572768"/>
            <a:ext cx="4773168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原本需要兩次穩定觀察</a:t>
            </a:r>
          </a:p>
        </p:txBody>
      </p:sp>
      <p:sp>
        <p:nvSpPr>
          <p:cNvPr id="8" name="B two steps explanation"/>
          <p:cNvSpPr txBox="1"/>
          <p:nvPr/>
        </p:nvSpPr>
        <p:spPr>
          <a:xfrm>
            <a:off x="1005839" y="2011680"/>
            <a:ext cx="4773168" cy="1371600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第 1 步看到品質達標：先等待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第 2 步仍達標：才讓 quality_ready 成立</a:t>
            </a:r>
          </a:p>
        </p:txBody>
      </p:sp>
      <p:sp>
        <p:nvSpPr>
          <p:cNvPr id="9" name="B one step"/>
          <p:cNvSpPr/>
          <p:nvPr/>
        </p:nvSpPr>
        <p:spPr>
          <a:xfrm>
            <a:off x="6254496" y="1481328"/>
            <a:ext cx="5065776" cy="1975104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 one step heading"/>
          <p:cNvSpPr txBox="1"/>
          <p:nvPr/>
        </p:nvSpPr>
        <p:spPr>
          <a:xfrm>
            <a:off x="6400800" y="1572768"/>
            <a:ext cx="4773168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改成一次穩定觀察</a:t>
            </a:r>
          </a:p>
        </p:txBody>
      </p:sp>
      <p:sp>
        <p:nvSpPr>
          <p:cNvPr id="11" name="B one step explanation"/>
          <p:cNvSpPr txBox="1"/>
          <p:nvPr/>
        </p:nvSpPr>
        <p:spPr>
          <a:xfrm>
            <a:off x="6400800" y="2011680"/>
            <a:ext cx="4773168" cy="1371600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第 1 步看到品質達標：立刻讓 quality_ready 成立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MODE_CHANGE 可能提早出現</a:t>
            </a:r>
          </a:p>
        </p:txBody>
      </p:sp>
      <p:sp>
        <p:nvSpPr>
          <p:cNvPr id="12" name="Lab B commands"/>
          <p:cNvSpPr/>
          <p:nvPr/>
        </p:nvSpPr>
        <p:spPr>
          <a:xfrm>
            <a:off x="859536" y="3730752"/>
            <a:ext cx="10442448" cy="987552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 B commands text"/>
          <p:cNvSpPr txBox="1"/>
          <p:nvPr/>
        </p:nvSpPr>
        <p:spPr>
          <a:xfrm>
            <a:off x="1005839" y="3822191"/>
            <a:ext cx="10149840" cy="804672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 →   </a:t>
            </a: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B --case trace-b</a:t>
            </a:r>
          </a:p>
        </p:txBody>
      </p:sp>
      <p:sp>
        <p:nvSpPr>
          <p:cNvPr id="14" name="Field contract STABLE_STEPS"/>
          <p:cNvSpPr/>
          <p:nvPr/>
        </p:nvSpPr>
        <p:spPr>
          <a:xfrm>
            <a:off x="804672" y="5001768"/>
            <a:ext cx="10561320" cy="713232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（穩定步數）｜來源：Lab B marked block｜作用：決定品質達標要連續維持幾個 step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單位：steps｜判讀：Windows 將 bash course.sh 改為 course.cmd；Trace B 保持 frozen policy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上傳後怎麼解讀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每次只上傳該 run 的 result.json；先確認服務，再解釋原因與能量</a:t>
            </a:r>
          </a:p>
        </p:txBody>
      </p:sp>
      <p:sp>
        <p:nvSpPr>
          <p:cNvPr id="6" name="B upload"/>
          <p:cNvSpPr/>
          <p:nvPr/>
        </p:nvSpPr>
        <p:spPr>
          <a:xfrm>
            <a:off x="859536" y="1481328"/>
            <a:ext cx="5047488" cy="181051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 upload heading"/>
          <p:cNvSpPr txBox="1"/>
          <p:nvPr/>
        </p:nvSpPr>
        <p:spPr>
          <a:xfrm>
            <a:off x="1005839" y="1572768"/>
            <a:ext cx="4754879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網站操作</a:t>
            </a:r>
          </a:p>
        </p:txBody>
      </p:sp>
      <p:sp>
        <p:nvSpPr>
          <p:cNvPr id="8" name="B upload explanation"/>
          <p:cNvSpPr txBox="1"/>
          <p:nvPr/>
        </p:nvSpPr>
        <p:spPr>
          <a:xfrm>
            <a:off x="1005839" y="2011680"/>
            <a:ext cx="4754879" cy="12070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① 依 stdout 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找檔案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②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選擇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③ 保留同目錄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④ 核對 scenario ID 與 run ID</a:t>
            </a:r>
          </a:p>
        </p:txBody>
      </p:sp>
      <p:sp>
        <p:nvSpPr>
          <p:cNvPr id="9" name="B interpret"/>
          <p:cNvSpPr/>
          <p:nvPr/>
        </p:nvSpPr>
        <p:spPr>
          <a:xfrm>
            <a:off x="6254496" y="1481328"/>
            <a:ext cx="5047488" cy="181051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 interpret heading"/>
          <p:cNvSpPr txBox="1"/>
          <p:nvPr/>
        </p:nvSpPr>
        <p:spPr>
          <a:xfrm>
            <a:off x="6400800" y="1572768"/>
            <a:ext cx="4754879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如何回答結果</a:t>
            </a:r>
          </a:p>
        </p:txBody>
      </p:sp>
      <p:sp>
        <p:nvSpPr>
          <p:cNvPr id="11" name="B interpret explanation"/>
          <p:cNvSpPr txBox="1"/>
          <p:nvPr/>
        </p:nvSpPr>
        <p:spPr>
          <a:xfrm>
            <a:off x="6400800" y="2011680"/>
            <a:ext cx="4754879" cy="12070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預期 quality_ready 或 MODE_CHANGE 可能提早；再看 attempt、retry、delivery、service 與端點焦耳。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若沒有看到預期事件差異，就不能把最終數值歸因於這次修改。</a:t>
            </a:r>
          </a:p>
        </p:txBody>
      </p:sp>
      <p:sp>
        <p:nvSpPr>
          <p:cNvPr id="12" name="Read service"/>
          <p:cNvSpPr/>
          <p:nvPr/>
        </p:nvSpPr>
        <p:spPr>
          <a:xfrm>
            <a:off x="914400" y="3584448"/>
            <a:ext cx="2231136" cy="62179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① 服務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是否完成任務</a:t>
            </a:r>
          </a:p>
        </p:txBody>
      </p:sp>
      <p:sp>
        <p:nvSpPr>
          <p:cNvPr id="13" name="Read connector 1"/>
          <p:cNvSpPr/>
          <p:nvPr/>
        </p:nvSpPr>
        <p:spPr>
          <a:xfrm>
            <a:off x="3227832" y="3694176"/>
            <a:ext cx="347472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ad packet"/>
          <p:cNvSpPr/>
          <p:nvPr/>
        </p:nvSpPr>
        <p:spPr>
          <a:xfrm>
            <a:off x="3657600" y="3584448"/>
            <a:ext cx="2231136" cy="62179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② 封包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送達／重試／逾期</a:t>
            </a:r>
          </a:p>
        </p:txBody>
      </p:sp>
      <p:sp>
        <p:nvSpPr>
          <p:cNvPr id="15" name="Read connector 2"/>
          <p:cNvSpPr/>
          <p:nvPr/>
        </p:nvSpPr>
        <p:spPr>
          <a:xfrm>
            <a:off x="5971032" y="3694176"/>
            <a:ext cx="347472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ad state"/>
          <p:cNvSpPr/>
          <p:nvPr/>
        </p:nvSpPr>
        <p:spPr>
          <a:xfrm>
            <a:off x="6400800" y="3584448"/>
            <a:ext cx="2231136" cy="62179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③ 狀態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休眠／清醒／傳送</a:t>
            </a:r>
          </a:p>
        </p:txBody>
      </p:sp>
      <p:sp>
        <p:nvSpPr>
          <p:cNvPr id="17" name="Read connector 3"/>
          <p:cNvSpPr/>
          <p:nvPr/>
        </p:nvSpPr>
        <p:spPr>
          <a:xfrm>
            <a:off x="8714232" y="3694176"/>
            <a:ext cx="347472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ad energy"/>
          <p:cNvSpPr/>
          <p:nvPr/>
        </p:nvSpPr>
        <p:spPr>
          <a:xfrm>
            <a:off x="9144000" y="3584448"/>
            <a:ext cx="2231136" cy="62179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④ 端點能量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最後才讀焦耳</a:t>
            </a:r>
          </a:p>
        </p:txBody>
      </p:sp>
      <p:sp>
        <p:nvSpPr>
          <p:cNvPr id="19" name="Field contract MODE_CHANG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（模式變更事件）｜來源：result／replay artifact｜作用：支持本 Lab 的機制判讀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單位：依欄位定義｜判讀：Trace A 的改善必須再由 frozen policy 的 Trace B 檢查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先找到唯一要改的地方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C 比較急件要提前多久送出，觀察期限、服務與能量代價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檔案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只修改這一份策略檔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標記區塊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lab-c-batch-urgent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只開目前 Lab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唯一變數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其他值與檔案不動</a:t>
            </a:r>
          </a:p>
        </p:txBody>
      </p:sp>
      <p:sp>
        <p:nvSpPr>
          <p:cNvPr id="15" name="C locate boundary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保持不變：BATCH_SIZE = 3、runner、scenario、schemas 與其他 Lab 區塊</a:t>
            </a:r>
          </a:p>
        </p:txBody>
      </p:sp>
      <p:sp>
        <p:nvSpPr>
          <p:cNvPr id="16" name="Field contract URGENT_MARGIN_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（急件提前量）｜來源：student_policy.py marked block｜作用：控制本 Lab 的單一策略差異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單位：設定值｜判讀：只有此值可改，才能把結果差異歸因於本次修改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基準值｜Baseline：URGENT_MARGIN_S = 20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這一頁只讀一個值；BATCH_SIZE = 3 與其他程式全部不變</a:t>
            </a:r>
          </a:p>
        </p:txBody>
      </p:sp>
      <p:sp>
        <p:nvSpPr>
          <p:cNvPr id="6" name="Lab C value 20"/>
          <p:cNvSpPr/>
          <p:nvPr/>
        </p:nvSpPr>
        <p:spPr>
          <a:xfrm>
            <a:off x="1883664" y="1481328"/>
            <a:ext cx="8430768" cy="230428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C value 20 heading"/>
          <p:cNvSpPr txBox="1"/>
          <p:nvPr/>
        </p:nvSpPr>
        <p:spPr>
          <a:xfrm>
            <a:off x="2029968" y="1572768"/>
            <a:ext cx="8138160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基準值｜Baseline</a:t>
            </a:r>
          </a:p>
        </p:txBody>
      </p:sp>
      <p:sp>
        <p:nvSpPr>
          <p:cNvPr id="8" name="Lab C value 20 explanation"/>
          <p:cNvSpPr txBox="1"/>
          <p:nvPr/>
        </p:nvSpPr>
        <p:spPr>
          <a:xfrm>
            <a:off x="2029968" y="2011680"/>
            <a:ext cx="8138160" cy="1700784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20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期限剩 20 秒時進入急件分支</a:t>
            </a:r>
          </a:p>
        </p:txBody>
      </p:sp>
      <p:sp>
        <p:nvSpPr>
          <p:cNvPr id="9" name="Lab C 20 causal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只改急件提前量；先預測 SEND_URGENT 時機，再執行對應 case</a:t>
            </a:r>
          </a:p>
        </p:txBody>
      </p:sp>
      <p:sp>
        <p:nvSpPr>
          <p:cNvPr id="10" name="Field contract URGENT_MARGIN_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（急件提前量）｜來源：Lab C marked block｜作用：決定剩餘期限多早進入急件分支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單位：秒｜判讀：數值越大代表越早嘗試急件傳送；是否有利仍由服務與事件證據判斷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候選值｜Candidate：URGENT_MARGIN_S = 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這一頁只讀一個值；BATCH_SIZE = 3 與其他程式全部不變</a:t>
            </a:r>
          </a:p>
        </p:txBody>
      </p:sp>
      <p:sp>
        <p:nvSpPr>
          <p:cNvPr id="6" name="Lab C value 5"/>
          <p:cNvSpPr/>
          <p:nvPr/>
        </p:nvSpPr>
        <p:spPr>
          <a:xfrm>
            <a:off x="1883664" y="1481328"/>
            <a:ext cx="8430768" cy="2304288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C value 5 heading"/>
          <p:cNvSpPr txBox="1"/>
          <p:nvPr/>
        </p:nvSpPr>
        <p:spPr>
          <a:xfrm>
            <a:off x="2029968" y="1572768"/>
            <a:ext cx="8138160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候選值｜Candidate</a:t>
            </a:r>
          </a:p>
        </p:txBody>
      </p:sp>
      <p:sp>
        <p:nvSpPr>
          <p:cNvPr id="8" name="Lab C value 5 explanation"/>
          <p:cNvSpPr txBox="1"/>
          <p:nvPr/>
        </p:nvSpPr>
        <p:spPr>
          <a:xfrm>
            <a:off x="2029968" y="2011680"/>
            <a:ext cx="8138160" cy="1700784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5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等到只剩 5 秒才急送，可能太晚</a:t>
            </a:r>
          </a:p>
        </p:txBody>
      </p:sp>
      <p:sp>
        <p:nvSpPr>
          <p:cNvPr id="9" name="Lab C 5 causal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只改急件提前量；先預測 SEND_URGENT 時機，再執行對應 case</a:t>
            </a:r>
          </a:p>
        </p:txBody>
      </p:sp>
      <p:sp>
        <p:nvSpPr>
          <p:cNvPr id="10" name="Field contract URGENT_MARGIN_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（急件提前量）｜來源：Lab C marked block｜作用：決定剩餘期限多早進入急件分支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單位：秒｜判讀：數值越大代表越早嘗試急件傳送；是否有利仍由服務與事件證據判斷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修訂值｜Revision：URGENT_MARGIN_S = 30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這一頁只讀一個值；BATCH_SIZE = 3 與其他程式全部不變</a:t>
            </a:r>
          </a:p>
        </p:txBody>
      </p:sp>
      <p:sp>
        <p:nvSpPr>
          <p:cNvPr id="6" name="Lab C value 30"/>
          <p:cNvSpPr/>
          <p:nvPr/>
        </p:nvSpPr>
        <p:spPr>
          <a:xfrm>
            <a:off x="1883664" y="1481328"/>
            <a:ext cx="8430768" cy="230428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C value 30 heading"/>
          <p:cNvSpPr txBox="1"/>
          <p:nvPr/>
        </p:nvSpPr>
        <p:spPr>
          <a:xfrm>
            <a:off x="2029968" y="1572768"/>
            <a:ext cx="8138160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修訂值｜Revision</a:t>
            </a:r>
          </a:p>
        </p:txBody>
      </p:sp>
      <p:sp>
        <p:nvSpPr>
          <p:cNvPr id="8" name="Lab C value 30 explanation"/>
          <p:cNvSpPr txBox="1"/>
          <p:nvPr/>
        </p:nvSpPr>
        <p:spPr>
          <a:xfrm>
            <a:off x="2029968" y="2011680"/>
            <a:ext cx="8138160" cy="1700784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30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期限剩 30 秒就急送，較早但可能增加成本</a:t>
            </a:r>
          </a:p>
        </p:txBody>
      </p:sp>
      <p:sp>
        <p:nvSpPr>
          <p:cNvPr id="9" name="Lab C 30 causal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只改急件提前量；先預測 SEND_URGENT 時機，再執行對應 case</a:t>
            </a:r>
          </a:p>
        </p:txBody>
      </p:sp>
      <p:sp>
        <p:nvSpPr>
          <p:cNvPr id="10" name="Field contract URGENT_MARGIN_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（急件提前量）｜來源：Lab C marked block｜作用：決定剩餘期限多早進入急件分支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單位：秒｜判讀：數值越大代表越早嘗試急件傳送；是否有利仍由服務與事件證據判斷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為什麼 5 秒可能太晚，30 秒可能更早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急件門檻控制的是『何時放棄等待批次、改成優先送出』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20 秒｜基準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在期限剩 20 秒時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允許 SEND_URGENT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5 秒｜候選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等待更久才急送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可能錯過窗口或期限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30 秒｜修訂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更早進入急件分支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可能恢復服務，也可能增加能量</a:t>
            </a:r>
          </a:p>
        </p:txBody>
      </p:sp>
      <p:sp>
        <p:nvSpPr>
          <p:cNvPr id="15" name="Lab C mechanism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門檻 → SEND_URGENT 時機 → wake／TX／delivery／deadline → service → endpoint J</a:t>
            </a:r>
          </a:p>
        </p:txBody>
      </p:sp>
      <p:sp>
        <p:nvSpPr>
          <p:cNvPr id="16" name="Field contract deadline_pas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（期限是否通過）｜來源：result service summary｜作用：確認必要封包是否在期限內完成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單位：布林值｜判讀：先確認期限與服務，再比較端點焦耳；較低焦耳但失敗不是改善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四次執行的固定順序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每次先設定正確值，再執行對應 case；revision 才使用 freeze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91056"/>
            <a:ext cx="2505456" cy="233172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baseline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值為 20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--lab C --case baseline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3630168" y="1591056"/>
            <a:ext cx="2505456" cy="2331720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377647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② candidate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3794760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改成 5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--lab C --case candidate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6419088" y="1591056"/>
            <a:ext cx="2505456" cy="233172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656539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③ revision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6583679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改成 30 並凍結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--lab C --case revision --freeze</a:t>
            </a:r>
          </a:p>
        </p:txBody>
      </p:sp>
      <p:sp>
        <p:nvSpPr>
          <p:cNvPr id="15" name="Teaching card 4"/>
          <p:cNvSpPr/>
          <p:nvPr/>
        </p:nvSpPr>
        <p:spPr>
          <a:xfrm>
            <a:off x="9208008" y="1591056"/>
            <a:ext cx="2505456" cy="2331720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card 4 heading"/>
          <p:cNvSpPr txBox="1"/>
          <p:nvPr/>
        </p:nvSpPr>
        <p:spPr>
          <a:xfrm>
            <a:off x="935431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④ surprise</a:t>
            </a:r>
          </a:p>
        </p:txBody>
      </p:sp>
      <p:sp>
        <p:nvSpPr>
          <p:cNvPr id="17" name="Teaching card 4 body"/>
          <p:cNvSpPr txBox="1"/>
          <p:nvPr/>
        </p:nvSpPr>
        <p:spPr>
          <a:xfrm>
            <a:off x="9372600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保持 frozen 30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--lab C --case surprise</a:t>
            </a:r>
          </a:p>
        </p:txBody>
      </p:sp>
      <p:sp>
        <p:nvSpPr>
          <p:cNvPr id="18" name="Lab C launcher rule"/>
          <p:cNvSpPr/>
          <p:nvPr/>
        </p:nvSpPr>
        <p:spPr>
          <a:xfrm>
            <a:off x="859536" y="4160520"/>
            <a:ext cx="10442448" cy="713232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ab C launcher rule text"/>
          <p:cNvSpPr txBox="1"/>
          <p:nvPr/>
        </p:nvSpPr>
        <p:spPr>
          <a:xfrm>
            <a:off x="1005839" y="4251959"/>
            <a:ext cx="10149840" cy="530352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Linux／macOS／WSL：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...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   Windows：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course.cmd run ...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；每次保存 stdout 的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20" name="Field contract freeze"/>
          <p:cNvSpPr/>
          <p:nvPr/>
        </p:nvSpPr>
        <p:spPr>
          <a:xfrm>
            <a:off x="804672" y="5001768"/>
            <a:ext cx="10561320" cy="713232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freeze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（策略凍結）｜來源：revision 執行選項｜作用：保存要帶入 surprise 的策略身分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單位：狀態｜判讀：freeze 缺失或身分不一致時停止 surprise，不重新修改策略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上傳後怎麼解讀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每次只上傳該 run 的 result.json；先確認服務，再解釋原因與能量</a:t>
            </a:r>
          </a:p>
        </p:txBody>
      </p:sp>
      <p:sp>
        <p:nvSpPr>
          <p:cNvPr id="6" name="C upload"/>
          <p:cNvSpPr/>
          <p:nvPr/>
        </p:nvSpPr>
        <p:spPr>
          <a:xfrm>
            <a:off x="859536" y="1481328"/>
            <a:ext cx="5047488" cy="181051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 upload heading"/>
          <p:cNvSpPr txBox="1"/>
          <p:nvPr/>
        </p:nvSpPr>
        <p:spPr>
          <a:xfrm>
            <a:off x="1005839" y="1572768"/>
            <a:ext cx="4754879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網站操作</a:t>
            </a:r>
          </a:p>
        </p:txBody>
      </p:sp>
      <p:sp>
        <p:nvSpPr>
          <p:cNvPr id="8" name="C upload explanation"/>
          <p:cNvSpPr txBox="1"/>
          <p:nvPr/>
        </p:nvSpPr>
        <p:spPr>
          <a:xfrm>
            <a:off x="1005839" y="2011680"/>
            <a:ext cx="4754879" cy="12070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① 依 stdout 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找檔案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②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選擇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③ 保留同目錄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④ 核對 scenario ID 與 run ID</a:t>
            </a:r>
          </a:p>
        </p:txBody>
      </p:sp>
      <p:sp>
        <p:nvSpPr>
          <p:cNvPr id="9" name="C interpret"/>
          <p:cNvSpPr/>
          <p:nvPr/>
        </p:nvSpPr>
        <p:spPr>
          <a:xfrm>
            <a:off x="6254496" y="1481328"/>
            <a:ext cx="5047488" cy="181051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 interpret heading"/>
          <p:cNvSpPr txBox="1"/>
          <p:nvPr/>
        </p:nvSpPr>
        <p:spPr>
          <a:xfrm>
            <a:off x="6400800" y="1572768"/>
            <a:ext cx="4754879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如何回答結果</a:t>
            </a:r>
          </a:p>
        </p:txBody>
      </p:sp>
      <p:sp>
        <p:nvSpPr>
          <p:cNvPr id="11" name="C interpret explanation"/>
          <p:cNvSpPr txBox="1"/>
          <p:nvPr/>
        </p:nvSpPr>
        <p:spPr>
          <a:xfrm>
            <a:off x="6400800" y="2011680"/>
            <a:ext cx="4754879" cy="12070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先確認 deadline 與 service；若 20 與 30 結果相同，保留『此案例無差異』，不要硬造改善。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若沒有看到預期事件差異，就不能把最終數值歸因於這次修改。</a:t>
            </a:r>
          </a:p>
        </p:txBody>
      </p:sp>
      <p:sp>
        <p:nvSpPr>
          <p:cNvPr id="12" name="Read service"/>
          <p:cNvSpPr/>
          <p:nvPr/>
        </p:nvSpPr>
        <p:spPr>
          <a:xfrm>
            <a:off x="914400" y="3584448"/>
            <a:ext cx="2231136" cy="62179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① 服務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是否完成任務</a:t>
            </a:r>
          </a:p>
        </p:txBody>
      </p:sp>
      <p:sp>
        <p:nvSpPr>
          <p:cNvPr id="13" name="Read connector 1"/>
          <p:cNvSpPr/>
          <p:nvPr/>
        </p:nvSpPr>
        <p:spPr>
          <a:xfrm>
            <a:off x="3227832" y="3694176"/>
            <a:ext cx="347472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ad packet"/>
          <p:cNvSpPr/>
          <p:nvPr/>
        </p:nvSpPr>
        <p:spPr>
          <a:xfrm>
            <a:off x="3657600" y="3584448"/>
            <a:ext cx="2231136" cy="62179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② 封包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送達／重試／逾期</a:t>
            </a:r>
          </a:p>
        </p:txBody>
      </p:sp>
      <p:sp>
        <p:nvSpPr>
          <p:cNvPr id="15" name="Read connector 2"/>
          <p:cNvSpPr/>
          <p:nvPr/>
        </p:nvSpPr>
        <p:spPr>
          <a:xfrm>
            <a:off x="5971032" y="3694176"/>
            <a:ext cx="347472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ad state"/>
          <p:cNvSpPr/>
          <p:nvPr/>
        </p:nvSpPr>
        <p:spPr>
          <a:xfrm>
            <a:off x="6400800" y="3584448"/>
            <a:ext cx="2231136" cy="62179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③ 狀態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休眠／清醒／傳送</a:t>
            </a:r>
          </a:p>
        </p:txBody>
      </p:sp>
      <p:sp>
        <p:nvSpPr>
          <p:cNvPr id="17" name="Read connector 3"/>
          <p:cNvSpPr/>
          <p:nvPr/>
        </p:nvSpPr>
        <p:spPr>
          <a:xfrm>
            <a:off x="8714232" y="3694176"/>
            <a:ext cx="347472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ad energy"/>
          <p:cNvSpPr/>
          <p:nvPr/>
        </p:nvSpPr>
        <p:spPr>
          <a:xfrm>
            <a:off x="9144000" y="3584448"/>
            <a:ext cx="2231136" cy="62179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④ 端點能量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最後才讀焦耳</a:t>
            </a:r>
          </a:p>
        </p:txBody>
      </p:sp>
      <p:sp>
        <p:nvSpPr>
          <p:cNvPr id="19" name="Field contract deadline_pas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（期限是否通過）｜來源：result／replay artifact｜作用：支持本 Lab 的機制判讀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單位：依欄位定義｜判讀：5 秒失敗或 30 秒恢復都要由本次 result／replay 證據支持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