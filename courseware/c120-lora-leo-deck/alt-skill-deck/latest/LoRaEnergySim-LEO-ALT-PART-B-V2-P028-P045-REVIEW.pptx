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這一張先建立狀態 vocabulary。低功耗休息 `SLEEP` 的功率較低；清醒閒置 `WAIT` 會累積醒著閒置；喚醒 `WAKE` 與封包處理 `PROCESS` 是轉換或處理區間；發射 `TX` 與接收 `RX` 是收發區間。每個狀態由 runner events 保存停留秒數與事件能量，之後才能把動作 `action` 連到 state interval、energy bucket 與端點 J。動作名稱只記一次，不能代替完整狀態帳本。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這一張說明為何做實驗 A。固定同一份工作、scenario、seed、traffic、service window、endpoint scope、runner、schema 與 Lab B/C 區塊，只把 `student_policy.py` 的 `lab-a-pace-rest` 中 `REST_DURING_GAP` 由 `SLEEP` 改成 `WAIT`。`SLEEP` 降低空檔功率但可能支付 `WAKE`；`WAIT` 保持清醒閒置，可能少喚醒卻增加 awake-idle J。每次成功要看 stdout 的 `status=OK` 與新 `result_path`，再讀同一 generated run 目錄的 `result.json` 與 `endpoint-replay.json`，順序是服務、封包、狀態、J。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封包先建立 `generated`，再進入 `queue` 等待合法窗口；策略動作造成 `attempt`，碰撞 `collision` 可能產生 `retry`；最後才有 `delivered` 或 `expired`。嘗試封包數、重傳次數、交付位元與過期封包各有來源與單位，服務通過 `service_pass` 還要共同檢查必要封包、期限與新鮮度。送出次數只能說明嘗試，不是交付或服務成功。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公平比較先固定 scenario、seed、traffic、window 與 endpoint scope，再看交付位元 `delivered_bits`、期限 `deadline_pass`、新鮮度 `freshness_status` 與服務通過 `service_pass`。服務門檻先回答工作是否在期限內完成；只有在相同邊界且服務條件清楚時，端點能量 `endpoint_energy_j` 才能用來描述取捨。較低 J 不會自動變成服務成功。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功率 P 是狀態當下的高度，單位 W；時間 t 是狀態區間的長度，單位 s；兩者相乘才形成能量 J。每個 bucket 分開保存 awake_idle、sleep、wake、process、tx、rx，WAIT 與 SLEEP 使用固定 10 s 時鐘步長，收發流程另有轉換能量。讀值時保留功率、停留時間與 bucket，避免用單一峰值代替整段累積。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端點能量 `E_endpoint` 的可編輯 Office Math 公式是各狀態功率 `P_s` 與停留時間 `t_s` 的分段累積。`P_s` 單位為 W，來自 energy profile；`t_s` 單位為 s，來自 `STATE_INTERVAL`；結果摘要的 `endpoint_energy_j` 單位為 J。這個 endpoint scope 只涵蓋宣告的 radio 與 processing 狀態及轉換，不包含衛星、閘道或整體插座功率。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端點效率 `η_E` 的分子是交付資料 `D_delivered`，單位 bit；分母是端點能量 `E_endpoint`，單位 J；結果單位 bit/J。兩者必須來自同一份 result artifact 與同一 endpoint boundary。`service_pass` 與 `deadline_pass` 仍是獨立判定，因此 bit/J 變高不能覆寫服務失敗。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 `Source` 是可追溯的上游 repository／commit 參考，不等於本次量測；模型 `Model` 是固定 runner 行為的課程模擬轉接器；課程假設 `Course` 固定 scenario、window、traffic 與 endpoint profile；結果 `Result` 保存本次 JSON 與同次 replay。`upstream_execution=false` 表示不是上游即時執行，所有數值回到產物與宣告的 claim boundary。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 `RUN` 讀 scenario、case 與 policy，輸出 `result.json` 與同目錄 `endpoint-replay.json`。事件重播 `REPLAY` 只讀同一次 run 的 events，顯示 action、radio state、queue 與 packet，不重新執行 policy。比較紀錄 `WORKBOOK` 保存 prediction、baseline、candidate、freeze、withheld 與 result／replay lineage。匯入前核對 `scenario_id`、`run_id`、policy identity、units 與 provenance；任一 mismatch 都維持 fail closed。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基準 `Baseline` 使用固定 scenario、seed、traffic、window 與 endpoint scope，保留原始 `student_policy.py` 作為 control。唯一變動只能是目前實驗的 marked block，輸出再觀察 state duration、packet outcome、service verdict 與 endpoint J。兩次結果的身分、單位與端點範圍必須一致，差異才可回到該標記區塊解釋。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在本模組只提供變動服務窗口軌跡。`contact_open` 是窗口是否開啟的布林狀態；`quality_band` 是 0–3 的品質分類，不是 dB；`contact_remaining_s` 是剩餘秒數。三者由固定 scenario trace 進入 policy observation；窗口關閉時只接受 `SLEEP`，窗口開啟時品質與剩餘時間共同改變動作的服務機會。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實驗 A 的目的，是在固定工作與服務窗口下檢驗一個可反駁機制。檔案是 `student_policy.py`，標記區塊是 `lab-a-pace-rest`；基準為 `REST_DURING_GAP=SLEEP`，候選只改成 `WAIT`。固定 `PACE_GAP_STEPS=2`、scenario、seed、traffic、window、runner、schema 與 Lab B/C 區塊。成功訊號是 stdout `status=OK` 與新 `result_path`；同一目錄有 `result.json` 與 `endpoint-replay.json`。匯入或檢視時依服務、封包、狀態、J 順序讀取。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基準的 `student_policy.py`／`lab-a-pace-rest` 保持 `PACE_GAP_STEPS=2` 與 `REST_DURING_GAP=SLEEP`。窗口未開時 `contact_open=false` 回傳 `SLEEP`；送出間隔不足時回傳空檔策略。Linux／macOS 終端機或 WSL 執行 `bash course.sh run --lab A --case baseline`；成功 stdout 印出 `status=OK` 與新的 `result_path`，同目錄產生 `result.json` 與 `endpoint-replay.json`。先讀 summary／events，再讀 replay。6.92 J、4,800 bit、service false 是參考摘要，實際數值以該 path 為準；基準建立 before 對照，不回答是否省電。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這一張的唯一 edit 是 `student_policy.py` 的 `lab-a-pace-rest`：把 `REST_DURING_GAP = SLEEP` 改成 `REST_DURING_GAP = WAIT`。`PACE_GAP_STEPS=2`、其他 marked blocks、runner、scenario、schema 與 generated JSON 都保持不變。Linux／macOS 終端機或 WSL 先執行 `cp student_policy.py student_policy.before-A-edit.py`，再執行 `.venv/bin/python -m py_compile student_policy.py`；Windows 使用 `copy /Y` 與 `.venv\Scripts\python.exe -m py_compile`。成功是無語法錯誤且回傳碼 0；這一張只做編輯檢查，下一張才取得 run 的 result_path。預測是 WAIT 可能減少 WAKE 但增加 awake-idle，方向必須由後續 state、packet、service、J 證據決定。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這是實驗 A 唯一的執行與 receipt 頁。第一步不改 policy 執行 `bash course.sh run --lab A --case baseline` 或 Windows `course.cmd`，成功要有 `status=OK` 與新 `result_path`。第二步完成 P041 的 WAIT edit，執行 candidate `--freeze`；成功除新 path 外，還要有 `artifacts/checkpoints/lab-a-frozen.json` 與 `.py`。第三步保持凍結策略執行 hidden，不再編輯；成功只接受新的 path，不建立第二個 freeze。每個 path 讀同一 generated 目錄的 result 與 replay，順序是服務、封包、狀態、J；缺少 freeze 就停止 hidden。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 evidence 都從 P042 stdout 的 result_path 讀取；比較前核對 scenario_id、seed、policy identity、units、provenance 與 endpoint scope。baseline SLEEP：service=false、deadline=false、delivered=1/4、retries=1、collisions=1、expired=3、wake=2、endpoint=6.92 J、bit/J=693.641618。candidate WAIT：service=false、deadline=false、delivered=1/4、retries=1、collisions=1、expired=3、wake=1、endpoint=8.86 J、bit/J=541.760722。hidden frozen WAIT：service=false、deadline=false、delivered=0/3、retries=0、collisions=0、expired=3、wake=0、endpoint=3.61 J、bit/J=0。WAIT 沒改善服務，且 endpoint 多耗 1.94 J；hidden 的低 J 來自完全未送達，不能視為節能成功。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 candidate 的 result_path，先在 events 找 `STATE_INTERVAL` 的 WAIT／SLEEP 停留秒數，再找 `WAKE` 轉換，最後對照 `energy_breakdown_j`。參考 bucket 是 awake_idle 6.00 J、sleep 0.04 J、wake 0.02 J、process 0.16 J、tx 2.40 J、rx 0.24 J；實際數值以本次 artifact 為準。解釋句要指出哪個狀態區間增加或減少、哪個 bucket 因而改變，才能把 WAIT 的機制連回 endpoint 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 baseline SLEEP 與 candidate WAIT 對齊：delivered 皆為 1/4、retries=1、collisions=1、expired=3、deadline=false、service=false；WAIT 只讓 wake 由 2 降到 1，endpoint 卻由 6.92 J 升到 8.86 J（+1.94 J），bit/J 由 693.641618 降到 541.760722。hidden frozen WAIT 是 delivered=0/3、retries=0、collisions=0、expired=3、wake=0、endpoint=3.61 J、bit/J=0，低 J 的原因是完全未送達，不是節能成功。使用各自 P042 stdout result_path 的 result.json 與配對 endpoint-replay.json；服務門檻先於端點 J，嘗試或較低 J 都不能覆寫 service=false。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無線狀態與停留時間（Radio state）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只記一次；狀態停留區間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才留下時間與能量證據</a:t>
            </a:r>
          </a:p>
        </p:txBody>
      </p:sp>
      <p:sp>
        <p:nvSpPr>
          <p:cNvPr id="4" name="Radio state group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dio state group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低功耗休息／清醒閒置</a:t>
            </a:r>
          </a:p>
        </p:txBody>
      </p:sp>
      <p:sp>
        <p:nvSpPr>
          <p:cNvPr id="6" name="Radio state group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：窗口關閉／空檔，功率低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：保持清醒，累積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</a:p>
        </p:txBody>
      </p:sp>
      <p:sp>
        <p:nvSpPr>
          <p:cNvPr id="7" name="State causal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io state group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io state group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喚醒轉換／封包處理</a:t>
            </a:r>
          </a:p>
        </p:txBody>
      </p:sp>
      <p:sp>
        <p:nvSpPr>
          <p:cNvPr id="10" name="Radio state group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：喚醒成本與延遲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：封包處理區間</a:t>
            </a:r>
          </a:p>
        </p:txBody>
      </p:sp>
      <p:sp>
        <p:nvSpPr>
          <p:cNvPr id="11" name="State causal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adio state group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dio state group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發射／接收</a:t>
            </a:r>
          </a:p>
        </p:txBody>
      </p:sp>
      <p:sp>
        <p:nvSpPr>
          <p:cNvPr id="14" name="Radio state group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：發射區間；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RX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：接收區間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停留或功率越高，累積 J 越多</a:t>
            </a:r>
          </a:p>
        </p:txBody>
      </p:sp>
      <p:sp>
        <p:nvSpPr>
          <p:cNvPr id="15" name="State causal chain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完整讀法：動作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狀態區間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能量分桶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 bucket</a:t>
            </a:r>
          </a:p>
        </p:txBody>
      </p:sp>
      <p:sp>
        <p:nvSpPr>
          <p:cNvPr id="16" name="State interpretation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同一個動作只標記一次；停留秒數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才形成 J</a:t>
            </a:r>
          </a:p>
        </p:txBody>
      </p:sp>
      <p:sp>
        <p:nvSpPr>
          <p:cNvPr id="17" name="Field contract radio_state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（欄位）｜來源：runner events｜作用：標記停留區間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單位：state＋s｜判讀：對回 energy bucket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空檔策略的服務與能量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固定工作與服務窗口，只改一個空檔策略值，檢驗它如何改變狀態、服務與 J</a:t>
            </a:r>
          </a:p>
        </p:txBody>
      </p:sp>
      <p:sp>
        <p:nvSpPr>
          <p:cNvPr id="4" name="Lab A purpose card 1"/>
          <p:cNvSpPr/>
          <p:nvPr/>
        </p:nvSpPr>
        <p:spPr>
          <a:xfrm>
            <a:off x="868680" y="1463040"/>
            <a:ext cx="3246120" cy="22311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purpose card 1 heading"/>
          <p:cNvSpPr txBox="1"/>
          <p:nvPr/>
        </p:nvSpPr>
        <p:spPr>
          <a:xfrm>
            <a:off x="960120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為何做</a:t>
            </a:r>
          </a:p>
        </p:txBody>
      </p:sp>
      <p:sp>
        <p:nvSpPr>
          <p:cNvPr id="6" name="Lab A purpose card 1 body"/>
          <p:cNvSpPr txBox="1"/>
          <p:nvPr/>
        </p:nvSpPr>
        <p:spPr>
          <a:xfrm>
            <a:off x="996695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同一份工作與窗口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檢驗空檔策略是否改變服務與 J</a:t>
            </a:r>
          </a:p>
        </p:txBody>
      </p:sp>
      <p:sp>
        <p:nvSpPr>
          <p:cNvPr id="7" name="Lab A causal connector"/>
          <p:cNvSpPr/>
          <p:nvPr/>
        </p:nvSpPr>
        <p:spPr>
          <a:xfrm>
            <a:off x="4215384" y="2267712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purpose card 2"/>
          <p:cNvSpPr/>
          <p:nvPr/>
        </p:nvSpPr>
        <p:spPr>
          <a:xfrm>
            <a:off x="4471416" y="1463040"/>
            <a:ext cx="3246120" cy="22311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A purpose card 2 heading"/>
          <p:cNvSpPr txBox="1"/>
          <p:nvPr/>
        </p:nvSpPr>
        <p:spPr>
          <a:xfrm>
            <a:off x="4562855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機制：休息／閒置</a:t>
            </a:r>
          </a:p>
        </p:txBody>
      </p:sp>
      <p:sp>
        <p:nvSpPr>
          <p:cNvPr id="10" name="Lab A purpose card 2 body"/>
          <p:cNvSpPr txBox="1"/>
          <p:nvPr/>
        </p:nvSpPr>
        <p:spPr>
          <a:xfrm>
            <a:off x="4599431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：低功耗，可能付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：清醒閒置，可能少喚醒</a:t>
            </a:r>
          </a:p>
        </p:txBody>
      </p:sp>
      <p:sp>
        <p:nvSpPr>
          <p:cNvPr id="11" name="Lab A causal connector"/>
          <p:cNvSpPr/>
          <p:nvPr/>
        </p:nvSpPr>
        <p:spPr>
          <a:xfrm>
            <a:off x="7818120" y="2267712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purpose card 3"/>
          <p:cNvSpPr/>
          <p:nvPr/>
        </p:nvSpPr>
        <p:spPr>
          <a:xfrm>
            <a:off x="8074152" y="1463040"/>
            <a:ext cx="3246120" cy="22311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 purpose card 3 heading"/>
          <p:cNvSpPr txBox="1"/>
          <p:nvPr/>
        </p:nvSpPr>
        <p:spPr>
          <a:xfrm>
            <a:off x="8165592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判讀順序</a:t>
            </a:r>
          </a:p>
        </p:txBody>
      </p:sp>
      <p:sp>
        <p:nvSpPr>
          <p:cNvPr id="14" name="Lab A purpose card 3 body"/>
          <p:cNvSpPr txBox="1"/>
          <p:nvPr/>
        </p:nvSpPr>
        <p:spPr>
          <a:xfrm>
            <a:off x="8202168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先讀交付、期限、新鮮度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再讀端點 J；低 J 不等於成功</a:t>
            </a:r>
          </a:p>
        </p:txBody>
      </p:sp>
      <p:sp>
        <p:nvSpPr>
          <p:cNvPr id="15" name="Lab A baseline contract"/>
          <p:cNvSpPr/>
          <p:nvPr/>
        </p:nvSpPr>
        <p:spPr>
          <a:xfrm>
            <a:off x="932688" y="3767328"/>
            <a:ext cx="4882896" cy="12070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固定不變：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、scenario／seed／traffic／window、Lab B/C</a:t>
            </a:r>
          </a:p>
        </p:txBody>
      </p:sp>
      <p:sp>
        <p:nvSpPr>
          <p:cNvPr id="16" name="Lab A candidate contract"/>
          <p:cNvSpPr/>
          <p:nvPr/>
        </p:nvSpPr>
        <p:spPr>
          <a:xfrm>
            <a:off x="6364224" y="3767328"/>
            <a:ext cx="4882896" cy="12070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唯一變更：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順序：服務→封包→狀態→J</a:t>
            </a:r>
          </a:p>
        </p:txBody>
      </p:sp>
      <p:sp>
        <p:nvSpPr>
          <p:cNvPr id="17" name="Field contract service_pas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服務布林狀態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packet＋期限＋freshness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單位：true／false｜判讀：先判 service，再讀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封包生命週期：嘗試不等於交付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封包結果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 outcome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要走完整生命週期；送出次數只是其中一段</a:t>
            </a:r>
          </a:p>
        </p:txBody>
      </p:sp>
      <p:sp>
        <p:nvSpPr>
          <p:cNvPr id="4" name="Packet lifecycle stage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lifecycle stage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建立／排隊</a:t>
            </a:r>
          </a:p>
        </p:txBody>
      </p:sp>
      <p:sp>
        <p:nvSpPr>
          <p:cNvPr id="6" name="Packet lifecycle stage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（已產生）封包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（佇列）等待合法窗口</a:t>
            </a:r>
          </a:p>
        </p:txBody>
      </p:sp>
      <p:sp>
        <p:nvSpPr>
          <p:cNvPr id="7" name="Packet lifecycle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lifecycle stage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ifecycle stage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嘗試／重試</a:t>
            </a:r>
          </a:p>
        </p:txBody>
      </p:sp>
      <p:sp>
        <p:nvSpPr>
          <p:cNvPr id="10" name="Packet lifecycle stage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進入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（無線嘗試）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碰撞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可能造成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1" name="Packet lifecycle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lifecycle stage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lifecycle stage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交付／服務</a:t>
            </a:r>
          </a:p>
        </p:txBody>
      </p:sp>
      <p:sp>
        <p:nvSpPr>
          <p:cNvPr id="14" name="Packet lifecycle stage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（已交付）或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（過期）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再由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判定</a:t>
            </a:r>
          </a:p>
        </p:txBody>
      </p:sp>
      <p:sp>
        <p:nvSpPr>
          <p:cNvPr id="15" name="Packet transport fields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傳輸欄位：嘗試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attempted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、碰撞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collision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、重傳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retransmissions</a:t>
            </a:r>
          </a:p>
        </p:txBody>
      </p:sp>
      <p:sp>
        <p:nvSpPr>
          <p:cNvPr id="16" name="Packet outcome fields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結果欄位：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freshness</a:t>
            </a:r>
          </a:p>
        </p:txBody>
      </p:sp>
      <p:sp>
        <p:nvSpPr>
          <p:cNvPr id="17" name="Field contract attempted_packet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嘗試封包數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attempted_packets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summary｜作用：統計進入無線嘗試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單位：count｜判讀：對照 retry、expired、delivered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服務門檻先於端點能量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先固定同一比較邊界，再判定服務門檻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gate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，最後讀端點能量 J</a:t>
            </a:r>
          </a:p>
        </p:txBody>
      </p:sp>
      <p:sp>
        <p:nvSpPr>
          <p:cNvPr id="4" name="Service ordering card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rvice ordering card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1｜固定比較邊界</a:t>
            </a:r>
          </a:p>
        </p:txBody>
      </p:sp>
      <p:sp>
        <p:nvSpPr>
          <p:cNvPr id="6" name="Service ordering card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、種子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、流量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、窗口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scope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必須一致</a:t>
            </a:r>
          </a:p>
        </p:txBody>
      </p:sp>
      <p:sp>
        <p:nvSpPr>
          <p:cNvPr id="7" name="Service ordering connector"/>
          <p:cNvSpPr/>
          <p:nvPr/>
        </p:nvSpPr>
        <p:spPr>
          <a:xfrm>
            <a:off x="4215384" y="2267712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rvice ordering card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rvice ordering card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2｜服務門檻</a:t>
            </a:r>
          </a:p>
        </p:txBody>
      </p:sp>
      <p:sp>
        <p:nvSpPr>
          <p:cNvPr id="10" name="Service ordering card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交付位元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、期限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新鮮度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freshness_status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共同形成 gate</a:t>
            </a:r>
          </a:p>
        </p:txBody>
      </p:sp>
      <p:sp>
        <p:nvSpPr>
          <p:cNvPr id="11" name="Service ordering connector"/>
          <p:cNvSpPr/>
          <p:nvPr/>
        </p:nvSpPr>
        <p:spPr>
          <a:xfrm>
            <a:off x="7818120" y="2267712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rvice ordering card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ordering card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3｜端點能量 J</a:t>
            </a:r>
          </a:p>
        </p:txBody>
      </p:sp>
      <p:sp>
        <p:nvSpPr>
          <p:cNvPr id="14" name="Service ordering card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來自整段 state ledger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J；只在同一邊界內比較</a:t>
            </a:r>
          </a:p>
        </p:txBody>
      </p:sp>
      <p:sp>
        <p:nvSpPr>
          <p:cNvPr id="15" name="Service pass result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服務通過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service_pass=true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：才可在相同工作邊界內比較 J</a:t>
            </a:r>
          </a:p>
        </p:txBody>
      </p:sp>
      <p:sp>
        <p:nvSpPr>
          <p:cNvPr id="16" name="Service fail result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服務未通過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：J 只描述能量／服務取捨</a:t>
            </a:r>
          </a:p>
        </p:txBody>
      </p:sp>
      <p:sp>
        <p:nvSpPr>
          <p:cNvPr id="17" name="Field contract freshness_statu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新鮮度狀態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freshness_status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 是否新鮮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單位：fresh／stale／expired／N/A｜判讀：與 deadline、delivery 決定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功率 W × 時間 s 形成能量 J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同一個功率值，停留時間不同就會留下不同的端點能量</a:t>
            </a:r>
          </a:p>
        </p:txBody>
      </p:sp>
      <p:sp>
        <p:nvSpPr>
          <p:cNvPr id="4" name="Power definition card"/>
          <p:cNvSpPr/>
          <p:nvPr/>
        </p:nvSpPr>
        <p:spPr>
          <a:xfrm>
            <a:off x="868680" y="1481328"/>
            <a:ext cx="2834640" cy="22677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 definition card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功率 </a:t>
            </a: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</a:t>
            </a:r>
          </a:p>
        </p:txBody>
      </p:sp>
      <p:sp>
        <p:nvSpPr>
          <p:cNvPr id="6" name="Power definition card body"/>
          <p:cNvSpPr txBox="1"/>
          <p:nvPr/>
        </p:nvSpPr>
        <p:spPr>
          <a:xfrm>
            <a:off x="996695" y="2011680"/>
            <a:ext cx="2578608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某個狀態當下的高度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例如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7" name="Power interval chart"/>
          <p:cNvSpPr/>
          <p:nvPr/>
        </p:nvSpPr>
        <p:spPr>
          <a:xfrm>
            <a:off x="3977639" y="1481328"/>
            <a:ext cx="3822191" cy="22677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wer chart heading"/>
          <p:cNvSpPr txBox="1"/>
          <p:nvPr/>
        </p:nvSpPr>
        <p:spPr>
          <a:xfrm>
            <a:off x="4169663" y="1645920"/>
            <a:ext cx="3438144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不同狀態的功率高度</a:t>
            </a:r>
          </a:p>
        </p:txBody>
      </p:sp>
      <p:sp>
        <p:nvSpPr>
          <p:cNvPr id="9" name="Sleep power bar"/>
          <p:cNvSpPr/>
          <p:nvPr/>
        </p:nvSpPr>
        <p:spPr>
          <a:xfrm>
            <a:off x="4443984" y="2770632"/>
            <a:ext cx="658368" cy="56692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ake power bar"/>
          <p:cNvSpPr/>
          <p:nvPr/>
        </p:nvSpPr>
        <p:spPr>
          <a:xfrm>
            <a:off x="5285232" y="2350008"/>
            <a:ext cx="658368" cy="987552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cess power bar"/>
          <p:cNvSpPr/>
          <p:nvPr/>
        </p:nvSpPr>
        <p:spPr>
          <a:xfrm>
            <a:off x="6126480" y="2103120"/>
            <a:ext cx="658368" cy="123444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 power bar"/>
          <p:cNvSpPr/>
          <p:nvPr/>
        </p:nvSpPr>
        <p:spPr>
          <a:xfrm>
            <a:off x="6967728" y="1938528"/>
            <a:ext cx="658368" cy="1399032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wer chart labels"/>
          <p:cNvSpPr txBox="1"/>
          <p:nvPr/>
        </p:nvSpPr>
        <p:spPr>
          <a:xfrm>
            <a:off x="4187952" y="3310128"/>
            <a:ext cx="340156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休息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｜喚醒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處理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｜發射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4" name="Power time connector"/>
          <p:cNvSpPr/>
          <p:nvPr/>
        </p:nvSpPr>
        <p:spPr>
          <a:xfrm>
            <a:off x="8028431" y="2322576"/>
            <a:ext cx="274320" cy="365760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 definition card"/>
          <p:cNvSpPr/>
          <p:nvPr/>
        </p:nvSpPr>
        <p:spPr>
          <a:xfrm>
            <a:off x="8458200" y="1481328"/>
            <a:ext cx="2834640" cy="22677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me definition card heading"/>
          <p:cNvSpPr txBox="1"/>
          <p:nvPr/>
        </p:nvSpPr>
        <p:spPr>
          <a:xfrm>
            <a:off x="854964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時間 </a:t>
            </a: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</a:t>
            </a:r>
          </a:p>
        </p:txBody>
      </p:sp>
      <p:sp>
        <p:nvSpPr>
          <p:cNvPr id="17" name="Time definition card body"/>
          <p:cNvSpPr txBox="1"/>
          <p:nvPr/>
        </p:nvSpPr>
        <p:spPr>
          <a:xfrm>
            <a:off x="8586216" y="2011680"/>
            <a:ext cx="2578608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狀態區間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的長度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 × t = J</a:t>
            </a:r>
          </a:p>
        </p:txBody>
      </p:sp>
      <p:sp>
        <p:nvSpPr>
          <p:cNvPr id="18" name="Energy bucket rule"/>
          <p:cNvSpPr/>
          <p:nvPr/>
        </p:nvSpPr>
        <p:spPr>
          <a:xfrm>
            <a:off x="932688" y="3968496"/>
            <a:ext cx="4882896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bucket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分開累積：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awake_idle／sleep／wake／process／tx／rx</a:t>
            </a:r>
          </a:p>
        </p:txBody>
      </p:sp>
      <p:sp>
        <p:nvSpPr>
          <p:cNvPr id="19" name="Clock energy rule"/>
          <p:cNvSpPr/>
          <p:nvPr/>
        </p:nvSpPr>
        <p:spPr>
          <a:xfrm>
            <a:off x="6364224" y="3968496"/>
            <a:ext cx="4882896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 10 s 時鐘步長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clock step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；收發流程另加入轉換能量</a:t>
            </a:r>
          </a:p>
        </p:txBody>
      </p:sp>
      <p:sp>
        <p:nvSpPr>
          <p:cNvPr id="20" name="Field contract energy_breakdown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artifact｜作用：按 state 保存 J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單位：J／bucket｜判讀：拆回 state interval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端點能量的累積公式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公式說明端點狀態如何累積；結果產物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提供這次執行的數值</a:t>
            </a:r>
          </a:p>
        </p:txBody>
      </p:sp>
      <p:sp>
        <p:nvSpPr>
          <p:cNvPr id="4" name="Formula power input"/>
          <p:cNvSpPr/>
          <p:nvPr/>
        </p:nvSpPr>
        <p:spPr>
          <a:xfrm>
            <a:off x="868680" y="1481328"/>
            <a:ext cx="283464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rmula power input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狀態功率 </a:t>
            </a: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P_s</a:t>
            </a:r>
          </a:p>
        </p:txBody>
      </p:sp>
      <p:sp>
        <p:nvSpPr>
          <p:cNvPr id="6" name="Formula power input body"/>
          <p:cNvSpPr txBox="1"/>
          <p:nvPr/>
        </p:nvSpPr>
        <p:spPr>
          <a:xfrm>
            <a:off x="996695" y="2011680"/>
            <a:ext cx="2578608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某個狀態的功率高度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來源：energy profile</a:t>
            </a:r>
          </a:p>
        </p:txBody>
      </p:sp>
      <p:sp>
        <p:nvSpPr>
          <p:cNvPr id="7" name="Endpoint formula frame"/>
          <p:cNvSpPr/>
          <p:nvPr/>
        </p:nvSpPr>
        <p:spPr>
          <a:xfrm>
            <a:off x="3986784" y="1481328"/>
            <a:ext cx="4206240" cy="2212848"/>
          </a:xfrm>
          <a:prstGeom prst="roundRect">
            <a:avLst/>
          </a:prstGeom>
          <a:solidFill>
            <a:srgbClr val="F7F8FC"/>
          </a:solidFill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endpoint formula"/>
          <p:cNvSpPr txBox="1"/>
          <p:nvPr/>
        </p:nvSpPr>
        <p:spPr>
          <a:xfrm>
            <a:off x="4187952" y="1920240"/>
            <a:ext cx="3803904" cy="6400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× 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t_s</a:t>
            </a:r>
          </a:p>
        </p:txBody>
      </p:sp>
      <p:sp>
        <p:nvSpPr>
          <p:cNvPr id="9" name="Endpoint formula unit"/>
          <p:cNvSpPr txBox="1"/>
          <p:nvPr/>
        </p:nvSpPr>
        <p:spPr>
          <a:xfrm>
            <a:off x="4224528" y="2871216"/>
            <a:ext cx="3730752" cy="2560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分段累積｜單位：J</a:t>
            </a:r>
          </a:p>
        </p:txBody>
      </p:sp>
      <p:sp>
        <p:nvSpPr>
          <p:cNvPr id="10" name="Formula time input"/>
          <p:cNvSpPr/>
          <p:nvPr/>
        </p:nvSpPr>
        <p:spPr>
          <a:xfrm>
            <a:off x="8476488" y="1481328"/>
            <a:ext cx="283464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rmula time input heading"/>
          <p:cNvSpPr txBox="1"/>
          <p:nvPr/>
        </p:nvSpPr>
        <p:spPr>
          <a:xfrm>
            <a:off x="8567928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停留時間 </a:t>
            </a: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t_s</a:t>
            </a:r>
          </a:p>
        </p:txBody>
      </p:sp>
      <p:sp>
        <p:nvSpPr>
          <p:cNvPr id="12" name="Formula time input body"/>
          <p:cNvSpPr txBox="1"/>
          <p:nvPr/>
        </p:nvSpPr>
        <p:spPr>
          <a:xfrm>
            <a:off x="8604504" y="2011680"/>
            <a:ext cx="2578608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狀態區間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事件</a:t>
            </a:r>
          </a:p>
        </p:txBody>
      </p:sp>
      <p:sp>
        <p:nvSpPr>
          <p:cNvPr id="13" name="Endpoint scope boundary"/>
          <p:cNvSpPr/>
          <p:nvPr/>
        </p:nvSpPr>
        <p:spPr>
          <a:xfrm>
            <a:off x="932688" y="3913632"/>
            <a:ext cx="4882896" cy="8046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 scope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：宣告的 radio／processing 狀態與轉換</a:t>
            </a:r>
          </a:p>
        </p:txBody>
      </p:sp>
      <p:sp>
        <p:nvSpPr>
          <p:cNvPr id="14" name="Endpoint exclusion boundary"/>
          <p:cNvSpPr/>
          <p:nvPr/>
        </p:nvSpPr>
        <p:spPr>
          <a:xfrm>
            <a:off x="6364224" y="3913632"/>
            <a:ext cx="4882896" cy="80467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不包含衛星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、閘道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、整體插座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wall-plug</a:t>
            </a:r>
          </a:p>
        </p:txBody>
      </p:sp>
      <p:sp>
        <p:nvSpPr>
          <p:cNvPr id="15" name="Field contract endpoint_energy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summary｜作用：同一 endpoint boundary 的總和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單位：J｜判讀：對照 energy bucket</a:t>
            </a:r>
          </a:p>
        </p:txBody>
      </p:sp>
      <p:sp>
        <p:nvSpPr>
          <p:cNvPr id="16" name="Native Office Math endpoint" title="endpoint" descr="endpoint"/>
          <p:cNvSpPr hidden="1">
            <a:spLocks noGrp="1"/>
          </p:cNvSpPr>
          <p:nvPr/>
        </p:nvSpPr>
        <p:spPr>
          <a:xfrm>
            <a:off x="0" y="0"/>
            <a:ext cx="1" cy="1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 i="1">
                          <a:latin typeface="Cambria Math"/>
                        </a:rPr>
                        <m:t>E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endpoint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> = </m:t>
                  </m:r>
                  <m:nary>
                    <m:naryPr>
                      <m:chr m:val="∑"/>
                      <m:limLoc m:val="undOvr"/>
                      <m:grow m:val="1"/>
                    </m:naryPr>
                    <m:sub>
                      <m:r>
                        <a:rPr lang="en-US" altLang="en-US" sz="3000" dirty="0" i="1">
                          <a:latin typeface="Cambria Math"/>
                        </a:rPr>
                        <m:t>s</m:t>
                      </m:r>
                      <m:r>
                        <a:rPr lang="en-US" altLang="en-US" sz="3000" dirty="0">
                          <a:latin typeface="Cambria Math"/>
                        </a:rPr>
                        <m:t> ∈ </m:t>
                      </m:r>
                      <m:r>
                        <a:rPr lang="en-US" altLang="en-US" sz="3000" dirty="0" i="1">
                          <a:latin typeface="Cambria Math"/>
                        </a:rPr>
                        <m:t>S</m:t>
                      </m:r>
                    </m:sub>
                    <m:sup/>
                    <m:e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P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> </m:t>
                      </m:r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t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</m:e>
                  </m:nary>
                </m:oMath>
              </m:oMathPara>
            </a14:m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端點能量效率的 bit/J 邊界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 是同一端點範圍內的效率比值；服務門檻仍獨立判定</a:t>
            </a:r>
          </a:p>
        </p:txBody>
      </p:sp>
      <p:sp>
        <p:nvSpPr>
          <p:cNvPr id="4" name="Delivered numerator card"/>
          <p:cNvSpPr/>
          <p:nvPr/>
        </p:nvSpPr>
        <p:spPr>
          <a:xfrm>
            <a:off x="868680" y="1481328"/>
            <a:ext cx="283464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livered numerator card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交付資料 </a:t>
            </a:r>
            <a:r>
              <a:rPr sz="21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D_delivered</a:t>
            </a:r>
          </a:p>
        </p:txBody>
      </p:sp>
      <p:sp>
        <p:nvSpPr>
          <p:cNvPr id="6" name="Delivered numerator card body"/>
          <p:cNvSpPr txBox="1"/>
          <p:nvPr/>
        </p:nvSpPr>
        <p:spPr>
          <a:xfrm>
            <a:off x="996695" y="2011680"/>
            <a:ext cx="2578608" cy="1463039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實際交付的資料量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單位：bit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來源：結果摘要</a:t>
            </a:r>
          </a:p>
        </p:txBody>
      </p:sp>
      <p:sp>
        <p:nvSpPr>
          <p:cNvPr id="7" name="Efficiency formula frame"/>
          <p:cNvSpPr/>
          <p:nvPr/>
        </p:nvSpPr>
        <p:spPr>
          <a:xfrm>
            <a:off x="3886200" y="1481328"/>
            <a:ext cx="4069080" cy="2103120"/>
          </a:xfrm>
          <a:prstGeom prst="roundRect">
            <a:avLst/>
          </a:prstGeom>
          <a:solidFill>
            <a:srgbClr val="F7F8FC"/>
          </a:solidFill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efficiency formula"/>
          <p:cNvSpPr txBox="1"/>
          <p:nvPr/>
        </p:nvSpPr>
        <p:spPr>
          <a:xfrm>
            <a:off x="4069080" y="1865376"/>
            <a:ext cx="3703320" cy="6583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端點效率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D_delivered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/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9" name="Efficiency unit"/>
          <p:cNvSpPr txBox="1"/>
          <p:nvPr/>
        </p:nvSpPr>
        <p:spPr>
          <a:xfrm>
            <a:off x="4096512" y="2907792"/>
            <a:ext cx="3648456" cy="2377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bit ÷ J = bit/J</a:t>
            </a:r>
          </a:p>
        </p:txBody>
      </p:sp>
      <p:sp>
        <p:nvSpPr>
          <p:cNvPr id="10" name="Endpoint denominator card"/>
          <p:cNvSpPr/>
          <p:nvPr/>
        </p:nvSpPr>
        <p:spPr>
          <a:xfrm>
            <a:off x="8074152" y="1481328"/>
            <a:ext cx="283464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ndpoint denominator card heading"/>
          <p:cNvSpPr txBox="1"/>
          <p:nvPr/>
        </p:nvSpPr>
        <p:spPr>
          <a:xfrm>
            <a:off x="8165592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21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12" name="Endpoint denominator card body"/>
          <p:cNvSpPr txBox="1"/>
          <p:nvPr/>
        </p:nvSpPr>
        <p:spPr>
          <a:xfrm>
            <a:off x="8202168" y="2011680"/>
            <a:ext cx="2578608" cy="1463039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端點狀態的累積能量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來源：結果摘要</a:t>
            </a:r>
          </a:p>
        </p:txBody>
      </p:sp>
      <p:sp>
        <p:nvSpPr>
          <p:cNvPr id="13" name="Efficiency caveat card"/>
          <p:cNvSpPr/>
          <p:nvPr/>
        </p:nvSpPr>
        <p:spPr>
          <a:xfrm>
            <a:off x="932688" y="3840480"/>
            <a:ext cx="4882896" cy="8595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 高但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只作效率觀察，不作服務成功判定</a:t>
            </a:r>
          </a:p>
        </p:txBody>
      </p:sp>
      <p:sp>
        <p:nvSpPr>
          <p:cNvPr id="14" name="Efficiency service card"/>
          <p:cNvSpPr/>
          <p:nvPr/>
        </p:nvSpPr>
        <p:spPr>
          <a:xfrm>
            <a:off x="6364224" y="3840480"/>
            <a:ext cx="4882896" cy="859536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仍獨立判定：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依必要封包與期限讀結果</a:t>
            </a:r>
          </a:p>
        </p:txBody>
      </p:sp>
      <p:sp>
        <p:nvSpPr>
          <p:cNvPr id="15" name="Field contract endpoint_energy_efficiency_bits_per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端點能量效率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endpoint_energy_efficiency_bits_per_j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summary｜作用：delivered bit ÷ endpoint J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單位：bit/J｜判讀：不取代 service gate</a:t>
            </a:r>
          </a:p>
        </p:txBody>
      </p:sp>
      <p:sp>
        <p:nvSpPr>
          <p:cNvPr id="16" name="Native Office Math efficiency" title="efficiency" descr="efficiency"/>
          <p:cNvSpPr hidden="1">
            <a:spLocks noGrp="1"/>
          </p:cNvSpPr>
          <p:nvPr/>
        </p:nvSpPr>
        <p:spPr>
          <a:xfrm>
            <a:off x="0" y="0"/>
            <a:ext cx="1" cy="1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 i="1">
                          <a:latin typeface="Cambria Math"/>
                        </a:rPr>
                        <m:t>η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> = </m:t>
                  </m:r>
                  <m:f>
                    <m:fPr>
                      <m:type m:val="bar"/>
                    </m:fPr>
                    <m:num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D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delivered</m:t>
                          </m:r>
                        </m:e>
                      </m:sSub>
                    </m:num>
                    <m:den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endpoint</m:t>
                          </m:r>
                        </m:e>
                      </m:sSub>
                    </m:den>
                  </m:f>
                </m:oMath>
              </m:oMathPara>
            </a14:m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來源、模型、課程假設與結果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同一筆數字要沿來源、模型、固定課程假設與結果產物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回溯</a:t>
            </a:r>
          </a:p>
        </p:txBody>
      </p:sp>
      <p:sp>
        <p:nvSpPr>
          <p:cNvPr id="4" name="Provenance layer 1"/>
          <p:cNvSpPr/>
          <p:nvPr/>
        </p:nvSpPr>
        <p:spPr>
          <a:xfrm>
            <a:off x="713232" y="1536192"/>
            <a:ext cx="2542032" cy="201168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venance layer 1 heading"/>
          <p:cNvSpPr txBox="1"/>
          <p:nvPr/>
        </p:nvSpPr>
        <p:spPr>
          <a:xfrm>
            <a:off x="80467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 Source</a:t>
            </a:r>
          </a:p>
        </p:txBody>
      </p:sp>
      <p:sp>
        <p:nvSpPr>
          <p:cNvPr id="6" name="Provenance layer 1 body"/>
          <p:cNvSpPr txBox="1"/>
          <p:nvPr/>
        </p:nvSpPr>
        <p:spPr>
          <a:xfrm>
            <a:off x="84124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可追溯來源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參考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上游 repository／commit，不是本次量測</a:t>
            </a:r>
          </a:p>
        </p:txBody>
      </p:sp>
      <p:sp>
        <p:nvSpPr>
          <p:cNvPr id="7" name="Provenance connector"/>
          <p:cNvSpPr/>
          <p:nvPr/>
        </p:nvSpPr>
        <p:spPr>
          <a:xfrm>
            <a:off x="3346704" y="2340864"/>
            <a:ext cx="201168" cy="329184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venance layer 2"/>
          <p:cNvSpPr/>
          <p:nvPr/>
        </p:nvSpPr>
        <p:spPr>
          <a:xfrm>
            <a:off x="3547872" y="1536192"/>
            <a:ext cx="2542032" cy="20116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venance layer 2 heading"/>
          <p:cNvSpPr txBox="1"/>
          <p:nvPr/>
        </p:nvSpPr>
        <p:spPr>
          <a:xfrm>
            <a:off x="363931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模型 Model</a:t>
            </a:r>
          </a:p>
        </p:txBody>
      </p:sp>
      <p:sp>
        <p:nvSpPr>
          <p:cNvPr id="10" name="Provenance layer 2 body"/>
          <p:cNvSpPr txBox="1"/>
          <p:nvPr/>
        </p:nvSpPr>
        <p:spPr>
          <a:xfrm>
            <a:off x="3675887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課程模擬轉接器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固定執行器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的行為</a:t>
            </a:r>
          </a:p>
        </p:txBody>
      </p:sp>
      <p:sp>
        <p:nvSpPr>
          <p:cNvPr id="11" name="Provenance connector"/>
          <p:cNvSpPr/>
          <p:nvPr/>
        </p:nvSpPr>
        <p:spPr>
          <a:xfrm>
            <a:off x="6181344" y="2340864"/>
            <a:ext cx="201168" cy="32918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venance layer 3"/>
          <p:cNvSpPr/>
          <p:nvPr/>
        </p:nvSpPr>
        <p:spPr>
          <a:xfrm>
            <a:off x="6382512" y="1536192"/>
            <a:ext cx="2542032" cy="20116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layer 3 heading"/>
          <p:cNvSpPr txBox="1"/>
          <p:nvPr/>
        </p:nvSpPr>
        <p:spPr>
          <a:xfrm>
            <a:off x="647395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課程假設 Course</a:t>
            </a:r>
          </a:p>
        </p:txBody>
      </p:sp>
      <p:sp>
        <p:nvSpPr>
          <p:cNvPr id="14" name="Provenance layer 3 body"/>
          <p:cNvSpPr txBox="1"/>
          <p:nvPr/>
        </p:nvSpPr>
        <p:spPr>
          <a:xfrm>
            <a:off x="651052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、窗口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、流量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端點設定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profile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固定</a:t>
            </a:r>
          </a:p>
        </p:txBody>
      </p:sp>
      <p:sp>
        <p:nvSpPr>
          <p:cNvPr id="15" name="Provenance connector"/>
          <p:cNvSpPr/>
          <p:nvPr/>
        </p:nvSpPr>
        <p:spPr>
          <a:xfrm>
            <a:off x="9015984" y="2340864"/>
            <a:ext cx="201168" cy="32918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venance layer 4"/>
          <p:cNvSpPr/>
          <p:nvPr/>
        </p:nvSpPr>
        <p:spPr>
          <a:xfrm>
            <a:off x="9217152" y="1536192"/>
            <a:ext cx="2542032" cy="20116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venance layer 4 heading"/>
          <p:cNvSpPr txBox="1"/>
          <p:nvPr/>
        </p:nvSpPr>
        <p:spPr>
          <a:xfrm>
            <a:off x="930859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結果 Result</a:t>
            </a:r>
          </a:p>
        </p:txBody>
      </p:sp>
      <p:sp>
        <p:nvSpPr>
          <p:cNvPr id="18" name="Provenance layer 4 body"/>
          <p:cNvSpPr txBox="1"/>
          <p:nvPr/>
        </p:nvSpPr>
        <p:spPr>
          <a:xfrm>
            <a:off x="934516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JSON 結果＋同次事件重播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宣告的 claim boundary 隨產物保存</a:t>
            </a:r>
          </a:p>
        </p:txBody>
      </p:sp>
      <p:sp>
        <p:nvSpPr>
          <p:cNvPr id="19" name="Provenance execution boundary"/>
          <p:cNvSpPr/>
          <p:nvPr/>
        </p:nvSpPr>
        <p:spPr>
          <a:xfrm>
            <a:off x="932688" y="3968496"/>
            <a:ext cx="4882896" cy="74980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上游執行旗標 </a:t>
            </a:r>
            <a:r>
              <a:rPr sz="19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upstream_execution = false</a:t>
            </a: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：這不是上游即時執行</a:t>
            </a:r>
          </a:p>
        </p:txBody>
      </p:sp>
      <p:sp>
        <p:nvSpPr>
          <p:cNvPr id="20" name="Provenance result boundary"/>
          <p:cNvSpPr/>
          <p:nvPr/>
        </p:nvSpPr>
        <p:spPr>
          <a:xfrm>
            <a:off x="6364224" y="3968496"/>
            <a:ext cx="4882896" cy="7498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結果型態：一致的模擬結果；所有數值以本次產物 </a:t>
            </a:r>
            <a:r>
              <a:rPr sz="19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讀值</a:t>
            </a:r>
          </a:p>
        </p:txBody>
      </p:sp>
      <p:sp>
        <p:nvSpPr>
          <p:cNvPr id="21" name="Field contract runner_provenance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執行來源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runner_provenance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artifact｜作用：保存 model／assumption／execution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單位：record｜判讀：設定 claim ceiling</a:t>
            </a:r>
          </a:p>
        </p:txBody>
      </p:sp>
      <p:sp>
        <p:nvSpPr>
          <p:cNvPr id="22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執行、事件重播與工作簿的身分鏈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同一組身分欄位連結結果、重播與工作簿；不是只靠一個情境識別碼</a:t>
            </a:r>
          </a:p>
        </p:txBody>
      </p:sp>
      <p:sp>
        <p:nvSpPr>
          <p:cNvPr id="4" name="Identity object 1"/>
          <p:cNvSpPr/>
          <p:nvPr/>
        </p:nvSpPr>
        <p:spPr>
          <a:xfrm>
            <a:off x="868680" y="1481328"/>
            <a:ext cx="3246120" cy="18470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dentity object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執行 RUN</a:t>
            </a:r>
          </a:p>
        </p:txBody>
      </p:sp>
      <p:sp>
        <p:nvSpPr>
          <p:cNvPr id="6" name="Identity object 1 body"/>
          <p:cNvSpPr txBox="1"/>
          <p:nvPr/>
        </p:nvSpPr>
        <p:spPr>
          <a:xfrm>
            <a:off x="996695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執行器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讀情境、案例與策略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輸出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與同目錄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7" name="Identity chain connector"/>
          <p:cNvSpPr/>
          <p:nvPr/>
        </p:nvSpPr>
        <p:spPr>
          <a:xfrm>
            <a:off x="4215384" y="2212848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dentity object 2"/>
          <p:cNvSpPr/>
          <p:nvPr/>
        </p:nvSpPr>
        <p:spPr>
          <a:xfrm>
            <a:off x="4471416" y="1481328"/>
            <a:ext cx="3246120" cy="18470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dentity object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</a:t>
            </a:r>
          </a:p>
        </p:txBody>
      </p:sp>
      <p:sp>
        <p:nvSpPr>
          <p:cNvPr id="10" name="Identity object 2 body"/>
          <p:cNvSpPr txBox="1"/>
          <p:nvPr/>
        </p:nvSpPr>
        <p:spPr>
          <a:xfrm>
            <a:off x="4599431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讀同一次執行的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events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顯示動作、狀態、佇列與封包，不重跑策略</a:t>
            </a:r>
          </a:p>
        </p:txBody>
      </p:sp>
      <p:sp>
        <p:nvSpPr>
          <p:cNvPr id="11" name="Identity chain connector"/>
          <p:cNvSpPr/>
          <p:nvPr/>
        </p:nvSpPr>
        <p:spPr>
          <a:xfrm>
            <a:off x="7818120" y="2212848"/>
            <a:ext cx="274320" cy="36576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dentity object 3"/>
          <p:cNvSpPr/>
          <p:nvPr/>
        </p:nvSpPr>
        <p:spPr>
          <a:xfrm>
            <a:off x="8074152" y="1481328"/>
            <a:ext cx="3246120" cy="184708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dentity object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比較紀錄 WORKBOOK</a:t>
            </a:r>
          </a:p>
        </p:txBody>
      </p:sp>
      <p:sp>
        <p:nvSpPr>
          <p:cNvPr id="14" name="Identity object 3 body"/>
          <p:cNvSpPr txBox="1"/>
          <p:nvPr/>
        </p:nvSpPr>
        <p:spPr>
          <a:xfrm>
            <a:off x="8202168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保存預測、基準、候選、凍結與 withheld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寫入結果／重播的 lineage（來源鏈）</a:t>
            </a:r>
          </a:p>
        </p:txBody>
      </p:sp>
      <p:sp>
        <p:nvSpPr>
          <p:cNvPr id="15" name="Scenario identity field"/>
          <p:cNvSpPr/>
          <p:nvPr/>
        </p:nvSpPr>
        <p:spPr>
          <a:xfrm>
            <a:off x="932688" y="3675887"/>
            <a:ext cx="4882896" cy="9326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：指出固定情境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是字串，不是能量值；來源：scenario／result</a:t>
            </a:r>
          </a:p>
        </p:txBody>
      </p:sp>
      <p:sp>
        <p:nvSpPr>
          <p:cNvPr id="16" name="Identity mismatch field"/>
          <p:cNvSpPr/>
          <p:nvPr/>
        </p:nvSpPr>
        <p:spPr>
          <a:xfrm>
            <a:off x="6364224" y="3675887"/>
            <a:ext cx="4882896" cy="9326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run_id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＋策略身分＋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provenance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任一不一致就拒絕匯入（fail closed）</a:t>
            </a:r>
          </a:p>
        </p:txBody>
      </p:sp>
      <p:sp>
        <p:nvSpPr>
          <p:cNvPr id="17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Baseline：固定條件的對照執行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固定情境、種子與原始策略，才提供可比較的對照</a:t>
            </a:r>
          </a:p>
        </p:txBody>
      </p:sp>
      <p:sp>
        <p:nvSpPr>
          <p:cNvPr id="4" name="Baseline rule 1"/>
          <p:cNvSpPr/>
          <p:nvPr/>
        </p:nvSpPr>
        <p:spPr>
          <a:xfrm>
            <a:off x="868680" y="1481328"/>
            <a:ext cx="3246120" cy="20482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seline rule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6" name="Baseline rule 1 body"/>
          <p:cNvSpPr txBox="1"/>
          <p:nvPr/>
        </p:nvSpPr>
        <p:spPr>
          <a:xfrm>
            <a:off x="996695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／種子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流量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／窗口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</p:txBody>
      </p:sp>
      <p:sp>
        <p:nvSpPr>
          <p:cNvPr id="7" name="Baseline causal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rule 2"/>
          <p:cNvSpPr/>
          <p:nvPr/>
        </p:nvSpPr>
        <p:spPr>
          <a:xfrm>
            <a:off x="4471416" y="1481328"/>
            <a:ext cx="3246120" cy="20482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rule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唯一變動</a:t>
            </a:r>
          </a:p>
        </p:txBody>
      </p:sp>
      <p:sp>
        <p:nvSpPr>
          <p:cNvPr id="10" name="Baseline rule 2 body"/>
          <p:cNvSpPr txBox="1"/>
          <p:nvPr/>
        </p:nvSpPr>
        <p:spPr>
          <a:xfrm>
            <a:off x="4599431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標記區塊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一次只改一個因果值</a:t>
            </a:r>
          </a:p>
        </p:txBody>
      </p:sp>
      <p:sp>
        <p:nvSpPr>
          <p:cNvPr id="11" name="Baseline causal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seline rule 3"/>
          <p:cNvSpPr/>
          <p:nvPr/>
        </p:nvSpPr>
        <p:spPr>
          <a:xfrm>
            <a:off x="8074152" y="1481328"/>
            <a:ext cx="3246120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rule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觀察輸出</a:t>
            </a:r>
          </a:p>
        </p:txBody>
      </p:sp>
      <p:sp>
        <p:nvSpPr>
          <p:cNvPr id="14" name="Baseline rule 3 body"/>
          <p:cNvSpPr txBox="1"/>
          <p:nvPr/>
        </p:nvSpPr>
        <p:spPr>
          <a:xfrm>
            <a:off x="8202168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狀態時間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封包結果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15" name="Baseline control condition"/>
          <p:cNvSpPr/>
          <p:nvPr/>
        </p:nvSpPr>
        <p:spPr>
          <a:xfrm>
            <a:off x="932688" y="3950208"/>
            <a:ext cx="4882896" cy="7498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公平條件：兩次結果的身分與端點範圍一致</a:t>
            </a:r>
          </a:p>
        </p:txBody>
      </p:sp>
      <p:sp>
        <p:nvSpPr>
          <p:cNvPr id="16" name="Baseline interpretation"/>
          <p:cNvSpPr/>
          <p:nvPr/>
        </p:nvSpPr>
        <p:spPr>
          <a:xfrm>
            <a:off x="6364224" y="3950208"/>
            <a:ext cx="4882896" cy="74980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解釋順序：先回到標記區塊，再讀狀態／封包／服務／J</a:t>
            </a:r>
          </a:p>
        </p:txBody>
      </p:sp>
      <p:sp>
        <p:nvSpPr>
          <p:cNvPr id="17" name="Field contract policy identity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策略識別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identity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policy｜作用：指出 policy surface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單位：識別碼｜判讀：與 scenario、run_id 比對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的變動服務窗口軌跡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服務窗口輸入改變合法傳輸機會；策略再依觀察值選擇動作</a:t>
            </a:r>
          </a:p>
        </p:txBody>
      </p:sp>
      <p:sp>
        <p:nvSpPr>
          <p:cNvPr id="4" name="LEO window segment 1"/>
          <p:cNvSpPr/>
          <p:nvPr/>
        </p:nvSpPr>
        <p:spPr>
          <a:xfrm>
            <a:off x="841248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不接受傳輸</a:t>
            </a:r>
          </a:p>
        </p:txBody>
      </p:sp>
      <p:sp>
        <p:nvSpPr>
          <p:cNvPr id="5" name="LEO window segment 2"/>
          <p:cNvSpPr/>
          <p:nvPr/>
        </p:nvSpPr>
        <p:spPr>
          <a:xfrm>
            <a:off x="2240280" y="1572768"/>
            <a:ext cx="2194560" cy="9692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服務窗口 A </a:t>
            </a:r>
            <a:r>
              <a:rPr sz="1900" b="1" i="1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品質逐步變化</a:t>
            </a:r>
          </a:p>
        </p:txBody>
      </p:sp>
      <p:sp>
        <p:nvSpPr>
          <p:cNvPr id="6" name="LEO window segment 3"/>
          <p:cNvSpPr/>
          <p:nvPr/>
        </p:nvSpPr>
        <p:spPr>
          <a:xfrm>
            <a:off x="4507992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服務機會消失</a:t>
            </a:r>
          </a:p>
        </p:txBody>
      </p:sp>
      <p:sp>
        <p:nvSpPr>
          <p:cNvPr id="7" name="LEO window segment 4"/>
          <p:cNvSpPr/>
          <p:nvPr/>
        </p:nvSpPr>
        <p:spPr>
          <a:xfrm>
            <a:off x="5907024" y="1572768"/>
            <a:ext cx="2194560" cy="9692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服務窗口 B </a:t>
            </a:r>
            <a:r>
              <a:rPr sz="1900" b="1" i="1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品質再次變化</a:t>
            </a:r>
          </a:p>
        </p:txBody>
      </p:sp>
      <p:sp>
        <p:nvSpPr>
          <p:cNvPr id="8" name="LEO window segment 5"/>
          <p:cNvSpPr/>
          <p:nvPr/>
        </p:nvSpPr>
        <p:spPr>
          <a:xfrm>
            <a:off x="8174736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回到休息</a:t>
            </a:r>
          </a:p>
        </p:txBody>
      </p:sp>
      <p:sp>
        <p:nvSpPr>
          <p:cNvPr id="9" name="LEO trace field 1"/>
          <p:cNvSpPr/>
          <p:nvPr/>
        </p:nvSpPr>
        <p:spPr>
          <a:xfrm>
            <a:off x="868680" y="2907792"/>
            <a:ext cx="3246120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O trace field 1 heading"/>
          <p:cNvSpPr txBox="1"/>
          <p:nvPr/>
        </p:nvSpPr>
        <p:spPr>
          <a:xfrm>
            <a:off x="960120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窗口是否開啟 </a:t>
            </a:r>
            <a:r>
              <a:rPr sz="20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</p:txBody>
      </p:sp>
      <p:sp>
        <p:nvSpPr>
          <p:cNvPr id="11" name="LEO trace field 1 body"/>
          <p:cNvSpPr txBox="1"/>
          <p:nvPr/>
        </p:nvSpPr>
        <p:spPr>
          <a:xfrm>
            <a:off x="996695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布林狀態；來源：scenario trace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作用：決定是否允許傳輸</a:t>
            </a:r>
          </a:p>
        </p:txBody>
      </p:sp>
      <p:sp>
        <p:nvSpPr>
          <p:cNvPr id="12" name="LEO trace field 2"/>
          <p:cNvSpPr/>
          <p:nvPr/>
        </p:nvSpPr>
        <p:spPr>
          <a:xfrm>
            <a:off x="4471416" y="2907792"/>
            <a:ext cx="3246120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trace field 2 heading"/>
          <p:cNvSpPr txBox="1"/>
          <p:nvPr/>
        </p:nvSpPr>
        <p:spPr>
          <a:xfrm>
            <a:off x="4562855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連線品質 </a:t>
            </a: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quality_band</a:t>
            </a:r>
          </a:p>
        </p:txBody>
      </p:sp>
      <p:sp>
        <p:nvSpPr>
          <p:cNvPr id="14" name="LEO trace field 2 body"/>
          <p:cNvSpPr txBox="1"/>
          <p:nvPr/>
        </p:nvSpPr>
        <p:spPr>
          <a:xfrm>
            <a:off x="4599431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分類值 0–3；不是 dB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作用：供策略判斷服務機會</a:t>
            </a:r>
          </a:p>
        </p:txBody>
      </p:sp>
      <p:sp>
        <p:nvSpPr>
          <p:cNvPr id="15" name="LEO trace field 3"/>
          <p:cNvSpPr/>
          <p:nvPr/>
        </p:nvSpPr>
        <p:spPr>
          <a:xfrm>
            <a:off x="8074152" y="2907792"/>
            <a:ext cx="3246120" cy="14630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O trace field 3 heading"/>
          <p:cNvSpPr txBox="1"/>
          <p:nvPr/>
        </p:nvSpPr>
        <p:spPr>
          <a:xfrm>
            <a:off x="8165592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窗口剩餘秒數 </a:t>
            </a:r>
            <a:r>
              <a:rPr sz="20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contact_remaining_s</a:t>
            </a:r>
          </a:p>
        </p:txBody>
      </p:sp>
      <p:sp>
        <p:nvSpPr>
          <p:cNvPr id="17" name="LEO trace field 3 body"/>
          <p:cNvSpPr txBox="1"/>
          <p:nvPr/>
        </p:nvSpPr>
        <p:spPr>
          <a:xfrm>
            <a:off x="8202168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單位：s；來源：scenario trace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作用：影響動作時機與期限</a:t>
            </a:r>
          </a:p>
        </p:txBody>
      </p:sp>
      <p:sp>
        <p:nvSpPr>
          <p:cNvPr id="18" name="LEO trace interpretation"/>
          <p:cNvSpPr/>
          <p:nvPr/>
        </p:nvSpPr>
        <p:spPr>
          <a:xfrm>
            <a:off x="932688" y="4535424"/>
            <a:ext cx="10314432" cy="4754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窗口關閉時只接受低功耗休息 </a:t>
            </a:r>
            <a:r>
              <a:rPr sz="18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；窗口開啟時，品質與剩餘時間共同改變動作的服務機會。</a:t>
            </a:r>
          </a:p>
        </p:txBody>
      </p:sp>
      <p:sp>
        <p:nvSpPr>
          <p:cNvPr id="19" name="Field contract service_window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（欄位）｜來源：scenario trace｜作用：定義合法傳輸區間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單位：time／category｜判讀：解釋 action 的服務機會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為何改 REST_DURING_GAP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先說明為何做，再定位檔案、標記區塊、命令與結果欄位</a:t>
            </a:r>
          </a:p>
        </p:txBody>
      </p:sp>
      <p:sp>
        <p:nvSpPr>
          <p:cNvPr id="4" name="Lab A explanation card 1"/>
          <p:cNvSpPr/>
          <p:nvPr/>
        </p:nvSpPr>
        <p:spPr>
          <a:xfrm>
            <a:off x="685800" y="1426464"/>
            <a:ext cx="2542032" cy="17556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explanation card 1 heading"/>
          <p:cNvSpPr txBox="1"/>
          <p:nvPr/>
        </p:nvSpPr>
        <p:spPr>
          <a:xfrm>
            <a:off x="77724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為何做 Why</a:t>
            </a:r>
          </a:p>
        </p:txBody>
      </p:sp>
      <p:sp>
        <p:nvSpPr>
          <p:cNvPr id="6" name="Lab A explanation card 1 body"/>
          <p:cNvSpPr txBox="1"/>
          <p:nvPr/>
        </p:nvSpPr>
        <p:spPr>
          <a:xfrm>
            <a:off x="81381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↔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先改變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／awake-idle／J；要驗證 state 與 service</a:t>
            </a:r>
          </a:p>
        </p:txBody>
      </p:sp>
      <p:sp>
        <p:nvSpPr>
          <p:cNvPr id="7" name="Lab A explanation connector"/>
          <p:cNvSpPr/>
          <p:nvPr/>
        </p:nvSpPr>
        <p:spPr>
          <a:xfrm>
            <a:off x="3300984" y="2057400"/>
            <a:ext cx="182880" cy="29260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xplanation card 2"/>
          <p:cNvSpPr/>
          <p:nvPr/>
        </p:nvSpPr>
        <p:spPr>
          <a:xfrm>
            <a:off x="3520440" y="1426464"/>
            <a:ext cx="2542032" cy="17556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A explanation card 2 heading"/>
          <p:cNvSpPr txBox="1"/>
          <p:nvPr/>
        </p:nvSpPr>
        <p:spPr>
          <a:xfrm>
            <a:off x="361188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檔案與區塊</a:t>
            </a:r>
          </a:p>
        </p:txBody>
      </p:sp>
      <p:sp>
        <p:nvSpPr>
          <p:cNvPr id="10" name="Lab A explanation card 2 body"/>
          <p:cNvSpPr txBox="1"/>
          <p:nvPr/>
        </p:nvSpPr>
        <p:spPr>
          <a:xfrm>
            <a:off x="364845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檔案：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標記區塊：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11" name="Lab A explanation connector"/>
          <p:cNvSpPr/>
          <p:nvPr/>
        </p:nvSpPr>
        <p:spPr>
          <a:xfrm>
            <a:off x="6135624" y="2057400"/>
            <a:ext cx="182880" cy="29260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explanation card 3"/>
          <p:cNvSpPr/>
          <p:nvPr/>
        </p:nvSpPr>
        <p:spPr>
          <a:xfrm>
            <a:off x="6355080" y="1426464"/>
            <a:ext cx="2542032" cy="17556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 explanation card 3 heading"/>
          <p:cNvSpPr txBox="1"/>
          <p:nvPr/>
        </p:nvSpPr>
        <p:spPr>
          <a:xfrm>
            <a:off x="644652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改前 Before</a:t>
            </a:r>
          </a:p>
        </p:txBody>
      </p:sp>
      <p:sp>
        <p:nvSpPr>
          <p:cNvPr id="14" name="Lab A explanation card 3 body"/>
          <p:cNvSpPr txBox="1"/>
          <p:nvPr/>
        </p:nvSpPr>
        <p:spPr>
          <a:xfrm>
            <a:off x="648309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低功耗休息；可能出現 WAKE</a:t>
            </a:r>
          </a:p>
        </p:txBody>
      </p:sp>
      <p:sp>
        <p:nvSpPr>
          <p:cNvPr id="15" name="Lab A explanation connector"/>
          <p:cNvSpPr/>
          <p:nvPr/>
        </p:nvSpPr>
        <p:spPr>
          <a:xfrm>
            <a:off x="8970264" y="2057400"/>
            <a:ext cx="182880" cy="29260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 A explanation card 4"/>
          <p:cNvSpPr/>
          <p:nvPr/>
        </p:nvSpPr>
        <p:spPr>
          <a:xfrm>
            <a:off x="9189720" y="1426464"/>
            <a:ext cx="2542032" cy="17556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 A explanation card 4 heading"/>
          <p:cNvSpPr txBox="1"/>
          <p:nvPr/>
        </p:nvSpPr>
        <p:spPr>
          <a:xfrm>
            <a:off x="928116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改後 After</a:t>
            </a:r>
          </a:p>
        </p:txBody>
      </p:sp>
      <p:sp>
        <p:nvSpPr>
          <p:cNvPr id="18" name="Lab A explanation card 4 body"/>
          <p:cNvSpPr txBox="1"/>
          <p:nvPr/>
        </p:nvSpPr>
        <p:spPr>
          <a:xfrm>
            <a:off x="931773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清醒閒置；可能少 WAKE、但多 awake-idle J</a:t>
            </a:r>
          </a:p>
        </p:txBody>
      </p:sp>
      <p:sp>
        <p:nvSpPr>
          <p:cNvPr id="19" name="Lab A fixed inputs"/>
          <p:cNvSpPr/>
          <p:nvPr/>
        </p:nvSpPr>
        <p:spPr>
          <a:xfrm>
            <a:off x="932688" y="3456432"/>
            <a:ext cx="4882896" cy="80467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、scenario／seed／traffic／window、runner／schema、Lab B/C</a:t>
            </a:r>
          </a:p>
        </p:txBody>
      </p:sp>
      <p:sp>
        <p:nvSpPr>
          <p:cNvPr id="20" name="Lab A result fields"/>
          <p:cNvSpPr/>
          <p:nvPr/>
        </p:nvSpPr>
        <p:spPr>
          <a:xfrm>
            <a:off x="6364224" y="3456432"/>
            <a:ext cx="4882896" cy="8046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＋新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；讀同目錄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21" name="Lab A falsifiable prediction"/>
          <p:cNvSpPr/>
          <p:nvPr/>
        </p:nvSpPr>
        <p:spPr>
          <a:xfrm>
            <a:off x="932688" y="4443984"/>
            <a:ext cx="10314432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完整解釋句：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先改變 state，再讀 packet／service，最後才解釋 endpoint J；方向可被結果反駁。</a:t>
            </a:r>
          </a:p>
        </p:txBody>
      </p:sp>
      <p:sp>
        <p:nvSpPr>
          <p:cNvPr id="22" name="Field contract REST_DURING_GAP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空檔策略欄位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（欄位）｜來源：policy marked block｜作用：控制 gap state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單位：SLEEP／WAIT｜判讀：先連 state，再讀 packet／service／J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基準決策與對照證據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基準先證明原始策略在同一服務窗口如何決策，建立改前對照</a:t>
            </a:r>
          </a:p>
        </p:txBody>
      </p:sp>
      <p:sp>
        <p:nvSpPr>
          <p:cNvPr id="4" name="Baseline evidence card 1"/>
          <p:cNvSpPr/>
          <p:nvPr/>
        </p:nvSpPr>
        <p:spPr>
          <a:xfrm>
            <a:off x="868680" y="1426464"/>
            <a:ext cx="3246120" cy="22677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seline evidence card 1 heading"/>
          <p:cNvSpPr txBox="1"/>
          <p:nvPr/>
        </p:nvSpPr>
        <p:spPr>
          <a:xfrm>
            <a:off x="960120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決策分支</a:t>
            </a:r>
          </a:p>
        </p:txBody>
      </p:sp>
      <p:sp>
        <p:nvSpPr>
          <p:cNvPr id="6" name="Baseline evidence card 1 body"/>
          <p:cNvSpPr txBox="1"/>
          <p:nvPr/>
        </p:nvSpPr>
        <p:spPr>
          <a:xfrm>
            <a:off x="996695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contact_open=false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steps_since_send &lt; 2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REST_DURING_GAP=SLEEP</a:t>
            </a:r>
          </a:p>
        </p:txBody>
      </p:sp>
      <p:sp>
        <p:nvSpPr>
          <p:cNvPr id="7" name="Baseline evidence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evidence card 2"/>
          <p:cNvSpPr/>
          <p:nvPr/>
        </p:nvSpPr>
        <p:spPr>
          <a:xfrm>
            <a:off x="4471416" y="1426464"/>
            <a:ext cx="3246120" cy="22677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evidence card 2 heading"/>
          <p:cNvSpPr txBox="1"/>
          <p:nvPr/>
        </p:nvSpPr>
        <p:spPr>
          <a:xfrm>
            <a:off x="4562855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基準命令</a:t>
            </a:r>
          </a:p>
        </p:txBody>
      </p:sp>
      <p:sp>
        <p:nvSpPr>
          <p:cNvPr id="10" name="Baseline evidence card 2 body"/>
          <p:cNvSpPr txBox="1"/>
          <p:nvPr/>
        </p:nvSpPr>
        <p:spPr>
          <a:xfrm>
            <a:off x="4599431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終端機（WSL 也使用 Linux 指令）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1" name="Baseline evidence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seline evidence card 3"/>
          <p:cNvSpPr/>
          <p:nvPr/>
        </p:nvSpPr>
        <p:spPr>
          <a:xfrm>
            <a:off x="8074152" y="1426464"/>
            <a:ext cx="3246120" cy="22677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evidence card 3 heading"/>
          <p:cNvSpPr txBox="1"/>
          <p:nvPr/>
        </p:nvSpPr>
        <p:spPr>
          <a:xfrm>
            <a:off x="8165592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參考摘要</a:t>
            </a:r>
          </a:p>
        </p:txBody>
      </p:sp>
      <p:sp>
        <p:nvSpPr>
          <p:cNvPr id="14" name="Baseline evidence card 3 body"/>
          <p:cNvSpPr txBox="1"/>
          <p:nvPr/>
        </p:nvSpPr>
        <p:spPr>
          <a:xfrm>
            <a:off x="8202168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endpoint_energy_j=6.92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delivered_bits=4,800 bit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</a:p>
        </p:txBody>
      </p:sp>
      <p:sp>
        <p:nvSpPr>
          <p:cNvPr id="15" name="Baseline why card"/>
          <p:cNvSpPr/>
          <p:nvPr/>
        </p:nvSpPr>
        <p:spPr>
          <a:xfrm>
            <a:off x="932688" y="3931920"/>
            <a:ext cx="4882896" cy="82296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REST_DURING_GAP=SLEEP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；其他區塊不變</a:t>
            </a:r>
          </a:p>
        </p:txBody>
      </p:sp>
      <p:sp>
        <p:nvSpPr>
          <p:cNvPr id="16" name="Baseline reference boundary"/>
          <p:cNvSpPr/>
          <p:nvPr/>
        </p:nvSpPr>
        <p:spPr>
          <a:xfrm>
            <a:off x="6364224" y="3931920"/>
            <a:ext cx="4882896" cy="8229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summary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events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；baseline 是 control，不回答省電。</a:t>
            </a:r>
          </a:p>
        </p:txBody>
      </p:sp>
      <p:sp>
        <p:nvSpPr>
          <p:cNvPr id="17" name="Field contract result_path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結果路徑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（欄位）｜來源：P042 stdout｜作用：定位 result.json＋同 run replay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單位：path｜判讀：先核對 identity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程式碼改前／改後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定位後只讀 5 行：淡化不變行，高亮唯一變更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4" name="Lab A before code"/>
          <p:cNvSpPr/>
          <p:nvPr/>
        </p:nvSpPr>
        <p:spPr>
          <a:xfrm>
            <a:off x="731520" y="1426464"/>
            <a:ext cx="475488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before code heading"/>
          <p:cNvSpPr txBox="1"/>
          <p:nvPr/>
        </p:nvSpPr>
        <p:spPr>
          <a:xfrm>
            <a:off x="859536" y="1554480"/>
            <a:ext cx="4498848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改前 Before｜基準</a:t>
            </a:r>
          </a:p>
        </p:txBody>
      </p:sp>
      <p:sp>
        <p:nvSpPr>
          <p:cNvPr id="6" name="Lab A before code code line 1"/>
          <p:cNvSpPr txBox="1"/>
          <p:nvPr/>
        </p:nvSpPr>
        <p:spPr>
          <a:xfrm>
            <a:off x="914400" y="195681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LORA EDITABLE: lab-a-pace-rest</a:t>
            </a:r>
          </a:p>
        </p:txBody>
      </p:sp>
      <p:sp>
        <p:nvSpPr>
          <p:cNvPr id="7" name="Lab A before code code line 2"/>
          <p:cNvSpPr txBox="1"/>
          <p:nvPr/>
        </p:nvSpPr>
        <p:spPr>
          <a:xfrm>
            <a:off x="914400" y="232257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</p:txBody>
      </p:sp>
      <p:sp>
        <p:nvSpPr>
          <p:cNvPr id="8" name="Lab A before code code line 3"/>
          <p:cNvSpPr txBox="1"/>
          <p:nvPr/>
        </p:nvSpPr>
        <p:spPr>
          <a:xfrm>
            <a:off x="914400" y="268833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</p:txBody>
      </p:sp>
      <p:sp>
        <p:nvSpPr>
          <p:cNvPr id="9" name="Lab A before code code line 4"/>
          <p:cNvSpPr txBox="1"/>
          <p:nvPr/>
        </p:nvSpPr>
        <p:spPr>
          <a:xfrm>
            <a:off x="914400" y="305409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其他 marked block 保持原樣</a:t>
            </a:r>
          </a:p>
        </p:txBody>
      </p:sp>
      <p:sp>
        <p:nvSpPr>
          <p:cNvPr id="10" name="Lab A before code code line 5"/>
          <p:cNvSpPr txBox="1"/>
          <p:nvPr/>
        </p:nvSpPr>
        <p:spPr>
          <a:xfrm>
            <a:off x="914400" y="341985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runner／scenario／schema／JSON 不變</a:t>
            </a:r>
          </a:p>
        </p:txBody>
      </p:sp>
      <p:sp>
        <p:nvSpPr>
          <p:cNvPr id="11" name="Lab A after code"/>
          <p:cNvSpPr/>
          <p:nvPr/>
        </p:nvSpPr>
        <p:spPr>
          <a:xfrm>
            <a:off x="5669280" y="1426464"/>
            <a:ext cx="4754880" cy="26151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after code heading"/>
          <p:cNvSpPr txBox="1"/>
          <p:nvPr/>
        </p:nvSpPr>
        <p:spPr>
          <a:xfrm>
            <a:off x="5797296" y="1554480"/>
            <a:ext cx="4498848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改後 After｜候選</a:t>
            </a:r>
          </a:p>
        </p:txBody>
      </p:sp>
      <p:sp>
        <p:nvSpPr>
          <p:cNvPr id="13" name="Lab A after code code line 1"/>
          <p:cNvSpPr txBox="1"/>
          <p:nvPr/>
        </p:nvSpPr>
        <p:spPr>
          <a:xfrm>
            <a:off x="5852160" y="195681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LORA EDITABLE: lab-a-pace-rest</a:t>
            </a:r>
          </a:p>
        </p:txBody>
      </p:sp>
      <p:sp>
        <p:nvSpPr>
          <p:cNvPr id="14" name="Lab A after code code line 2"/>
          <p:cNvSpPr txBox="1"/>
          <p:nvPr/>
        </p:nvSpPr>
        <p:spPr>
          <a:xfrm>
            <a:off x="5852160" y="232257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</p:txBody>
      </p:sp>
      <p:sp>
        <p:nvSpPr>
          <p:cNvPr id="15" name="Lab A after code code line 3"/>
          <p:cNvSpPr txBox="1"/>
          <p:nvPr/>
        </p:nvSpPr>
        <p:spPr>
          <a:xfrm>
            <a:off x="5852160" y="268833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</p:txBody>
      </p:sp>
      <p:sp>
        <p:nvSpPr>
          <p:cNvPr id="16" name="Lab A after code code line 4"/>
          <p:cNvSpPr txBox="1"/>
          <p:nvPr/>
        </p:nvSpPr>
        <p:spPr>
          <a:xfrm>
            <a:off x="5852160" y="305409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其他 marked block 保持原樣</a:t>
            </a:r>
          </a:p>
        </p:txBody>
      </p:sp>
      <p:sp>
        <p:nvSpPr>
          <p:cNvPr id="17" name="Lab A after code code line 5"/>
          <p:cNvSpPr txBox="1"/>
          <p:nvPr/>
        </p:nvSpPr>
        <p:spPr>
          <a:xfrm>
            <a:off x="5852160" y="341985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runner／scenario／schema／JSON 不變</a:t>
            </a:r>
          </a:p>
        </p:txBody>
      </p:sp>
      <p:sp>
        <p:nvSpPr>
          <p:cNvPr id="18" name="Lab A unique edit arrow"/>
          <p:cNvSpPr/>
          <p:nvPr/>
        </p:nvSpPr>
        <p:spPr>
          <a:xfrm>
            <a:off x="5138928" y="243230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A unique edit annotation"/>
          <p:cNvSpPr txBox="1"/>
          <p:nvPr/>
        </p:nvSpPr>
        <p:spPr>
          <a:xfrm>
            <a:off x="4882896" y="2048256"/>
            <a:ext cx="841248" cy="2560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唯一變更</a:t>
            </a:r>
          </a:p>
        </p:txBody>
      </p:sp>
      <p:sp>
        <p:nvSpPr>
          <p:cNvPr id="20" name="Lab A edit mechanism and freeze"/>
          <p:cNvSpPr/>
          <p:nvPr/>
        </p:nvSpPr>
        <p:spPr>
          <a:xfrm>
            <a:off x="896112" y="4224528"/>
            <a:ext cx="10369296" cy="8412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、Lab B/C、runner、scenario、schema、JSON 不變。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原因：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 awake-idle state；P042 run 才看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、packet、service、J。</a:t>
            </a:r>
          </a:p>
        </p:txBody>
      </p:sp>
      <p:sp>
        <p:nvSpPr>
          <p:cNvPr id="21" name="Field contract REST_DURING_GAP"/>
          <p:cNvSpPr/>
          <p:nvPr/>
        </p:nvSpPr>
        <p:spPr>
          <a:xfrm>
            <a:off x="749808" y="5138928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空檔策略欄位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（欄位）｜來源：student_policy.py／lab-a-pace-rest｜作用：指定 gap action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單位：SLEEP／WAIT｜判讀：先連 state，再用 A/B 結果判讀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→ 候選 → 隱藏檢查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一條執行帶完成三步：建立基準、凍結候選、用同一策略做隱藏檢查</a:t>
            </a:r>
          </a:p>
        </p:txBody>
      </p:sp>
      <p:sp>
        <p:nvSpPr>
          <p:cNvPr id="4" name="Run platform contract"/>
          <p:cNvSpPr txBox="1"/>
          <p:nvPr/>
        </p:nvSpPr>
        <p:spPr>
          <a:xfrm>
            <a:off x="896112" y="1261872"/>
            <a:ext cx="10332720" cy="2011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平台：Linux／macOS 終端機（WSL 也使用 Linux 指令）；Windows 命令提示字元。</a:t>
            </a:r>
          </a:p>
        </p:txBody>
      </p:sp>
      <p:sp>
        <p:nvSpPr>
          <p:cNvPr id="5" name="Run stage 1"/>
          <p:cNvSpPr/>
          <p:nvPr/>
        </p:nvSpPr>
        <p:spPr>
          <a:xfrm>
            <a:off x="676656" y="1481328"/>
            <a:ext cx="3246120" cy="356616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stage heading 1"/>
          <p:cNvSpPr txBox="1"/>
          <p:nvPr/>
        </p:nvSpPr>
        <p:spPr>
          <a:xfrm>
            <a:off x="786384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01｜基準 Baseline</a:t>
            </a:r>
          </a:p>
        </p:txBody>
      </p:sp>
      <p:sp>
        <p:nvSpPr>
          <p:cNvPr id="7" name="Run stage condition 1"/>
          <p:cNvSpPr txBox="1"/>
          <p:nvPr/>
        </p:nvSpPr>
        <p:spPr>
          <a:xfrm>
            <a:off x="822960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不改 policy；A 區塊仍為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8" name="Run Linux exact command 1"/>
          <p:cNvSpPr txBox="1"/>
          <p:nvPr/>
        </p:nvSpPr>
        <p:spPr>
          <a:xfrm>
            <a:off x="841247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9" name="Run Windows exact command 1"/>
          <p:cNvSpPr txBox="1"/>
          <p:nvPr/>
        </p:nvSpPr>
        <p:spPr>
          <a:xfrm>
            <a:off x="841247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baseline</a:t>
            </a:r>
          </a:p>
        </p:txBody>
      </p:sp>
      <p:sp>
        <p:nvSpPr>
          <p:cNvPr id="10" name="Run stage receipt 1"/>
          <p:cNvSpPr/>
          <p:nvPr/>
        </p:nvSpPr>
        <p:spPr>
          <a:xfrm>
            <a:off x="822960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同目錄 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1" name="Run ribbon connector"/>
          <p:cNvSpPr/>
          <p:nvPr/>
        </p:nvSpPr>
        <p:spPr>
          <a:xfrm>
            <a:off x="4023360" y="2871216"/>
            <a:ext cx="256032" cy="34747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n stage 2"/>
          <p:cNvSpPr/>
          <p:nvPr/>
        </p:nvSpPr>
        <p:spPr>
          <a:xfrm>
            <a:off x="4498848" y="1481328"/>
            <a:ext cx="3246120" cy="35661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un stage heading 2"/>
          <p:cNvSpPr txBox="1"/>
          <p:nvPr/>
        </p:nvSpPr>
        <p:spPr>
          <a:xfrm>
            <a:off x="4608576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02｜候選 Candidate</a:t>
            </a:r>
          </a:p>
        </p:txBody>
      </p:sp>
      <p:sp>
        <p:nvSpPr>
          <p:cNvPr id="14" name="Run stage condition 2"/>
          <p:cNvSpPr txBox="1"/>
          <p:nvPr/>
        </p:nvSpPr>
        <p:spPr>
          <a:xfrm>
            <a:off x="4645152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 P041：A 區塊改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，再凍結</a:t>
            </a:r>
          </a:p>
        </p:txBody>
      </p:sp>
      <p:sp>
        <p:nvSpPr>
          <p:cNvPr id="15" name="Run Linux exact command 2"/>
          <p:cNvSpPr txBox="1"/>
          <p:nvPr/>
        </p:nvSpPr>
        <p:spPr>
          <a:xfrm>
            <a:off x="4663440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16" name="Run Windows exact command 2"/>
          <p:cNvSpPr txBox="1"/>
          <p:nvPr/>
        </p:nvSpPr>
        <p:spPr>
          <a:xfrm>
            <a:off x="4663440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candidate --freeze</a:t>
            </a:r>
          </a:p>
        </p:txBody>
      </p:sp>
      <p:sp>
        <p:nvSpPr>
          <p:cNvPr id="17" name="Run stage receipt 2"/>
          <p:cNvSpPr/>
          <p:nvPr/>
        </p:nvSpPr>
        <p:spPr>
          <a:xfrm>
            <a:off x="4645152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lab-a-frozen.json</a:t>
            </a: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.py</a:t>
            </a:r>
          </a:p>
        </p:txBody>
      </p:sp>
      <p:sp>
        <p:nvSpPr>
          <p:cNvPr id="18" name="Run ribbon connector"/>
          <p:cNvSpPr/>
          <p:nvPr/>
        </p:nvSpPr>
        <p:spPr>
          <a:xfrm>
            <a:off x="7845552" y="2871216"/>
            <a:ext cx="256032" cy="347472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un stage 3"/>
          <p:cNvSpPr/>
          <p:nvPr/>
        </p:nvSpPr>
        <p:spPr>
          <a:xfrm>
            <a:off x="8321040" y="1481328"/>
            <a:ext cx="3246120" cy="35661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n stage heading 3"/>
          <p:cNvSpPr txBox="1"/>
          <p:nvPr/>
        </p:nvSpPr>
        <p:spPr>
          <a:xfrm>
            <a:off x="8430767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03｜隱藏 Hidden</a:t>
            </a:r>
          </a:p>
        </p:txBody>
      </p:sp>
      <p:sp>
        <p:nvSpPr>
          <p:cNvPr id="21" name="Run stage condition 3"/>
          <p:cNvSpPr txBox="1"/>
          <p:nvPr/>
        </p:nvSpPr>
        <p:spPr>
          <a:xfrm>
            <a:off x="8467344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 frozen policy；不再改值</a:t>
            </a:r>
          </a:p>
        </p:txBody>
      </p:sp>
      <p:sp>
        <p:nvSpPr>
          <p:cNvPr id="22" name="Run Linux exact command 3"/>
          <p:cNvSpPr txBox="1"/>
          <p:nvPr/>
        </p:nvSpPr>
        <p:spPr>
          <a:xfrm>
            <a:off x="8485632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23" name="Run Windows exact command 3"/>
          <p:cNvSpPr txBox="1"/>
          <p:nvPr/>
        </p:nvSpPr>
        <p:spPr>
          <a:xfrm>
            <a:off x="8485632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hidden</a:t>
            </a:r>
          </a:p>
        </p:txBody>
      </p:sp>
      <p:sp>
        <p:nvSpPr>
          <p:cNvPr id="24" name="Run stage receipt 3"/>
          <p:cNvSpPr/>
          <p:nvPr/>
        </p:nvSpPr>
        <p:spPr>
          <a:xfrm>
            <a:off x="8467344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不建立第二個 freeze</a:t>
            </a:r>
          </a:p>
        </p:txBody>
      </p:sp>
      <p:sp>
        <p:nvSpPr>
          <p:cNvPr id="25" name="Run receipt rule"/>
          <p:cNvSpPr txBox="1"/>
          <p:nvPr/>
        </p:nvSpPr>
        <p:spPr>
          <a:xfrm>
            <a:off x="896112" y="5157216"/>
            <a:ext cx="1033272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讀取順序：stdout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同一 generated 目錄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配對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服務／封包／狀態／J；freeze 缺失就停止 hidden。</a:t>
            </a:r>
          </a:p>
        </p:txBody>
      </p:sp>
      <p:sp>
        <p:nvSpPr>
          <p:cNvPr id="26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同一邊界的改前／改後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 evidence 都未通過 service gate；先核對同一 boundary，再讀改前／改後／hidden</a:t>
            </a:r>
          </a:p>
        </p:txBody>
      </p:sp>
      <p:sp>
        <p:nvSpPr>
          <p:cNvPr id="4" name="Lab A baseline evidence"/>
          <p:cNvSpPr/>
          <p:nvPr/>
        </p:nvSpPr>
        <p:spPr>
          <a:xfrm>
            <a:off x="603504" y="1389888"/>
            <a:ext cx="3401568" cy="3273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baseline evidence heading"/>
          <p:cNvSpPr txBox="1"/>
          <p:nvPr/>
        </p:nvSpPr>
        <p:spPr>
          <a:xfrm>
            <a:off x="694944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Baseline｜SLEEP</a:t>
            </a:r>
          </a:p>
        </p:txBody>
      </p:sp>
      <p:sp>
        <p:nvSpPr>
          <p:cNvPr id="6" name="Lab A baseline evidence body"/>
          <p:cNvSpPr txBox="1"/>
          <p:nvPr/>
        </p:nvSpPr>
        <p:spPr>
          <a:xfrm>
            <a:off x="731520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：6.92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：693.641618</a:t>
            </a:r>
          </a:p>
        </p:txBody>
      </p:sp>
      <p:sp>
        <p:nvSpPr>
          <p:cNvPr id="7" name="Lab A candidate evidence"/>
          <p:cNvSpPr/>
          <p:nvPr/>
        </p:nvSpPr>
        <p:spPr>
          <a:xfrm>
            <a:off x="4279392" y="1389888"/>
            <a:ext cx="3401568" cy="32735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candidate evidence heading"/>
          <p:cNvSpPr txBox="1"/>
          <p:nvPr/>
        </p:nvSpPr>
        <p:spPr>
          <a:xfrm>
            <a:off x="4370831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Candidate｜WAIT</a:t>
            </a:r>
          </a:p>
        </p:txBody>
      </p:sp>
      <p:sp>
        <p:nvSpPr>
          <p:cNvPr id="9" name="Lab A candidate evidence body"/>
          <p:cNvSpPr txBox="1"/>
          <p:nvPr/>
        </p:nvSpPr>
        <p:spPr>
          <a:xfrm>
            <a:off x="4407407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：8.86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：541.760722</a:t>
            </a:r>
          </a:p>
        </p:txBody>
      </p:sp>
      <p:sp>
        <p:nvSpPr>
          <p:cNvPr id="10" name="Lab A hidden evidence"/>
          <p:cNvSpPr/>
          <p:nvPr/>
        </p:nvSpPr>
        <p:spPr>
          <a:xfrm>
            <a:off x="7955279" y="1389888"/>
            <a:ext cx="3401568" cy="327355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 A hidden evidence heading"/>
          <p:cNvSpPr txBox="1"/>
          <p:nvPr/>
        </p:nvSpPr>
        <p:spPr>
          <a:xfrm>
            <a:off x="8046719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Hidden frozen｜WAIT</a:t>
            </a:r>
          </a:p>
        </p:txBody>
      </p:sp>
      <p:sp>
        <p:nvSpPr>
          <p:cNvPr id="12" name="Lab A hidden evidence body"/>
          <p:cNvSpPr txBox="1"/>
          <p:nvPr/>
        </p:nvSpPr>
        <p:spPr>
          <a:xfrm>
            <a:off x="8083296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：0/3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：3.61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</p:txBody>
      </p:sp>
      <p:sp>
        <p:nvSpPr>
          <p:cNvPr id="13" name="Lab A candidate comparison"/>
          <p:cNvSpPr/>
          <p:nvPr/>
        </p:nvSpPr>
        <p:spPr>
          <a:xfrm>
            <a:off x="749808" y="4773168"/>
            <a:ext cx="5248656" cy="3657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WAIT：service 不變（false→false），endpoint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+1.94 J</a:t>
            </a:r>
          </a:p>
        </p:txBody>
      </p:sp>
      <p:sp>
        <p:nvSpPr>
          <p:cNvPr id="14" name="Lab A hidden interpretation"/>
          <p:cNvSpPr/>
          <p:nvPr/>
        </p:nvSpPr>
        <p:spPr>
          <a:xfrm>
            <a:off x="6144768" y="4773168"/>
            <a:ext cx="5248656" cy="3657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低 J 來自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0/3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未交付；不可視為節能成功</a:t>
            </a:r>
          </a:p>
        </p:txBody>
      </p:sp>
      <p:sp>
        <p:nvSpPr>
          <p:cNvPr id="15" name="Field contract policy identity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策略識別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identity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（欄位）｜來源：P042 result path｜作用：確認三次 run 的 policy 與 frozen identity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單位：identity｜判讀：先核對 scenario、seed、units、provenance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狀態帳本回到端點能量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用事件與能量分桶，把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的成本拆回可檢查的狀態區間</a:t>
            </a:r>
          </a:p>
        </p:txBody>
      </p:sp>
      <p:sp>
        <p:nvSpPr>
          <p:cNvPr id="4" name="State ledger order card"/>
          <p:cNvSpPr/>
          <p:nvPr/>
        </p:nvSpPr>
        <p:spPr>
          <a:xfrm>
            <a:off x="868680" y="1481328"/>
            <a:ext cx="5010912" cy="22128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ledger order card heading"/>
          <p:cNvSpPr txBox="1"/>
          <p:nvPr/>
        </p:nvSpPr>
        <p:spPr>
          <a:xfrm>
            <a:off x="960120" y="1591056"/>
            <a:ext cx="4828032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帳本讀取順序 Ledger</a:t>
            </a:r>
          </a:p>
        </p:txBody>
      </p:sp>
      <p:sp>
        <p:nvSpPr>
          <p:cNvPr id="6" name="State ledger order card body"/>
          <p:cNvSpPr txBox="1"/>
          <p:nvPr/>
        </p:nvSpPr>
        <p:spPr>
          <a:xfrm>
            <a:off x="996695" y="2011680"/>
            <a:ext cx="4754880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1｜狀態區間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：找 WAIT／SLEEP 停留秒數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2｜喚醒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：確認轉換是否出現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3｜能量分桶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：對回每個 bucket</a:t>
            </a:r>
          </a:p>
        </p:txBody>
      </p:sp>
      <p:sp>
        <p:nvSpPr>
          <p:cNvPr id="7" name="Energy bucket result card"/>
          <p:cNvSpPr/>
          <p:nvPr/>
        </p:nvSpPr>
        <p:spPr>
          <a:xfrm>
            <a:off x="6309360" y="1481328"/>
            <a:ext cx="5010912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ergy bucket result card heading"/>
          <p:cNvSpPr txBox="1"/>
          <p:nvPr/>
        </p:nvSpPr>
        <p:spPr>
          <a:xfrm>
            <a:off x="6400800" y="1591056"/>
            <a:ext cx="4828032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22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</a:p>
        </p:txBody>
      </p:sp>
      <p:sp>
        <p:nvSpPr>
          <p:cNvPr id="9" name="Energy bucket result card body"/>
          <p:cNvSpPr txBox="1"/>
          <p:nvPr/>
        </p:nvSpPr>
        <p:spPr>
          <a:xfrm>
            <a:off x="6437376" y="2011680"/>
            <a:ext cx="4754880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醒著閒置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6.00 J｜休息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0.04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0.02 J｜處理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0.16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發射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2.40 J｜接收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rx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0.24 J</a:t>
            </a:r>
          </a:p>
        </p:txBody>
      </p:sp>
      <p:sp>
        <p:nvSpPr>
          <p:cNvPr id="10" name="Ledger result fields"/>
          <p:cNvSpPr/>
          <p:nvPr/>
        </p:nvSpPr>
        <p:spPr>
          <a:xfrm>
            <a:off x="932688" y="3968496"/>
            <a:ext cx="4882896" cy="8046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來源：候選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events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 state、起訖秒數、事件能量與 bucket J</a:t>
            </a:r>
          </a:p>
        </p:txBody>
      </p:sp>
      <p:sp>
        <p:nvSpPr>
          <p:cNvPr id="11" name="Ledger artifact boundary"/>
          <p:cNvSpPr/>
          <p:nvPr/>
        </p:nvSpPr>
        <p:spPr>
          <a:xfrm>
            <a:off x="6364224" y="3968496"/>
            <a:ext cx="4882896" cy="8046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哪個 interval 改變，就解釋哪個 J bucket</a:t>
            </a:r>
          </a:p>
        </p:txBody>
      </p:sp>
      <p:sp>
        <p:nvSpPr>
          <p:cNvPr id="12" name="Field contract STATE_INTERVAL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狀態區間事件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（欄位）｜來源：candidate events｜作用：提供 state、time、event energy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單位：state＋s＋J｜判讀：沿 interval 判讀 WAIT 成本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封包結果回到服務判定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 沒改善服務，卻多耗 1.94 J；hidden 的低 J 是未送達，不是節能成功</a:t>
            </a:r>
          </a:p>
        </p:txBody>
      </p:sp>
      <p:sp>
        <p:nvSpPr>
          <p:cNvPr id="4" name="Lab A state packet interpretation"/>
          <p:cNvSpPr/>
          <p:nvPr/>
        </p:nvSpPr>
        <p:spPr>
          <a:xfrm>
            <a:off x="768096" y="1389888"/>
            <a:ext cx="5047488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state packet interpretation heading"/>
          <p:cNvSpPr txBox="1"/>
          <p:nvPr/>
        </p:nvSpPr>
        <p:spPr>
          <a:xfrm>
            <a:off x="859536" y="1499616"/>
            <a:ext cx="4864607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 → WAIT｜state／packet</a:t>
            </a:r>
          </a:p>
        </p:txBody>
      </p:sp>
      <p:sp>
        <p:nvSpPr>
          <p:cNvPr id="6" name="Lab A state packet interpretation body"/>
          <p:cNvSpPr txBox="1"/>
          <p:nvPr/>
        </p:nvSpPr>
        <p:spPr>
          <a:xfrm>
            <a:off x="896112" y="1920240"/>
            <a:ext cx="4791455" cy="18470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：2 → 1　（少 1 次）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 → 1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 → 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 → 3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 → 1/4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 → false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 → false</a:t>
            </a:r>
          </a:p>
        </p:txBody>
      </p:sp>
      <p:sp>
        <p:nvSpPr>
          <p:cNvPr id="7" name="Lab A endpoint tradeoff"/>
          <p:cNvSpPr/>
          <p:nvPr/>
        </p:nvSpPr>
        <p:spPr>
          <a:xfrm>
            <a:off x="6144768" y="1389888"/>
            <a:ext cx="4261104" cy="24871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ndpoint tradeoff heading"/>
          <p:cNvSpPr txBox="1"/>
          <p:nvPr/>
        </p:nvSpPr>
        <p:spPr>
          <a:xfrm>
            <a:off x="6236207" y="1499616"/>
            <a:ext cx="4078224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trade-off｜J／bit/J</a:t>
            </a:r>
          </a:p>
        </p:txBody>
      </p:sp>
      <p:sp>
        <p:nvSpPr>
          <p:cNvPr id="9" name="Lab A endpoint tradeoff body"/>
          <p:cNvSpPr txBox="1"/>
          <p:nvPr/>
        </p:nvSpPr>
        <p:spPr>
          <a:xfrm>
            <a:off x="6272783" y="1920240"/>
            <a:ext cx="4005072" cy="18470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：6.92 → 8.86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差異：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+1.94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：693.641618 → 541.760722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 沒改善 service，且端點能量更高、效率更低。</a:t>
            </a:r>
          </a:p>
        </p:txBody>
      </p:sp>
      <p:sp>
        <p:nvSpPr>
          <p:cNvPr id="10" name="Lab A hidden frozen result"/>
          <p:cNvSpPr/>
          <p:nvPr/>
        </p:nvSpPr>
        <p:spPr>
          <a:xfrm>
            <a:off x="768096" y="4096512"/>
            <a:ext cx="9637776" cy="7863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frozen WAIT｜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：0/3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：3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：3.61 J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</p:txBody>
      </p:sp>
      <p:sp>
        <p:nvSpPr>
          <p:cNvPr id="11" name="Lab A hidden no success"/>
          <p:cNvSpPr/>
          <p:nvPr/>
        </p:nvSpPr>
        <p:spPr>
          <a:xfrm>
            <a:off x="768096" y="4645152"/>
            <a:ext cx="9637776" cy="3657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低 J 的原因是完全未送達；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service=false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deadline=false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，不能把它稱為節能成功。</a:t>
            </a:r>
          </a:p>
        </p:txBody>
      </p:sp>
      <p:sp>
        <p:nvSpPr>
          <p:cNvPr id="12" name="Field contract deadline_pas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期限通過狀態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 是否準時交付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單位：true／false｜判讀：先讀 delivered／expired／freshness，再形成 service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