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LoRaEnergySim 提供三項價值。第一，它建立 LoRa 端點的狀態與能量模型，使休眠、處理、發射、接收與端點能量邊界有可追溯來源。第二，它提供封包、碰撞、重試與送達的事件語言，讓策略結果能由中間事件解釋。第三，固定模型來源與版本，使不同案例與策略結果能以一致的欄位和判讀順序比較。課程操作因此可以從一行策略修改，一路追蹤到狀態、封包、服務與端點能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命令先讀取 Windows Downloads，再把 release 副本寫到 Linux staging；它不修改 Windows 原檔、`student_policy.py` 或任何 marked block。下一步進入 `lora-energy-lab/`，用 `pwd` 讀取目前位置；要檢查的 website／artifact field 是 package root 與來源路徑，路徑不一致時不要進入 setup。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`setup.sh` 讀取 `PYTHON_BIN` 指定的 Python 3.11，建立 package-local `.venv`；`course.sh verify` 再讀取 interpreter 與契約並寫入 READY receipt。這些命令不改 `/home/u24/lora-energy-lab/student_policy.py`、三個 marked blocks 或 runner；下一步只有在 READY、版本與 root 都正確時才 run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`verify-receipt.json` 是 setup／verify 寫入的環境收據。POSIX 的 `sed`、PowerShell 的 `Get-Content` 與 CMD 的 `type` 都只讀取它，不改檔、不執行案例。下一步核對 status／Python／scenario identity；若收據不一致，先修 setup，不要改 policy 或把收據當成 case result。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READY receipt 的 `status`、Python 版本、`scenario_id` 與 policy API version 只描述 environment、固定情境和允許契約。這一頁沒有檔案／block／value 變更；下一步執行案例後才看 `result.json` 的 service、packet 與 energy 欄位。READY 不宣稱已有 case result。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`engine_mode`、`upstream_execution` 與 claim boundary 只標註資料產生方式；讀取它們不改檔。`false` 明確表示沒有執行上游程式。下一步 run 後檢查 `artifact_source`、result identity 與 claim boundary；本頁沒有 student_policy.py 的 file／block／value 變更。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或 verify 受阻時，只修復 Python minor、package root、lock 或 policy boundary；不能把回復資料說成本機執行。下一步依 `artifact_source` 判斷是否可進 run；讀取同一 lab／case 的 `result.json` 與 `endpoint-replay.json` pair，再按 service → packet → state → endpoint J → efficiency 判讀。本頁不改 student_policy.py 或任何 marked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實際 `/home/u24/lora-energy-lab/student_policy.py` 現在包含中文註解；本頁只鏡像說明，不能把投影片文字貼回程式。UTF-8/LF bytes 參與 policy identity，outside-block 的註解、函式、runner、scenario、schemas 與輸出契約都不改；可編輯面只有 `lab-a-pace-rest`、`lab-b-enter-exit-hold`、`lab-c-batch-urgent`。下一步只改當前 block 的一個 value，再看成對 result／replay 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`observation` 是 runner 每個固定 step 提供的唯讀快照，實際使用窗口、急件、期限、距上次傳送步數、傳送模式、品質、穩定步數與佇列數。此頁是中文說明，不可貼回 `/home/u24/lora-energy-lab/student_policy.py`；沒有 file／block／value 變更。下一步由 `choose_action(observation)` 回傳合法 action，再從 result／replay 讀 state／event、packet／delivery、service 與 endpoint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 `choose_action()` 的 read-only 中文註解鏡像，不可貼回程式。實際順序是窗口關閉回傳 `SLEEP`；urgent deadline 回傳 `SEND_URGENT`；pacing gap 回傳 `REST_DURING_GAP`；品質 hold 未滿足回傳 `WAIT`；quality ready 且 queue 足量回傳 `FLUSH_BATCH`，否則 `SEND_ONE`；所有條件都不要求傳送時回傳 `WAIT`。沒有 file／block／value 變更；下一步 run 後按 service → packet／delivery → state／event → endpoint J → efficiency 判讀。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 `/home/u24/lora-energy-lab/student_policy.py` 的中文註解已說明每個 branch。這一頁只顯示小段可讀鏡像：窗口關閉時由 `if ...` 進入 `return SLEEP`；縮排決定 statement 屬於哪個條件。`.venv/bin/python -m py_compile student_policy.py` 只檢查語法，不改檔；若錯，只修目前 active marked block，中文註解、函式、runner、scenario 與 schemas 不動。下一步才執行 P027b baseline，讀成對 result／replay。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POSIX exact command 是 `bash course.sh run --lab A --case baseline`；Windows 是 `course.cmd run --lab A --case baseline`。它讀 packaged `student_policy.py` 與 fixed scenario，只在 run directory 寫 `result.json`、`endpoint-replay.json`，不修改 policy source、marked blocks、runner、scenario 或 schemas。下一步確認 `status: OK`、run identity、`result_path`，網站先看 service，再看 packet／state／endpoint J／efficiency；Lab A／B／C 後續依各自 baseline → candidate → freeze → withheld 順序比較。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本頁只做定位。實際檔案是 student_policy.py，區塊是 lab-a-pace-rest，唯一要比較的變數是 REST_DURING_GAP。PACE_GAP_STEPS = 2、runner、scenario、schemas 與其他 Lab 區塊保持不變。先建立這個可編輯邊界，再看下一頁的放大修改，不需要閱讀整個函式。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這一頁故意不顯示整段函式。修改前是 REST_DURING_GAP = SLEEP，修改後是 REST_DURING_GAP = WAIT。空檔進入低功耗休息；空檔保持清醒等待。除這一行外，檔案、縮排、函式、其他常數與其他 Lab 區塊全部保持不變。完成後先儲存，再依後續頁面的 exact command 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A 比較空檔休息與清醒等待。SLEEP 讓端點進入低功耗狀態，但下一次傳送可能多一次 WAKE；WAIT 保持清醒，可能更快反應，卻持續累積 awake-idle 能量。依序執行 baseline、candidate --freeze 與 hidden。Linux、macOS 與 WSL 使用 bash course.sh；Windows 使用 course.cmd 並保留相同的 lab、case 與 freeze 參數。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每次案例完成後，依 stdout 的 result_path 找到該次 result.json，到 /course 逐次匯入，並保留同目錄的 endpoint-replay.json。核對 scenario ID 與 run ID 後，先判斷 service，再看封包的送達、重試或逾期，再看狀態分布，最後才讀 endpoint J。預期先在 sleep／awake-idle／wake 時間看到差異，再檢查封包服務與端點焦耳。。若中間事件沒有預期差異，即使最後焦耳不同，也不能直接歸因於本次修改。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本頁只做定位。實際檔案是 student_policy.py，區塊是 lab-b-enter-exit-hold，唯一要比較的變數是 STABLE_STEPS。ENTER_QUALITY = 2、EXIT_QUALITY = 1、runner、scenario、schemas 與其他 Lab 區塊保持不變。先建立這個可編輯邊界，再看下一頁的放大修改，不需要閱讀整個函式。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這一頁故意不顯示整段函式。修改前是 STABLE_STEPS = 2，修改後是 STABLE_STEPS = 1。需要連續兩個穩定觀察；一個穩定觀察就成立。除這一行外，檔案、縮排、函式、其他常數與其他 Lab 區塊全部保持不變。完成後先儲存，再依後續頁面的 exact command 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STABLE_STEPS 從 2 改為 1，表示品質達標後不必再等待第二個穩定觀察，quality_ready 與 MODE_CHANGE 可能提早出現。好處可能是更早掌握服務窗口，風險是對短暫品質變化過度反應。依序執行 Trace A baseline、Trace A candidate --freeze 與 withheld Trace B。Windows 只替換 launcher 為 course.cmd，其餘參數不變。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每次案例完成後，依 stdout 的 result_path 找到該次 result.json，到 /course 逐次匯入，並保留同目錄的 endpoint-replay.json。核對 scenario ID 與 run ID 後，先判斷 service，再看封包的送達、重試或逾期，再看狀態分布，最後才讀 endpoint J。預期 quality_ready 或 MODE_CHANGE 可能提早；再看 attempt、retry、delivery、service 與端點焦耳。。若中間事件沒有預期差異，即使最後焦耳不同，也不能直接歸因於本次修改。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本頁只做定位。實際檔案是 student_policy.py，區塊是 lab-c-batch-urgent，唯一要比較的變數是 URGENT_MARGIN_S。BATCH_SIZE = 3、runner、scenario、schemas 與其他 Lab 區塊保持不變。先建立這個可編輯邊界，再看下一頁的放大修改，不需要閱讀整個函式。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的唯一比較值是 URGENT_MARGIN_S。此頁設定為 20 秒。期限剩 20 秒時進入急件分支。BATCH_SIZE 固定為 3，Lab A、Lab B、runner、scenario、schemas 與其他程式行都不變。不要把三個值擠在同一段程式碼中；每次只設定一個值、儲存並執行對應 case。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的唯一比較值是 URGENT_MARGIN_S。此頁設定為 5 秒。等到只剩 5 秒才急送，可能太晚。BATCH_SIZE 固定為 3，Lab A、Lab B、runner、scenario、schemas 與其他程式行都不變。不要把三個值擠在同一段程式碼中；每次只設定一個值、儲存並執行對應 case。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的唯一比較值是 URGENT_MARGIN_S。此頁設定為 30 秒。期限剩 30 秒就急送，較早但可能增加成本。BATCH_SIZE 固定為 3，Lab A、Lab B、runner、scenario、schemas 與其他程式行都不變。不要把三個值擠在同一段程式碼中；每次只設定一個值、儲存並執行對應 case。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URGENT_MARGIN_S 控制的是剩餘期限小於多少秒時，放棄等待批次並使用 SEND_URGENT。5 秒代表等待更久，可能錯過服務窗口或期限；30 秒代表更早急送，可能恢復服務，也可能增加 wake、TX 或處理能量。20 與 30 在固定主要案例中也可能產生相同結果，這種 null contrast 要如實保留，不能硬說 30 一定更好。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依序執行 baseline、candidate、revision --freeze 與 surprise。baseline 使用 20，candidate 使用 5，revision 使用 30 並凍結，surprise 保持同一份 frozen 30，不再修改。Linux、macOS 與 WSL 使用 bash course.sh run；Windows 使用 course.cmd run。每次保存命令輸出的 result_path，不能用上一個案例的路徑。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每次案例完成後，依 stdout 的 result_path 找到該次 result.json，到 /course 逐次匯入，並保留同目錄的 endpoint-replay.json。核對 scenario ID 與 run ID 後，先判斷 service，再看封包的送達、重試或逾期，再看狀態分布，最後才讀 endpoint J。先確認 deadline 與 service；若 20 與 30 結果相同，保留『此案例無差異』，不要硬造改善。。若中間事件沒有預期差異，即使最後焦耳不同，也不能直接歸因於本次修改。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提供的三項價值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它提供成熟的 LoRa 端點問題框架，讓狀態、封包與能量能沿同一條路徑解讀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端點狀態與能量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把休眠、處理、TX、RX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連到端點能量邊界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封包事件與可靠度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用封包、碰撞、重試、送達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解釋策略後果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可重複研究架構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固定模型來源與版本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讓案例與結果可以比較</a:t>
            </a:r>
          </a:p>
        </p:txBody>
      </p:sp>
      <p:sp>
        <p:nvSpPr>
          <p:cNvPr id="15" name="LoRaEnergySim value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讓策略動作可以連到狀態、封包、服務與端點能量證據</a:t>
            </a:r>
          </a:p>
        </p:txBody>
      </p:sp>
      <p:sp>
        <p:nvSpPr>
          <p:cNvPr id="16" name="Field contract model_referen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model_reference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（模型參考）｜來源：固定的 LoRaEnergySim repository 與版本｜作用：提供端點狀態、封包事件與能量欄位的可追溯來源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單位：來源識別｜判讀：以相同模型語言比較不同策略的事件與結果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把下載資料搬進 Linux 課程資料夾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把下載資料搬進 Linux 課程資料夾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這一步只做路徑準備：把 release 帶進 Linux，再確認程式根目錄</a:t>
            </a:r>
          </a:p>
        </p:txBody>
      </p:sp>
      <p:sp>
        <p:nvSpPr>
          <p:cNvPr id="6" name="把下載資料搬進 Linux 課程資料夾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把下載資料搬進 Linux 課程資料夾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這個工作區</a:t>
            </a:r>
          </a:p>
        </p:txBody>
      </p:sp>
      <p:sp>
        <p:nvSpPr>
          <p:cNvPr id="8" name="把下載資料搬進 Linux 課程資料夾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WSL＝Windows 內的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/mnt/c/.../Downloads</a:t>
            </a:r>
          </a:p>
        </p:txBody>
      </p:sp>
      <p:sp>
        <p:nvSpPr>
          <p:cNvPr id="9" name="把下載資料搬進 Linux 課程資料夾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把下載資料搬進 Linux 課程資料夾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程式不改</a:t>
            </a:r>
          </a:p>
        </p:txBody>
      </p:sp>
      <p:sp>
        <p:nvSpPr>
          <p:cNvPr id="11" name="把下載資料搬進 Linux 課程資料夾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不動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只複製 release 副本</a:t>
            </a:r>
          </a:p>
        </p:txBody>
      </p:sp>
      <p:sp>
        <p:nvSpPr>
          <p:cNvPr id="12" name="把下載資料搬進 Linux 課程資料夾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把下載資料搬進 Linux 課程資料夾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進入根目錄</a:t>
            </a:r>
          </a:p>
        </p:txBody>
      </p:sp>
      <p:sp>
        <p:nvSpPr>
          <p:cNvPr id="14" name="把下載資料搬進 Linux 課程資料夾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下一步集中到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sp>
        <p:nvSpPr>
          <p:cNvPr id="15" name="把下載資料搬進 Linux 課程資料夾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把下載資料搬進 Linux 課程資料夾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核對結果</a:t>
            </a:r>
          </a:p>
        </p:txBody>
      </p:sp>
      <p:sp>
        <p:nvSpPr>
          <p:cNvPr id="17" name="把下載資料搬進 Linux 課程資料夾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只讀位置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路徑不對就先停止</a:t>
            </a:r>
          </a:p>
        </p:txBody>
      </p:sp>
      <p:sp>
        <p:nvSpPr>
          <p:cNvPr id="18" name="把下載資料搬進 Linux 課程資料夾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先把下載副本放進 Linux，再確認根目錄；路徑錯會讓後續設定讀錯檔</a:t>
            </a:r>
          </a:p>
        </p:txBody>
      </p:sp>
      <p:sp>
        <p:nvSpPr>
          <p:cNvPr id="19" name="Field contract pwd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（目前目錄命令）｜來源：Linux／macOS 終端機（WSL 也使用 Linux 指令）｜作用：確認目前位置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單位：路徑文字｜判讀：輸出應位於 Linux home 的課程資料夾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建立環境並確認 READY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建立環境並確認 READY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這一步建立可重現環境；沒有程式策略改動，先拿到 READY</a:t>
            </a:r>
          </a:p>
        </p:txBody>
      </p:sp>
      <p:sp>
        <p:nvSpPr>
          <p:cNvPr id="6" name="建立環境並確認 READY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建立環境並確認 READY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Linux／macOS 終端機</a:t>
            </a:r>
          </a:p>
        </p:txBody>
      </p:sp>
      <p:sp>
        <p:nvSpPr>
          <p:cNvPr id="8" name="建立環境並確認 READY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 也使用 Linux 指令</a:t>
            </a:r>
          </a:p>
        </p:txBody>
      </p:sp>
      <p:sp>
        <p:nvSpPr>
          <p:cNvPr id="9" name="建立環境並確認 READY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建立環境並確認 READY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建立環境</a:t>
            </a:r>
          </a:p>
        </p:txBody>
      </p:sp>
      <p:sp>
        <p:nvSpPr>
          <p:cNvPr id="11" name="建立環境並確認 READY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setup.sh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policy source</a:t>
            </a:r>
          </a:p>
        </p:txBody>
      </p:sp>
      <p:sp>
        <p:nvSpPr>
          <p:cNvPr id="12" name="建立環境並確認 READY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建立環境並確認 READY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下一步</a:t>
            </a:r>
          </a:p>
        </p:txBody>
      </p:sp>
      <p:sp>
        <p:nvSpPr>
          <p:cNvPr id="14" name="建立環境並確認 READY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course.sh verify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預期看到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5" name="建立環境並確認 READY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建立環境並確認 READY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Windows shells</a:t>
            </a:r>
          </a:p>
        </p:txBody>
      </p:sp>
      <p:sp>
        <p:nvSpPr>
          <p:cNvPr id="17" name="建立環境並確認 READY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PowerShell／Command Prompt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只讀 READY 結果</a:t>
            </a:r>
          </a:p>
        </p:txBody>
      </p:sp>
      <p:sp>
        <p:nvSpPr>
          <p:cNvPr id="18" name="建立環境並確認 READY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指定版本 → 建立隔離環境 → READY；此時尚無案例結果</a:t>
            </a:r>
          </a:p>
        </p:txBody>
      </p:sp>
      <p:sp>
        <p:nvSpPr>
          <p:cNvPr id="19" name="Field contract PYTHON_BI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（Python 執行器路徑變數）｜來源：命令工具設定｜作用：指定要使用的版本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單位：路徑文字｜判讀：供建立環境的命令讀取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READY 只代表環境可用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READY 只代表環境可用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這一步只讀環境收據；它不是案例結果，也不會改程式</a:t>
            </a:r>
          </a:p>
        </p:txBody>
      </p:sp>
      <p:sp>
        <p:nvSpPr>
          <p:cNvPr id="6" name="READY 只代表環境可用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ADY 只代表環境可用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Linux／macOS 終端機</a:t>
            </a:r>
          </a:p>
        </p:txBody>
      </p:sp>
      <p:sp>
        <p:nvSpPr>
          <p:cNvPr id="8" name="READY 只代表環境可用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 也使用 Linux 指令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只讀收據</a:t>
            </a:r>
          </a:p>
        </p:txBody>
      </p:sp>
      <p:sp>
        <p:nvSpPr>
          <p:cNvPr id="9" name="READY 只代表環境可用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ADY 只代表環境可用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Windows PowerShell</a:t>
            </a:r>
          </a:p>
        </p:txBody>
      </p:sp>
      <p:sp>
        <p:nvSpPr>
          <p:cNvPr id="11" name="READY 只代表環境可用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只讀同一份收據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不修改檔案</a:t>
            </a:r>
          </a:p>
        </p:txBody>
      </p:sp>
      <p:sp>
        <p:nvSpPr>
          <p:cNvPr id="12" name="READY 只代表環境可用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ADY 只代表環境可用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Windows Command Prompt</a:t>
            </a:r>
          </a:p>
        </p:txBody>
      </p:sp>
      <p:sp>
        <p:nvSpPr>
          <p:cNvPr id="14" name="READY 只代表環境可用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只讀同一份收據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不修改檔案</a:t>
            </a:r>
          </a:p>
        </p:txBody>
      </p:sp>
      <p:sp>
        <p:nvSpPr>
          <p:cNvPr id="15" name="READY 只代表環境可用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DY 只代表環境可用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READY 只代表環境可用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核對狀態、版本、身份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一致才進案例</a:t>
            </a:r>
          </a:p>
        </p:txBody>
      </p:sp>
      <p:sp>
        <p:nvSpPr>
          <p:cNvPr id="18" name="READY 只代表環境可用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不同工具只是在讀同一張收據；檔案內容與來源不變</a:t>
            </a:r>
          </a:p>
        </p:txBody>
      </p:sp>
      <p:sp>
        <p:nvSpPr>
          <p:cNvPr id="19" name="Field contract verify-receipt.js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verify-receipt.json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（驗證收據檔）｜來源：環境檢查命令｜作用：記錄環境與契約關卡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檔案｜判讀：只解讀環境證據，不代替案例結果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確認環境與案例身份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確認環境與案例身份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這一步確認能不能進案例，以及案例是否綁定正確情境</a:t>
            </a:r>
          </a:p>
        </p:txBody>
      </p:sp>
      <p:sp>
        <p:nvSpPr>
          <p:cNvPr id="6" name="確認環境與案例身份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確認環境與案例身份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狀態</a:t>
            </a:r>
          </a:p>
        </p:txBody>
      </p:sp>
      <p:sp>
        <p:nvSpPr>
          <p:cNvPr id="8" name="確認環境與案例身份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status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 READY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否則不能 run</a:t>
            </a:r>
          </a:p>
        </p:txBody>
      </p:sp>
      <p:sp>
        <p:nvSpPr>
          <p:cNvPr id="9" name="確認環境與案例身份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確認環境與案例身份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版本</a:t>
            </a:r>
          </a:p>
        </p:txBody>
      </p:sp>
      <p:sp>
        <p:nvSpPr>
          <p:cNvPr id="11" name="確認環境與案例身份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必須 3.11.x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policy</a:t>
            </a:r>
          </a:p>
        </p:txBody>
      </p:sp>
      <p:sp>
        <p:nvSpPr>
          <p:cNvPr id="12" name="確認環境與案例身份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確認環境與案例身份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情境</a:t>
            </a:r>
          </a:p>
        </p:txBody>
      </p:sp>
      <p:sp>
        <p:nvSpPr>
          <p:cNvPr id="14" name="確認環境與案例身份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固定案例身份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5" name="確認環境與案例身份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確認環境與案例身份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確認環境與案例身份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一致才執行 run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結果另看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sp>
        <p:nvSpPr>
          <p:cNvPr id="18" name="確認環境與案例身份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READY 只代表環境可用；服務與能量要等案例結果</a:t>
            </a:r>
          </a:p>
        </p:txBody>
      </p:sp>
      <p:sp>
        <p:nvSpPr>
          <p:cNvPr id="19" name="Field contract statu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（狀態）｜來源：驗證收據｜作用：表示關卡是否可進入案例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單位：狀態值｜判讀：通過只表示環境與契約一致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說清資料來源與主張邊界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說清資料來源與主張邊界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這一步標明資料來源；主張邊界比漂亮數字更重要</a:t>
            </a:r>
          </a:p>
        </p:txBody>
      </p:sp>
      <p:sp>
        <p:nvSpPr>
          <p:cNvPr id="6" name="說清資料來源與主張邊界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說清資料來源與主張邊界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資料模式</a:t>
            </a:r>
          </a:p>
        </p:txBody>
      </p:sp>
      <p:sp>
        <p:nvSpPr>
          <p:cNvPr id="8" name="說清資料來源與主張邊界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課程使用模擬資料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engine_mode</a:t>
            </a:r>
          </a:p>
        </p:txBody>
      </p:sp>
      <p:sp>
        <p:nvSpPr>
          <p:cNvPr id="9" name="說清資料來源與主張邊界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說清資料來源與主張邊界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是否實跑</a:t>
            </a:r>
          </a:p>
        </p:txBody>
      </p:sp>
      <p:sp>
        <p:nvSpPr>
          <p:cNvPr id="11" name="說清資料來源與主張邊界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沒有執行上游程式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false</a:t>
            </a:r>
          </a:p>
        </p:txBody>
      </p:sp>
      <p:sp>
        <p:nvSpPr>
          <p:cNvPr id="12" name="說清資料來源與主張邊界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說清資料來源與主張邊界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不可超出</a:t>
            </a:r>
          </a:p>
        </p:txBody>
      </p:sp>
      <p:sp>
        <p:nvSpPr>
          <p:cNvPr id="14" name="說清資料來源與主張邊界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非即時、非實測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不叫 canonical</a:t>
            </a:r>
          </a:p>
        </p:txBody>
      </p:sp>
      <p:sp>
        <p:nvSpPr>
          <p:cNvPr id="15" name="說清資料來源與主張邊界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說清資料來源與主張邊界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說清資料來源與主張邊界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 另產生 identity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artifact_source</a:t>
            </a:r>
          </a:p>
        </p:txBody>
      </p:sp>
      <p:sp>
        <p:nvSpPr>
          <p:cNvPr id="18" name="說清資料來源與主張邊界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先標資料來源，再決定能說到哪裡；不能把模擬說成實測</a:t>
            </a:r>
          </a:p>
        </p:txBody>
      </p:sp>
      <p:sp>
        <p:nvSpPr>
          <p:cNvPr id="19" name="Field contract engine_mod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engine_mode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（執行模式）｜來源：執行器紀錄｜作用：分類資料產生方式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單位：模式值｜判讀：模擬資料不延伸成上游程式執行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卡住時修復或保留來源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卡住時修復或保留來源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這一步處理卡關：修得好就重跑，修不好也不冒充本機執行</a:t>
            </a:r>
          </a:p>
        </p:txBody>
      </p:sp>
      <p:sp>
        <p:nvSpPr>
          <p:cNvPr id="6" name="卡住時修復或保留來源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卡住時修復或保留來源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正常</a:t>
            </a:r>
          </a:p>
        </p:txBody>
      </p:sp>
      <p:sp>
        <p:nvSpPr>
          <p:cNvPr id="8" name="卡住時修復或保留來源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READY 後執行案例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產生新結果</a:t>
            </a:r>
          </a:p>
        </p:txBody>
      </p:sp>
      <p:sp>
        <p:nvSpPr>
          <p:cNvPr id="9" name="卡住時修復或保留來源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卡住時修復或保留來源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修復什麼</a:t>
            </a:r>
          </a:p>
        </p:txBody>
      </p:sp>
      <p:sp>
        <p:nvSpPr>
          <p:cNvPr id="11" name="卡住時修復或保留來源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Python、root、lock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policy block</a:t>
            </a:r>
          </a:p>
        </p:txBody>
      </p:sp>
      <p:sp>
        <p:nvSpPr>
          <p:cNvPr id="12" name="卡住時修復或保留來源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卡住時修復或保留來源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③ 回復什麼</a:t>
            </a:r>
          </a:p>
        </p:txBody>
      </p:sp>
      <p:sp>
        <p:nvSpPr>
          <p:cNvPr id="14" name="卡住時修復或保留來源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同情境結果成對保存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5" name="卡住時修復或保留來源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卡住時修復或保留來源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看什麼</a:t>
            </a:r>
          </a:p>
        </p:txBody>
      </p:sp>
      <p:sp>
        <p:nvSpPr>
          <p:cNvPr id="17" name="卡住時修復或保留來源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artifact_source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判斷本機或回復</a:t>
            </a:r>
          </a:p>
        </p:txBody>
      </p:sp>
      <p:sp>
        <p:nvSpPr>
          <p:cNvPr id="18" name="卡住時修復或保留來源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修復不改策略；回復不冒充本機執行</a:t>
            </a:r>
          </a:p>
        </p:txBody>
      </p:sp>
      <p:sp>
        <p:nvSpPr>
          <p:cNvPr id="19" name="Field contract artifact_sour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artifact_source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（資料來源分類）｜來源：結果紀錄｜作用：標示本機執行或回復資料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單位：來源值｜判讀：來源模式保持原值，不改寫成本機執行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只可修改三個標記區塊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只可修改三個標記區塊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這一步畫出可編輯邊界：三個實驗區可改，其他程式只讀</a:t>
            </a:r>
          </a:p>
        </p:txBody>
      </p:sp>
      <p:sp>
        <p:nvSpPr>
          <p:cNvPr id="6" name="只可修改三個標記區塊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只可修改三個標記區塊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唯一檔案</a:t>
            </a:r>
          </a:p>
        </p:txBody>
      </p:sp>
      <p:sp>
        <p:nvSpPr>
          <p:cNvPr id="8" name="只可修改三個標記區塊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只在這裡做實驗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9" name="只可修改三個標記區塊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只可修改三個標記區塊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可改區段</a:t>
            </a:r>
          </a:p>
        </p:txBody>
      </p:sp>
      <p:sp>
        <p:nvSpPr>
          <p:cNvPr id="11" name="只可修改三個標記區塊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A／B／C 三個標記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</p:txBody>
      </p:sp>
      <p:sp>
        <p:nvSpPr>
          <p:cNvPr id="12" name="只可修改三個標記區塊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只可修改三個標記區塊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保持不變</a:t>
            </a:r>
          </a:p>
        </p:txBody>
      </p:sp>
      <p:sp>
        <p:nvSpPr>
          <p:cNvPr id="14" name="只可修改三個標記區塊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中文註解、函式、情境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runner、schemas 不動</a:t>
            </a:r>
          </a:p>
        </p:txBody>
      </p:sp>
      <p:sp>
        <p:nvSpPr>
          <p:cNvPr id="15" name="只可修改三個標記區塊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只可修改三個標記區塊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只可修改三個標記區塊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結果仍看 result／replay</a:t>
            </a:r>
          </a:p>
        </p:txBody>
      </p:sp>
      <p:sp>
        <p:nvSpPr>
          <p:cNvPr id="18" name="只可修改三個標記區塊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只開目前實驗區；其他檔案與輸出契約保持不變</a:t>
            </a:r>
          </a:p>
        </p:txBody>
      </p:sp>
      <p:sp>
        <p:nvSpPr>
          <p:cNvPr id="19" name="Field contract marked block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marked block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（標記區段）｜來源：檔案標記｜作用：界定一個實驗的可編輯範圍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單位：程式碼區段｜判讀：其他套件邊界維持唯讀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程式每次判斷會看什麼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程式每次判斷會看什麼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這一步先說清楚輸入：每個 step 只看目前／過去資料</a:t>
            </a:r>
          </a:p>
        </p:txBody>
      </p:sp>
      <p:sp>
        <p:nvSpPr>
          <p:cNvPr id="6" name="程式每次判斷會看什麼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程式每次判斷會看什麼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讀目前資料</a:t>
            </a:r>
          </a:p>
        </p:txBody>
      </p:sp>
      <p:sp>
        <p:nvSpPr>
          <p:cNvPr id="8" name="程式每次判斷會看什麼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窗口、急件、間隔、品質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都是當下 snapshot</a:t>
            </a:r>
          </a:p>
        </p:txBody>
      </p:sp>
      <p:sp>
        <p:nvSpPr>
          <p:cNvPr id="9" name="程式每次判斷會看什麼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程式每次判斷會看什麼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不讀未來</a:t>
            </a:r>
          </a:p>
        </p:txBody>
      </p:sp>
      <p:sp>
        <p:nvSpPr>
          <p:cNvPr id="11" name="程式每次判斷會看什麼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不看結果摘要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不回看 energy</a:t>
            </a:r>
          </a:p>
        </p:txBody>
      </p:sp>
      <p:sp>
        <p:nvSpPr>
          <p:cNvPr id="12" name="程式每次判斷會看什麼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程式每次判斷會看什麼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交給函式</a:t>
            </a:r>
          </a:p>
        </p:txBody>
      </p:sp>
      <p:sp>
        <p:nvSpPr>
          <p:cNvPr id="14" name="程式每次判斷會看什麼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把目前資料交給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choose_action()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再回一個合法動作</a:t>
            </a:r>
          </a:p>
        </p:txBody>
      </p:sp>
      <p:sp>
        <p:nvSpPr>
          <p:cNvPr id="15" name="程式每次判斷會看什麼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程式每次判斷會看什麼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程式每次判斷會看什麼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回一個合法動作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 再記 event／result</a:t>
            </a:r>
          </a:p>
        </p:txBody>
      </p:sp>
      <p:sp>
        <p:nvSpPr>
          <p:cNvPr id="18" name="程式每次判斷會看什麼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當下觀察 → 合法動作；這一頁沒有程式值變更</a:t>
            </a:r>
          </a:p>
        </p:txBody>
      </p:sp>
      <p:sp>
        <p:nvSpPr>
          <p:cNvPr id="19" name="Field contract choose_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choose_action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（策略函式）｜來源：student_policy.py｜作用：依當下觀察回傳一個合法動作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單位：函式契約｜判讀：只讀目前／過去欄位，不讀未來結果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判斷順序如何產生動作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判斷順序如何產生動作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這一步把合法動作順序翻成白話；鏡像可讀，不能貼回程式</a:t>
            </a:r>
          </a:p>
        </p:txBody>
      </p:sp>
      <p:sp>
        <p:nvSpPr>
          <p:cNvPr id="6" name="判斷順序如何產生動作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判斷順序如何產生動作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窗口關閉</a:t>
            </a:r>
          </a:p>
        </p:txBody>
      </p:sp>
      <p:sp>
        <p:nvSpPr>
          <p:cNvPr id="8" name="判斷順序如何產生動作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不能送出，先休息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9" name="判斷順序如何產生動作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判斷順序如何產生動作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期限逼近</a:t>
            </a:r>
          </a:p>
        </p:txBody>
      </p:sp>
      <p:sp>
        <p:nvSpPr>
          <p:cNvPr id="11" name="判斷順序如何產生動作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急件先送出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2" name="判斷順序如何產生動作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判斷順序如何產生動作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節奏／品質</a:t>
            </a:r>
          </a:p>
        </p:txBody>
      </p:sp>
      <p:sp>
        <p:nvSpPr>
          <p:cNvPr id="14" name="判斷順序如何產生動作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間隔未到休息；品質未穩等待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5" name="判斷順序如何產生動作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判斷順序如何產生動作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佇列／保底</a:t>
            </a:r>
          </a:p>
        </p:txBody>
      </p:sp>
      <p:sp>
        <p:nvSpPr>
          <p:cNvPr id="17" name="判斷順序如何產生動作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夠量批次，否則單筆；無事等待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FLUSH_BATCH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SEND_ONE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8" name="判斷順序如何產生動作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先看窗口，再看期限、間隔、品質與佇列；順序會改變動作</a:t>
            </a:r>
          </a:p>
        </p:txBody>
      </p:sp>
      <p:sp>
        <p:nvSpPr>
          <p:cNvPr id="19" name="Field contract 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（合法動作）｜來源：policy API｜作用：把條件轉成 runner 可執行的動作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單位：enum｜判讀：下一步從 state／packet／service／endpoint J 讀後果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縮排與回傳決定程式走哪條路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縮排與回傳決定程式走哪條路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這一步只讀一小段程式：看縮排如何選分支，再把動作交回執行器</a:t>
            </a:r>
          </a:p>
        </p:txBody>
      </p:sp>
      <p:sp>
        <p:nvSpPr>
          <p:cNvPr id="6" name="縮排與回傳決定程式走哪條路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縮排與回傳決定程式走哪條路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先看意思</a:t>
            </a:r>
          </a:p>
        </p:txBody>
      </p:sp>
      <p:sp>
        <p:nvSpPr>
          <p:cNvPr id="8" name="縮排與回傳決定程式走哪條路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窗口關閉就不送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if ...: return SLEEP</a:t>
            </a:r>
          </a:p>
        </p:txBody>
      </p:sp>
      <p:sp>
        <p:nvSpPr>
          <p:cNvPr id="9" name="縮排與回傳決定程式走哪條路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縮排與回傳決定程式走哪條路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縮排做什麼</a:t>
            </a:r>
          </a:p>
        </p:txBody>
      </p:sp>
      <p:sp>
        <p:nvSpPr>
          <p:cNvPr id="11" name="縮排與回傳決定程式走哪條路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把條件放進正確分支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active block</a:t>
            </a:r>
          </a:p>
        </p:txBody>
      </p:sp>
      <p:sp>
        <p:nvSpPr>
          <p:cNvPr id="12" name="縮排與回傳決定程式走哪條路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縮排與回傳決定程式走哪條路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先檢查</a:t>
            </a:r>
          </a:p>
        </p:txBody>
      </p:sp>
      <p:sp>
        <p:nvSpPr>
          <p:cNvPr id="14" name="縮排與回傳決定程式走哪條路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py_compile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只檢查語法、不改檔</a:t>
            </a:r>
          </a:p>
        </p:txBody>
      </p:sp>
      <p:sp>
        <p:nvSpPr>
          <p:cNvPr id="15" name="縮排與回傳決定程式走哪條路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縮排與回傳決定程式走哪條路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縮排與回傳決定程式走哪條路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通過後跑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result／replay pair</a:t>
            </a:r>
          </a:p>
        </p:txBody>
      </p:sp>
      <p:sp>
        <p:nvSpPr>
          <p:cNvPr id="18" name="縮排與回傳決定程式走哪條路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 → 分支 → 回傳 → runner 事件；語法檢查不改內容</a:t>
            </a:r>
          </a:p>
        </p:txBody>
      </p:sp>
      <p:sp>
        <p:nvSpPr>
          <p:cNvPr id="19" name="Field contract retur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return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（回傳）｜來源：policy function｜作用：把一個合法動作交給執行器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單位：動作值｜判讀：語法通過後再看 result／replay 的實際事件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先建立基準結果再比較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先建立基準結果再比較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這一步先保存沒有改動的基準，下一步才比較候選值</a:t>
            </a:r>
          </a:p>
        </p:txBody>
      </p:sp>
      <p:sp>
        <p:nvSpPr>
          <p:cNvPr id="6" name="先建立基準結果再比較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先建立基準結果再比較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固定輸入</a:t>
            </a:r>
          </a:p>
        </p:txBody>
      </p:sp>
      <p:sp>
        <p:nvSpPr>
          <p:cNvPr id="8" name="先建立基準結果再比較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packaged policy＋固定情境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不讀未來結果</a:t>
            </a:r>
          </a:p>
        </p:txBody>
      </p:sp>
      <p:sp>
        <p:nvSpPr>
          <p:cNvPr id="9" name="先建立基準結果再比較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先建立基準結果再比較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執行命令</a:t>
            </a:r>
          </a:p>
        </p:txBody>
      </p:sp>
      <p:sp>
        <p:nvSpPr>
          <p:cNvPr id="11" name="先建立基準結果再比較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2" name="先建立基準結果再比較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先建立基準結果再比較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產生結果</a:t>
            </a:r>
          </a:p>
        </p:txBody>
      </p:sp>
      <p:sp>
        <p:nvSpPr>
          <p:cNvPr id="14" name="先建立基準結果再比較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新增 result／replay pair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原始程式不回寫</a:t>
            </a:r>
          </a:p>
        </p:txBody>
      </p:sp>
      <p:sp>
        <p:nvSpPr>
          <p:cNvPr id="15" name="先建立基準結果再比較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先建立基準結果再比較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先建立基準結果再比較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status: OK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、路徑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 service，再成本</a:t>
            </a:r>
          </a:p>
        </p:txBody>
      </p:sp>
      <p:sp>
        <p:nvSpPr>
          <p:cNvPr id="18" name="先建立基準結果再比較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先保存基準，再凍結規則，最後比較候選；結果不能回頭改 block</a:t>
            </a:r>
          </a:p>
        </p:txBody>
      </p:sp>
      <p:sp>
        <p:nvSpPr>
          <p:cNvPr id="19" name="Field contract result_path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（結果檔路徑）｜來源：命令輸出｜作用：定位 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單位：路徑文字｜判讀：網站只匯入 result.json；endpoint replay 只做配對，runner 不是網站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先找到唯一要改的地方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A 比較空檔休眠與清醒等待，觀察服務與端點能量的取捨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只修改這一份策略檔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標記區塊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lab-a-pace-rest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唯一變數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其他值與檔案不動</a:t>
            </a:r>
          </a:p>
        </p:txBody>
      </p:sp>
      <p:sp>
        <p:nvSpPr>
          <p:cNvPr id="15" name="A locate boundary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保持不變：PACE_GAP_STEPS = 2、runner、scenario、schemas 與其他 Lab 區塊</a:t>
            </a:r>
          </a:p>
        </p:txBody>
      </p:sp>
      <p:sp>
        <p:nvSpPr>
          <p:cNvPr id="16" name="Field contract REST_DURING_GAP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（空檔動作）｜來源：student_policy.py marked block｜作用：控制本 Lab 的單一策略差異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單位：設定值｜判讀：只有此值可改，才能把結果差異歸因於本次修改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只改這一行：SLEEP → WAIT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兩邊程式結構完全相同；只比較反白的一個值</a:t>
            </a:r>
          </a:p>
        </p:txBody>
      </p:sp>
      <p:sp>
        <p:nvSpPr>
          <p:cNvPr id="6" name="A before"/>
          <p:cNvSpPr/>
          <p:nvPr/>
        </p:nvSpPr>
        <p:spPr>
          <a:xfrm>
            <a:off x="859536" y="1481328"/>
            <a:ext cx="506577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 before heading"/>
          <p:cNvSpPr txBox="1"/>
          <p:nvPr/>
        </p:nvSpPr>
        <p:spPr>
          <a:xfrm>
            <a:off x="1005839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修改前｜Before</a:t>
            </a:r>
          </a:p>
        </p:txBody>
      </p:sp>
      <p:sp>
        <p:nvSpPr>
          <p:cNvPr id="8" name="A before explanation"/>
          <p:cNvSpPr txBox="1"/>
          <p:nvPr/>
        </p:nvSpPr>
        <p:spPr>
          <a:xfrm>
            <a:off x="1005839" y="2011680"/>
            <a:ext cx="4773168" cy="175564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空檔進入低功耗休息</a:t>
            </a:r>
          </a:p>
        </p:txBody>
      </p:sp>
      <p:sp>
        <p:nvSpPr>
          <p:cNvPr id="9" name="A after"/>
          <p:cNvSpPr/>
          <p:nvPr/>
        </p:nvSpPr>
        <p:spPr>
          <a:xfrm>
            <a:off x="6254496" y="1481328"/>
            <a:ext cx="506577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 after heading"/>
          <p:cNvSpPr txBox="1"/>
          <p:nvPr/>
        </p:nvSpPr>
        <p:spPr>
          <a:xfrm>
            <a:off x="6400800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修改後｜After</a:t>
            </a:r>
          </a:p>
        </p:txBody>
      </p:sp>
      <p:sp>
        <p:nvSpPr>
          <p:cNvPr id="11" name="A after explanation"/>
          <p:cNvSpPr txBox="1"/>
          <p:nvPr/>
        </p:nvSpPr>
        <p:spPr>
          <a:xfrm>
            <a:off x="6400800" y="2011680"/>
            <a:ext cx="4773168" cy="175564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空檔保持清醒等待</a:t>
            </a:r>
          </a:p>
        </p:txBody>
      </p:sp>
      <p:sp>
        <p:nvSpPr>
          <p:cNvPr id="12" name="A one line diff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唯一修改：SLEEP → WAIT；不是修改 PACE_GAP_STEPS</a:t>
            </a:r>
          </a:p>
        </p:txBody>
      </p:sp>
      <p:sp>
        <p:nvSpPr>
          <p:cNvPr id="13" name="Field contract REST_DURING_GAP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（本次修改值）｜來源：目前 Lab 的 marked block｜作用：改變策略判斷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單位：依變數定義｜判讀：修改後先做語法檢查，再執行指定 case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 SLEEP → WAIT，接著怎麼執行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 可能減少再次喚醒，卻會累積清醒閒置能量；必須同時看服務與焦耳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91056"/>
            <a:ext cx="2505456" cy="233172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空檔進入低功耗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之後傳送要 WAKE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3630168" y="1591056"/>
            <a:ext cx="2505456" cy="233172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377647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379476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空檔保持清醒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awake-idle 持續累積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6419088" y="1591056"/>
            <a:ext cx="2505456" cy="2331720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656539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封包後果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6583679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動作時機改變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attempt／retry／delivery</a:t>
            </a:r>
          </a:p>
        </p:txBody>
      </p:sp>
      <p:sp>
        <p:nvSpPr>
          <p:cNvPr id="15" name="Teaching card 4"/>
          <p:cNvSpPr/>
          <p:nvPr/>
        </p:nvSpPr>
        <p:spPr>
          <a:xfrm>
            <a:off x="9208008" y="1591056"/>
            <a:ext cx="2505456" cy="233172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card 4 heading"/>
          <p:cNvSpPr txBox="1"/>
          <p:nvPr/>
        </p:nvSpPr>
        <p:spPr>
          <a:xfrm>
            <a:off x="935431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最後判斷</a:t>
            </a:r>
          </a:p>
        </p:txBody>
      </p:sp>
      <p:sp>
        <p:nvSpPr>
          <p:cNvPr id="17" name="Teaching card 4 body"/>
          <p:cNvSpPr txBox="1"/>
          <p:nvPr/>
        </p:nvSpPr>
        <p:spPr>
          <a:xfrm>
            <a:off x="937260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 service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再比較 endpoint J</a:t>
            </a:r>
          </a:p>
        </p:txBody>
      </p:sp>
      <p:sp>
        <p:nvSpPr>
          <p:cNvPr id="18" name="Lab A commands"/>
          <p:cNvSpPr/>
          <p:nvPr/>
        </p:nvSpPr>
        <p:spPr>
          <a:xfrm>
            <a:off x="859536" y="4160520"/>
            <a:ext cx="10442448" cy="713232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 A commands text"/>
          <p:cNvSpPr txBox="1"/>
          <p:nvPr/>
        </p:nvSpPr>
        <p:spPr>
          <a:xfrm>
            <a:off x="1005839" y="4251959"/>
            <a:ext cx="10149840" cy="53035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 →   </a:t>
            </a: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 →   </a:t>
            </a: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sp>
        <p:nvSpPr>
          <p:cNvPr id="20" name="Field contract REST_DURING_GAP"/>
          <p:cNvSpPr/>
          <p:nvPr/>
        </p:nvSpPr>
        <p:spPr>
          <a:xfrm>
            <a:off x="804672" y="5001768"/>
            <a:ext cx="10561320" cy="713232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（空檔動作）｜來源：Lab A marked block｜作用：決定送出間隔中的休息方式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單位：action｜判讀：Windows 將 bash course.sh 改為 course.cmd，其餘參數不變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上傳後怎麼解讀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每次只上傳該 run 的 result.json；先確認服務，再解釋原因與能量</a:t>
            </a:r>
          </a:p>
        </p:txBody>
      </p:sp>
      <p:sp>
        <p:nvSpPr>
          <p:cNvPr id="6" name="A upload"/>
          <p:cNvSpPr/>
          <p:nvPr/>
        </p:nvSpPr>
        <p:spPr>
          <a:xfrm>
            <a:off x="859536" y="1481328"/>
            <a:ext cx="5047488" cy="181051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 upload heading"/>
          <p:cNvSpPr txBox="1"/>
          <p:nvPr/>
        </p:nvSpPr>
        <p:spPr>
          <a:xfrm>
            <a:off x="1005839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網站操作</a:t>
            </a:r>
          </a:p>
        </p:txBody>
      </p:sp>
      <p:sp>
        <p:nvSpPr>
          <p:cNvPr id="8" name="A upload explanation"/>
          <p:cNvSpPr txBox="1"/>
          <p:nvPr/>
        </p:nvSpPr>
        <p:spPr>
          <a:xfrm>
            <a:off x="1005839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① 依 stdout 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找檔案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②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選擇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③ 保留同目錄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④ 核對 scenario ID 與 run ID</a:t>
            </a:r>
          </a:p>
        </p:txBody>
      </p:sp>
      <p:sp>
        <p:nvSpPr>
          <p:cNvPr id="9" name="A interpret"/>
          <p:cNvSpPr/>
          <p:nvPr/>
        </p:nvSpPr>
        <p:spPr>
          <a:xfrm>
            <a:off x="6254496" y="1481328"/>
            <a:ext cx="5047488" cy="181051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 interpret heading"/>
          <p:cNvSpPr txBox="1"/>
          <p:nvPr/>
        </p:nvSpPr>
        <p:spPr>
          <a:xfrm>
            <a:off x="6400800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如何回答結果</a:t>
            </a:r>
          </a:p>
        </p:txBody>
      </p:sp>
      <p:sp>
        <p:nvSpPr>
          <p:cNvPr id="11" name="A interpret explanation"/>
          <p:cNvSpPr txBox="1"/>
          <p:nvPr/>
        </p:nvSpPr>
        <p:spPr>
          <a:xfrm>
            <a:off x="6400800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預期先在 sleep／awake-idle／wake 時間看到差異，再檢查封包服務與端點焦耳。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若沒有看到預期事件差異，就不能把最終數值歸因於這次修改。</a:t>
            </a:r>
          </a:p>
        </p:txBody>
      </p:sp>
      <p:sp>
        <p:nvSpPr>
          <p:cNvPr id="12" name="Read service"/>
          <p:cNvSpPr/>
          <p:nvPr/>
        </p:nvSpPr>
        <p:spPr>
          <a:xfrm>
            <a:off x="914400" y="3584448"/>
            <a:ext cx="2231136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① 服務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是否完成任務</a:t>
            </a:r>
          </a:p>
        </p:txBody>
      </p:sp>
      <p:sp>
        <p:nvSpPr>
          <p:cNvPr id="13" name="Read connector 1"/>
          <p:cNvSpPr/>
          <p:nvPr/>
        </p:nvSpPr>
        <p:spPr>
          <a:xfrm>
            <a:off x="3227832" y="3694176"/>
            <a:ext cx="347472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d packet"/>
          <p:cNvSpPr/>
          <p:nvPr/>
        </p:nvSpPr>
        <p:spPr>
          <a:xfrm>
            <a:off x="3657600" y="3584448"/>
            <a:ext cx="2231136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② 封包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送達／重試／逾期</a:t>
            </a:r>
          </a:p>
        </p:txBody>
      </p:sp>
      <p:sp>
        <p:nvSpPr>
          <p:cNvPr id="15" name="Read connector 2"/>
          <p:cNvSpPr/>
          <p:nvPr/>
        </p:nvSpPr>
        <p:spPr>
          <a:xfrm>
            <a:off x="5971032" y="3694176"/>
            <a:ext cx="347472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d state"/>
          <p:cNvSpPr/>
          <p:nvPr/>
        </p:nvSpPr>
        <p:spPr>
          <a:xfrm>
            <a:off x="6400800" y="3584448"/>
            <a:ext cx="2231136" cy="62179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③ 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休眠／清醒／傳送</a:t>
            </a:r>
          </a:p>
        </p:txBody>
      </p:sp>
      <p:sp>
        <p:nvSpPr>
          <p:cNvPr id="17" name="Read connector 3"/>
          <p:cNvSpPr/>
          <p:nvPr/>
        </p:nvSpPr>
        <p:spPr>
          <a:xfrm>
            <a:off x="8714232" y="3694176"/>
            <a:ext cx="347472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ad energy"/>
          <p:cNvSpPr/>
          <p:nvPr/>
        </p:nvSpPr>
        <p:spPr>
          <a:xfrm>
            <a:off x="9144000" y="3584448"/>
            <a:ext cx="2231136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④ 端點能量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最後才讀焦耳</a:t>
            </a:r>
          </a:p>
        </p:txBody>
      </p:sp>
      <p:sp>
        <p:nvSpPr>
          <p:cNvPr id="19" name="Field contract radio_stat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radio_state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（無線狀態）｜來源：result／replay artifact｜作用：支持本 Lab 的機制判讀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單位：依欄位定義｜判讀：WAIT 是否真的改變狀態分布，必須由 replay 支持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先找到唯一要改的地方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 比較品質需要連續穩定幾步，觀察進入可送模式的時機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只修改這一份策略檔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標記區塊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唯一變數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其他值與檔案不動</a:t>
            </a:r>
          </a:p>
        </p:txBody>
      </p:sp>
      <p:sp>
        <p:nvSpPr>
          <p:cNvPr id="15" name="B locate boundary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保持不變：ENTER_QUALITY = 2、EXIT_QUALITY = 1、runner、scenario、schemas 與其他 Lab 區塊</a:t>
            </a:r>
          </a:p>
        </p:txBody>
      </p:sp>
      <p:sp>
        <p:nvSpPr>
          <p:cNvPr id="16" name="Field contract STABLE_STEP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（穩定步數）｜來源：student_policy.py marked block｜作用：控制本 Lab 的單一策略差異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單位：設定值｜判讀：只有此值可改，才能把結果差異歸因於本次修改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只改這一行：2 →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兩邊程式結構完全相同；只比較反白的一個值</a:t>
            </a:r>
          </a:p>
        </p:txBody>
      </p:sp>
      <p:sp>
        <p:nvSpPr>
          <p:cNvPr id="6" name="B before"/>
          <p:cNvSpPr/>
          <p:nvPr/>
        </p:nvSpPr>
        <p:spPr>
          <a:xfrm>
            <a:off x="859536" y="1481328"/>
            <a:ext cx="506577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 before heading"/>
          <p:cNvSpPr txBox="1"/>
          <p:nvPr/>
        </p:nvSpPr>
        <p:spPr>
          <a:xfrm>
            <a:off x="1005839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修改前｜Before</a:t>
            </a:r>
          </a:p>
        </p:txBody>
      </p:sp>
      <p:sp>
        <p:nvSpPr>
          <p:cNvPr id="8" name="B before explanation"/>
          <p:cNvSpPr txBox="1"/>
          <p:nvPr/>
        </p:nvSpPr>
        <p:spPr>
          <a:xfrm>
            <a:off x="1005839" y="2011680"/>
            <a:ext cx="4773168" cy="175564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需要連續兩個穩定觀察</a:t>
            </a:r>
          </a:p>
        </p:txBody>
      </p:sp>
      <p:sp>
        <p:nvSpPr>
          <p:cNvPr id="9" name="B after"/>
          <p:cNvSpPr/>
          <p:nvPr/>
        </p:nvSpPr>
        <p:spPr>
          <a:xfrm>
            <a:off x="6254496" y="1481328"/>
            <a:ext cx="506577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 after heading"/>
          <p:cNvSpPr txBox="1"/>
          <p:nvPr/>
        </p:nvSpPr>
        <p:spPr>
          <a:xfrm>
            <a:off x="6400800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修改後｜After</a:t>
            </a:r>
          </a:p>
        </p:txBody>
      </p:sp>
      <p:sp>
        <p:nvSpPr>
          <p:cNvPr id="11" name="B after explanation"/>
          <p:cNvSpPr txBox="1"/>
          <p:nvPr/>
        </p:nvSpPr>
        <p:spPr>
          <a:xfrm>
            <a:off x="6400800" y="2011680"/>
            <a:ext cx="4773168" cy="175564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1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一個穩定觀察就成立</a:t>
            </a:r>
          </a:p>
        </p:txBody>
      </p:sp>
      <p:sp>
        <p:nvSpPr>
          <p:cNvPr id="12" name="B one line diff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唯一修改：2 → 1；進入與退出品質門檻都不變</a:t>
            </a:r>
          </a:p>
        </p:txBody>
      </p:sp>
      <p:sp>
        <p:nvSpPr>
          <p:cNvPr id="13" name="Field contract STABLE_STEP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（本次修改值）｜來源：目前 Lab 的 marked block｜作用：改變策略判斷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單位：依變數定義｜判讀：修改後先做語法檢查，再執行指定 case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 2 → 1，接著怎麼執行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需要的穩定觀察變少，可能更早進入可送模式，也可能對短暫品質變化過度反應</a:t>
            </a:r>
          </a:p>
        </p:txBody>
      </p:sp>
      <p:sp>
        <p:nvSpPr>
          <p:cNvPr id="6" name="B two steps"/>
          <p:cNvSpPr/>
          <p:nvPr/>
        </p:nvSpPr>
        <p:spPr>
          <a:xfrm>
            <a:off x="859536" y="1481328"/>
            <a:ext cx="5065776" cy="197510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 two steps heading"/>
          <p:cNvSpPr txBox="1"/>
          <p:nvPr/>
        </p:nvSpPr>
        <p:spPr>
          <a:xfrm>
            <a:off x="1005839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原本需要兩次穩定觀察</a:t>
            </a:r>
          </a:p>
        </p:txBody>
      </p:sp>
      <p:sp>
        <p:nvSpPr>
          <p:cNvPr id="8" name="B two steps explanation"/>
          <p:cNvSpPr txBox="1"/>
          <p:nvPr/>
        </p:nvSpPr>
        <p:spPr>
          <a:xfrm>
            <a:off x="1005839" y="2011680"/>
            <a:ext cx="4773168" cy="1371600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第 1 步看到品質達標：先等待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第 2 步仍達標：才讓 quality_ready 成立</a:t>
            </a:r>
          </a:p>
        </p:txBody>
      </p:sp>
      <p:sp>
        <p:nvSpPr>
          <p:cNvPr id="9" name="B one step"/>
          <p:cNvSpPr/>
          <p:nvPr/>
        </p:nvSpPr>
        <p:spPr>
          <a:xfrm>
            <a:off x="6254496" y="1481328"/>
            <a:ext cx="5065776" cy="197510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 one step heading"/>
          <p:cNvSpPr txBox="1"/>
          <p:nvPr/>
        </p:nvSpPr>
        <p:spPr>
          <a:xfrm>
            <a:off x="6400800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改成一次穩定觀察</a:t>
            </a:r>
          </a:p>
        </p:txBody>
      </p:sp>
      <p:sp>
        <p:nvSpPr>
          <p:cNvPr id="11" name="B one step explanation"/>
          <p:cNvSpPr txBox="1"/>
          <p:nvPr/>
        </p:nvSpPr>
        <p:spPr>
          <a:xfrm>
            <a:off x="6400800" y="2011680"/>
            <a:ext cx="4773168" cy="1371600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第 1 步看到品質達標：立刻讓 quality_ready 成立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MODE_CHANGE 可能提早出現</a:t>
            </a:r>
          </a:p>
        </p:txBody>
      </p:sp>
      <p:sp>
        <p:nvSpPr>
          <p:cNvPr id="12" name="Lab B commands"/>
          <p:cNvSpPr/>
          <p:nvPr/>
        </p:nvSpPr>
        <p:spPr>
          <a:xfrm>
            <a:off x="859536" y="3730752"/>
            <a:ext cx="10442448" cy="987552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B commands text"/>
          <p:cNvSpPr txBox="1"/>
          <p:nvPr/>
        </p:nvSpPr>
        <p:spPr>
          <a:xfrm>
            <a:off x="1005839" y="3822191"/>
            <a:ext cx="10149840" cy="80467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 →   </a:t>
            </a: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14" name="Field contract STABLE_STEPS"/>
          <p:cNvSpPr/>
          <p:nvPr/>
        </p:nvSpPr>
        <p:spPr>
          <a:xfrm>
            <a:off x="804672" y="5001768"/>
            <a:ext cx="10561320" cy="713232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（穩定步數）｜來源：Lab B marked block｜作用：決定品質達標要連續維持幾個 step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單位：steps｜判讀：Windows 將 bash course.sh 改為 course.cmd；Trace B 保持 frozen policy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上傳後怎麼解讀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每次只上傳該 run 的 result.json；先確認服務，再解釋原因與能量</a:t>
            </a:r>
          </a:p>
        </p:txBody>
      </p:sp>
      <p:sp>
        <p:nvSpPr>
          <p:cNvPr id="6" name="B upload"/>
          <p:cNvSpPr/>
          <p:nvPr/>
        </p:nvSpPr>
        <p:spPr>
          <a:xfrm>
            <a:off x="859536" y="1481328"/>
            <a:ext cx="5047488" cy="181051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 upload heading"/>
          <p:cNvSpPr txBox="1"/>
          <p:nvPr/>
        </p:nvSpPr>
        <p:spPr>
          <a:xfrm>
            <a:off x="1005839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網站操作</a:t>
            </a:r>
          </a:p>
        </p:txBody>
      </p:sp>
      <p:sp>
        <p:nvSpPr>
          <p:cNvPr id="8" name="B upload explanation"/>
          <p:cNvSpPr txBox="1"/>
          <p:nvPr/>
        </p:nvSpPr>
        <p:spPr>
          <a:xfrm>
            <a:off x="1005839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① 依 stdout 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找檔案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②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選擇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③ 保留同目錄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④ 核對 scenario ID 與 run ID</a:t>
            </a:r>
          </a:p>
        </p:txBody>
      </p:sp>
      <p:sp>
        <p:nvSpPr>
          <p:cNvPr id="9" name="B interpret"/>
          <p:cNvSpPr/>
          <p:nvPr/>
        </p:nvSpPr>
        <p:spPr>
          <a:xfrm>
            <a:off x="6254496" y="1481328"/>
            <a:ext cx="5047488" cy="181051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 interpret heading"/>
          <p:cNvSpPr txBox="1"/>
          <p:nvPr/>
        </p:nvSpPr>
        <p:spPr>
          <a:xfrm>
            <a:off x="6400800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如何回答結果</a:t>
            </a:r>
          </a:p>
        </p:txBody>
      </p:sp>
      <p:sp>
        <p:nvSpPr>
          <p:cNvPr id="11" name="B interpret explanation"/>
          <p:cNvSpPr txBox="1"/>
          <p:nvPr/>
        </p:nvSpPr>
        <p:spPr>
          <a:xfrm>
            <a:off x="6400800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預期 quality_ready 或 MODE_CHANGE 可能提早；再看 attempt、retry、delivery、service 與端點焦耳。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若沒有看到預期事件差異，就不能把最終數值歸因於這次修改。</a:t>
            </a:r>
          </a:p>
        </p:txBody>
      </p:sp>
      <p:sp>
        <p:nvSpPr>
          <p:cNvPr id="12" name="Read service"/>
          <p:cNvSpPr/>
          <p:nvPr/>
        </p:nvSpPr>
        <p:spPr>
          <a:xfrm>
            <a:off x="914400" y="3584448"/>
            <a:ext cx="2231136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① 服務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是否完成任務</a:t>
            </a:r>
          </a:p>
        </p:txBody>
      </p:sp>
      <p:sp>
        <p:nvSpPr>
          <p:cNvPr id="13" name="Read connector 1"/>
          <p:cNvSpPr/>
          <p:nvPr/>
        </p:nvSpPr>
        <p:spPr>
          <a:xfrm>
            <a:off x="3227832" y="3694176"/>
            <a:ext cx="347472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d packet"/>
          <p:cNvSpPr/>
          <p:nvPr/>
        </p:nvSpPr>
        <p:spPr>
          <a:xfrm>
            <a:off x="3657600" y="3584448"/>
            <a:ext cx="2231136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② 封包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送達／重試／逾期</a:t>
            </a:r>
          </a:p>
        </p:txBody>
      </p:sp>
      <p:sp>
        <p:nvSpPr>
          <p:cNvPr id="15" name="Read connector 2"/>
          <p:cNvSpPr/>
          <p:nvPr/>
        </p:nvSpPr>
        <p:spPr>
          <a:xfrm>
            <a:off x="5971032" y="3694176"/>
            <a:ext cx="347472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d state"/>
          <p:cNvSpPr/>
          <p:nvPr/>
        </p:nvSpPr>
        <p:spPr>
          <a:xfrm>
            <a:off x="6400800" y="3584448"/>
            <a:ext cx="2231136" cy="62179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③ 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休眠／清醒／傳送</a:t>
            </a:r>
          </a:p>
        </p:txBody>
      </p:sp>
      <p:sp>
        <p:nvSpPr>
          <p:cNvPr id="17" name="Read connector 3"/>
          <p:cNvSpPr/>
          <p:nvPr/>
        </p:nvSpPr>
        <p:spPr>
          <a:xfrm>
            <a:off x="8714232" y="3694176"/>
            <a:ext cx="347472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ad energy"/>
          <p:cNvSpPr/>
          <p:nvPr/>
        </p:nvSpPr>
        <p:spPr>
          <a:xfrm>
            <a:off x="9144000" y="3584448"/>
            <a:ext cx="2231136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④ 端點能量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最後才讀焦耳</a:t>
            </a:r>
          </a:p>
        </p:txBody>
      </p:sp>
      <p:sp>
        <p:nvSpPr>
          <p:cNvPr id="19" name="Field contract MODE_CHANG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（模式變更事件）｜來源：result／replay artifact｜作用：支持本 Lab 的機制判讀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單位：依欄位定義｜判讀：Trace A 的改善必須再由 frozen policy 的 Trace B 檢查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先找到唯一要改的地方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C 比較急件要提前多久送出，觀察期限、服務與能量代價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只修改這一份策略檔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標記區塊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lab-c-batch-urgent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唯一變數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其他值與檔案不動</a:t>
            </a:r>
          </a:p>
        </p:txBody>
      </p:sp>
      <p:sp>
        <p:nvSpPr>
          <p:cNvPr id="15" name="C locate boundary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保持不變：BATCH_SIZE = 3、runner、scenario、schemas 與其他 Lab 區塊</a:t>
            </a:r>
          </a:p>
        </p:txBody>
      </p:sp>
      <p:sp>
        <p:nvSpPr>
          <p:cNvPr id="16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（急件提前量）｜來源：student_policy.py marked block｜作用：控制本 Lab 的單一策略差異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單位：設定值｜判讀：只有此值可改，才能把結果差異歸因於本次修改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基準值｜Baseline：URGENT_MARGIN_S = 20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這一頁只讀一個值；BATCH_SIZE = 3 與其他程式全部不變</a:t>
            </a:r>
          </a:p>
        </p:txBody>
      </p:sp>
      <p:sp>
        <p:nvSpPr>
          <p:cNvPr id="6" name="Lab C value 20"/>
          <p:cNvSpPr/>
          <p:nvPr/>
        </p:nvSpPr>
        <p:spPr>
          <a:xfrm>
            <a:off x="1883664" y="1481328"/>
            <a:ext cx="8430768" cy="230428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C value 20 heading"/>
          <p:cNvSpPr txBox="1"/>
          <p:nvPr/>
        </p:nvSpPr>
        <p:spPr>
          <a:xfrm>
            <a:off x="2029968" y="1572768"/>
            <a:ext cx="8138160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基準值｜Baseline</a:t>
            </a:r>
          </a:p>
        </p:txBody>
      </p:sp>
      <p:sp>
        <p:nvSpPr>
          <p:cNvPr id="8" name="Lab C value 20 explanation"/>
          <p:cNvSpPr txBox="1"/>
          <p:nvPr/>
        </p:nvSpPr>
        <p:spPr>
          <a:xfrm>
            <a:off x="2029968" y="2011680"/>
            <a:ext cx="8138160" cy="1700784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期限剩 20 秒時進入急件分支</a:t>
            </a:r>
          </a:p>
        </p:txBody>
      </p:sp>
      <p:sp>
        <p:nvSpPr>
          <p:cNvPr id="9" name="Lab C 20 causal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只改急件提前量；先預測 SEND_URGENT 時機，再執行對應 case</a:t>
            </a:r>
          </a:p>
        </p:txBody>
      </p:sp>
      <p:sp>
        <p:nvSpPr>
          <p:cNvPr id="10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（急件提前量）｜來源：Lab C marked block｜作用：決定剩餘期限多早進入急件分支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單位：秒｜判讀：數值越大代表越早嘗試急件傳送；是否有利仍由服務與事件證據判斷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候選值｜Candidate：URGENT_MARGIN_S =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這一頁只讀一個值；BATCH_SIZE = 3 與其他程式全部不變</a:t>
            </a:r>
          </a:p>
        </p:txBody>
      </p:sp>
      <p:sp>
        <p:nvSpPr>
          <p:cNvPr id="6" name="Lab C value 5"/>
          <p:cNvSpPr/>
          <p:nvPr/>
        </p:nvSpPr>
        <p:spPr>
          <a:xfrm>
            <a:off x="1883664" y="1481328"/>
            <a:ext cx="8430768" cy="2304288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C value 5 heading"/>
          <p:cNvSpPr txBox="1"/>
          <p:nvPr/>
        </p:nvSpPr>
        <p:spPr>
          <a:xfrm>
            <a:off x="2029968" y="1572768"/>
            <a:ext cx="8138160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候選值｜Candidate</a:t>
            </a:r>
          </a:p>
        </p:txBody>
      </p:sp>
      <p:sp>
        <p:nvSpPr>
          <p:cNvPr id="8" name="Lab C value 5 explanation"/>
          <p:cNvSpPr txBox="1"/>
          <p:nvPr/>
        </p:nvSpPr>
        <p:spPr>
          <a:xfrm>
            <a:off x="2029968" y="2011680"/>
            <a:ext cx="8138160" cy="1700784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5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等到只剩 5 秒才急送，可能太晚</a:t>
            </a:r>
          </a:p>
        </p:txBody>
      </p:sp>
      <p:sp>
        <p:nvSpPr>
          <p:cNvPr id="9" name="Lab C 5 causal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只改急件提前量；先預測 SEND_URGENT 時機，再執行對應 case</a:t>
            </a:r>
          </a:p>
        </p:txBody>
      </p:sp>
      <p:sp>
        <p:nvSpPr>
          <p:cNvPr id="10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（急件提前量）｜來源：Lab C marked block｜作用：決定剩餘期限多早進入急件分支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單位：秒｜判讀：數值越大代表越早嘗試急件傳送；是否有利仍由服務與事件證據判斷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修訂值｜Revision：URGENT_MARGIN_S = 30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這一頁只讀一個值；BATCH_SIZE = 3 與其他程式全部不變</a:t>
            </a:r>
          </a:p>
        </p:txBody>
      </p:sp>
      <p:sp>
        <p:nvSpPr>
          <p:cNvPr id="6" name="Lab C value 30"/>
          <p:cNvSpPr/>
          <p:nvPr/>
        </p:nvSpPr>
        <p:spPr>
          <a:xfrm>
            <a:off x="1883664" y="1481328"/>
            <a:ext cx="8430768" cy="230428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C value 30 heading"/>
          <p:cNvSpPr txBox="1"/>
          <p:nvPr/>
        </p:nvSpPr>
        <p:spPr>
          <a:xfrm>
            <a:off x="2029968" y="1572768"/>
            <a:ext cx="8138160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修訂值｜Revision</a:t>
            </a:r>
          </a:p>
        </p:txBody>
      </p:sp>
      <p:sp>
        <p:nvSpPr>
          <p:cNvPr id="8" name="Lab C value 30 explanation"/>
          <p:cNvSpPr txBox="1"/>
          <p:nvPr/>
        </p:nvSpPr>
        <p:spPr>
          <a:xfrm>
            <a:off x="2029968" y="2011680"/>
            <a:ext cx="8138160" cy="1700784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30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期限剩 30 秒就急送，較早但可能增加成本</a:t>
            </a:r>
          </a:p>
        </p:txBody>
      </p:sp>
      <p:sp>
        <p:nvSpPr>
          <p:cNvPr id="9" name="Lab C 30 causal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只改急件提前量；先預測 SEND_URGENT 時機，再執行對應 case</a:t>
            </a:r>
          </a:p>
        </p:txBody>
      </p:sp>
      <p:sp>
        <p:nvSpPr>
          <p:cNvPr id="10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（急件提前量）｜來源：Lab C marked block｜作用：決定剩餘期限多早進入急件分支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單位：秒｜判讀：數值越大代表越早嘗試急件傳送；是否有利仍由服務與事件證據判斷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 5 秒可能太晚，30 秒可能更早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急件門檻控制的是『何時放棄等待批次、改成優先送出』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20 秒｜基準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在期限剩 20 秒時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允許 SEND_URGENT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5 秒｜候選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等待更久才急送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可能錯過窗口或期限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30 秒｜修訂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更早進入急件分支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可能恢復服務，也可能增加能量</a:t>
            </a:r>
          </a:p>
        </p:txBody>
      </p:sp>
      <p:sp>
        <p:nvSpPr>
          <p:cNvPr id="15" name="Lab C mechanism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門檻 → SEND_URGENT 時機 → wake／TX／delivery／deadline → service → endpoint J</a:t>
            </a:r>
          </a:p>
        </p:txBody>
      </p:sp>
      <p:sp>
        <p:nvSpPr>
          <p:cNvPr id="16" name="Field contract deadline_pas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（期限是否通過）｜來源：result service summary｜作用：確認必要封包是否在期限內完成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單位：布林值｜判讀：先確認期限與服務，再比較端點焦耳；較低焦耳但失敗不是改善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四次執行的固定順序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每次先設定正確值，再執行對應 case；revision 才使用 freeze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91056"/>
            <a:ext cx="2505456" cy="233172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baseline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值為 20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baseline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3630168" y="1591056"/>
            <a:ext cx="2505456" cy="233172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377647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candidate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379476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改成 5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candidate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6419088" y="1591056"/>
            <a:ext cx="2505456" cy="233172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656539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revision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6583679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改成 30 並凍結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revision --freeze</a:t>
            </a:r>
          </a:p>
        </p:txBody>
      </p:sp>
      <p:sp>
        <p:nvSpPr>
          <p:cNvPr id="15" name="Teaching card 4"/>
          <p:cNvSpPr/>
          <p:nvPr/>
        </p:nvSpPr>
        <p:spPr>
          <a:xfrm>
            <a:off x="9208008" y="1591056"/>
            <a:ext cx="2505456" cy="2331720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card 4 heading"/>
          <p:cNvSpPr txBox="1"/>
          <p:nvPr/>
        </p:nvSpPr>
        <p:spPr>
          <a:xfrm>
            <a:off x="935431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④ surprise</a:t>
            </a:r>
          </a:p>
        </p:txBody>
      </p:sp>
      <p:sp>
        <p:nvSpPr>
          <p:cNvPr id="17" name="Teaching card 4 body"/>
          <p:cNvSpPr txBox="1"/>
          <p:nvPr/>
        </p:nvSpPr>
        <p:spPr>
          <a:xfrm>
            <a:off x="937260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保持 frozen 30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surprise</a:t>
            </a:r>
          </a:p>
        </p:txBody>
      </p:sp>
      <p:sp>
        <p:nvSpPr>
          <p:cNvPr id="18" name="Lab C launcher rule"/>
          <p:cNvSpPr/>
          <p:nvPr/>
        </p:nvSpPr>
        <p:spPr>
          <a:xfrm>
            <a:off x="859536" y="4160520"/>
            <a:ext cx="10442448" cy="713232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 C launcher rule text"/>
          <p:cNvSpPr txBox="1"/>
          <p:nvPr/>
        </p:nvSpPr>
        <p:spPr>
          <a:xfrm>
            <a:off x="1005839" y="4251959"/>
            <a:ext cx="10149840" cy="53035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...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   Windows：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...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；每次保存 stdout 的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20" name="Field contract freeze"/>
          <p:cNvSpPr/>
          <p:nvPr/>
        </p:nvSpPr>
        <p:spPr>
          <a:xfrm>
            <a:off x="804672" y="5001768"/>
            <a:ext cx="10561320" cy="713232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freeze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（策略凍結）｜來源：revision 執行選項｜作用：保存要帶入 surprise 的策略身分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單位：狀態｜判讀：freeze 缺失或身分不一致時停止 surprise，不重新修改策略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上傳後怎麼解讀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每次只上傳該 run 的 result.json；先確認服務，再解釋原因與能量</a:t>
            </a:r>
          </a:p>
        </p:txBody>
      </p:sp>
      <p:sp>
        <p:nvSpPr>
          <p:cNvPr id="6" name="C upload"/>
          <p:cNvSpPr/>
          <p:nvPr/>
        </p:nvSpPr>
        <p:spPr>
          <a:xfrm>
            <a:off x="859536" y="1481328"/>
            <a:ext cx="5047488" cy="181051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 upload heading"/>
          <p:cNvSpPr txBox="1"/>
          <p:nvPr/>
        </p:nvSpPr>
        <p:spPr>
          <a:xfrm>
            <a:off x="1005839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網站操作</a:t>
            </a:r>
          </a:p>
        </p:txBody>
      </p:sp>
      <p:sp>
        <p:nvSpPr>
          <p:cNvPr id="8" name="C upload explanation"/>
          <p:cNvSpPr txBox="1"/>
          <p:nvPr/>
        </p:nvSpPr>
        <p:spPr>
          <a:xfrm>
            <a:off x="1005839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① 依 stdout 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找檔案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②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選擇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③ 保留同目錄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④ 核對 scenario ID 與 run ID</a:t>
            </a:r>
          </a:p>
        </p:txBody>
      </p:sp>
      <p:sp>
        <p:nvSpPr>
          <p:cNvPr id="9" name="C interpret"/>
          <p:cNvSpPr/>
          <p:nvPr/>
        </p:nvSpPr>
        <p:spPr>
          <a:xfrm>
            <a:off x="6254496" y="1481328"/>
            <a:ext cx="5047488" cy="181051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 interpret heading"/>
          <p:cNvSpPr txBox="1"/>
          <p:nvPr/>
        </p:nvSpPr>
        <p:spPr>
          <a:xfrm>
            <a:off x="6400800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如何回答結果</a:t>
            </a:r>
          </a:p>
        </p:txBody>
      </p:sp>
      <p:sp>
        <p:nvSpPr>
          <p:cNvPr id="11" name="C interpret explanation"/>
          <p:cNvSpPr txBox="1"/>
          <p:nvPr/>
        </p:nvSpPr>
        <p:spPr>
          <a:xfrm>
            <a:off x="6400800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先確認 deadline 與 service；若 20 與 30 結果相同，保留『此案例無差異』，不要硬造改善。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若沒有看到預期事件差異，就不能把最終數值歸因於這次修改。</a:t>
            </a:r>
          </a:p>
        </p:txBody>
      </p:sp>
      <p:sp>
        <p:nvSpPr>
          <p:cNvPr id="12" name="Read service"/>
          <p:cNvSpPr/>
          <p:nvPr/>
        </p:nvSpPr>
        <p:spPr>
          <a:xfrm>
            <a:off x="914400" y="3584448"/>
            <a:ext cx="2231136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① 服務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是否完成任務</a:t>
            </a:r>
          </a:p>
        </p:txBody>
      </p:sp>
      <p:sp>
        <p:nvSpPr>
          <p:cNvPr id="13" name="Read connector 1"/>
          <p:cNvSpPr/>
          <p:nvPr/>
        </p:nvSpPr>
        <p:spPr>
          <a:xfrm>
            <a:off x="3227832" y="3694176"/>
            <a:ext cx="347472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d packet"/>
          <p:cNvSpPr/>
          <p:nvPr/>
        </p:nvSpPr>
        <p:spPr>
          <a:xfrm>
            <a:off x="3657600" y="3584448"/>
            <a:ext cx="2231136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② 封包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送達／重試／逾期</a:t>
            </a:r>
          </a:p>
        </p:txBody>
      </p:sp>
      <p:sp>
        <p:nvSpPr>
          <p:cNvPr id="15" name="Read connector 2"/>
          <p:cNvSpPr/>
          <p:nvPr/>
        </p:nvSpPr>
        <p:spPr>
          <a:xfrm>
            <a:off x="5971032" y="3694176"/>
            <a:ext cx="347472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d state"/>
          <p:cNvSpPr/>
          <p:nvPr/>
        </p:nvSpPr>
        <p:spPr>
          <a:xfrm>
            <a:off x="6400800" y="3584448"/>
            <a:ext cx="2231136" cy="62179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③ 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休眠／清醒／傳送</a:t>
            </a:r>
          </a:p>
        </p:txBody>
      </p:sp>
      <p:sp>
        <p:nvSpPr>
          <p:cNvPr id="17" name="Read connector 3"/>
          <p:cNvSpPr/>
          <p:nvPr/>
        </p:nvSpPr>
        <p:spPr>
          <a:xfrm>
            <a:off x="8714232" y="3694176"/>
            <a:ext cx="347472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ad energy"/>
          <p:cNvSpPr/>
          <p:nvPr/>
        </p:nvSpPr>
        <p:spPr>
          <a:xfrm>
            <a:off x="9144000" y="3584448"/>
            <a:ext cx="2231136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④ 端點能量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最後才讀焦耳</a:t>
            </a:r>
          </a:p>
        </p:txBody>
      </p:sp>
      <p:sp>
        <p:nvSpPr>
          <p:cNvPr id="19" name="Field contract deadline_pas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（期限是否通過）｜來源：result／replay artifact｜作用：支持本 Lab 的機制判讀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單位：依欄位定義｜判讀：5 秒失敗或 30 秒恢復都要由本次 result／replay 證據支持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LoRaEnergySim + LEO｜核心課堂版</dc:title>
  <dc:creator>C-120 classroom core lane</dc:creator>
  <cp:lastModifiedBy>柏宏 吳</cp:lastModifiedBy>
  <cp:revision>1493</cp:revision>
  <dcterms:created xsi:type="dcterms:W3CDTF">2019-10-21T01:22:34Z</dcterms:created>
  <dcterms:modified xsi:type="dcterms:W3CDTF">2025-12-10T11:42:30Z</dcterms:modified>
  <dc:subject>LoRaEnergySim introduction, setup, JSON import, and Lab A/B/C</dc:subject>
  <dc:description>Editable review deck built only from educate slideLayout2.xml</dc:description>
</cp:coreProperties>
</file>