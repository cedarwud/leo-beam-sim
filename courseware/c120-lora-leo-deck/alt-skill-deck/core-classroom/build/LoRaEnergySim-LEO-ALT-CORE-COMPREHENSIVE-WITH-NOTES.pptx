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3" Type="http://schemas.openxmlformats.org/officeDocument/2006/relationships/slide" Target="slides/slide1.xml" /><Relationship Id="rId4" Type="http://schemas.openxmlformats.org/officeDocument/2006/relationships/notesMaster" Target="notesMasters/notesMaster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Relationship Id="rId50" Type="http://schemas.openxmlformats.org/officeDocument/2006/relationships/slide" Target="slides/slide44.xml" /><Relationship Id="rId51" Type="http://schemas.openxmlformats.org/officeDocument/2006/relationships/slide" Target="slides/slide45.xml" /><Relationship Id="rId52" Type="http://schemas.openxmlformats.org/officeDocument/2006/relationships/slide" Target="slides/slide46.xml" /><Relationship Id="rId53" Type="http://schemas.openxmlformats.org/officeDocument/2006/relationships/slide" Target="slides/slide47.xml" /><Relationship Id="rId54" Type="http://schemas.openxmlformats.org/officeDocument/2006/relationships/slide" Target="slides/slide48.xml" /><Relationship Id="rId55" Type="http://schemas.openxmlformats.org/officeDocument/2006/relationships/slide" Target="slides/slide49.xml" /><Relationship Id="rId56" Type="http://schemas.openxmlformats.org/officeDocument/2006/relationships/slide" Target="slides/slide50.xml" /><Relationship Id="rId57" Type="http://schemas.openxmlformats.org/officeDocument/2006/relationships/slide" Target="slides/slide51.xml" /><Relationship Id="rId58" Type="http://schemas.openxmlformats.org/officeDocument/2006/relationships/slide" Target="slides/slide52.xml" /><Relationship Id="rId59" Type="http://schemas.openxmlformats.org/officeDocument/2006/relationships/slide" Target="slides/slide53.xml" /><Relationship Id="rId60" Type="http://schemas.openxmlformats.org/officeDocument/2006/relationships/slide" Target="slides/slide54.xml" /><Relationship Id="rId61" Type="http://schemas.openxmlformats.org/officeDocument/2006/relationships/slide" Target="slides/slide55.xml" /><Relationship Id="rId62" Type="http://schemas.openxmlformats.org/officeDocument/2006/relationships/slide" Target="slides/slide56.xml" /><Relationship Id="rId63" Type="http://schemas.openxmlformats.org/officeDocument/2006/relationships/slide" Target="slides/slide57.xml" /><Relationship Id="rId64" Type="http://schemas.openxmlformats.org/officeDocument/2006/relationships/slide" Target="slides/slide58.xml" /><Relationship Id="rId65" Type="http://schemas.openxmlformats.org/officeDocument/2006/relationships/slide" Target="slides/slide59.xml" /><Relationship Id="rId66" Type="http://schemas.openxmlformats.org/officeDocument/2006/relationships/slide" Target="slides/slide60.xml" /><Relationship Id="rId67" Type="http://schemas.openxmlformats.org/officeDocument/2006/relationships/slide" Target="slides/slide61.xml" /><Relationship Id="rId68" Type="http://schemas.openxmlformats.org/officeDocument/2006/relationships/slide" Target="slides/slide62.xml" /><Relationship Id="rId69" Type="http://schemas.openxmlformats.org/officeDocument/2006/relationships/slide" Target="slides/slide63.xml" /><Relationship Id="rId70" Type="http://schemas.openxmlformats.org/officeDocument/2006/relationships/slide" Target="slides/slide64.xml" /><Relationship Id="rId71" Type="http://schemas.openxmlformats.org/officeDocument/2006/relationships/slide" Target="slides/slide65.xml" /><Relationship Id="rId72" Type="http://schemas.openxmlformats.org/officeDocument/2006/relationships/slide" Target="slides/slide66.xml" /><Relationship Id="rId73" Type="http://schemas.openxmlformats.org/officeDocument/2006/relationships/slide" Target="slides/slide67.xml" /><Relationship Id="rId74" Type="http://schemas.openxmlformats.org/officeDocument/2006/relationships/slide" Target="slides/slide68.xml" /><Relationship Id="rId75" Type="http://schemas.openxmlformats.org/officeDocument/2006/relationships/slide" Target="slides/slide69.xml" /><Relationship Id="rId76" Type="http://schemas.openxmlformats.org/officeDocument/2006/relationships/slide" Target="slides/slide70.xml" /><Relationship Id="rId77" Type="http://schemas.openxmlformats.org/officeDocument/2006/relationships/slide" Target="slides/slide71.xml" /><Relationship Id="rId78" Type="http://schemas.openxmlformats.org/officeDocument/2006/relationships/slide" Target="slides/slide72.xml" /><Relationship Id="rId79" Type="http://schemas.openxmlformats.org/officeDocument/2006/relationships/slide" Target="slides/slide73.xml" /><Relationship Id="rId80" Type="http://schemas.openxmlformats.org/officeDocument/2006/relationships/slide" Target="slides/slide74.xml" /><Relationship Id="rId81" Type="http://schemas.openxmlformats.org/officeDocument/2006/relationships/slide" Target="slides/slide75.xml" /><Relationship Id="rId82" Type="http://schemas.openxmlformats.org/officeDocument/2006/relationships/slide" Target="slides/slide76.xml" /><Relationship Id="rId83" Type="http://schemas.openxmlformats.org/officeDocument/2006/relationships/slide" Target="slides/slide77.xml" /><Relationship Id="rId84" Type="http://schemas.openxmlformats.org/officeDocument/2006/relationships/slide" Target="slides/slide78.xml" /><Relationship Id="rId85" Type="http://schemas.openxmlformats.org/officeDocument/2006/relationships/slide" Target="slides/slide79.xml" /><Relationship Id="rId86" Type="http://schemas.openxmlformats.org/officeDocument/2006/relationships/slide" Target="slides/slide80.xml" /><Relationship Id="rId87" Type="http://schemas.openxmlformats.org/officeDocument/2006/relationships/slide" Target="slides/slide81.xml" /><Relationship Id="rId88" Type="http://schemas.openxmlformats.org/officeDocument/2006/relationships/slide" Target="slides/slide82.xml" /><Relationship Id="rId89" Type="http://schemas.openxmlformats.org/officeDocument/2006/relationships/slide" Target="slides/slide83.xml" /><Relationship Id="rId90" Type="http://schemas.openxmlformats.org/officeDocument/2006/relationships/slide" Target="slides/slide84.xml" /><Relationship Id="rId91" Type="http://schemas.openxmlformats.org/officeDocument/2006/relationships/slide" Target="slides/slide85.xml" /><Relationship Id="rId92" Type="http://schemas.openxmlformats.org/officeDocument/2006/relationships/slide" Target="slides/slide86.xml" /><Relationship Id="rId93" Type="http://schemas.openxmlformats.org/officeDocument/2006/relationships/slide" Target="slides/slide87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_rels/notesSlide4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4.xml" /></Relationships>
</file>

<file path=ppt/notesSlides/_rels/notesSlide4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5.xml" /></Relationships>
</file>

<file path=ppt/notesSlides/_rels/notesSlide4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6.xml" /></Relationships>
</file>

<file path=ppt/notesSlides/_rels/notesSlide4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7.xml" /></Relationships>
</file>

<file path=ppt/notesSlides/_rels/notesSlide4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8.xml" /></Relationships>
</file>

<file path=ppt/notesSlides/_rels/notesSlide4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9.xml" /></Relationships>
</file>

<file path=ppt/notesSlides/_rels/notesSlide5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0.xml" /></Relationships>
</file>

<file path=ppt/notesSlides/_rels/notesSlide5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1.xml" /></Relationships>
</file>

<file path=ppt/notesSlides/_rels/notesSlide5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2.xml" /></Relationships>
</file>

<file path=ppt/notesSlides/_rels/notesSlide5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3.xml" /></Relationships>
</file>

<file path=ppt/notesSlides/_rels/notesSlide5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4.xml" /></Relationships>
</file>

<file path=ppt/notesSlides/_rels/notesSlide5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5.xml" /></Relationships>
</file>

<file path=ppt/notesSlides/_rels/notesSlide5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6.xml" /></Relationships>
</file>

<file path=ppt/notesSlides/_rels/notesSlide5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7.xml" /></Relationships>
</file>

<file path=ppt/notesSlides/_rels/notesSlide5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8.xml" /></Relationships>
</file>

<file path=ppt/notesSlides/_rels/notesSlide5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9.xml" /></Relationships>
</file>

<file path=ppt/notesSlides/_rels/notesSlide6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0.xml" /></Relationships>
</file>

<file path=ppt/notesSlides/_rels/notesSlide6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1.xml" /></Relationships>
</file>

<file path=ppt/notesSlides/_rels/notesSlide6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2.xml" /></Relationships>
</file>

<file path=ppt/notesSlides/_rels/notesSlide6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3.xml" /></Relationships>
</file>

<file path=ppt/notesSlides/_rels/notesSlide6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4.xml" /></Relationships>
</file>

<file path=ppt/notesSlides/_rels/notesSlide6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5.xml" /></Relationships>
</file>

<file path=ppt/notesSlides/_rels/notesSlide6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6.xml" /></Relationships>
</file>

<file path=ppt/notesSlides/_rels/notesSlide6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7.xml" /></Relationships>
</file>

<file path=ppt/notesSlides/_rels/notesSlide6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8.xml" /></Relationships>
</file>

<file path=ppt/notesSlides/_rels/notesSlide6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9.xml" /></Relationships>
</file>

<file path=ppt/notesSlides/_rels/notesSlide7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0.xml" /></Relationships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_rels/notesSlide8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1.xml" /></Relationships>
</file>

<file path=ppt/notesSlides/_rels/notesSlide8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2.xml" /></Relationships>
</file>

<file path=ppt/notesSlides/_rels/notesSlide8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3.xml" /></Relationships>
</file>

<file path=ppt/notesSlides/_rels/notesSlide8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4.xml" /></Relationships>
</file>

<file path=ppt/notesSlides/_rels/notesSlide8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5.xml" /></Relationships>
</file>

<file path=ppt/notesSlides/_rels/notesSlide8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6.xml" /></Relationships>
</file>

<file path=ppt/notesSlides/_rels/notesSlide8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7.xml"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本頁建立課程的固定情境。環境感測端點以有限電池運作，服務窗口依固定軌跡開啟、關閉或縮短。情境定義 scenario 來自 course package，作用是固定端點、窗口與資料規則，單位為 identifier；相同輸入應產生可重跑的比較。後續判讀依序確認窗口、策略動作、服務結果與端點能量。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本頁從零定義模擬器。端點是有感測器與有限電池的資料裝置；資料封包是一次要送出的資料；閘道是接收端點封包並留下事件的接收節點。LoRaEnergySim 在本課被當作能源決策的模型參照，把端點狀態、封包事件與能量後果放進可重複的固定執行。這裡的問題不是猜一個漂亮的總分，而是比較同一份工作在等待、休眠或傳送的不同動作下，服務與端點焦耳是否同時改變。模擬器 simulator 的來源是 course package 對 LoRaEnergySim 的參照，作用是在固定時鐘重播課程假設，單位是一次固定執行；判讀時只代表可比較證據，不代表實測。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本頁只列出有來源支持的上游能力。ADR-004 與第三方 provenance 指出，GillesC/LoRaEnergySim 的研究模型可連接端點的休眠、處理、發射、接收，以及封包、碰撞、重傳與能源結果。這些是可重用的模型概念，不是本課已執行上游 repository 的證明。固定 scenario、LEO 服務窗口、bounded policy、JSON 匯入與 Leo replay 是本課需要另外封裝的路徑，不能回寫成上游原生功能。上游模型能力 upstream_model 的來源是指定 commit，作用是提供狀態、封包與能量研究概念，單位是能力集合；判讀時只表示上游能力，不表示本課 runner 已執行上游。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本頁把上游能力與課程封裝拆開。student_policy.py 是課程策略插槽，只開放 marked block；目前 runner 不直接執行上游 LoRaEnergySim，上游僅作能力來源與參照。第一步固定 scenario.json 與 scenario_id，第二步只開放 student_policy.py 的 marked block，第三步由本機 runner 依序產生 baseline、candidate 與 withheld，第四步把配對的 result.json 與 endpoint replay 匯入 Leo 網站，再留在 Workbook 中。這條路徑讓證據可驗證、可重播，也讓伺服器不接收或執行 Python。課程執行器 runner 的來源是 course package，作用是讀固定情境、載入受控策略並輸出結果與重播，單位是 run artifact；判讀時表示一次可追溯執行，不是上游能力或整個系統指標。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本頁回答競賽主題的關聯。智慧節能與物聯網應用需要的是：一次端點決策能否連到封包服務、無線狀態時間與端點焦耳，並能在固定情境下重跑與反駁。課程 package 讓同一 scenario、策略 bytes 與 seed留下可比的事件路徑，再把 result 與 replay 匯入 Leo 讀取。這不是即時資料、典範系統指標或整體 LEO 能量，而是先把端點層的 policy → event → service／J 因果證據做實，再轉移到智慧農業、暖通空調或物流情境，並重新定義它們的窗口、期限與能量邊界。證據 evidence 的來源是 result.json 與 endpoint replay，作用是保存因果路徑，單位是 record；判讀時只能支持 bounded comparison。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本頁先釐清檔案何時出現。setup 與 verify 只檢查 package、scenario 與 policy 的環境條件，不代表已完成一次案例執行，也不會產生此次 run 的結果檔。只有 run case 由本機 runner 依固定輸入做模擬，才會在 artifacts/&lt;run_id&gt;/ 寫入配對的 result.json 與 endpoint-replay.json。在 Linux／macOS 終端機執行時使用 Linux 指令；WSL 也使用 Linux 指令。執行產物 run artifact 的來源是本機 runner，作用是保存一次執行的結果與端點事件重播，單位是同一 run 目錄；判讀時只有 run 產生，setup／verify 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本頁把本機與網站的責任拆開。student_policy.py 是課程策略插槽，不是上游 LoRaEnergySim 的直接執行入口。Linux／macOS 終端機或使用 Linux 指令的 WSL 先由本機 runner 讀取這個插槽並做固定情境模擬，目前不直接執行上游 LoRaEnergySim；上游僅提供能力來源與參照。產出 result.json 與同一 run 目錄的 endpoint-replay.json。/course 課程頁只選 result.json；它不要求、不上傳也不執行 student_policy.py。網站的工作是驗證資料身份與結構、具象化結果、建立端點事件重播並寫入工作簿。課程匯入 course import 的來源是 /course 控制項，作用是驗證 result.json 並建立重播與工作簿，單位是 JSON pair；判讀時選結果檔，並讓 replay 留在同一個 run 目錄配對。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本頁把網站讀取順序固定下來。baseline（基準）、candidate（候選）與 withheld（保留反例）依序匯入，每一次都選該次 result.json，並保留同一個 run 目錄的 endpoint-replay.json 配對。判讀順序固定為 service → packet → state → endpoint J：先確認服務判定，再讀封包事件、狀態時間，最後才讀端點焦耳，避免只用一個總數字宣稱因果。--freeze 是受控案例額外的 receipt／checkpoint，用來保存策略與案例 lineage；它不是一般上傳，也不改變 /course 只選 result.json 的邊界。匯入順序 import order 的來源是 /course 與配對 artifacts，作用是依序比較三次 JSON pair，單位是三次 JSON pair；判讀時沿 service、packet、state、endpoint J，freeze 資料另存。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本頁說明策略動作的三條主要路徑。SLEEP 降低休息功率，但必須支付喚醒延遲與喚醒能量；WAIT 保留反應能力，但會累積清醒閒置能量；SEND 類動作建立服務機會，也會增加處理、發射、接收或重試事件。策略動作 action 來自 policy API，作用是提供每次決策的唯一輸出，單位為 enum；判讀時以其觸發的狀態與封包轉移為準。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本頁建立結果歸因的順序。先確認服務窗口與策略動作，再讀取無線狀態和封包事件，最後判讀服務與端點能量。窗口關閉時，傳輸類動作不進入執行器，安全分支為 SLEEP。無線狀態 radio_state 來自 runner event ledger，作用是表示各狀態區間，單位為 state enum 加 duration；其判讀用途是提供端點能量的時間分段。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本頁定義固定情境中的操作閉環。可編輯面限於 student_policy.py 的 marked block，且一次只修改一個受控常數。執行固定 case 後，依序讀取狀態、封包、服務與能量，再以動作、事件與結果的關係說明差異。結果資料檔 result.json 由 package runner 產生，作用是保存 run identity、狀態、封包、服務與能量，單位為 JSON artifact；其判讀用途是作為 replay 與 import 的輸入。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本頁將因果歸因具體化。基準策略與候選策略必須接收相同觀測，差異由策略動作開始，並經由不同的事件路徑傳到服務與端點能量。若事件路徑沒有差異，最終數值差異不得歸因於策略修改。封包進度 packet_progress 來自 result 或 replay artifact，作用是記錄產生、佇列、嘗試、重試、送達與逾期，單位為 event count 加 time；其判讀用途是連接策略動作與服務結果。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本頁界定執行器可支持的證據範圍。固定 scenario、policy 與 seed 可使事件順序重跑，並支持端點狀態、封包、服務與端點能量的比較。這些結果不等同於 LEO 或 system energy，也不等同於 canonical efficiency、實測或即時 KPI。端點能量 endpoint_energy_j 來自 endpoint radio 與 processing model，作用是累積狀態能量，單位為 J；判讀時只屬於 endpoint evidence layer。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本頁將低地球軌道視為變動服務窗口的工作範例。LEO 的作用是改變服務機會；主要控制仍是端點策略在等待、休息與送出之間做選擇。暖通空調、邊緣閘道與物流追蹤可以沿用相同機制，但各情境必須重新定義窗口、期限與能量邊界。服務窗口 service_window 來自 fixed scenario trace，作用是定義合法傳輸區間，單位為 trace time；判讀時決定動作是否具有服務機會。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本頁把預測、執行與反例放在同一個證據脈絡。執行前先記錄狀態、封包、服務或端點能量的預期方向，再進行一次一個常數的受控修改與固定 case 執行。結果不符合預測時，反例仍須保存。預測 prediction 來自 workbook record，作用是指定可反駁的變化方向，單位為 statement；判讀時作為執行前的比較基準。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本頁把三個實驗的變更面一次說清楚。Lab A 只把 REST_DURING_GAP 從 SLEEP 改成 WAIT，PACE_GAP_STEPS、Lab B/C 區塊、runner、scenario 與 schema 都不變；觀察休眠、清醒閒置、喚醒與端點 J，再連到封包服務。Lab B 只把 STABLE_STEPS 從 2 改成 1，ENTER_QUALITY=2 與 EXIT_QUALITY=1 不變；觀察進入時間、嘗試、重傳、交付、service 與 J。Lab C 只依序把 URGENT_MARGIN_S 從 20 改為 5 再改為 30，BATCH_SIZE=3 不變；觀察急件分支時間、deadline、expired、service 與 J。每次仍只改同一檔案的一個 marked block，先記 prediction，再做 baseline、candidate 與 withheld。受控區塊 marked block 的來源是 student_policy.py，作用是限制最小決策面，單位是 one block；判讀時，其他行與檔案必須保持不動，才能把差異歸因於本次實驗。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LoRaEnergySim 提供三項價值。第一，它建立 LoRa 端點的狀態與能量模型，使休眠、處理、發射、接收與端點能量邊界有可追溯來源。第二，它提供封包、碰撞、重試與送達的事件語言，讓策略結果能由中間事件解釋。第三，固定模型來源與版本，使不同案例與策略結果能以一致的欄位和判讀順序比較。課程操作因此可以從一行策略修改，一路追蹤到狀態、封包、服務與端點能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命令先讀取 Windows Downloads，再把 release 副本寫到 Linux staging；它不修改 Windows 原檔、`student_policy.py` 或任何 marked block。下一步進入 `lora-energy-lab/`，用 `pwd` 讀取目前位置；要檢查的 website／artifact field 是 package root 與來源路徑，路徑不一致時不要進入 setup。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環境準備必須依固定順序完成。先在 lora-energy-lab 根目錄檢查或安裝 Python 3.11.x，再確認標準函式庫的 venv 模組可用，建立並啟用 `.venv`。啟用後再次執行版本與執行器路徑檢查，確定命令已進入隔離環境。接著安裝 `requirements-lock.txt`，最後執行 verify；只有看到 READY 才能開始案例。實際檔名包含 `-lock`，不是一般的 requirements.txt。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先用 Python Launcher 執行 `py -3.11 --version`。若輸出 Python 3.11.x，再把實際執行器路徑存入 `$python311`。若找不到版本，先以 winget 安裝 uv，重新開啟 PowerShell 後執行 `uv python install 3.11`，再用 `uv python find 3.11` 取得路徑。最後以該路徑再次顯示版本；版本正確才建立 venv，不可修改 runner 迴避版本關卡。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先以 `$python311 -m venv --help` 確認 venv 模組存在，再建立 `.venv` 並執行 Activate.ps1。`python --version` 必須仍為 3.11.x，下一條命令則以 `sys.prefix` 與 `sys.base_prefix` 的差異確認已進入隔離環境。接著在此環境中安裝 `requirements-lock.txt`，再執行 `course.cmd verify`。最終成功訊號是 status 為 READY，而不是只有 pip 命令沒有報錯。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 與 WSL 先執行 `command -v python3.11` 與版本檢查。若版本正確，把路徑保存於 `PYTHON_BIN`。若找不到版本，Ubuntu 24.04 不應反覆嘗試不存在的 python3.11 apt 套件；先準備 curl，再依 uv 官方安裝流程安裝 uv 與 Python 3.11，最後以 `uv python find 3.11` 取得路徑並再次核對版本。WSL 使用同一套 Linux 命令，不使用 Windows Python。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 與 WSL 先以 `PYTHON_BIN -m venv --help` 確認支援，再建立 `.venv`。執行 `source .venv/bin/activate` 後，版本必須是 3.11.x，執行器路徑也必須落在 `.venv`。接著使用目前環境的 Python 執行 pip，依 hash 與 no-deps 契約安裝 `requirements-lock.txt`，最後執行 `bash course.sh verify`。只有 status 為 READY 才表示環境、情境與策略契約可以進入案例。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macOS 不應假設系統的 `python3` 已是 3.11。先檢查 `python3.11`；若已存在，保存其路徑。若需要安裝，可以使用 Homebrew 的 `python@3.11`，或依 uv 官方流程安裝精確版本。兩條路徑只需選一條，最後都必須設定 `PYTHON_BIN` 並由該執行器輸出 Python 3.11.x。確認版本後才進入 venv 步驟，不混用另一個 Python 建立環境。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macOS 先以選定的 `PYTHON_BIN` 確認 venv 模組，建立 `.venv` 後以 source 啟用。版本與執行器路徑都正確，才在此環境中安裝 `requirements-lock.txt`。接著執行 `bash course.sh verify`，由同一個套件檢查 Python 版本、情境、baseline policy 與契約。READY 代表環境可以進入案例，並不表示已有服務或能量結果；案例 JSON 仍要由後續 run command 產生。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環境完成需要三個一致訊號。第一，啟用後的 Python 顯示 3.11.x；第二，執行器路徑位於本專案的 `.venv`，表示不是系統環境；第三，verify 輸出 status 為 READY，並建立環境收據。READY 只說明版本、情境與策略契約可以執行，不是 Lab 結果。接著保持 `.venv` 啟用，只修改目前 Lab 的 marked block，再執行指定 case 產生 result 與 replay。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本頁只在已啟用的 `.venv` 內安裝 package 的 exact locked file `requirements-lock.txt`，不是自行猜測的 `requirements.txt`；不修改 `/home/u24/lora-energy-lab/student_policy.py`、marked blocks、runner 或 scenario。Linux／WSL 執行 `python -m pip install --disable-pip-version-check --require-hashes --no-deps -r requirements-lock.txt`，接著 `bash course.sh verify`；macOS 使用相同兩個命令。PowerShell 執行相同 pip 參數但使用 `-r .\requirements-lock.txt`，接著 ` .\course.cmd verify`；Command Prompt 使用 `-r requirements-lock.txt`，接著 `course.cmd verify`。預期產生 `artifacts/verify-receipt.json`，其中 `status` 是 `READY`、Python 是 3.11.x，並保留 scenario identity、policy API 與 claim boundary。requirements install 或 verify 任何一步失敗就停，不進入 lab；此收據不是案例的 `result.json`，案例結果要等後續 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或 verify 受阻時，只修復 Python minor、package root、lock 或 policy boundary；不能把回復資料說成本機執行。下一步依 `artifact_source` 判斷是否可進 run；讀取同一 lab／case 的 `result.json` 與 `endpoint-replay.json` pair，再按 service → packet → state → endpoint J → efficiency 判讀。本頁不改 student_policy.py 或任何 marked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實際 `/home/u24/lora-energy-lab/student_policy.py` 現在包含中文註解；本頁只鏡像說明，不能把投影片文字貼回程式。UTF-8/LF bytes 參與 policy identity，outside-block 的註解、函式、runner、scenario、schemas 與輸出契約都不改；可編輯面只有 `lab-a-pace-rest`、`lab-b-enter-exit-hold`、`lab-c-batch-urgent`。下一步只改當前 block 的一個 value，再看成對 result／replay 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`observation` 是 runner 每個固定 step 提供的唯讀快照，實際使用窗口、急件、期限、距上次傳送步數、傳送模式、品質、穩定步數與佇列數。此頁是中文說明，不可貼回 `/home/u24/lora-energy-lab/student_policy.py`；沒有 file／block／value 變更。下一步由 `choose_action(observation)` 回傳合法 action，再從 result／replay 讀 state／event、packet／delivery、service 與 endpoint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 `choose_action()` 的 read-only 中文註解鏡像，不可貼回程式。實際順序是窗口關閉回傳 `SLEEP`；urgent deadline 回傳 `SEND_URGENT`；pacing gap 回傳 `REST_DURING_GAP`；品質 hold 未滿足回傳 `WAIT`；quality ready 且 queue 足量回傳 `FLUSH_BATCH`，否則 `SEND_ONE`；所有條件都不要求傳送時回傳 `WAIT`。沒有 file／block／value 變更；下一步 run 後按 service → packet／delivery → state／event → endpoint J → efficiency 判讀。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 `/home/u24/lora-energy-lab/student_policy.py` 的中文註解已說明每個 branch。這一頁只顯示小段可讀鏡像：窗口關閉時由 `if ...` 進入 `return SLEEP`；縮排決定 statement 屬於哪個條件。`.venv/bin/python -m py_compile student_policy.py` 只檢查語法，不改檔；若錯，只修目前 active marked block，中文註解、函式、runner、scenario 與 schemas 不動。下一步才執行 P027b baseline，讀成對 result／replay。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POSIX exact command 是 `bash course.sh run --lab A --case baseline`；Windows 是 `course.cmd run --lab A --case baseline`。它讀 packaged `student_policy.py` 與 fixed scenario，只在 run directory 寫 `result.json`、`endpoint-replay.json`，不修改 policy source、marked blocks、runner、scenario 或 schemas。下一步確認 `status: OK`、run identity、`result_path`，網站先看 service，再看 packet／state／endpoint J／efficiency；Lab A／B／C 後續依各自 baseline → candidate → freeze → withheld 順序比較。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這一張先建立狀態 vocabulary。低功耗休息 `SLEEP` 的功率較低；清醒閒置 `WAIT` 會累積醒著閒置；喚醒 `WAKE` 與封包處理 `PROCESS` 是轉換或處理區間；發射 `TX` 與接收 `RX` 是收發區間。每個狀態由 runner events 保存停留秒數與事件能量，之後才能把動作 `action` 連到 state interval、energy bucket 與端點 J。動作名稱只記一次，不能代替完整狀態帳本。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這一張說明為何做實驗 A。固定同一份工作、scenario、seed、traffic、service window、endpoint scope、runner、schema 與 Lab B/C 區塊，只把 `student_policy.py` 的 `lab-a-pace-rest` 中 `REST_DURING_GAP` 由 `SLEEP` 改成 `WAIT`。`SLEEP` 降低空檔功率但可能支付 `WAKE`；`WAIT` 保持清醒閒置，可能少喚醒卻增加 awake-idle J。每次成功要看 stdout 的 `status=OK` 與新 `result_path`，再讀同一 generated run 目錄的 `result.json` 與 `endpoint-replay.json`，順序是服務、封包、狀態、J。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封包先建立 `generated`，再進入 `queue` 等待合法窗口；策略動作造成 `attempt`，碰撞 `collision` 可能產生 `retry`；最後才有 `delivered` 或 `expired`。嘗試封包數、重傳次數、交付位元與過期封包各有來源與單位，服務通過 `service_pass` 還要共同檢查必要封包、期限與新鮮度。送出次數只能說明嘗試，不是交付或服務成功。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公平比較先固定 scenario、seed、traffic、window 與 endpoint scope，再看交付位元 `delivered_bits`、期限 `deadline_pass`、新鮮度 `freshness_status` 與服務通過 `service_pass`。服務門檻先回答工作是否在期限內完成；只有在相同邊界且服務條件清楚時，端點能量 `endpoint_energy_j` 才能用來描述取捨。較低 J 不會自動變成服務成功。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功率 P 是狀態當下的高度，單位 W；時間 t 是狀態區間的長度，單位 s；兩者相乘才形成能量 J。每個 bucket 分開保存 awake_idle、sleep、wake、process、tx、rx，WAIT 與 SLEEP 使用固定 10 s 時鐘步長，收發流程另有轉換能量。讀值時保留功率、停留時間與 bucket，避免用單一峰值代替整段累積。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端點能量 `E_endpoint` 的可編輯 Office Math 公式是各狀態功率 `P_s` 與停留時間 `t_s` 的分段累積。`P_s` 單位為 W，來自 energy profile；`t_s` 單位為 s，來自 `STATE_INTERVAL`；結果摘要的 `endpoint_energy_j` 單位為 J。這個 endpoint scope 只涵蓋宣告的 radio 與 processing 狀態及轉換，不包含衛星、閘道或整體插座功率。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端點效率 `η_E` 的分子是交付資料 `D_delivered`，單位 bit；分母是端點能量 `E_endpoint`，單位 J；結果單位 bit/J。兩者必須來自同一份 result artifact 與同一 endpoint boundary。`service_pass` 與 `deadline_pass` 仍是獨立判定，因此 bit/J 變高不能覆寫服務失敗。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 `Source` 是可追溯的上游 repository／commit 參考，不等於本次量測；模型 `Model` 是固定 runner 行為的課程模擬轉接器；課程假設 `Course` 固定 scenario、window、traffic 與 endpoint profile；結果 `Result` 保存本次 JSON 與同次 replay。`upstream_execution=false` 表示不是上游即時執行，所有數值回到產物與宣告的 claim boundary。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執行 `RUN` 讀 scenario、case 與 policy，輸出 `result.json` 與同目錄 `endpoint-replay.json`。事件重播 `REPLAY` 只讀同一次 run 的 events，顯示 action、radio state、queue 與 packet，不重新執行 policy。比較紀錄 `WORKBOOK` 保存 prediction、baseline、candidate、freeze、withheld 與 result／replay lineage。匯入前核對 `scenario_id`、`run_id`、policy identity、units 與 provenance；任一 mismatch 都維持 fail closed。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基準 `Baseline` 使用固定 scenario、seed、traffic、window 與 endpoint scope，保留原始 `student_policy.py` 作為 control。唯一變動只能是目前實驗的 marked block，輸出再觀察 state duration、packet outcome、service verdict 與 endpoint J。兩次結果的身分、單位與端點範圍必須一致，差異才可回到該標記區塊解釋。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 在本模組只提供變動服務窗口軌跡。`contact_open` 是窗口是否開啟的布林狀態；`quality_band` 是 0–3 的品質分類，不是 dB；`contact_remaining_s` 是剩餘秒數。三者由固定 scenario trace 進入 policy observation；窗口關閉時只接受 `SLEEP`，窗口開啟時品質與剩餘時間共同改變動作的服務機會。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實驗 A 的目的，是在固定工作與服務窗口下檢驗一個可反駁機制。檔案是 `student_policy.py`，標記區塊是 `lab-a-pace-rest`；基準為 `REST_DURING_GAP=SLEEP`，候選只改成 `WAIT`。固定 `PACE_GAP_STEPS=2`、scenario、seed、traffic、window、runner、schema 與 Lab B/C 區塊。成功訊號是 stdout `status=OK` 與新 `result_path`；同一目錄有 `result.json` 與 `endpoint-replay.json`。匯入或檢視時依服務、封包、狀態、J 順序讀取。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基準的 `student_policy.py`／`lab-a-pace-rest` 保持 `PACE_GAP_STEPS=2` 與 `REST_DURING_GAP=SLEEP`。窗口未開時 `contact_open=false` 回傳 `SLEEP`；送出間隔不足時回傳空檔策略。Linux／macOS 終端機或 WSL 執行 `bash course.sh run --lab A --case baseline`；成功 stdout 印出 `status=OK` 與新的 `result_path`，同目錄產生 `result.json` 與 `endpoint-replay.json`。先讀 summary／events，再讀 replay。6.92 J、4,800 bit、service false 是參考摘要，實際數值以該 path 為準；基準建立 before 對照，不回答是否省電。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這一張的唯一 edit 是 `student_policy.py` 的 `lab-a-pace-rest`：把 `REST_DURING_GAP = SLEEP` 改成 `REST_DURING_GAP = WAIT`。`PACE_GAP_STEPS=2`、其他 marked blocks、runner、scenario、schema 與 generated JSON 都保持不變。Linux／macOS 終端機或 WSL 先執行 `cp student_policy.py student_policy.before-A-edit.py`，再執行 `.venv/bin/python -m py_compile student_policy.py`；Windows 使用 `copy /Y` 與 `.venv\Scripts\python.exe -m py_compile`。成功是無語法錯誤且回傳碼 0；這一張只做編輯檢查，下一張才取得 run 的 result_path。預測是 WAIT 可能減少 WAKE 但增加 awake-idle，方向必須由後續 state、packet、service、J 證據決定。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這是實驗 A 唯一的執行與 receipt 頁。第一步不改 policy 執行 `bash course.sh run --lab A --case baseline` 或 Windows `course.cmd`，成功要有 `status=OK` 與新 `result_path`。第二步完成 P041 的 WAIT edit，執行 candidate `--freeze`；成功除新 path 外，還要有 `artifacts/checkpoints/lab-a-frozen.json` 與 `.py`。第三步保持凍結策略執行 hidden，不再編輯；成功只接受新的 path，不建立第二個 freeze。每個 path 讀同一 generated 目錄的 result 與 replay，順序是服務、封包、狀態、J；缺少 freeze 就停止 hidden。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 evidence 都從 P042 stdout 的 result_path 讀取；比較前核對 scenario_id、seed、policy identity、units、provenance 與 endpoint scope。baseline SLEEP：service=false、deadline=false、delivered=1/4、retries=1、collisions=1、expired=3、wake=2、endpoint=6.92 J、bit/J=693.641618。candidate WAIT：service=false、deadline=false、delivered=1/4、retries=1、collisions=1、expired=3、wake=1、endpoint=8.86 J、bit/J=541.760722。hidden frozen WAIT：service=false、deadline=false、delivered=0/3、retries=0、collisions=0、expired=3、wake=0、endpoint=3.61 J、bit/J=0。WAIT 沒改善服務，且 endpoint 多耗 1.94 J；hidden 的低 J 來自完全未送達，不能視為節能成功。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 candidate 的 result_path，先在 events 找 `STATE_INTERVAL` 的 WAIT／SLEEP 停留秒數，再找 `WAKE` 轉換，最後對照 `energy_breakdown_j`。參考 bucket 是 awake_idle 6.00 J、sleep 0.04 J、wake 0.02 J、process 0.16 J、tx 2.40 J、rx 0.24 J；實際數值以本次 artifact 為準。解釋句要指出哪個狀態區間增加或減少、哪個 bucket 因而改變，才能把 WAIT 的機制連回 endpoint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 baseline SLEEP 與 candidate WAIT 對齊：delivered 皆為 1/4、retries=1、collisions=1、expired=3、deadline=false、service=false；WAIT 只讓 wake 由 2 降到 1，endpoint 卻由 6.92 J 升到 8.86 J（+1.94 J），bit/J 由 693.641618 降到 541.760722。hidden frozen WAIT 是 delivered=0/3、retries=0、collisions=0、expired=3、wake=0、endpoint=3.61 J、bit/J=0，低 J 的原因是完全未送達，不是節能成功。使用各自 P042 stdout result_path 的 result.json 與配對 endpoint-replay.json；服務門檻先於端點 J，嘗試或較低 J 都不能覆寫 service=false。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P046。A candidate 將 Lab A 的 marked value 改為 WAIT 後，以 `--freeze` 產生 receipt 與 checkpoint。receipt 記錄 policy identity、scenario、seed role 與 active block；checkpoint 保存可復原的 policy source。hidden 不再改 policy，只在同一 frozen identity 下讀取另一個 case。這個 lineage 讓後續差異可以回到條件與事件，而不是混入新的 edit。 目前 evidence 尚待取得，數值欄位維持待補；讀取時使用本次 stdout 印出的 result_path，並以同一產物目錄的 endpoint-replay.json 配對。若 receipt 或 checkpoint 缺失，先從 baseline policy 還原，重新執行 A candidate 的 `--freeze`；尚未取得配對 identity 前不進 hidden。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P047。A hidden 只替換 case 條件，不替換 frozen policy。讀取 command stdout 的 `result_path`，再配對同一 run 目錄的 `endpoint-replay.json`。如果 service、delivery 或 endpoint J 方向改變，這是對條件邊界的資訊；結論不延伸成所有 window 或 traffic 都相同。 目前 evidence 尚待取得，數值欄位維持待補；讀取時使用本次 stdout 印出的 result_path，並以同一產物目錄的 endpoint-replay.json 配對。若 hidden path 缺失，從 `artifacts/checkpoints/lab-a-frozen.py` 還原 policy，重新執行 exact hidden case，使用新 stdout result_path。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P048。Lab A 收束時，`state_interval` 來自 result events，單位是秒；它把 WAIT 或 SLEEP 的 action 接到後續時間與 energy bucket。接著讀 packet delivery、service gate 與同一 result 的 `endpoint_energy_j`。這種讀法保留 mechanism、service 與端點 scope，避免把單一 J 值當成完整結論。 目前 evidence 尚待取得，數值欄位維持待補；讀取時使用本次 stdout 印出的 result_path，並以同一產物目錄的 endpoint-replay.json 配對。若三個 result／replay pair 的 identity 無法配對，回到 A freeze gate，重新取得正確 stdout result_path；不手改 JSON。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P049。Lab B 使用 LoRaEnergySim 的 energy-state vocabulary 來串起 quality observation、MODE_CHANGE、packet outcome 與 endpoint energy。這使 hold 參數不只是品質分數，而能沿事件鏈追問何時進入 send-ready、是否取得傳送機會、是否付出 retry 或 radio／processing 成本。LEO 只提供 changing service window 的情境輸入；本套件的結果是固定 scenario 的 simulated teaching data。 目前 evidence 尚待取得，數值欄位維持待補；讀取時使用本次 stdout 印出的 result_path，並以同一產物目錄的 endpoint-replay.json 配對。若前序 A policy 不是 frozen，先還原 `artifacts/checkpoints/lab-a-frozen.py`，完成 compile 後再開始 Lab B。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P050。Lab B 的實際檔案是 `student_policy.py`，作用區塊是 `lab-b-enter-exit-hold`。ENTER_QUALITY=2 與 EXIT_QUALITY=1 先保持不動；本 lab 的唯一 edit 是 STABLE_STEPS。Lab A 的 frozen block、Lab C block、runner、scenario 與 schema 都是固定條件。這個界線讓後續結果可歸因於一個變數。 目前 evidence 尚待取得，數值欄位維持待補；讀取時使用本次 stdout 印出的 result_path，並以同一產物目錄的 endpoint-replay.json 配對。若 marked block 或 predecessor identity 與頁面不同，先停止執行，從 A frozen checkpoint 恢復，再檢查 package baseline。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P051。Before code 顯示 B marked block 的五行相關內容。ENTER_QUALITY=2 定義品質達標；EXIT_QUALITY=1 定義已進入後的保持下限。STABLE_STEPS=2 則要求同一正品質連續出現兩個固定 step，才可進入 send-ready。只有這個數值屬於本頁之後的 edit。 目前 evidence 尚待取得，數值欄位維持待補；讀取時使用本次 stdout 印出的 result_path，並以同一產物目錄的 endpoint-replay.json 配對。先保持 baseline policy 不變，執行 Trace A baseline；stdout 印出的 result_path 是之後比較的基準。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P052。After code 顯示相同的 B block，只有數字 1 被標示為 changed value。ENTER_QUALITY、EXIT_QUALITY、中文註解、Lab A frozen block、Lab C block、runner、scenario、schemas 與檔案格式都保持原樣。這是一個 bounded edit；候選效果要由 Trace A candidate 的事件與結果驗證。 目前 evidence 尚待取得，數值欄位維持待補；讀取時使用本次 stdout 印出的 result_path，並以同一產物目錄的 endpoint-replay.json 配對。存檔後先做 compile，再執行 Trace A candidate 的 `--freeze`；若多於一個值改變，回到 baseline policy 重做。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P053。Baseline 的 STABLE_STEPS=2 需要兩個連續穩定觀測；第一次達標只開始累積，第二次仍穩定才記錄 MODE_CHANGE。Candidate 的值為 1，第一次達標就可能進入 send-ready。這個機制只改變 decision timing；封包是否送達仍由窗口、runner 與 packet outcome 決定。 目前 evidence 尚待取得，數值欄位維持待補；讀取時使用本次 stdout 印出的 result_path，並以同一產物目錄的 endpoint-replay.json 配對。Trace A 要讀 MODE_CHANGE 的時間，再讀 packet、service 與 endpoint J；若沒有事件證據，不把 timing prediction 當成結果。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P054。Trace A 比較的前提是 A frozen predecessor。Baseline 使用 STABLE_STEPS=2；candidate 只改為 1，並以 `--freeze` 產生 B checkpoint；Trace B 維持這個 frozen policy，改看 withheld case。預測是可被反駁的工作假設：較早進入可能增加 service opportunity，也可能增加 radio／processing 成本。 目前 evidence 尚待取得，數值欄位維持待補；讀取時使用本次 stdout 印出的 result_path，並以同一產物目錄的 endpoint-replay.json 配對。執行順序不可交換；candidate freeze 缺失時不進 Trace B，先恢復 A checkpoint 並重跑 candidate freeze。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P055。Linux 與 macOS 終端機使用 `bash course.sh`；WSL 同樣使用這組 Linux launcher。第一條建立 Trace A baseline；第二條在 STABLE_STEPS=1 的 policy 下建立 candidate freeze；第三條保持 B frozen 執行 Trace B。每一條成功命令都在 stdout 印出本次 `result_path`，後續以該路徑找 result.json。 目前 evidence 尚待取得，數值欄位維持待補；讀取時使用本次 stdout 印出的 result_path，並以同一產物目錄的 endpoint-replay.json 配對。若命令失敗，保留 stdout／stderr；candidate freeze 缺失時不執行 Trace B，先回到 A checkpoint 並重做 candidate。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P056。Windows PowerShell 以 ` .\course.cmd ` 呼叫三個 Lab B cases；Command Prompt 以 `course.cmd` 呼叫同樣三個參數。PowerShell 版本的前綴包含 `.` 與反斜線；Command Prompt 版本不含這個前綴。案例順序保持 baseline、candidate `--freeze`、Trace B，stdout 仍是 result_path 的唯一選取入口。 目前 evidence 尚待取得，數值欄位維持待補；讀取時使用本次 stdout 印出的 result_path，並以同一產物目錄的 endpoint-replay.json 配對。若 shell 解析錯誤，改用該 shell 的完整 launcher，不混用引號或換行；保留錯誤後重新執行 exact case。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P057。每次成功 run 的 stdout 都會印出 `result_path`。該路徑指向 `artifacts/&lt;run_id&gt;/result.json`；同一目錄的 `endpoint-replay.json` 保存 state、queue 與 packet 的回放資料。candidate 加上 `--freeze` 時，另外保存 receipt 與 checkpoint。policy checkpoint 用來恢復 lineage，不能代替遺失的 result。 目前 evidence 尚待取得，數值欄位維持待補；讀取時使用本次 stdout 印出的 result_path，並以同一產物目錄的 endpoint-replay.json 配對。若 result 或 replay 缺一，保留原始 stdout path，不手改 JSON；回到最後一個有效 checkpoint，重跑 exact case 取得新的 pair。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P058。結果判讀固定採四層順序。第一層 service 讀 deadline、freshness 與 delivery；第二層 packet 讀 attempted、retry、collision 與 delivered；第三層 state 讀 MODE_CHANGE 與 WAIT／SLEEP／PROCESS／TX／RX 的時間；第四層讀 endpoint_energy_j。endpoint J 只描述 endpoint radio／processing scope，不是 LEO 或整個 system energy。 目前 evidence 尚待取得，數值欄位維持待補；讀取時使用本次 stdout 印出的 result_path，並以同一產物目錄的 endpoint-replay.json 配對。若 service_pass、packet 或 state 欄位缺失，先確認 result／replay 是同一 run pair，再進行解讀。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P059。Trace A current evidence 顯示：STABLE_STEPS 由 2 改成 1 後，delivered 從 1/4 增至 3/4，expired 從 3 降至 1；retries 與 collisions 都維持 1。endpoint energy 從 8.86 J 增至 10.66 J，增加 1.80 J，但 service_pass 仍為 false。因此 candidate 改善送達數，不等於完成 service gate。 這組數值來自 current Trace A baseline／candidate result pair；後續仍以同一 run 的 replay 對照 MODE_CHANGE 與 state interval，不把 service false 寫成成功。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P060。Trace B 沿用 Trace A candidate 的 frozen policy，但 current evidence 顯示 delivered 只有 1/3、expired 為 2、service_pass 仍為 false、endpoint energy 為 5.43 J。Trace B 沒有通過 service，因此 5.43 J 只能描述這個 withheld case 的端點成本，不能覆蓋服務失敗，也不能支持整體改善。 保持 B checkpoint 與 policy identity 不變；若 B evidence pair 缺失，先恢復 A predecessor，重新執行 Trace A candidate `--freeze`，再跑 Trace B。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P061。current evidence 的 Lab B 結論是條件式的：Trace A candidate 將 delivered 從 1/4 提高到 3/4、expired 從 3 降到 1，但 endpoint energy 從 8.86 J 增至 10.66 J，且 service_pass 仍為 false。Trace B 使用 frozen candidate，delivered 只有 1/3、expired 為 2、endpoint energy 為 5.43 J，service_pass 同樣為 false。因此 candidate 增加送達並不等於整體改善；Trace B 未通過 service，不能宣稱跨 case 的改善。LoRaEnergySim energy ledger 的幫助在於把這個送達／成本／服務 trade-off 放在同一條可追溯鏈。 保留 B freeze 與兩組 result／replay identity；若欄位不符，回到 B freeze gate，不重新改 policy。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P062。中斷復原分成 copy、compile、exact rerun、new pair 四步。Linux／macOS 終端機與 WSL 使用 cp 和 `.venv/bin/python`；Windows Command Prompt 使用 copy /Y 和 `.venv\Scripts\python.exe`。copy 只恢復 B frozen policy，compile 只確認語法；同一 case 重新 run 才會取得新的 result_path 與同目錄 replay。 目前 evidence 尚待取得，數值欄位維持待補；讀取時使用本次 stdout 印出的 result_path，並以同一產物目錄的 endpoint-replay.json 配對。若缺少 result 或 replay，不手改 artifact；從最後一個 identity 正確的 checkpoint 恢復，依原 case contract 重新執行。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P063。匯入 /course 時，選擇 stdout 的 `result_path` 所指向的 `result.json`，不要上傳 policy source。網站驗證 schema、scenario、case、units、policy lineage 與 provenance；通過後讀取同一目錄的 `endpoint-replay.json`，把 service、packet、state 與 endpoint J 保存到 workbook。讀取順序仍是 service → packet → state → endpoint J。identity、unit 或 provenance 不符時 fail closed，原 workbook 不變。 目前 evidence 尚待取得，數值欄位維持待補；讀取時使用本次 stdout 印出的 result_path，並以同一產物目錄的 endpoint-replay.json 配對。若匯入失敗，保留錯誤與原始 stdout path；回到中斷復原步驟重跑 exact case，取得新的 result／replay pair，不手改 JSON。 資料分類維持 SIMULATED TEACHING DATA / NOT LIVE / NOT MEASURED / NOT CANONICAL-PARITY-VERIFIED。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本頁建立 Lab C 的問題：批次等待可以減少傳送啟動，但有期限的急件不能無限期等待。後續只改動 `student_policy.py` 的 `lab-c-batch-urgent` 區塊；服務結果先於端點 J 解讀。`queue age` 是等待秒數，`deadline` 是完成期限，`endpoint J` 只描述宣告的端點範圍。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先在 package 根目錄定位 `/home/u24/lora-energy-lab/student_policy.py`，再搜尋 `LORA EDITABLE: lab-c-batch-urgent`。本頁只確認檔案、標記與目標常數，不執行、不改值。`BATCH_SIZE = 3` 是固定批次門檻；本 Lab 唯一可改的是 `URGENT_MARGIN_S`。Lab A／B 區塊、runner、scenario、schema 與能量模型保持原樣。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原始檔案中的 `URGENT_MARGIN_S = 20` 表示：當仍有緊急封包，且最接近期限的剩餘時間小於或等於 20 秒，急件分支才回傳 `SEND_URGENT`。急件分支排在 pacing 與批次之前；窗口關閉時更前面的判斷仍會回傳 `SLEEP`。這頁只讀原始值，尚未修改。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先在未修改的 policy 上執行 baseline，保存 stdout 印出的 `result_path`。完成下一頁的單一修改與預測記錄後，再以同一個 package 根目錄執行 candidate。兩次都保留同一 run 目錄內配對的 `result.json` 與 `endpoint-replay.json`；不猜檔名。Linux／macOS 終端機與 WSL 使用 Linux 指令，Windows PowerShell／Command Prompt 使用 `course.cmd`。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只在 `/home/u24/lora-energy-lab/student_policy.py` 的 `lab-c-batch-urgent` marked block，把 `URGENT_MARGIN_S` 從 20 改成 5。5 表示剩餘時間更接近期限時才走 `SEND_URGENT`，所以急件介入可能較晚。`BATCH_SIZE = 3`、Lab A／B frozen blocks、runner、scenario、schema、其他常數、函式與檔案均保持原樣；本頁不放執行命令。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候選預測寫入 workbook：把門檻從 20 改成 5，急件 override 可能較晚觸發，早期 `WAKE`／`TX` 可能減少，但封包可能更接近期限甚至失去交付。驗證順序固定為 `service`、`deadline`、packet delivery／expiry、state ledger，最後才讀 `endpoint J` 與 bit/J。任一服務門檻失敗，都不能只用低 J 宣稱成功。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命令完成後，將 stdout 的 `result_path` 指向的 `result.json` 與同一 run 目錄的 `endpoint-replay.json` 一起保存。匯入後先讀 `service_pass` 與 `deadline_pass`，再讀 `delivered_packets`／`expired_packets`，最後回到 replay 的 state event 與 `endpoint_energy_j`。目前結果為 baseline 4/4、expired 0、10.66 J；candidate 3/4、expired 1、9.74 J。candidate 少 0.92 J 但兩個 gate 都 FAIL。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 candidate 5 的結果後，只在同一個 marked block 把 `URGENT_MARGIN_S` 從 5 改成 30。30 表示期限尚有較多餘裕時就可回傳 `SEND_URGENT`，所以 action 可能較早，可能增加 `WAKE`／`TX`，也可能保住期限。`BATCH_SIZE = 3`、Lab A／B frozen blocks、runner、scenario、schema 與其他檔案都不變；本頁不放執行命令。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修訂預測寫入 workbook：把門檻從 5 改成 30，急件 action 可能較早，端點能量可能上升，但 required packet 可能在期限前完成。判讀必須同時對照 delivery、deadline、state ledger、retry／expiry 與 endpoint J。若固定 primary case 中 20 與 30 都在同一決策時點觸發，兩者結果可能相同；這是條件造成的 null contrast，不是模型失效。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先執行 revision 30 並建立 freeze receipt，再以完全相同的 policy bytes 執行 surprise withheld。兩個命令都以 stdout 新印出的 `result_path` 為準，並保存同一 run 目錄的 `result.json` 與 `endpoint-replay.json`。surprise 不新增 edit、不重新調參；它只檢查 frozen policy 在新 service condition 下的 claim boundary。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三筆結果共用相同 primary scenario 與 endpoint boundary。baseline 20 為 service／deadline true／true、delivered 4／4、expired 0、endpoint 10.66 J；candidate 5 為 false／false、delivered 3／4、expired 1、endpoint 9.74 J；revision 30 回到 true／true、4／4、expired 0、10.66 J。固定 primary case 在決策時剩 10 秒，因此 20 與 30 都觸發急件，兩者可能是 null contrast；不能把相同結果解讀成 30 永遠最佳。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surprise 沿用 frozen margin 30 policy，不建立第三次 edit。目前結果為 service false、deadline false、delivered 1／4、retries 3、collisions 2、expired 3、endpoint 5.41 J。低 J 不能覆蓋服務失敗；這筆 record 的用途是界定 margin 30 的適用範圍，並保留 result／replay provenance。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支持的結論是：urgent margin 會改變 deadline／energy trade-off，效果依 service condition 而定。candidate 5 在參考情境少用 endpoint J 卻失去兩個 gate；revision 30 在固定 primary case 恢復 gate，但 surprise 顯示新窗口條件仍可能失敗。這個結論停留在宣告的 endpoint evidence layer，不延伸成全系統或所有窗口的保證。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本機 runner 讀取 `student_policy.py` 並產生 `result.json` 與配對 `endpoint-replay.json`；網站只接受已產生的 JSON artifact。網站驗證 schema、identity、units、policy lineage 與 provenance，再 materialize replay 並保存 workbook 比較；網站不執行本機 Python。匯入時選 stdout 指出的 `result.json`，不是 policy source。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匯入先檢查 JSON／schema、scenario identity、runner provenance、lab／case／seed、policy lineage、units／energy sum、event legality 與 claim boundary，通過後才 materialize replay。任一層失敗時，既有 session 與 workbook 維持原狀；保留錯誤與原始 path，修正來源後重新匯入。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REPLAY 讀取已驗證的 `endpoint-replay.json` event ledger，不重新執行 policy，也不在瀏覽器推導新的科學數值。沿同一 frame 讀 `Queue`、`Action`、`Radio`／state、packet delivery／expiry 與累積 endpoint J，才能把程式分支對回服務結果。較低 J 若沒有 delivery 與 service 欄位，不能完成 Lab C 判讀。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保存 baseline、candidate、revision 與 surprise 的 prediction、changed line、result_path、配對 replay、service／deadline、endpoint scope、recovery note 與 claim boundary。surprise 即使 FAIL 也保留原 record；必要 evidence 缺少時狀態維持 INCOMPLETE，不能用另一筆結果補寫。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保存 workbook 後關閉頁面，再重新開啟並核對 scenario、anchor、policy／predecessor identity、endpoint scope、prediction、result 與 replay。重開只重新驗證身份與完成度，不執行 `student_policy.py`，也不把失敗 surprise 改寫為成功。缺件時維持 INCOMPLETE，沿 matching artifact 或 release backup recovery。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4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/Relationships>
</file>

<file path=ppt/slides/_rels/slide5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5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5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5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5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5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/Relationships>
</file>

<file path=ppt/slides/_rels/slide5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5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_rels/slide6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0.xml" /></Relationships>
</file>

<file path=ppt/slides/_rels/slide6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1.xml" /></Relationships>
</file>

<file path=ppt/slides/_rels/slide6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2.xml" /></Relationships>
</file>

<file path=ppt/slides/_rels/slide6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3.xml" /></Relationships>
</file>

<file path=ppt/slides/_rels/slide6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4.xml" /></Relationships>
</file>

<file path=ppt/slides/_rels/slide6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5.xml" /></Relationships>
</file>

<file path=ppt/slides/_rels/slide6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6.xml" /></Relationships>
</file>

<file path=ppt/slides/_rels/slide6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7.xml" /></Relationships>
</file>

<file path=ppt/slides/_rels/slide6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8.xml" /></Relationships>
</file>

<file path=ppt/slides/_rels/slide6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9.xml" /></Relationships>
</file>

<file path=ppt/slides/_rels/slide7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0.xml" /></Relationships>
</file>

<file path=ppt/slides/_rels/slide7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0.xml" /></Relationships>
</file>

<file path=ppt/slides/_rels/slide8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1.xml" /></Relationships>
</file>

<file path=ppt/slides/_rels/slide8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2.xml" /></Relationships>
</file>

<file path=ppt/slides/_rels/slide8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3.xml" /></Relationships>
</file>

<file path=ppt/slides/_rels/slide8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4.xml" /></Relationships>
</file>

<file path=ppt/slides/_rels/slide8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merged_d5_1.png" /><Relationship Id="rId3" Type="http://schemas.openxmlformats.org/officeDocument/2006/relationships/notesSlide" Target="../notesSlides/notesSlide85.xml" /></Relationships>
</file>

<file path=ppt/slides/_rels/slide8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merged_d5_2.png" /><Relationship Id="rId3" Type="http://schemas.openxmlformats.org/officeDocument/2006/relationships/notesSlide" Target="../notesSlides/notesSlide86.xml" /></Relationships>
</file>

<file path=ppt/slides/_rels/slide8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有限電池 × 變動服務窗口</a:t>
            </a:r>
          </a:p>
        </p:txBody>
      </p:sp>
      <p:sp>
        <p:nvSpPr>
          <p:cNvPr id="3" name="Finite battery endpoint"/>
          <p:cNvSpPr/>
          <p:nvPr/>
        </p:nvSpPr>
        <p:spPr>
          <a:xfrm>
            <a:off x="841248" y="1261872"/>
            <a:ext cx="2514600" cy="26151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有限電池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</a:t>
            </a:r>
          </a:p>
        </p:txBody>
      </p:sp>
      <p:sp>
        <p:nvSpPr>
          <p:cNvPr id="4" name="Battery cell 1"/>
          <p:cNvSpPr/>
          <p:nvPr/>
        </p:nvSpPr>
        <p:spPr>
          <a:xfrm>
            <a:off x="1225296" y="3246120"/>
            <a:ext cx="402336" cy="201168"/>
          </a:xfrm>
          <a:prstGeom prst="rect">
            <a:avLst/>
          </a:prstGeom>
          <a:solidFill>
            <a:srgbClr val="99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ttery cell 2"/>
          <p:cNvSpPr/>
          <p:nvPr/>
        </p:nvSpPr>
        <p:spPr>
          <a:xfrm>
            <a:off x="1773936" y="3246120"/>
            <a:ext cx="402336" cy="201168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ttery cell 3"/>
          <p:cNvSpPr/>
          <p:nvPr/>
        </p:nvSpPr>
        <p:spPr>
          <a:xfrm>
            <a:off x="2322576" y="3246120"/>
            <a:ext cx="402336" cy="20116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label"/>
          <p:cNvSpPr txBox="1"/>
          <p:nvPr/>
        </p:nvSpPr>
        <p:spPr>
          <a:xfrm>
            <a:off x="3685032" y="1481328"/>
            <a:ext cx="1554480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資料封包</a:t>
            </a:r>
          </a:p>
        </p:txBody>
      </p:sp>
      <p:sp>
        <p:nvSpPr>
          <p:cNvPr id="8" name="Oval 7"/>
          <p:cNvSpPr/>
          <p:nvPr/>
        </p:nvSpPr>
        <p:spPr>
          <a:xfrm>
            <a:off x="3767328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42816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8304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5074920" y="2039112"/>
            <a:ext cx="457200" cy="457200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cket path"/>
          <p:cNvSpPr txBox="1"/>
          <p:nvPr/>
        </p:nvSpPr>
        <p:spPr>
          <a:xfrm>
            <a:off x="3611880" y="2688336"/>
            <a:ext cx="1938528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產生 → 佇列 → 送出</a:t>
            </a:r>
          </a:p>
        </p:txBody>
      </p:sp>
      <p:sp>
        <p:nvSpPr>
          <p:cNvPr id="13" name="Changing service window"/>
          <p:cNvSpPr/>
          <p:nvPr/>
        </p:nvSpPr>
        <p:spPr>
          <a:xfrm>
            <a:off x="5870448" y="1225296"/>
            <a:ext cx="5321808" cy="26883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headline"/>
          <p:cNvSpPr txBox="1"/>
          <p:nvPr/>
        </p:nvSpPr>
        <p:spPr>
          <a:xfrm>
            <a:off x="6199632" y="1444752"/>
            <a:ext cx="466344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會開、會關、品質會變</a:t>
            </a:r>
          </a:p>
        </p:txBody>
      </p:sp>
      <p:sp>
        <p:nvSpPr>
          <p:cNvPr id="15" name="Window segment 1"/>
          <p:cNvSpPr/>
          <p:nvPr/>
        </p:nvSpPr>
        <p:spPr>
          <a:xfrm>
            <a:off x="6291072" y="2304288"/>
            <a:ext cx="1243584" cy="65836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開啟</a:t>
            </a:r>
          </a:p>
        </p:txBody>
      </p:sp>
      <p:sp>
        <p:nvSpPr>
          <p:cNvPr id="16" name="Window segment 2"/>
          <p:cNvSpPr/>
          <p:nvPr/>
        </p:nvSpPr>
        <p:spPr>
          <a:xfrm>
            <a:off x="7598664" y="2304288"/>
            <a:ext cx="950976" cy="65836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關閉</a:t>
            </a:r>
          </a:p>
        </p:txBody>
      </p:sp>
      <p:sp>
        <p:nvSpPr>
          <p:cNvPr id="17" name="Window segment 3"/>
          <p:cNvSpPr/>
          <p:nvPr/>
        </p:nvSpPr>
        <p:spPr>
          <a:xfrm>
            <a:off x="8613648" y="2304288"/>
            <a:ext cx="1353312" cy="658368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開啟</a:t>
            </a:r>
          </a:p>
        </p:txBody>
      </p:sp>
      <p:sp>
        <p:nvSpPr>
          <p:cNvPr id="18" name="Window segment 4"/>
          <p:cNvSpPr/>
          <p:nvPr/>
        </p:nvSpPr>
        <p:spPr>
          <a:xfrm>
            <a:off x="10030968" y="2304288"/>
            <a:ext cx="1060704" cy="658368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縮短</a:t>
            </a:r>
          </a:p>
        </p:txBody>
      </p:sp>
      <p:sp>
        <p:nvSpPr>
          <p:cNvPr id="19" name="Reading order"/>
          <p:cNvSpPr/>
          <p:nvPr/>
        </p:nvSpPr>
        <p:spPr>
          <a:xfrm>
            <a:off x="1143000" y="4169663"/>
            <a:ext cx="9784080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先看窗口，再看動作；最後讀服務與端點能量</a:t>
            </a:r>
          </a:p>
        </p:txBody>
      </p:sp>
      <p:sp>
        <p:nvSpPr>
          <p:cNvPr id="20" name="Field contract scenario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（情境定義）｜來源：course package｜作用：固定端點、窗口與資料規則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單位：identifier｜判讀：相同輸入可重跑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是什麼</a:t>
            </a:r>
          </a:p>
        </p:txBody>
      </p:sp>
      <p:sp>
        <p:nvSpPr>
          <p:cNvPr id="3" name="Simulato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把端點的一次選擇，放進可重複的封包與能量模擬</a:t>
            </a:r>
          </a:p>
        </p:txBody>
      </p:sp>
      <p:sp>
        <p:nvSpPr>
          <p:cNvPr id="4" name="Endpoint concept"/>
          <p:cNvSpPr/>
          <p:nvPr/>
        </p:nvSpPr>
        <p:spPr>
          <a:xfrm>
            <a:off x="841248" y="1664208"/>
            <a:ext cx="2468880" cy="21762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ndpoint heading"/>
          <p:cNvSpPr txBox="1"/>
          <p:nvPr/>
        </p:nvSpPr>
        <p:spPr>
          <a:xfrm>
            <a:off x="1042415" y="1920240"/>
            <a:ext cx="2066543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</a:t>
            </a:r>
          </a:p>
        </p:txBody>
      </p:sp>
      <p:sp>
        <p:nvSpPr>
          <p:cNvPr id="6" name="Endpoint body"/>
          <p:cNvSpPr txBox="1"/>
          <p:nvPr/>
        </p:nvSpPr>
        <p:spPr>
          <a:xfrm>
            <a:off x="1078992" y="2615184"/>
            <a:ext cx="1993392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感測器＋有限電池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產生資料、選擇動作</a:t>
            </a:r>
          </a:p>
        </p:txBody>
      </p:sp>
      <p:sp>
        <p:nvSpPr>
          <p:cNvPr id="7" name="Chevron 6"/>
          <p:cNvSpPr/>
          <p:nvPr/>
        </p:nvSpPr>
        <p:spPr>
          <a:xfrm>
            <a:off x="3493008" y="2468880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ket concept"/>
          <p:cNvSpPr/>
          <p:nvPr/>
        </p:nvSpPr>
        <p:spPr>
          <a:xfrm>
            <a:off x="4041648" y="1664208"/>
            <a:ext cx="3456432" cy="21762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heading"/>
          <p:cNvSpPr txBox="1"/>
          <p:nvPr/>
        </p:nvSpPr>
        <p:spPr>
          <a:xfrm>
            <a:off x="4315968" y="1920240"/>
            <a:ext cx="2907792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資料封包</a:t>
            </a:r>
          </a:p>
        </p:txBody>
      </p:sp>
      <p:sp>
        <p:nvSpPr>
          <p:cNvPr id="10" name="Packet body"/>
          <p:cNvSpPr txBox="1"/>
          <p:nvPr/>
        </p:nvSpPr>
        <p:spPr>
          <a:xfrm>
            <a:off x="4352544" y="2615184"/>
            <a:ext cx="2834640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一份待傳資料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 → 佇列 → 嘗試傳送</a:t>
            </a:r>
          </a:p>
        </p:txBody>
      </p:sp>
      <p:sp>
        <p:nvSpPr>
          <p:cNvPr id="11" name="Chevron 10"/>
          <p:cNvSpPr/>
          <p:nvPr/>
        </p:nvSpPr>
        <p:spPr>
          <a:xfrm>
            <a:off x="7699248" y="2468880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ateway concept"/>
          <p:cNvSpPr/>
          <p:nvPr/>
        </p:nvSpPr>
        <p:spPr>
          <a:xfrm>
            <a:off x="8247888" y="1664208"/>
            <a:ext cx="3054096" cy="21762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ateway heading"/>
          <p:cNvSpPr txBox="1"/>
          <p:nvPr/>
        </p:nvSpPr>
        <p:spPr>
          <a:xfrm>
            <a:off x="8522208" y="1920240"/>
            <a:ext cx="2505456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閘道</a:t>
            </a:r>
          </a:p>
        </p:txBody>
      </p:sp>
      <p:sp>
        <p:nvSpPr>
          <p:cNvPr id="14" name="Gateway body"/>
          <p:cNvSpPr txBox="1"/>
          <p:nvPr/>
        </p:nvSpPr>
        <p:spPr>
          <a:xfrm>
            <a:off x="8540496" y="2615184"/>
            <a:ext cx="2468880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接收資料封包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留下送達、碰撞與重傳事件</a:t>
            </a:r>
          </a:p>
        </p:txBody>
      </p:sp>
      <p:sp>
        <p:nvSpPr>
          <p:cNvPr id="15" name="Simulator question"/>
          <p:cNvSpPr/>
          <p:nvPr/>
        </p:nvSpPr>
        <p:spPr>
          <a:xfrm>
            <a:off x="1133856" y="4169663"/>
            <a:ext cx="9784080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它回答：同一份工作，在等待、休眠或傳送的不同決策下，服務與端點能量（J）如何一起變？</a:t>
            </a:r>
          </a:p>
        </p:txBody>
      </p:sp>
      <p:sp>
        <p:nvSpPr>
          <p:cNvPr id="16" name="Field contract simulato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simulator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（模擬器）｜來源：course package 參照 LoRaEnergySim｜作用：在固定時鐘重播端點、封包與能量假設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單位：一次固定執行｜判讀：產生可比較證據，不是實測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原始上游套件已做什麼</a:t>
            </a:r>
          </a:p>
        </p:txBody>
      </p:sp>
      <p:sp>
        <p:nvSpPr>
          <p:cNvPr id="3" name="Upstream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上游研究模型提供「端點狀態 → 封包事件 → 能量」的可重用能力</a:t>
            </a:r>
          </a:p>
        </p:txBody>
      </p:sp>
      <p:sp>
        <p:nvSpPr>
          <p:cNvPr id="4" name="Upstream capabilities"/>
          <p:cNvSpPr/>
          <p:nvPr/>
        </p:nvSpPr>
        <p:spPr>
          <a:xfrm>
            <a:off x="841248" y="1664208"/>
            <a:ext cx="5084064" cy="25603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stream heading"/>
          <p:cNvSpPr txBox="1"/>
          <p:nvPr/>
        </p:nvSpPr>
        <p:spPr>
          <a:xfrm>
            <a:off x="1115568" y="1901952"/>
            <a:ext cx="453542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上游已有的研究能力</a:t>
            </a:r>
          </a:p>
        </p:txBody>
      </p:sp>
      <p:sp>
        <p:nvSpPr>
          <p:cNvPr id="6" name="Upstream states"/>
          <p:cNvSpPr/>
          <p:nvPr/>
        </p:nvSpPr>
        <p:spPr>
          <a:xfrm>
            <a:off x="1207008" y="2596896"/>
            <a:ext cx="4334256" cy="5486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休眠／處理／發射／接收狀態</a:t>
            </a:r>
          </a:p>
        </p:txBody>
      </p:sp>
      <p:sp>
        <p:nvSpPr>
          <p:cNvPr id="7" name="Upstream packet energy"/>
          <p:cNvSpPr/>
          <p:nvPr/>
        </p:nvSpPr>
        <p:spPr>
          <a:xfrm>
            <a:off x="1207008" y="3310128"/>
            <a:ext cx="4334256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封包、碰撞、重傳、端點能量</a:t>
            </a:r>
          </a:p>
        </p:txBody>
      </p:sp>
      <p:sp>
        <p:nvSpPr>
          <p:cNvPr id="8" name="Course gap"/>
          <p:cNvSpPr/>
          <p:nvPr/>
        </p:nvSpPr>
        <p:spPr>
          <a:xfrm>
            <a:off x="6263640" y="1664208"/>
            <a:ext cx="5084064" cy="256032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urse gap heading"/>
          <p:cNvSpPr txBox="1"/>
          <p:nvPr/>
        </p:nvSpPr>
        <p:spPr>
          <a:xfrm>
            <a:off x="6537960" y="1901952"/>
            <a:ext cx="453542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上游沒有替本課固定的部分</a:t>
            </a:r>
          </a:p>
        </p:txBody>
      </p:sp>
      <p:sp>
        <p:nvSpPr>
          <p:cNvPr id="10" name="Missing scenario"/>
          <p:cNvSpPr/>
          <p:nvPr/>
        </p:nvSpPr>
        <p:spPr>
          <a:xfrm>
            <a:off x="6629400" y="2596896"/>
            <a:ext cx="4334256" cy="5486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固定情境、LEO 服務窗口、案例順序</a:t>
            </a:r>
          </a:p>
        </p:txBody>
      </p:sp>
      <p:sp>
        <p:nvSpPr>
          <p:cNvPr id="11" name="Missing course seam"/>
          <p:cNvSpPr/>
          <p:nvPr/>
        </p:nvSpPr>
        <p:spPr>
          <a:xfrm>
            <a:off x="6629400" y="3310128"/>
            <a:ext cx="4334256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受控策略、結構化匯入、Leo 重播</a:t>
            </a:r>
          </a:p>
        </p:txBody>
      </p:sp>
      <p:sp>
        <p:nvSpPr>
          <p:cNvPr id="12" name="Upstream boundary"/>
          <p:cNvSpPr txBox="1"/>
          <p:nvPr/>
        </p:nvSpPr>
        <p:spPr>
          <a:xfrm>
            <a:off x="1005840" y="4425696"/>
            <a:ext cx="10168128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因此：上游能力是參照；課程流程、案例與證據邊界由本課封裝。</a:t>
            </a:r>
          </a:p>
        </p:txBody>
      </p:sp>
      <p:sp>
        <p:nvSpPr>
          <p:cNvPr id="13" name="Field contract upstream_model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upstream_model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（上游模型能力）｜來源：GillesC/LoRaEnergySim@f854462c｜作用：提供端點狀態、封包與能量概念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單位：能力集合｜判讀：僅是上游能力，不是本課 runner 執行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課程封裝補了什麼</a:t>
            </a:r>
          </a:p>
        </p:txBody>
      </p:sp>
      <p:sp>
        <p:nvSpPr>
          <p:cNvPr id="3" name="Wrappe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把研究模型包成一條可教、可驗、可匯入的固定路徑</a:t>
            </a:r>
          </a:p>
        </p:txBody>
      </p:sp>
      <p:sp>
        <p:nvSpPr>
          <p:cNvPr id="4" name="Course wrapper step 1"/>
          <p:cNvSpPr/>
          <p:nvPr/>
        </p:nvSpPr>
        <p:spPr>
          <a:xfrm>
            <a:off x="841248" y="1682496"/>
            <a:ext cx="2249424" cy="239572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rapper heading 1"/>
          <p:cNvSpPr txBox="1"/>
          <p:nvPr/>
        </p:nvSpPr>
        <p:spPr>
          <a:xfrm>
            <a:off x="987552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固定情境</a:t>
            </a:r>
          </a:p>
        </p:txBody>
      </p:sp>
      <p:sp>
        <p:nvSpPr>
          <p:cNvPr id="6" name="Wrapper body 1"/>
          <p:cNvSpPr txBox="1"/>
          <p:nvPr/>
        </p:nvSpPr>
        <p:spPr>
          <a:xfrm>
            <a:off x="1005840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scenario_id</a:t>
            </a:r>
          </a:p>
        </p:txBody>
      </p:sp>
      <p:sp>
        <p:nvSpPr>
          <p:cNvPr id="7" name="Chevron 6"/>
          <p:cNvSpPr/>
          <p:nvPr/>
        </p:nvSpPr>
        <p:spPr>
          <a:xfrm>
            <a:off x="3200400" y="2615184"/>
            <a:ext cx="292608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urse wrapper step 2"/>
          <p:cNvSpPr/>
          <p:nvPr/>
        </p:nvSpPr>
        <p:spPr>
          <a:xfrm>
            <a:off x="3602736" y="1682496"/>
            <a:ext cx="2249424" cy="23957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rapper heading 2"/>
          <p:cNvSpPr txBox="1"/>
          <p:nvPr/>
        </p:nvSpPr>
        <p:spPr>
          <a:xfrm>
            <a:off x="3749039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受控決策</a:t>
            </a:r>
          </a:p>
        </p:txBody>
      </p:sp>
      <p:sp>
        <p:nvSpPr>
          <p:cNvPr id="10" name="Wrapper body 2"/>
          <p:cNvSpPr txBox="1"/>
          <p:nvPr/>
        </p:nvSpPr>
        <p:spPr>
          <a:xfrm>
            <a:off x="3767328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課程策略插槽；只改 marked block</a:t>
            </a:r>
          </a:p>
        </p:txBody>
      </p:sp>
      <p:sp>
        <p:nvSpPr>
          <p:cNvPr id="11" name="Chevron 10"/>
          <p:cNvSpPr/>
          <p:nvPr/>
        </p:nvSpPr>
        <p:spPr>
          <a:xfrm>
            <a:off x="5961888" y="2615184"/>
            <a:ext cx="292608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urse wrapper step 3"/>
          <p:cNvSpPr/>
          <p:nvPr/>
        </p:nvSpPr>
        <p:spPr>
          <a:xfrm>
            <a:off x="6364224" y="1682496"/>
            <a:ext cx="2249424" cy="239572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rapper heading 3"/>
          <p:cNvSpPr txBox="1"/>
          <p:nvPr/>
        </p:nvSpPr>
        <p:spPr>
          <a:xfrm>
            <a:off x="6510528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本機執行</a:t>
            </a:r>
          </a:p>
        </p:txBody>
      </p:sp>
      <p:sp>
        <p:nvSpPr>
          <p:cNvPr id="14" name="Wrapper body 3"/>
          <p:cNvSpPr txBox="1"/>
          <p:nvPr/>
        </p:nvSpPr>
        <p:spPr>
          <a:xfrm>
            <a:off x="6528816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baseline → candidate → withheld</a:t>
            </a:r>
          </a:p>
        </p:txBody>
      </p:sp>
      <p:sp>
        <p:nvSpPr>
          <p:cNvPr id="15" name="Chevron 14"/>
          <p:cNvSpPr/>
          <p:nvPr/>
        </p:nvSpPr>
        <p:spPr>
          <a:xfrm>
            <a:off x="8723376" y="2615184"/>
            <a:ext cx="292608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urse wrapper step 4"/>
          <p:cNvSpPr/>
          <p:nvPr/>
        </p:nvSpPr>
        <p:spPr>
          <a:xfrm>
            <a:off x="9125712" y="1682496"/>
            <a:ext cx="2249424" cy="239572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Wrapper heading 4"/>
          <p:cNvSpPr txBox="1"/>
          <p:nvPr/>
        </p:nvSpPr>
        <p:spPr>
          <a:xfrm>
            <a:off x="9272016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匯入證據</a:t>
            </a:r>
          </a:p>
        </p:txBody>
      </p:sp>
      <p:sp>
        <p:nvSpPr>
          <p:cNvPr id="18" name="Wrapper body 4"/>
          <p:cNvSpPr txBox="1"/>
          <p:nvPr/>
        </p:nvSpPr>
        <p:spPr>
          <a:xfrm>
            <a:off x="9290304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result.json（結果）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replay（端點重播）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Leo 網站匯入／Workbook</a:t>
            </a:r>
          </a:p>
        </p:txBody>
      </p:sp>
      <p:sp>
        <p:nvSpPr>
          <p:cNvPr id="19" name="Wrapper boundary"/>
          <p:cNvSpPr/>
          <p:nvPr/>
        </p:nvSpPr>
        <p:spPr>
          <a:xfrm>
            <a:off x="1097280" y="4279392"/>
            <a:ext cx="9985248" cy="56692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 是課程策略插槽；runner 不直接執行上游 LoRaEnergySim，上游僅能力參照。</a:t>
            </a:r>
          </a:p>
        </p:txBody>
      </p:sp>
      <p:sp>
        <p:nvSpPr>
          <p:cNvPr id="20" name="Field contract runne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（課程執行器）｜來源：course package｜作用：讀固定 scenario、載入 bounded policy、輸出 result／replay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單位：run artifact｜判讀：把一次修改連到可重播證據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為什麼競賽要用它</a:t>
            </a:r>
          </a:p>
        </p:txBody>
      </p:sp>
      <p:sp>
        <p:nvSpPr>
          <p:cNvPr id="3" name="Competition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先得到可重複的因果證據，再回到 LEO 網站解讀</a:t>
            </a:r>
          </a:p>
        </p:txBody>
      </p:sp>
      <p:sp>
        <p:nvSpPr>
          <p:cNvPr id="4" name="Competition reason 1"/>
          <p:cNvSpPr/>
          <p:nvPr/>
        </p:nvSpPr>
        <p:spPr>
          <a:xfrm>
            <a:off x="841248" y="1664208"/>
            <a:ext cx="3236976" cy="25237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etition heading 1"/>
          <p:cNvSpPr txBox="1"/>
          <p:nvPr/>
        </p:nvSpPr>
        <p:spPr>
          <a:xfrm>
            <a:off x="1005840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可重複</a:t>
            </a:r>
          </a:p>
        </p:txBody>
      </p:sp>
      <p:sp>
        <p:nvSpPr>
          <p:cNvPr id="6" name="Competition body 1"/>
          <p:cNvSpPr txBox="1"/>
          <p:nvPr/>
        </p:nvSpPr>
        <p:spPr>
          <a:xfrm>
            <a:off x="1060704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同一情境、相同策略檔與固定種子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重跑同一條事件路徑</a:t>
            </a:r>
          </a:p>
        </p:txBody>
      </p:sp>
      <p:sp>
        <p:nvSpPr>
          <p:cNvPr id="7" name="Competition reason 2"/>
          <p:cNvSpPr/>
          <p:nvPr/>
        </p:nvSpPr>
        <p:spPr>
          <a:xfrm>
            <a:off x="4361688" y="1664208"/>
            <a:ext cx="3236976" cy="25237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etition heading 2"/>
          <p:cNvSpPr txBox="1"/>
          <p:nvPr/>
        </p:nvSpPr>
        <p:spPr>
          <a:xfrm>
            <a:off x="4526279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可檢驗</a:t>
            </a:r>
          </a:p>
        </p:txBody>
      </p:sp>
      <p:sp>
        <p:nvSpPr>
          <p:cNvPr id="9" name="Competition body 2"/>
          <p:cNvSpPr txBox="1"/>
          <p:nvPr/>
        </p:nvSpPr>
        <p:spPr>
          <a:xfrm>
            <a:off x="4581144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改一個受控區塊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檢查封包／服務／狀態／J 是否改變</a:t>
            </a:r>
          </a:p>
        </p:txBody>
      </p:sp>
      <p:sp>
        <p:nvSpPr>
          <p:cNvPr id="10" name="Competition reason 3"/>
          <p:cNvSpPr/>
          <p:nvPr/>
        </p:nvSpPr>
        <p:spPr>
          <a:xfrm>
            <a:off x="7882127" y="1664208"/>
            <a:ext cx="3236976" cy="25237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petition heading 3"/>
          <p:cNvSpPr txBox="1"/>
          <p:nvPr/>
        </p:nvSpPr>
        <p:spPr>
          <a:xfrm>
            <a:off x="8046719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可轉移</a:t>
            </a:r>
          </a:p>
        </p:txBody>
      </p:sp>
      <p:sp>
        <p:nvSpPr>
          <p:cNvPr id="12" name="Competition body 3"/>
          <p:cNvSpPr txBox="1"/>
          <p:nvPr/>
        </p:nvSpPr>
        <p:spPr>
          <a:xfrm>
            <a:off x="8101583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智慧農業、暖通空調、物流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重訂窗口、期限與能量邊界</a:t>
            </a:r>
          </a:p>
        </p:txBody>
      </p:sp>
      <p:sp>
        <p:nvSpPr>
          <p:cNvPr id="13" name="Competition claim boundary"/>
          <p:cNvSpPr/>
          <p:nvPr/>
        </p:nvSpPr>
        <p:spPr>
          <a:xfrm>
            <a:off x="1005840" y="4407408"/>
            <a:ext cx="10168128" cy="42062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本套件不是即時資料、典範系統指標或整體 LEO 能量；它先建立可反駁的端點因果證據。</a:t>
            </a:r>
          </a:p>
        </p:txBody>
      </p:sp>
      <p:sp>
        <p:nvSpPr>
          <p:cNvPr id="14" name="Field contract eviden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（證據）｜來源：result.json + endpoint replay｜作用：保存 policy → event → service／J 的路徑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單位：record｜判讀：支持 bounded comparison，不擴大 claim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只有 run case 才產生結果檔</a:t>
            </a:r>
          </a:p>
        </p:txBody>
      </p:sp>
      <p:sp>
        <p:nvSpPr>
          <p:cNvPr id="3" name="Artifact gate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setup／verify 只檢查環境；run case 才會寫入一次執行的產物</a:t>
            </a:r>
          </a:p>
        </p:txBody>
      </p:sp>
      <p:sp>
        <p:nvSpPr>
          <p:cNvPr id="4" name="Artifact gate step 1"/>
          <p:cNvSpPr/>
          <p:nvPr/>
        </p:nvSpPr>
        <p:spPr>
          <a:xfrm>
            <a:off x="841248" y="1664208"/>
            <a:ext cx="2788920" cy="257860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57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tifact gate heading 1"/>
          <p:cNvSpPr txBox="1"/>
          <p:nvPr/>
        </p:nvSpPr>
        <p:spPr>
          <a:xfrm>
            <a:off x="98755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setup／verify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環境檢查</a:t>
            </a:r>
          </a:p>
        </p:txBody>
      </p:sp>
      <p:sp>
        <p:nvSpPr>
          <p:cNvPr id="6" name="Artifact gate body 1"/>
          <p:cNvSpPr txBox="1"/>
          <p:nvPr/>
        </p:nvSpPr>
        <p:spPr>
          <a:xfrm>
            <a:off x="104241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套件 package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scenario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策略 policy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不產生此次 run 產物</a:t>
            </a:r>
          </a:p>
        </p:txBody>
      </p:sp>
      <p:sp>
        <p:nvSpPr>
          <p:cNvPr id="7" name="Chevron 6"/>
          <p:cNvSpPr/>
          <p:nvPr/>
        </p:nvSpPr>
        <p:spPr>
          <a:xfrm>
            <a:off x="3730752" y="2670048"/>
            <a:ext cx="310896" cy="438912"/>
          </a:xfrm>
          <a:prstGeom prst="chevron">
            <a:avLst/>
          </a:prstGeom>
          <a:solidFill>
            <a:srgbClr val="657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tifact gate step 2"/>
          <p:cNvSpPr/>
          <p:nvPr/>
        </p:nvSpPr>
        <p:spPr>
          <a:xfrm>
            <a:off x="3995928" y="1664208"/>
            <a:ext cx="2788920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tifact gate heading 2"/>
          <p:cNvSpPr txBox="1"/>
          <p:nvPr/>
        </p:nvSpPr>
        <p:spPr>
          <a:xfrm>
            <a:off x="414223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run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執行案例</a:t>
            </a:r>
          </a:p>
        </p:txBody>
      </p:sp>
      <p:sp>
        <p:nvSpPr>
          <p:cNvPr id="10" name="Artifact gate body 2"/>
          <p:cNvSpPr txBox="1"/>
          <p:nvPr/>
        </p:nvSpPr>
        <p:spPr>
          <a:xfrm>
            <a:off x="419709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本機 runner 依固定輸入模擬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唯一產生結果的動作</a:t>
            </a:r>
          </a:p>
        </p:txBody>
      </p:sp>
      <p:sp>
        <p:nvSpPr>
          <p:cNvPr id="11" name="Chevron 10"/>
          <p:cNvSpPr/>
          <p:nvPr/>
        </p:nvSpPr>
        <p:spPr>
          <a:xfrm>
            <a:off x="6885432" y="2670048"/>
            <a:ext cx="310896" cy="438912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tifact gate step 3"/>
          <p:cNvSpPr/>
          <p:nvPr/>
        </p:nvSpPr>
        <p:spPr>
          <a:xfrm>
            <a:off x="7150608" y="1664208"/>
            <a:ext cx="2788920" cy="25786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tifact gate heading 3"/>
          <p:cNvSpPr txBox="1"/>
          <p:nvPr/>
        </p:nvSpPr>
        <p:spPr>
          <a:xfrm>
            <a:off x="729691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artifacts/&lt;run_id&gt;/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執行產物目錄</a:t>
            </a:r>
          </a:p>
        </p:txBody>
      </p:sp>
      <p:sp>
        <p:nvSpPr>
          <p:cNvPr id="14" name="Artifact gate body 3"/>
          <p:cNvSpPr txBox="1"/>
          <p:nvPr/>
        </p:nvSpPr>
        <p:spPr>
          <a:xfrm>
            <a:off x="735177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result.json（結果）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endpoint-replay.json（端點重播）</a:t>
            </a:r>
          </a:p>
        </p:txBody>
      </p:sp>
      <p:sp>
        <p:nvSpPr>
          <p:cNvPr id="15" name="Artifact gate rule"/>
          <p:cNvSpPr/>
          <p:nvPr/>
        </p:nvSpPr>
        <p:spPr>
          <a:xfrm>
            <a:off x="950976" y="4443984"/>
            <a:ext cx="10241280" cy="43891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只有 run case 會產生 artifacts/&lt;run_id&gt;/result.json 與 endpoint-replay.json；setup／verify 不算。</a:t>
            </a:r>
          </a:p>
        </p:txBody>
      </p:sp>
      <p:sp>
        <p:nvSpPr>
          <p:cNvPr id="16" name="Field contract run artifac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 artifact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（執行產物）｜來源：本機 runner｜作用：保存一次執行的 result 與 endpoint replay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單位：同一 run 目錄｜判讀：只有 run 產生；setup／verify 不算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課程頁 /course 只匯入結果檔</a:t>
            </a:r>
          </a:p>
        </p:txBody>
      </p:sp>
      <p:sp>
        <p:nvSpPr>
          <p:cNvPr id="3" name="Course import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本機 runner 做模擬；網站做驗證、具象化、重播與工作簿</a:t>
            </a:r>
          </a:p>
        </p:txBody>
      </p:sp>
      <p:sp>
        <p:nvSpPr>
          <p:cNvPr id="4" name="Local runner boundary"/>
          <p:cNvSpPr/>
          <p:nvPr/>
        </p:nvSpPr>
        <p:spPr>
          <a:xfrm>
            <a:off x="841248" y="1664208"/>
            <a:ext cx="3657600" cy="25786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cal runner heading"/>
          <p:cNvSpPr txBox="1"/>
          <p:nvPr/>
        </p:nvSpPr>
        <p:spPr>
          <a:xfrm>
            <a:off x="1078992" y="1883664"/>
            <a:ext cx="318211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本機 runner（模擬）</a:t>
            </a:r>
          </a:p>
        </p:txBody>
      </p:sp>
      <p:sp>
        <p:nvSpPr>
          <p:cNvPr id="6" name="Local runner body"/>
          <p:cNvSpPr txBox="1"/>
          <p:nvPr/>
        </p:nvSpPr>
        <p:spPr>
          <a:xfrm>
            <a:off x="1115568" y="2578608"/>
            <a:ext cx="3108960" cy="11887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 終端機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 也使用 Linux 指令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（課程策略插槽）</a:t>
            </a:r>
          </a:p>
        </p:txBody>
      </p:sp>
      <p:sp>
        <p:nvSpPr>
          <p:cNvPr id="7" name="Chevron 6"/>
          <p:cNvSpPr/>
          <p:nvPr/>
        </p:nvSpPr>
        <p:spPr>
          <a:xfrm>
            <a:off x="4617720" y="2633472"/>
            <a:ext cx="420624" cy="51206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urse import boundary"/>
          <p:cNvSpPr/>
          <p:nvPr/>
        </p:nvSpPr>
        <p:spPr>
          <a:xfrm>
            <a:off x="5212080" y="1664208"/>
            <a:ext cx="5980176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urse import heading"/>
          <p:cNvSpPr txBox="1"/>
          <p:nvPr/>
        </p:nvSpPr>
        <p:spPr>
          <a:xfrm>
            <a:off x="5468112" y="1883664"/>
            <a:ext cx="546811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/course（課程頁）只選 result.json</a:t>
            </a:r>
          </a:p>
        </p:txBody>
      </p:sp>
      <p:sp>
        <p:nvSpPr>
          <p:cNvPr id="10" name="Course validation"/>
          <p:cNvSpPr/>
          <p:nvPr/>
        </p:nvSpPr>
        <p:spPr>
          <a:xfrm>
            <a:off x="5577840" y="2578608"/>
            <a:ext cx="1609344" cy="5303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驗證</a:t>
            </a:r>
          </a:p>
        </p:txBody>
      </p:sp>
      <p:sp>
        <p:nvSpPr>
          <p:cNvPr id="11" name="Course materialization"/>
          <p:cNvSpPr/>
          <p:nvPr/>
        </p:nvSpPr>
        <p:spPr>
          <a:xfrm>
            <a:off x="7370064" y="2578608"/>
            <a:ext cx="1609344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具象化</a:t>
            </a:r>
          </a:p>
        </p:txBody>
      </p:sp>
      <p:sp>
        <p:nvSpPr>
          <p:cNvPr id="12" name="Course replay workbook"/>
          <p:cNvSpPr/>
          <p:nvPr/>
        </p:nvSpPr>
        <p:spPr>
          <a:xfrm>
            <a:off x="9162288" y="2578608"/>
            <a:ext cx="1609344" cy="53035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重播／工作簿</a:t>
            </a:r>
          </a:p>
        </p:txBody>
      </p:sp>
      <p:sp>
        <p:nvSpPr>
          <p:cNvPr id="13" name="Course pairing rule"/>
          <p:cNvSpPr txBox="1"/>
          <p:nvPr/>
        </p:nvSpPr>
        <p:spPr>
          <a:xfrm>
            <a:off x="5541264" y="3364992"/>
            <a:ext cx="5321808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 留在同一目錄配對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不選、不上傳 student_policy.py</a:t>
            </a:r>
          </a:p>
        </p:txBody>
      </p:sp>
      <p:sp>
        <p:nvSpPr>
          <p:cNvPr id="14" name="Course upload boundary"/>
          <p:cNvSpPr/>
          <p:nvPr/>
        </p:nvSpPr>
        <p:spPr>
          <a:xfrm>
            <a:off x="969264" y="4443984"/>
            <a:ext cx="10222992" cy="43891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原始檔只在本機 runner 讀取；/course 接收 result.json，不接收 Python。</a:t>
            </a:r>
          </a:p>
        </p:txBody>
      </p:sp>
      <p:sp>
        <p:nvSpPr>
          <p:cNvPr id="15" name="Field contract course impor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 import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（課程匯入）｜來源：/course 控制項｜作用：驗證 result.json，建立重播與工作簿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pair｜判讀：選結果檔；replay 留同目錄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三次匯入，沿同一解讀順序</a:t>
            </a:r>
          </a:p>
        </p:txBody>
      </p:sp>
      <p:sp>
        <p:nvSpPr>
          <p:cNvPr id="3" name="Import orde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baseline → candidate → withheld：每次匯入一對檔案，再按同一順序解讀</a:t>
            </a:r>
          </a:p>
        </p:txBody>
      </p:sp>
      <p:sp>
        <p:nvSpPr>
          <p:cNvPr id="4" name="Import order case 1"/>
          <p:cNvSpPr/>
          <p:nvPr/>
        </p:nvSpPr>
        <p:spPr>
          <a:xfrm>
            <a:off x="841248" y="1664208"/>
            <a:ext cx="2788920" cy="25786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mport order heading 1"/>
          <p:cNvSpPr txBox="1"/>
          <p:nvPr/>
        </p:nvSpPr>
        <p:spPr>
          <a:xfrm>
            <a:off x="987552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</a:t>
            </a:r>
          </a:p>
        </p:txBody>
      </p:sp>
      <p:sp>
        <p:nvSpPr>
          <p:cNvPr id="6" name="Import order files 1"/>
          <p:cNvSpPr txBox="1"/>
          <p:nvPr/>
        </p:nvSpPr>
        <p:spPr>
          <a:xfrm>
            <a:off x="1097280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7" name="Import order observe 1"/>
          <p:cNvSpPr txBox="1"/>
          <p:nvPr/>
        </p:nvSpPr>
        <p:spPr>
          <a:xfrm>
            <a:off x="1042416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先看 service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服務判定</a:t>
            </a:r>
          </a:p>
        </p:txBody>
      </p:sp>
      <p:sp>
        <p:nvSpPr>
          <p:cNvPr id="8" name="Chevron 7"/>
          <p:cNvSpPr/>
          <p:nvPr/>
        </p:nvSpPr>
        <p:spPr>
          <a:xfrm>
            <a:off x="3730752" y="2670048"/>
            <a:ext cx="310896" cy="438912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mport order case 2"/>
          <p:cNvSpPr/>
          <p:nvPr/>
        </p:nvSpPr>
        <p:spPr>
          <a:xfrm>
            <a:off x="3986784" y="1664208"/>
            <a:ext cx="2788920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mport order heading 2"/>
          <p:cNvSpPr txBox="1"/>
          <p:nvPr/>
        </p:nvSpPr>
        <p:spPr>
          <a:xfrm>
            <a:off x="4133088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候選</a:t>
            </a:r>
          </a:p>
        </p:txBody>
      </p:sp>
      <p:sp>
        <p:nvSpPr>
          <p:cNvPr id="11" name="Import order files 2"/>
          <p:cNvSpPr txBox="1"/>
          <p:nvPr/>
        </p:nvSpPr>
        <p:spPr>
          <a:xfrm>
            <a:off x="4242816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12" name="Import order observe 2"/>
          <p:cNvSpPr txBox="1"/>
          <p:nvPr/>
        </p:nvSpPr>
        <p:spPr>
          <a:xfrm>
            <a:off x="4187952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再看 packet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封包事件</a:t>
            </a:r>
          </a:p>
        </p:txBody>
      </p:sp>
      <p:sp>
        <p:nvSpPr>
          <p:cNvPr id="13" name="Chevron 12"/>
          <p:cNvSpPr/>
          <p:nvPr/>
        </p:nvSpPr>
        <p:spPr>
          <a:xfrm>
            <a:off x="6876288" y="2670048"/>
            <a:ext cx="310896" cy="438912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mport order case 3"/>
          <p:cNvSpPr/>
          <p:nvPr/>
        </p:nvSpPr>
        <p:spPr>
          <a:xfrm>
            <a:off x="7132320" y="1664208"/>
            <a:ext cx="2788920" cy="25786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mport order heading 3"/>
          <p:cNvSpPr txBox="1"/>
          <p:nvPr/>
        </p:nvSpPr>
        <p:spPr>
          <a:xfrm>
            <a:off x="7278624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保留反例</a:t>
            </a:r>
          </a:p>
        </p:txBody>
      </p:sp>
      <p:sp>
        <p:nvSpPr>
          <p:cNvPr id="16" name="Import order files 3"/>
          <p:cNvSpPr txBox="1"/>
          <p:nvPr/>
        </p:nvSpPr>
        <p:spPr>
          <a:xfrm>
            <a:off x="7388352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17" name="Import order observe 3"/>
          <p:cNvSpPr txBox="1"/>
          <p:nvPr/>
        </p:nvSpPr>
        <p:spPr>
          <a:xfrm>
            <a:off x="7333488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再看 state → J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狀態 → 端點焦耳</a:t>
            </a:r>
          </a:p>
        </p:txBody>
      </p:sp>
      <p:sp>
        <p:nvSpPr>
          <p:cNvPr id="18" name="Import reading order"/>
          <p:cNvSpPr/>
          <p:nvPr/>
        </p:nvSpPr>
        <p:spPr>
          <a:xfrm>
            <a:off x="896112" y="4425696"/>
            <a:ext cx="7315200" cy="45720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 → packet → state → endpoint J（端點焦耳）</a:t>
            </a:r>
          </a:p>
        </p:txBody>
      </p:sp>
      <p:sp>
        <p:nvSpPr>
          <p:cNvPr id="19" name="Freeze boundary"/>
          <p:cNvSpPr/>
          <p:nvPr/>
        </p:nvSpPr>
        <p:spPr>
          <a:xfrm>
            <a:off x="8412480" y="4297680"/>
            <a:ext cx="2779776" cy="65836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9144" rIns="45720" bIns="9144"/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--freeze（凍結）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額外 receipt／checkpoint；非一般上傳</a:t>
            </a:r>
          </a:p>
        </p:txBody>
      </p:sp>
      <p:sp>
        <p:nvSpPr>
          <p:cNvPr id="20" name="Field contract import orde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import order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（匯入順序）｜來源：/course + 配對 artifacts｜作用：依序比較 baseline、candidate、withheld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單位：三次 JSON pair｜判讀：service→packet→state→endpoint J；freeze 另存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一次動作，同時改變服務與能量</a:t>
            </a:r>
          </a:p>
        </p:txBody>
      </p:sp>
      <p:sp>
        <p:nvSpPr>
          <p:cNvPr id="3" name="Action lead"/>
          <p:cNvSpPr txBox="1"/>
          <p:nvPr/>
        </p:nvSpPr>
        <p:spPr>
          <a:xfrm>
            <a:off x="960120" y="960120"/>
            <a:ext cx="1019556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同一個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會沿不同路徑留下可觀察後果</a:t>
            </a:r>
          </a:p>
        </p:txBody>
      </p:sp>
      <p:sp>
        <p:nvSpPr>
          <p:cNvPr id="4" name="Action card 1"/>
          <p:cNvSpPr/>
          <p:nvPr/>
        </p:nvSpPr>
        <p:spPr>
          <a:xfrm>
            <a:off x="841248" y="1664208"/>
            <a:ext cx="3236976" cy="24688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tion heading 1"/>
          <p:cNvSpPr txBox="1"/>
          <p:nvPr/>
        </p:nvSpPr>
        <p:spPr>
          <a:xfrm>
            <a:off x="1005840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｜低功耗休息</a:t>
            </a:r>
          </a:p>
        </p:txBody>
      </p:sp>
      <p:sp>
        <p:nvSpPr>
          <p:cNvPr id="6" name="Action body 1"/>
          <p:cNvSpPr txBox="1"/>
          <p:nvPr/>
        </p:nvSpPr>
        <p:spPr>
          <a:xfrm>
            <a:off x="1078992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休息功率降低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喚醒延遲與能量增加</a:t>
            </a:r>
          </a:p>
        </p:txBody>
      </p:sp>
      <p:sp>
        <p:nvSpPr>
          <p:cNvPr id="7" name="Action card 2"/>
          <p:cNvSpPr/>
          <p:nvPr/>
        </p:nvSpPr>
        <p:spPr>
          <a:xfrm>
            <a:off x="4361688" y="1664208"/>
            <a:ext cx="3236976" cy="24688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heading 2"/>
          <p:cNvSpPr txBox="1"/>
          <p:nvPr/>
        </p:nvSpPr>
        <p:spPr>
          <a:xfrm>
            <a:off x="4526279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｜清醒等待</a:t>
            </a:r>
          </a:p>
        </p:txBody>
      </p:sp>
      <p:sp>
        <p:nvSpPr>
          <p:cNvPr id="9" name="Action body 2"/>
          <p:cNvSpPr txBox="1"/>
          <p:nvPr/>
        </p:nvSpPr>
        <p:spPr>
          <a:xfrm>
            <a:off x="4599431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反應能力保留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清醒閒置能量累積</a:t>
            </a:r>
          </a:p>
        </p:txBody>
      </p:sp>
      <p:sp>
        <p:nvSpPr>
          <p:cNvPr id="10" name="Action card 3"/>
          <p:cNvSpPr/>
          <p:nvPr/>
        </p:nvSpPr>
        <p:spPr>
          <a:xfrm>
            <a:off x="7882127" y="1664208"/>
            <a:ext cx="3236976" cy="24688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heading 3"/>
          <p:cNvSpPr txBox="1"/>
          <p:nvPr/>
        </p:nvSpPr>
        <p:spPr>
          <a:xfrm>
            <a:off x="8046719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SEND</a:t>
            </a: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｜送出封包</a:t>
            </a:r>
          </a:p>
        </p:txBody>
      </p:sp>
      <p:sp>
        <p:nvSpPr>
          <p:cNvPr id="12" name="Action body 3"/>
          <p:cNvSpPr txBox="1"/>
          <p:nvPr/>
        </p:nvSpPr>
        <p:spPr>
          <a:xfrm>
            <a:off x="8119871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服務機會增加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處理與無線事件增加</a:t>
            </a:r>
          </a:p>
        </p:txBody>
      </p:sp>
      <p:sp>
        <p:nvSpPr>
          <p:cNvPr id="13" name="Service outcome"/>
          <p:cNvSpPr/>
          <p:nvPr/>
        </p:nvSpPr>
        <p:spPr>
          <a:xfrm>
            <a:off x="1847088" y="4325112"/>
            <a:ext cx="3794760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服務結果</a:t>
            </a:r>
          </a:p>
        </p:txBody>
      </p:sp>
      <p:sp>
        <p:nvSpPr>
          <p:cNvPr id="14" name="Energy outcome"/>
          <p:cNvSpPr/>
          <p:nvPr/>
        </p:nvSpPr>
        <p:spPr>
          <a:xfrm>
            <a:off x="6556248" y="4325112"/>
            <a:ext cx="3794760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端點能量（J）</a:t>
            </a:r>
          </a:p>
        </p:txBody>
      </p:sp>
      <p:sp>
        <p:nvSpPr>
          <p:cNvPr id="15" name="Field contract 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（策略動作）｜來源：policy API｜作用：每次決策的唯一輸出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單位：enum｜判讀：觸發狀態與封包轉移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先讀中間事件，再讀最終結果</a:t>
            </a:r>
          </a:p>
        </p:txBody>
      </p:sp>
      <p:sp>
        <p:nvSpPr>
          <p:cNvPr id="3" name="Causal lead"/>
          <p:cNvSpPr txBox="1"/>
          <p:nvPr/>
        </p:nvSpPr>
        <p:spPr>
          <a:xfrm>
            <a:off x="987552" y="941832"/>
            <a:ext cx="1014984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能量或服務差異，必須由中間事件支持</a:t>
            </a:r>
          </a:p>
        </p:txBody>
      </p:sp>
      <p:sp>
        <p:nvSpPr>
          <p:cNvPr id="4" name="Causal node 1"/>
          <p:cNvSpPr/>
          <p:nvPr/>
        </p:nvSpPr>
        <p:spPr>
          <a:xfrm>
            <a:off x="768096" y="1755648"/>
            <a:ext cx="1892807" cy="1335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服務窗口</a:t>
            </a:r>
          </a:p>
        </p:txBody>
      </p:sp>
      <p:sp>
        <p:nvSpPr>
          <p:cNvPr id="5" name="Chevron 4"/>
          <p:cNvSpPr/>
          <p:nvPr/>
        </p:nvSpPr>
        <p:spPr>
          <a:xfrm>
            <a:off x="2734056" y="2167128"/>
            <a:ext cx="347472" cy="47548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usal node 2"/>
          <p:cNvSpPr/>
          <p:nvPr/>
        </p:nvSpPr>
        <p:spPr>
          <a:xfrm>
            <a:off x="3044952" y="1755648"/>
            <a:ext cx="1892807" cy="133502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策略動作</a:t>
            </a:r>
          </a:p>
        </p:txBody>
      </p:sp>
      <p:sp>
        <p:nvSpPr>
          <p:cNvPr id="7" name="Chevron 6"/>
          <p:cNvSpPr/>
          <p:nvPr/>
        </p:nvSpPr>
        <p:spPr>
          <a:xfrm>
            <a:off x="5010912" y="2167128"/>
            <a:ext cx="347472" cy="47548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node 3"/>
          <p:cNvSpPr/>
          <p:nvPr/>
        </p:nvSpPr>
        <p:spPr>
          <a:xfrm>
            <a:off x="5321808" y="1755648"/>
            <a:ext cx="1892807" cy="13350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無線狀態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封包事件</a:t>
            </a:r>
          </a:p>
        </p:txBody>
      </p:sp>
      <p:sp>
        <p:nvSpPr>
          <p:cNvPr id="9" name="Chevron 8"/>
          <p:cNvSpPr/>
          <p:nvPr/>
        </p:nvSpPr>
        <p:spPr>
          <a:xfrm>
            <a:off x="7287768" y="2167128"/>
            <a:ext cx="347472" cy="47548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usal node 4"/>
          <p:cNvSpPr/>
          <p:nvPr/>
        </p:nvSpPr>
        <p:spPr>
          <a:xfrm>
            <a:off x="7598664" y="1755648"/>
            <a:ext cx="1892807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服務判定</a:t>
            </a:r>
          </a:p>
        </p:txBody>
      </p:sp>
      <p:sp>
        <p:nvSpPr>
          <p:cNvPr id="11" name="Chevron 10"/>
          <p:cNvSpPr/>
          <p:nvPr/>
        </p:nvSpPr>
        <p:spPr>
          <a:xfrm>
            <a:off x="9564624" y="2167128"/>
            <a:ext cx="347472" cy="47548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usal node 5"/>
          <p:cNvSpPr/>
          <p:nvPr/>
        </p:nvSpPr>
        <p:spPr>
          <a:xfrm>
            <a:off x="9875520" y="1755648"/>
            <a:ext cx="1892807" cy="133502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</p:txBody>
      </p:sp>
      <p:sp>
        <p:nvSpPr>
          <p:cNvPr id="13" name="Closed-window branch"/>
          <p:cNvSpPr/>
          <p:nvPr/>
        </p:nvSpPr>
        <p:spPr>
          <a:xfrm>
            <a:off x="1024128" y="3447288"/>
            <a:ext cx="10104120" cy="65836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窗口關閉 → 傳輸類動作不執行 → 安全分支為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4" name="Attribution rule"/>
          <p:cNvSpPr txBox="1"/>
          <p:nvPr/>
        </p:nvSpPr>
        <p:spPr>
          <a:xfrm>
            <a:off x="1133856" y="4288536"/>
            <a:ext cx="989380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若中間事件沒有差異，最後的數值變化不得歸因於本次修改。</a:t>
            </a:r>
          </a:p>
        </p:txBody>
      </p:sp>
      <p:sp>
        <p:nvSpPr>
          <p:cNvPr id="15" name="Field contract radio_stat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radio_state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（無線狀態）｜來源：runner event ledger｜作用：表示各狀態區間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 enum + duration｜判讀：提供端點能量的時間分段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固定情境中的四步操作閉環</a:t>
            </a:r>
          </a:p>
        </p:txBody>
      </p:sp>
      <p:sp>
        <p:nvSpPr>
          <p:cNvPr id="3" name="Loop lead"/>
          <p:cNvSpPr txBox="1"/>
          <p:nvPr/>
        </p:nvSpPr>
        <p:spPr>
          <a:xfrm>
            <a:off x="987552" y="932688"/>
            <a:ext cx="1013155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只改一個受控常數，再沿同一條證據路徑比較</a:t>
            </a:r>
          </a:p>
        </p:txBody>
      </p:sp>
      <p:sp>
        <p:nvSpPr>
          <p:cNvPr id="4" name="Loop step 01"/>
          <p:cNvSpPr/>
          <p:nvPr/>
        </p:nvSpPr>
        <p:spPr>
          <a:xfrm>
            <a:off x="841248" y="1664208"/>
            <a:ext cx="2487168" cy="24048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op number 01"/>
          <p:cNvSpPr txBox="1"/>
          <p:nvPr/>
        </p:nvSpPr>
        <p:spPr>
          <a:xfrm>
            <a:off x="1005840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</a:t>
            </a:r>
          </a:p>
        </p:txBody>
      </p:sp>
      <p:sp>
        <p:nvSpPr>
          <p:cNvPr id="6" name="Loop heading 01"/>
          <p:cNvSpPr txBox="1"/>
          <p:nvPr/>
        </p:nvSpPr>
        <p:spPr>
          <a:xfrm>
            <a:off x="1554480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</a:t>
            </a:r>
          </a:p>
        </p:txBody>
      </p:sp>
      <p:sp>
        <p:nvSpPr>
          <p:cNvPr id="7" name="Loop body 01"/>
          <p:cNvSpPr txBox="1"/>
          <p:nvPr/>
        </p:nvSpPr>
        <p:spPr>
          <a:xfrm>
            <a:off x="1042416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</p:txBody>
      </p:sp>
      <p:sp>
        <p:nvSpPr>
          <p:cNvPr id="8" name="Chevron 7"/>
          <p:cNvSpPr/>
          <p:nvPr/>
        </p:nvSpPr>
        <p:spPr>
          <a:xfrm>
            <a:off x="3429000" y="2615184"/>
            <a:ext cx="329184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op step 02"/>
          <p:cNvSpPr/>
          <p:nvPr/>
        </p:nvSpPr>
        <p:spPr>
          <a:xfrm>
            <a:off x="3639312" y="1664208"/>
            <a:ext cx="2487168" cy="24048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op number 02"/>
          <p:cNvSpPr txBox="1"/>
          <p:nvPr/>
        </p:nvSpPr>
        <p:spPr>
          <a:xfrm>
            <a:off x="3803904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</a:t>
            </a:r>
          </a:p>
        </p:txBody>
      </p:sp>
      <p:sp>
        <p:nvSpPr>
          <p:cNvPr id="11" name="Loop heading 02"/>
          <p:cNvSpPr txBox="1"/>
          <p:nvPr/>
        </p:nvSpPr>
        <p:spPr>
          <a:xfrm>
            <a:off x="4352544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執行</a:t>
            </a:r>
          </a:p>
        </p:txBody>
      </p:sp>
      <p:sp>
        <p:nvSpPr>
          <p:cNvPr id="12" name="Loop body 02"/>
          <p:cNvSpPr txBox="1"/>
          <p:nvPr/>
        </p:nvSpPr>
        <p:spPr>
          <a:xfrm>
            <a:off x="3840480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固定輸入</a:t>
            </a:r>
          </a:p>
        </p:txBody>
      </p:sp>
      <p:sp>
        <p:nvSpPr>
          <p:cNvPr id="13" name="Chevron 12"/>
          <p:cNvSpPr/>
          <p:nvPr/>
        </p:nvSpPr>
        <p:spPr>
          <a:xfrm>
            <a:off x="6227064" y="2615184"/>
            <a:ext cx="329184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oop step 03"/>
          <p:cNvSpPr/>
          <p:nvPr/>
        </p:nvSpPr>
        <p:spPr>
          <a:xfrm>
            <a:off x="6437376" y="1664208"/>
            <a:ext cx="2487168" cy="24048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oop number 03"/>
          <p:cNvSpPr txBox="1"/>
          <p:nvPr/>
        </p:nvSpPr>
        <p:spPr>
          <a:xfrm>
            <a:off x="6601968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</a:t>
            </a:r>
          </a:p>
        </p:txBody>
      </p:sp>
      <p:sp>
        <p:nvSpPr>
          <p:cNvPr id="16" name="Loop heading 03"/>
          <p:cNvSpPr txBox="1"/>
          <p:nvPr/>
        </p:nvSpPr>
        <p:spPr>
          <a:xfrm>
            <a:off x="7150608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</a:t>
            </a:r>
          </a:p>
        </p:txBody>
      </p:sp>
      <p:sp>
        <p:nvSpPr>
          <p:cNvPr id="17" name="Loop body 03"/>
          <p:cNvSpPr txBox="1"/>
          <p:nvPr/>
        </p:nvSpPr>
        <p:spPr>
          <a:xfrm>
            <a:off x="6638544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狀態、封包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服務、能量</a:t>
            </a:r>
          </a:p>
        </p:txBody>
      </p:sp>
      <p:sp>
        <p:nvSpPr>
          <p:cNvPr id="18" name="Chevron 17"/>
          <p:cNvSpPr/>
          <p:nvPr/>
        </p:nvSpPr>
        <p:spPr>
          <a:xfrm>
            <a:off x="9025128" y="2615184"/>
            <a:ext cx="329184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oop step 04"/>
          <p:cNvSpPr/>
          <p:nvPr/>
        </p:nvSpPr>
        <p:spPr>
          <a:xfrm>
            <a:off x="9235440" y="1664208"/>
            <a:ext cx="2487168" cy="240487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oop number 04"/>
          <p:cNvSpPr txBox="1"/>
          <p:nvPr/>
        </p:nvSpPr>
        <p:spPr>
          <a:xfrm>
            <a:off x="9400032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04</a:t>
            </a:r>
          </a:p>
        </p:txBody>
      </p:sp>
      <p:sp>
        <p:nvSpPr>
          <p:cNvPr id="21" name="Loop heading 04"/>
          <p:cNvSpPr txBox="1"/>
          <p:nvPr/>
        </p:nvSpPr>
        <p:spPr>
          <a:xfrm>
            <a:off x="9948672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解釋</a:t>
            </a:r>
          </a:p>
        </p:txBody>
      </p:sp>
      <p:sp>
        <p:nvSpPr>
          <p:cNvPr id="22" name="Loop body 04"/>
          <p:cNvSpPr txBox="1"/>
          <p:nvPr/>
        </p:nvSpPr>
        <p:spPr>
          <a:xfrm>
            <a:off x="9436608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動作 → 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→ 結果</a:t>
            </a:r>
          </a:p>
        </p:txBody>
      </p:sp>
      <p:sp>
        <p:nvSpPr>
          <p:cNvPr id="23" name="Loop evidence rule"/>
          <p:cNvSpPr txBox="1"/>
          <p:nvPr/>
        </p:nvSpPr>
        <p:spPr>
          <a:xfrm>
            <a:off x="1078992" y="4315968"/>
            <a:ext cx="10021824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預測與結果同時保存；反例保留為可檢驗證據。</a:t>
            </a:r>
          </a:p>
        </p:txBody>
      </p:sp>
      <p:sp>
        <p:nvSpPr>
          <p:cNvPr id="24" name="Field contract result.js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（結果資料檔）｜來源：package runner｜作用：保存 run identity、狀態、封包、服務與能量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artifact｜判讀：作為 replay 與 import 的輸入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中間事件是因果歸因的必要橋樑</a:t>
            </a:r>
          </a:p>
        </p:txBody>
      </p:sp>
      <p:sp>
        <p:nvSpPr>
          <p:cNvPr id="3" name="Comparison lead"/>
          <p:cNvSpPr txBox="1"/>
          <p:nvPr/>
        </p:nvSpPr>
        <p:spPr>
          <a:xfrm>
            <a:off x="896112" y="941832"/>
            <a:ext cx="1040587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同一觀測下，比較基準與候選策略的事件路徑</a:t>
            </a:r>
          </a:p>
        </p:txBody>
      </p:sp>
      <p:sp>
        <p:nvSpPr>
          <p:cNvPr id="4" name="Shared observation top"/>
          <p:cNvSpPr/>
          <p:nvPr/>
        </p:nvSpPr>
        <p:spPr>
          <a:xfrm>
            <a:off x="841248" y="1609344"/>
            <a:ext cx="1572768" cy="9326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</a:t>
            </a:r>
          </a:p>
        </p:txBody>
      </p:sp>
      <p:sp>
        <p:nvSpPr>
          <p:cNvPr id="5" name="Shared observation bottom"/>
          <p:cNvSpPr/>
          <p:nvPr/>
        </p:nvSpPr>
        <p:spPr>
          <a:xfrm>
            <a:off x="841248" y="2926080"/>
            <a:ext cx="1572768" cy="9326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</a:t>
            </a:r>
          </a:p>
        </p:txBody>
      </p:sp>
      <p:sp>
        <p:nvSpPr>
          <p:cNvPr id="6" name="Chevron 5"/>
          <p:cNvSpPr/>
          <p:nvPr/>
        </p:nvSpPr>
        <p:spPr>
          <a:xfrm>
            <a:off x="2496312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icy lane 1"/>
          <p:cNvSpPr/>
          <p:nvPr/>
        </p:nvSpPr>
        <p:spPr>
          <a:xfrm>
            <a:off x="2871216" y="1572768"/>
            <a:ext cx="1938528" cy="10058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基準策略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動作 A</a:t>
            </a:r>
          </a:p>
        </p:txBody>
      </p:sp>
      <p:sp>
        <p:nvSpPr>
          <p:cNvPr id="8" name="Chevron 7"/>
          <p:cNvSpPr/>
          <p:nvPr/>
        </p:nvSpPr>
        <p:spPr>
          <a:xfrm>
            <a:off x="4892040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vent lane 1"/>
          <p:cNvSpPr/>
          <p:nvPr/>
        </p:nvSpPr>
        <p:spPr>
          <a:xfrm>
            <a:off x="5285232" y="1572768"/>
            <a:ext cx="2304288" cy="100584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事件路徑 A</a:t>
            </a:r>
          </a:p>
        </p:txBody>
      </p:sp>
      <p:sp>
        <p:nvSpPr>
          <p:cNvPr id="10" name="Chevron 9"/>
          <p:cNvSpPr/>
          <p:nvPr/>
        </p:nvSpPr>
        <p:spPr>
          <a:xfrm>
            <a:off x="7680960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sult lane 1"/>
          <p:cNvSpPr/>
          <p:nvPr/>
        </p:nvSpPr>
        <p:spPr>
          <a:xfrm>
            <a:off x="8074152" y="1572768"/>
            <a:ext cx="3154680" cy="10058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服務／能量 A</a:t>
            </a:r>
          </a:p>
        </p:txBody>
      </p:sp>
      <p:sp>
        <p:nvSpPr>
          <p:cNvPr id="12" name="Chevron 11"/>
          <p:cNvSpPr/>
          <p:nvPr/>
        </p:nvSpPr>
        <p:spPr>
          <a:xfrm>
            <a:off x="2496312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lane 2"/>
          <p:cNvSpPr/>
          <p:nvPr/>
        </p:nvSpPr>
        <p:spPr>
          <a:xfrm>
            <a:off x="2871216" y="2889504"/>
            <a:ext cx="1938528" cy="10058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候選策略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動作 B</a:t>
            </a:r>
          </a:p>
        </p:txBody>
      </p:sp>
      <p:sp>
        <p:nvSpPr>
          <p:cNvPr id="14" name="Chevron 13"/>
          <p:cNvSpPr/>
          <p:nvPr/>
        </p:nvSpPr>
        <p:spPr>
          <a:xfrm>
            <a:off x="4892040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vent lane 2"/>
          <p:cNvSpPr/>
          <p:nvPr/>
        </p:nvSpPr>
        <p:spPr>
          <a:xfrm>
            <a:off x="5285232" y="2889504"/>
            <a:ext cx="2304288" cy="100584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事件路徑 B</a:t>
            </a:r>
          </a:p>
        </p:txBody>
      </p:sp>
      <p:sp>
        <p:nvSpPr>
          <p:cNvPr id="16" name="Chevron 15"/>
          <p:cNvSpPr/>
          <p:nvPr/>
        </p:nvSpPr>
        <p:spPr>
          <a:xfrm>
            <a:off x="7680960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sult lane 2"/>
          <p:cNvSpPr/>
          <p:nvPr/>
        </p:nvSpPr>
        <p:spPr>
          <a:xfrm>
            <a:off x="8074152" y="2889504"/>
            <a:ext cx="3154680" cy="10058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服務／能量 B</a:t>
            </a:r>
          </a:p>
        </p:txBody>
      </p:sp>
      <p:sp>
        <p:nvSpPr>
          <p:cNvPr id="18" name="Causal comparison rule"/>
          <p:cNvSpPr txBox="1"/>
          <p:nvPr/>
        </p:nvSpPr>
        <p:spPr>
          <a:xfrm>
            <a:off x="960120" y="4242816"/>
            <a:ext cx="1022299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先確認事件路徑不同，才比較服務與能量。</a:t>
            </a:r>
          </a:p>
        </p:txBody>
      </p:sp>
      <p:sp>
        <p:nvSpPr>
          <p:cNvPr id="19" name="Field contract packet_progres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packet_progress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（封包進度）｜來源：result／replay artifact｜作用：記錄產生、佇列、嘗試、重試、送達與逾期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單位：event count + time｜判讀：連接策略動作與服務結果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 證據有明確邊界</a:t>
            </a:r>
          </a:p>
        </p:txBody>
      </p:sp>
      <p:sp>
        <p:nvSpPr>
          <p:cNvPr id="3" name="Evidence lead"/>
          <p:cNvSpPr txBox="1"/>
          <p:nvPr/>
        </p:nvSpPr>
        <p:spPr>
          <a:xfrm>
            <a:off x="941832" y="932688"/>
            <a:ext cx="10259568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可重跑，不等於可以外推到所有能量層級</a:t>
            </a:r>
          </a:p>
        </p:txBody>
      </p:sp>
      <p:sp>
        <p:nvSpPr>
          <p:cNvPr id="4" name="Supported evidence"/>
          <p:cNvSpPr/>
          <p:nvPr/>
        </p:nvSpPr>
        <p:spPr>
          <a:xfrm>
            <a:off x="841248" y="1627632"/>
            <a:ext cx="5084064" cy="29077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nsupported evidence"/>
          <p:cNvSpPr/>
          <p:nvPr/>
        </p:nvSpPr>
        <p:spPr>
          <a:xfrm>
            <a:off x="6263640" y="1627632"/>
            <a:ext cx="5084064" cy="290779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pported heading"/>
          <p:cNvSpPr txBox="1"/>
          <p:nvPr/>
        </p:nvSpPr>
        <p:spPr>
          <a:xfrm>
            <a:off x="1115568" y="1828800"/>
            <a:ext cx="4535424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本套件可支持</a:t>
            </a:r>
          </a:p>
        </p:txBody>
      </p:sp>
      <p:sp>
        <p:nvSpPr>
          <p:cNvPr id="7" name="Supported body"/>
          <p:cNvSpPr txBox="1"/>
          <p:nvPr/>
        </p:nvSpPr>
        <p:spPr>
          <a:xfrm>
            <a:off x="1243584" y="2496312"/>
            <a:ext cx="4279392" cy="15544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scenario／seed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端點狀態與封包事件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服務判定與端點 J</a:t>
            </a:r>
          </a:p>
        </p:txBody>
      </p:sp>
      <p:sp>
        <p:nvSpPr>
          <p:cNvPr id="8" name="Unsupported heading"/>
          <p:cNvSpPr txBox="1"/>
          <p:nvPr/>
        </p:nvSpPr>
        <p:spPr>
          <a:xfrm>
            <a:off x="6537960" y="1828800"/>
            <a:ext cx="4535424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本套件不支持</a:t>
            </a:r>
          </a:p>
        </p:txBody>
      </p:sp>
      <p:sp>
        <p:nvSpPr>
          <p:cNvPr id="9" name="Unsupported body"/>
          <p:cNvSpPr txBox="1"/>
          <p:nvPr/>
        </p:nvSpPr>
        <p:spPr>
          <a:xfrm>
            <a:off x="6711696" y="2496312"/>
            <a:ext cx="4187952" cy="15544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LEO／system energy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canonical efficiency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實測或即時 KPI</a:t>
            </a:r>
          </a:p>
        </p:txBody>
      </p:sp>
      <p:sp>
        <p:nvSpPr>
          <p:cNvPr id="10" name="Field contract endpoint_energy_j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（端點能量）｜來源：endpoint radio／processing model｜作用：累積狀態能量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單位：J｜判讀：只屬於 endpoint evidence layer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是變動服務窗口的工作範例</a:t>
            </a:r>
          </a:p>
        </p:txBody>
      </p:sp>
      <p:sp>
        <p:nvSpPr>
          <p:cNvPr id="3" name="LEO lead"/>
          <p:cNvSpPr txBox="1"/>
          <p:nvPr/>
        </p:nvSpPr>
        <p:spPr>
          <a:xfrm>
            <a:off x="950976" y="932688"/>
            <a:ext cx="1024128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改變可服務機會；主要控制仍在端點策略</a:t>
            </a:r>
          </a:p>
        </p:txBody>
      </p:sp>
      <p:sp>
        <p:nvSpPr>
          <p:cNvPr id="4" name="LEO opportunity"/>
          <p:cNvSpPr/>
          <p:nvPr/>
        </p:nvSpPr>
        <p:spPr>
          <a:xfrm>
            <a:off x="859536" y="1609344"/>
            <a:ext cx="1920240" cy="9875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低地球軌道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服務機會</a:t>
            </a:r>
          </a:p>
        </p:txBody>
      </p:sp>
      <p:sp>
        <p:nvSpPr>
          <p:cNvPr id="5" name="Chevron 4"/>
          <p:cNvSpPr/>
          <p:nvPr/>
        </p:nvSpPr>
        <p:spPr>
          <a:xfrm>
            <a:off x="2907792" y="1865376"/>
            <a:ext cx="384048" cy="47548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O window timeline"/>
          <p:cNvSpPr/>
          <p:nvPr/>
        </p:nvSpPr>
        <p:spPr>
          <a:xfrm>
            <a:off x="3383280" y="1444752"/>
            <a:ext cx="5321808" cy="13167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O timeline segment 1"/>
          <p:cNvSpPr/>
          <p:nvPr/>
        </p:nvSpPr>
        <p:spPr>
          <a:xfrm>
            <a:off x="3611880" y="1837943"/>
            <a:ext cx="1371600" cy="512064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窗口開啟</a:t>
            </a:r>
          </a:p>
        </p:txBody>
      </p:sp>
      <p:sp>
        <p:nvSpPr>
          <p:cNvPr id="8" name="LEO timeline segment 2"/>
          <p:cNvSpPr/>
          <p:nvPr/>
        </p:nvSpPr>
        <p:spPr>
          <a:xfrm>
            <a:off x="5038344" y="1837943"/>
            <a:ext cx="1207008" cy="512064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品質下降</a:t>
            </a:r>
          </a:p>
        </p:txBody>
      </p:sp>
      <p:sp>
        <p:nvSpPr>
          <p:cNvPr id="9" name="LEO timeline segment 3"/>
          <p:cNvSpPr/>
          <p:nvPr/>
        </p:nvSpPr>
        <p:spPr>
          <a:xfrm>
            <a:off x="6300216" y="1837943"/>
            <a:ext cx="1152144" cy="5120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</a:t>
            </a:r>
          </a:p>
        </p:txBody>
      </p:sp>
      <p:sp>
        <p:nvSpPr>
          <p:cNvPr id="10" name="LEO timeline segment 4"/>
          <p:cNvSpPr/>
          <p:nvPr/>
        </p:nvSpPr>
        <p:spPr>
          <a:xfrm>
            <a:off x="7507223" y="1837943"/>
            <a:ext cx="1243584" cy="512064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再度開啟</a:t>
            </a:r>
          </a:p>
        </p:txBody>
      </p:sp>
      <p:sp>
        <p:nvSpPr>
          <p:cNvPr id="11" name="Chevron 10"/>
          <p:cNvSpPr/>
          <p:nvPr/>
        </p:nvSpPr>
        <p:spPr>
          <a:xfrm>
            <a:off x="8833104" y="1865376"/>
            <a:ext cx="384048" cy="47548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ndpoint choice"/>
          <p:cNvSpPr/>
          <p:nvPr/>
        </p:nvSpPr>
        <p:spPr>
          <a:xfrm>
            <a:off x="9326880" y="1609344"/>
            <a:ext cx="1975104" cy="98755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等待／休息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／送出</a:t>
            </a:r>
          </a:p>
        </p:txBody>
      </p:sp>
      <p:sp>
        <p:nvSpPr>
          <p:cNvPr id="13" name="Transfer rule"/>
          <p:cNvSpPr txBox="1"/>
          <p:nvPr/>
        </p:nvSpPr>
        <p:spPr>
          <a:xfrm>
            <a:off x="914400" y="3035808"/>
            <a:ext cx="1031443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相同機制可以轉移；窗口、期限與能量邊界必須重新定義。</a:t>
            </a:r>
          </a:p>
        </p:txBody>
      </p:sp>
      <p:sp>
        <p:nvSpPr>
          <p:cNvPr id="14" name="Transfer example 1"/>
          <p:cNvSpPr/>
          <p:nvPr/>
        </p:nvSpPr>
        <p:spPr>
          <a:xfrm>
            <a:off x="1060704" y="3584448"/>
            <a:ext cx="2788920" cy="78638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暖通空調｜低負載時段</a:t>
            </a:r>
          </a:p>
        </p:txBody>
      </p:sp>
      <p:sp>
        <p:nvSpPr>
          <p:cNvPr id="15" name="Transfer example 2"/>
          <p:cNvSpPr/>
          <p:nvPr/>
        </p:nvSpPr>
        <p:spPr>
          <a:xfrm>
            <a:off x="4297680" y="3584448"/>
            <a:ext cx="2788920" cy="7863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邊緣閘道｜可連線時段</a:t>
            </a:r>
          </a:p>
        </p:txBody>
      </p:sp>
      <p:sp>
        <p:nvSpPr>
          <p:cNvPr id="16" name="Transfer example 3"/>
          <p:cNvSpPr/>
          <p:nvPr/>
        </p:nvSpPr>
        <p:spPr>
          <a:xfrm>
            <a:off x="7534656" y="3584448"/>
            <a:ext cx="2788920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物流追蹤｜回報機會</a:t>
            </a:r>
          </a:p>
        </p:txBody>
      </p:sp>
      <p:sp>
        <p:nvSpPr>
          <p:cNvPr id="17" name="Field contract service_window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service_window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（服務窗口）｜來源：fixed scenario trace｜作用：定義合法傳輸區間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單位：trace time｜判讀：決定動作是否具有服務機會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從預測到結果，保留可反駁路徑</a:t>
            </a:r>
          </a:p>
        </p:txBody>
      </p:sp>
      <p:sp>
        <p:nvSpPr>
          <p:cNvPr id="3" name="Prediction lead"/>
          <p:cNvSpPr txBox="1"/>
          <p:nvPr/>
        </p:nvSpPr>
        <p:spPr>
          <a:xfrm>
            <a:off x="950976" y="932688"/>
            <a:ext cx="1024128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先寫下方向，再執行；結果不符時保留反例</a:t>
            </a:r>
          </a:p>
        </p:txBody>
      </p:sp>
      <p:sp>
        <p:nvSpPr>
          <p:cNvPr id="4" name="Prediction step 01"/>
          <p:cNvSpPr/>
          <p:nvPr/>
        </p:nvSpPr>
        <p:spPr>
          <a:xfrm>
            <a:off x="841248" y="1645920"/>
            <a:ext cx="2286000" cy="23317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ediction number 01"/>
          <p:cNvSpPr txBox="1"/>
          <p:nvPr/>
        </p:nvSpPr>
        <p:spPr>
          <a:xfrm>
            <a:off x="1005840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</a:t>
            </a:r>
          </a:p>
        </p:txBody>
      </p:sp>
      <p:sp>
        <p:nvSpPr>
          <p:cNvPr id="6" name="Prediction heading 01"/>
          <p:cNvSpPr txBox="1"/>
          <p:nvPr/>
        </p:nvSpPr>
        <p:spPr>
          <a:xfrm>
            <a:off x="1499616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記錄預測</a:t>
            </a:r>
          </a:p>
        </p:txBody>
      </p:sp>
      <p:sp>
        <p:nvSpPr>
          <p:cNvPr id="7" name="Prediction body 01"/>
          <p:cNvSpPr txBox="1"/>
          <p:nvPr/>
        </p:nvSpPr>
        <p:spPr>
          <a:xfrm>
            <a:off x="1042416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狀態／封包／服務／J</a:t>
            </a:r>
          </a:p>
        </p:txBody>
      </p:sp>
      <p:sp>
        <p:nvSpPr>
          <p:cNvPr id="8" name="Chevron 7"/>
          <p:cNvSpPr/>
          <p:nvPr/>
        </p:nvSpPr>
        <p:spPr>
          <a:xfrm>
            <a:off x="3200400" y="2532888"/>
            <a:ext cx="292608" cy="402336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ediction step 02"/>
          <p:cNvSpPr/>
          <p:nvPr/>
        </p:nvSpPr>
        <p:spPr>
          <a:xfrm>
            <a:off x="3566160" y="1645920"/>
            <a:ext cx="2286000" cy="23317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ediction number 02"/>
          <p:cNvSpPr txBox="1"/>
          <p:nvPr/>
        </p:nvSpPr>
        <p:spPr>
          <a:xfrm>
            <a:off x="3730752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</a:t>
            </a:r>
          </a:p>
        </p:txBody>
      </p:sp>
      <p:sp>
        <p:nvSpPr>
          <p:cNvPr id="11" name="Prediction heading 02"/>
          <p:cNvSpPr txBox="1"/>
          <p:nvPr/>
        </p:nvSpPr>
        <p:spPr>
          <a:xfrm>
            <a:off x="4224528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受控修改</a:t>
            </a:r>
          </a:p>
        </p:txBody>
      </p:sp>
      <p:sp>
        <p:nvSpPr>
          <p:cNvPr id="12" name="Prediction body 02"/>
          <p:cNvSpPr txBox="1"/>
          <p:nvPr/>
        </p:nvSpPr>
        <p:spPr>
          <a:xfrm>
            <a:off x="3767328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一次一個常數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5312" y="2532888"/>
            <a:ext cx="292608" cy="402336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ediction step 03"/>
          <p:cNvSpPr/>
          <p:nvPr/>
        </p:nvSpPr>
        <p:spPr>
          <a:xfrm>
            <a:off x="6291072" y="1645920"/>
            <a:ext cx="2286000" cy="23317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ediction number 03"/>
          <p:cNvSpPr txBox="1"/>
          <p:nvPr/>
        </p:nvSpPr>
        <p:spPr>
          <a:xfrm>
            <a:off x="6455664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</a:t>
            </a:r>
          </a:p>
        </p:txBody>
      </p:sp>
      <p:sp>
        <p:nvSpPr>
          <p:cNvPr id="16" name="Prediction heading 03"/>
          <p:cNvSpPr txBox="1"/>
          <p:nvPr/>
        </p:nvSpPr>
        <p:spPr>
          <a:xfrm>
            <a:off x="6949440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精確執行</a:t>
            </a:r>
          </a:p>
        </p:txBody>
      </p:sp>
      <p:sp>
        <p:nvSpPr>
          <p:cNvPr id="17" name="Prediction body 03"/>
          <p:cNvSpPr txBox="1"/>
          <p:nvPr/>
        </p:nvSpPr>
        <p:spPr>
          <a:xfrm>
            <a:off x="6492240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case 與輸入</a:t>
            </a:r>
          </a:p>
        </p:txBody>
      </p:sp>
      <p:sp>
        <p:nvSpPr>
          <p:cNvPr id="18" name="Chevron 17"/>
          <p:cNvSpPr/>
          <p:nvPr/>
        </p:nvSpPr>
        <p:spPr>
          <a:xfrm>
            <a:off x="8650224" y="2532888"/>
            <a:ext cx="292608" cy="40233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ediction step 04"/>
          <p:cNvSpPr/>
          <p:nvPr/>
        </p:nvSpPr>
        <p:spPr>
          <a:xfrm>
            <a:off x="9015984" y="1645920"/>
            <a:ext cx="2286000" cy="23317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ediction number 04"/>
          <p:cNvSpPr txBox="1"/>
          <p:nvPr/>
        </p:nvSpPr>
        <p:spPr>
          <a:xfrm>
            <a:off x="9180576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04</a:t>
            </a:r>
          </a:p>
        </p:txBody>
      </p:sp>
      <p:sp>
        <p:nvSpPr>
          <p:cNvPr id="21" name="Prediction heading 04"/>
          <p:cNvSpPr txBox="1"/>
          <p:nvPr/>
        </p:nvSpPr>
        <p:spPr>
          <a:xfrm>
            <a:off x="9674352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比較與保存</a:t>
            </a:r>
          </a:p>
        </p:txBody>
      </p:sp>
      <p:sp>
        <p:nvSpPr>
          <p:cNvPr id="22" name="Prediction body 04"/>
          <p:cNvSpPr txBox="1"/>
          <p:nvPr/>
        </p:nvSpPr>
        <p:spPr>
          <a:xfrm>
            <a:off x="9217152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結果、解釋、反例</a:t>
            </a:r>
          </a:p>
        </p:txBody>
      </p:sp>
      <p:sp>
        <p:nvSpPr>
          <p:cNvPr id="23" name="Withheld case"/>
          <p:cNvSpPr/>
          <p:nvPr/>
        </p:nvSpPr>
        <p:spPr>
          <a:xfrm>
            <a:off x="1225296" y="4224528"/>
            <a:ext cx="9747504" cy="512064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保留條件案例維持 frozen policy，用來檢查機制是否可轉移。</a:t>
            </a:r>
          </a:p>
        </p:txBody>
      </p:sp>
      <p:sp>
        <p:nvSpPr>
          <p:cNvPr id="24" name="Field contract predi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prediction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（預測）｜來源：workbook record｜作用：指定可反駁的變化方向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單位：statement｜判讀：作為執行前的比較基準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三個實驗到底改什麼</a:t>
            </a:r>
          </a:p>
        </p:txBody>
      </p:sp>
      <p:sp>
        <p:nvSpPr>
          <p:cNvPr id="3" name="Lab map lead"/>
          <p:cNvSpPr txBox="1"/>
          <p:nvPr/>
        </p:nvSpPr>
        <p:spPr>
          <a:xfrm>
            <a:off x="896112" y="932688"/>
            <a:ext cx="1036929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三次都只改 student_policy.py 的一個 marked block；runner、scenario、schema 不動</a:t>
            </a:r>
          </a:p>
        </p:txBody>
      </p:sp>
      <p:sp>
        <p:nvSpPr>
          <p:cNvPr id="4" name="Lab map card 1"/>
          <p:cNvSpPr/>
          <p:nvPr/>
        </p:nvSpPr>
        <p:spPr>
          <a:xfrm>
            <a:off x="749808" y="1627632"/>
            <a:ext cx="3145536" cy="26700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map heading 1"/>
          <p:cNvSpPr txBox="1"/>
          <p:nvPr/>
        </p:nvSpPr>
        <p:spPr>
          <a:xfrm>
            <a:off x="896112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A｜休息方式</a:t>
            </a:r>
          </a:p>
        </p:txBody>
      </p:sp>
      <p:sp>
        <p:nvSpPr>
          <p:cNvPr id="6" name="Lab map change 1"/>
          <p:cNvSpPr txBox="1"/>
          <p:nvPr/>
        </p:nvSpPr>
        <p:spPr>
          <a:xfrm>
            <a:off x="932688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 → WAIT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PACE_GAP_STEPS = 2 不變</a:t>
            </a:r>
          </a:p>
        </p:txBody>
      </p:sp>
      <p:sp>
        <p:nvSpPr>
          <p:cNvPr id="7" name="Lab map observe 1"/>
          <p:cNvSpPr txBox="1"/>
          <p:nvPr/>
        </p:nvSpPr>
        <p:spPr>
          <a:xfrm>
            <a:off x="950976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觀察：SLEEP／AWAKE_IDLE／WAKE 的時間與 J；封包服務</a:t>
            </a:r>
          </a:p>
        </p:txBody>
      </p:sp>
      <p:sp>
        <p:nvSpPr>
          <p:cNvPr id="8" name="Lab map card 2"/>
          <p:cNvSpPr/>
          <p:nvPr/>
        </p:nvSpPr>
        <p:spPr>
          <a:xfrm>
            <a:off x="4160520" y="1627632"/>
            <a:ext cx="3145536" cy="26700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 map heading 2"/>
          <p:cNvSpPr txBox="1"/>
          <p:nvPr/>
        </p:nvSpPr>
        <p:spPr>
          <a:xfrm>
            <a:off x="4306824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Lab B｜穩定門檻</a:t>
            </a:r>
          </a:p>
        </p:txBody>
      </p:sp>
      <p:sp>
        <p:nvSpPr>
          <p:cNvPr id="10" name="Lab map change 2"/>
          <p:cNvSpPr txBox="1"/>
          <p:nvPr/>
        </p:nvSpPr>
        <p:spPr>
          <a:xfrm>
            <a:off x="4343400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STABLE_STEPS：2 →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ENTER_QUALITY=2／EXIT_QUALITY=1 不變</a:t>
            </a:r>
          </a:p>
        </p:txBody>
      </p:sp>
      <p:sp>
        <p:nvSpPr>
          <p:cNvPr id="11" name="Lab map observe 2"/>
          <p:cNvSpPr txBox="1"/>
          <p:nvPr/>
        </p:nvSpPr>
        <p:spPr>
          <a:xfrm>
            <a:off x="4361688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觀察：進入時機、attempt／retry／delivery、service、J</a:t>
            </a:r>
          </a:p>
        </p:txBody>
      </p:sp>
      <p:sp>
        <p:nvSpPr>
          <p:cNvPr id="12" name="Lab map card 3"/>
          <p:cNvSpPr/>
          <p:nvPr/>
        </p:nvSpPr>
        <p:spPr>
          <a:xfrm>
            <a:off x="7571231" y="1627632"/>
            <a:ext cx="3145536" cy="26700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map heading 3"/>
          <p:cNvSpPr txBox="1"/>
          <p:nvPr/>
        </p:nvSpPr>
        <p:spPr>
          <a:xfrm>
            <a:off x="7717536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 C｜急件提前量</a:t>
            </a:r>
          </a:p>
        </p:txBody>
      </p:sp>
      <p:sp>
        <p:nvSpPr>
          <p:cNvPr id="14" name="Lab map change 3"/>
          <p:cNvSpPr txBox="1"/>
          <p:nvPr/>
        </p:nvSpPr>
        <p:spPr>
          <a:xfrm>
            <a:off x="7754111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URGENT_MARGIN_S：20 → 5 → 30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 不變</a:t>
            </a:r>
          </a:p>
        </p:txBody>
      </p:sp>
      <p:sp>
        <p:nvSpPr>
          <p:cNvPr id="15" name="Lab map observe 3"/>
          <p:cNvSpPr txBox="1"/>
          <p:nvPr/>
        </p:nvSpPr>
        <p:spPr>
          <a:xfrm>
            <a:off x="7772400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觀察：urgent timing、deadline／expired、service、J</a:t>
            </a:r>
          </a:p>
        </p:txBody>
      </p:sp>
      <p:sp>
        <p:nvSpPr>
          <p:cNvPr id="16" name="Lab map causal strip"/>
          <p:cNvSpPr/>
          <p:nvPr/>
        </p:nvSpPr>
        <p:spPr>
          <a:xfrm>
            <a:off x="969264" y="4480560"/>
            <a:ext cx="10241280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同一檔案／同一 scenario／固定 runner → prediction → baseline → candidate → withheld</a:t>
            </a:r>
          </a:p>
        </p:txBody>
      </p:sp>
      <p:sp>
        <p:nvSpPr>
          <p:cNvPr id="17" name="Field contract marked block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marked block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（受控區塊）｜來源：student_policy.py｜作用：限制可修改的最小決策面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單位：one block｜判讀：其他行與檔案不動，才能歸因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提供的三項價值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它提供成熟的 LoRa 端點問題框架，讓狀態、封包與能量能沿同一條路徑解讀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端點狀態與能量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把休眠、處理、TX、RX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連到端點能量邊界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封包事件與可靠度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用封包、碰撞、重試、送達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解釋策略後果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可重複研究架構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固定模型來源與版本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讓案例與結果可以比較</a:t>
            </a:r>
          </a:p>
        </p:txBody>
      </p:sp>
      <p:sp>
        <p:nvSpPr>
          <p:cNvPr id="15" name="LoRaEnergySim value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讓策略動作可以連到狀態、封包、服務與端點能量證據</a:t>
            </a:r>
          </a:p>
        </p:txBody>
      </p:sp>
      <p:sp>
        <p:nvSpPr>
          <p:cNvPr id="16" name="Field contract model_referen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model_reference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（模型參考）｜來源：固定的 LoRaEnergySim repository 與版本｜作用：提供端點狀態、封包事件與能量欄位的可追溯來源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單位：來源識別｜判讀：以相同模型語言比較不同策略的事件與結果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把下載資料搬進 Linux 課程資料夾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把下載資料搬進 Linux 課程資料夾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這一步只做路徑準備：把 release 帶進 Linux，再確認程式根目錄</a:t>
            </a:r>
          </a:p>
        </p:txBody>
      </p:sp>
      <p:sp>
        <p:nvSpPr>
          <p:cNvPr id="6" name="把下載資料搬進 Linux 課程資料夾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把下載資料搬進 Linux 課程資料夾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這個工作區</a:t>
            </a:r>
          </a:p>
        </p:txBody>
      </p:sp>
      <p:sp>
        <p:nvSpPr>
          <p:cNvPr id="8" name="把下載資料搬進 Linux 課程資料夾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WSL＝Windows 內的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/mnt/c/.../Downloads</a:t>
            </a:r>
          </a:p>
        </p:txBody>
      </p:sp>
      <p:sp>
        <p:nvSpPr>
          <p:cNvPr id="9" name="把下載資料搬進 Linux 課程資料夾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把下載資料搬進 Linux 課程資料夾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程式不改</a:t>
            </a:r>
          </a:p>
        </p:txBody>
      </p:sp>
      <p:sp>
        <p:nvSpPr>
          <p:cNvPr id="11" name="把下載資料搬進 Linux 課程資料夾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不動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只複製 release 副本</a:t>
            </a:r>
          </a:p>
        </p:txBody>
      </p:sp>
      <p:sp>
        <p:nvSpPr>
          <p:cNvPr id="12" name="把下載資料搬進 Linux 課程資料夾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把下載資料搬進 Linux 課程資料夾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進入根目錄</a:t>
            </a:r>
          </a:p>
        </p:txBody>
      </p:sp>
      <p:sp>
        <p:nvSpPr>
          <p:cNvPr id="14" name="把下載資料搬進 Linux 課程資料夾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下一步集中到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sp>
        <p:nvSpPr>
          <p:cNvPr id="15" name="把下載資料搬進 Linux 課程資料夾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把下載資料搬進 Linux 課程資料夾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核對結果</a:t>
            </a:r>
          </a:p>
        </p:txBody>
      </p:sp>
      <p:sp>
        <p:nvSpPr>
          <p:cNvPr id="17" name="把下載資料搬進 Linux 課程資料夾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只讀位置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路徑不對就先停止</a:t>
            </a:r>
          </a:p>
        </p:txBody>
      </p:sp>
      <p:sp>
        <p:nvSpPr>
          <p:cNvPr id="18" name="把下載資料搬進 Linux 課程資料夾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先把下載副本放進 Linux，再確認根目錄；路徑錯會讓後續設定讀錯檔</a:t>
            </a:r>
          </a:p>
        </p:txBody>
      </p:sp>
      <p:sp>
        <p:nvSpPr>
          <p:cNvPr id="19" name="Field contract pwd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（目前目錄命令）｜來源：Linux／macOS 終端機（WSL 也使用 Linux 指令）｜作用：確認目前位置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單位：路徑文字｜判讀：輸出應位於 Linux home 的課程資料夾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從 Python 3.11 到 READY 的完整順序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每一步都在 lora-energy-lab 根目錄完成；上一關成功才進入下一關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找到正確版本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先檢查 Python 3.11.x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沒有才依平台安裝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建立隔離環境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venv → 建立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啟用後再次核對版本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安裝並驗證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在 venv 內安裝 locked requirements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verify 必須顯示 READY</a:t>
            </a:r>
          </a:p>
        </p:txBody>
      </p:sp>
      <p:sp>
        <p:nvSpPr>
          <p:cNvPr id="15" name="Environment sequence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3.11.x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已啟用 → 安裝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requirements-lock.txt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6" name="Field contract requirements-lock.tx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requirements-lock.txt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（鎖定需求檔）｜來源：課程套件根目錄｜作用：固定安裝契約與可重現環境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單位：文字檔｜判讀：實際檔名含 -lock；不是 requirements.txt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Windows：先檢查或安裝 Python 3.11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先使用 Python Launcher 檢查；找不到 3.11 才安裝 uv 與精確版本</a:t>
            </a:r>
          </a:p>
        </p:txBody>
      </p:sp>
      <p:sp>
        <p:nvSpPr>
          <p:cNvPr id="6" name="Windows Python check"/>
          <p:cNvSpPr/>
          <p:nvPr/>
        </p:nvSpPr>
        <p:spPr>
          <a:xfrm>
            <a:off x="859536" y="1463040"/>
            <a:ext cx="5065776" cy="22128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s Python check text"/>
          <p:cNvSpPr txBox="1"/>
          <p:nvPr/>
        </p:nvSpPr>
        <p:spPr>
          <a:xfrm>
            <a:off x="1005839" y="1554480"/>
            <a:ext cx="4773168" cy="2029967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先檢查：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$python311 = (py -3.11 -c "import sys; print(sys.executable)").Trim()</a:t>
            </a:r>
          </a:p>
        </p:txBody>
      </p:sp>
      <p:sp>
        <p:nvSpPr>
          <p:cNvPr id="8" name="Windows Python install"/>
          <p:cNvSpPr/>
          <p:nvPr/>
        </p:nvSpPr>
        <p:spPr>
          <a:xfrm>
            <a:off x="6254496" y="1463040"/>
            <a:ext cx="5065776" cy="22128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s Python install text"/>
          <p:cNvSpPr txBox="1"/>
          <p:nvPr/>
        </p:nvSpPr>
        <p:spPr>
          <a:xfrm>
            <a:off x="6400800" y="1554480"/>
            <a:ext cx="4773168" cy="2029967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找不到 3.11 時：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&amp; $python311 --version</a:t>
            </a:r>
          </a:p>
        </p:txBody>
      </p:sp>
      <p:sp>
        <p:nvSpPr>
          <p:cNvPr id="10" name="Windows Python success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成功訊號：輸出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3.11.x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，並取得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$python311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的執行器路徑</a:t>
            </a:r>
          </a:p>
        </p:txBody>
      </p:sp>
      <p:sp>
        <p:nvSpPr>
          <p:cNvPr id="11" name="Field contract python311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python311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（Python 3.11 執行器變數）｜來源：PowerShell 命令結果｜作用：保存建立 venv 時要使用的精確執行器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單位：檔案路徑｜判讀：版本不是 3.11.x 就停止，不修改 runner 放寬版本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Windows：建立、啟用 venv，再安裝與驗證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所有 pip 與 verify 命令都要在已啟用的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中執行</a:t>
            </a:r>
          </a:p>
        </p:txBody>
      </p:sp>
      <p:sp>
        <p:nvSpPr>
          <p:cNvPr id="6" name="Windows venv"/>
          <p:cNvSpPr/>
          <p:nvPr/>
        </p:nvSpPr>
        <p:spPr>
          <a:xfrm>
            <a:off x="859536" y="1444752"/>
            <a:ext cx="5065776" cy="29077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s venv text"/>
          <p:cNvSpPr txBox="1"/>
          <p:nvPr/>
        </p:nvSpPr>
        <p:spPr>
          <a:xfrm>
            <a:off x="1005839" y="1536192"/>
            <a:ext cx="4773168" cy="272491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建立並啟用：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&amp; $python311 -m venv --help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&amp; $python311 -m venv .venv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.\.venv\Scripts\Activate.ps1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-c "import sys; assert sys.prefix != sys.base_prefix; print(sys.executable)"</a:t>
            </a:r>
          </a:p>
        </p:txBody>
      </p:sp>
      <p:sp>
        <p:nvSpPr>
          <p:cNvPr id="8" name="Windows install verify"/>
          <p:cNvSpPr/>
          <p:nvPr/>
        </p:nvSpPr>
        <p:spPr>
          <a:xfrm>
            <a:off x="6254496" y="1444752"/>
            <a:ext cx="5065776" cy="290779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s install verify text"/>
          <p:cNvSpPr txBox="1"/>
          <p:nvPr/>
        </p:nvSpPr>
        <p:spPr>
          <a:xfrm>
            <a:off x="6400800" y="1536192"/>
            <a:ext cx="4773168" cy="272491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內安裝與驗證：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-m pip install --disable-pip-version-check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--require-hashes --no-deps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-r .\requirements-lock.txt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預期：</a:t>
            </a: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</p:txBody>
      </p:sp>
      <p:sp>
        <p:nvSpPr>
          <p:cNvPr id="10" name="Field contract .venv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（專案虛擬環境）｜來源：Python venv 模組｜作用：隔離本課執行器與安裝契約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單位：資料夾｜判讀：啟用後 Python 路徑應位於 .venv；READY 才繼續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Linux／WSL：先檢查或安裝 Python 3.11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WSL 使用其 Linux distribution；先檢查，沒有 3.11 才使用 uv 安裝</a:t>
            </a:r>
          </a:p>
        </p:txBody>
      </p:sp>
      <p:sp>
        <p:nvSpPr>
          <p:cNvPr id="6" name="Linux Python check"/>
          <p:cNvSpPr/>
          <p:nvPr/>
        </p:nvSpPr>
        <p:spPr>
          <a:xfrm>
            <a:off x="859536" y="1426464"/>
            <a:ext cx="5065776" cy="2962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ux Python check text"/>
          <p:cNvSpPr txBox="1"/>
          <p:nvPr/>
        </p:nvSpPr>
        <p:spPr>
          <a:xfrm>
            <a:off x="1005839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先檢查：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若成功：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PYTHON_BIN="$(command -v python3.11)"</a:t>
            </a:r>
          </a:p>
        </p:txBody>
      </p:sp>
      <p:sp>
        <p:nvSpPr>
          <p:cNvPr id="8" name="Linux Python install"/>
          <p:cNvSpPr/>
          <p:nvPr/>
        </p:nvSpPr>
        <p:spPr>
          <a:xfrm>
            <a:off x="6254496" y="1426464"/>
            <a:ext cx="5065776" cy="2962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ux Python install text"/>
          <p:cNvSpPr txBox="1"/>
          <p:nvPr/>
        </p:nvSpPr>
        <p:spPr>
          <a:xfrm>
            <a:off x="6400800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找不到 3.11 時：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sudo apt install -y curl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10" name="Field contract PYTHON_BI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（Python 執行器路徑變數）｜來源：Linux shell 命令結果｜作用：指定建立 venv 的精確 Python 3.11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單位：檔案路徑｜判讀：輸出必須是 Python 3.11.x；WSL 也使用此 Linux 流程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Linux／WSL：建立、啟用 venv，再安裝與驗證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後必須執行 source；終端機才會改用隔離環境</a:t>
            </a:r>
          </a:p>
        </p:txBody>
      </p:sp>
      <p:sp>
        <p:nvSpPr>
          <p:cNvPr id="6" name="Linux venv"/>
          <p:cNvSpPr/>
          <p:nvPr/>
        </p:nvSpPr>
        <p:spPr>
          <a:xfrm>
            <a:off x="859536" y="1426464"/>
            <a:ext cx="5065776" cy="2962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ux venv text"/>
          <p:cNvSpPr txBox="1"/>
          <p:nvPr/>
        </p:nvSpPr>
        <p:spPr>
          <a:xfrm>
            <a:off x="1005839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建立並啟用：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-c 'import sys; assert sys.prefix != sys.base_prefix; print(sys.executable)'</a:t>
            </a:r>
          </a:p>
        </p:txBody>
      </p:sp>
      <p:sp>
        <p:nvSpPr>
          <p:cNvPr id="8" name="Linux install verify"/>
          <p:cNvSpPr/>
          <p:nvPr/>
        </p:nvSpPr>
        <p:spPr>
          <a:xfrm>
            <a:off x="6254496" y="1426464"/>
            <a:ext cx="5065776" cy="2962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ux install verify text"/>
          <p:cNvSpPr txBox="1"/>
          <p:nvPr/>
        </p:nvSpPr>
        <p:spPr>
          <a:xfrm>
            <a:off x="6400800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內安裝與驗證：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--disable-pip-version-check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--require-hashes --no-deps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-r requirements-lock.txt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預期：</a:t>
            </a: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</p:txBody>
      </p:sp>
      <p:sp>
        <p:nvSpPr>
          <p:cNvPr id="10" name="Field contract sour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（啟用 shell 環境的命令）｜來源：Linux／macOS shell｜作用：把目前終端機切換到 .venv 的 Python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單位：命令｜判讀：啟用後執行器路徑應位於 .venv；READY 才開始 Lab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macOS：先檢查或安裝 Python 3.11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不要假設 macOS 的 python3 版本；先檢查，再選 Homebrew 或 uv</a:t>
            </a:r>
          </a:p>
        </p:txBody>
      </p:sp>
      <p:sp>
        <p:nvSpPr>
          <p:cNvPr id="6" name="macOS check"/>
          <p:cNvSpPr/>
          <p:nvPr/>
        </p:nvSpPr>
        <p:spPr>
          <a:xfrm>
            <a:off x="859536" y="1426464"/>
            <a:ext cx="3182112" cy="298094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cOS check text"/>
          <p:cNvSpPr txBox="1"/>
          <p:nvPr/>
        </p:nvSpPr>
        <p:spPr>
          <a:xfrm>
            <a:off x="1005839" y="1517904"/>
            <a:ext cx="2889504" cy="2798063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先檢查：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若成功：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PYTHON_BIN="$(command -v python3.11)"</a:t>
            </a:r>
          </a:p>
        </p:txBody>
      </p:sp>
      <p:sp>
        <p:nvSpPr>
          <p:cNvPr id="8" name="macOS brew"/>
          <p:cNvSpPr/>
          <p:nvPr/>
        </p:nvSpPr>
        <p:spPr>
          <a:xfrm>
            <a:off x="4279392" y="1426464"/>
            <a:ext cx="3182112" cy="298094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cOS brew text"/>
          <p:cNvSpPr txBox="1"/>
          <p:nvPr/>
        </p:nvSpPr>
        <p:spPr>
          <a:xfrm>
            <a:off x="4425696" y="1517904"/>
            <a:ext cx="2889504" cy="2798063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使用 Homebrew：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brew install python@3.11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PYTHON_BIN="$(brew --prefix python@3.11)/bin/python3.11"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10" name="macOS uv"/>
          <p:cNvSpPr/>
          <p:nvPr/>
        </p:nvSpPr>
        <p:spPr>
          <a:xfrm>
            <a:off x="7699248" y="1426464"/>
            <a:ext cx="3621024" cy="298094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acOS uv text"/>
          <p:cNvSpPr txBox="1"/>
          <p:nvPr/>
        </p:nvSpPr>
        <p:spPr>
          <a:xfrm>
            <a:off x="7845552" y="1517904"/>
            <a:ext cx="3328416" cy="2798063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使用 uv：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12" name="Field contract python@3.11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python@3.11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（Homebrew Python 3.11 套件）｜來源：Homebrew formula｜作用：提供 macOS 的精確 Python 版本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單位：套件版本｜判讀：最終仍以 PYTHON_BIN --version 顯示 3.11.x 為準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macOS：建立、啟用 venv，再安裝與驗證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Homebrew 與 uv 的 Python 都包含 venv；啟用後再進行 locked install</a:t>
            </a:r>
          </a:p>
        </p:txBody>
      </p:sp>
      <p:sp>
        <p:nvSpPr>
          <p:cNvPr id="6" name="macOS venv"/>
          <p:cNvSpPr/>
          <p:nvPr/>
        </p:nvSpPr>
        <p:spPr>
          <a:xfrm>
            <a:off x="859536" y="1426464"/>
            <a:ext cx="5065776" cy="2962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cOS venv text"/>
          <p:cNvSpPr txBox="1"/>
          <p:nvPr/>
        </p:nvSpPr>
        <p:spPr>
          <a:xfrm>
            <a:off x="1005839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建立並啟用：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-c 'import sys; assert sys.prefix != sys.base_prefix; print(sys.executable)'</a:t>
            </a:r>
          </a:p>
        </p:txBody>
      </p:sp>
      <p:sp>
        <p:nvSpPr>
          <p:cNvPr id="8" name="macOS install verify"/>
          <p:cNvSpPr/>
          <p:nvPr/>
        </p:nvSpPr>
        <p:spPr>
          <a:xfrm>
            <a:off x="6254496" y="1426464"/>
            <a:ext cx="5065776" cy="2962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cOS install verify text"/>
          <p:cNvSpPr txBox="1"/>
          <p:nvPr/>
        </p:nvSpPr>
        <p:spPr>
          <a:xfrm>
            <a:off x="6400800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內安裝與驗證：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--disable-pip-version-check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--require-hashes --no-deps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-r requirements-lock.txt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預期：</a:t>
            </a: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</p:txBody>
      </p:sp>
      <p:sp>
        <p:nvSpPr>
          <p:cNvPr id="10" name="Field contract verify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（環境驗證）｜來源：course.sh／verify_setup.py｜作用：核對 Python、情境、策略與安裝契約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單位：狀態｜判讀：READY 只代表環境可用；尚未產生 Lab result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看到 READY 後，環境準備才算完成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成功不是只有安裝指令沒有報錯；版本、venv 路徑與 verify 狀態都要成立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版本正確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顯示 Python 3.11.x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venv 已啟用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執行器路徑位於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不是系統 Python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契約通過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verify 輸出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寫入 verify receipt</a:t>
            </a:r>
          </a:p>
        </p:txBody>
      </p:sp>
      <p:sp>
        <p:nvSpPr>
          <p:cNvPr id="15" name="READY next ste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 之後保持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啟用 → 只改目前 Lab 的 marked block → 執行 case</a:t>
            </a:r>
          </a:p>
        </p:txBody>
      </p:sp>
      <p:sp>
        <p:nvSpPr>
          <p:cNvPr id="16" name="Field contract statu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（環境狀態）｜來源：verify receipt｜作用：表示環境與課程契約是否可進入案例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單位：狀態值｜判讀：READY 不等於 Lab 通過，也不等於已產生 result.json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安裝鎖定套件並驗證 READY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在 venv 安裝鎖定套件並驗證 READY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四種 shell 都先安裝鎖定檔再驗證；看到 READY 才進案例，失敗就停</a:t>
            </a:r>
          </a:p>
        </p:txBody>
      </p:sp>
      <p:sp>
        <p:nvSpPr>
          <p:cNvPr id="6" name="在 venv 安裝鎖定套件並驗證 READY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在 venv 安裝鎖定套件並驗證 READY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Linux／WSL</a:t>
            </a:r>
          </a:p>
        </p:txBody>
      </p:sp>
      <p:sp>
        <p:nvSpPr>
          <p:cNvPr id="8" name="在 venv 安裝鎖定套件並驗證 READY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在 venv 安裝鎖定套件並驗證 READY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在 venv 安裝鎖定套件並驗證 READY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macOS</a:t>
            </a:r>
          </a:p>
        </p:txBody>
      </p:sp>
      <p:sp>
        <p:nvSpPr>
          <p:cNvPr id="11" name="在 venv 安裝鎖定套件並驗證 READY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2" name="在 venv 安裝鎖定套件並驗證 READY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在 venv 安裝鎖定套件並驗證 READY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14" name="在 venv 安裝鎖定套件並驗證 READY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.\requirements-lock.txt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5" name="在 venv 安裝鎖定套件並驗證 READY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在 venv 安裝鎖定套件並驗證 READY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Command Prompt</a:t>
            </a:r>
          </a:p>
        </p:txBody>
      </p:sp>
      <p:sp>
        <p:nvSpPr>
          <p:cNvPr id="17" name="在 venv 安裝鎖定套件並驗證 READY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</a:p>
        </p:txBody>
      </p:sp>
      <p:sp>
        <p:nvSpPr>
          <p:cNvPr id="18" name="在 venv 安裝鎖定套件並驗證 READY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locked requirements → verify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status: READY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；沒有 READY 就停止，不執行 lab</a:t>
            </a:r>
          </a:p>
        </p:txBody>
      </p:sp>
      <p:sp>
        <p:nvSpPr>
          <p:cNvPr id="19" name="Field contract verify-receipt.js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verify-receipt.json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（驗證收據檔）｜來源：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course.sh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｜作用：記錄 Python、scenario 與 policy contract gate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artifact｜判讀：看到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status: READY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才能進案例；它不是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卡住時修復或保留來源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卡住時修復或保留來源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這一步處理卡關：修得好就重跑，修不好也不冒充本機執行</a:t>
            </a:r>
          </a:p>
        </p:txBody>
      </p:sp>
      <p:sp>
        <p:nvSpPr>
          <p:cNvPr id="6" name="卡住時修復或保留來源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卡住時修復或保留來源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正常</a:t>
            </a:r>
          </a:p>
        </p:txBody>
      </p:sp>
      <p:sp>
        <p:nvSpPr>
          <p:cNvPr id="8" name="卡住時修復或保留來源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READY 後執行案例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產生新結果</a:t>
            </a:r>
          </a:p>
        </p:txBody>
      </p:sp>
      <p:sp>
        <p:nvSpPr>
          <p:cNvPr id="9" name="卡住時修復或保留來源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卡住時修復或保留來源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修復什麼</a:t>
            </a:r>
          </a:p>
        </p:txBody>
      </p:sp>
      <p:sp>
        <p:nvSpPr>
          <p:cNvPr id="11" name="卡住時修復或保留來源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Python、root、lock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policy block</a:t>
            </a:r>
          </a:p>
        </p:txBody>
      </p:sp>
      <p:sp>
        <p:nvSpPr>
          <p:cNvPr id="12" name="卡住時修復或保留來源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卡住時修復或保留來源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③ 回復什麼</a:t>
            </a:r>
          </a:p>
        </p:txBody>
      </p:sp>
      <p:sp>
        <p:nvSpPr>
          <p:cNvPr id="14" name="卡住時修復或保留來源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同情境結果成對保存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5" name="卡住時修復或保留來源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卡住時修復或保留來源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看什麼</a:t>
            </a:r>
          </a:p>
        </p:txBody>
      </p:sp>
      <p:sp>
        <p:nvSpPr>
          <p:cNvPr id="17" name="卡住時修復或保留來源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artifact_source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判斷本機或回復</a:t>
            </a:r>
          </a:p>
        </p:txBody>
      </p:sp>
      <p:sp>
        <p:nvSpPr>
          <p:cNvPr id="18" name="卡住時修復或保留來源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修復不改策略；回復不冒充本機執行</a:t>
            </a:r>
          </a:p>
        </p:txBody>
      </p:sp>
      <p:sp>
        <p:nvSpPr>
          <p:cNvPr id="19" name="Field contract artifact_sour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artifact_source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（資料來源分類）｜來源：結果紀錄｜作用：標示本機執行或回復資料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單位：來源值｜判讀：來源模式保持原值，不改寫成本機執行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只可修改三個標記區塊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只可修改三個標記區塊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這一步畫出可編輯邊界：三個實驗區可改，其他程式只讀</a:t>
            </a:r>
          </a:p>
        </p:txBody>
      </p:sp>
      <p:sp>
        <p:nvSpPr>
          <p:cNvPr id="6" name="只可修改三個標記區塊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只可修改三個標記區塊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唯一檔案</a:t>
            </a:r>
          </a:p>
        </p:txBody>
      </p:sp>
      <p:sp>
        <p:nvSpPr>
          <p:cNvPr id="8" name="只可修改三個標記區塊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只在這裡做實驗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只可修改三個標記區塊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只可修改三個標記區塊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可改區段</a:t>
            </a:r>
          </a:p>
        </p:txBody>
      </p:sp>
      <p:sp>
        <p:nvSpPr>
          <p:cNvPr id="11" name="只可修改三個標記區塊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A／B／C 三個標記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</p:txBody>
      </p:sp>
      <p:sp>
        <p:nvSpPr>
          <p:cNvPr id="12" name="只可修改三個標記區塊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只可修改三個標記區塊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保持不變</a:t>
            </a:r>
          </a:p>
        </p:txBody>
      </p:sp>
      <p:sp>
        <p:nvSpPr>
          <p:cNvPr id="14" name="只可修改三個標記區塊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中文註解、函式、情境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runner、schemas 不動</a:t>
            </a:r>
          </a:p>
        </p:txBody>
      </p:sp>
      <p:sp>
        <p:nvSpPr>
          <p:cNvPr id="15" name="只可修改三個標記區塊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只可修改三個標記區塊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只可修改三個標記區塊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結果仍看 result／replay</a:t>
            </a:r>
          </a:p>
        </p:txBody>
      </p:sp>
      <p:sp>
        <p:nvSpPr>
          <p:cNvPr id="18" name="只可修改三個標記區塊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只開目前實驗區；其他檔案與輸出契約保持不變</a:t>
            </a:r>
          </a:p>
        </p:txBody>
      </p:sp>
      <p:sp>
        <p:nvSpPr>
          <p:cNvPr id="19" name="Field contract marked block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marked block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（標記區段）｜來源：檔案標記｜作用：界定一個實驗的可編輯範圍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單位：程式碼區段｜判讀：其他套件邊界維持唯讀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程式每次判斷會看什麼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程式每次判斷會看什麼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這一步先說清楚輸入：每個 step 只看目前／過去資料</a:t>
            </a:r>
          </a:p>
        </p:txBody>
      </p:sp>
      <p:sp>
        <p:nvSpPr>
          <p:cNvPr id="6" name="程式每次判斷會看什麼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程式每次判斷會看什麼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讀目前資料</a:t>
            </a:r>
          </a:p>
        </p:txBody>
      </p:sp>
      <p:sp>
        <p:nvSpPr>
          <p:cNvPr id="8" name="程式每次判斷會看什麼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窗口、急件、間隔、品質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都是當下 snapshot</a:t>
            </a:r>
          </a:p>
        </p:txBody>
      </p:sp>
      <p:sp>
        <p:nvSpPr>
          <p:cNvPr id="9" name="程式每次判斷會看什麼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程式每次判斷會看什麼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不讀未來</a:t>
            </a:r>
          </a:p>
        </p:txBody>
      </p:sp>
      <p:sp>
        <p:nvSpPr>
          <p:cNvPr id="11" name="程式每次判斷會看什麼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不看結果摘要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不回看 energy</a:t>
            </a:r>
          </a:p>
        </p:txBody>
      </p:sp>
      <p:sp>
        <p:nvSpPr>
          <p:cNvPr id="12" name="程式每次判斷會看什麼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程式每次判斷會看什麼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交給函式</a:t>
            </a:r>
          </a:p>
        </p:txBody>
      </p:sp>
      <p:sp>
        <p:nvSpPr>
          <p:cNvPr id="14" name="程式每次判斷會看什麼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把目前資料交給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choose_action()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再回一個合法動作</a:t>
            </a:r>
          </a:p>
        </p:txBody>
      </p:sp>
      <p:sp>
        <p:nvSpPr>
          <p:cNvPr id="15" name="程式每次判斷會看什麼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程式每次判斷會看什麼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程式每次判斷會看什麼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回一個合法動作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 再記 event／result</a:t>
            </a:r>
          </a:p>
        </p:txBody>
      </p:sp>
      <p:sp>
        <p:nvSpPr>
          <p:cNvPr id="18" name="程式每次判斷會看什麼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當下觀察 → 合法動作；這一頁沒有程式值變更</a:t>
            </a:r>
          </a:p>
        </p:txBody>
      </p:sp>
      <p:sp>
        <p:nvSpPr>
          <p:cNvPr id="19" name="Field contract choose_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choose_action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（策略函式）｜來源：student_policy.py｜作用：依當下觀察回傳一個合法動作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單位：函式契約｜判讀：只讀目前／過去欄位，不讀未來結果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判斷順序如何產生動作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判斷順序如何產生動作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這一步把合法動作順序翻成白話；鏡像可讀，不能貼回程式</a:t>
            </a:r>
          </a:p>
        </p:txBody>
      </p:sp>
      <p:sp>
        <p:nvSpPr>
          <p:cNvPr id="6" name="判斷順序如何產生動作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判斷順序如何產生動作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窗口關閉</a:t>
            </a:r>
          </a:p>
        </p:txBody>
      </p:sp>
      <p:sp>
        <p:nvSpPr>
          <p:cNvPr id="8" name="判斷順序如何產生動作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不能送出，先休息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9" name="判斷順序如何產生動作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判斷順序如何產生動作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期限逼近</a:t>
            </a:r>
          </a:p>
        </p:txBody>
      </p:sp>
      <p:sp>
        <p:nvSpPr>
          <p:cNvPr id="11" name="判斷順序如何產生動作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急件先送出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2" name="判斷順序如何產生動作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判斷順序如何產生動作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節奏／品質</a:t>
            </a:r>
          </a:p>
        </p:txBody>
      </p:sp>
      <p:sp>
        <p:nvSpPr>
          <p:cNvPr id="14" name="判斷順序如何產生動作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間隔未到休息；品質未穩等待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5" name="判斷順序如何產生動作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判斷順序如何產生動作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佇列／保底</a:t>
            </a:r>
          </a:p>
        </p:txBody>
      </p:sp>
      <p:sp>
        <p:nvSpPr>
          <p:cNvPr id="17" name="判斷順序如何產生動作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夠量批次，否則單筆；無事等待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FLUSH_BATCH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SEND_ONE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8" name="判斷順序如何產生動作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先看窗口，再看期限、間隔、品質與佇列；順序會改變動作</a:t>
            </a:r>
          </a:p>
        </p:txBody>
      </p:sp>
      <p:sp>
        <p:nvSpPr>
          <p:cNvPr id="19" name="Field contract 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（合法動作）｜來源：policy API｜作用：把條件轉成 runner 可執行的動作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單位：enum｜判讀：下一步從 state／packet／service／endpoint J 讀後果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縮排與回傳決定程式走哪條路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縮排與回傳決定程式走哪條路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這一步只讀一小段程式：看縮排如何選分支，再把動作交回執行器</a:t>
            </a:r>
          </a:p>
        </p:txBody>
      </p:sp>
      <p:sp>
        <p:nvSpPr>
          <p:cNvPr id="6" name="縮排與回傳決定程式走哪條路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縮排與回傳決定程式走哪條路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先看意思</a:t>
            </a:r>
          </a:p>
        </p:txBody>
      </p:sp>
      <p:sp>
        <p:nvSpPr>
          <p:cNvPr id="8" name="縮排與回傳決定程式走哪條路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窗口關閉就不送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if ...: return SLEEP</a:t>
            </a:r>
          </a:p>
        </p:txBody>
      </p:sp>
      <p:sp>
        <p:nvSpPr>
          <p:cNvPr id="9" name="縮排與回傳決定程式走哪條路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縮排與回傳決定程式走哪條路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縮排做什麼</a:t>
            </a:r>
          </a:p>
        </p:txBody>
      </p:sp>
      <p:sp>
        <p:nvSpPr>
          <p:cNvPr id="11" name="縮排與回傳決定程式走哪條路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把條件放進正確分支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active block</a:t>
            </a:r>
          </a:p>
        </p:txBody>
      </p:sp>
      <p:sp>
        <p:nvSpPr>
          <p:cNvPr id="12" name="縮排與回傳決定程式走哪條路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縮排與回傳決定程式走哪條路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先檢查</a:t>
            </a:r>
          </a:p>
        </p:txBody>
      </p:sp>
      <p:sp>
        <p:nvSpPr>
          <p:cNvPr id="14" name="縮排與回傳決定程式走哪條路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py_compile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只檢查語法、不改檔</a:t>
            </a:r>
          </a:p>
        </p:txBody>
      </p:sp>
      <p:sp>
        <p:nvSpPr>
          <p:cNvPr id="15" name="縮排與回傳決定程式走哪條路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縮排與回傳決定程式走哪條路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縮排與回傳決定程式走哪條路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通過後跑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result／replay pair</a:t>
            </a:r>
          </a:p>
        </p:txBody>
      </p:sp>
      <p:sp>
        <p:nvSpPr>
          <p:cNvPr id="18" name="縮排與回傳決定程式走哪條路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 → 分支 → 回傳 → runner 事件；語法檢查不改內容</a:t>
            </a:r>
          </a:p>
        </p:txBody>
      </p:sp>
      <p:sp>
        <p:nvSpPr>
          <p:cNvPr id="19" name="Field contract retur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return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（回傳）｜來源：policy function｜作用：把一個合法動作交給執行器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單位：動作值｜判讀：語法通過後再看 result／replay 的實際事件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先建立基準結果再比較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先建立基準結果再比較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這一步先保存沒有改動的基準，下一步才比較候選值</a:t>
            </a:r>
          </a:p>
        </p:txBody>
      </p:sp>
      <p:sp>
        <p:nvSpPr>
          <p:cNvPr id="6" name="先建立基準結果再比較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先建立基準結果再比較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固定輸入</a:t>
            </a:r>
          </a:p>
        </p:txBody>
      </p:sp>
      <p:sp>
        <p:nvSpPr>
          <p:cNvPr id="8" name="先建立基準結果再比較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packaged policy＋固定情境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不讀未來結果</a:t>
            </a:r>
          </a:p>
        </p:txBody>
      </p:sp>
      <p:sp>
        <p:nvSpPr>
          <p:cNvPr id="9" name="先建立基準結果再比較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先建立基準結果再比較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執行命令</a:t>
            </a:r>
          </a:p>
        </p:txBody>
      </p:sp>
      <p:sp>
        <p:nvSpPr>
          <p:cNvPr id="11" name="先建立基準結果再比較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2" name="先建立基準結果再比較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先建立基準結果再比較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產生結果</a:t>
            </a:r>
          </a:p>
        </p:txBody>
      </p:sp>
      <p:sp>
        <p:nvSpPr>
          <p:cNvPr id="14" name="先建立基準結果再比較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兩個 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result.json／endpoint-replay.json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原始程式不回寫</a:t>
            </a:r>
          </a:p>
        </p:txBody>
      </p:sp>
      <p:sp>
        <p:nvSpPr>
          <p:cNvPr id="15" name="先建立基準結果再比較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先建立基準結果再比較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先建立基準結果再比較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status: OK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、路徑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 service，再成本</a:t>
            </a:r>
          </a:p>
        </p:txBody>
      </p:sp>
      <p:sp>
        <p:nvSpPr>
          <p:cNvPr id="18" name="先建立基準結果再比較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先保存基準，再凍結規則，最後比較候選；結果不能回頭改 block</a:t>
            </a:r>
          </a:p>
        </p:txBody>
      </p:sp>
      <p:sp>
        <p:nvSpPr>
          <p:cNvPr id="19" name="Field contract result_path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（結果檔路徑）｜來源：命令輸出｜作用：定位 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單位：路徑文字｜判讀：網站只匯入 result.json；endpoint replay 只做配對，runner 不是網站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無線狀態與停留時間（Radio state）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策略動作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只記一次；狀態停留區間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 interval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才留下時間與能量證據</a:t>
            </a:r>
          </a:p>
        </p:txBody>
      </p:sp>
      <p:sp>
        <p:nvSpPr>
          <p:cNvPr id="4" name="Radio state group 1"/>
          <p:cNvSpPr/>
          <p:nvPr/>
        </p:nvSpPr>
        <p:spPr>
          <a:xfrm>
            <a:off x="868680" y="1481328"/>
            <a:ext cx="324612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dio state group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低功耗休息／清醒閒置</a:t>
            </a:r>
          </a:p>
        </p:txBody>
      </p:sp>
      <p:sp>
        <p:nvSpPr>
          <p:cNvPr id="6" name="Radio state group 1 body"/>
          <p:cNvSpPr txBox="1"/>
          <p:nvPr/>
        </p:nvSpPr>
        <p:spPr>
          <a:xfrm>
            <a:off x="996695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：窗口關閉／空檔，功率低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：保持清醒，累積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awake_idle</a:t>
            </a:r>
          </a:p>
        </p:txBody>
      </p:sp>
      <p:sp>
        <p:nvSpPr>
          <p:cNvPr id="7" name="State causal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dio state group 2"/>
          <p:cNvSpPr/>
          <p:nvPr/>
        </p:nvSpPr>
        <p:spPr>
          <a:xfrm>
            <a:off x="4471416" y="1481328"/>
            <a:ext cx="324612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io state group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喚醒轉換／封包處理</a:t>
            </a:r>
          </a:p>
        </p:txBody>
      </p:sp>
      <p:sp>
        <p:nvSpPr>
          <p:cNvPr id="10" name="Radio state group 2 body"/>
          <p:cNvSpPr txBox="1"/>
          <p:nvPr/>
        </p:nvSpPr>
        <p:spPr>
          <a:xfrm>
            <a:off x="4599431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：喚醒成本與延遲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PROCESS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：封包處理區間</a:t>
            </a:r>
          </a:p>
        </p:txBody>
      </p:sp>
      <p:sp>
        <p:nvSpPr>
          <p:cNvPr id="11" name="State causal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adio state group 3"/>
          <p:cNvSpPr/>
          <p:nvPr/>
        </p:nvSpPr>
        <p:spPr>
          <a:xfrm>
            <a:off x="8074152" y="1481328"/>
            <a:ext cx="3246120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adio state group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發射／接收</a:t>
            </a:r>
          </a:p>
        </p:txBody>
      </p:sp>
      <p:sp>
        <p:nvSpPr>
          <p:cNvPr id="14" name="Radio state group 3 body"/>
          <p:cNvSpPr txBox="1"/>
          <p:nvPr/>
        </p:nvSpPr>
        <p:spPr>
          <a:xfrm>
            <a:off x="8202168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：發射區間；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RX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：接收區間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停留或功率越高，累積 J 越多</a:t>
            </a:r>
          </a:p>
        </p:txBody>
      </p:sp>
      <p:sp>
        <p:nvSpPr>
          <p:cNvPr id="15" name="State causal chain"/>
          <p:cNvSpPr/>
          <p:nvPr/>
        </p:nvSpPr>
        <p:spPr>
          <a:xfrm>
            <a:off x="932688" y="3913632"/>
            <a:ext cx="4882896" cy="82296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完整讀法：動作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狀態區間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 interval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能量分桶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energy bucket</a:t>
            </a:r>
          </a:p>
        </p:txBody>
      </p:sp>
      <p:sp>
        <p:nvSpPr>
          <p:cNvPr id="16" name="State interpretation"/>
          <p:cNvSpPr/>
          <p:nvPr/>
        </p:nvSpPr>
        <p:spPr>
          <a:xfrm>
            <a:off x="6364224" y="3913632"/>
            <a:ext cx="4882896" cy="82296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同一個動作只標記一次；停留秒數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才形成 J</a:t>
            </a:r>
          </a:p>
        </p:txBody>
      </p:sp>
      <p:sp>
        <p:nvSpPr>
          <p:cNvPr id="17" name="Field contract radio_state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無線狀態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radio_state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（欄位）｜來源：runner events｜作用：標記停留區間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單位：state＋s｜判讀：對回 energy bucket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空檔策略的服務與能量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固定工作與服務窗口，只改一個空檔策略值，檢驗它如何改變狀態、服務與 J</a:t>
            </a:r>
          </a:p>
        </p:txBody>
      </p:sp>
      <p:sp>
        <p:nvSpPr>
          <p:cNvPr id="4" name="Lab A purpose card 1"/>
          <p:cNvSpPr/>
          <p:nvPr/>
        </p:nvSpPr>
        <p:spPr>
          <a:xfrm>
            <a:off x="868680" y="1463040"/>
            <a:ext cx="3246120" cy="22311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purpose card 1 heading"/>
          <p:cNvSpPr txBox="1"/>
          <p:nvPr/>
        </p:nvSpPr>
        <p:spPr>
          <a:xfrm>
            <a:off x="960120" y="1572768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為何做</a:t>
            </a:r>
          </a:p>
        </p:txBody>
      </p:sp>
      <p:sp>
        <p:nvSpPr>
          <p:cNvPr id="6" name="Lab A purpose card 1 body"/>
          <p:cNvSpPr txBox="1"/>
          <p:nvPr/>
        </p:nvSpPr>
        <p:spPr>
          <a:xfrm>
            <a:off x="996695" y="1993392"/>
            <a:ext cx="2990087" cy="159105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同一份工作與窗口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檢驗空檔策略是否改變服務與 J</a:t>
            </a:r>
          </a:p>
        </p:txBody>
      </p:sp>
      <p:sp>
        <p:nvSpPr>
          <p:cNvPr id="7" name="Lab A causal connector"/>
          <p:cNvSpPr/>
          <p:nvPr/>
        </p:nvSpPr>
        <p:spPr>
          <a:xfrm>
            <a:off x="4215384" y="2267712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purpose card 2"/>
          <p:cNvSpPr/>
          <p:nvPr/>
        </p:nvSpPr>
        <p:spPr>
          <a:xfrm>
            <a:off x="4471416" y="1463040"/>
            <a:ext cx="3246120" cy="22311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 A purpose card 2 heading"/>
          <p:cNvSpPr txBox="1"/>
          <p:nvPr/>
        </p:nvSpPr>
        <p:spPr>
          <a:xfrm>
            <a:off x="4562855" y="1572768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機制：休息／閒置</a:t>
            </a:r>
          </a:p>
        </p:txBody>
      </p:sp>
      <p:sp>
        <p:nvSpPr>
          <p:cNvPr id="10" name="Lab A purpose card 2 body"/>
          <p:cNvSpPr txBox="1"/>
          <p:nvPr/>
        </p:nvSpPr>
        <p:spPr>
          <a:xfrm>
            <a:off x="4599431" y="1993392"/>
            <a:ext cx="2990087" cy="159105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：低功耗，可能付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：清醒閒置，可能少喚醒</a:t>
            </a:r>
          </a:p>
        </p:txBody>
      </p:sp>
      <p:sp>
        <p:nvSpPr>
          <p:cNvPr id="11" name="Lab A causal connector"/>
          <p:cNvSpPr/>
          <p:nvPr/>
        </p:nvSpPr>
        <p:spPr>
          <a:xfrm>
            <a:off x="7818120" y="2267712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A purpose card 3"/>
          <p:cNvSpPr/>
          <p:nvPr/>
        </p:nvSpPr>
        <p:spPr>
          <a:xfrm>
            <a:off x="8074152" y="1463040"/>
            <a:ext cx="3246120" cy="22311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A purpose card 3 heading"/>
          <p:cNvSpPr txBox="1"/>
          <p:nvPr/>
        </p:nvSpPr>
        <p:spPr>
          <a:xfrm>
            <a:off x="8165592" y="1572768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判讀順序</a:t>
            </a:r>
          </a:p>
        </p:txBody>
      </p:sp>
      <p:sp>
        <p:nvSpPr>
          <p:cNvPr id="14" name="Lab A purpose card 3 body"/>
          <p:cNvSpPr txBox="1"/>
          <p:nvPr/>
        </p:nvSpPr>
        <p:spPr>
          <a:xfrm>
            <a:off x="8202168" y="1993392"/>
            <a:ext cx="2990087" cy="159105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先讀交付、期限、新鮮度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再讀端點 J；低 J 不等於成功</a:t>
            </a:r>
          </a:p>
        </p:txBody>
      </p:sp>
      <p:sp>
        <p:nvSpPr>
          <p:cNvPr id="15" name="Lab A baseline contract"/>
          <p:cNvSpPr/>
          <p:nvPr/>
        </p:nvSpPr>
        <p:spPr>
          <a:xfrm>
            <a:off x="932688" y="3767328"/>
            <a:ext cx="4882896" cy="12070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固定不變：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、scenario／seed／traffic／window、Lab B/C</a:t>
            </a:r>
          </a:p>
        </p:txBody>
      </p:sp>
      <p:sp>
        <p:nvSpPr>
          <p:cNvPr id="16" name="Lab A candidate contract"/>
          <p:cNvSpPr/>
          <p:nvPr/>
        </p:nvSpPr>
        <p:spPr>
          <a:xfrm>
            <a:off x="6364224" y="3767328"/>
            <a:ext cx="4882896" cy="12070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唯一變更：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順序：服務→封包→狀態→J</a:t>
            </a:r>
          </a:p>
        </p:txBody>
      </p:sp>
      <p:sp>
        <p:nvSpPr>
          <p:cNvPr id="17" name="Field contract service_pas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服務布林狀態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summary｜作用：required packet＋期限＋freshness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單位：true／false｜判讀：先判 service，再讀 J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封包生命週期：嘗試不等於交付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封包結果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packet outcome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要走完整生命週期；送出次數只是其中一段</a:t>
            </a:r>
          </a:p>
        </p:txBody>
      </p:sp>
      <p:sp>
        <p:nvSpPr>
          <p:cNvPr id="4" name="Packet lifecycle stage 1"/>
          <p:cNvSpPr/>
          <p:nvPr/>
        </p:nvSpPr>
        <p:spPr>
          <a:xfrm>
            <a:off x="868680" y="1481328"/>
            <a:ext cx="324612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cket lifecycle stage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建立／排隊</a:t>
            </a:r>
          </a:p>
        </p:txBody>
      </p:sp>
      <p:sp>
        <p:nvSpPr>
          <p:cNvPr id="6" name="Packet lifecycle stage 1 body"/>
          <p:cNvSpPr txBox="1"/>
          <p:nvPr/>
        </p:nvSpPr>
        <p:spPr>
          <a:xfrm>
            <a:off x="996695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建立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generated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（已產生）封包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（佇列）等待合法窗口</a:t>
            </a:r>
          </a:p>
        </p:txBody>
      </p:sp>
      <p:sp>
        <p:nvSpPr>
          <p:cNvPr id="7" name="Packet lifecycle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ket lifecycle stage 2"/>
          <p:cNvSpPr/>
          <p:nvPr/>
        </p:nvSpPr>
        <p:spPr>
          <a:xfrm>
            <a:off x="4471416" y="1481328"/>
            <a:ext cx="324612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lifecycle stage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嘗試／重試</a:t>
            </a:r>
          </a:p>
        </p:txBody>
      </p:sp>
      <p:sp>
        <p:nvSpPr>
          <p:cNvPr id="10" name="Packet lifecycle stage 2 body"/>
          <p:cNvSpPr txBox="1"/>
          <p:nvPr/>
        </p:nvSpPr>
        <p:spPr>
          <a:xfrm>
            <a:off x="4599431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進入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（無線嘗試）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碰撞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可能造成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1" name="Packet lifecycle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cket lifecycle stage 3"/>
          <p:cNvSpPr/>
          <p:nvPr/>
        </p:nvSpPr>
        <p:spPr>
          <a:xfrm>
            <a:off x="8074152" y="1481328"/>
            <a:ext cx="3246120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cket lifecycle stage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交付／服務</a:t>
            </a:r>
          </a:p>
        </p:txBody>
      </p:sp>
      <p:sp>
        <p:nvSpPr>
          <p:cNvPr id="14" name="Packet lifecycle stage 3 body"/>
          <p:cNvSpPr txBox="1"/>
          <p:nvPr/>
        </p:nvSpPr>
        <p:spPr>
          <a:xfrm>
            <a:off x="8202168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（已交付）或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（過期）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再由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判定</a:t>
            </a:r>
          </a:p>
        </p:txBody>
      </p:sp>
      <p:sp>
        <p:nvSpPr>
          <p:cNvPr id="15" name="Packet transport fields"/>
          <p:cNvSpPr/>
          <p:nvPr/>
        </p:nvSpPr>
        <p:spPr>
          <a:xfrm>
            <a:off x="932688" y="3913632"/>
            <a:ext cx="4882896" cy="8229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傳輸欄位：嘗試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attempted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、碰撞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collision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、重傳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retransmissions</a:t>
            </a:r>
          </a:p>
        </p:txBody>
      </p:sp>
      <p:sp>
        <p:nvSpPr>
          <p:cNvPr id="16" name="Packet outcome fields"/>
          <p:cNvSpPr/>
          <p:nvPr/>
        </p:nvSpPr>
        <p:spPr>
          <a:xfrm>
            <a:off x="6364224" y="3913632"/>
            <a:ext cx="4882896" cy="8229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結果欄位：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freshness</a:t>
            </a:r>
          </a:p>
        </p:txBody>
      </p:sp>
      <p:sp>
        <p:nvSpPr>
          <p:cNvPr id="17" name="Field contract attempted_packet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嘗試封包數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attempted_packets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summary｜作用：統計進入無線嘗試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單位：count｜判讀：對照 retry、expired、delivered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服務門檻先於端點能量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先固定同一比較邊界，再判定服務門檻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 gate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，最後讀端點能量 J</a:t>
            </a:r>
          </a:p>
        </p:txBody>
      </p:sp>
      <p:sp>
        <p:nvSpPr>
          <p:cNvPr id="4" name="Service ordering card 1"/>
          <p:cNvSpPr/>
          <p:nvPr/>
        </p:nvSpPr>
        <p:spPr>
          <a:xfrm>
            <a:off x="868680" y="1481328"/>
            <a:ext cx="324612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rvice ordering card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1｜固定比較邊界</a:t>
            </a:r>
          </a:p>
        </p:txBody>
      </p:sp>
      <p:sp>
        <p:nvSpPr>
          <p:cNvPr id="6" name="Service ordering card 1 body"/>
          <p:cNvSpPr txBox="1"/>
          <p:nvPr/>
        </p:nvSpPr>
        <p:spPr>
          <a:xfrm>
            <a:off x="996695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、種子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、流量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traffic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、窗口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端點範圍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scope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必須一致</a:t>
            </a:r>
          </a:p>
        </p:txBody>
      </p:sp>
      <p:sp>
        <p:nvSpPr>
          <p:cNvPr id="7" name="Service ordering connector"/>
          <p:cNvSpPr/>
          <p:nvPr/>
        </p:nvSpPr>
        <p:spPr>
          <a:xfrm>
            <a:off x="4215384" y="2267712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rvice ordering card 2"/>
          <p:cNvSpPr/>
          <p:nvPr/>
        </p:nvSpPr>
        <p:spPr>
          <a:xfrm>
            <a:off x="4471416" y="1481328"/>
            <a:ext cx="324612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rvice ordering card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2｜服務門檻</a:t>
            </a:r>
          </a:p>
        </p:txBody>
      </p:sp>
      <p:sp>
        <p:nvSpPr>
          <p:cNvPr id="10" name="Service ordering card 2 body"/>
          <p:cNvSpPr txBox="1"/>
          <p:nvPr/>
        </p:nvSpPr>
        <p:spPr>
          <a:xfrm>
            <a:off x="4599431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交付位元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、期限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新鮮度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freshness_status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共同形成 gate</a:t>
            </a:r>
          </a:p>
        </p:txBody>
      </p:sp>
      <p:sp>
        <p:nvSpPr>
          <p:cNvPr id="11" name="Service ordering connector"/>
          <p:cNvSpPr/>
          <p:nvPr/>
        </p:nvSpPr>
        <p:spPr>
          <a:xfrm>
            <a:off x="7818120" y="2267712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rvice ordering card 3"/>
          <p:cNvSpPr/>
          <p:nvPr/>
        </p:nvSpPr>
        <p:spPr>
          <a:xfrm>
            <a:off x="8074152" y="1481328"/>
            <a:ext cx="3246120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rvice ordering card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3｜端點能量 J</a:t>
            </a:r>
          </a:p>
        </p:txBody>
      </p:sp>
      <p:sp>
        <p:nvSpPr>
          <p:cNvPr id="14" name="Service ordering card 3 body"/>
          <p:cNvSpPr txBox="1"/>
          <p:nvPr/>
        </p:nvSpPr>
        <p:spPr>
          <a:xfrm>
            <a:off x="8202168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欄位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來自整段 state ledger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J；只在同一邊界內比較</a:t>
            </a:r>
          </a:p>
        </p:txBody>
      </p:sp>
      <p:sp>
        <p:nvSpPr>
          <p:cNvPr id="15" name="Service pass result"/>
          <p:cNvSpPr/>
          <p:nvPr/>
        </p:nvSpPr>
        <p:spPr>
          <a:xfrm>
            <a:off x="932688" y="3913632"/>
            <a:ext cx="4882896" cy="8229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服務通過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service_pass=true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：才可在相同工作邊界內比較 J</a:t>
            </a:r>
          </a:p>
        </p:txBody>
      </p:sp>
      <p:sp>
        <p:nvSpPr>
          <p:cNvPr id="16" name="Service fail result"/>
          <p:cNvSpPr/>
          <p:nvPr/>
        </p:nvSpPr>
        <p:spPr>
          <a:xfrm>
            <a:off x="6364224" y="3913632"/>
            <a:ext cx="4882896" cy="82296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服務未通過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service_pass=false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：J 只描述能量／服務取捨</a:t>
            </a:r>
          </a:p>
        </p:txBody>
      </p:sp>
      <p:sp>
        <p:nvSpPr>
          <p:cNvPr id="17" name="Field contract freshness_statu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新鮮度狀態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freshness_status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summary｜作用：required packet 是否新鮮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單位：fresh／stale／expired／N/A｜判讀：與 deadline、delivery 決定 gate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功率 W × 時間 s 形成能量 J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同一個功率值，停留時間不同就會留下不同的端點能量</a:t>
            </a:r>
          </a:p>
        </p:txBody>
      </p:sp>
      <p:sp>
        <p:nvSpPr>
          <p:cNvPr id="4" name="Power definition card"/>
          <p:cNvSpPr/>
          <p:nvPr/>
        </p:nvSpPr>
        <p:spPr>
          <a:xfrm>
            <a:off x="868680" y="1481328"/>
            <a:ext cx="2834640" cy="22677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wer definition card heading"/>
          <p:cNvSpPr txBox="1"/>
          <p:nvPr/>
        </p:nvSpPr>
        <p:spPr>
          <a:xfrm>
            <a:off x="96012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功率 </a:t>
            </a:r>
            <a:r>
              <a:rPr sz="23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</a:t>
            </a:r>
          </a:p>
        </p:txBody>
      </p:sp>
      <p:sp>
        <p:nvSpPr>
          <p:cNvPr id="6" name="Power definition card body"/>
          <p:cNvSpPr txBox="1"/>
          <p:nvPr/>
        </p:nvSpPr>
        <p:spPr>
          <a:xfrm>
            <a:off x="996695" y="2011680"/>
            <a:ext cx="2578608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某個狀態當下的高度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例如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awake_idle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7" name="Power interval chart"/>
          <p:cNvSpPr/>
          <p:nvPr/>
        </p:nvSpPr>
        <p:spPr>
          <a:xfrm>
            <a:off x="3977639" y="1481328"/>
            <a:ext cx="3822191" cy="22677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wer chart heading"/>
          <p:cNvSpPr txBox="1"/>
          <p:nvPr/>
        </p:nvSpPr>
        <p:spPr>
          <a:xfrm>
            <a:off x="4169663" y="1645920"/>
            <a:ext cx="3438144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不同狀態的功率高度</a:t>
            </a:r>
          </a:p>
        </p:txBody>
      </p:sp>
      <p:sp>
        <p:nvSpPr>
          <p:cNvPr id="9" name="Sleep power bar"/>
          <p:cNvSpPr/>
          <p:nvPr/>
        </p:nvSpPr>
        <p:spPr>
          <a:xfrm>
            <a:off x="4443984" y="2770632"/>
            <a:ext cx="658368" cy="56692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ake power bar"/>
          <p:cNvSpPr/>
          <p:nvPr/>
        </p:nvSpPr>
        <p:spPr>
          <a:xfrm>
            <a:off x="5285232" y="2350008"/>
            <a:ext cx="658368" cy="987552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cess power bar"/>
          <p:cNvSpPr/>
          <p:nvPr/>
        </p:nvSpPr>
        <p:spPr>
          <a:xfrm>
            <a:off x="6126480" y="2103120"/>
            <a:ext cx="658368" cy="123444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 power bar"/>
          <p:cNvSpPr/>
          <p:nvPr/>
        </p:nvSpPr>
        <p:spPr>
          <a:xfrm>
            <a:off x="6967728" y="1938528"/>
            <a:ext cx="658368" cy="1399032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wer chart labels"/>
          <p:cNvSpPr txBox="1"/>
          <p:nvPr/>
        </p:nvSpPr>
        <p:spPr>
          <a:xfrm>
            <a:off x="4187952" y="3310128"/>
            <a:ext cx="3401568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休息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｜喚醒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處理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process</a:t>
            </a: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｜發射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14" name="Power time connector"/>
          <p:cNvSpPr/>
          <p:nvPr/>
        </p:nvSpPr>
        <p:spPr>
          <a:xfrm>
            <a:off x="8028431" y="2322576"/>
            <a:ext cx="274320" cy="365760"/>
          </a:xfrm>
          <a:prstGeom prst="chevron">
            <a:avLst/>
          </a:prstGeom>
          <a:solidFill>
            <a:srgbClr val="25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me definition card"/>
          <p:cNvSpPr/>
          <p:nvPr/>
        </p:nvSpPr>
        <p:spPr>
          <a:xfrm>
            <a:off x="8458200" y="1481328"/>
            <a:ext cx="2834640" cy="22677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me definition card heading"/>
          <p:cNvSpPr txBox="1"/>
          <p:nvPr/>
        </p:nvSpPr>
        <p:spPr>
          <a:xfrm>
            <a:off x="854964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時間 </a:t>
            </a:r>
            <a:r>
              <a:rPr sz="23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</a:t>
            </a:r>
          </a:p>
        </p:txBody>
      </p:sp>
      <p:sp>
        <p:nvSpPr>
          <p:cNvPr id="17" name="Time definition card body"/>
          <p:cNvSpPr txBox="1"/>
          <p:nvPr/>
        </p:nvSpPr>
        <p:spPr>
          <a:xfrm>
            <a:off x="8586216" y="2011680"/>
            <a:ext cx="2578608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狀態區間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interval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的長度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 × t = J</a:t>
            </a:r>
          </a:p>
        </p:txBody>
      </p:sp>
      <p:sp>
        <p:nvSpPr>
          <p:cNvPr id="18" name="Energy bucket rule"/>
          <p:cNvSpPr/>
          <p:nvPr/>
        </p:nvSpPr>
        <p:spPr>
          <a:xfrm>
            <a:off x="932688" y="3968496"/>
            <a:ext cx="4882896" cy="7863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能量分桶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bucket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分開累積：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awake_idle／sleep／wake／process／tx／rx</a:t>
            </a:r>
          </a:p>
        </p:txBody>
      </p:sp>
      <p:sp>
        <p:nvSpPr>
          <p:cNvPr id="19" name="Clock energy rule"/>
          <p:cNvSpPr/>
          <p:nvPr/>
        </p:nvSpPr>
        <p:spPr>
          <a:xfrm>
            <a:off x="6364224" y="3968496"/>
            <a:ext cx="4882896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 10 s 時鐘步長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clock step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；收發流程另加入轉換能量</a:t>
            </a:r>
          </a:p>
        </p:txBody>
      </p:sp>
      <p:sp>
        <p:nvSpPr>
          <p:cNvPr id="20" name="Field contract energy_breakdown_j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能量分桶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artifact｜作用：按 state 保存 J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單位：J／bucket｜判讀：拆回 state interval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a14="http://schemas.microsoft.com/office/drawing/2010/main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端點能量的累積公式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公式說明端點狀態如何累積；結果產物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提供這次執行的數值</a:t>
            </a:r>
          </a:p>
        </p:txBody>
      </p:sp>
      <p:sp>
        <p:nvSpPr>
          <p:cNvPr id="4" name="Formula power input"/>
          <p:cNvSpPr/>
          <p:nvPr/>
        </p:nvSpPr>
        <p:spPr>
          <a:xfrm>
            <a:off x="868680" y="1481328"/>
            <a:ext cx="283464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rmula power input heading"/>
          <p:cNvSpPr txBox="1"/>
          <p:nvPr/>
        </p:nvSpPr>
        <p:spPr>
          <a:xfrm>
            <a:off x="96012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狀態功率 </a:t>
            </a:r>
            <a:r>
              <a:rPr sz="23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P_s</a:t>
            </a:r>
          </a:p>
        </p:txBody>
      </p:sp>
      <p:sp>
        <p:nvSpPr>
          <p:cNvPr id="6" name="Formula power input body"/>
          <p:cNvSpPr txBox="1"/>
          <p:nvPr/>
        </p:nvSpPr>
        <p:spPr>
          <a:xfrm>
            <a:off x="996695" y="2011680"/>
            <a:ext cx="2578608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某個狀態的功率高度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來源：energy profile</a:t>
            </a:r>
          </a:p>
        </p:txBody>
      </p:sp>
      <p:sp>
        <p:nvSpPr>
          <p:cNvPr id="7" name="Endpoint formula frame"/>
          <p:cNvSpPr/>
          <p:nvPr/>
        </p:nvSpPr>
        <p:spPr>
          <a:xfrm>
            <a:off x="3986784" y="1481328"/>
            <a:ext cx="4206240" cy="2212848"/>
          </a:xfrm>
          <a:prstGeom prst="roundRect">
            <a:avLst/>
          </a:prstGeom>
          <a:solidFill>
            <a:srgbClr val="F7F8FC"/>
          </a:solidFill>
          <a:ln w="2032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endpoint formula"/>
          <p:cNvSpPr txBox="1"/>
          <p:nvPr/>
        </p:nvSpPr>
        <p:spPr>
          <a:xfrm>
            <a:off x="4187952" y="1920240"/>
            <a:ext cx="3803904" cy="6400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端點能量 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E_endpoint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P_s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× 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t_s</a:t>
            </a:r>
          </a:p>
        </p:txBody>
      </p:sp>
      <p:sp>
        <p:nvSpPr>
          <p:cNvPr id="9" name="Endpoint formula unit"/>
          <p:cNvSpPr txBox="1"/>
          <p:nvPr/>
        </p:nvSpPr>
        <p:spPr>
          <a:xfrm>
            <a:off x="4224528" y="2871216"/>
            <a:ext cx="3730752" cy="2560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分段累積｜單位：J</a:t>
            </a:r>
          </a:p>
        </p:txBody>
      </p:sp>
      <p:sp>
        <p:nvSpPr>
          <p:cNvPr id="10" name="Formula time input"/>
          <p:cNvSpPr/>
          <p:nvPr/>
        </p:nvSpPr>
        <p:spPr>
          <a:xfrm>
            <a:off x="8476488" y="1481328"/>
            <a:ext cx="283464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rmula time input heading"/>
          <p:cNvSpPr txBox="1"/>
          <p:nvPr/>
        </p:nvSpPr>
        <p:spPr>
          <a:xfrm>
            <a:off x="8567928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停留時間 </a:t>
            </a:r>
            <a:r>
              <a:rPr sz="23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t_s</a:t>
            </a:r>
          </a:p>
        </p:txBody>
      </p:sp>
      <p:sp>
        <p:nvSpPr>
          <p:cNvPr id="12" name="Formula time input body"/>
          <p:cNvSpPr txBox="1"/>
          <p:nvPr/>
        </p:nvSpPr>
        <p:spPr>
          <a:xfrm>
            <a:off x="8604504" y="2011680"/>
            <a:ext cx="2578608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狀態區間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interval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事件</a:t>
            </a:r>
          </a:p>
        </p:txBody>
      </p:sp>
      <p:sp>
        <p:nvSpPr>
          <p:cNvPr id="13" name="Endpoint scope boundary"/>
          <p:cNvSpPr/>
          <p:nvPr/>
        </p:nvSpPr>
        <p:spPr>
          <a:xfrm>
            <a:off x="932688" y="3913632"/>
            <a:ext cx="4882896" cy="8046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端點範圍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 scope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：宣告的 radio／processing 狀態與轉換</a:t>
            </a:r>
          </a:p>
        </p:txBody>
      </p:sp>
      <p:sp>
        <p:nvSpPr>
          <p:cNvPr id="14" name="Endpoint exclusion boundary"/>
          <p:cNvSpPr/>
          <p:nvPr/>
        </p:nvSpPr>
        <p:spPr>
          <a:xfrm>
            <a:off x="6364224" y="3913632"/>
            <a:ext cx="4882896" cy="80467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不包含衛星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satellite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、閘道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gateway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、整體插座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wall-plug</a:t>
            </a:r>
          </a:p>
        </p:txBody>
      </p:sp>
      <p:sp>
        <p:nvSpPr>
          <p:cNvPr id="15" name="Field contract endpoint_energy_j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summary｜作用：同一 endpoint boundary 的總和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單位：J｜判讀：對照 energy bucket</a:t>
            </a:r>
          </a:p>
        </p:txBody>
      </p:sp>
      <p:sp>
        <p:nvSpPr>
          <p:cNvPr id="16" name="Native Office Math endpoint" title="endpoint" descr="endpoint"/>
          <p:cNvSpPr hidden="1">
            <a:spLocks noGrp="1"/>
          </p:cNvSpPr>
          <p:nvPr/>
        </p:nvSpPr>
        <p:spPr>
          <a:xfrm>
            <a:off x="0" y="0"/>
            <a:ext cx="1" cy="1"/>
          </a:xfrm>
          <a:noFill/>
          <a:ln>
            <a:noFill/>
          </a:ln>
        </p:spPr>
        <p:txBody>
          <a:bodyPr anchor="ctr" wrap="none"/>
          <a:lstStyle/>
          <a:p>
            <a:pPr algn="ctr"/>
            <a14:m>
              <m:oMathPara>
                <m:oMath>
                  <m:sSub>
                    <m:sSubPr/>
                    <m:e>
                      <m:r>
                        <a:rPr lang="en-US" altLang="en-US" sz="3000" dirty="0" i="1">
                          <a:latin typeface="Cambria Math"/>
                        </a:rPr>
                        <m:t>E</m:t>
                      </m:r>
                    </m:e>
                    <m:e>
                      <m:r>
                        <a:rPr lang="en-US" altLang="en-US" sz="3000" dirty="0">
                          <a:latin typeface="Cambria Math"/>
                        </a:rPr>
                        <m:t>endpoint</m:t>
                      </m:r>
                    </m:e>
                  </m:sSub>
                  <m:r>
                    <a:rPr lang="en-US" altLang="en-US" sz="3000" dirty="0">
                      <a:latin typeface="Cambria Math"/>
                    </a:rPr>
                    <m:t> = </m:t>
                  </m:r>
                  <m:nary>
                    <m:naryPr>
                      <m:chr m:val="∑"/>
                      <m:limLoc m:val="undOvr"/>
                      <m:grow m:val="1"/>
                    </m:naryPr>
                    <m:sub>
                      <m:r>
                        <a:rPr lang="en-US" altLang="en-US" sz="3000" dirty="0" i="1">
                          <a:latin typeface="Cambria Math"/>
                        </a:rPr>
                        <m:t>s</m:t>
                      </m:r>
                      <m:r>
                        <a:rPr lang="en-US" altLang="en-US" sz="3000" dirty="0">
                          <a:latin typeface="Cambria Math"/>
                        </a:rPr>
                        <m:t> ∈ </m:t>
                      </m:r>
                      <m:r>
                        <a:rPr lang="en-US" altLang="en-US" sz="3000" dirty="0" i="1">
                          <a:latin typeface="Cambria Math"/>
                        </a:rPr>
                        <m:t>S</m:t>
                      </m:r>
                    </m:sub>
                    <m:sup/>
                    <m:e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P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> </m:t>
                      </m:r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t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e>
                      </m:sSub>
                    </m:e>
                  </m:nary>
                </m:oMath>
              </m:oMathPara>
            </a14:m>
            <a:endParaRPr lang="en-US" sz="3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a14="http://schemas.microsoft.com/office/drawing/2010/main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端點能量效率的 bit/J 邊界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bit/J 是同一端點範圍內的效率比值；服務門檻仍獨立判定</a:t>
            </a:r>
          </a:p>
        </p:txBody>
      </p:sp>
      <p:sp>
        <p:nvSpPr>
          <p:cNvPr id="4" name="Delivered numerator card"/>
          <p:cNvSpPr/>
          <p:nvPr/>
        </p:nvSpPr>
        <p:spPr>
          <a:xfrm>
            <a:off x="868680" y="1481328"/>
            <a:ext cx="2834640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livered numerator card heading"/>
          <p:cNvSpPr txBox="1"/>
          <p:nvPr/>
        </p:nvSpPr>
        <p:spPr>
          <a:xfrm>
            <a:off x="96012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交付資料 </a:t>
            </a:r>
            <a:r>
              <a:rPr sz="21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D_delivered</a:t>
            </a:r>
          </a:p>
        </p:txBody>
      </p:sp>
      <p:sp>
        <p:nvSpPr>
          <p:cNvPr id="6" name="Delivered numerator card body"/>
          <p:cNvSpPr txBox="1"/>
          <p:nvPr/>
        </p:nvSpPr>
        <p:spPr>
          <a:xfrm>
            <a:off x="996695" y="2011680"/>
            <a:ext cx="2578608" cy="1463039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實際交付的資料量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單位：bit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來源：結果摘要</a:t>
            </a:r>
          </a:p>
        </p:txBody>
      </p:sp>
      <p:sp>
        <p:nvSpPr>
          <p:cNvPr id="7" name="Efficiency formula frame"/>
          <p:cNvSpPr/>
          <p:nvPr/>
        </p:nvSpPr>
        <p:spPr>
          <a:xfrm>
            <a:off x="3886200" y="1481328"/>
            <a:ext cx="4069080" cy="2103120"/>
          </a:xfrm>
          <a:prstGeom prst="roundRect">
            <a:avLst/>
          </a:prstGeom>
          <a:solidFill>
            <a:srgbClr val="F7F8FC"/>
          </a:solidFill>
          <a:ln w="2032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efficiency formula"/>
          <p:cNvSpPr txBox="1"/>
          <p:nvPr/>
        </p:nvSpPr>
        <p:spPr>
          <a:xfrm>
            <a:off x="4069080" y="1865376"/>
            <a:ext cx="3703320" cy="6583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端點效率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η_E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D_delivered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/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9" name="Efficiency unit"/>
          <p:cNvSpPr txBox="1"/>
          <p:nvPr/>
        </p:nvSpPr>
        <p:spPr>
          <a:xfrm>
            <a:off x="4096512" y="2907792"/>
            <a:ext cx="3648456" cy="2377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bit ÷ J = bit/J</a:t>
            </a:r>
          </a:p>
        </p:txBody>
      </p:sp>
      <p:sp>
        <p:nvSpPr>
          <p:cNvPr id="10" name="Endpoint denominator card"/>
          <p:cNvSpPr/>
          <p:nvPr/>
        </p:nvSpPr>
        <p:spPr>
          <a:xfrm>
            <a:off x="8074152" y="1481328"/>
            <a:ext cx="2834640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ndpoint denominator card heading"/>
          <p:cNvSpPr txBox="1"/>
          <p:nvPr/>
        </p:nvSpPr>
        <p:spPr>
          <a:xfrm>
            <a:off x="8165592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端點能量 </a:t>
            </a:r>
            <a:r>
              <a:rPr sz="21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12" name="Endpoint denominator card body"/>
          <p:cNvSpPr txBox="1"/>
          <p:nvPr/>
        </p:nvSpPr>
        <p:spPr>
          <a:xfrm>
            <a:off x="8202168" y="2011680"/>
            <a:ext cx="2578608" cy="1463039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端點狀態的累積能量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來源：結果摘要</a:t>
            </a:r>
          </a:p>
        </p:txBody>
      </p:sp>
      <p:sp>
        <p:nvSpPr>
          <p:cNvPr id="13" name="Efficiency caveat card"/>
          <p:cNvSpPr/>
          <p:nvPr/>
        </p:nvSpPr>
        <p:spPr>
          <a:xfrm>
            <a:off x="932688" y="3840480"/>
            <a:ext cx="4882896" cy="8595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bit/J 高但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service_pass=false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只作效率觀察，不作服務成功判定</a:t>
            </a:r>
          </a:p>
        </p:txBody>
      </p:sp>
      <p:sp>
        <p:nvSpPr>
          <p:cNvPr id="14" name="Efficiency service card"/>
          <p:cNvSpPr/>
          <p:nvPr/>
        </p:nvSpPr>
        <p:spPr>
          <a:xfrm>
            <a:off x="6364224" y="3840480"/>
            <a:ext cx="4882896" cy="859536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仍獨立判定：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依必要封包與期限讀結果</a:t>
            </a:r>
          </a:p>
        </p:txBody>
      </p:sp>
      <p:sp>
        <p:nvSpPr>
          <p:cNvPr id="15" name="Field contract endpoint_energy_efficiency_bits_per_j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端點能量效率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endpoint_energy_efficiency_bits_per_j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summary｜作用：delivered bit ÷ endpoint J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單位：bit/J｜判讀：不取代 service gate</a:t>
            </a:r>
          </a:p>
        </p:txBody>
      </p:sp>
      <p:sp>
        <p:nvSpPr>
          <p:cNvPr id="16" name="Native Office Math efficiency" title="efficiency" descr="efficiency"/>
          <p:cNvSpPr hidden="1">
            <a:spLocks noGrp="1"/>
          </p:cNvSpPr>
          <p:nvPr/>
        </p:nvSpPr>
        <p:spPr>
          <a:xfrm>
            <a:off x="0" y="0"/>
            <a:ext cx="1" cy="1"/>
          </a:xfrm>
          <a:noFill/>
          <a:ln>
            <a:noFill/>
          </a:ln>
        </p:spPr>
        <p:txBody>
          <a:bodyPr anchor="ctr" wrap="none"/>
          <a:lstStyle/>
          <a:p>
            <a:pPr algn="ctr"/>
            <a14:m>
              <m:oMathPara>
                <m:oMath>
                  <m:sSub>
                    <m:sSubPr/>
                    <m:e>
                      <m:r>
                        <a:rPr lang="en-US" altLang="en-US" sz="3000" dirty="0" i="1">
                          <a:latin typeface="Cambria Math"/>
                        </a:rPr>
                        <m:t>η</m:t>
                      </m:r>
                    </m:e>
                    <m:e>
                      <m:r>
                        <a:rPr lang="en-US" altLang="en-US" sz="3000" dirty="0">
                          <a:latin typeface="Cambria Math"/>
                        </a:rPr>
                        <m:t>E</m:t>
                      </m:r>
                    </m:e>
                  </m:sSub>
                  <m:r>
                    <a:rPr lang="en-US" altLang="en-US" sz="3000" dirty="0">
                      <a:latin typeface="Cambria Math"/>
                    </a:rPr>
                    <m:t> = </m:t>
                  </m:r>
                  <m:f>
                    <m:fPr>
                      <m:type m:val="bar"/>
                    </m:fPr>
                    <m:num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D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delivered</m:t>
                          </m:r>
                        </m:e>
                      </m:sSub>
                    </m:num>
                    <m:den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endpoint</m:t>
                          </m:r>
                        </m:e>
                      </m:sSub>
                    </m:den>
                  </m:f>
                </m:oMath>
              </m:oMathPara>
            </a14:m>
            <a:endParaRPr lang="en-US" sz="3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來源、模型、課程假設與結果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同一筆數字要沿來源、模型、固定課程假設與結果產物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回溯</a:t>
            </a:r>
          </a:p>
        </p:txBody>
      </p:sp>
      <p:sp>
        <p:nvSpPr>
          <p:cNvPr id="4" name="Provenance layer 1"/>
          <p:cNvSpPr/>
          <p:nvPr/>
        </p:nvSpPr>
        <p:spPr>
          <a:xfrm>
            <a:off x="713232" y="1536192"/>
            <a:ext cx="2542032" cy="201168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venance layer 1 heading"/>
          <p:cNvSpPr txBox="1"/>
          <p:nvPr/>
        </p:nvSpPr>
        <p:spPr>
          <a:xfrm>
            <a:off x="80467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來源 Source</a:t>
            </a:r>
          </a:p>
        </p:txBody>
      </p:sp>
      <p:sp>
        <p:nvSpPr>
          <p:cNvPr id="6" name="Provenance layer 1 body"/>
          <p:cNvSpPr txBox="1"/>
          <p:nvPr/>
        </p:nvSpPr>
        <p:spPr>
          <a:xfrm>
            <a:off x="841248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可追溯來源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provenance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參考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上游 repository／commit，不是本次量測</a:t>
            </a:r>
          </a:p>
        </p:txBody>
      </p:sp>
      <p:sp>
        <p:nvSpPr>
          <p:cNvPr id="7" name="Provenance connector"/>
          <p:cNvSpPr/>
          <p:nvPr/>
        </p:nvSpPr>
        <p:spPr>
          <a:xfrm>
            <a:off x="3346704" y="2340864"/>
            <a:ext cx="201168" cy="329184"/>
          </a:xfrm>
          <a:prstGeom prst="chevron">
            <a:avLst/>
          </a:prstGeom>
          <a:solidFill>
            <a:srgbClr val="25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venance layer 2"/>
          <p:cNvSpPr/>
          <p:nvPr/>
        </p:nvSpPr>
        <p:spPr>
          <a:xfrm>
            <a:off x="3547872" y="1536192"/>
            <a:ext cx="2542032" cy="20116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venance layer 2 heading"/>
          <p:cNvSpPr txBox="1"/>
          <p:nvPr/>
        </p:nvSpPr>
        <p:spPr>
          <a:xfrm>
            <a:off x="363931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模型 Model</a:t>
            </a:r>
          </a:p>
        </p:txBody>
      </p:sp>
      <p:sp>
        <p:nvSpPr>
          <p:cNvPr id="10" name="Provenance layer 2 body"/>
          <p:cNvSpPr txBox="1"/>
          <p:nvPr/>
        </p:nvSpPr>
        <p:spPr>
          <a:xfrm>
            <a:off x="3675887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課程模擬轉接器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固定執行器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的行為</a:t>
            </a:r>
          </a:p>
        </p:txBody>
      </p:sp>
      <p:sp>
        <p:nvSpPr>
          <p:cNvPr id="11" name="Provenance connector"/>
          <p:cNvSpPr/>
          <p:nvPr/>
        </p:nvSpPr>
        <p:spPr>
          <a:xfrm>
            <a:off x="6181344" y="2340864"/>
            <a:ext cx="201168" cy="32918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venance layer 3"/>
          <p:cNvSpPr/>
          <p:nvPr/>
        </p:nvSpPr>
        <p:spPr>
          <a:xfrm>
            <a:off x="6382512" y="1536192"/>
            <a:ext cx="2542032" cy="20116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enance layer 3 heading"/>
          <p:cNvSpPr txBox="1"/>
          <p:nvPr/>
        </p:nvSpPr>
        <p:spPr>
          <a:xfrm>
            <a:off x="647395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課程假設 Course</a:t>
            </a:r>
          </a:p>
        </p:txBody>
      </p:sp>
      <p:sp>
        <p:nvSpPr>
          <p:cNvPr id="14" name="Provenance layer 3 body"/>
          <p:cNvSpPr txBox="1"/>
          <p:nvPr/>
        </p:nvSpPr>
        <p:spPr>
          <a:xfrm>
            <a:off x="6510528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、窗口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、流量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traffic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端點設定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profile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固定</a:t>
            </a:r>
          </a:p>
        </p:txBody>
      </p:sp>
      <p:sp>
        <p:nvSpPr>
          <p:cNvPr id="15" name="Provenance connector"/>
          <p:cNvSpPr/>
          <p:nvPr/>
        </p:nvSpPr>
        <p:spPr>
          <a:xfrm>
            <a:off x="9015984" y="2340864"/>
            <a:ext cx="201168" cy="32918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venance layer 4"/>
          <p:cNvSpPr/>
          <p:nvPr/>
        </p:nvSpPr>
        <p:spPr>
          <a:xfrm>
            <a:off x="9217152" y="1536192"/>
            <a:ext cx="2542032" cy="20116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venance layer 4 heading"/>
          <p:cNvSpPr txBox="1"/>
          <p:nvPr/>
        </p:nvSpPr>
        <p:spPr>
          <a:xfrm>
            <a:off x="930859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結果 Result</a:t>
            </a:r>
          </a:p>
        </p:txBody>
      </p:sp>
      <p:sp>
        <p:nvSpPr>
          <p:cNvPr id="18" name="Provenance layer 4 body"/>
          <p:cNvSpPr txBox="1"/>
          <p:nvPr/>
        </p:nvSpPr>
        <p:spPr>
          <a:xfrm>
            <a:off x="9345168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JSON 結果＋同次事件重播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宣告的 claim boundary 隨產物保存</a:t>
            </a:r>
          </a:p>
        </p:txBody>
      </p:sp>
      <p:sp>
        <p:nvSpPr>
          <p:cNvPr id="19" name="Provenance execution boundary"/>
          <p:cNvSpPr/>
          <p:nvPr/>
        </p:nvSpPr>
        <p:spPr>
          <a:xfrm>
            <a:off x="932688" y="3968496"/>
            <a:ext cx="4882896" cy="74980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上游執行旗標 </a:t>
            </a:r>
            <a:r>
              <a:rPr sz="19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upstream_execution = false</a:t>
            </a: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：這不是上游即時執行</a:t>
            </a:r>
          </a:p>
        </p:txBody>
      </p:sp>
      <p:sp>
        <p:nvSpPr>
          <p:cNvPr id="20" name="Provenance result boundary"/>
          <p:cNvSpPr/>
          <p:nvPr/>
        </p:nvSpPr>
        <p:spPr>
          <a:xfrm>
            <a:off x="6364224" y="3968496"/>
            <a:ext cx="4882896" cy="7498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結果型態：一致的模擬結果；所有數值以本次產物 </a:t>
            </a:r>
            <a:r>
              <a:rPr sz="19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19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讀值</a:t>
            </a:r>
          </a:p>
        </p:txBody>
      </p:sp>
      <p:sp>
        <p:nvSpPr>
          <p:cNvPr id="21" name="Field contract runner_provenance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執行來源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runner_provenance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artifact｜作用：保存 model／assumption／execution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單位：record｜判讀：設定 claim ceiling</a:t>
            </a:r>
          </a:p>
        </p:txBody>
      </p:sp>
      <p:sp>
        <p:nvSpPr>
          <p:cNvPr id="22" name="Claim boundary"/>
          <p:cNvSpPr txBox="1"/>
          <p:nvPr/>
        </p:nvSpPr>
        <p:spPr>
          <a:xfrm>
            <a:off x="841248" y="5852160"/>
            <a:ext cx="10442448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執行、事件重播與工作簿的身分鏈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同一組身分欄位連結結果、重播與工作簿；不是只靠一個情境識別碼</a:t>
            </a:r>
          </a:p>
        </p:txBody>
      </p:sp>
      <p:sp>
        <p:nvSpPr>
          <p:cNvPr id="4" name="Identity object 1"/>
          <p:cNvSpPr/>
          <p:nvPr/>
        </p:nvSpPr>
        <p:spPr>
          <a:xfrm>
            <a:off x="868680" y="1481328"/>
            <a:ext cx="3246120" cy="18470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dentity object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執行 RUN</a:t>
            </a:r>
          </a:p>
        </p:txBody>
      </p:sp>
      <p:sp>
        <p:nvSpPr>
          <p:cNvPr id="6" name="Identity object 1 body"/>
          <p:cNvSpPr txBox="1"/>
          <p:nvPr/>
        </p:nvSpPr>
        <p:spPr>
          <a:xfrm>
            <a:off x="996695" y="2011680"/>
            <a:ext cx="2990087" cy="120700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執行器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讀情境、案例與策略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輸出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與同目錄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7" name="Identity chain connector"/>
          <p:cNvSpPr/>
          <p:nvPr/>
        </p:nvSpPr>
        <p:spPr>
          <a:xfrm>
            <a:off x="4215384" y="2212848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dentity object 2"/>
          <p:cNvSpPr/>
          <p:nvPr/>
        </p:nvSpPr>
        <p:spPr>
          <a:xfrm>
            <a:off x="4471416" y="1481328"/>
            <a:ext cx="3246120" cy="184708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dentity object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事件重播 REPLAY</a:t>
            </a:r>
          </a:p>
        </p:txBody>
      </p:sp>
      <p:sp>
        <p:nvSpPr>
          <p:cNvPr id="10" name="Identity object 2 body"/>
          <p:cNvSpPr txBox="1"/>
          <p:nvPr/>
        </p:nvSpPr>
        <p:spPr>
          <a:xfrm>
            <a:off x="4599431" y="2011680"/>
            <a:ext cx="2990087" cy="120700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讀同一次執行的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events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顯示動作、狀態、佇列與封包，不重跑策略</a:t>
            </a:r>
          </a:p>
        </p:txBody>
      </p:sp>
      <p:sp>
        <p:nvSpPr>
          <p:cNvPr id="11" name="Identity chain connector"/>
          <p:cNvSpPr/>
          <p:nvPr/>
        </p:nvSpPr>
        <p:spPr>
          <a:xfrm>
            <a:off x="7818120" y="2212848"/>
            <a:ext cx="274320" cy="365760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dentity object 3"/>
          <p:cNvSpPr/>
          <p:nvPr/>
        </p:nvSpPr>
        <p:spPr>
          <a:xfrm>
            <a:off x="8074152" y="1481328"/>
            <a:ext cx="3246120" cy="184708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dentity object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比較紀錄 WORKBOOK</a:t>
            </a:r>
          </a:p>
        </p:txBody>
      </p:sp>
      <p:sp>
        <p:nvSpPr>
          <p:cNvPr id="14" name="Identity object 3 body"/>
          <p:cNvSpPr txBox="1"/>
          <p:nvPr/>
        </p:nvSpPr>
        <p:spPr>
          <a:xfrm>
            <a:off x="8202168" y="2011680"/>
            <a:ext cx="2990087" cy="120700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保存預測、基準、候選、凍結與 withheld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寫入結果／重播的 lineage（來源鏈）</a:t>
            </a:r>
          </a:p>
        </p:txBody>
      </p:sp>
      <p:sp>
        <p:nvSpPr>
          <p:cNvPr id="15" name="Scenario identity field"/>
          <p:cNvSpPr/>
          <p:nvPr/>
        </p:nvSpPr>
        <p:spPr>
          <a:xfrm>
            <a:off x="932688" y="3675887"/>
            <a:ext cx="4882896" cy="9326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情境識別碼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：指出固定情境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是字串，不是能量值；來源：scenario／result</a:t>
            </a:r>
          </a:p>
        </p:txBody>
      </p:sp>
      <p:sp>
        <p:nvSpPr>
          <p:cNvPr id="16" name="Identity mismatch field"/>
          <p:cNvSpPr/>
          <p:nvPr/>
        </p:nvSpPr>
        <p:spPr>
          <a:xfrm>
            <a:off x="6364224" y="3675887"/>
            <a:ext cx="4882896" cy="93268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run_id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＋策略身分＋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provenance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任一不一致就拒絕匯入（fail closed）</a:t>
            </a:r>
          </a:p>
        </p:txBody>
      </p:sp>
      <p:sp>
        <p:nvSpPr>
          <p:cNvPr id="17" name="Claim boundary"/>
          <p:cNvSpPr txBox="1"/>
          <p:nvPr/>
        </p:nvSpPr>
        <p:spPr>
          <a:xfrm>
            <a:off x="841248" y="5852160"/>
            <a:ext cx="10442448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 Baseline：固定條件的對照執行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Baseline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固定情境、種子與原始策略，才提供可比較的對照</a:t>
            </a:r>
          </a:p>
        </p:txBody>
      </p:sp>
      <p:sp>
        <p:nvSpPr>
          <p:cNvPr id="4" name="Baseline rule 1"/>
          <p:cNvSpPr/>
          <p:nvPr/>
        </p:nvSpPr>
        <p:spPr>
          <a:xfrm>
            <a:off x="868680" y="1481328"/>
            <a:ext cx="3246120" cy="204825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seline rule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固定輸入</a:t>
            </a:r>
          </a:p>
        </p:txBody>
      </p:sp>
      <p:sp>
        <p:nvSpPr>
          <p:cNvPr id="6" name="Baseline rule 1 body"/>
          <p:cNvSpPr txBox="1"/>
          <p:nvPr/>
        </p:nvSpPr>
        <p:spPr>
          <a:xfrm>
            <a:off x="996695" y="2011680"/>
            <a:ext cx="2990087" cy="14081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／種子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seed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流量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traffic</a:t>
            </a: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／窗口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端點範圍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scope</a:t>
            </a:r>
          </a:p>
        </p:txBody>
      </p:sp>
      <p:sp>
        <p:nvSpPr>
          <p:cNvPr id="7" name="Baseline causal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rule 2"/>
          <p:cNvSpPr/>
          <p:nvPr/>
        </p:nvSpPr>
        <p:spPr>
          <a:xfrm>
            <a:off x="4471416" y="1481328"/>
            <a:ext cx="3246120" cy="20482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seline rule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唯一變動</a:t>
            </a:r>
          </a:p>
        </p:txBody>
      </p:sp>
      <p:sp>
        <p:nvSpPr>
          <p:cNvPr id="10" name="Baseline rule 2 body"/>
          <p:cNvSpPr txBox="1"/>
          <p:nvPr/>
        </p:nvSpPr>
        <p:spPr>
          <a:xfrm>
            <a:off x="4599431" y="2011680"/>
            <a:ext cx="2990087" cy="14081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標記區塊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一次只改一個因果值</a:t>
            </a:r>
          </a:p>
        </p:txBody>
      </p:sp>
      <p:sp>
        <p:nvSpPr>
          <p:cNvPr id="11" name="Baseline causal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seline rule 3"/>
          <p:cNvSpPr/>
          <p:nvPr/>
        </p:nvSpPr>
        <p:spPr>
          <a:xfrm>
            <a:off x="8074152" y="1481328"/>
            <a:ext cx="3246120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line rule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觀察輸出</a:t>
            </a:r>
          </a:p>
        </p:txBody>
      </p:sp>
      <p:sp>
        <p:nvSpPr>
          <p:cNvPr id="14" name="Baseline rule 3 body"/>
          <p:cNvSpPr txBox="1"/>
          <p:nvPr/>
        </p:nvSpPr>
        <p:spPr>
          <a:xfrm>
            <a:off x="8202168" y="2011680"/>
            <a:ext cx="2990087" cy="14081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狀態時間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封包結果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packet outcome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服務判定與端點 J</a:t>
            </a:r>
          </a:p>
        </p:txBody>
      </p:sp>
      <p:sp>
        <p:nvSpPr>
          <p:cNvPr id="15" name="Baseline control condition"/>
          <p:cNvSpPr/>
          <p:nvPr/>
        </p:nvSpPr>
        <p:spPr>
          <a:xfrm>
            <a:off x="932688" y="3950208"/>
            <a:ext cx="4882896" cy="74980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公平條件：兩次結果的身分與端點範圍一致</a:t>
            </a:r>
          </a:p>
        </p:txBody>
      </p:sp>
      <p:sp>
        <p:nvSpPr>
          <p:cNvPr id="16" name="Baseline interpretation"/>
          <p:cNvSpPr/>
          <p:nvPr/>
        </p:nvSpPr>
        <p:spPr>
          <a:xfrm>
            <a:off x="6364224" y="3950208"/>
            <a:ext cx="4882896" cy="74980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解釋順序：先回到標記區塊，再讀狀態／封包／服務／J</a:t>
            </a:r>
          </a:p>
        </p:txBody>
      </p:sp>
      <p:sp>
        <p:nvSpPr>
          <p:cNvPr id="17" name="Field contract policy identity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策略識別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identity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policy｜作用：指出 policy surface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單位：識別碼｜判讀：與 scenario、run_id 比對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的變動服務窗口軌跡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服務窗口輸入改變合法傳輸機會；策略再依觀察值選擇動作</a:t>
            </a:r>
          </a:p>
        </p:txBody>
      </p:sp>
      <p:sp>
        <p:nvSpPr>
          <p:cNvPr id="4" name="LEO window segment 1"/>
          <p:cNvSpPr/>
          <p:nvPr/>
        </p:nvSpPr>
        <p:spPr>
          <a:xfrm>
            <a:off x="841248" y="1572768"/>
            <a:ext cx="1325880" cy="9692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</a:t>
            </a:r>
            <a:r>
              <a:rPr sz="1900" b="1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不接受傳輸</a:t>
            </a:r>
          </a:p>
        </p:txBody>
      </p:sp>
      <p:sp>
        <p:nvSpPr>
          <p:cNvPr id="5" name="LEO window segment 2"/>
          <p:cNvSpPr/>
          <p:nvPr/>
        </p:nvSpPr>
        <p:spPr>
          <a:xfrm>
            <a:off x="2240280" y="1572768"/>
            <a:ext cx="2194560" cy="969264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服務窗口 A </a:t>
            </a:r>
            <a:r>
              <a:rPr sz="1900" b="1" i="1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contact-a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品質逐步變化</a:t>
            </a:r>
          </a:p>
        </p:txBody>
      </p:sp>
      <p:sp>
        <p:nvSpPr>
          <p:cNvPr id="6" name="LEO window segment 3"/>
          <p:cNvSpPr/>
          <p:nvPr/>
        </p:nvSpPr>
        <p:spPr>
          <a:xfrm>
            <a:off x="4507992" y="1572768"/>
            <a:ext cx="1325880" cy="9692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</a:t>
            </a:r>
            <a:r>
              <a:rPr sz="1900" b="1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服務機會消失</a:t>
            </a:r>
          </a:p>
        </p:txBody>
      </p:sp>
      <p:sp>
        <p:nvSpPr>
          <p:cNvPr id="7" name="LEO window segment 4"/>
          <p:cNvSpPr/>
          <p:nvPr/>
        </p:nvSpPr>
        <p:spPr>
          <a:xfrm>
            <a:off x="5907024" y="1572768"/>
            <a:ext cx="2194560" cy="969264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服務窗口 B </a:t>
            </a:r>
            <a:r>
              <a:rPr sz="1900" b="1" i="1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contact-b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品質再次變化</a:t>
            </a:r>
          </a:p>
        </p:txBody>
      </p:sp>
      <p:sp>
        <p:nvSpPr>
          <p:cNvPr id="8" name="LEO window segment 5"/>
          <p:cNvSpPr/>
          <p:nvPr/>
        </p:nvSpPr>
        <p:spPr>
          <a:xfrm>
            <a:off x="8174736" y="1572768"/>
            <a:ext cx="1325880" cy="9692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</a:t>
            </a:r>
            <a:r>
              <a:rPr sz="1900" b="1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回到休息</a:t>
            </a:r>
          </a:p>
        </p:txBody>
      </p:sp>
      <p:sp>
        <p:nvSpPr>
          <p:cNvPr id="9" name="LEO trace field 1"/>
          <p:cNvSpPr/>
          <p:nvPr/>
        </p:nvSpPr>
        <p:spPr>
          <a:xfrm>
            <a:off x="868680" y="2907792"/>
            <a:ext cx="3246120" cy="14630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O trace field 1 heading"/>
          <p:cNvSpPr txBox="1"/>
          <p:nvPr/>
        </p:nvSpPr>
        <p:spPr>
          <a:xfrm>
            <a:off x="960120" y="3017520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窗口是否開啟 </a:t>
            </a:r>
            <a:r>
              <a:rPr sz="20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contact_open</a:t>
            </a:r>
          </a:p>
        </p:txBody>
      </p:sp>
      <p:sp>
        <p:nvSpPr>
          <p:cNvPr id="11" name="LEO trace field 1 body"/>
          <p:cNvSpPr txBox="1"/>
          <p:nvPr/>
        </p:nvSpPr>
        <p:spPr>
          <a:xfrm>
            <a:off x="996695" y="3438144"/>
            <a:ext cx="2990087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布林狀態；來源：scenario trace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作用：決定是否允許傳輸</a:t>
            </a:r>
          </a:p>
        </p:txBody>
      </p:sp>
      <p:sp>
        <p:nvSpPr>
          <p:cNvPr id="12" name="LEO trace field 2"/>
          <p:cNvSpPr/>
          <p:nvPr/>
        </p:nvSpPr>
        <p:spPr>
          <a:xfrm>
            <a:off x="4471416" y="2907792"/>
            <a:ext cx="3246120" cy="14630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O trace field 2 heading"/>
          <p:cNvSpPr txBox="1"/>
          <p:nvPr/>
        </p:nvSpPr>
        <p:spPr>
          <a:xfrm>
            <a:off x="4562855" y="3017520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連線品質 </a:t>
            </a:r>
            <a:r>
              <a:rPr sz="20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quality_band</a:t>
            </a:r>
          </a:p>
        </p:txBody>
      </p:sp>
      <p:sp>
        <p:nvSpPr>
          <p:cNvPr id="14" name="LEO trace field 2 body"/>
          <p:cNvSpPr txBox="1"/>
          <p:nvPr/>
        </p:nvSpPr>
        <p:spPr>
          <a:xfrm>
            <a:off x="4599431" y="3438144"/>
            <a:ext cx="2990087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分類值 0–3；不是 dB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作用：供策略判斷服務機會</a:t>
            </a:r>
          </a:p>
        </p:txBody>
      </p:sp>
      <p:sp>
        <p:nvSpPr>
          <p:cNvPr id="15" name="LEO trace field 3"/>
          <p:cNvSpPr/>
          <p:nvPr/>
        </p:nvSpPr>
        <p:spPr>
          <a:xfrm>
            <a:off x="8074152" y="2907792"/>
            <a:ext cx="3246120" cy="14630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O trace field 3 heading"/>
          <p:cNvSpPr txBox="1"/>
          <p:nvPr/>
        </p:nvSpPr>
        <p:spPr>
          <a:xfrm>
            <a:off x="8165592" y="3017520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窗口剩餘秒數 </a:t>
            </a:r>
            <a:r>
              <a:rPr sz="20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contact_remaining_s</a:t>
            </a:r>
          </a:p>
        </p:txBody>
      </p:sp>
      <p:sp>
        <p:nvSpPr>
          <p:cNvPr id="17" name="LEO trace field 3 body"/>
          <p:cNvSpPr txBox="1"/>
          <p:nvPr/>
        </p:nvSpPr>
        <p:spPr>
          <a:xfrm>
            <a:off x="8202168" y="3438144"/>
            <a:ext cx="2990087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單位：s；來源：scenario trace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作用：影響動作時機與期限</a:t>
            </a:r>
          </a:p>
        </p:txBody>
      </p:sp>
      <p:sp>
        <p:nvSpPr>
          <p:cNvPr id="18" name="LEO trace interpretation"/>
          <p:cNvSpPr/>
          <p:nvPr/>
        </p:nvSpPr>
        <p:spPr>
          <a:xfrm>
            <a:off x="932688" y="4535424"/>
            <a:ext cx="10314432" cy="4754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窗口關閉時只接受低功耗休息 </a:t>
            </a:r>
            <a:r>
              <a:rPr sz="18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；窗口開啟時，品質與剩餘時間共同改變動作的服務機會。</a:t>
            </a:r>
          </a:p>
        </p:txBody>
      </p:sp>
      <p:sp>
        <p:nvSpPr>
          <p:cNvPr id="19" name="Field contract service_window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服務窗口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service_window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（欄位）｜來源：scenario trace｜作用：定義合法傳輸區間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單位：time／category｜判讀：解釋 action 的服務機會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為何改 REST_DURING_GAP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先說明為何做，再定位檔案、標記區塊、命令與結果欄位</a:t>
            </a:r>
          </a:p>
        </p:txBody>
      </p:sp>
      <p:sp>
        <p:nvSpPr>
          <p:cNvPr id="4" name="Lab A explanation card 1"/>
          <p:cNvSpPr/>
          <p:nvPr/>
        </p:nvSpPr>
        <p:spPr>
          <a:xfrm>
            <a:off x="685800" y="1426464"/>
            <a:ext cx="2542032" cy="17556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explanation card 1 heading"/>
          <p:cNvSpPr txBox="1"/>
          <p:nvPr/>
        </p:nvSpPr>
        <p:spPr>
          <a:xfrm>
            <a:off x="77724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為何做 Why</a:t>
            </a:r>
          </a:p>
        </p:txBody>
      </p:sp>
      <p:sp>
        <p:nvSpPr>
          <p:cNvPr id="6" name="Lab A explanation card 1 body"/>
          <p:cNvSpPr txBox="1"/>
          <p:nvPr/>
        </p:nvSpPr>
        <p:spPr>
          <a:xfrm>
            <a:off x="81381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↔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先改變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／awake-idle／J；要驗證 state 與 service</a:t>
            </a:r>
          </a:p>
        </p:txBody>
      </p:sp>
      <p:sp>
        <p:nvSpPr>
          <p:cNvPr id="7" name="Lab A explanation connector"/>
          <p:cNvSpPr/>
          <p:nvPr/>
        </p:nvSpPr>
        <p:spPr>
          <a:xfrm>
            <a:off x="3300984" y="2057400"/>
            <a:ext cx="182880" cy="29260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explanation card 2"/>
          <p:cNvSpPr/>
          <p:nvPr/>
        </p:nvSpPr>
        <p:spPr>
          <a:xfrm>
            <a:off x="3520440" y="1426464"/>
            <a:ext cx="2542032" cy="17556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 A explanation card 2 heading"/>
          <p:cNvSpPr txBox="1"/>
          <p:nvPr/>
        </p:nvSpPr>
        <p:spPr>
          <a:xfrm>
            <a:off x="361188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檔案與區塊</a:t>
            </a:r>
          </a:p>
        </p:txBody>
      </p:sp>
      <p:sp>
        <p:nvSpPr>
          <p:cNvPr id="10" name="Lab A explanation card 2 body"/>
          <p:cNvSpPr txBox="1"/>
          <p:nvPr/>
        </p:nvSpPr>
        <p:spPr>
          <a:xfrm>
            <a:off x="364845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檔案：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標記區塊：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lab-a-pace-rest</a:t>
            </a:r>
          </a:p>
        </p:txBody>
      </p:sp>
      <p:sp>
        <p:nvSpPr>
          <p:cNvPr id="11" name="Lab A explanation connector"/>
          <p:cNvSpPr/>
          <p:nvPr/>
        </p:nvSpPr>
        <p:spPr>
          <a:xfrm>
            <a:off x="6135624" y="2057400"/>
            <a:ext cx="182880" cy="29260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A explanation card 3"/>
          <p:cNvSpPr/>
          <p:nvPr/>
        </p:nvSpPr>
        <p:spPr>
          <a:xfrm>
            <a:off x="6355080" y="1426464"/>
            <a:ext cx="2542032" cy="17556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A explanation card 3 heading"/>
          <p:cNvSpPr txBox="1"/>
          <p:nvPr/>
        </p:nvSpPr>
        <p:spPr>
          <a:xfrm>
            <a:off x="644652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改前 Before</a:t>
            </a:r>
          </a:p>
        </p:txBody>
      </p:sp>
      <p:sp>
        <p:nvSpPr>
          <p:cNvPr id="14" name="Lab A explanation card 3 body"/>
          <p:cNvSpPr txBox="1"/>
          <p:nvPr/>
        </p:nvSpPr>
        <p:spPr>
          <a:xfrm>
            <a:off x="648309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低功耗休息；可能出現 WAKE</a:t>
            </a:r>
          </a:p>
        </p:txBody>
      </p:sp>
      <p:sp>
        <p:nvSpPr>
          <p:cNvPr id="15" name="Lab A explanation connector"/>
          <p:cNvSpPr/>
          <p:nvPr/>
        </p:nvSpPr>
        <p:spPr>
          <a:xfrm>
            <a:off x="8970264" y="2057400"/>
            <a:ext cx="182880" cy="29260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 A explanation card 4"/>
          <p:cNvSpPr/>
          <p:nvPr/>
        </p:nvSpPr>
        <p:spPr>
          <a:xfrm>
            <a:off x="9189720" y="1426464"/>
            <a:ext cx="2542032" cy="17556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b A explanation card 4 heading"/>
          <p:cNvSpPr txBox="1"/>
          <p:nvPr/>
        </p:nvSpPr>
        <p:spPr>
          <a:xfrm>
            <a:off x="928116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改後 After</a:t>
            </a:r>
          </a:p>
        </p:txBody>
      </p:sp>
      <p:sp>
        <p:nvSpPr>
          <p:cNvPr id="18" name="Lab A explanation card 4 body"/>
          <p:cNvSpPr txBox="1"/>
          <p:nvPr/>
        </p:nvSpPr>
        <p:spPr>
          <a:xfrm>
            <a:off x="931773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清醒閒置；可能少 WAKE、但多 awake-idle J</a:t>
            </a:r>
          </a:p>
        </p:txBody>
      </p:sp>
      <p:sp>
        <p:nvSpPr>
          <p:cNvPr id="19" name="Lab A fixed inputs"/>
          <p:cNvSpPr/>
          <p:nvPr/>
        </p:nvSpPr>
        <p:spPr>
          <a:xfrm>
            <a:off x="932688" y="3456432"/>
            <a:ext cx="4882896" cy="80467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、scenario／seed／traffic／window、runner／schema、Lab B/C</a:t>
            </a:r>
          </a:p>
        </p:txBody>
      </p:sp>
      <p:sp>
        <p:nvSpPr>
          <p:cNvPr id="20" name="Lab A result fields"/>
          <p:cNvSpPr/>
          <p:nvPr/>
        </p:nvSpPr>
        <p:spPr>
          <a:xfrm>
            <a:off x="6364224" y="3456432"/>
            <a:ext cx="4882896" cy="80467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＋新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；讀同目錄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21" name="Lab A falsifiable prediction"/>
          <p:cNvSpPr/>
          <p:nvPr/>
        </p:nvSpPr>
        <p:spPr>
          <a:xfrm>
            <a:off x="932688" y="4443984"/>
            <a:ext cx="10314432" cy="56692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完整解釋句：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先改變 state，再讀 packet／service，最後才解釋 endpoint J；方向可被結果反駁。</a:t>
            </a:r>
          </a:p>
        </p:txBody>
      </p:sp>
      <p:sp>
        <p:nvSpPr>
          <p:cNvPr id="22" name="Field contract REST_DURING_GAP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空檔策略欄位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（欄位）｜來源：policy marked block｜作用：控制 gap state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單位：SLEEP／WAIT｜判讀：先連 state，再讀 packet／service／J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基準決策與對照證據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基準先證明原始策略在同一服務窗口如何決策，建立改前對照</a:t>
            </a:r>
          </a:p>
        </p:txBody>
      </p:sp>
      <p:sp>
        <p:nvSpPr>
          <p:cNvPr id="4" name="Baseline evidence card 1"/>
          <p:cNvSpPr/>
          <p:nvPr/>
        </p:nvSpPr>
        <p:spPr>
          <a:xfrm>
            <a:off x="868680" y="1426464"/>
            <a:ext cx="3246120" cy="22677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seline evidence card 1 heading"/>
          <p:cNvSpPr txBox="1"/>
          <p:nvPr/>
        </p:nvSpPr>
        <p:spPr>
          <a:xfrm>
            <a:off x="960120" y="1536192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決策分支</a:t>
            </a:r>
          </a:p>
        </p:txBody>
      </p:sp>
      <p:sp>
        <p:nvSpPr>
          <p:cNvPr id="6" name="Baseline evidence card 1 body"/>
          <p:cNvSpPr txBox="1"/>
          <p:nvPr/>
        </p:nvSpPr>
        <p:spPr>
          <a:xfrm>
            <a:off x="996695" y="1956816"/>
            <a:ext cx="2990087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contact_open=false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steps_since_send &lt; 2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REST_DURING_GAP=SLEEP</a:t>
            </a:r>
          </a:p>
        </p:txBody>
      </p:sp>
      <p:sp>
        <p:nvSpPr>
          <p:cNvPr id="7" name="Baseline evidence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evidence card 2"/>
          <p:cNvSpPr/>
          <p:nvPr/>
        </p:nvSpPr>
        <p:spPr>
          <a:xfrm>
            <a:off x="4471416" y="1426464"/>
            <a:ext cx="3246120" cy="22677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seline evidence card 2 heading"/>
          <p:cNvSpPr txBox="1"/>
          <p:nvPr/>
        </p:nvSpPr>
        <p:spPr>
          <a:xfrm>
            <a:off x="4562855" y="1536192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基準命令</a:t>
            </a:r>
          </a:p>
        </p:txBody>
      </p:sp>
      <p:sp>
        <p:nvSpPr>
          <p:cNvPr id="10" name="Baseline evidence card 2 body"/>
          <p:cNvSpPr txBox="1"/>
          <p:nvPr/>
        </p:nvSpPr>
        <p:spPr>
          <a:xfrm>
            <a:off x="4599431" y="1956816"/>
            <a:ext cx="2990087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 終端機（WSL 也使用 Linux 指令）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1" name="Baseline evidence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25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seline evidence card 3"/>
          <p:cNvSpPr/>
          <p:nvPr/>
        </p:nvSpPr>
        <p:spPr>
          <a:xfrm>
            <a:off x="8074152" y="1426464"/>
            <a:ext cx="3246120" cy="22677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line evidence card 3 heading"/>
          <p:cNvSpPr txBox="1"/>
          <p:nvPr/>
        </p:nvSpPr>
        <p:spPr>
          <a:xfrm>
            <a:off x="8165592" y="1536192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參考摘要</a:t>
            </a:r>
          </a:p>
        </p:txBody>
      </p:sp>
      <p:sp>
        <p:nvSpPr>
          <p:cNvPr id="14" name="Baseline evidence card 3 body"/>
          <p:cNvSpPr txBox="1"/>
          <p:nvPr/>
        </p:nvSpPr>
        <p:spPr>
          <a:xfrm>
            <a:off x="8202168" y="1956816"/>
            <a:ext cx="2990087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endpoint_energy_j=6.92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delivered_bits=4,800 bit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service_pass=false</a:t>
            </a:r>
          </a:p>
        </p:txBody>
      </p:sp>
      <p:sp>
        <p:nvSpPr>
          <p:cNvPr id="15" name="Baseline why card"/>
          <p:cNvSpPr/>
          <p:nvPr/>
        </p:nvSpPr>
        <p:spPr>
          <a:xfrm>
            <a:off x="932688" y="3931920"/>
            <a:ext cx="4882896" cy="82296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REST_DURING_GAP=SLEEP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；其他區塊不變</a:t>
            </a:r>
          </a:p>
        </p:txBody>
      </p:sp>
      <p:sp>
        <p:nvSpPr>
          <p:cNvPr id="16" name="Baseline reference boundary"/>
          <p:cNvSpPr/>
          <p:nvPr/>
        </p:nvSpPr>
        <p:spPr>
          <a:xfrm>
            <a:off x="6364224" y="3931920"/>
            <a:ext cx="4882896" cy="8229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summary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events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；baseline 是 control，不回答省電。</a:t>
            </a:r>
          </a:p>
        </p:txBody>
      </p:sp>
      <p:sp>
        <p:nvSpPr>
          <p:cNvPr id="17" name="Field contract result_path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結果路徑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（欄位）｜來源：P042 stdout｜作用：定位 result.json＋同 run replay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單位：path｜判讀：先核對 identity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程式碼改前／改後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定位後只讀 5 行：淡化不變行，高亮唯一變更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4" name="Lab A before code"/>
          <p:cNvSpPr/>
          <p:nvPr/>
        </p:nvSpPr>
        <p:spPr>
          <a:xfrm>
            <a:off x="731520" y="1426464"/>
            <a:ext cx="4754880" cy="26151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before code heading"/>
          <p:cNvSpPr txBox="1"/>
          <p:nvPr/>
        </p:nvSpPr>
        <p:spPr>
          <a:xfrm>
            <a:off x="859536" y="1554480"/>
            <a:ext cx="4498848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改前 Before｜基準</a:t>
            </a:r>
          </a:p>
        </p:txBody>
      </p:sp>
      <p:sp>
        <p:nvSpPr>
          <p:cNvPr id="6" name="Lab A before code code line 1"/>
          <p:cNvSpPr txBox="1"/>
          <p:nvPr/>
        </p:nvSpPr>
        <p:spPr>
          <a:xfrm>
            <a:off x="914400" y="195681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LORA EDITABLE: lab-a-pace-rest</a:t>
            </a:r>
          </a:p>
        </p:txBody>
      </p:sp>
      <p:sp>
        <p:nvSpPr>
          <p:cNvPr id="7" name="Lab A before code code line 2"/>
          <p:cNvSpPr txBox="1"/>
          <p:nvPr/>
        </p:nvSpPr>
        <p:spPr>
          <a:xfrm>
            <a:off x="914400" y="232257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</p:txBody>
      </p:sp>
      <p:sp>
        <p:nvSpPr>
          <p:cNvPr id="8" name="Lab A before code code line 3"/>
          <p:cNvSpPr txBox="1"/>
          <p:nvPr/>
        </p:nvSpPr>
        <p:spPr>
          <a:xfrm>
            <a:off x="914400" y="268833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</p:txBody>
      </p:sp>
      <p:sp>
        <p:nvSpPr>
          <p:cNvPr id="9" name="Lab A before code code line 4"/>
          <p:cNvSpPr txBox="1"/>
          <p:nvPr/>
        </p:nvSpPr>
        <p:spPr>
          <a:xfrm>
            <a:off x="914400" y="305409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其他 marked block 保持原樣</a:t>
            </a:r>
          </a:p>
        </p:txBody>
      </p:sp>
      <p:sp>
        <p:nvSpPr>
          <p:cNvPr id="10" name="Lab A before code code line 5"/>
          <p:cNvSpPr txBox="1"/>
          <p:nvPr/>
        </p:nvSpPr>
        <p:spPr>
          <a:xfrm>
            <a:off x="914400" y="341985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runner／scenario／schema／JSON 不變</a:t>
            </a:r>
          </a:p>
        </p:txBody>
      </p:sp>
      <p:sp>
        <p:nvSpPr>
          <p:cNvPr id="11" name="Lab A after code"/>
          <p:cNvSpPr/>
          <p:nvPr/>
        </p:nvSpPr>
        <p:spPr>
          <a:xfrm>
            <a:off x="5669280" y="1426464"/>
            <a:ext cx="4754880" cy="26151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A after code heading"/>
          <p:cNvSpPr txBox="1"/>
          <p:nvPr/>
        </p:nvSpPr>
        <p:spPr>
          <a:xfrm>
            <a:off x="5797296" y="1554480"/>
            <a:ext cx="4498848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改後 After｜候選</a:t>
            </a:r>
          </a:p>
        </p:txBody>
      </p:sp>
      <p:sp>
        <p:nvSpPr>
          <p:cNvPr id="13" name="Lab A after code code line 1"/>
          <p:cNvSpPr txBox="1"/>
          <p:nvPr/>
        </p:nvSpPr>
        <p:spPr>
          <a:xfrm>
            <a:off x="5852160" y="195681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LORA EDITABLE: lab-a-pace-rest</a:t>
            </a:r>
          </a:p>
        </p:txBody>
      </p:sp>
      <p:sp>
        <p:nvSpPr>
          <p:cNvPr id="14" name="Lab A after code code line 2"/>
          <p:cNvSpPr txBox="1"/>
          <p:nvPr/>
        </p:nvSpPr>
        <p:spPr>
          <a:xfrm>
            <a:off x="5852160" y="232257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</p:txBody>
      </p:sp>
      <p:sp>
        <p:nvSpPr>
          <p:cNvPr id="15" name="Lab A after code code line 3"/>
          <p:cNvSpPr txBox="1"/>
          <p:nvPr/>
        </p:nvSpPr>
        <p:spPr>
          <a:xfrm>
            <a:off x="5852160" y="268833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</p:txBody>
      </p:sp>
      <p:sp>
        <p:nvSpPr>
          <p:cNvPr id="16" name="Lab A after code code line 4"/>
          <p:cNvSpPr txBox="1"/>
          <p:nvPr/>
        </p:nvSpPr>
        <p:spPr>
          <a:xfrm>
            <a:off x="5852160" y="305409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其他 marked block 保持原樣</a:t>
            </a:r>
          </a:p>
        </p:txBody>
      </p:sp>
      <p:sp>
        <p:nvSpPr>
          <p:cNvPr id="17" name="Lab A after code code line 5"/>
          <p:cNvSpPr txBox="1"/>
          <p:nvPr/>
        </p:nvSpPr>
        <p:spPr>
          <a:xfrm>
            <a:off x="5852160" y="341985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runner／scenario／schema／JSON 不變</a:t>
            </a:r>
          </a:p>
        </p:txBody>
      </p:sp>
      <p:sp>
        <p:nvSpPr>
          <p:cNvPr id="18" name="Lab A unique edit arrow"/>
          <p:cNvSpPr/>
          <p:nvPr/>
        </p:nvSpPr>
        <p:spPr>
          <a:xfrm>
            <a:off x="5138928" y="2432304"/>
            <a:ext cx="329184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 A unique edit annotation"/>
          <p:cNvSpPr txBox="1"/>
          <p:nvPr/>
        </p:nvSpPr>
        <p:spPr>
          <a:xfrm>
            <a:off x="4882896" y="2048256"/>
            <a:ext cx="841248" cy="2560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唯一變更</a:t>
            </a:r>
          </a:p>
        </p:txBody>
      </p:sp>
      <p:sp>
        <p:nvSpPr>
          <p:cNvPr id="20" name="Lab A edit mechanism and freeze"/>
          <p:cNvSpPr/>
          <p:nvPr/>
        </p:nvSpPr>
        <p:spPr>
          <a:xfrm>
            <a:off x="896112" y="4224528"/>
            <a:ext cx="10369296" cy="84124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、Lab B/C、runner、scenario、schema、JSON 不變。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原因：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先改 awake-idle state；P042 run 才看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、packet、service、J。</a:t>
            </a:r>
          </a:p>
        </p:txBody>
      </p:sp>
      <p:sp>
        <p:nvSpPr>
          <p:cNvPr id="21" name="Field contract REST_DURING_GAP"/>
          <p:cNvSpPr/>
          <p:nvPr/>
        </p:nvSpPr>
        <p:spPr>
          <a:xfrm>
            <a:off x="749808" y="5138928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空檔策略欄位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（欄位）｜來源：student_policy.py／lab-a-pace-rest｜作用：指定 gap action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單位：SLEEP／WAIT｜判讀：先連 state，再用 A/B 結果判讀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 → 候選 → 隱藏檢查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一條執行帶完成三步：建立基準、凍結候選、用同一策略做隱藏檢查</a:t>
            </a:r>
          </a:p>
        </p:txBody>
      </p:sp>
      <p:sp>
        <p:nvSpPr>
          <p:cNvPr id="4" name="Run platform contract"/>
          <p:cNvSpPr txBox="1"/>
          <p:nvPr/>
        </p:nvSpPr>
        <p:spPr>
          <a:xfrm>
            <a:off x="896112" y="1261872"/>
            <a:ext cx="10332720" cy="2011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平台：Linux／macOS 終端機（WSL 也使用 Linux 指令）；Windows 命令提示字元。</a:t>
            </a:r>
          </a:p>
        </p:txBody>
      </p:sp>
      <p:sp>
        <p:nvSpPr>
          <p:cNvPr id="5" name="Run stage 1"/>
          <p:cNvSpPr/>
          <p:nvPr/>
        </p:nvSpPr>
        <p:spPr>
          <a:xfrm>
            <a:off x="676656" y="1481328"/>
            <a:ext cx="3246120" cy="356616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 stage heading 1"/>
          <p:cNvSpPr txBox="1"/>
          <p:nvPr/>
        </p:nvSpPr>
        <p:spPr>
          <a:xfrm>
            <a:off x="786384" y="1627632"/>
            <a:ext cx="3026664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01｜基準 Baseline</a:t>
            </a:r>
          </a:p>
        </p:txBody>
      </p:sp>
      <p:sp>
        <p:nvSpPr>
          <p:cNvPr id="7" name="Run stage condition 1"/>
          <p:cNvSpPr txBox="1"/>
          <p:nvPr/>
        </p:nvSpPr>
        <p:spPr>
          <a:xfrm>
            <a:off x="822960" y="1975104"/>
            <a:ext cx="295351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不改 policy；A 區塊仍為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8" name="Run Linux exact command 1"/>
          <p:cNvSpPr txBox="1"/>
          <p:nvPr/>
        </p:nvSpPr>
        <p:spPr>
          <a:xfrm>
            <a:off x="841247" y="2468880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9" name="Run Windows exact command 1"/>
          <p:cNvSpPr txBox="1"/>
          <p:nvPr/>
        </p:nvSpPr>
        <p:spPr>
          <a:xfrm>
            <a:off x="841247" y="3218688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--lab A --case baseline</a:t>
            </a:r>
          </a:p>
        </p:txBody>
      </p:sp>
      <p:sp>
        <p:nvSpPr>
          <p:cNvPr id="10" name="Run stage receipt 1"/>
          <p:cNvSpPr/>
          <p:nvPr/>
        </p:nvSpPr>
        <p:spPr>
          <a:xfrm>
            <a:off x="822960" y="4096512"/>
            <a:ext cx="2953512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同目錄 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1" name="Run ribbon connector"/>
          <p:cNvSpPr/>
          <p:nvPr/>
        </p:nvSpPr>
        <p:spPr>
          <a:xfrm>
            <a:off x="4023360" y="2871216"/>
            <a:ext cx="256032" cy="347472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un stage 2"/>
          <p:cNvSpPr/>
          <p:nvPr/>
        </p:nvSpPr>
        <p:spPr>
          <a:xfrm>
            <a:off x="4498848" y="1481328"/>
            <a:ext cx="3246120" cy="35661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un stage heading 2"/>
          <p:cNvSpPr txBox="1"/>
          <p:nvPr/>
        </p:nvSpPr>
        <p:spPr>
          <a:xfrm>
            <a:off x="4608576" y="1627632"/>
            <a:ext cx="3026664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02｜候選 Candidate</a:t>
            </a:r>
          </a:p>
        </p:txBody>
      </p:sp>
      <p:sp>
        <p:nvSpPr>
          <p:cNvPr id="14" name="Run stage condition 2"/>
          <p:cNvSpPr txBox="1"/>
          <p:nvPr/>
        </p:nvSpPr>
        <p:spPr>
          <a:xfrm>
            <a:off x="4645152" y="1975104"/>
            <a:ext cx="295351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 P041：A 區塊改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，再凍結</a:t>
            </a:r>
          </a:p>
        </p:txBody>
      </p:sp>
      <p:sp>
        <p:nvSpPr>
          <p:cNvPr id="15" name="Run Linux exact command 2"/>
          <p:cNvSpPr txBox="1"/>
          <p:nvPr/>
        </p:nvSpPr>
        <p:spPr>
          <a:xfrm>
            <a:off x="4663440" y="2468880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16" name="Run Windows exact command 2"/>
          <p:cNvSpPr txBox="1"/>
          <p:nvPr/>
        </p:nvSpPr>
        <p:spPr>
          <a:xfrm>
            <a:off x="4663440" y="3218688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--lab A --case candidate --freeze</a:t>
            </a:r>
          </a:p>
        </p:txBody>
      </p:sp>
      <p:sp>
        <p:nvSpPr>
          <p:cNvPr id="17" name="Run stage receipt 2"/>
          <p:cNvSpPr/>
          <p:nvPr/>
        </p:nvSpPr>
        <p:spPr>
          <a:xfrm>
            <a:off x="4645152" y="4096512"/>
            <a:ext cx="2953512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＋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lab-a-frozen.json</a:t>
            </a: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.py</a:t>
            </a:r>
          </a:p>
        </p:txBody>
      </p:sp>
      <p:sp>
        <p:nvSpPr>
          <p:cNvPr id="18" name="Run ribbon connector"/>
          <p:cNvSpPr/>
          <p:nvPr/>
        </p:nvSpPr>
        <p:spPr>
          <a:xfrm>
            <a:off x="7845552" y="2871216"/>
            <a:ext cx="256032" cy="347472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un stage 3"/>
          <p:cNvSpPr/>
          <p:nvPr/>
        </p:nvSpPr>
        <p:spPr>
          <a:xfrm>
            <a:off x="8321040" y="1481328"/>
            <a:ext cx="3246120" cy="35661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un stage heading 3"/>
          <p:cNvSpPr txBox="1"/>
          <p:nvPr/>
        </p:nvSpPr>
        <p:spPr>
          <a:xfrm>
            <a:off x="8430767" y="1627632"/>
            <a:ext cx="3026664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03｜隱藏 Hidden</a:t>
            </a:r>
          </a:p>
        </p:txBody>
      </p:sp>
      <p:sp>
        <p:nvSpPr>
          <p:cNvPr id="21" name="Run stage condition 3"/>
          <p:cNvSpPr txBox="1"/>
          <p:nvPr/>
        </p:nvSpPr>
        <p:spPr>
          <a:xfrm>
            <a:off x="8467344" y="1975104"/>
            <a:ext cx="295351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 frozen policy；不再改值</a:t>
            </a:r>
          </a:p>
        </p:txBody>
      </p:sp>
      <p:sp>
        <p:nvSpPr>
          <p:cNvPr id="22" name="Run Linux exact command 3"/>
          <p:cNvSpPr txBox="1"/>
          <p:nvPr/>
        </p:nvSpPr>
        <p:spPr>
          <a:xfrm>
            <a:off x="8485632" y="2468880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sp>
        <p:nvSpPr>
          <p:cNvPr id="23" name="Run Windows exact command 3"/>
          <p:cNvSpPr txBox="1"/>
          <p:nvPr/>
        </p:nvSpPr>
        <p:spPr>
          <a:xfrm>
            <a:off x="8485632" y="3218688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--lab A --case hidden</a:t>
            </a:r>
          </a:p>
        </p:txBody>
      </p:sp>
      <p:sp>
        <p:nvSpPr>
          <p:cNvPr id="24" name="Run stage receipt 3"/>
          <p:cNvSpPr/>
          <p:nvPr/>
        </p:nvSpPr>
        <p:spPr>
          <a:xfrm>
            <a:off x="8467344" y="4096512"/>
            <a:ext cx="2953512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6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不建立第二個 freeze</a:t>
            </a:r>
          </a:p>
        </p:txBody>
      </p:sp>
      <p:sp>
        <p:nvSpPr>
          <p:cNvPr id="25" name="Run receipt rule"/>
          <p:cNvSpPr txBox="1"/>
          <p:nvPr/>
        </p:nvSpPr>
        <p:spPr>
          <a:xfrm>
            <a:off x="896112" y="5157216"/>
            <a:ext cx="10332720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讀取順序：stdout </a:t>
            </a:r>
            <a:r>
              <a:rPr sz="16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→ 同一 generated 目錄 </a:t>
            </a:r>
            <a:r>
              <a:rPr sz="16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→ 配對 </a:t>
            </a:r>
            <a:r>
              <a:rPr sz="16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→ 服務／封包／狀態／J；freeze 缺失就停止 hidden。</a:t>
            </a:r>
          </a:p>
        </p:txBody>
      </p:sp>
      <p:sp>
        <p:nvSpPr>
          <p:cNvPr id="26" name="Claim boundary"/>
          <p:cNvSpPr txBox="1"/>
          <p:nvPr/>
        </p:nvSpPr>
        <p:spPr>
          <a:xfrm>
            <a:off x="841248" y="5852160"/>
            <a:ext cx="10442448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同一邊界的改前／改後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 evidence 都未通過 service gate；先核對同一 boundary，再讀改前／改後／hidden</a:t>
            </a:r>
          </a:p>
        </p:txBody>
      </p:sp>
      <p:sp>
        <p:nvSpPr>
          <p:cNvPr id="4" name="Lab A baseline evidence"/>
          <p:cNvSpPr/>
          <p:nvPr/>
        </p:nvSpPr>
        <p:spPr>
          <a:xfrm>
            <a:off x="603504" y="1389888"/>
            <a:ext cx="3401568" cy="32735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baseline evidence heading"/>
          <p:cNvSpPr txBox="1"/>
          <p:nvPr/>
        </p:nvSpPr>
        <p:spPr>
          <a:xfrm>
            <a:off x="694944" y="1499616"/>
            <a:ext cx="3218688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Baseline｜SLEEP</a:t>
            </a:r>
          </a:p>
        </p:txBody>
      </p:sp>
      <p:sp>
        <p:nvSpPr>
          <p:cNvPr id="6" name="Lab A baseline evidence body"/>
          <p:cNvSpPr txBox="1"/>
          <p:nvPr/>
        </p:nvSpPr>
        <p:spPr>
          <a:xfrm>
            <a:off x="731520" y="1920240"/>
            <a:ext cx="3145536" cy="2633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：1/4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：2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：6.92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：693.641618</a:t>
            </a:r>
          </a:p>
        </p:txBody>
      </p:sp>
      <p:sp>
        <p:nvSpPr>
          <p:cNvPr id="7" name="Lab A candidate evidence"/>
          <p:cNvSpPr/>
          <p:nvPr/>
        </p:nvSpPr>
        <p:spPr>
          <a:xfrm>
            <a:off x="4279392" y="1389888"/>
            <a:ext cx="3401568" cy="32735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candidate evidence heading"/>
          <p:cNvSpPr txBox="1"/>
          <p:nvPr/>
        </p:nvSpPr>
        <p:spPr>
          <a:xfrm>
            <a:off x="4370831" y="1499616"/>
            <a:ext cx="3218688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Candidate｜WAIT</a:t>
            </a:r>
          </a:p>
        </p:txBody>
      </p:sp>
      <p:sp>
        <p:nvSpPr>
          <p:cNvPr id="9" name="Lab A candidate evidence body"/>
          <p:cNvSpPr txBox="1"/>
          <p:nvPr/>
        </p:nvSpPr>
        <p:spPr>
          <a:xfrm>
            <a:off x="4407407" y="1920240"/>
            <a:ext cx="3145536" cy="2633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：1/4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：8.86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：541.760722</a:t>
            </a:r>
          </a:p>
        </p:txBody>
      </p:sp>
      <p:sp>
        <p:nvSpPr>
          <p:cNvPr id="10" name="Lab A hidden evidence"/>
          <p:cNvSpPr/>
          <p:nvPr/>
        </p:nvSpPr>
        <p:spPr>
          <a:xfrm>
            <a:off x="7955279" y="1389888"/>
            <a:ext cx="3401568" cy="327355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 A hidden evidence heading"/>
          <p:cNvSpPr txBox="1"/>
          <p:nvPr/>
        </p:nvSpPr>
        <p:spPr>
          <a:xfrm>
            <a:off x="8046719" y="1499616"/>
            <a:ext cx="3218688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Hidden frozen｜WAIT</a:t>
            </a:r>
          </a:p>
        </p:txBody>
      </p:sp>
      <p:sp>
        <p:nvSpPr>
          <p:cNvPr id="12" name="Lab A hidden evidence body"/>
          <p:cNvSpPr txBox="1"/>
          <p:nvPr/>
        </p:nvSpPr>
        <p:spPr>
          <a:xfrm>
            <a:off x="8083296" y="1920240"/>
            <a:ext cx="3145536" cy="2633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：0/3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：3.61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</p:txBody>
      </p:sp>
      <p:sp>
        <p:nvSpPr>
          <p:cNvPr id="13" name="Lab A candidate comparison"/>
          <p:cNvSpPr/>
          <p:nvPr/>
        </p:nvSpPr>
        <p:spPr>
          <a:xfrm>
            <a:off x="749808" y="4773168"/>
            <a:ext cx="5248656" cy="3657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WAIT：service 不變（false→false），endpoint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+1.94 J</a:t>
            </a:r>
          </a:p>
        </p:txBody>
      </p:sp>
      <p:sp>
        <p:nvSpPr>
          <p:cNvPr id="14" name="Lab A hidden interpretation"/>
          <p:cNvSpPr/>
          <p:nvPr/>
        </p:nvSpPr>
        <p:spPr>
          <a:xfrm>
            <a:off x="6144768" y="4773168"/>
            <a:ext cx="5248656" cy="36576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Hidden 低 J 來自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0/3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未交付；不可視為節能成功</a:t>
            </a:r>
          </a:p>
        </p:txBody>
      </p:sp>
      <p:sp>
        <p:nvSpPr>
          <p:cNvPr id="15" name="Field contract policy identity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策略識別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identity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（欄位）｜來源：P042 result path｜作用：確認三次 run 的 policy 與 frozen identity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單位：identity｜判讀：先核對 scenario、seed、units、provenance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狀態帳本回到端點能量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用事件與能量分桶，把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的成本拆回可檢查的狀態區間</a:t>
            </a:r>
          </a:p>
        </p:txBody>
      </p:sp>
      <p:sp>
        <p:nvSpPr>
          <p:cNvPr id="4" name="State ledger order card"/>
          <p:cNvSpPr/>
          <p:nvPr/>
        </p:nvSpPr>
        <p:spPr>
          <a:xfrm>
            <a:off x="868680" y="1481328"/>
            <a:ext cx="5010912" cy="221284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e ledger order card heading"/>
          <p:cNvSpPr txBox="1"/>
          <p:nvPr/>
        </p:nvSpPr>
        <p:spPr>
          <a:xfrm>
            <a:off x="960120" y="1591056"/>
            <a:ext cx="4828032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帳本讀取順序 Ledger</a:t>
            </a:r>
          </a:p>
        </p:txBody>
      </p:sp>
      <p:sp>
        <p:nvSpPr>
          <p:cNvPr id="6" name="State ledger order card body"/>
          <p:cNvSpPr txBox="1"/>
          <p:nvPr/>
        </p:nvSpPr>
        <p:spPr>
          <a:xfrm>
            <a:off x="996695" y="2011680"/>
            <a:ext cx="4754880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1｜狀態區間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：找 WAIT／SLEEP 停留秒數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2｜喚醒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：確認轉換是否出現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3｜能量分桶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：對回每個 bucket</a:t>
            </a:r>
          </a:p>
        </p:txBody>
      </p:sp>
      <p:sp>
        <p:nvSpPr>
          <p:cNvPr id="7" name="Energy bucket result card"/>
          <p:cNvSpPr/>
          <p:nvPr/>
        </p:nvSpPr>
        <p:spPr>
          <a:xfrm>
            <a:off x="6309360" y="1481328"/>
            <a:ext cx="5010912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nergy bucket result card heading"/>
          <p:cNvSpPr txBox="1"/>
          <p:nvPr/>
        </p:nvSpPr>
        <p:spPr>
          <a:xfrm>
            <a:off x="6400800" y="1591056"/>
            <a:ext cx="4828032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能量分桶 </a:t>
            </a:r>
            <a:r>
              <a:rPr sz="22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</a:p>
        </p:txBody>
      </p:sp>
      <p:sp>
        <p:nvSpPr>
          <p:cNvPr id="9" name="Energy bucket result card body"/>
          <p:cNvSpPr txBox="1"/>
          <p:nvPr/>
        </p:nvSpPr>
        <p:spPr>
          <a:xfrm>
            <a:off x="6437376" y="2011680"/>
            <a:ext cx="4754880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醒著閒置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awake_idle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6.00 J｜休息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0.04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喚醒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0.02 J｜處理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process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0.16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發射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2.40 J｜接收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rx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0.24 J</a:t>
            </a:r>
          </a:p>
        </p:txBody>
      </p:sp>
      <p:sp>
        <p:nvSpPr>
          <p:cNvPr id="10" name="Ledger result fields"/>
          <p:cNvSpPr/>
          <p:nvPr/>
        </p:nvSpPr>
        <p:spPr>
          <a:xfrm>
            <a:off x="932688" y="3968496"/>
            <a:ext cx="4882896" cy="8046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來源：候選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events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保留 state、起訖秒數、事件能量與 bucket J</a:t>
            </a:r>
          </a:p>
        </p:txBody>
      </p:sp>
      <p:sp>
        <p:nvSpPr>
          <p:cNvPr id="11" name="Ledger artifact boundary"/>
          <p:cNvSpPr/>
          <p:nvPr/>
        </p:nvSpPr>
        <p:spPr>
          <a:xfrm>
            <a:off x="6364224" y="3968496"/>
            <a:ext cx="4882896" cy="8046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讀取：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哪個 interval 改變，就解釋哪個 J bucket</a:t>
            </a:r>
          </a:p>
        </p:txBody>
      </p:sp>
      <p:sp>
        <p:nvSpPr>
          <p:cNvPr id="12" name="Field contract STATE_INTERVAL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狀態區間事件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（欄位）｜來源：candidate events｜作用：提供 state、time、event energy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單位：state＋s＋J｜判讀：沿 interval 判讀 WAIT 成本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封包結果回到服務判定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 沒改善服務，卻多耗 1.94 J；hidden 的低 J 是未送達，不是節能成功</a:t>
            </a:r>
          </a:p>
        </p:txBody>
      </p:sp>
      <p:sp>
        <p:nvSpPr>
          <p:cNvPr id="4" name="Lab A state packet interpretation"/>
          <p:cNvSpPr/>
          <p:nvPr/>
        </p:nvSpPr>
        <p:spPr>
          <a:xfrm>
            <a:off x="768096" y="1389888"/>
            <a:ext cx="5047488" cy="24871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state packet interpretation heading"/>
          <p:cNvSpPr txBox="1"/>
          <p:nvPr/>
        </p:nvSpPr>
        <p:spPr>
          <a:xfrm>
            <a:off x="859536" y="1499616"/>
            <a:ext cx="4864607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 → WAIT｜state／packet</a:t>
            </a:r>
          </a:p>
        </p:txBody>
      </p:sp>
      <p:sp>
        <p:nvSpPr>
          <p:cNvPr id="6" name="Lab A state packet interpretation body"/>
          <p:cNvSpPr txBox="1"/>
          <p:nvPr/>
        </p:nvSpPr>
        <p:spPr>
          <a:xfrm>
            <a:off x="896112" y="1920240"/>
            <a:ext cx="4791455" cy="18470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：2 → 1　（少 1 次）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 → 1　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 → 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 → 3　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：1/4 → 1/4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 → false　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 → false</a:t>
            </a:r>
          </a:p>
        </p:txBody>
      </p:sp>
      <p:sp>
        <p:nvSpPr>
          <p:cNvPr id="7" name="Lab A endpoint tradeoff"/>
          <p:cNvSpPr/>
          <p:nvPr/>
        </p:nvSpPr>
        <p:spPr>
          <a:xfrm>
            <a:off x="6144768" y="1389888"/>
            <a:ext cx="4261104" cy="24871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endpoint tradeoff heading"/>
          <p:cNvSpPr txBox="1"/>
          <p:nvPr/>
        </p:nvSpPr>
        <p:spPr>
          <a:xfrm>
            <a:off x="6236207" y="1499616"/>
            <a:ext cx="4078224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trade-off｜J／bit/J</a:t>
            </a:r>
          </a:p>
        </p:txBody>
      </p:sp>
      <p:sp>
        <p:nvSpPr>
          <p:cNvPr id="9" name="Lab A endpoint tradeoff body"/>
          <p:cNvSpPr txBox="1"/>
          <p:nvPr/>
        </p:nvSpPr>
        <p:spPr>
          <a:xfrm>
            <a:off x="6272783" y="1920240"/>
            <a:ext cx="4005072" cy="18470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：6.92 → 8.86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差異：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+1.94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：693.641618 → 541.760722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 沒改善 service，且端點能量更高、效率更低。</a:t>
            </a:r>
          </a:p>
        </p:txBody>
      </p:sp>
      <p:sp>
        <p:nvSpPr>
          <p:cNvPr id="10" name="Lab A hidden frozen result"/>
          <p:cNvSpPr/>
          <p:nvPr/>
        </p:nvSpPr>
        <p:spPr>
          <a:xfrm>
            <a:off x="768096" y="4096512"/>
            <a:ext cx="9637776" cy="7863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Hidden frozen WAIT｜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：0/3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：3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：3.61 J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</p:txBody>
      </p:sp>
      <p:sp>
        <p:nvSpPr>
          <p:cNvPr id="11" name="Lab A hidden no success"/>
          <p:cNvSpPr/>
          <p:nvPr/>
        </p:nvSpPr>
        <p:spPr>
          <a:xfrm>
            <a:off x="768096" y="4645152"/>
            <a:ext cx="9637776" cy="36576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Hidden 低 J 的原因是完全未送達；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service=false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deadline=false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，不能把它稱為節能成功。</a:t>
            </a:r>
          </a:p>
        </p:txBody>
      </p:sp>
      <p:sp>
        <p:nvSpPr>
          <p:cNvPr id="12" name="Field contract deadline_pas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期限通過狀態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summary｜作用：required packet 是否準時交付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單位：true／false｜判讀：先讀 delivered／expired／freshness，再形成 service gate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 freeze：把 candidate 綁成可追溯 policy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freeze receipt 固定 policy identity；hidden 只接受配對的 checkpoint。</a:t>
            </a:r>
          </a:p>
        </p:txBody>
      </p:sp>
      <p:sp>
        <p:nvSpPr>
          <p:cNvPr id="4" name="A freeze node 1"/>
          <p:cNvSpPr/>
          <p:nvPr/>
        </p:nvSpPr>
        <p:spPr>
          <a:xfrm>
            <a:off x="713232" y="1572768"/>
            <a:ext cx="3255264" cy="13533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 freeze node 1 heading"/>
          <p:cNvSpPr txBox="1"/>
          <p:nvPr/>
        </p:nvSpPr>
        <p:spPr>
          <a:xfrm>
            <a:off x="859536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baseline</a:t>
            </a:r>
          </a:p>
        </p:txBody>
      </p:sp>
      <p:sp>
        <p:nvSpPr>
          <p:cNvPr id="6" name="A freeze node 1 body"/>
          <p:cNvSpPr txBox="1"/>
          <p:nvPr/>
        </p:nvSpPr>
        <p:spPr>
          <a:xfrm>
            <a:off x="877824" y="2084832"/>
            <a:ext cx="2926080" cy="73151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原始 policy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scenario／seed</a:t>
            </a:r>
          </a:p>
        </p:txBody>
      </p:sp>
      <p:sp>
        <p:nvSpPr>
          <p:cNvPr id="7" name="A freeze connector"/>
          <p:cNvSpPr/>
          <p:nvPr/>
        </p:nvSpPr>
        <p:spPr>
          <a:xfrm>
            <a:off x="4078224" y="2066543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 freeze node 2"/>
          <p:cNvSpPr/>
          <p:nvPr/>
        </p:nvSpPr>
        <p:spPr>
          <a:xfrm>
            <a:off x="4480560" y="1572768"/>
            <a:ext cx="3255264" cy="135331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 freeze node 2 heading"/>
          <p:cNvSpPr txBox="1"/>
          <p:nvPr/>
        </p:nvSpPr>
        <p:spPr>
          <a:xfrm>
            <a:off x="4626864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+ freeze</a:t>
            </a:r>
          </a:p>
        </p:txBody>
      </p:sp>
      <p:sp>
        <p:nvSpPr>
          <p:cNvPr id="10" name="A freeze node 2 body"/>
          <p:cNvSpPr txBox="1"/>
          <p:nvPr/>
        </p:nvSpPr>
        <p:spPr>
          <a:xfrm>
            <a:off x="4645152" y="2084832"/>
            <a:ext cx="2926080" cy="73151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留下 receipt + checkpoint</a:t>
            </a:r>
          </a:p>
        </p:txBody>
      </p:sp>
      <p:sp>
        <p:nvSpPr>
          <p:cNvPr id="11" name="A freeze connector"/>
          <p:cNvSpPr/>
          <p:nvPr/>
        </p:nvSpPr>
        <p:spPr>
          <a:xfrm>
            <a:off x="7845552" y="2066543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 freeze node 3"/>
          <p:cNvSpPr/>
          <p:nvPr/>
        </p:nvSpPr>
        <p:spPr>
          <a:xfrm>
            <a:off x="8247888" y="1572768"/>
            <a:ext cx="3255264" cy="13533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 freeze node 3 heading"/>
          <p:cNvSpPr txBox="1"/>
          <p:nvPr/>
        </p:nvSpPr>
        <p:spPr>
          <a:xfrm>
            <a:off x="8394192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 hidden</a:t>
            </a:r>
          </a:p>
        </p:txBody>
      </p:sp>
      <p:sp>
        <p:nvSpPr>
          <p:cNvPr id="14" name="A freeze node 3 body"/>
          <p:cNvSpPr txBox="1"/>
          <p:nvPr/>
        </p:nvSpPr>
        <p:spPr>
          <a:xfrm>
            <a:off x="8412480" y="2084832"/>
            <a:ext cx="2926080" cy="73151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policy 不再改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只換 case 條件</a:t>
            </a:r>
          </a:p>
        </p:txBody>
      </p:sp>
      <p:sp>
        <p:nvSpPr>
          <p:cNvPr id="15" name="A freeze receipt"/>
          <p:cNvSpPr/>
          <p:nvPr/>
        </p:nvSpPr>
        <p:spPr>
          <a:xfrm>
            <a:off x="786384" y="3273552"/>
            <a:ext cx="5084064" cy="11887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 freeze receipt heading"/>
          <p:cNvSpPr txBox="1"/>
          <p:nvPr/>
        </p:nvSpPr>
        <p:spPr>
          <a:xfrm>
            <a:off x="932688" y="3383280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receipt｜凍結收據</a:t>
            </a:r>
          </a:p>
        </p:txBody>
      </p:sp>
      <p:sp>
        <p:nvSpPr>
          <p:cNvPr id="17" name="A freeze receipt body"/>
          <p:cNvSpPr txBox="1"/>
          <p:nvPr/>
        </p:nvSpPr>
        <p:spPr>
          <a:xfrm>
            <a:off x="950976" y="3785616"/>
            <a:ext cx="4754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--freeze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產生；記下 policy、scenario、seed role。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作用：確認後續 case 使用同一個 policy identity。</a:t>
            </a:r>
          </a:p>
        </p:txBody>
      </p:sp>
      <p:sp>
        <p:nvSpPr>
          <p:cNvPr id="18" name="A freeze checkpoint"/>
          <p:cNvSpPr/>
          <p:nvPr/>
        </p:nvSpPr>
        <p:spPr>
          <a:xfrm>
            <a:off x="6272784" y="3273552"/>
            <a:ext cx="5084064" cy="11887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 freeze checkpoint heading"/>
          <p:cNvSpPr txBox="1"/>
          <p:nvPr/>
        </p:nvSpPr>
        <p:spPr>
          <a:xfrm>
            <a:off x="6419088" y="3383280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checkpoint｜策略快照</a:t>
            </a:r>
          </a:p>
        </p:txBody>
      </p:sp>
      <p:sp>
        <p:nvSpPr>
          <p:cNvPr id="20" name="A freeze checkpoint body"/>
          <p:cNvSpPr txBox="1"/>
          <p:nvPr/>
        </p:nvSpPr>
        <p:spPr>
          <a:xfrm>
            <a:off x="6437376" y="3785616"/>
            <a:ext cx="4754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run 保存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.json + .py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；可復原前序 policy。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作用：identity 不符時停止，不直接進 hidden。</a:t>
            </a:r>
          </a:p>
        </p:txBody>
      </p:sp>
      <p:sp>
        <p:nvSpPr>
          <p:cNvPr id="21" name="Field strip freeze_receipt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freeze_receipt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（凍結收據識別）｜來源：candidate stdout／receipt｜作用：配對後續 policy｜單位：hash-like identity｜判讀：對得上才可進 hidden</a:t>
            </a:r>
          </a:p>
        </p:txBody>
      </p:sp>
      <p:sp>
        <p:nvSpPr>
          <p:cNvPr id="22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 hidden：同一 policy，檢查新的 case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withheld case 改變 contact／traffic 條件；frozen policy 保持不變。</a:t>
            </a:r>
          </a:p>
        </p:txBody>
      </p:sp>
      <p:sp>
        <p:nvSpPr>
          <p:cNvPr id="4" name="A hidden frozen"/>
          <p:cNvSpPr/>
          <p:nvPr/>
        </p:nvSpPr>
        <p:spPr>
          <a:xfrm>
            <a:off x="786384" y="1572768"/>
            <a:ext cx="5102352" cy="239572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 hidden frozen heading"/>
          <p:cNvSpPr txBox="1"/>
          <p:nvPr/>
        </p:nvSpPr>
        <p:spPr>
          <a:xfrm>
            <a:off x="932688" y="1682495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固定的 policy</a:t>
            </a:r>
          </a:p>
        </p:txBody>
      </p:sp>
      <p:sp>
        <p:nvSpPr>
          <p:cNvPr id="6" name="A hidden frozen body"/>
          <p:cNvSpPr txBox="1"/>
          <p:nvPr/>
        </p:nvSpPr>
        <p:spPr>
          <a:xfrm>
            <a:off x="950976" y="2084832"/>
            <a:ext cx="4773168" cy="17739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 checkpoint：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policy edit：0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policy identity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新的 case 條件才是檢驗因素</a:t>
            </a:r>
          </a:p>
        </p:txBody>
      </p:sp>
      <p:sp>
        <p:nvSpPr>
          <p:cNvPr id="7" name="A hidden evidence"/>
          <p:cNvSpPr/>
          <p:nvPr/>
        </p:nvSpPr>
        <p:spPr>
          <a:xfrm>
            <a:off x="6272784" y="1572768"/>
            <a:ext cx="5102352" cy="23957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 hidden evidence heading"/>
          <p:cNvSpPr txBox="1"/>
          <p:nvPr/>
        </p:nvSpPr>
        <p:spPr>
          <a:xfrm>
            <a:off x="6419088" y="1682495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要讀的 evidence</a:t>
            </a:r>
          </a:p>
        </p:txBody>
      </p:sp>
      <p:sp>
        <p:nvSpPr>
          <p:cNvPr id="9" name="A hidden evidence body"/>
          <p:cNvSpPr txBox="1"/>
          <p:nvPr/>
        </p:nvSpPr>
        <p:spPr>
          <a:xfrm>
            <a:off x="6437376" y="2084832"/>
            <a:ext cx="4773168" cy="17739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指向本次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同目錄保留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service、delivery、endpoint J：待補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數值以同一 run pair 為準</a:t>
            </a:r>
          </a:p>
        </p:txBody>
      </p:sp>
      <p:sp>
        <p:nvSpPr>
          <p:cNvPr id="10" name="A hidden interpretation"/>
          <p:cNvSpPr/>
          <p:nvPr/>
        </p:nvSpPr>
        <p:spPr>
          <a:xfrm>
            <a:off x="914400" y="4315968"/>
            <a:ext cx="10369296" cy="713232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 hidden interpretation text"/>
          <p:cNvSpPr txBox="1"/>
          <p:nvPr/>
        </p:nvSpPr>
        <p:spPr>
          <a:xfrm>
            <a:off x="1078992" y="4462272"/>
            <a:ext cx="100401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 policy 在新 case 出現不同結果，結論只描述可被這組條件支持的範圍。</a:t>
            </a:r>
          </a:p>
        </p:txBody>
      </p:sp>
      <p:sp>
        <p:nvSpPr>
          <p:cNvPr id="12" name="Field strip withheld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withheld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（保留 case）｜來源：scenario contract｜作用：檢查條件邊界｜單位：case role｜判讀：不同結果不是新的調參證據</a:t>
            </a:r>
          </a:p>
        </p:txBody>
      </p:sp>
      <p:sp>
        <p:nvSpPr>
          <p:cNvPr id="13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A 結論：state、service、J 要一起讀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一個數字不能代替因果；先確認 state 怎麼變，再對照 service 與 endpoint J。</a:t>
            </a:r>
          </a:p>
        </p:txBody>
      </p:sp>
      <p:sp>
        <p:nvSpPr>
          <p:cNvPr id="4" name="A conclusion node 1"/>
          <p:cNvSpPr/>
          <p:nvPr/>
        </p:nvSpPr>
        <p:spPr>
          <a:xfrm>
            <a:off x="566928" y="1572768"/>
            <a:ext cx="2542032" cy="1335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 conclusion node 1 heading"/>
          <p:cNvSpPr txBox="1"/>
          <p:nvPr/>
        </p:nvSpPr>
        <p:spPr>
          <a:xfrm>
            <a:off x="71323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條件</a:t>
            </a:r>
          </a:p>
        </p:txBody>
      </p:sp>
      <p:sp>
        <p:nvSpPr>
          <p:cNvPr id="6" name="A conclusion node 1 body"/>
          <p:cNvSpPr txBox="1"/>
          <p:nvPr/>
        </p:nvSpPr>
        <p:spPr>
          <a:xfrm>
            <a:off x="73152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scenario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 frozen identity</a:t>
            </a:r>
          </a:p>
        </p:txBody>
      </p:sp>
      <p:sp>
        <p:nvSpPr>
          <p:cNvPr id="7" name="A conclusion connector"/>
          <p:cNvSpPr/>
          <p:nvPr/>
        </p:nvSpPr>
        <p:spPr>
          <a:xfrm>
            <a:off x="3200400" y="2057400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 conclusion node 2"/>
          <p:cNvSpPr/>
          <p:nvPr/>
        </p:nvSpPr>
        <p:spPr>
          <a:xfrm>
            <a:off x="3401568" y="1572768"/>
            <a:ext cx="2542032" cy="13350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 conclusion node 2 heading"/>
          <p:cNvSpPr txBox="1"/>
          <p:nvPr/>
        </p:nvSpPr>
        <p:spPr>
          <a:xfrm>
            <a:off x="354787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10" name="A conclusion node 2 body"/>
          <p:cNvSpPr txBox="1"/>
          <p:nvPr/>
        </p:nvSpPr>
        <p:spPr>
          <a:xfrm>
            <a:off x="356616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interval</a:t>
            </a:r>
          </a:p>
        </p:txBody>
      </p:sp>
      <p:sp>
        <p:nvSpPr>
          <p:cNvPr id="11" name="A conclusion connector"/>
          <p:cNvSpPr/>
          <p:nvPr/>
        </p:nvSpPr>
        <p:spPr>
          <a:xfrm>
            <a:off x="6035040" y="2057400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 conclusion node 3"/>
          <p:cNvSpPr/>
          <p:nvPr/>
        </p:nvSpPr>
        <p:spPr>
          <a:xfrm>
            <a:off x="6236208" y="1572768"/>
            <a:ext cx="2542032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 conclusion node 3 heading"/>
          <p:cNvSpPr txBox="1"/>
          <p:nvPr/>
        </p:nvSpPr>
        <p:spPr>
          <a:xfrm>
            <a:off x="638251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4" name="A conclusion node 3 body"/>
          <p:cNvSpPr txBox="1"/>
          <p:nvPr/>
        </p:nvSpPr>
        <p:spPr>
          <a:xfrm>
            <a:off x="640080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delivery、deadline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與 freshness gate</a:t>
            </a:r>
          </a:p>
        </p:txBody>
      </p:sp>
      <p:sp>
        <p:nvSpPr>
          <p:cNvPr id="15" name="A conclusion connector"/>
          <p:cNvSpPr/>
          <p:nvPr/>
        </p:nvSpPr>
        <p:spPr>
          <a:xfrm>
            <a:off x="8869680" y="2057400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 conclusion node 4"/>
          <p:cNvSpPr/>
          <p:nvPr/>
        </p:nvSpPr>
        <p:spPr>
          <a:xfrm>
            <a:off x="9070848" y="1572768"/>
            <a:ext cx="2542032" cy="133502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 conclusion node 4 heading"/>
          <p:cNvSpPr txBox="1"/>
          <p:nvPr/>
        </p:nvSpPr>
        <p:spPr>
          <a:xfrm>
            <a:off x="921715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8" name="A conclusion node 4 body"/>
          <p:cNvSpPr txBox="1"/>
          <p:nvPr/>
        </p:nvSpPr>
        <p:spPr>
          <a:xfrm>
            <a:off x="923544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radio／processing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</p:txBody>
      </p:sp>
      <p:sp>
        <p:nvSpPr>
          <p:cNvPr id="19" name="A conclusion sentence"/>
          <p:cNvSpPr/>
          <p:nvPr/>
        </p:nvSpPr>
        <p:spPr>
          <a:xfrm>
            <a:off x="841248" y="3273552"/>
            <a:ext cx="10497312" cy="1024128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 conclusion sentence text"/>
          <p:cNvSpPr txBox="1"/>
          <p:nvPr/>
        </p:nvSpPr>
        <p:spPr>
          <a:xfrm>
            <a:off x="1078992" y="3456432"/>
            <a:ext cx="10040112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tIns="9144" rIns="36576" bIns="9144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 → WAIT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先改變 state interval，再觀察 packet／service；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 J 的變化只在同一 identity、同一 run pair 下解讀。</a:t>
            </a:r>
          </a:p>
        </p:txBody>
      </p:sp>
      <p:sp>
        <p:nvSpPr>
          <p:cNvPr id="21" name="Field strip state_interval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（狀態區間）｜來源：result events｜作用：把 action 接到時間｜單位：s｜判讀：對照 packet、service、endpoint J</a:t>
            </a:r>
          </a:p>
        </p:txBody>
      </p:sp>
      <p:sp>
        <p:nvSpPr>
          <p:cNvPr id="22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B：一個 hold 參數，連到整條 energy ledger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的價值在於把品質觀測、封包事件與端點 energy 放到同一條可追溯鏈。</a:t>
            </a:r>
          </a:p>
        </p:txBody>
      </p:sp>
      <p:sp>
        <p:nvSpPr>
          <p:cNvPr id="4" name="LoRa ledger node 1"/>
          <p:cNvSpPr/>
          <p:nvPr/>
        </p:nvSpPr>
        <p:spPr>
          <a:xfrm>
            <a:off x="548640" y="1572768"/>
            <a:ext cx="2615184" cy="148132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Ra ledger node 1 heading"/>
          <p:cNvSpPr txBox="1"/>
          <p:nvPr/>
        </p:nvSpPr>
        <p:spPr>
          <a:xfrm>
            <a:off x="694944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1｜觀測 quality</a:t>
            </a:r>
          </a:p>
        </p:txBody>
      </p:sp>
      <p:sp>
        <p:nvSpPr>
          <p:cNvPr id="6" name="LoRa ledger node 1 body"/>
          <p:cNvSpPr txBox="1"/>
          <p:nvPr/>
        </p:nvSpPr>
        <p:spPr>
          <a:xfrm>
            <a:off x="713232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quality_band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</p:txBody>
      </p:sp>
      <p:sp>
        <p:nvSpPr>
          <p:cNvPr id="7" name="LoRa ledger connector"/>
          <p:cNvSpPr/>
          <p:nvPr/>
        </p:nvSpPr>
        <p:spPr>
          <a:xfrm>
            <a:off x="3246120" y="2084831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Ra ledger node 2"/>
          <p:cNvSpPr/>
          <p:nvPr/>
        </p:nvSpPr>
        <p:spPr>
          <a:xfrm>
            <a:off x="3346704" y="1572768"/>
            <a:ext cx="2615184" cy="148132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Ra ledger node 2 heading"/>
          <p:cNvSpPr txBox="1"/>
          <p:nvPr/>
        </p:nvSpPr>
        <p:spPr>
          <a:xfrm>
            <a:off x="3493008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2｜模式事件</a:t>
            </a:r>
          </a:p>
        </p:txBody>
      </p:sp>
      <p:sp>
        <p:nvSpPr>
          <p:cNvPr id="10" name="LoRa ledger node 2 body"/>
          <p:cNvSpPr txBox="1"/>
          <p:nvPr/>
        </p:nvSpPr>
        <p:spPr>
          <a:xfrm>
            <a:off x="3511296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何時進入 send-ready</a:t>
            </a:r>
          </a:p>
        </p:txBody>
      </p:sp>
      <p:sp>
        <p:nvSpPr>
          <p:cNvPr id="11" name="LoRa ledger connector"/>
          <p:cNvSpPr/>
          <p:nvPr/>
        </p:nvSpPr>
        <p:spPr>
          <a:xfrm>
            <a:off x="6044184" y="2084831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Ra ledger node 3"/>
          <p:cNvSpPr/>
          <p:nvPr/>
        </p:nvSpPr>
        <p:spPr>
          <a:xfrm>
            <a:off x="6144768" y="1572768"/>
            <a:ext cx="2615184" cy="148132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oRa ledger node 3 heading"/>
          <p:cNvSpPr txBox="1"/>
          <p:nvPr/>
        </p:nvSpPr>
        <p:spPr>
          <a:xfrm>
            <a:off x="6291072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3｜封包結果</a:t>
            </a:r>
          </a:p>
        </p:txBody>
      </p:sp>
      <p:sp>
        <p:nvSpPr>
          <p:cNvPr id="14" name="LoRa ledger node 3 body"/>
          <p:cNvSpPr txBox="1"/>
          <p:nvPr/>
        </p:nvSpPr>
        <p:spPr>
          <a:xfrm>
            <a:off x="6309360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attempt／retry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delivery／collision</a:t>
            </a:r>
          </a:p>
        </p:txBody>
      </p:sp>
      <p:sp>
        <p:nvSpPr>
          <p:cNvPr id="15" name="LoRa ledger connector"/>
          <p:cNvSpPr/>
          <p:nvPr/>
        </p:nvSpPr>
        <p:spPr>
          <a:xfrm>
            <a:off x="8842248" y="2084831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oRa ledger node 4"/>
          <p:cNvSpPr/>
          <p:nvPr/>
        </p:nvSpPr>
        <p:spPr>
          <a:xfrm>
            <a:off x="8942832" y="1572768"/>
            <a:ext cx="261518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oRa ledger node 4 heading"/>
          <p:cNvSpPr txBox="1"/>
          <p:nvPr/>
        </p:nvSpPr>
        <p:spPr>
          <a:xfrm>
            <a:off x="9089136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4｜端點 energy</a:t>
            </a:r>
          </a:p>
        </p:txBody>
      </p:sp>
      <p:sp>
        <p:nvSpPr>
          <p:cNvPr id="18" name="LoRa ledger node 4 body"/>
          <p:cNvSpPr txBox="1"/>
          <p:nvPr/>
        </p:nvSpPr>
        <p:spPr>
          <a:xfrm>
            <a:off x="9107424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radio／processing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</p:txBody>
      </p:sp>
      <p:sp>
        <p:nvSpPr>
          <p:cNvPr id="19" name="LEO service input"/>
          <p:cNvSpPr/>
          <p:nvPr/>
        </p:nvSpPr>
        <p:spPr>
          <a:xfrm>
            <a:off x="786384" y="3401568"/>
            <a:ext cx="5084064" cy="12801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O service input heading"/>
          <p:cNvSpPr txBox="1"/>
          <p:nvPr/>
        </p:nvSpPr>
        <p:spPr>
          <a:xfrm>
            <a:off x="932688" y="3511296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LEO input｜服務窗口</a:t>
            </a:r>
          </a:p>
        </p:txBody>
      </p:sp>
      <p:sp>
        <p:nvSpPr>
          <p:cNvPr id="21" name="LEO service input body"/>
          <p:cNvSpPr txBox="1"/>
          <p:nvPr/>
        </p:nvSpPr>
        <p:spPr>
          <a:xfrm>
            <a:off x="950976" y="3913632"/>
            <a:ext cx="4754879" cy="658367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service_window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定義合法傳輸機會。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它改變可用條件；policy edit 仍只在 endpoint decision block。</a:t>
            </a:r>
          </a:p>
        </p:txBody>
      </p:sp>
      <p:sp>
        <p:nvSpPr>
          <p:cNvPr id="22" name="Teaching comparison"/>
          <p:cNvSpPr/>
          <p:nvPr/>
        </p:nvSpPr>
        <p:spPr>
          <a:xfrm>
            <a:off x="6272784" y="3401568"/>
            <a:ext cx="5084064" cy="12801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comparison heading"/>
          <p:cNvSpPr txBox="1"/>
          <p:nvPr/>
        </p:nvSpPr>
        <p:spPr>
          <a:xfrm>
            <a:off x="6419088" y="3511296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可解釋的比較</a:t>
            </a:r>
          </a:p>
        </p:txBody>
      </p:sp>
      <p:sp>
        <p:nvSpPr>
          <p:cNvPr id="24" name="Teaching comparison body"/>
          <p:cNvSpPr txBox="1"/>
          <p:nvPr/>
        </p:nvSpPr>
        <p:spPr>
          <a:xfrm>
            <a:off x="6437376" y="3913632"/>
            <a:ext cx="4754879" cy="658367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scenario 比較 baseline／candidate／withheld。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結果仍是 simulated teaching data，不是 live measurement。</a:t>
            </a:r>
          </a:p>
        </p:txBody>
      </p:sp>
      <p:sp>
        <p:nvSpPr>
          <p:cNvPr id="25" name="Field strip endpoint_energy_j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（端點能量）｜來源：result energy breakdown｜作用：讀 radio／processing 成本｜單位：J｜判讀：不可改稱 LEO/system energy</a:t>
            </a:r>
          </a:p>
        </p:txBody>
      </p:sp>
      <p:sp>
        <p:nvSpPr>
          <p:cNvPr id="26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B：找到唯一可編輯的決策區塊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整份檔案保持原樣；本 lab 只改一個 marked block 內的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Lab B file location"/>
          <p:cNvSpPr/>
          <p:nvPr/>
        </p:nvSpPr>
        <p:spPr>
          <a:xfrm>
            <a:off x="768096" y="1554480"/>
            <a:ext cx="3218688" cy="26700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B file location heading"/>
          <p:cNvSpPr txBox="1"/>
          <p:nvPr/>
        </p:nvSpPr>
        <p:spPr>
          <a:xfrm>
            <a:off x="914400" y="1664207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檔案位置</a:t>
            </a:r>
          </a:p>
        </p:txBody>
      </p:sp>
      <p:sp>
        <p:nvSpPr>
          <p:cNvPr id="6" name="Lab B file location body"/>
          <p:cNvSpPr txBox="1"/>
          <p:nvPr/>
        </p:nvSpPr>
        <p:spPr>
          <a:xfrm>
            <a:off x="932688" y="2066543"/>
            <a:ext cx="2889504" cy="204825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 每個固定 step 提供 observation；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choose_action()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依條件回傳 action。</a:t>
            </a:r>
          </a:p>
        </p:txBody>
      </p:sp>
      <p:sp>
        <p:nvSpPr>
          <p:cNvPr id="7" name="Lab B marked block"/>
          <p:cNvSpPr/>
          <p:nvPr/>
        </p:nvSpPr>
        <p:spPr>
          <a:xfrm>
            <a:off x="4224528" y="1554480"/>
            <a:ext cx="7168896" cy="267004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B marked block line 1"/>
          <p:cNvSpPr txBox="1"/>
          <p:nvPr/>
        </p:nvSpPr>
        <p:spPr>
          <a:xfrm>
            <a:off x="4498848" y="1682495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</p:txBody>
      </p:sp>
      <p:sp>
        <p:nvSpPr>
          <p:cNvPr id="9" name="Lab B marked block line 2"/>
          <p:cNvSpPr txBox="1"/>
          <p:nvPr/>
        </p:nvSpPr>
        <p:spPr>
          <a:xfrm>
            <a:off x="4498848" y="2127504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</p:txBody>
      </p:sp>
      <p:sp>
        <p:nvSpPr>
          <p:cNvPr id="10" name="Lab B marked block line 3"/>
          <p:cNvSpPr txBox="1"/>
          <p:nvPr/>
        </p:nvSpPr>
        <p:spPr>
          <a:xfrm>
            <a:off x="4498848" y="2572511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</p:txBody>
      </p:sp>
      <p:sp>
        <p:nvSpPr>
          <p:cNvPr id="11" name="Lab B marked block highlighted line"/>
          <p:cNvSpPr/>
          <p:nvPr/>
        </p:nvSpPr>
        <p:spPr>
          <a:xfrm>
            <a:off x="4370832" y="2999232"/>
            <a:ext cx="6876288" cy="41757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B marked block target line"/>
          <p:cNvSpPr txBox="1"/>
          <p:nvPr/>
        </p:nvSpPr>
        <p:spPr>
          <a:xfrm>
            <a:off x="4498848" y="3017520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</p:txBody>
      </p:sp>
      <p:sp>
        <p:nvSpPr>
          <p:cNvPr id="13" name="Lab B marked block line 5"/>
          <p:cNvSpPr txBox="1"/>
          <p:nvPr/>
        </p:nvSpPr>
        <p:spPr>
          <a:xfrm>
            <a:off x="4498848" y="3462527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14" name="Lab B fixed A"/>
          <p:cNvSpPr/>
          <p:nvPr/>
        </p:nvSpPr>
        <p:spPr>
          <a:xfrm>
            <a:off x="786384" y="4370832"/>
            <a:ext cx="3401568" cy="4389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b B fixed A heading"/>
          <p:cNvSpPr txBox="1"/>
          <p:nvPr/>
        </p:nvSpPr>
        <p:spPr>
          <a:xfrm>
            <a:off x="932688" y="44348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固定 A</a:t>
            </a:r>
          </a:p>
        </p:txBody>
      </p:sp>
      <p:sp>
        <p:nvSpPr>
          <p:cNvPr id="16" name="Lab B fixed A body"/>
          <p:cNvSpPr txBox="1"/>
          <p:nvPr/>
        </p:nvSpPr>
        <p:spPr>
          <a:xfrm>
            <a:off x="950976" y="4709160"/>
            <a:ext cx="3072384" cy="36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</p:txBody>
      </p:sp>
      <p:sp>
        <p:nvSpPr>
          <p:cNvPr id="17" name="Lab B fixed C"/>
          <p:cNvSpPr/>
          <p:nvPr/>
        </p:nvSpPr>
        <p:spPr>
          <a:xfrm>
            <a:off x="4389120" y="4370832"/>
            <a:ext cx="3401568" cy="4389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 B fixed C heading"/>
          <p:cNvSpPr txBox="1"/>
          <p:nvPr/>
        </p:nvSpPr>
        <p:spPr>
          <a:xfrm>
            <a:off x="4535424" y="44348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固定 C</a:t>
            </a:r>
          </a:p>
        </p:txBody>
      </p:sp>
      <p:sp>
        <p:nvSpPr>
          <p:cNvPr id="19" name="Lab B fixed C body"/>
          <p:cNvSpPr txBox="1"/>
          <p:nvPr/>
        </p:nvSpPr>
        <p:spPr>
          <a:xfrm>
            <a:off x="4553712" y="4709160"/>
            <a:ext cx="3072384" cy="36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</p:txBody>
      </p:sp>
      <p:sp>
        <p:nvSpPr>
          <p:cNvPr id="20" name="Lab B fixed runner"/>
          <p:cNvSpPr/>
          <p:nvPr/>
        </p:nvSpPr>
        <p:spPr>
          <a:xfrm>
            <a:off x="7991856" y="4370832"/>
            <a:ext cx="3401568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ab B fixed runner heading"/>
          <p:cNvSpPr txBox="1"/>
          <p:nvPr/>
        </p:nvSpPr>
        <p:spPr>
          <a:xfrm>
            <a:off x="8138160" y="44348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固定執行器</a:t>
            </a:r>
          </a:p>
        </p:txBody>
      </p:sp>
      <p:sp>
        <p:nvSpPr>
          <p:cNvPr id="22" name="Lab B fixed runner body"/>
          <p:cNvSpPr txBox="1"/>
          <p:nvPr/>
        </p:nvSpPr>
        <p:spPr>
          <a:xfrm>
            <a:off x="8156448" y="4709160"/>
            <a:ext cx="3072384" cy="36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runner／scenario／schemas</a:t>
            </a:r>
          </a:p>
        </p:txBody>
      </p:sp>
      <p:sp>
        <p:nvSpPr>
          <p:cNvPr id="23" name="Field strip active_block_id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active_block_id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（作用區塊）｜來源：policy／freeze receipt｜作用：鎖定可編輯範圍｜單位：block name｜判讀：不是整份檔案都可改</a:t>
            </a:r>
          </a:p>
        </p:txBody>
      </p:sp>
      <p:sp>
        <p:nvSpPr>
          <p:cNvPr id="24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B：Before 的 baseline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先以原始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 = 2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建立 Trace A baseline；這頁只讀 code，不先宣稱結果。</a:t>
            </a:r>
          </a:p>
        </p:txBody>
      </p:sp>
      <p:sp>
        <p:nvSpPr>
          <p:cNvPr id="4" name="Before code excerpt"/>
          <p:cNvSpPr/>
          <p:nvPr/>
        </p:nvSpPr>
        <p:spPr>
          <a:xfrm>
            <a:off x="768096" y="1481328"/>
            <a:ext cx="6931152" cy="296265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fore code excerpt line 1"/>
          <p:cNvSpPr txBox="1"/>
          <p:nvPr/>
        </p:nvSpPr>
        <p:spPr>
          <a:xfrm>
            <a:off x="1042415" y="1609344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</p:txBody>
      </p:sp>
      <p:sp>
        <p:nvSpPr>
          <p:cNvPr id="6" name="Before code excerpt line 2"/>
          <p:cNvSpPr txBox="1"/>
          <p:nvPr/>
        </p:nvSpPr>
        <p:spPr>
          <a:xfrm>
            <a:off x="1042415" y="2103120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</p:txBody>
      </p:sp>
      <p:sp>
        <p:nvSpPr>
          <p:cNvPr id="7" name="Before code excerpt line 3"/>
          <p:cNvSpPr txBox="1"/>
          <p:nvPr/>
        </p:nvSpPr>
        <p:spPr>
          <a:xfrm>
            <a:off x="1042415" y="2596896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</p:txBody>
      </p:sp>
      <p:sp>
        <p:nvSpPr>
          <p:cNvPr id="8" name="Before code excerpt target prefix"/>
          <p:cNvSpPr txBox="1"/>
          <p:nvPr/>
        </p:nvSpPr>
        <p:spPr>
          <a:xfrm>
            <a:off x="1042415" y="3090672"/>
            <a:ext cx="5760720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STABLE_STEPS = </a:t>
            </a:r>
          </a:p>
        </p:txBody>
      </p:sp>
      <p:sp>
        <p:nvSpPr>
          <p:cNvPr id="9" name="Before code excerpt changed value"/>
          <p:cNvSpPr/>
          <p:nvPr/>
        </p:nvSpPr>
        <p:spPr>
          <a:xfrm>
            <a:off x="2688335" y="3099816"/>
            <a:ext cx="402336" cy="4389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fore code excerpt changed value text"/>
          <p:cNvSpPr txBox="1"/>
          <p:nvPr/>
        </p:nvSpPr>
        <p:spPr>
          <a:xfrm>
            <a:off x="2688335" y="3099816"/>
            <a:ext cx="40233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1" name="Before code excerpt line 5"/>
          <p:cNvSpPr txBox="1"/>
          <p:nvPr/>
        </p:nvSpPr>
        <p:spPr>
          <a:xfrm>
            <a:off x="1042415" y="3584448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12" name="Before enter threshold"/>
          <p:cNvSpPr/>
          <p:nvPr/>
        </p:nvSpPr>
        <p:spPr>
          <a:xfrm>
            <a:off x="7973568" y="1481328"/>
            <a:ext cx="3383280" cy="12618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fore enter threshold heading"/>
          <p:cNvSpPr txBox="1"/>
          <p:nvPr/>
        </p:nvSpPr>
        <p:spPr>
          <a:xfrm>
            <a:off x="8119872" y="1591056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固定門檻</a:t>
            </a:r>
          </a:p>
        </p:txBody>
      </p:sp>
      <p:sp>
        <p:nvSpPr>
          <p:cNvPr id="14" name="Before enter threshold body"/>
          <p:cNvSpPr txBox="1"/>
          <p:nvPr/>
        </p:nvSpPr>
        <p:spPr>
          <a:xfrm>
            <a:off x="8138160" y="1993392"/>
            <a:ext cx="3054096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品質達 2 才有進入資格。</a:t>
            </a:r>
          </a:p>
        </p:txBody>
      </p:sp>
      <p:sp>
        <p:nvSpPr>
          <p:cNvPr id="15" name="Before exit threshold"/>
          <p:cNvSpPr/>
          <p:nvPr/>
        </p:nvSpPr>
        <p:spPr>
          <a:xfrm>
            <a:off x="7973568" y="2962656"/>
            <a:ext cx="3383280" cy="148132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fore exit threshold heading"/>
          <p:cNvSpPr txBox="1"/>
          <p:nvPr/>
        </p:nvSpPr>
        <p:spPr>
          <a:xfrm>
            <a:off x="8119872" y="3072384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保持門檻</a:t>
            </a:r>
          </a:p>
        </p:txBody>
      </p:sp>
      <p:sp>
        <p:nvSpPr>
          <p:cNvPr id="17" name="Before exit threshold body"/>
          <p:cNvSpPr txBox="1"/>
          <p:nvPr/>
        </p:nvSpPr>
        <p:spPr>
          <a:xfrm>
            <a:off x="8138160" y="3474720"/>
            <a:ext cx="3054096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已進入後維持 1 或以上，不因小幅下降立即退出。</a:t>
            </a:r>
          </a:p>
        </p:txBody>
      </p:sp>
      <p:sp>
        <p:nvSpPr>
          <p:cNvPr id="18" name="Field strip STABLE_STEPS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（穩定步數）｜來源：student_policy.py B block｜作用：限制進入時機｜單位：step｜判讀：baseline 需要連續 2 次觀測</a:t>
            </a:r>
          </a:p>
        </p:txBody>
      </p:sp>
      <p:sp>
        <p:nvSpPr>
          <p:cNvPr id="19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B：After 的 candidate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唯一 edit：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從 2 改成 1；其它行、其它 block、其它檔案保持原樣。</a:t>
            </a:r>
          </a:p>
        </p:txBody>
      </p:sp>
      <p:sp>
        <p:nvSpPr>
          <p:cNvPr id="4" name="After code excerpt"/>
          <p:cNvSpPr/>
          <p:nvPr/>
        </p:nvSpPr>
        <p:spPr>
          <a:xfrm>
            <a:off x="768096" y="1481328"/>
            <a:ext cx="6931152" cy="296265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fter code excerpt line 1"/>
          <p:cNvSpPr txBox="1"/>
          <p:nvPr/>
        </p:nvSpPr>
        <p:spPr>
          <a:xfrm>
            <a:off x="1042415" y="1609344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</p:txBody>
      </p:sp>
      <p:sp>
        <p:nvSpPr>
          <p:cNvPr id="6" name="After code excerpt line 2"/>
          <p:cNvSpPr txBox="1"/>
          <p:nvPr/>
        </p:nvSpPr>
        <p:spPr>
          <a:xfrm>
            <a:off x="1042415" y="2103120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</p:txBody>
      </p:sp>
      <p:sp>
        <p:nvSpPr>
          <p:cNvPr id="7" name="After code excerpt line 3"/>
          <p:cNvSpPr txBox="1"/>
          <p:nvPr/>
        </p:nvSpPr>
        <p:spPr>
          <a:xfrm>
            <a:off x="1042415" y="2596896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</p:txBody>
      </p:sp>
      <p:sp>
        <p:nvSpPr>
          <p:cNvPr id="8" name="After code excerpt target prefix"/>
          <p:cNvSpPr txBox="1"/>
          <p:nvPr/>
        </p:nvSpPr>
        <p:spPr>
          <a:xfrm>
            <a:off x="1042415" y="3090672"/>
            <a:ext cx="5760720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STABLE_STEPS = </a:t>
            </a:r>
          </a:p>
        </p:txBody>
      </p:sp>
      <p:sp>
        <p:nvSpPr>
          <p:cNvPr id="9" name="After code excerpt changed value"/>
          <p:cNvSpPr/>
          <p:nvPr/>
        </p:nvSpPr>
        <p:spPr>
          <a:xfrm>
            <a:off x="2688335" y="3099816"/>
            <a:ext cx="402336" cy="4389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fter code excerpt changed value text"/>
          <p:cNvSpPr txBox="1"/>
          <p:nvPr/>
        </p:nvSpPr>
        <p:spPr>
          <a:xfrm>
            <a:off x="2688335" y="3099816"/>
            <a:ext cx="40233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1" name="After code excerpt line 5"/>
          <p:cNvSpPr txBox="1"/>
          <p:nvPr/>
        </p:nvSpPr>
        <p:spPr>
          <a:xfrm>
            <a:off x="1042415" y="3584448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12" name="After diff"/>
          <p:cNvSpPr/>
          <p:nvPr/>
        </p:nvSpPr>
        <p:spPr>
          <a:xfrm>
            <a:off x="7973568" y="1481328"/>
            <a:ext cx="3383280" cy="12618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fter diff heading"/>
          <p:cNvSpPr txBox="1"/>
          <p:nvPr/>
        </p:nvSpPr>
        <p:spPr>
          <a:xfrm>
            <a:off x="8119872" y="1591056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one-line diff</a:t>
            </a:r>
          </a:p>
        </p:txBody>
      </p:sp>
      <p:sp>
        <p:nvSpPr>
          <p:cNvPr id="14" name="After diff body"/>
          <p:cNvSpPr txBox="1"/>
          <p:nvPr/>
        </p:nvSpPr>
        <p:spPr>
          <a:xfrm>
            <a:off x="8138160" y="1993392"/>
            <a:ext cx="3054096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Before：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After：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1</a:t>
            </a:r>
          </a:p>
        </p:txBody>
      </p:sp>
      <p:sp>
        <p:nvSpPr>
          <p:cNvPr id="15" name="After unchanged"/>
          <p:cNvSpPr/>
          <p:nvPr/>
        </p:nvSpPr>
        <p:spPr>
          <a:xfrm>
            <a:off x="7973568" y="2962656"/>
            <a:ext cx="3383280" cy="148132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ter unchanged heading"/>
          <p:cNvSpPr txBox="1"/>
          <p:nvPr/>
        </p:nvSpPr>
        <p:spPr>
          <a:xfrm>
            <a:off x="8119872" y="3072384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保持不變</a:t>
            </a:r>
          </a:p>
        </p:txBody>
      </p:sp>
      <p:sp>
        <p:nvSpPr>
          <p:cNvPr id="17" name="After unchanged body"/>
          <p:cNvSpPr txBox="1"/>
          <p:nvPr/>
        </p:nvSpPr>
        <p:spPr>
          <a:xfrm>
            <a:off x="8138160" y="3474720"/>
            <a:ext cx="3054096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ENTER=2、EXIT=1、A frozen block、C block、runner、scenario、schemas。</a:t>
            </a:r>
          </a:p>
        </p:txBody>
      </p:sp>
      <p:sp>
        <p:nvSpPr>
          <p:cNvPr id="18" name="Field strip STABLE_STEPS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（穩定步數）｜來源：student_policy.py B block｜作用：改變進入 timing｜單位：step｜判讀：candidate 只保留 1 次觀測</a:t>
            </a:r>
          </a:p>
        </p:txBody>
      </p:sp>
      <p:sp>
        <p:nvSpPr>
          <p:cNvPr id="19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B：兩個穩定觀測 versus 一個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相同 quality trace 下，hold 的差別是進入 send-ready 的時間；不是直接指定封包成功。</a:t>
            </a:r>
          </a:p>
        </p:txBody>
      </p:sp>
      <p:sp>
        <p:nvSpPr>
          <p:cNvPr id="4" name="Two-step timing"/>
          <p:cNvSpPr/>
          <p:nvPr/>
        </p:nvSpPr>
        <p:spPr>
          <a:xfrm>
            <a:off x="768096" y="1481328"/>
            <a:ext cx="5084064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wo-step heading"/>
          <p:cNvSpPr txBox="1"/>
          <p:nvPr/>
        </p:nvSpPr>
        <p:spPr>
          <a:xfrm>
            <a:off x="987552" y="1664208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baseline：兩次確認</a:t>
            </a:r>
          </a:p>
        </p:txBody>
      </p:sp>
      <p:sp>
        <p:nvSpPr>
          <p:cNvPr id="6" name="Two-step observation"/>
          <p:cNvSpPr/>
          <p:nvPr/>
        </p:nvSpPr>
        <p:spPr>
          <a:xfrm>
            <a:off x="1298448" y="2212848"/>
            <a:ext cx="1170432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wo-step observation text"/>
          <p:cNvSpPr txBox="1"/>
          <p:nvPr/>
        </p:nvSpPr>
        <p:spPr>
          <a:xfrm>
            <a:off x="1344168" y="2340864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1 次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品質達 2</a:t>
            </a:r>
          </a:p>
        </p:txBody>
      </p:sp>
      <p:sp>
        <p:nvSpPr>
          <p:cNvPr id="8" name="Two-step observation"/>
          <p:cNvSpPr/>
          <p:nvPr/>
        </p:nvSpPr>
        <p:spPr>
          <a:xfrm>
            <a:off x="2798064" y="2212848"/>
            <a:ext cx="1170432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wo-step observation text"/>
          <p:cNvSpPr txBox="1"/>
          <p:nvPr/>
        </p:nvSpPr>
        <p:spPr>
          <a:xfrm>
            <a:off x="2843784" y="2340864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2 次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品質仍穩定</a:t>
            </a:r>
          </a:p>
        </p:txBody>
      </p:sp>
      <p:sp>
        <p:nvSpPr>
          <p:cNvPr id="10" name="Two-step timing connector"/>
          <p:cNvSpPr/>
          <p:nvPr/>
        </p:nvSpPr>
        <p:spPr>
          <a:xfrm>
            <a:off x="2560320" y="2395728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chanism label"/>
          <p:cNvSpPr/>
          <p:nvPr/>
        </p:nvSpPr>
        <p:spPr>
          <a:xfrm>
            <a:off x="1389888" y="3401568"/>
            <a:ext cx="3840480" cy="4389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2 次完成 → MODE_CHANGE</a:t>
            </a:r>
          </a:p>
        </p:txBody>
      </p:sp>
      <p:sp>
        <p:nvSpPr>
          <p:cNvPr id="12" name="Two-step explanation"/>
          <p:cNvSpPr txBox="1"/>
          <p:nvPr/>
        </p:nvSpPr>
        <p:spPr>
          <a:xfrm>
            <a:off x="987552" y="3968496"/>
            <a:ext cx="464515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短暫 spike 不會立刻進入</a:t>
            </a:r>
          </a:p>
        </p:txBody>
      </p:sp>
      <p:sp>
        <p:nvSpPr>
          <p:cNvPr id="13" name="One-step timing"/>
          <p:cNvSpPr/>
          <p:nvPr/>
        </p:nvSpPr>
        <p:spPr>
          <a:xfrm>
            <a:off x="6272784" y="1481328"/>
            <a:ext cx="5084064" cy="294436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ne-step heading"/>
          <p:cNvSpPr txBox="1"/>
          <p:nvPr/>
        </p:nvSpPr>
        <p:spPr>
          <a:xfrm>
            <a:off x="6492240" y="1664208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candidate：一次確認</a:t>
            </a:r>
          </a:p>
        </p:txBody>
      </p:sp>
      <p:sp>
        <p:nvSpPr>
          <p:cNvPr id="15" name="One-step observation"/>
          <p:cNvSpPr/>
          <p:nvPr/>
        </p:nvSpPr>
        <p:spPr>
          <a:xfrm>
            <a:off x="7571231" y="2212848"/>
            <a:ext cx="1554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ne-step observation text"/>
          <p:cNvSpPr txBox="1"/>
          <p:nvPr/>
        </p:nvSpPr>
        <p:spPr>
          <a:xfrm>
            <a:off x="7644383" y="2340864"/>
            <a:ext cx="140817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1 次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品質達 2</a:t>
            </a:r>
          </a:p>
        </p:txBody>
      </p:sp>
      <p:sp>
        <p:nvSpPr>
          <p:cNvPr id="17" name="Mechanism label"/>
          <p:cNvSpPr/>
          <p:nvPr/>
        </p:nvSpPr>
        <p:spPr>
          <a:xfrm>
            <a:off x="6894576" y="3401568"/>
            <a:ext cx="3840480" cy="4389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1 次完成 → MODE_CHANGE</a:t>
            </a:r>
          </a:p>
        </p:txBody>
      </p:sp>
      <p:sp>
        <p:nvSpPr>
          <p:cNvPr id="18" name="One-step explanation"/>
          <p:cNvSpPr txBox="1"/>
          <p:nvPr/>
        </p:nvSpPr>
        <p:spPr>
          <a:xfrm>
            <a:off x="6492240" y="3968496"/>
            <a:ext cx="464515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可能提早一個固定 step</a:t>
            </a:r>
          </a:p>
        </p:txBody>
      </p:sp>
      <p:sp>
        <p:nvSpPr>
          <p:cNvPr id="19" name="Field strip MODE_CHANGE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（模式切換事件）｜來源：result events／replay｜作用：確認進入 timing｜單位：event｜判讀：再對照 packet、service、J</a:t>
            </a:r>
          </a:p>
        </p:txBody>
      </p:sp>
      <p:sp>
        <p:nvSpPr>
          <p:cNvPr id="20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A：先建立可驗證的比較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 frozen predecessor 固定；先跑 baseline，再跑 candidate freeze，最後以同一 policy 做 Trace B。</a:t>
            </a:r>
          </a:p>
        </p:txBody>
      </p:sp>
      <p:sp>
        <p:nvSpPr>
          <p:cNvPr id="4" name="Trace sequence 1"/>
          <p:cNvSpPr/>
          <p:nvPr/>
        </p:nvSpPr>
        <p:spPr>
          <a:xfrm>
            <a:off x="713232" y="1572768"/>
            <a:ext cx="3255264" cy="15544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e sequence 1 heading"/>
          <p:cNvSpPr txBox="1"/>
          <p:nvPr/>
        </p:nvSpPr>
        <p:spPr>
          <a:xfrm>
            <a:off x="859536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6" name="Trace sequence 1 body"/>
          <p:cNvSpPr txBox="1"/>
          <p:nvPr/>
        </p:nvSpPr>
        <p:spPr>
          <a:xfrm>
            <a:off x="877824" y="2084832"/>
            <a:ext cx="2926080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B：STABLE_STEPS=2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不加 freeze</a:t>
            </a:r>
          </a:p>
        </p:txBody>
      </p:sp>
      <p:sp>
        <p:nvSpPr>
          <p:cNvPr id="7" name="Trace sequence connector"/>
          <p:cNvSpPr/>
          <p:nvPr/>
        </p:nvSpPr>
        <p:spPr>
          <a:xfrm>
            <a:off x="4078224" y="2139696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e sequence 2"/>
          <p:cNvSpPr/>
          <p:nvPr/>
        </p:nvSpPr>
        <p:spPr>
          <a:xfrm>
            <a:off x="4480560" y="1572768"/>
            <a:ext cx="3255264" cy="155448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ce sequence 2 heading"/>
          <p:cNvSpPr txBox="1"/>
          <p:nvPr/>
        </p:nvSpPr>
        <p:spPr>
          <a:xfrm>
            <a:off x="4626864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10" name="Trace sequence 2 body"/>
          <p:cNvSpPr txBox="1"/>
          <p:nvPr/>
        </p:nvSpPr>
        <p:spPr>
          <a:xfrm>
            <a:off x="4645152" y="2084832"/>
            <a:ext cx="2926080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只改 B：2→1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Trace A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建立 freeze</a:t>
            </a:r>
          </a:p>
        </p:txBody>
      </p:sp>
      <p:sp>
        <p:nvSpPr>
          <p:cNvPr id="11" name="Trace sequence connector"/>
          <p:cNvSpPr/>
          <p:nvPr/>
        </p:nvSpPr>
        <p:spPr>
          <a:xfrm>
            <a:off x="7845552" y="2139696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ce sequence 3"/>
          <p:cNvSpPr/>
          <p:nvPr/>
        </p:nvSpPr>
        <p:spPr>
          <a:xfrm>
            <a:off x="8247888" y="1572768"/>
            <a:ext cx="3255264" cy="15544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ce sequence 3 heading"/>
          <p:cNvSpPr txBox="1"/>
          <p:nvPr/>
        </p:nvSpPr>
        <p:spPr>
          <a:xfrm>
            <a:off x="8394192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sp>
        <p:nvSpPr>
          <p:cNvPr id="14" name="Trace sequence 3 body"/>
          <p:cNvSpPr txBox="1"/>
          <p:nvPr/>
        </p:nvSpPr>
        <p:spPr>
          <a:xfrm>
            <a:off x="8412480" y="2084832"/>
            <a:ext cx="2926080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保持 B frozen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Trace B 新 case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不再調參</a:t>
            </a:r>
          </a:p>
        </p:txBody>
      </p:sp>
      <p:sp>
        <p:nvSpPr>
          <p:cNvPr id="15" name="Trace prediction baseline"/>
          <p:cNvSpPr/>
          <p:nvPr/>
        </p:nvSpPr>
        <p:spPr>
          <a:xfrm>
            <a:off x="786384" y="3511296"/>
            <a:ext cx="3401568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e prediction baseline heading"/>
          <p:cNvSpPr txBox="1"/>
          <p:nvPr/>
        </p:nvSpPr>
        <p:spPr>
          <a:xfrm>
            <a:off x="932688" y="36210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 prediction</a:t>
            </a:r>
          </a:p>
        </p:txBody>
      </p:sp>
      <p:sp>
        <p:nvSpPr>
          <p:cNvPr id="17" name="Trace prediction baseline body"/>
          <p:cNvSpPr txBox="1"/>
          <p:nvPr/>
        </p:nvSpPr>
        <p:spPr>
          <a:xfrm>
            <a:off x="950976" y="4023360"/>
            <a:ext cx="3072384" cy="45719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較晚進入；可能少一次早期嘗試。</a:t>
            </a:r>
          </a:p>
        </p:txBody>
      </p:sp>
      <p:sp>
        <p:nvSpPr>
          <p:cNvPr id="18" name="Trace prediction candidate"/>
          <p:cNvSpPr/>
          <p:nvPr/>
        </p:nvSpPr>
        <p:spPr>
          <a:xfrm>
            <a:off x="4389120" y="3511296"/>
            <a:ext cx="3401568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e prediction candidate heading"/>
          <p:cNvSpPr txBox="1"/>
          <p:nvPr/>
        </p:nvSpPr>
        <p:spPr>
          <a:xfrm>
            <a:off x="4535424" y="36210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prediction</a:t>
            </a:r>
          </a:p>
        </p:txBody>
      </p:sp>
      <p:sp>
        <p:nvSpPr>
          <p:cNvPr id="20" name="Trace prediction candidate body"/>
          <p:cNvSpPr txBox="1"/>
          <p:nvPr/>
        </p:nvSpPr>
        <p:spPr>
          <a:xfrm>
            <a:off x="4553712" y="4023360"/>
            <a:ext cx="3072384" cy="45719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較早進入；service opportunity 可能增加，也可能付出更多 radio／processing。</a:t>
            </a:r>
          </a:p>
        </p:txBody>
      </p:sp>
      <p:sp>
        <p:nvSpPr>
          <p:cNvPr id="21" name="Trace prediction rule"/>
          <p:cNvSpPr/>
          <p:nvPr/>
        </p:nvSpPr>
        <p:spPr>
          <a:xfrm>
            <a:off x="7991856" y="3511296"/>
            <a:ext cx="3401568" cy="107899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e prediction rule heading"/>
          <p:cNvSpPr txBox="1"/>
          <p:nvPr/>
        </p:nvSpPr>
        <p:spPr>
          <a:xfrm>
            <a:off x="8138160" y="36210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判讀規則</a:t>
            </a:r>
          </a:p>
        </p:txBody>
      </p:sp>
      <p:sp>
        <p:nvSpPr>
          <p:cNvPr id="23" name="Trace prediction rule body"/>
          <p:cNvSpPr txBox="1"/>
          <p:nvPr/>
        </p:nvSpPr>
        <p:spPr>
          <a:xfrm>
            <a:off x="8156448" y="4023360"/>
            <a:ext cx="3072384" cy="45719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只有 event → packet → service → J 的配對才支持因果句。</a:t>
            </a:r>
          </a:p>
        </p:txBody>
      </p:sp>
      <p:sp>
        <p:nvSpPr>
          <p:cNvPr id="24" name="Field strip policy lineage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lineage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（策略脈絡）｜來源：freeze receipt／checkpoint｜作用：固定比較前提｜單位：identity｜判讀：baseline／candidate／withheld 不混 policy</a:t>
            </a:r>
          </a:p>
        </p:txBody>
      </p:sp>
      <p:sp>
        <p:nvSpPr>
          <p:cNvPr id="25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A 與 Trace B：Linux／macOS 終端機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下列命令在 package 根目錄執行；WSL 也使用這組 Linux 指令，stdout 會印出 result_path。</a:t>
            </a:r>
          </a:p>
        </p:txBody>
      </p:sp>
      <p:sp>
        <p:nvSpPr>
          <p:cNvPr id="4" name="Linux baseline command"/>
          <p:cNvSpPr/>
          <p:nvPr/>
        </p:nvSpPr>
        <p:spPr>
          <a:xfrm>
            <a:off x="768096" y="1481328"/>
            <a:ext cx="10643616" cy="9326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inux baseline command heading"/>
          <p:cNvSpPr txBox="1"/>
          <p:nvPr/>
        </p:nvSpPr>
        <p:spPr>
          <a:xfrm>
            <a:off x="896112" y="1591056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 baseline｜原始 B policy</a:t>
            </a:r>
          </a:p>
        </p:txBody>
      </p:sp>
      <p:sp>
        <p:nvSpPr>
          <p:cNvPr id="6" name="Linux baseline command command"/>
          <p:cNvSpPr txBox="1"/>
          <p:nvPr/>
        </p:nvSpPr>
        <p:spPr>
          <a:xfrm>
            <a:off x="950976" y="1975104"/>
            <a:ext cx="10277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7" name="Linux candidate command"/>
          <p:cNvSpPr/>
          <p:nvPr/>
        </p:nvSpPr>
        <p:spPr>
          <a:xfrm>
            <a:off x="768096" y="2633472"/>
            <a:ext cx="10643616" cy="93268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inux candidate command heading"/>
          <p:cNvSpPr txBox="1"/>
          <p:nvPr/>
        </p:nvSpPr>
        <p:spPr>
          <a:xfrm>
            <a:off x="896112" y="2743200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A candidate｜2→1 + freeze</a:t>
            </a:r>
          </a:p>
        </p:txBody>
      </p:sp>
      <p:sp>
        <p:nvSpPr>
          <p:cNvPr id="9" name="Linux candidate command command"/>
          <p:cNvSpPr txBox="1"/>
          <p:nvPr/>
        </p:nvSpPr>
        <p:spPr>
          <a:xfrm>
            <a:off x="950976" y="3127248"/>
            <a:ext cx="10277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sp>
        <p:nvSpPr>
          <p:cNvPr id="10" name="Linux Trace B command"/>
          <p:cNvSpPr/>
          <p:nvPr/>
        </p:nvSpPr>
        <p:spPr>
          <a:xfrm>
            <a:off x="768096" y="3785615"/>
            <a:ext cx="10643616" cy="93268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ux Trace B command heading"/>
          <p:cNvSpPr txBox="1"/>
          <p:nvPr/>
        </p:nvSpPr>
        <p:spPr>
          <a:xfrm>
            <a:off x="896112" y="3895344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Trace B｜保持 B frozen 的 withheld case</a:t>
            </a:r>
          </a:p>
        </p:txBody>
      </p:sp>
      <p:sp>
        <p:nvSpPr>
          <p:cNvPr id="12" name="Linux Trace B command command"/>
          <p:cNvSpPr txBox="1"/>
          <p:nvPr/>
        </p:nvSpPr>
        <p:spPr>
          <a:xfrm>
            <a:off x="950976" y="4279392"/>
            <a:ext cx="10277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13" name="Field strip result_path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（結果路徑）｜來源：command stdout｜作用：選取本次 result.json｜單位：file path｜判讀：不要自行猜 run directory</a:t>
            </a:r>
          </a:p>
        </p:txBody>
      </p:sp>
      <p:sp>
        <p:nvSpPr>
          <p:cNvPr id="14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同一流程：Windows PowerShell／Command Prompt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 使用相同參數；PowerShell 與 Command Prompt 只替換 launcher 名稱。</a:t>
            </a:r>
          </a:p>
        </p:txBody>
      </p:sp>
      <p:sp>
        <p:nvSpPr>
          <p:cNvPr id="4" name="PowerShell commands"/>
          <p:cNvSpPr/>
          <p:nvPr/>
        </p:nvSpPr>
        <p:spPr>
          <a:xfrm>
            <a:off x="768096" y="1481328"/>
            <a:ext cx="5120640" cy="32735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werShell commands heading"/>
          <p:cNvSpPr txBox="1"/>
          <p:nvPr/>
        </p:nvSpPr>
        <p:spPr>
          <a:xfrm>
            <a:off x="896112" y="1591056"/>
            <a:ext cx="486460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PowerShell｜</a:t>
            </a:r>
            <a:r>
              <a:rPr sz="19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.\course.cmd</a:t>
            </a:r>
          </a:p>
        </p:txBody>
      </p:sp>
      <p:sp>
        <p:nvSpPr>
          <p:cNvPr id="6" name="PowerShell commands command"/>
          <p:cNvSpPr txBox="1"/>
          <p:nvPr/>
        </p:nvSpPr>
        <p:spPr>
          <a:xfrm>
            <a:off x="950976" y="1975104"/>
            <a:ext cx="4754879" cy="2670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B --case trace-a-baseline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B --case trace-a-candidate --freeze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B --case trace-b</a:t>
            </a:r>
          </a:p>
        </p:txBody>
      </p:sp>
      <p:sp>
        <p:nvSpPr>
          <p:cNvPr id="7" name="Command Prompt commands"/>
          <p:cNvSpPr/>
          <p:nvPr/>
        </p:nvSpPr>
        <p:spPr>
          <a:xfrm>
            <a:off x="6254496" y="1481328"/>
            <a:ext cx="5120640" cy="327355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mand Prompt commands heading"/>
          <p:cNvSpPr txBox="1"/>
          <p:nvPr/>
        </p:nvSpPr>
        <p:spPr>
          <a:xfrm>
            <a:off x="6382512" y="1591056"/>
            <a:ext cx="486460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Command Prompt｜</a:t>
            </a:r>
            <a:r>
              <a:rPr sz="19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course.cmd</a:t>
            </a:r>
          </a:p>
        </p:txBody>
      </p:sp>
      <p:sp>
        <p:nvSpPr>
          <p:cNvPr id="9" name="Command Prompt commands command"/>
          <p:cNvSpPr txBox="1"/>
          <p:nvPr/>
        </p:nvSpPr>
        <p:spPr>
          <a:xfrm>
            <a:off x="6437376" y="1975104"/>
            <a:ext cx="4754879" cy="2670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B --case trace-a-baseline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B --case trace-a-candidate --freeze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B --case trace-b</a:t>
            </a:r>
          </a:p>
        </p:txBody>
      </p:sp>
      <p:sp>
        <p:nvSpPr>
          <p:cNvPr id="10" name="Mechanism label"/>
          <p:cNvSpPr/>
          <p:nvPr/>
        </p:nvSpPr>
        <p:spPr>
          <a:xfrm>
            <a:off x="969264" y="4370832"/>
            <a:ext cx="10204704" cy="4023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baseline → candidate --freeze → Trace B；每次 stdout 都保存新的 result_path</a:t>
            </a:r>
          </a:p>
        </p:txBody>
      </p:sp>
      <p:sp>
        <p:nvSpPr>
          <p:cNvPr id="11" name="Field strip launcher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launcher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（執行器入口）｜來源：Windows shell｜作用：呼叫同一 course contract｜單位：command｜判讀：PowerShell 與 Command Prompt 不混用語法</a:t>
            </a:r>
          </a:p>
        </p:txBody>
      </p:sp>
      <p:sp>
        <p:nvSpPr>
          <p:cNvPr id="12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 run 都產生一對可追溯檔案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 的輸出不是一個孤立數字；result 與 replay 共同保留同一 run identity。</a:t>
            </a:r>
          </a:p>
        </p:txBody>
      </p:sp>
      <p:sp>
        <p:nvSpPr>
          <p:cNvPr id="4" name="Artifact pair node 1"/>
          <p:cNvSpPr/>
          <p:nvPr/>
        </p:nvSpPr>
        <p:spPr>
          <a:xfrm>
            <a:off x="731520" y="1572768"/>
            <a:ext cx="3273552" cy="151790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tifact pair node 1 heading"/>
          <p:cNvSpPr txBox="1"/>
          <p:nvPr/>
        </p:nvSpPr>
        <p:spPr>
          <a:xfrm>
            <a:off x="877824" y="1682495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</a:t>
            </a:r>
          </a:p>
        </p:txBody>
      </p:sp>
      <p:sp>
        <p:nvSpPr>
          <p:cNvPr id="6" name="Artifact pair node 1 body"/>
          <p:cNvSpPr txBox="1"/>
          <p:nvPr/>
        </p:nvSpPr>
        <p:spPr>
          <a:xfrm>
            <a:off x="896112" y="2084832"/>
            <a:ext cx="2944368" cy="89611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命令列印出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7" name="Artifact pair connector"/>
          <p:cNvSpPr/>
          <p:nvPr/>
        </p:nvSpPr>
        <p:spPr>
          <a:xfrm>
            <a:off x="4114800" y="2112264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tifact pair node 2"/>
          <p:cNvSpPr/>
          <p:nvPr/>
        </p:nvSpPr>
        <p:spPr>
          <a:xfrm>
            <a:off x="4407407" y="1572768"/>
            <a:ext cx="3273552" cy="151790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tifact pair node 2 heading"/>
          <p:cNvSpPr txBox="1"/>
          <p:nvPr/>
        </p:nvSpPr>
        <p:spPr>
          <a:xfrm>
            <a:off x="4553712" y="1682495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sp>
        <p:nvSpPr>
          <p:cNvPr id="10" name="Artifact pair node 2 body"/>
          <p:cNvSpPr txBox="1"/>
          <p:nvPr/>
        </p:nvSpPr>
        <p:spPr>
          <a:xfrm>
            <a:off x="4571999" y="2084832"/>
            <a:ext cx="2944368" cy="89611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summary、events、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policy／scenario identity</a:t>
            </a:r>
          </a:p>
        </p:txBody>
      </p:sp>
      <p:sp>
        <p:nvSpPr>
          <p:cNvPr id="11" name="Artifact pair connector"/>
          <p:cNvSpPr/>
          <p:nvPr/>
        </p:nvSpPr>
        <p:spPr>
          <a:xfrm>
            <a:off x="7790688" y="2112264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tifact pair node 3"/>
          <p:cNvSpPr/>
          <p:nvPr/>
        </p:nvSpPr>
        <p:spPr>
          <a:xfrm>
            <a:off x="8083296" y="1572768"/>
            <a:ext cx="3273552" cy="151790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tifact pair node 3 heading"/>
          <p:cNvSpPr txBox="1"/>
          <p:nvPr/>
        </p:nvSpPr>
        <p:spPr>
          <a:xfrm>
            <a:off x="8229600" y="1682495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4" name="Artifact pair node 3 body"/>
          <p:cNvSpPr txBox="1"/>
          <p:nvPr/>
        </p:nvSpPr>
        <p:spPr>
          <a:xfrm>
            <a:off x="8247888" y="2084832"/>
            <a:ext cx="2944368" cy="89611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同目錄的 state、queue、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packet replay</a:t>
            </a:r>
          </a:p>
        </p:txBody>
      </p:sp>
      <p:sp>
        <p:nvSpPr>
          <p:cNvPr id="15" name="Artifact directory"/>
          <p:cNvSpPr/>
          <p:nvPr/>
        </p:nvSpPr>
        <p:spPr>
          <a:xfrm>
            <a:off x="786384" y="3529584"/>
            <a:ext cx="5084064" cy="113385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rtifact directory heading"/>
          <p:cNvSpPr txBox="1"/>
          <p:nvPr/>
        </p:nvSpPr>
        <p:spPr>
          <a:xfrm>
            <a:off x="932688" y="3639312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run directory</a:t>
            </a:r>
          </a:p>
        </p:txBody>
      </p:sp>
      <p:sp>
        <p:nvSpPr>
          <p:cNvPr id="17" name="Artifact directory body"/>
          <p:cNvSpPr txBox="1"/>
          <p:nvPr/>
        </p:nvSpPr>
        <p:spPr>
          <a:xfrm>
            <a:off x="950976" y="4041648"/>
            <a:ext cx="4754879" cy="51206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同目錄的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必須保留。</a:t>
            </a:r>
          </a:p>
        </p:txBody>
      </p:sp>
      <p:sp>
        <p:nvSpPr>
          <p:cNvPr id="18" name="Artifact freeze"/>
          <p:cNvSpPr/>
          <p:nvPr/>
        </p:nvSpPr>
        <p:spPr>
          <a:xfrm>
            <a:off x="6272784" y="3529584"/>
            <a:ext cx="5084064" cy="11338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tifact freeze heading"/>
          <p:cNvSpPr txBox="1"/>
          <p:nvPr/>
        </p:nvSpPr>
        <p:spPr>
          <a:xfrm>
            <a:off x="6419088" y="3639312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freeze 時多一層 lineage</a:t>
            </a:r>
          </a:p>
        </p:txBody>
      </p:sp>
      <p:sp>
        <p:nvSpPr>
          <p:cNvPr id="20" name="Artifact freeze body"/>
          <p:cNvSpPr txBox="1"/>
          <p:nvPr/>
        </p:nvSpPr>
        <p:spPr>
          <a:xfrm>
            <a:off x="6437376" y="4041648"/>
            <a:ext cx="4754879" cy="51206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--freeze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另寫 receipt 與 checkpoint。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checkpoint 是 policy source，不是結果檔。</a:t>
            </a:r>
          </a:p>
        </p:txBody>
      </p:sp>
      <p:sp>
        <p:nvSpPr>
          <p:cNvPr id="21" name="Field strip endpoint-replay.json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（端點事件回放）｜來源：same run directory｜作用：重現 state／queue／packet｜單位：JSON artifact｜判讀：不可與另一 run 混配</a:t>
            </a:r>
          </a:p>
        </p:txBody>
      </p:sp>
      <p:sp>
        <p:nvSpPr>
          <p:cNvPr id="22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讀取結果：先看 service，再看 packet、state、endpoint J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服務是否完成是第一個判斷；後面三層用來解釋成功、失敗與 energy trade-off。</a:t>
            </a:r>
          </a:p>
        </p:txBody>
      </p:sp>
      <p:sp>
        <p:nvSpPr>
          <p:cNvPr id="4" name="Step 1"/>
          <p:cNvSpPr/>
          <p:nvPr/>
        </p:nvSpPr>
        <p:spPr>
          <a:xfrm>
            <a:off x="640080" y="1627632"/>
            <a:ext cx="402336" cy="4023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ep 1 label"/>
          <p:cNvSpPr txBox="1"/>
          <p:nvPr/>
        </p:nvSpPr>
        <p:spPr>
          <a:xfrm>
            <a:off x="640080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6" name="Reading order 1"/>
          <p:cNvSpPr/>
          <p:nvPr/>
        </p:nvSpPr>
        <p:spPr>
          <a:xfrm>
            <a:off x="548640" y="2157984"/>
            <a:ext cx="2633472" cy="16093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ading order 1 heading"/>
          <p:cNvSpPr txBox="1"/>
          <p:nvPr/>
        </p:nvSpPr>
        <p:spPr>
          <a:xfrm>
            <a:off x="694944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8" name="Reading order 1 body"/>
          <p:cNvSpPr txBox="1"/>
          <p:nvPr/>
        </p:nvSpPr>
        <p:spPr>
          <a:xfrm>
            <a:off x="713232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deadline／freshness／delivery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先判斷服務 gate</a:t>
            </a:r>
          </a:p>
        </p:txBody>
      </p:sp>
      <p:sp>
        <p:nvSpPr>
          <p:cNvPr id="9" name="Step 2"/>
          <p:cNvSpPr/>
          <p:nvPr/>
        </p:nvSpPr>
        <p:spPr>
          <a:xfrm>
            <a:off x="3419856" y="1627632"/>
            <a:ext cx="402336" cy="4023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 2 label"/>
          <p:cNvSpPr txBox="1"/>
          <p:nvPr/>
        </p:nvSpPr>
        <p:spPr>
          <a:xfrm>
            <a:off x="3419856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1" name="Reading order 2"/>
          <p:cNvSpPr/>
          <p:nvPr/>
        </p:nvSpPr>
        <p:spPr>
          <a:xfrm>
            <a:off x="3328416" y="2157984"/>
            <a:ext cx="2633472" cy="16093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ading order 2 heading"/>
          <p:cNvSpPr txBox="1"/>
          <p:nvPr/>
        </p:nvSpPr>
        <p:spPr>
          <a:xfrm>
            <a:off x="3474720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13" name="Reading order 2 body"/>
          <p:cNvSpPr txBox="1"/>
          <p:nvPr/>
        </p:nvSpPr>
        <p:spPr>
          <a:xfrm>
            <a:off x="3493008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attempt／retry／collision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說明交付成本</a:t>
            </a:r>
          </a:p>
        </p:txBody>
      </p:sp>
      <p:sp>
        <p:nvSpPr>
          <p:cNvPr id="14" name="Step 3"/>
          <p:cNvSpPr/>
          <p:nvPr/>
        </p:nvSpPr>
        <p:spPr>
          <a:xfrm>
            <a:off x="6199631" y="1627632"/>
            <a:ext cx="402336" cy="4023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 3 label"/>
          <p:cNvSpPr txBox="1"/>
          <p:nvPr/>
        </p:nvSpPr>
        <p:spPr>
          <a:xfrm>
            <a:off x="6199631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6" name="Reading order 3"/>
          <p:cNvSpPr/>
          <p:nvPr/>
        </p:nvSpPr>
        <p:spPr>
          <a:xfrm>
            <a:off x="6108192" y="2157984"/>
            <a:ext cx="2633472" cy="16093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ading order 3 heading"/>
          <p:cNvSpPr txBox="1"/>
          <p:nvPr/>
        </p:nvSpPr>
        <p:spPr>
          <a:xfrm>
            <a:off x="6254496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18" name="Reading order 3 body"/>
          <p:cNvSpPr txBox="1"/>
          <p:nvPr/>
        </p:nvSpPr>
        <p:spPr>
          <a:xfrm>
            <a:off x="6272783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MODE_CHANGE、WAIT／SLEEP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說明 timing</a:t>
            </a:r>
          </a:p>
        </p:txBody>
      </p:sp>
      <p:sp>
        <p:nvSpPr>
          <p:cNvPr id="19" name="Step 4"/>
          <p:cNvSpPr/>
          <p:nvPr/>
        </p:nvSpPr>
        <p:spPr>
          <a:xfrm>
            <a:off x="8979407" y="1627632"/>
            <a:ext cx="402336" cy="4023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ep 4 label"/>
          <p:cNvSpPr txBox="1"/>
          <p:nvPr/>
        </p:nvSpPr>
        <p:spPr>
          <a:xfrm>
            <a:off x="8979407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1" name="Reading order 4"/>
          <p:cNvSpPr/>
          <p:nvPr/>
        </p:nvSpPr>
        <p:spPr>
          <a:xfrm>
            <a:off x="8887967" y="2157984"/>
            <a:ext cx="2633472" cy="16093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ading order 4 heading"/>
          <p:cNvSpPr txBox="1"/>
          <p:nvPr/>
        </p:nvSpPr>
        <p:spPr>
          <a:xfrm>
            <a:off x="9034272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23" name="Reading order 4 body"/>
          <p:cNvSpPr txBox="1"/>
          <p:nvPr/>
        </p:nvSpPr>
        <p:spPr>
          <a:xfrm>
            <a:off x="9052559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radio／processing J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只代表端點 scope</a:t>
            </a:r>
          </a:p>
        </p:txBody>
      </p:sp>
      <p:sp>
        <p:nvSpPr>
          <p:cNvPr id="24" name="Reading rule"/>
          <p:cNvSpPr/>
          <p:nvPr/>
        </p:nvSpPr>
        <p:spPr>
          <a:xfrm>
            <a:off x="877824" y="4078224"/>
            <a:ext cx="10332720" cy="548640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ading rule text"/>
          <p:cNvSpPr txBox="1"/>
          <p:nvPr/>
        </p:nvSpPr>
        <p:spPr>
          <a:xfrm>
            <a:off x="1060704" y="4206240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service FAIL 時，較小的 endpoint J 不能把服務失敗改寫成成功。</a:t>
            </a:r>
          </a:p>
        </p:txBody>
      </p:sp>
      <p:sp>
        <p:nvSpPr>
          <p:cNvPr id="26" name="Field strip service_pass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（服務布林狀態）｜來源：result summary／service gate｜作用：先判斷 deadline、freshness、delivery｜單位：true／false｜判讀：PASS 才進入 trade-off 解釋</a:t>
            </a:r>
          </a:p>
        </p:txBody>
      </p:sp>
      <p:sp>
        <p:nvSpPr>
          <p:cNvPr id="27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A：candidate 送達增加，但 service 仍未通過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current evidence 將 baseline 與 candidate 放在同一條 service → packet → state → J 判讀鏈。</a:t>
            </a:r>
          </a:p>
        </p:txBody>
      </p:sp>
      <p:sp>
        <p:nvSpPr>
          <p:cNvPr id="4" name="Trace A current baseline"/>
          <p:cNvSpPr/>
          <p:nvPr/>
        </p:nvSpPr>
        <p:spPr>
          <a:xfrm>
            <a:off x="768096" y="1481328"/>
            <a:ext cx="5102352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e A current baseline heading"/>
          <p:cNvSpPr txBox="1"/>
          <p:nvPr/>
        </p:nvSpPr>
        <p:spPr>
          <a:xfrm>
            <a:off x="914400" y="1591056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 baseline｜STABLE_STEPS = 2</a:t>
            </a:r>
          </a:p>
        </p:txBody>
      </p:sp>
      <p:sp>
        <p:nvSpPr>
          <p:cNvPr id="6" name="Trace A current baseline body"/>
          <p:cNvSpPr txBox="1"/>
          <p:nvPr/>
        </p:nvSpPr>
        <p:spPr>
          <a:xfrm>
            <a:off x="932688" y="1993392"/>
            <a:ext cx="4773168" cy="159105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delivered：1／4　expired：3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retries：1　collisions：1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endpoint_energy_j：8.86 J</a:t>
            </a:r>
          </a:p>
        </p:txBody>
      </p:sp>
      <p:sp>
        <p:nvSpPr>
          <p:cNvPr id="7" name="Trace A current candidate"/>
          <p:cNvSpPr/>
          <p:nvPr/>
        </p:nvSpPr>
        <p:spPr>
          <a:xfrm>
            <a:off x="6272784" y="1481328"/>
            <a:ext cx="5102352" cy="22128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e A current candidate heading"/>
          <p:cNvSpPr txBox="1"/>
          <p:nvPr/>
        </p:nvSpPr>
        <p:spPr>
          <a:xfrm>
            <a:off x="6419088" y="1591056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A candidate｜STABLE_STEPS = 1</a:t>
            </a:r>
          </a:p>
        </p:txBody>
      </p:sp>
      <p:sp>
        <p:nvSpPr>
          <p:cNvPr id="9" name="Trace A current candidate body"/>
          <p:cNvSpPr txBox="1"/>
          <p:nvPr/>
        </p:nvSpPr>
        <p:spPr>
          <a:xfrm>
            <a:off x="6437376" y="1993392"/>
            <a:ext cx="4773168" cy="159105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delivered：3／4　expired：1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retries：1　collisions：1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endpoint_energy_j：10.66 J</a:t>
            </a:r>
          </a:p>
        </p:txBody>
      </p:sp>
      <p:sp>
        <p:nvSpPr>
          <p:cNvPr id="10" name="Trace A current interpretation"/>
          <p:cNvSpPr/>
          <p:nvPr/>
        </p:nvSpPr>
        <p:spPr>
          <a:xfrm>
            <a:off x="877824" y="3913632"/>
            <a:ext cx="10332720" cy="6766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e A current interpretation text"/>
          <p:cNvSpPr txBox="1"/>
          <p:nvPr/>
        </p:nvSpPr>
        <p:spPr>
          <a:xfrm>
            <a:off x="1060704" y="4059936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candidate：送達 1／4 → 3／4、逾時 3 → 1；endpoint J 8.86 → 10.66（+1.80 J），service 仍為 false。</a:t>
            </a:r>
          </a:p>
        </p:txBody>
      </p:sp>
      <p:sp>
        <p:nvSpPr>
          <p:cNvPr id="12" name="Field strip MODE_CHANGE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（模式切換事件）｜來源：result events｜作用：連接 edit 與 service timing｜單位：event time｜判讀：先填事件，再填 packet／service／J</a:t>
            </a:r>
          </a:p>
        </p:txBody>
      </p:sp>
      <p:sp>
        <p:nvSpPr>
          <p:cNvPr id="13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B：frozen candidate 仍未通過 service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B 使用同一個 frozen candidate；新的 case 顯示條件邊界，而不是整體改善證據。</a:t>
            </a:r>
          </a:p>
        </p:txBody>
      </p:sp>
      <p:sp>
        <p:nvSpPr>
          <p:cNvPr id="4" name="Trace B compare A"/>
          <p:cNvSpPr/>
          <p:nvPr/>
        </p:nvSpPr>
        <p:spPr>
          <a:xfrm>
            <a:off x="768096" y="1554480"/>
            <a:ext cx="5084064" cy="24688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e B compare A heading"/>
          <p:cNvSpPr txBox="1"/>
          <p:nvPr/>
        </p:nvSpPr>
        <p:spPr>
          <a:xfrm>
            <a:off x="914400" y="1664207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Trace A candidate｜frozen policy</a:t>
            </a:r>
          </a:p>
        </p:txBody>
      </p:sp>
      <p:sp>
        <p:nvSpPr>
          <p:cNvPr id="6" name="Trace B compare A body"/>
          <p:cNvSpPr txBox="1"/>
          <p:nvPr/>
        </p:nvSpPr>
        <p:spPr>
          <a:xfrm>
            <a:off x="932688" y="2066543"/>
            <a:ext cx="4754879" cy="18470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delivered：3／4　expired：1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endpoint_energy_j：10.66 J</a:t>
            </a:r>
          </a:p>
        </p:txBody>
      </p:sp>
      <p:sp>
        <p:nvSpPr>
          <p:cNvPr id="7" name="Trace B compare B"/>
          <p:cNvSpPr/>
          <p:nvPr/>
        </p:nvSpPr>
        <p:spPr>
          <a:xfrm>
            <a:off x="6272784" y="1554480"/>
            <a:ext cx="5084064" cy="24688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e B compare B heading"/>
          <p:cNvSpPr txBox="1"/>
          <p:nvPr/>
        </p:nvSpPr>
        <p:spPr>
          <a:xfrm>
            <a:off x="6419088" y="1664207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Trace B｜withheld evidence</a:t>
            </a:r>
          </a:p>
        </p:txBody>
      </p:sp>
      <p:sp>
        <p:nvSpPr>
          <p:cNvPr id="9" name="Trace B compare B body"/>
          <p:cNvSpPr txBox="1"/>
          <p:nvPr/>
        </p:nvSpPr>
        <p:spPr>
          <a:xfrm>
            <a:off x="6437376" y="2066543"/>
            <a:ext cx="4754879" cy="18470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frozen policy；case 條件改變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delivered：1／3　expired：2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endpoint_energy_j：5.43 J</a:t>
            </a:r>
          </a:p>
        </p:txBody>
      </p:sp>
      <p:sp>
        <p:nvSpPr>
          <p:cNvPr id="10" name="Trace B boundary"/>
          <p:cNvSpPr/>
          <p:nvPr/>
        </p:nvSpPr>
        <p:spPr>
          <a:xfrm>
            <a:off x="914400" y="4315968"/>
            <a:ext cx="10369296" cy="71323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e B boundary text"/>
          <p:cNvSpPr txBox="1"/>
          <p:nvPr/>
        </p:nvSpPr>
        <p:spPr>
          <a:xfrm>
            <a:off x="1078992" y="4462272"/>
            <a:ext cx="100401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Trace B service_pass 仍為 false；不能把單一 J 值 5.43 宣稱為整體改善。</a:t>
            </a:r>
          </a:p>
        </p:txBody>
      </p:sp>
      <p:sp>
        <p:nvSpPr>
          <p:cNvPr id="12" name="Field strip withheld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withheld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（保留條件）｜來源：Trace B scenario contract｜作用：檢驗外推邊界｜單位：case role｜判讀：frozen policy 不因結果改寫</a:t>
            </a:r>
          </a:p>
        </p:txBody>
      </p:sp>
      <p:sp>
        <p:nvSpPr>
          <p:cNvPr id="13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 結論：送達增加，service 仍未通過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energy ledger 顯示 candidate 的送達收益伴隨端點成本；Trace B 未通過 service。</a:t>
            </a:r>
          </a:p>
        </p:txBody>
      </p:sp>
      <p:sp>
        <p:nvSpPr>
          <p:cNvPr id="4" name="Lab B conclusion delivery"/>
          <p:cNvSpPr/>
          <p:nvPr/>
        </p:nvSpPr>
        <p:spPr>
          <a:xfrm>
            <a:off x="768096" y="1554480"/>
            <a:ext cx="3401568" cy="250545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B conclusion delivery heading"/>
          <p:cNvSpPr txBox="1"/>
          <p:nvPr/>
        </p:nvSpPr>
        <p:spPr>
          <a:xfrm>
            <a:off x="914400" y="1664207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A｜送達變化</a:t>
            </a:r>
          </a:p>
        </p:txBody>
      </p:sp>
      <p:sp>
        <p:nvSpPr>
          <p:cNvPr id="6" name="Lab B conclusion delivery body"/>
          <p:cNvSpPr txBox="1"/>
          <p:nvPr/>
        </p:nvSpPr>
        <p:spPr>
          <a:xfrm>
            <a:off x="932688" y="2066543"/>
            <a:ext cx="3072384" cy="1883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baseline：delivered 1／4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candidate：delivered 3／4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expired：3 →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 → false</a:t>
            </a:r>
          </a:p>
        </p:txBody>
      </p:sp>
      <p:sp>
        <p:nvSpPr>
          <p:cNvPr id="7" name="Lab B conclusion energy"/>
          <p:cNvSpPr/>
          <p:nvPr/>
        </p:nvSpPr>
        <p:spPr>
          <a:xfrm>
            <a:off x="4389120" y="1554480"/>
            <a:ext cx="3401568" cy="250545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B conclusion energy heading"/>
          <p:cNvSpPr txBox="1"/>
          <p:nvPr/>
        </p:nvSpPr>
        <p:spPr>
          <a:xfrm>
            <a:off x="4535424" y="1664207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A｜端點成本</a:t>
            </a:r>
          </a:p>
        </p:txBody>
      </p:sp>
      <p:sp>
        <p:nvSpPr>
          <p:cNvPr id="9" name="Lab B conclusion energy body"/>
          <p:cNvSpPr txBox="1"/>
          <p:nvPr/>
        </p:nvSpPr>
        <p:spPr>
          <a:xfrm>
            <a:off x="4553712" y="2066543"/>
            <a:ext cx="3072384" cy="1883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J：8.86 → 10.66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增加：+1.80 J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retries：1 →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collisions：1 → 1</a:t>
            </a:r>
          </a:p>
        </p:txBody>
      </p:sp>
      <p:sp>
        <p:nvSpPr>
          <p:cNvPr id="10" name="Lab B conclusion boundary"/>
          <p:cNvSpPr/>
          <p:nvPr/>
        </p:nvSpPr>
        <p:spPr>
          <a:xfrm>
            <a:off x="8010144" y="1554480"/>
            <a:ext cx="3401568" cy="25054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 B conclusion boundary heading"/>
          <p:cNvSpPr txBox="1"/>
          <p:nvPr/>
        </p:nvSpPr>
        <p:spPr>
          <a:xfrm>
            <a:off x="8156448" y="1664207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Trace B｜主張邊界</a:t>
            </a:r>
          </a:p>
        </p:txBody>
      </p:sp>
      <p:sp>
        <p:nvSpPr>
          <p:cNvPr id="12" name="Lab B conclusion boundary body"/>
          <p:cNvSpPr txBox="1"/>
          <p:nvPr/>
        </p:nvSpPr>
        <p:spPr>
          <a:xfrm>
            <a:off x="8174736" y="2066543"/>
            <a:ext cx="3072384" cy="1883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frozen candidate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delivered：1／3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expired：2；J：5.43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</p:txBody>
      </p:sp>
      <p:sp>
        <p:nvSpPr>
          <p:cNvPr id="13" name="Lab B qualified conclusion"/>
          <p:cNvSpPr/>
          <p:nvPr/>
        </p:nvSpPr>
        <p:spPr>
          <a:xfrm>
            <a:off x="914400" y="4315968"/>
            <a:ext cx="10369296" cy="713232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b B qualified conclusion text"/>
          <p:cNvSpPr txBox="1"/>
          <p:nvPr/>
        </p:nvSpPr>
        <p:spPr>
          <a:xfrm>
            <a:off x="1078992" y="4462272"/>
            <a:ext cx="100401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結論句：candidate 增加送達但增加 energy，且仍未 service pass；Trace B 未通過，不能宣稱整體改善。</a:t>
            </a:r>
          </a:p>
        </p:txBody>
      </p:sp>
      <p:sp>
        <p:nvSpPr>
          <p:cNvPr id="15" name="Field strip claim ceiling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claim ceiling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（主張上限）｜來源：Trace A／Trace B pairs｜作用：界定可外推範圍｜單位：condition set｜判讀：J 變小不覆蓋 service failure</a:t>
            </a:r>
          </a:p>
        </p:txBody>
      </p:sp>
      <p:sp>
        <p:nvSpPr>
          <p:cNvPr id="16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中斷時：先恢復 policy，再重跑 exact case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checkpoint 只恢復 lineage；compile 後重新 run，才會產生新的 result_path。</a:t>
            </a:r>
          </a:p>
        </p:txBody>
      </p:sp>
      <p:sp>
        <p:nvSpPr>
          <p:cNvPr id="4" name="Recovery step 1"/>
          <p:cNvSpPr/>
          <p:nvPr/>
        </p:nvSpPr>
        <p:spPr>
          <a:xfrm>
            <a:off x="585216" y="1499616"/>
            <a:ext cx="2542032" cy="142646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very step 1 heading"/>
          <p:cNvSpPr txBox="1"/>
          <p:nvPr/>
        </p:nvSpPr>
        <p:spPr>
          <a:xfrm>
            <a:off x="731520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01｜copy</a:t>
            </a:r>
          </a:p>
        </p:txBody>
      </p:sp>
      <p:sp>
        <p:nvSpPr>
          <p:cNvPr id="6" name="Recovery step 1 body"/>
          <p:cNvSpPr txBox="1"/>
          <p:nvPr/>
        </p:nvSpPr>
        <p:spPr>
          <a:xfrm>
            <a:off x="749808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放回最後有效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A／B checkpoint</a:t>
            </a:r>
          </a:p>
        </p:txBody>
      </p:sp>
      <p:sp>
        <p:nvSpPr>
          <p:cNvPr id="7" name="Recovery connector"/>
          <p:cNvSpPr/>
          <p:nvPr/>
        </p:nvSpPr>
        <p:spPr>
          <a:xfrm>
            <a:off x="3218688" y="2029968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very step 2"/>
          <p:cNvSpPr/>
          <p:nvPr/>
        </p:nvSpPr>
        <p:spPr>
          <a:xfrm>
            <a:off x="3364992" y="1499616"/>
            <a:ext cx="2542032" cy="142646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overy step 2 heading"/>
          <p:cNvSpPr txBox="1"/>
          <p:nvPr/>
        </p:nvSpPr>
        <p:spPr>
          <a:xfrm>
            <a:off x="3511296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02｜compile</a:t>
            </a:r>
          </a:p>
        </p:txBody>
      </p:sp>
      <p:sp>
        <p:nvSpPr>
          <p:cNvPr id="10" name="Recovery step 2 body"/>
          <p:cNvSpPr txBox="1"/>
          <p:nvPr/>
        </p:nvSpPr>
        <p:spPr>
          <a:xfrm>
            <a:off x="3529584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policy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語法可載入</a:t>
            </a:r>
          </a:p>
        </p:txBody>
      </p:sp>
      <p:sp>
        <p:nvSpPr>
          <p:cNvPr id="11" name="Recovery connector"/>
          <p:cNvSpPr/>
          <p:nvPr/>
        </p:nvSpPr>
        <p:spPr>
          <a:xfrm>
            <a:off x="5998464" y="2029968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step 3"/>
          <p:cNvSpPr/>
          <p:nvPr/>
        </p:nvSpPr>
        <p:spPr>
          <a:xfrm>
            <a:off x="6144768" y="1499616"/>
            <a:ext cx="2542032" cy="142646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overy step 3 heading"/>
          <p:cNvSpPr txBox="1"/>
          <p:nvPr/>
        </p:nvSpPr>
        <p:spPr>
          <a:xfrm>
            <a:off x="6291072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03｜exact rerun</a:t>
            </a:r>
          </a:p>
        </p:txBody>
      </p:sp>
      <p:sp>
        <p:nvSpPr>
          <p:cNvPr id="14" name="Recovery step 3 body"/>
          <p:cNvSpPr txBox="1"/>
          <p:nvPr/>
        </p:nvSpPr>
        <p:spPr>
          <a:xfrm>
            <a:off x="6309360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case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runner／JSON</a:t>
            </a:r>
          </a:p>
        </p:txBody>
      </p:sp>
      <p:sp>
        <p:nvSpPr>
          <p:cNvPr id="15" name="Recovery connector"/>
          <p:cNvSpPr/>
          <p:nvPr/>
        </p:nvSpPr>
        <p:spPr>
          <a:xfrm>
            <a:off x="8778240" y="2029968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overy step 4"/>
          <p:cNvSpPr/>
          <p:nvPr/>
        </p:nvSpPr>
        <p:spPr>
          <a:xfrm>
            <a:off x="8924544" y="1499616"/>
            <a:ext cx="2542032" cy="142646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step 4 heading"/>
          <p:cNvSpPr txBox="1"/>
          <p:nvPr/>
        </p:nvSpPr>
        <p:spPr>
          <a:xfrm>
            <a:off x="9070848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04｜new pair</a:t>
            </a:r>
          </a:p>
        </p:txBody>
      </p:sp>
      <p:sp>
        <p:nvSpPr>
          <p:cNvPr id="18" name="Recovery step 4 body"/>
          <p:cNvSpPr txBox="1"/>
          <p:nvPr/>
        </p:nvSpPr>
        <p:spPr>
          <a:xfrm>
            <a:off x="9089136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保存新的 path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配對 replay</a:t>
            </a:r>
          </a:p>
        </p:txBody>
      </p:sp>
      <p:sp>
        <p:nvSpPr>
          <p:cNvPr id="19" name="Recovery POSIX commands"/>
          <p:cNvSpPr/>
          <p:nvPr/>
        </p:nvSpPr>
        <p:spPr>
          <a:xfrm>
            <a:off x="749808" y="3291840"/>
            <a:ext cx="5212080" cy="13898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overy POSIX commands heading"/>
          <p:cNvSpPr txBox="1"/>
          <p:nvPr/>
        </p:nvSpPr>
        <p:spPr>
          <a:xfrm>
            <a:off x="877824" y="3401568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Linux／macOS 終端機／WSL</a:t>
            </a:r>
          </a:p>
        </p:txBody>
      </p:sp>
      <p:sp>
        <p:nvSpPr>
          <p:cNvPr id="21" name="Recovery POSIX commands command"/>
          <p:cNvSpPr txBox="1"/>
          <p:nvPr/>
        </p:nvSpPr>
        <p:spPr>
          <a:xfrm>
            <a:off x="932688" y="3785616"/>
            <a:ext cx="48463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cp artifacts/checkpoints/lab-b-frozen.py student_policy.py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.venv/bin/python -m py_compile student_policy.py</a:t>
            </a:r>
          </a:p>
        </p:txBody>
      </p:sp>
      <p:sp>
        <p:nvSpPr>
          <p:cNvPr id="22" name="Recovery Windows commands"/>
          <p:cNvSpPr/>
          <p:nvPr/>
        </p:nvSpPr>
        <p:spPr>
          <a:xfrm>
            <a:off x="6236208" y="3291840"/>
            <a:ext cx="5212080" cy="138988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overy Windows commands heading"/>
          <p:cNvSpPr txBox="1"/>
          <p:nvPr/>
        </p:nvSpPr>
        <p:spPr>
          <a:xfrm>
            <a:off x="6364224" y="3401568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Command Prompt</a:t>
            </a:r>
          </a:p>
        </p:txBody>
      </p:sp>
      <p:sp>
        <p:nvSpPr>
          <p:cNvPr id="24" name="Recovery Windows commands command"/>
          <p:cNvSpPr txBox="1"/>
          <p:nvPr/>
        </p:nvSpPr>
        <p:spPr>
          <a:xfrm>
            <a:off x="6419088" y="3785616"/>
            <a:ext cx="48463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copy /Y artifacts\checkpoints\lab-b-frozen.py student_policy.py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.venv\Scripts\python.exe -m py_compile student_policy.py</a:t>
            </a:r>
          </a:p>
        </p:txBody>
      </p:sp>
      <p:sp>
        <p:nvSpPr>
          <p:cNvPr id="25" name="Field strip checkpoint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checkpoint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（策略快照）｜來源：artifacts/checkpoints｜作用：恢復 policy lineage｜單位：Python source｜判讀：不會復原遺失的 result</a:t>
            </a:r>
          </a:p>
        </p:txBody>
      </p:sp>
      <p:sp>
        <p:nvSpPr>
          <p:cNvPr id="26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 匯入 /course：驗證後才進 workbook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網站接收 runner 的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；驗證 identity 後讀取配對 replay，保存可回溯的比較紀錄。</a:t>
            </a:r>
          </a:p>
        </p:txBody>
      </p:sp>
      <p:sp>
        <p:nvSpPr>
          <p:cNvPr id="4" name="Upload flow node 1"/>
          <p:cNvSpPr/>
          <p:nvPr/>
        </p:nvSpPr>
        <p:spPr>
          <a:xfrm>
            <a:off x="530352" y="1536192"/>
            <a:ext cx="2596896" cy="149961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load flow node 1 heading"/>
          <p:cNvSpPr txBox="1"/>
          <p:nvPr/>
        </p:nvSpPr>
        <p:spPr>
          <a:xfrm>
            <a:off x="676656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1｜選檔</a:t>
            </a:r>
          </a:p>
        </p:txBody>
      </p:sp>
      <p:sp>
        <p:nvSpPr>
          <p:cNvPr id="6" name="Upload flow node 1 body"/>
          <p:cNvSpPr txBox="1"/>
          <p:nvPr/>
        </p:nvSpPr>
        <p:spPr>
          <a:xfrm>
            <a:off x="694944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選該次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sp>
        <p:nvSpPr>
          <p:cNvPr id="7" name="Upload flow connector"/>
          <p:cNvSpPr/>
          <p:nvPr/>
        </p:nvSpPr>
        <p:spPr>
          <a:xfrm>
            <a:off x="3218688" y="2084831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pload flow node 2"/>
          <p:cNvSpPr/>
          <p:nvPr/>
        </p:nvSpPr>
        <p:spPr>
          <a:xfrm>
            <a:off x="3328416" y="1536192"/>
            <a:ext cx="2596896" cy="149961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load flow node 2 heading"/>
          <p:cNvSpPr txBox="1"/>
          <p:nvPr/>
        </p:nvSpPr>
        <p:spPr>
          <a:xfrm>
            <a:off x="3474720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2｜驗證</a:t>
            </a:r>
          </a:p>
        </p:txBody>
      </p:sp>
      <p:sp>
        <p:nvSpPr>
          <p:cNvPr id="10" name="Upload flow node 2 body"/>
          <p:cNvSpPr txBox="1"/>
          <p:nvPr/>
        </p:nvSpPr>
        <p:spPr>
          <a:xfrm>
            <a:off x="3493008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schema／identity／units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不符就 fail closed</a:t>
            </a:r>
          </a:p>
        </p:txBody>
      </p:sp>
      <p:sp>
        <p:nvSpPr>
          <p:cNvPr id="11" name="Upload flow connector"/>
          <p:cNvSpPr/>
          <p:nvPr/>
        </p:nvSpPr>
        <p:spPr>
          <a:xfrm>
            <a:off x="6016752" y="2084831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Upload flow node 3"/>
          <p:cNvSpPr/>
          <p:nvPr/>
        </p:nvSpPr>
        <p:spPr>
          <a:xfrm>
            <a:off x="6126480" y="1536192"/>
            <a:ext cx="2596896" cy="149961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Upload flow node 3 heading"/>
          <p:cNvSpPr txBox="1"/>
          <p:nvPr/>
        </p:nvSpPr>
        <p:spPr>
          <a:xfrm>
            <a:off x="6272784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3｜回放</a:t>
            </a:r>
          </a:p>
        </p:txBody>
      </p:sp>
      <p:sp>
        <p:nvSpPr>
          <p:cNvPr id="14" name="Upload flow node 3 body"/>
          <p:cNvSpPr txBox="1"/>
          <p:nvPr/>
        </p:nvSpPr>
        <p:spPr>
          <a:xfrm>
            <a:off x="6291072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state／queue／packet</a:t>
            </a:r>
          </a:p>
        </p:txBody>
      </p:sp>
      <p:sp>
        <p:nvSpPr>
          <p:cNvPr id="15" name="Upload flow connector"/>
          <p:cNvSpPr/>
          <p:nvPr/>
        </p:nvSpPr>
        <p:spPr>
          <a:xfrm>
            <a:off x="8814816" y="2084831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load flow node 4"/>
          <p:cNvSpPr/>
          <p:nvPr/>
        </p:nvSpPr>
        <p:spPr>
          <a:xfrm>
            <a:off x="8924544" y="1536192"/>
            <a:ext cx="2596896" cy="149961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Upload flow node 4 heading"/>
          <p:cNvSpPr txBox="1"/>
          <p:nvPr/>
        </p:nvSpPr>
        <p:spPr>
          <a:xfrm>
            <a:off x="9070848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4｜保存</a:t>
            </a:r>
          </a:p>
        </p:txBody>
      </p:sp>
      <p:sp>
        <p:nvSpPr>
          <p:cNvPr id="18" name="Upload flow node 4 body"/>
          <p:cNvSpPr txBox="1"/>
          <p:nvPr/>
        </p:nvSpPr>
        <p:spPr>
          <a:xfrm>
            <a:off x="9089136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 → packet → state → J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寫入 workbook lineage</a:t>
            </a:r>
          </a:p>
        </p:txBody>
      </p:sp>
      <p:sp>
        <p:nvSpPr>
          <p:cNvPr id="19" name="Upload success"/>
          <p:cNvSpPr/>
          <p:nvPr/>
        </p:nvSpPr>
        <p:spPr>
          <a:xfrm>
            <a:off x="786384" y="3456432"/>
            <a:ext cx="5102352" cy="12618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load success heading"/>
          <p:cNvSpPr txBox="1"/>
          <p:nvPr/>
        </p:nvSpPr>
        <p:spPr>
          <a:xfrm>
            <a:off x="932688" y="3566160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網站讀取／保存</a:t>
            </a:r>
          </a:p>
        </p:txBody>
      </p:sp>
      <p:sp>
        <p:nvSpPr>
          <p:cNvPr id="21" name="Upload success body"/>
          <p:cNvSpPr txBox="1"/>
          <p:nvPr/>
        </p:nvSpPr>
        <p:spPr>
          <a:xfrm>
            <a:off x="950976" y="3968496"/>
            <a:ext cx="4773168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並驗證；materialize 同 run replay。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 baseline／candidate／withheld lineage。</a:t>
            </a:r>
          </a:p>
        </p:txBody>
      </p:sp>
      <p:sp>
        <p:nvSpPr>
          <p:cNvPr id="22" name="Upload boundary"/>
          <p:cNvSpPr/>
          <p:nvPr/>
        </p:nvSpPr>
        <p:spPr>
          <a:xfrm>
            <a:off x="6272784" y="3456432"/>
            <a:ext cx="5102352" cy="126187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load boundary heading"/>
          <p:cNvSpPr txBox="1"/>
          <p:nvPr/>
        </p:nvSpPr>
        <p:spPr>
          <a:xfrm>
            <a:off x="6419088" y="3566160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網站不做的事</a:t>
            </a:r>
          </a:p>
        </p:txBody>
      </p:sp>
      <p:sp>
        <p:nvSpPr>
          <p:cNvPr id="24" name="Upload boundary body"/>
          <p:cNvSpPr txBox="1"/>
          <p:nvPr/>
        </p:nvSpPr>
        <p:spPr>
          <a:xfrm>
            <a:off x="6437376" y="3968496"/>
            <a:ext cx="4773168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不接收或執行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不把 endpoint J 改稱 LEO／system energy。</a:t>
            </a:r>
          </a:p>
        </p:txBody>
      </p:sp>
      <p:sp>
        <p:nvSpPr>
          <p:cNvPr id="25" name="Field strip result.json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（執行結果）｜來源：runner stdout result_path｜作用：匯入 /course 的 evidence｜單位：JSON artifact｜判讀：與 endpoint replay 同 run 配對</a:t>
            </a:r>
          </a:p>
        </p:txBody>
      </p:sp>
      <p:sp>
        <p:nvSpPr>
          <p:cNvPr id="26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C：急件應提前多久送出？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問題：急件應提前多久送出，才不會為省能量而誤期？</a:t>
            </a:r>
          </a:p>
        </p:txBody>
      </p:sp>
      <p:sp>
        <p:nvSpPr>
          <p:cNvPr id="6" name="Queue visual"/>
          <p:cNvSpPr/>
          <p:nvPr/>
        </p:nvSpPr>
        <p:spPr>
          <a:xfrm>
            <a:off x="768096" y="1572768"/>
            <a:ext cx="3401568" cy="24688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Queue visual heading"/>
          <p:cNvSpPr txBox="1"/>
          <p:nvPr/>
        </p:nvSpPr>
        <p:spPr>
          <a:xfrm>
            <a:off x="896112" y="1645920"/>
            <a:ext cx="314553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急件在佇列</a:t>
            </a:r>
          </a:p>
        </p:txBody>
      </p:sp>
      <p:sp>
        <p:nvSpPr>
          <p:cNvPr id="8" name="Queue visual body"/>
          <p:cNvSpPr txBox="1"/>
          <p:nvPr/>
        </p:nvSpPr>
        <p:spPr>
          <a:xfrm>
            <a:off x="905256" y="2066543"/>
            <a:ext cx="3127248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期限倒數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等待越久，越可能誤期</a:t>
            </a:r>
          </a:p>
        </p:txBody>
      </p:sp>
      <p:cxnSp>
        <p:nvCxnSpPr>
          <p:cNvPr id="9" name="Queue to service gate"/>
          <p:cNvCxnSpPr/>
          <p:nvPr/>
        </p:nvCxnSpPr>
        <p:spPr>
          <a:xfrm>
            <a:off x="4315968" y="2788920"/>
            <a:ext cx="274320" cy="0"/>
          </a:xfrm>
          <a:prstGeom prst="line">
            <a:avLst/>
          </a:prstGeom>
          <a:ln w="2540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gate visual"/>
          <p:cNvSpPr/>
          <p:nvPr/>
        </p:nvSpPr>
        <p:spPr>
          <a:xfrm>
            <a:off x="4681728" y="1572768"/>
            <a:ext cx="6784848" cy="24688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ervice gate visual heading"/>
          <p:cNvSpPr txBox="1"/>
          <p:nvPr/>
        </p:nvSpPr>
        <p:spPr>
          <a:xfrm>
            <a:off x="4809744" y="1645920"/>
            <a:ext cx="652881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服務窗口｜gate</a:t>
            </a:r>
          </a:p>
        </p:txBody>
      </p:sp>
      <p:sp>
        <p:nvSpPr>
          <p:cNvPr id="12" name="Service gate visual body"/>
          <p:cNvSpPr txBox="1"/>
          <p:nvPr/>
        </p:nvSpPr>
        <p:spPr>
          <a:xfrm>
            <a:off x="4818888" y="2066543"/>
            <a:ext cx="6510528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窗口開啟 → 可以送出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距限接近 → 優先處理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→ 不得送出</a:t>
            </a:r>
          </a:p>
        </p:txBody>
      </p:sp>
      <p:sp>
        <p:nvSpPr>
          <p:cNvPr id="13" name="Queue gate reading order"/>
          <p:cNvSpPr/>
          <p:nvPr/>
        </p:nvSpPr>
        <p:spPr>
          <a:xfrm>
            <a:off x="877824" y="4224528"/>
            <a:ext cx="10387584" cy="5669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本頁讀法｜先建立問題；下一頁開啟實際檔案，確認哪一行控制急件時間。</a:t>
            </a:r>
          </a:p>
        </p:txBody>
      </p:sp>
      <p:sp>
        <p:nvSpPr>
          <p:cNvPr id="14" name="Queue age field"/>
          <p:cNvSpPr/>
          <p:nvPr/>
        </p:nvSpPr>
        <p:spPr>
          <a:xfrm>
            <a:off x="749808" y="4956048"/>
            <a:ext cx="10698480" cy="84124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 age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｜等待時間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runner trace；作用 顯示等待成本；單位 s；數字越高代表排隊越久。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先判期限，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只在服務結果後解釋。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定位唯一可編輯區塊：檔案、標記、目標值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先定位檔案與 marked block，再改唯一指定值。</a:t>
            </a:r>
          </a:p>
        </p:txBody>
      </p:sp>
      <p:sp>
        <p:nvSpPr>
          <p:cNvPr id="6" name="Locate policy file"/>
          <p:cNvSpPr/>
          <p:nvPr/>
        </p:nvSpPr>
        <p:spPr>
          <a:xfrm>
            <a:off x="749808" y="1572768"/>
            <a:ext cx="3456432" cy="23957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Locate policy file heading"/>
          <p:cNvSpPr txBox="1"/>
          <p:nvPr/>
        </p:nvSpPr>
        <p:spPr>
          <a:xfrm>
            <a:off x="877824" y="164592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檔案｜source</a:t>
            </a:r>
          </a:p>
        </p:txBody>
      </p:sp>
      <p:sp>
        <p:nvSpPr>
          <p:cNvPr id="8" name="Locate policy file body"/>
          <p:cNvSpPr txBox="1"/>
          <p:nvPr/>
        </p:nvSpPr>
        <p:spPr>
          <a:xfrm>
            <a:off x="886968" y="2066543"/>
            <a:ext cx="3182112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/home/u24/lora-energy-lab/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本頁只定位，不執行</a:t>
            </a:r>
          </a:p>
        </p:txBody>
      </p:sp>
      <p:cxnSp>
        <p:nvCxnSpPr>
          <p:cNvPr id="9" name="Locate block connector"/>
          <p:cNvCxnSpPr/>
          <p:nvPr/>
        </p:nvCxnSpPr>
        <p:spPr>
          <a:xfrm>
            <a:off x="4334256" y="2743200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cate marked block"/>
          <p:cNvSpPr/>
          <p:nvPr/>
        </p:nvSpPr>
        <p:spPr>
          <a:xfrm>
            <a:off x="4681728" y="1572768"/>
            <a:ext cx="3218688" cy="23957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Locate marked block heading"/>
          <p:cNvSpPr txBox="1"/>
          <p:nvPr/>
        </p:nvSpPr>
        <p:spPr>
          <a:xfrm>
            <a:off x="4809744" y="1645920"/>
            <a:ext cx="296265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標記｜editable block</a:t>
            </a:r>
          </a:p>
        </p:txBody>
      </p:sp>
      <p:sp>
        <p:nvSpPr>
          <p:cNvPr id="12" name="Locate marked block body"/>
          <p:cNvSpPr txBox="1"/>
          <p:nvPr/>
        </p:nvSpPr>
        <p:spPr>
          <a:xfrm>
            <a:off x="4818888" y="2066543"/>
            <a:ext cx="2944368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lab-c-batch-urgent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只允許區塊內的指定常數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順序與函式不動</a:t>
            </a:r>
          </a:p>
        </p:txBody>
      </p:sp>
      <p:cxnSp>
        <p:nvCxnSpPr>
          <p:cNvPr id="13" name="Locate target connector"/>
          <p:cNvCxnSpPr/>
          <p:nvPr/>
        </p:nvCxnSpPr>
        <p:spPr>
          <a:xfrm>
            <a:off x="8028431" y="2743200"/>
            <a:ext cx="274321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cate target value"/>
          <p:cNvSpPr/>
          <p:nvPr/>
        </p:nvSpPr>
        <p:spPr>
          <a:xfrm>
            <a:off x="8375904" y="1572768"/>
            <a:ext cx="3072384" cy="23957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Locate target value heading"/>
          <p:cNvSpPr txBox="1"/>
          <p:nvPr/>
        </p:nvSpPr>
        <p:spPr>
          <a:xfrm>
            <a:off x="8503920" y="1645920"/>
            <a:ext cx="281635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目標｜one value</a:t>
            </a:r>
          </a:p>
        </p:txBody>
      </p:sp>
      <p:sp>
        <p:nvSpPr>
          <p:cNvPr id="16" name="Locate target value body"/>
          <p:cNvSpPr txBox="1"/>
          <p:nvPr/>
        </p:nvSpPr>
        <p:spPr>
          <a:xfrm>
            <a:off x="8513064" y="2066543"/>
            <a:ext cx="279806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20 → 5 → 30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固定</a:t>
            </a:r>
          </a:p>
        </p:txBody>
      </p:sp>
      <p:sp>
        <p:nvSpPr>
          <p:cNvPr id="17" name="Locate unchanged scope"/>
          <p:cNvSpPr/>
          <p:nvPr/>
        </p:nvSpPr>
        <p:spPr>
          <a:xfrm>
            <a:off x="877824" y="4242816"/>
            <a:ext cx="10387584" cy="58521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不變範圍｜Lab A／B blocks、runner、scenario、schema、能量模型與其餘程式均維持原樣。</a:t>
            </a:r>
          </a:p>
        </p:txBody>
      </p:sp>
      <p:sp>
        <p:nvSpPr>
          <p:cNvPr id="18" name="Locate batch field"/>
          <p:cNvSpPr/>
          <p:nvPr/>
        </p:nvSpPr>
        <p:spPr>
          <a:xfrm>
            <a:off x="749808" y="4919472"/>
            <a:ext cx="10698480" cy="859536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｜批次數量門檻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 Lab C marked block；單位 packet；作用 佇列至少 3 張才能使用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FLUSH_BATCH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；本實驗固定為 3，不作為變更變數。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基準原始值：20 秒代表什麼？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基準值 20：距離期限還有 20 秒內，急件分支才會先回傳。</a:t>
            </a:r>
          </a:p>
        </p:txBody>
      </p:sp>
      <p:sp>
        <p:nvSpPr>
          <p:cNvPr id="6" name="Baseline file heading"/>
          <p:cNvSpPr txBox="1"/>
          <p:nvPr/>
        </p:nvSpPr>
        <p:spPr>
          <a:xfrm>
            <a:off x="786384" y="1280160"/>
            <a:ext cx="58521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原始檔案：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／Lab C marked block</a:t>
            </a:r>
          </a:p>
        </p:txBody>
      </p:sp>
      <p:sp>
        <p:nvSpPr>
          <p:cNvPr id="7" name="Baseline Lab C code"/>
          <p:cNvSpPr/>
          <p:nvPr/>
        </p:nvSpPr>
        <p:spPr>
          <a:xfrm>
            <a:off x="749808" y="1609344"/>
            <a:ext cx="6565392" cy="279806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Baseline Lab C code highlighted editable line"/>
          <p:cNvSpPr/>
          <p:nvPr/>
        </p:nvSpPr>
        <p:spPr>
          <a:xfrm>
            <a:off x="896112" y="2274295"/>
            <a:ext cx="6272783" cy="3096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seline Lab C code text"/>
          <p:cNvSpPr txBox="1"/>
          <p:nvPr/>
        </p:nvSpPr>
        <p:spPr>
          <a:xfrm>
            <a:off x="859536" y="1700784"/>
            <a:ext cx="6345936" cy="2633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# === LORA EDITABLE: lab-c-batch-urgent ===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# === LORA END EDITABLE: lab-c-batch-urgent ===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if observation.urgent_pending and observation.urgent_due_in_s &lt;= URGENT_MARGIN_S: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   return SEND_URGENT</a:t>
            </a:r>
          </a:p>
        </p:txBody>
      </p:sp>
      <p:sp>
        <p:nvSpPr>
          <p:cNvPr id="10" name="Baseline decision order"/>
          <p:cNvSpPr/>
          <p:nvPr/>
        </p:nvSpPr>
        <p:spPr>
          <a:xfrm>
            <a:off x="7626096" y="1609344"/>
            <a:ext cx="3822191" cy="279806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Baseline decision order heading"/>
          <p:cNvSpPr txBox="1"/>
          <p:nvPr/>
        </p:nvSpPr>
        <p:spPr>
          <a:xfrm>
            <a:off x="7754112" y="1682496"/>
            <a:ext cx="3566159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判斷順序</a:t>
            </a:r>
          </a:p>
        </p:txBody>
      </p:sp>
      <p:sp>
        <p:nvSpPr>
          <p:cNvPr id="12" name="Baseline decision order body"/>
          <p:cNvSpPr txBox="1"/>
          <p:nvPr/>
        </p:nvSpPr>
        <p:spPr>
          <a:xfrm>
            <a:off x="7763256" y="2103120"/>
            <a:ext cx="3547872" cy="22128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急件距限內 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間隔未到 → 休息動作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品質可送 → 批次或單筆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其餘 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3" name="Baseline margin meaning"/>
          <p:cNvSpPr/>
          <p:nvPr/>
        </p:nvSpPr>
        <p:spPr>
          <a:xfrm>
            <a:off x="877824" y="4590288"/>
            <a:ext cx="10387584" cy="5669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20 秒的意思｜剩餘時間 ≤ 20 秒才進入急件分支；它優先於 pacing 與 batch，但仍受更前面的窗口判斷約束。</a:t>
            </a:r>
          </a:p>
        </p:txBody>
      </p:sp>
      <p:sp>
        <p:nvSpPr>
          <p:cNvPr id="14" name="Baseline constant definition"/>
          <p:cNvSpPr/>
          <p:nvPr/>
        </p:nvSpPr>
        <p:spPr>
          <a:xfrm>
            <a:off x="749808" y="5248656"/>
            <a:ext cx="10698480" cy="69494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｜急件距限門檻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Lab C marked block；單位 s；20 是原始門檻；值越小越晚出手，值越大越早出手。數值由 policy 影響 action timing，不直接寫入 endpoint J。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第一輪操作：基準 20，再執行候選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先建立基準，再完成唯一修改後執行候選；兩次都保存配對結果。</a:t>
            </a:r>
          </a:p>
        </p:txBody>
      </p:sp>
      <p:sp>
        <p:nvSpPr>
          <p:cNvPr id="6" name="Baseline exact command"/>
          <p:cNvSpPr/>
          <p:nvPr/>
        </p:nvSpPr>
        <p:spPr>
          <a:xfrm>
            <a:off x="713232" y="1499616"/>
            <a:ext cx="5431536" cy="257860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Baseline exact command heading"/>
          <p:cNvSpPr txBox="1"/>
          <p:nvPr/>
        </p:nvSpPr>
        <p:spPr>
          <a:xfrm>
            <a:off x="841248" y="1572768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基準組｜baseline 20</a:t>
            </a:r>
          </a:p>
        </p:txBody>
      </p:sp>
      <p:sp>
        <p:nvSpPr>
          <p:cNvPr id="8" name="Baseline exact command body"/>
          <p:cNvSpPr txBox="1"/>
          <p:nvPr/>
        </p:nvSpPr>
        <p:spPr>
          <a:xfrm>
            <a:off x="850392" y="1993391"/>
            <a:ext cx="5157216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baseline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baseline</a:t>
            </a:r>
          </a:p>
        </p:txBody>
      </p:sp>
      <p:cxnSp>
        <p:nvCxnSpPr>
          <p:cNvPr id="9" name="Baseline to candidate"/>
          <p:cNvCxnSpPr/>
          <p:nvPr/>
        </p:nvCxnSpPr>
        <p:spPr>
          <a:xfrm>
            <a:off x="5961888" y="2761488"/>
            <a:ext cx="274319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ndidate exact command"/>
          <p:cNvSpPr/>
          <p:nvPr/>
        </p:nvSpPr>
        <p:spPr>
          <a:xfrm>
            <a:off x="6345936" y="1499616"/>
            <a:ext cx="5120640" cy="257860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Candidate exact command heading"/>
          <p:cNvSpPr txBox="1"/>
          <p:nvPr/>
        </p:nvSpPr>
        <p:spPr>
          <a:xfrm>
            <a:off x="6473952" y="1572768"/>
            <a:ext cx="4864607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候選組｜candidate 5</a:t>
            </a:r>
          </a:p>
        </p:txBody>
      </p:sp>
      <p:sp>
        <p:nvSpPr>
          <p:cNvPr id="12" name="Candidate exact command body"/>
          <p:cNvSpPr txBox="1"/>
          <p:nvPr/>
        </p:nvSpPr>
        <p:spPr>
          <a:xfrm>
            <a:off x="6483096" y="1993391"/>
            <a:ext cx="4846320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完成 20→5 與 prediction lock 後：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candidate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candidate</a:t>
            </a:r>
          </a:p>
        </p:txBody>
      </p:sp>
      <p:sp>
        <p:nvSpPr>
          <p:cNvPr id="13" name="Run artifact reading"/>
          <p:cNvSpPr/>
          <p:nvPr/>
        </p:nvSpPr>
        <p:spPr>
          <a:xfrm>
            <a:off x="877824" y="4297680"/>
            <a:ext cx="10387584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收據與匯入｜每次 stdout 印出新的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`result_path`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；同一 run 目錄保留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`result.json`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+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`endpoint-replay.json`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，匯入時選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`result.json`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Result path definition"/>
          <p:cNvSpPr/>
          <p:nvPr/>
        </p:nvSpPr>
        <p:spPr>
          <a:xfrm>
            <a:off x="749808" y="5010912"/>
            <a:ext cx="10698480" cy="74980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服務先讀｜欄位順序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，再讀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，接著用 replay 的 state／packet 解釋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；數值以本次 stdout path 為準，不猜檔名。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第一次修改：只把 20 改成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只改一行：20→5；程式碼頁先說清楚值的意義，不混入命令。</a:t>
            </a:r>
          </a:p>
        </p:txBody>
      </p:sp>
      <p:sp>
        <p:nvSpPr>
          <p:cNvPr id="6" name="Candidate edit location"/>
          <p:cNvSpPr txBox="1"/>
          <p:nvPr/>
        </p:nvSpPr>
        <p:spPr>
          <a:xfrm>
            <a:off x="786384" y="128016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修改位置：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／Lab C marked block</a:t>
            </a:r>
          </a:p>
        </p:txBody>
      </p:sp>
      <p:sp>
        <p:nvSpPr>
          <p:cNvPr id="7" name="Candidate before code"/>
          <p:cNvSpPr/>
          <p:nvPr/>
        </p:nvSpPr>
        <p:spPr>
          <a:xfrm>
            <a:off x="749808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Candidate before code highlighted editable line"/>
          <p:cNvSpPr/>
          <p:nvPr/>
        </p:nvSpPr>
        <p:spPr>
          <a:xfrm>
            <a:off x="896112" y="2029968"/>
            <a:ext cx="4882896" cy="335767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ndidate before code text"/>
          <p:cNvSpPr txBox="1"/>
          <p:nvPr/>
        </p:nvSpPr>
        <p:spPr>
          <a:xfrm>
            <a:off x="859536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</p:txBody>
      </p:sp>
      <p:sp>
        <p:nvSpPr>
          <p:cNvPr id="10" name="Candidate after code"/>
          <p:cNvSpPr/>
          <p:nvPr/>
        </p:nvSpPr>
        <p:spPr>
          <a:xfrm>
            <a:off x="6272784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Candidate after code highlighted editable line"/>
          <p:cNvSpPr/>
          <p:nvPr/>
        </p:nvSpPr>
        <p:spPr>
          <a:xfrm>
            <a:off x="6419088" y="2029968"/>
            <a:ext cx="4882896" cy="335767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didate after code text"/>
          <p:cNvSpPr txBox="1"/>
          <p:nvPr/>
        </p:nvSpPr>
        <p:spPr>
          <a:xfrm>
            <a:off x="6382512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5</a:t>
            </a:r>
          </a:p>
        </p:txBody>
      </p:sp>
      <p:sp>
        <p:nvSpPr>
          <p:cNvPr id="13" name="Candidate before meaning"/>
          <p:cNvSpPr txBox="1"/>
          <p:nvPr/>
        </p:nvSpPr>
        <p:spPr>
          <a:xfrm>
            <a:off x="8961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修改前：20 秒內才走 </a:t>
            </a:r>
            <a:r>
              <a:rPr sz="21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4" name="Candidate after meaning"/>
          <p:cNvSpPr txBox="1"/>
          <p:nvPr/>
        </p:nvSpPr>
        <p:spPr>
          <a:xfrm>
            <a:off x="63825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修改後：5 秒內才走 </a:t>
            </a:r>
            <a:r>
              <a:rPr sz="21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5" name="Edit why"/>
          <p:cNvSpPr/>
          <p:nvPr/>
        </p:nvSpPr>
        <p:spPr>
          <a:xfrm>
            <a:off x="877824" y="4370832"/>
            <a:ext cx="10387584" cy="60350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機制｜門檻變小，急件分支要等到期限更近才返回；因此 normal pacing／batch 可能多等一段，delivery／deadline 需由結果驗證。</a:t>
            </a:r>
          </a:p>
        </p:txBody>
      </p:sp>
      <p:sp>
        <p:nvSpPr>
          <p:cNvPr id="16" name="Edit boundary field"/>
          <p:cNvSpPr/>
          <p:nvPr/>
        </p:nvSpPr>
        <p:spPr>
          <a:xfrm>
            <a:off x="749808" y="5065776"/>
            <a:ext cx="10698480" cy="69494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不變範圍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、Lab A／B blocks、runner、scenario、schema、其他常數／函式／檔案保持不變；這頁唯一高亮的是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的新值 5。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候選執行前：先鎖定可反駁預測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先寫下可被資料推翻的預測：5 秒可能省電，也可能誤期。</a:t>
            </a:r>
          </a:p>
        </p:txBody>
      </p:sp>
      <p:sp>
        <p:nvSpPr>
          <p:cNvPr id="6" name="Prediction field"/>
          <p:cNvSpPr/>
          <p:nvPr/>
        </p:nvSpPr>
        <p:spPr>
          <a:xfrm>
            <a:off x="768096" y="1591056"/>
            <a:ext cx="2432304" cy="217627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Prediction field heading"/>
          <p:cNvSpPr txBox="1"/>
          <p:nvPr/>
        </p:nvSpPr>
        <p:spPr>
          <a:xfrm>
            <a:off x="896112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距限｜due</a:t>
            </a:r>
          </a:p>
        </p:txBody>
      </p:sp>
      <p:sp>
        <p:nvSpPr>
          <p:cNvPr id="8" name="Prediction field body"/>
          <p:cNvSpPr txBox="1"/>
          <p:nvPr/>
        </p:nvSpPr>
        <p:spPr>
          <a:xfrm>
            <a:off x="905256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urgent_due_in_s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s；越小越急</a:t>
            </a:r>
          </a:p>
        </p:txBody>
      </p:sp>
      <p:sp>
        <p:nvSpPr>
          <p:cNvPr id="9" name="Prediction field"/>
          <p:cNvSpPr/>
          <p:nvPr/>
        </p:nvSpPr>
        <p:spPr>
          <a:xfrm>
            <a:off x="3529584" y="1591056"/>
            <a:ext cx="2432304" cy="217627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Prediction field heading"/>
          <p:cNvSpPr txBox="1"/>
          <p:nvPr/>
        </p:nvSpPr>
        <p:spPr>
          <a:xfrm>
            <a:off x="3657600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佇列｜queue</a:t>
            </a:r>
          </a:p>
        </p:txBody>
      </p:sp>
      <p:sp>
        <p:nvSpPr>
          <p:cNvPr id="11" name="Prediction field body"/>
          <p:cNvSpPr txBox="1"/>
          <p:nvPr/>
        </p:nvSpPr>
        <p:spPr>
          <a:xfrm>
            <a:off x="3666744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queue_size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count；越高壓力越大</a:t>
            </a:r>
          </a:p>
        </p:txBody>
      </p:sp>
      <p:sp>
        <p:nvSpPr>
          <p:cNvPr id="12" name="Prediction field"/>
          <p:cNvSpPr/>
          <p:nvPr/>
        </p:nvSpPr>
        <p:spPr>
          <a:xfrm>
            <a:off x="6291072" y="1591056"/>
            <a:ext cx="2432304" cy="217627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Prediction field heading"/>
          <p:cNvSpPr txBox="1"/>
          <p:nvPr/>
        </p:nvSpPr>
        <p:spPr>
          <a:xfrm>
            <a:off x="6419088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服務／期限</a:t>
            </a:r>
          </a:p>
        </p:txBody>
      </p:sp>
      <p:sp>
        <p:nvSpPr>
          <p:cNvPr id="14" name="Prediction field body"/>
          <p:cNvSpPr txBox="1"/>
          <p:nvPr/>
        </p:nvSpPr>
        <p:spPr>
          <a:xfrm>
            <a:off x="6428232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FAIL 先於 J</a:t>
            </a:r>
          </a:p>
        </p:txBody>
      </p:sp>
      <p:sp>
        <p:nvSpPr>
          <p:cNvPr id="15" name="Prediction field"/>
          <p:cNvSpPr/>
          <p:nvPr/>
        </p:nvSpPr>
        <p:spPr>
          <a:xfrm>
            <a:off x="9052560" y="1591056"/>
            <a:ext cx="2432304" cy="217627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Prediction field heading"/>
          <p:cNvSpPr txBox="1"/>
          <p:nvPr/>
        </p:nvSpPr>
        <p:spPr>
          <a:xfrm>
            <a:off x="9180576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端點能量｜J</a:t>
            </a:r>
          </a:p>
        </p:txBody>
      </p:sp>
      <p:sp>
        <p:nvSpPr>
          <p:cNvPr id="17" name="Prediction field body"/>
          <p:cNvSpPr txBox="1"/>
          <p:nvPr/>
        </p:nvSpPr>
        <p:spPr>
          <a:xfrm>
            <a:off x="9189720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J；低只代表耗能較少</a:t>
            </a:r>
          </a:p>
        </p:txBody>
      </p:sp>
      <p:sp>
        <p:nvSpPr>
          <p:cNvPr id="18" name="Prediction sentence"/>
          <p:cNvSpPr/>
          <p:nvPr/>
        </p:nvSpPr>
        <p:spPr>
          <a:xfrm>
            <a:off x="877824" y="4224528"/>
            <a:ext cx="10387584" cy="62179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預測句｜較晚急件介入可能減少早期 wake／TX；delivery 或 deadline FAIL 即推翻純省能量說法。</a:t>
            </a:r>
          </a:p>
        </p:txBody>
      </p:sp>
      <p:sp>
        <p:nvSpPr>
          <p:cNvPr id="19" name="Prediction falsifier"/>
          <p:cNvSpPr/>
          <p:nvPr/>
        </p:nvSpPr>
        <p:spPr>
          <a:xfrm>
            <a:off x="749808" y="4882896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證據順序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observation／result summary／endpoint ledger；先讀服務／期限，再回到 packet 與 state 解釋 J。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urgent_due_in_s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越小越急；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越低只代表耗能較少，不能覆蓋 FAIL。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候選結果怎麼讀：先匯入，再判服務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先判服務是否完成，再看端點用了多少能量。</a:t>
            </a:r>
          </a:p>
        </p:txBody>
      </p:sp>
      <p:sp>
        <p:nvSpPr>
          <p:cNvPr id="6" name="Baseline result"/>
          <p:cNvSpPr/>
          <p:nvPr/>
        </p:nvSpPr>
        <p:spPr>
          <a:xfrm>
            <a:off x="768096" y="1609344"/>
            <a:ext cx="5084064" cy="234086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Baseline result heading"/>
          <p:cNvSpPr txBox="1"/>
          <p:nvPr/>
        </p:nvSpPr>
        <p:spPr>
          <a:xfrm>
            <a:off x="896112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基準組｜margin 20</a:t>
            </a:r>
          </a:p>
        </p:txBody>
      </p:sp>
      <p:sp>
        <p:nvSpPr>
          <p:cNvPr id="8" name="Baseline result body"/>
          <p:cNvSpPr txBox="1"/>
          <p:nvPr/>
        </p:nvSpPr>
        <p:spPr>
          <a:xfrm>
            <a:off x="905256" y="2103120"/>
            <a:ext cx="4809744" cy="1755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服務／期限：PASS／PASS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送達封包：4／4；過期：0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端點能量：10.66 J</a:t>
            </a:r>
          </a:p>
        </p:txBody>
      </p:sp>
      <p:cxnSp>
        <p:nvCxnSpPr>
          <p:cNvPr id="9" name="Gate comparison connector"/>
          <p:cNvCxnSpPr/>
          <p:nvPr/>
        </p:nvCxnSpPr>
        <p:spPr>
          <a:xfrm>
            <a:off x="5998464" y="2779776"/>
            <a:ext cx="274319" cy="0"/>
          </a:xfrm>
          <a:prstGeom prst="line">
            <a:avLst/>
          </a:prstGeom>
          <a:ln w="25400">
            <a:solidFill>
              <a:srgbClr val="99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ndidate result"/>
          <p:cNvSpPr/>
          <p:nvPr/>
        </p:nvSpPr>
        <p:spPr>
          <a:xfrm>
            <a:off x="6364224" y="1609344"/>
            <a:ext cx="5084064" cy="234086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Candidate result heading"/>
          <p:cNvSpPr txBox="1"/>
          <p:nvPr/>
        </p:nvSpPr>
        <p:spPr>
          <a:xfrm>
            <a:off x="6492240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修改組｜margin 5</a:t>
            </a:r>
          </a:p>
        </p:txBody>
      </p:sp>
      <p:sp>
        <p:nvSpPr>
          <p:cNvPr id="12" name="Candidate result body"/>
          <p:cNvSpPr txBox="1"/>
          <p:nvPr/>
        </p:nvSpPr>
        <p:spPr>
          <a:xfrm>
            <a:off x="6501384" y="2103120"/>
            <a:ext cx="4809744" cy="1755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服務／期限：FAIL／FAIL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送達封包：3／4；過期：1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端點能量：9.74 J（少 0.92 J）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低 J 仍不能稱成功</a:t>
            </a:r>
          </a:p>
        </p:txBody>
      </p:sp>
      <p:sp>
        <p:nvSpPr>
          <p:cNvPr id="13" name="Candidate causal sentence"/>
          <p:cNvSpPr/>
          <p:nvPr/>
        </p:nvSpPr>
        <p:spPr>
          <a:xfrm>
            <a:off x="877824" y="4242816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因果解讀｜candidate 少用 0.92 J 卻只送達 3／4 且兩個 gate FAIL；低 J 不改寫為服務成功。</a:t>
            </a:r>
          </a:p>
        </p:txBody>
      </p:sp>
      <p:sp>
        <p:nvSpPr>
          <p:cNvPr id="14" name="Fixed comparison boundary"/>
          <p:cNvSpPr/>
          <p:nvPr/>
        </p:nvSpPr>
        <p:spPr>
          <a:xfrm>
            <a:off x="749808" y="4882896"/>
            <a:ext cx="10698480" cy="950976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欄位讀法｜來源與單位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：布林 gate，PASS 才往下讀；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：packet count，先判交付；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：replay／ledger 的 J，低值不能覆蓋 FAIL。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第二次修改：只把 5 改成 30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只改一行：5→30；較早介入的理由與代價分開說明。</a:t>
            </a:r>
          </a:p>
        </p:txBody>
      </p:sp>
      <p:sp>
        <p:nvSpPr>
          <p:cNvPr id="6" name="Revision edit location"/>
          <p:cNvSpPr txBox="1"/>
          <p:nvPr/>
        </p:nvSpPr>
        <p:spPr>
          <a:xfrm>
            <a:off x="786384" y="128016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修改位置：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／Lab C marked block</a:t>
            </a:r>
          </a:p>
        </p:txBody>
      </p:sp>
      <p:sp>
        <p:nvSpPr>
          <p:cNvPr id="7" name="Revision before code"/>
          <p:cNvSpPr/>
          <p:nvPr/>
        </p:nvSpPr>
        <p:spPr>
          <a:xfrm>
            <a:off x="749808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vision before code highlighted editable line"/>
          <p:cNvSpPr/>
          <p:nvPr/>
        </p:nvSpPr>
        <p:spPr>
          <a:xfrm>
            <a:off x="896112" y="2029968"/>
            <a:ext cx="4882896" cy="335767"/>
          </a:xfrm>
          <a:prstGeom prst="roundRect">
            <a:avLst/>
          </a:prstGeom>
          <a:solidFill>
            <a:srgbClr val="F4EDF7"/>
          </a:solidFill>
          <a:ln w="6350">
            <a:solidFill>
              <a:srgbClr val="F4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vision before code text"/>
          <p:cNvSpPr txBox="1"/>
          <p:nvPr/>
        </p:nvSpPr>
        <p:spPr>
          <a:xfrm>
            <a:off x="859536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5</a:t>
            </a:r>
          </a:p>
        </p:txBody>
      </p:sp>
      <p:sp>
        <p:nvSpPr>
          <p:cNvPr id="10" name="Revision after code"/>
          <p:cNvSpPr/>
          <p:nvPr/>
        </p:nvSpPr>
        <p:spPr>
          <a:xfrm>
            <a:off x="6272784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evision after code highlighted editable line"/>
          <p:cNvSpPr/>
          <p:nvPr/>
        </p:nvSpPr>
        <p:spPr>
          <a:xfrm>
            <a:off x="6419088" y="2029968"/>
            <a:ext cx="4882896" cy="335767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vision after code text"/>
          <p:cNvSpPr txBox="1"/>
          <p:nvPr/>
        </p:nvSpPr>
        <p:spPr>
          <a:xfrm>
            <a:off x="6382512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30</a:t>
            </a:r>
          </a:p>
        </p:txBody>
      </p:sp>
      <p:sp>
        <p:nvSpPr>
          <p:cNvPr id="13" name="Revision before meaning"/>
          <p:cNvSpPr txBox="1"/>
          <p:nvPr/>
        </p:nvSpPr>
        <p:spPr>
          <a:xfrm>
            <a:off x="8961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修改前：5 秒內才走 </a:t>
            </a:r>
            <a:r>
              <a:rPr sz="21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4" name="Revision after meaning"/>
          <p:cNvSpPr txBox="1"/>
          <p:nvPr/>
        </p:nvSpPr>
        <p:spPr>
          <a:xfrm>
            <a:off x="63825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修改後：30 秒內即可走 </a:t>
            </a:r>
            <a:r>
              <a:rPr sz="21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5" name="Revision why"/>
          <p:cNvSpPr/>
          <p:nvPr/>
        </p:nvSpPr>
        <p:spPr>
          <a:xfrm>
            <a:off x="877824" y="4370832"/>
            <a:ext cx="10387584" cy="60350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機制與取捨｜門檻變大，急件分支可較早返回；可能增加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`WAKE`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`TX`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，也可能讓 required packet 在期限前完成。revision 只允許這一次。</a:t>
            </a:r>
          </a:p>
        </p:txBody>
      </p:sp>
      <p:sp>
        <p:nvSpPr>
          <p:cNvPr id="16" name="Revision boundary field"/>
          <p:cNvSpPr/>
          <p:nvPr/>
        </p:nvSpPr>
        <p:spPr>
          <a:xfrm>
            <a:off x="749808" y="5065776"/>
            <a:ext cx="10698480" cy="69494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不變範圍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、Lab A／B blocks、runner、scenario、schema、其他常數／函式／檔案保持不變；這頁唯一高亮的是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的新值 30。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修訂執行前：把較早介入寫成取捨預測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先比兩種介入時機，再看服務與能量取捨。</a:t>
            </a:r>
          </a:p>
        </p:txBody>
      </p:sp>
      <p:sp>
        <p:nvSpPr>
          <p:cNvPr id="6" name="Late intervention timeline"/>
          <p:cNvSpPr/>
          <p:nvPr/>
        </p:nvSpPr>
        <p:spPr>
          <a:xfrm>
            <a:off x="768096" y="1609344"/>
            <a:ext cx="5084064" cy="23957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Late intervention timeline heading"/>
          <p:cNvSpPr txBox="1"/>
          <p:nvPr/>
        </p:nvSpPr>
        <p:spPr>
          <a:xfrm>
            <a:off x="896112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門檻 5｜較晚介入</a:t>
            </a:r>
          </a:p>
        </p:txBody>
      </p:sp>
      <p:sp>
        <p:nvSpPr>
          <p:cNvPr id="8" name="Late intervention timeline body"/>
          <p:cNvSpPr txBox="1"/>
          <p:nvPr/>
        </p:nvSpPr>
        <p:spPr>
          <a:xfrm>
            <a:off x="905256" y="2103120"/>
            <a:ext cx="480974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批次 → 期限 → 急件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較少早期 wake／TX，但 delivery 可能受壓</a:t>
            </a:r>
          </a:p>
        </p:txBody>
      </p:sp>
      <p:cxnSp>
        <p:nvCxnSpPr>
          <p:cNvPr id="9" name="Intervention comparison"/>
          <p:cNvCxnSpPr/>
          <p:nvPr/>
        </p:nvCxnSpPr>
        <p:spPr>
          <a:xfrm>
            <a:off x="5998464" y="2788920"/>
            <a:ext cx="274319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arly intervention timeline"/>
          <p:cNvSpPr/>
          <p:nvPr/>
        </p:nvSpPr>
        <p:spPr>
          <a:xfrm>
            <a:off x="6364224" y="1609344"/>
            <a:ext cx="5084064" cy="23957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Early intervention timeline heading"/>
          <p:cNvSpPr txBox="1"/>
          <p:nvPr/>
        </p:nvSpPr>
        <p:spPr>
          <a:xfrm>
            <a:off x="6492240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門檻 30｜較早介入</a:t>
            </a:r>
          </a:p>
        </p:txBody>
      </p:sp>
      <p:sp>
        <p:nvSpPr>
          <p:cNvPr id="12" name="Early intervention timeline body"/>
          <p:cNvSpPr txBox="1"/>
          <p:nvPr/>
        </p:nvSpPr>
        <p:spPr>
          <a:xfrm>
            <a:off x="6501384" y="2103120"/>
            <a:ext cx="480974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 → wake／TX → delivery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較可能保住期限，也可能增加 energy cost</a:t>
            </a:r>
          </a:p>
        </p:txBody>
      </p:sp>
      <p:sp>
        <p:nvSpPr>
          <p:cNvPr id="13" name="Revision prediction"/>
          <p:cNvSpPr/>
          <p:nvPr/>
        </p:nvSpPr>
        <p:spPr>
          <a:xfrm>
            <a:off x="877824" y="4261104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條件式預測｜只有 delivery、deadline、state ledger 與 endpoint J 同時對上，取捨敘述才成立。</a:t>
            </a:r>
          </a:p>
        </p:txBody>
      </p:sp>
      <p:sp>
        <p:nvSpPr>
          <p:cNvPr id="14" name="Revision evidence fields"/>
          <p:cNvSpPr/>
          <p:nvPr/>
        </p:nvSpPr>
        <p:spPr>
          <a:xfrm>
            <a:off x="749808" y="4901184"/>
            <a:ext cx="10698480" cy="87782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證據欄位｜來源與高低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：result 的布林結果，PASS 才算完成；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：packet events 的 count，越高表示重試／過期越多；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：ledger 的 J，越低耗能較少但不能覆蓋 FAIL。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第二輪操作：revision 30 freeze，再跑 surprise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 freeze revision 30，再以同一份 policy 執行 surprise；兩步之間不再改碼。</a:t>
            </a:r>
          </a:p>
        </p:txBody>
      </p:sp>
      <p:sp>
        <p:nvSpPr>
          <p:cNvPr id="6" name="Revision exact freeze command"/>
          <p:cNvSpPr/>
          <p:nvPr/>
        </p:nvSpPr>
        <p:spPr>
          <a:xfrm>
            <a:off x="713232" y="1499616"/>
            <a:ext cx="5431536" cy="257860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vision exact freeze command heading"/>
          <p:cNvSpPr txBox="1"/>
          <p:nvPr/>
        </p:nvSpPr>
        <p:spPr>
          <a:xfrm>
            <a:off x="841248" y="1572768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修訂組｜revision 30</a:t>
            </a:r>
          </a:p>
        </p:txBody>
      </p:sp>
      <p:sp>
        <p:nvSpPr>
          <p:cNvPr id="8" name="Revision exact freeze command body"/>
          <p:cNvSpPr txBox="1"/>
          <p:nvPr/>
        </p:nvSpPr>
        <p:spPr>
          <a:xfrm>
            <a:off x="850392" y="1993391"/>
            <a:ext cx="5157216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revision --freeze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revision --freeze</a:t>
            </a:r>
          </a:p>
        </p:txBody>
      </p:sp>
      <p:cxnSp>
        <p:nvCxnSpPr>
          <p:cNvPr id="9" name="Freeze to surprise connector"/>
          <p:cNvCxnSpPr/>
          <p:nvPr/>
        </p:nvCxnSpPr>
        <p:spPr>
          <a:xfrm>
            <a:off x="5961888" y="2761488"/>
            <a:ext cx="274319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rprise exact command"/>
          <p:cNvSpPr/>
          <p:nvPr/>
        </p:nvSpPr>
        <p:spPr>
          <a:xfrm>
            <a:off x="6345936" y="1499616"/>
            <a:ext cx="5120640" cy="257860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urprise exact command heading"/>
          <p:cNvSpPr txBox="1"/>
          <p:nvPr/>
        </p:nvSpPr>
        <p:spPr>
          <a:xfrm>
            <a:off x="6473952" y="1572768"/>
            <a:ext cx="4864607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保留組｜surprise</a:t>
            </a:r>
          </a:p>
        </p:txBody>
      </p:sp>
      <p:sp>
        <p:nvSpPr>
          <p:cNvPr id="12" name="Surprise exact command body"/>
          <p:cNvSpPr txBox="1"/>
          <p:nvPr/>
        </p:nvSpPr>
        <p:spPr>
          <a:xfrm>
            <a:off x="6483096" y="1993391"/>
            <a:ext cx="4846320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沿用 frozen policy，沒有新 edit：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surprise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surprise</a:t>
            </a:r>
          </a:p>
        </p:txBody>
      </p:sp>
      <p:sp>
        <p:nvSpPr>
          <p:cNvPr id="13" name="Freeze boundary"/>
          <p:cNvSpPr/>
          <p:nvPr/>
        </p:nvSpPr>
        <p:spPr>
          <a:xfrm>
            <a:off x="877824" y="4297680"/>
            <a:ext cx="10387584" cy="62179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收據與限制｜兩次 stdout 都提供新的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`result_path`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；revision 保留 freeze receipt，surprise 只讀 matching evidence，failure 只縮小 claim。</a:t>
            </a:r>
          </a:p>
        </p:txBody>
      </p:sp>
      <p:sp>
        <p:nvSpPr>
          <p:cNvPr id="14" name="Freeze definition"/>
          <p:cNvSpPr/>
          <p:nvPr/>
        </p:nvSpPr>
        <p:spPr>
          <a:xfrm>
            <a:off x="749808" y="5010912"/>
            <a:ext cx="10698480" cy="74980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freeze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｜凍結收據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runner receipt；作用 綁定 policy bytes 與 case；判讀 identity 不符即停止。每個 run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必須成對。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20／5／30：沿同一條時間線讀三筆結果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20／5／30 沿同一條時間線比較：先分開機制，再讀觀測結果。</a:t>
            </a:r>
          </a:p>
        </p:txBody>
      </p:sp>
      <p:sp>
        <p:nvSpPr>
          <p:cNvPr id="6" name="Three-way timeline stage"/>
          <p:cNvSpPr/>
          <p:nvPr/>
        </p:nvSpPr>
        <p:spPr>
          <a:xfrm>
            <a:off x="658368" y="1481328"/>
            <a:ext cx="3346704" cy="20116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hree-way timeline stage heading"/>
          <p:cNvSpPr txBox="1"/>
          <p:nvPr/>
        </p:nvSpPr>
        <p:spPr>
          <a:xfrm>
            <a:off x="786384" y="1554480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基準｜20</a:t>
            </a:r>
          </a:p>
        </p:txBody>
      </p:sp>
      <p:sp>
        <p:nvSpPr>
          <p:cNvPr id="8" name="Three-way timeline stage body"/>
          <p:cNvSpPr txBox="1"/>
          <p:nvPr/>
        </p:nvSpPr>
        <p:spPr>
          <a:xfrm>
            <a:off x="795528" y="1975104"/>
            <a:ext cx="307238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機制：較早允許急件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觀測：PASS／PASS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4／4；expired 0；10.66 J</a:t>
            </a:r>
          </a:p>
        </p:txBody>
      </p:sp>
      <p:sp>
        <p:nvSpPr>
          <p:cNvPr id="9" name="Three-way timeline stage"/>
          <p:cNvSpPr/>
          <p:nvPr/>
        </p:nvSpPr>
        <p:spPr>
          <a:xfrm>
            <a:off x="4315968" y="1481328"/>
            <a:ext cx="3346704" cy="201168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hree-way timeline stage heading"/>
          <p:cNvSpPr txBox="1"/>
          <p:nvPr/>
        </p:nvSpPr>
        <p:spPr>
          <a:xfrm>
            <a:off x="4443983" y="1554480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候選｜5</a:t>
            </a:r>
          </a:p>
        </p:txBody>
      </p:sp>
      <p:sp>
        <p:nvSpPr>
          <p:cNvPr id="11" name="Three-way timeline stage body"/>
          <p:cNvSpPr txBox="1"/>
          <p:nvPr/>
        </p:nvSpPr>
        <p:spPr>
          <a:xfrm>
            <a:off x="4453128" y="1975104"/>
            <a:ext cx="307238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機制：較晚允許急件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觀測：FAIL／FAIL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3／4；expired 1；9.74 J</a:t>
            </a:r>
          </a:p>
        </p:txBody>
      </p:sp>
      <p:sp>
        <p:nvSpPr>
          <p:cNvPr id="12" name="Three-way timeline stage"/>
          <p:cNvSpPr/>
          <p:nvPr/>
        </p:nvSpPr>
        <p:spPr>
          <a:xfrm>
            <a:off x="7973568" y="1481328"/>
            <a:ext cx="3346704" cy="20116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hree-way timeline stage heading"/>
          <p:cNvSpPr txBox="1"/>
          <p:nvPr/>
        </p:nvSpPr>
        <p:spPr>
          <a:xfrm>
            <a:off x="8101584" y="1554480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修訂｜30</a:t>
            </a:r>
          </a:p>
        </p:txBody>
      </p:sp>
      <p:sp>
        <p:nvSpPr>
          <p:cNvPr id="14" name="Three-way timeline stage body"/>
          <p:cNvSpPr txBox="1"/>
          <p:nvPr/>
        </p:nvSpPr>
        <p:spPr>
          <a:xfrm>
            <a:off x="8110728" y="1975104"/>
            <a:ext cx="307238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機制：更早允許急件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觀測：PASS／PASS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4／4；expired 0；10.66 J</a:t>
            </a:r>
          </a:p>
        </p:txBody>
      </p:sp>
      <p:cxnSp>
        <p:nvCxnSpPr>
          <p:cNvPr id="15" name="Three-way time axis"/>
          <p:cNvCxnSpPr/>
          <p:nvPr/>
        </p:nvCxnSpPr>
        <p:spPr>
          <a:xfrm>
            <a:off x="1060704" y="3785615"/>
            <a:ext cx="9985248" cy="0"/>
          </a:xfrm>
          <a:prstGeom prst="line">
            <a:avLst/>
          </a:prstGeom>
          <a:ln w="3048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hree-way time marker"/>
          <p:cNvSpPr/>
          <p:nvPr/>
        </p:nvSpPr>
        <p:spPr>
          <a:xfrm>
            <a:off x="1243584" y="3584448"/>
            <a:ext cx="402336" cy="402336"/>
          </a:xfrm>
          <a:prstGeom prst="ellipse">
            <a:avLst/>
          </a:prstGeom>
          <a:solidFill>
            <a:srgbClr val="4967C2"/>
          </a:solidFill>
          <a:ln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hree-way time label"/>
          <p:cNvSpPr txBox="1"/>
          <p:nvPr/>
        </p:nvSpPr>
        <p:spPr>
          <a:xfrm>
            <a:off x="914400" y="396849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20｜primary</a:t>
            </a:r>
          </a:p>
        </p:txBody>
      </p:sp>
      <p:sp>
        <p:nvSpPr>
          <p:cNvPr id="18" name="Three-way time marker"/>
          <p:cNvSpPr/>
          <p:nvPr/>
        </p:nvSpPr>
        <p:spPr>
          <a:xfrm>
            <a:off x="4901184" y="3584448"/>
            <a:ext cx="402336" cy="402336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hree-way time label"/>
          <p:cNvSpPr txBox="1"/>
          <p:nvPr/>
        </p:nvSpPr>
        <p:spPr>
          <a:xfrm>
            <a:off x="4572000" y="396849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5｜late</a:t>
            </a:r>
          </a:p>
        </p:txBody>
      </p:sp>
      <p:sp>
        <p:nvSpPr>
          <p:cNvPr id="20" name="Three-way time marker"/>
          <p:cNvSpPr/>
          <p:nvPr/>
        </p:nvSpPr>
        <p:spPr>
          <a:xfrm>
            <a:off x="8558784" y="3584448"/>
            <a:ext cx="402336" cy="40233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hree-way time label"/>
          <p:cNvSpPr txBox="1"/>
          <p:nvPr/>
        </p:nvSpPr>
        <p:spPr>
          <a:xfrm>
            <a:off x="8229600" y="396849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30｜early</a:t>
            </a:r>
          </a:p>
        </p:txBody>
      </p:sp>
      <p:sp>
        <p:nvSpPr>
          <p:cNvPr id="22" name="Three-way causal sentence"/>
          <p:cNvSpPr/>
          <p:nvPr/>
        </p:nvSpPr>
        <p:spPr>
          <a:xfrm>
            <a:off x="877824" y="4352544"/>
            <a:ext cx="10387584" cy="62179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Observed result｜5 少交付且兩個 gate FAIL；20 與 30 在固定 primary case 都在剩餘 10 秒時觸發，可能形成相同結果（null contrast）。</a:t>
            </a:r>
          </a:p>
        </p:txBody>
      </p:sp>
      <p:sp>
        <p:nvSpPr>
          <p:cNvPr id="23" name="Three-way evidence source"/>
          <p:cNvSpPr/>
          <p:nvPr/>
        </p:nvSpPr>
        <p:spPr>
          <a:xfrm>
            <a:off x="749808" y="5029200"/>
            <a:ext cx="10698480" cy="804672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 ≠ 觀測｜來源與判讀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J 的差異回到 action、WAKE／TX／RX、retry、delivery、expiry；數值取自 stdout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配對檔。20／30 相同不代表 30 永遠最佳。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Surprise：沿用 30，保留失敗邊界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另一個情境沿用原程式；低端點能量不代表服務成功。</a:t>
            </a:r>
          </a:p>
        </p:txBody>
      </p:sp>
      <p:sp>
        <p:nvSpPr>
          <p:cNvPr id="6" name="Frozen policy card"/>
          <p:cNvSpPr/>
          <p:nvPr/>
        </p:nvSpPr>
        <p:spPr>
          <a:xfrm>
            <a:off x="768096" y="1609344"/>
            <a:ext cx="5084064" cy="24688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Frozen policy card heading"/>
          <p:cNvSpPr txBox="1"/>
          <p:nvPr/>
        </p:nvSpPr>
        <p:spPr>
          <a:xfrm>
            <a:off x="896112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凍結修訂｜revision</a:t>
            </a:r>
          </a:p>
        </p:txBody>
      </p:sp>
      <p:sp>
        <p:nvSpPr>
          <p:cNvPr id="8" name="Frozen policy card body"/>
          <p:cNvSpPr txBox="1"/>
          <p:nvPr/>
        </p:nvSpPr>
        <p:spPr>
          <a:xfrm>
            <a:off x="905256" y="2103120"/>
            <a:ext cx="4809744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30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程式內容不變，沿用原條件</a:t>
            </a:r>
          </a:p>
        </p:txBody>
      </p:sp>
      <p:cxnSp>
        <p:nvCxnSpPr>
          <p:cNvPr id="9" name="Withheld boundary connector"/>
          <p:cNvCxnSpPr/>
          <p:nvPr/>
        </p:nvCxnSpPr>
        <p:spPr>
          <a:xfrm>
            <a:off x="5998464" y="2834640"/>
            <a:ext cx="274319" cy="0"/>
          </a:xfrm>
          <a:prstGeom prst="line">
            <a:avLst/>
          </a:prstGeom>
          <a:ln w="25400">
            <a:solidFill>
              <a:srgbClr val="99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rprise evidence card"/>
          <p:cNvSpPr/>
          <p:nvPr/>
        </p:nvSpPr>
        <p:spPr>
          <a:xfrm>
            <a:off x="6364224" y="1609344"/>
            <a:ext cx="5084064" cy="24688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urprise evidence card heading"/>
          <p:cNvSpPr txBox="1"/>
          <p:nvPr/>
        </p:nvSpPr>
        <p:spPr>
          <a:xfrm>
            <a:off x="6492240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保留情境｜same policy</a:t>
            </a:r>
          </a:p>
        </p:txBody>
      </p:sp>
      <p:sp>
        <p:nvSpPr>
          <p:cNvPr id="12" name="Surprise evidence card body"/>
          <p:cNvSpPr txBox="1"/>
          <p:nvPr/>
        </p:nvSpPr>
        <p:spPr>
          <a:xfrm>
            <a:off x="6501384" y="2103120"/>
            <a:ext cx="4809744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服務／期限：FAIL／FAIL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送達：1／4；過期：3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retries：3；collisions：2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端點能量：5.41 J</a:t>
            </a:r>
          </a:p>
        </p:txBody>
      </p:sp>
      <p:sp>
        <p:nvSpPr>
          <p:cNvPr id="13" name="Withheld boundary sentence"/>
          <p:cNvSpPr/>
          <p:nvPr/>
        </p:nvSpPr>
        <p:spPr>
          <a:xfrm>
            <a:off x="877824" y="4261104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BOUNDARY READING｜surprise 低 J 仍是 failure；保存為 frozen policy 的適用邊界。</a:t>
            </a:r>
          </a:p>
        </p:txBody>
      </p:sp>
      <p:sp>
        <p:nvSpPr>
          <p:cNvPr id="14" name="Withheld evidence source"/>
          <p:cNvSpPr/>
          <p:nvPr/>
        </p:nvSpPr>
        <p:spPr>
          <a:xfrm>
            <a:off x="749808" y="4882896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來源範圍｜數值判讀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+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1／4，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3，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3，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2；endpoint J 低仍不等於成功。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 結語：服務與期限先於端點 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四道門依序檢查；最後才描述端點能量。</a:t>
            </a:r>
          </a:p>
        </p:txBody>
      </p:sp>
      <p:sp>
        <p:nvSpPr>
          <p:cNvPr id="6" name="Gate-first ladder"/>
          <p:cNvSpPr/>
          <p:nvPr/>
        </p:nvSpPr>
        <p:spPr>
          <a:xfrm>
            <a:off x="640080" y="1627632"/>
            <a:ext cx="2542032" cy="14813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Gate-first ladder heading"/>
          <p:cNvSpPr txBox="1"/>
          <p:nvPr/>
        </p:nvSpPr>
        <p:spPr>
          <a:xfrm>
            <a:off x="768096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1｜服務</a:t>
            </a:r>
          </a:p>
        </p:txBody>
      </p:sp>
      <p:sp>
        <p:nvSpPr>
          <p:cNvPr id="8" name="Gate-first ladder body"/>
          <p:cNvSpPr txBox="1"/>
          <p:nvPr/>
        </p:nvSpPr>
        <p:spPr>
          <a:xfrm>
            <a:off x="777240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service：是否完成</a:t>
            </a:r>
          </a:p>
        </p:txBody>
      </p:sp>
      <p:cxnSp>
        <p:nvCxnSpPr>
          <p:cNvPr id="9" name="Gate-first connector"/>
          <p:cNvCxnSpPr/>
          <p:nvPr/>
        </p:nvCxnSpPr>
        <p:spPr>
          <a:xfrm>
            <a:off x="3218687" y="2359152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Gate-first ladder"/>
          <p:cNvSpPr/>
          <p:nvPr/>
        </p:nvSpPr>
        <p:spPr>
          <a:xfrm>
            <a:off x="3493008" y="1627632"/>
            <a:ext cx="2542032" cy="14813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Gate-first ladder heading"/>
          <p:cNvSpPr txBox="1"/>
          <p:nvPr/>
        </p:nvSpPr>
        <p:spPr>
          <a:xfrm>
            <a:off x="3621024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2｜期限</a:t>
            </a:r>
          </a:p>
        </p:txBody>
      </p:sp>
      <p:sp>
        <p:nvSpPr>
          <p:cNvPr id="12" name="Gate-first ladder body"/>
          <p:cNvSpPr txBox="1"/>
          <p:nvPr/>
        </p:nvSpPr>
        <p:spPr>
          <a:xfrm>
            <a:off x="3630168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deadline：是否達標</a:t>
            </a:r>
          </a:p>
        </p:txBody>
      </p:sp>
      <p:cxnSp>
        <p:nvCxnSpPr>
          <p:cNvPr id="13" name="Gate-first connector"/>
          <p:cNvCxnSpPr/>
          <p:nvPr/>
        </p:nvCxnSpPr>
        <p:spPr>
          <a:xfrm>
            <a:off x="6071616" y="2359152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Gate-first ladder"/>
          <p:cNvSpPr/>
          <p:nvPr/>
        </p:nvSpPr>
        <p:spPr>
          <a:xfrm>
            <a:off x="6345936" y="1627632"/>
            <a:ext cx="2542032" cy="14813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Gate-first ladder heading"/>
          <p:cNvSpPr txBox="1"/>
          <p:nvPr/>
        </p:nvSpPr>
        <p:spPr>
          <a:xfrm>
            <a:off x="6473952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3｜交付</a:t>
            </a:r>
          </a:p>
        </p:txBody>
      </p:sp>
      <p:sp>
        <p:nvSpPr>
          <p:cNvPr id="16" name="Gate-first ladder body"/>
          <p:cNvSpPr txBox="1"/>
          <p:nvPr/>
        </p:nvSpPr>
        <p:spPr>
          <a:xfrm>
            <a:off x="6483096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delivery：送達／過期</a:t>
            </a:r>
          </a:p>
        </p:txBody>
      </p:sp>
      <p:cxnSp>
        <p:nvCxnSpPr>
          <p:cNvPr id="17" name="Gate-first connector"/>
          <p:cNvCxnSpPr/>
          <p:nvPr/>
        </p:nvCxnSpPr>
        <p:spPr>
          <a:xfrm>
            <a:off x="8924544" y="2359152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Gate-first ladder"/>
          <p:cNvSpPr/>
          <p:nvPr/>
        </p:nvSpPr>
        <p:spPr>
          <a:xfrm>
            <a:off x="9198863" y="1627632"/>
            <a:ext cx="2542032" cy="14813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Gate-first ladder heading"/>
          <p:cNvSpPr txBox="1"/>
          <p:nvPr/>
        </p:nvSpPr>
        <p:spPr>
          <a:xfrm>
            <a:off x="9326880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4｜端點 J</a:t>
            </a:r>
          </a:p>
        </p:txBody>
      </p:sp>
      <p:sp>
        <p:nvSpPr>
          <p:cNvPr id="20" name="Gate-first ladder body"/>
          <p:cNvSpPr txBox="1"/>
          <p:nvPr/>
        </p:nvSpPr>
        <p:spPr>
          <a:xfrm>
            <a:off x="9336024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最後看能量</a:t>
            </a:r>
          </a:p>
        </p:txBody>
      </p:sp>
      <p:sp>
        <p:nvSpPr>
          <p:cNvPr id="21" name="Debrief conclusion"/>
          <p:cNvSpPr/>
          <p:nvPr/>
        </p:nvSpPr>
        <p:spPr>
          <a:xfrm>
            <a:off x="877824" y="3547872"/>
            <a:ext cx="10387584" cy="74980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結論｜margin 5 低 J 但 gate FAIL；margin 30 恢復固定條件 gate；surprise 暴露窗口限制。</a:t>
            </a:r>
          </a:p>
        </p:txBody>
      </p:sp>
      <p:sp>
        <p:nvSpPr>
          <p:cNvPr id="22" name="Claim ceiling"/>
          <p:cNvSpPr/>
          <p:nvPr/>
        </p:nvSpPr>
        <p:spPr>
          <a:xfrm>
            <a:off x="749808" y="4882896"/>
            <a:ext cx="10698480" cy="87782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主張邊界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SIMULATED TEACHING DATA；NOT LIVE；NOT MEASURED；NOT CANONICAL-PARITY-VERIFIED。低 J 不覆蓋服務 FAIL。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網站責任：匯入、重播、保存比較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本機先產生資料；網站只驗證、重播、保存比較。</a:t>
            </a:r>
          </a:p>
        </p:txBody>
      </p:sp>
      <p:sp>
        <p:nvSpPr>
          <p:cNvPr id="6" name="Website responsibility node"/>
          <p:cNvSpPr/>
          <p:nvPr/>
        </p:nvSpPr>
        <p:spPr>
          <a:xfrm>
            <a:off x="621792" y="1627632"/>
            <a:ext cx="2395728" cy="179222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Website responsibility node heading"/>
          <p:cNvSpPr txBox="1"/>
          <p:nvPr/>
        </p:nvSpPr>
        <p:spPr>
          <a:xfrm>
            <a:off x="749808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本機 runner</a:t>
            </a:r>
          </a:p>
        </p:txBody>
      </p:sp>
      <p:sp>
        <p:nvSpPr>
          <p:cNvPr id="8" name="Website responsibility node body"/>
          <p:cNvSpPr txBox="1"/>
          <p:nvPr/>
        </p:nvSpPr>
        <p:spPr>
          <a:xfrm>
            <a:off x="758952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cxnSp>
        <p:nvCxnSpPr>
          <p:cNvPr id="9" name="Website boundary connector"/>
          <p:cNvCxnSpPr/>
          <p:nvPr/>
        </p:nvCxnSpPr>
        <p:spPr>
          <a:xfrm>
            <a:off x="3072384" y="2523744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Website responsibility node"/>
          <p:cNvSpPr/>
          <p:nvPr/>
        </p:nvSpPr>
        <p:spPr>
          <a:xfrm>
            <a:off x="3474720" y="1627632"/>
            <a:ext cx="2395728" cy="179222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Website responsibility node heading"/>
          <p:cNvSpPr txBox="1"/>
          <p:nvPr/>
        </p:nvSpPr>
        <p:spPr>
          <a:xfrm>
            <a:off x="3602736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匯入｜JSON</a:t>
            </a:r>
          </a:p>
        </p:txBody>
      </p:sp>
      <p:sp>
        <p:nvSpPr>
          <p:cNvPr id="12" name="Website responsibility node body"/>
          <p:cNvSpPr txBox="1"/>
          <p:nvPr/>
        </p:nvSpPr>
        <p:spPr>
          <a:xfrm>
            <a:off x="3611879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schema／identity／units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不執行 Python</a:t>
            </a:r>
          </a:p>
        </p:txBody>
      </p:sp>
      <p:cxnSp>
        <p:nvCxnSpPr>
          <p:cNvPr id="13" name="Website boundary connector"/>
          <p:cNvCxnSpPr/>
          <p:nvPr/>
        </p:nvCxnSpPr>
        <p:spPr>
          <a:xfrm>
            <a:off x="5925312" y="2523744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Website responsibility node"/>
          <p:cNvSpPr/>
          <p:nvPr/>
        </p:nvSpPr>
        <p:spPr>
          <a:xfrm>
            <a:off x="6327648" y="1627632"/>
            <a:ext cx="2395728" cy="179222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Website responsibility node heading"/>
          <p:cNvSpPr txBox="1"/>
          <p:nvPr/>
        </p:nvSpPr>
        <p:spPr>
          <a:xfrm>
            <a:off x="6455664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重播｜REPLAY</a:t>
            </a:r>
          </a:p>
        </p:txBody>
      </p:sp>
      <p:sp>
        <p:nvSpPr>
          <p:cNvPr id="16" name="Website responsibility node body"/>
          <p:cNvSpPr txBox="1"/>
          <p:nvPr/>
        </p:nvSpPr>
        <p:spPr>
          <a:xfrm>
            <a:off x="6464808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queue／state／packet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不重跑 policy</a:t>
            </a:r>
          </a:p>
        </p:txBody>
      </p:sp>
      <p:cxnSp>
        <p:nvCxnSpPr>
          <p:cNvPr id="17" name="Website boundary connector"/>
          <p:cNvCxnSpPr/>
          <p:nvPr/>
        </p:nvCxnSpPr>
        <p:spPr>
          <a:xfrm>
            <a:off x="8778240" y="2523744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Website responsibility node"/>
          <p:cNvSpPr/>
          <p:nvPr/>
        </p:nvSpPr>
        <p:spPr>
          <a:xfrm>
            <a:off x="9180576" y="1627632"/>
            <a:ext cx="2395728" cy="179222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Website responsibility node heading"/>
          <p:cNvSpPr txBox="1"/>
          <p:nvPr/>
        </p:nvSpPr>
        <p:spPr>
          <a:xfrm>
            <a:off x="9308592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比較｜表單</a:t>
            </a:r>
          </a:p>
        </p:txBody>
      </p:sp>
      <p:sp>
        <p:nvSpPr>
          <p:cNvPr id="20" name="Website responsibility node body"/>
          <p:cNvSpPr txBox="1"/>
          <p:nvPr/>
        </p:nvSpPr>
        <p:spPr>
          <a:xfrm>
            <a:off x="9317736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四個 role + prediction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保留來源鏈</a:t>
            </a:r>
          </a:p>
        </p:txBody>
      </p:sp>
      <p:sp>
        <p:nvSpPr>
          <p:cNvPr id="21" name="Website boundary sentence"/>
          <p:cNvSpPr/>
          <p:nvPr/>
        </p:nvSpPr>
        <p:spPr>
          <a:xfrm>
            <a:off x="877824" y="3895344"/>
            <a:ext cx="10387584" cy="64008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責任邊界｜網站只接受 JSON artifact；Python policy 與 endpoint result 留在本機 runner。</a:t>
            </a:r>
          </a:p>
        </p:txBody>
      </p:sp>
      <p:sp>
        <p:nvSpPr>
          <p:cNvPr id="22" name="Website evidence source"/>
          <p:cNvSpPr/>
          <p:nvPr/>
        </p:nvSpPr>
        <p:spPr>
          <a:xfrm>
            <a:off x="749808" y="4791456"/>
            <a:ext cx="10698480" cy="950976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57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網站讀法｜現有 browser record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 service／deadline，再讀 packet delivery／expiry，再讀 Radio／state event，最後讀 endpoint J 與 bit/J；browser accepted 不等同 live measurement，fresh runner parity 待取得。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匯入檢查：identity、units、事件逐層驗證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匯入檔案先逐層驗證；任何失敗都保留原狀。</a:t>
            </a:r>
          </a:p>
        </p:txBody>
      </p:sp>
      <p:sp>
        <p:nvSpPr>
          <p:cNvPr id="6" name="Import validation step"/>
          <p:cNvSpPr/>
          <p:nvPr/>
        </p:nvSpPr>
        <p:spPr>
          <a:xfrm>
            <a:off x="621792" y="1627632"/>
            <a:ext cx="2395728" cy="20299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Import validation step heading"/>
          <p:cNvSpPr txBox="1"/>
          <p:nvPr/>
        </p:nvSpPr>
        <p:spPr>
          <a:xfrm>
            <a:off x="749808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01–02｜檔案</a:t>
            </a:r>
          </a:p>
        </p:txBody>
      </p:sp>
      <p:sp>
        <p:nvSpPr>
          <p:cNvPr id="8" name="Import validation step body"/>
          <p:cNvSpPr txBox="1"/>
          <p:nvPr/>
        </p:nvSpPr>
        <p:spPr>
          <a:xfrm>
            <a:off x="758952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schema／scenario_id</a:t>
            </a:r>
          </a:p>
        </p:txBody>
      </p:sp>
      <p:cxnSp>
        <p:nvCxnSpPr>
          <p:cNvPr id="9" name="Validation progression"/>
          <p:cNvCxnSpPr/>
          <p:nvPr/>
        </p:nvCxnSpPr>
        <p:spPr>
          <a:xfrm>
            <a:off x="3072384" y="2642616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mport validation step"/>
          <p:cNvSpPr/>
          <p:nvPr/>
        </p:nvSpPr>
        <p:spPr>
          <a:xfrm>
            <a:off x="3474720" y="1627632"/>
            <a:ext cx="2395728" cy="202996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Import validation step heading"/>
          <p:cNvSpPr txBox="1"/>
          <p:nvPr/>
        </p:nvSpPr>
        <p:spPr>
          <a:xfrm>
            <a:off x="3602736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03–04｜來源</a:t>
            </a:r>
          </a:p>
        </p:txBody>
      </p:sp>
      <p:sp>
        <p:nvSpPr>
          <p:cNvPr id="12" name="Import validation step body"/>
          <p:cNvSpPr txBox="1"/>
          <p:nvPr/>
        </p:nvSpPr>
        <p:spPr>
          <a:xfrm>
            <a:off x="3611879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lineage／policy block</a:t>
            </a:r>
          </a:p>
        </p:txBody>
      </p:sp>
      <p:cxnSp>
        <p:nvCxnSpPr>
          <p:cNvPr id="13" name="Validation progression"/>
          <p:cNvCxnSpPr/>
          <p:nvPr/>
        </p:nvCxnSpPr>
        <p:spPr>
          <a:xfrm>
            <a:off x="5925312" y="2642616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mport validation step"/>
          <p:cNvSpPr/>
          <p:nvPr/>
        </p:nvSpPr>
        <p:spPr>
          <a:xfrm>
            <a:off x="6327648" y="1627632"/>
            <a:ext cx="2395728" cy="20299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Import validation step heading"/>
          <p:cNvSpPr txBox="1"/>
          <p:nvPr/>
        </p:nvSpPr>
        <p:spPr>
          <a:xfrm>
            <a:off x="6455664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05–06｜單位</a:t>
            </a:r>
          </a:p>
        </p:txBody>
      </p:sp>
      <p:sp>
        <p:nvSpPr>
          <p:cNvPr id="16" name="Import validation step body"/>
          <p:cNvSpPr txBox="1"/>
          <p:nvPr/>
        </p:nvSpPr>
        <p:spPr>
          <a:xfrm>
            <a:off x="6464808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energy sum／packet legality</a:t>
            </a:r>
          </a:p>
        </p:txBody>
      </p:sp>
      <p:cxnSp>
        <p:nvCxnSpPr>
          <p:cNvPr id="17" name="Validation progression"/>
          <p:cNvCxnSpPr/>
          <p:nvPr/>
        </p:nvCxnSpPr>
        <p:spPr>
          <a:xfrm>
            <a:off x="8778240" y="2642616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mport validation step"/>
          <p:cNvSpPr/>
          <p:nvPr/>
        </p:nvSpPr>
        <p:spPr>
          <a:xfrm>
            <a:off x="9180576" y="1627632"/>
            <a:ext cx="2395728" cy="20299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Import validation step heading"/>
          <p:cNvSpPr txBox="1"/>
          <p:nvPr/>
        </p:nvSpPr>
        <p:spPr>
          <a:xfrm>
            <a:off x="9308592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07｜主張</a:t>
            </a:r>
          </a:p>
        </p:txBody>
      </p:sp>
      <p:sp>
        <p:nvSpPr>
          <p:cNvPr id="20" name="Import validation step body"/>
          <p:cNvSpPr txBox="1"/>
          <p:nvPr/>
        </p:nvSpPr>
        <p:spPr>
          <a:xfrm>
            <a:off x="9317736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scope／workbook record</a:t>
            </a:r>
          </a:p>
        </p:txBody>
      </p:sp>
      <p:sp>
        <p:nvSpPr>
          <p:cNvPr id="21" name="Fail closed boundary"/>
          <p:cNvSpPr/>
          <p:nvPr/>
        </p:nvSpPr>
        <p:spPr>
          <a:xfrm>
            <a:off x="877824" y="4023360"/>
            <a:ext cx="10387584" cy="6400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FAIL CLOSED｜任一層失敗：session／workbook 不變；保存錯誤與 path，回 matching artifact。</a:t>
            </a:r>
          </a:p>
        </p:txBody>
      </p:sp>
      <p:sp>
        <p:nvSpPr>
          <p:cNvPr id="22" name="Scenario identity field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｜情境識別碼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scenario package；值型態 identifier；作用 綁定同一情境；相同才可比較，缺失或不符即停止。七層驗證完整後才 materialize replay。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事件重播：佇列 → 動作 → 狀態 → 封包 → 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畫面每一格都對應同一條事件記錄；一起讀動作與封包結果。</a:t>
            </a:r>
          </a:p>
        </p:txBody>
      </p:sp>
      <p:sp>
        <p:nvSpPr>
          <p:cNvPr id="6" name="Replay screenshot panel"/>
          <p:cNvSpPr/>
          <p:nvPr/>
        </p:nvSpPr>
        <p:spPr>
          <a:xfrm>
            <a:off x="694944" y="1609344"/>
            <a:ext cx="5522976" cy="239572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urrent replay frame crop" descr="replay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55648"/>
            <a:ext cx="5266944" cy="2066543"/>
          </a:xfrm>
          <a:prstGeom prst="rect">
            <a:avLst/>
          </a:prstGeom>
        </p:spPr>
      </p:pic>
      <p:sp>
        <p:nvSpPr>
          <p:cNvPr id="8" name="Replay causal path"/>
          <p:cNvSpPr/>
          <p:nvPr/>
        </p:nvSpPr>
        <p:spPr>
          <a:xfrm>
            <a:off x="6510528" y="1609344"/>
            <a:ext cx="4937760" cy="23957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Replay path heading"/>
          <p:cNvSpPr txBox="1"/>
          <p:nvPr/>
        </p:nvSpPr>
        <p:spPr>
          <a:xfrm>
            <a:off x="6748272" y="1792224"/>
            <a:ext cx="44622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事件讀法</a:t>
            </a:r>
          </a:p>
        </p:txBody>
      </p:sp>
      <p:sp>
        <p:nvSpPr>
          <p:cNvPr id="10" name="Replay path step"/>
          <p:cNvSpPr/>
          <p:nvPr/>
        </p:nvSpPr>
        <p:spPr>
          <a:xfrm>
            <a:off x="6821424" y="2212848"/>
            <a:ext cx="4315968" cy="5303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Queue／Action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佇列 → policy 動作</a:t>
            </a:r>
          </a:p>
        </p:txBody>
      </p:sp>
      <p:sp>
        <p:nvSpPr>
          <p:cNvPr id="11" name="Replay path step"/>
          <p:cNvSpPr/>
          <p:nvPr/>
        </p:nvSpPr>
        <p:spPr>
          <a:xfrm>
            <a:off x="6821424" y="2779776"/>
            <a:ext cx="4315968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Radio／state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狀態：SLEEP／TX／RX</a:t>
            </a:r>
          </a:p>
        </p:txBody>
      </p:sp>
      <p:sp>
        <p:nvSpPr>
          <p:cNvPr id="12" name="Replay path step"/>
          <p:cNvSpPr/>
          <p:nvPr/>
        </p:nvSpPr>
        <p:spPr>
          <a:xfrm>
            <a:off x="6821424" y="3346704"/>
            <a:ext cx="4315968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Packet／service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送達／過期 → 期限／J</a:t>
            </a:r>
          </a:p>
        </p:txBody>
      </p:sp>
      <p:sp>
        <p:nvSpPr>
          <p:cNvPr id="13" name="Replay boundary"/>
          <p:cNvSpPr/>
          <p:nvPr/>
        </p:nvSpPr>
        <p:spPr>
          <a:xfrm>
            <a:off x="877824" y="4242816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重播邊界｜讀取已驗證 event ledger，不重新執行 policy，也不在瀏覽器推導新數值。</a:t>
            </a:r>
          </a:p>
        </p:txBody>
      </p:sp>
      <p:sp>
        <p:nvSpPr>
          <p:cNvPr id="14" name="Replay fields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欄位讀法｜來源、單位、高低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：frame，count，越高待處理越多；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：policy token，對回程式分支；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：frame event，確認 SLEEP／TX／RX；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：ledger，J，越低耗能較少，但服務 FAIL 仍先保留。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Workbook：保存四個角色的來源鏈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比較紀錄把四個角色放在同一條來源鏈，方便重開核對。</a:t>
            </a:r>
          </a:p>
        </p:txBody>
      </p:sp>
      <p:sp>
        <p:nvSpPr>
          <p:cNvPr id="6" name="Ledger screenshot panel"/>
          <p:cNvSpPr/>
          <p:nvPr/>
        </p:nvSpPr>
        <p:spPr>
          <a:xfrm>
            <a:off x="694944" y="1609344"/>
            <a:ext cx="5522976" cy="239572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urrent execution ledger crop" descr="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5266944" cy="1389888"/>
          </a:xfrm>
          <a:prstGeom prst="rect">
            <a:avLst/>
          </a:prstGeom>
        </p:spPr>
      </p:pic>
      <p:sp>
        <p:nvSpPr>
          <p:cNvPr id="8" name="Ledger evidence label"/>
          <p:cNvSpPr txBox="1"/>
          <p:nvPr/>
        </p:nvSpPr>
        <p:spPr>
          <a:xfrm>
            <a:off x="877824" y="3273552"/>
            <a:ext cx="515721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current browser record｜execution ledger</a:t>
            </a:r>
          </a:p>
        </p:txBody>
      </p:sp>
      <p:sp>
        <p:nvSpPr>
          <p:cNvPr id="9" name="Workbook spread"/>
          <p:cNvSpPr/>
          <p:nvPr/>
        </p:nvSpPr>
        <p:spPr>
          <a:xfrm>
            <a:off x="6510528" y="1609344"/>
            <a:ext cx="4937760" cy="23957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Workbook spread heading"/>
          <p:cNvSpPr txBox="1"/>
          <p:nvPr/>
        </p:nvSpPr>
        <p:spPr>
          <a:xfrm>
            <a:off x="6784848" y="1792224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四個角色</a:t>
            </a:r>
          </a:p>
        </p:txBody>
      </p:sp>
      <p:sp>
        <p:nvSpPr>
          <p:cNvPr id="11" name="Workbook role"/>
          <p:cNvSpPr/>
          <p:nvPr/>
        </p:nvSpPr>
        <p:spPr>
          <a:xfrm>
            <a:off x="6803136" y="2267712"/>
            <a:ext cx="1956816" cy="5303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基準組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baseline 結果</a:t>
            </a:r>
          </a:p>
        </p:txBody>
      </p:sp>
      <p:sp>
        <p:nvSpPr>
          <p:cNvPr id="12" name="Workbook role"/>
          <p:cNvSpPr/>
          <p:nvPr/>
        </p:nvSpPr>
        <p:spPr>
          <a:xfrm>
            <a:off x="9015984" y="2267712"/>
            <a:ext cx="1956816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候選組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candidate 修改</a:t>
            </a:r>
          </a:p>
        </p:txBody>
      </p:sp>
      <p:sp>
        <p:nvSpPr>
          <p:cNvPr id="13" name="Workbook role"/>
          <p:cNvSpPr/>
          <p:nvPr/>
        </p:nvSpPr>
        <p:spPr>
          <a:xfrm>
            <a:off x="6803136" y="2962656"/>
            <a:ext cx="1956816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修訂組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revision gate</a:t>
            </a:r>
          </a:p>
        </p:txBody>
      </p:sp>
      <p:sp>
        <p:nvSpPr>
          <p:cNvPr id="14" name="Workbook role"/>
          <p:cNvSpPr/>
          <p:nvPr/>
        </p:nvSpPr>
        <p:spPr>
          <a:xfrm>
            <a:off x="9015984" y="2962656"/>
            <a:ext cx="1956816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保留組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surprise 邊界</a:t>
            </a:r>
          </a:p>
        </p:txBody>
      </p:sp>
      <p:sp>
        <p:nvSpPr>
          <p:cNvPr id="15" name="Workbook record fields"/>
          <p:cNvSpPr/>
          <p:nvPr/>
        </p:nvSpPr>
        <p:spPr>
          <a:xfrm>
            <a:off x="877824" y="4242816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比較紀錄｜保存 prediction、changed line、result_path、replay、gate、endpoint scope 與 recovery note。</a:t>
            </a:r>
          </a:p>
        </p:txBody>
      </p:sp>
      <p:sp>
        <p:nvSpPr>
          <p:cNvPr id="16" name="Workbook definition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provenance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｜來源鏈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/course workbook；值型態 saved record；作用 保存四個角色的 lineage；缺必要 evidence 就維持 INCOMPLETE，不補寫答案。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保存與重開：核對身份，不補造結果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保存、關閉、重開都先核對身份，再恢復同一條來源鏈。</a:t>
            </a:r>
          </a:p>
        </p:txBody>
      </p:sp>
      <p:sp>
        <p:nvSpPr>
          <p:cNvPr id="6" name="Reopen loop step"/>
          <p:cNvSpPr/>
          <p:nvPr/>
        </p:nvSpPr>
        <p:spPr>
          <a:xfrm>
            <a:off x="768096" y="1627632"/>
            <a:ext cx="3273552" cy="162763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open loop step heading"/>
          <p:cNvSpPr txBox="1"/>
          <p:nvPr/>
        </p:nvSpPr>
        <p:spPr>
          <a:xfrm>
            <a:off x="896112" y="170078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01｜保存 SAVE</a:t>
            </a:r>
          </a:p>
        </p:txBody>
      </p:sp>
      <p:sp>
        <p:nvSpPr>
          <p:cNvPr id="8" name="Reopen loop step body"/>
          <p:cNvSpPr txBox="1"/>
          <p:nvPr/>
        </p:nvSpPr>
        <p:spPr>
          <a:xfrm>
            <a:off x="905256" y="2121408"/>
            <a:ext cx="299923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保存預測＋結果／重播</a:t>
            </a:r>
          </a:p>
        </p:txBody>
      </p:sp>
      <p:cxnSp>
        <p:nvCxnSpPr>
          <p:cNvPr id="9" name="Reopen loop connector"/>
          <p:cNvCxnSpPr/>
          <p:nvPr/>
        </p:nvCxnSpPr>
        <p:spPr>
          <a:xfrm>
            <a:off x="4114800" y="2441448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open loop step"/>
          <p:cNvSpPr/>
          <p:nvPr/>
        </p:nvSpPr>
        <p:spPr>
          <a:xfrm>
            <a:off x="4425696" y="1627632"/>
            <a:ext cx="3273552" cy="162763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eopen loop step heading"/>
          <p:cNvSpPr txBox="1"/>
          <p:nvPr/>
        </p:nvSpPr>
        <p:spPr>
          <a:xfrm>
            <a:off x="4553712" y="170078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02｜關閉 CLOSE</a:t>
            </a:r>
          </a:p>
        </p:txBody>
      </p:sp>
      <p:sp>
        <p:nvSpPr>
          <p:cNvPr id="12" name="Reopen loop step body"/>
          <p:cNvSpPr txBox="1"/>
          <p:nvPr/>
        </p:nvSpPr>
        <p:spPr>
          <a:xfrm>
            <a:off x="4562856" y="2121408"/>
            <a:ext cx="299923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runner 檔案</a:t>
            </a:r>
          </a:p>
        </p:txBody>
      </p:sp>
      <p:cxnSp>
        <p:nvCxnSpPr>
          <p:cNvPr id="13" name="Reopen loop connector"/>
          <p:cNvCxnSpPr/>
          <p:nvPr/>
        </p:nvCxnSpPr>
        <p:spPr>
          <a:xfrm>
            <a:off x="7772400" y="2441448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open loop step"/>
          <p:cNvSpPr/>
          <p:nvPr/>
        </p:nvSpPr>
        <p:spPr>
          <a:xfrm>
            <a:off x="8083296" y="1627632"/>
            <a:ext cx="3273552" cy="162763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Reopen loop step heading"/>
          <p:cNvSpPr txBox="1"/>
          <p:nvPr/>
        </p:nvSpPr>
        <p:spPr>
          <a:xfrm>
            <a:off x="8211312" y="170078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03｜重開</a:t>
            </a:r>
          </a:p>
        </p:txBody>
      </p:sp>
      <p:sp>
        <p:nvSpPr>
          <p:cNvPr id="16" name="Reopen loop step body"/>
          <p:cNvSpPr txBox="1"/>
          <p:nvPr/>
        </p:nvSpPr>
        <p:spPr>
          <a:xfrm>
            <a:off x="8220456" y="2121408"/>
            <a:ext cx="299923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OPEN／REBIND：核對情境＋端點</a:t>
            </a:r>
          </a:p>
        </p:txBody>
      </p:sp>
      <p:sp>
        <p:nvSpPr>
          <p:cNvPr id="17" name="Reopen status"/>
          <p:cNvSpPr/>
          <p:nvPr/>
        </p:nvSpPr>
        <p:spPr>
          <a:xfrm>
            <a:off x="877824" y="3822191"/>
            <a:ext cx="10387584" cy="74980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完成度｜身份、prediction、result／replay 齊全才 COMPLETE；缺件維持 INCOMPLETE 並 recovery，不改寫 FAIL。</a:t>
            </a:r>
          </a:p>
        </p:txBody>
      </p:sp>
      <p:sp>
        <p:nvSpPr>
          <p:cNvPr id="18" name="Workbook status definition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COMPLETE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｜完成度狀態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workbook validator；值型態 status enum；作用 反映必要 evidence 是否齊全；判讀 COMPLETE 不等於 service PASS，也不等於 scientific parity。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