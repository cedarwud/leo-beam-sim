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pPr algn="l" indent="0" marL="0">
              <a:buNone/>
            </a:pPr>
            <a:r>
              <a:rPr lang="en-US" sz="33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l" indent="0" marL="0">
              <a:buNone/>
            </a:pPr>
            <a:r>
              <a:rPr lang="en-US" sz="33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pPr algn="l" indent="0" marL="0">
              <a:buNone/>
            </a:pP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312E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64748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64748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312E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64748B">
              <a:alpha val="88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312E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2E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pPr algn="l" indent="0" marL="0">
              <a:buNone/>
            </a:pP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12E8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12E8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12E8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818CF8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312E8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pPr algn="l" indent="0" marL="0">
              <a:buNone/>
            </a:pPr>
            <a:r>
              <a:rPr lang="en-US" sz="22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pPr algn="l" indent="0" marL="0">
              <a:buNone/>
            </a:pPr>
            <a:r>
              <a:rPr lang="en-US" sz="22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1856232"/>
            <a:ext cx="1325880" cy="384048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7028" y="18745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pPr algn="ctr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pPr algn="ctr" indent="0" marL="0">
              <a:buNone/>
            </a:pPr>
            <a:r>
              <a:rPr lang="en-US" sz="162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856232"/>
            <a:ext cx="21031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18745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818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92224"/>
            <a:ext cx="2157984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8105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3865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7432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56064" y="1856232"/>
            <a:ext cx="1719072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1874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ctr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pPr algn="l" indent="0" marL="0">
              <a:buNone/>
            </a:pP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3785616"/>
            <a:ext cx="1517904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3803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85616"/>
            <a:ext cx="132588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74536" y="3803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pPr algn="l" indent="0" marL="0">
              <a:buNone/>
            </a:pPr>
            <a:r>
              <a:rPr lang="en-US" sz="167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44" name="Shape 42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4809744"/>
            <a:ext cx="1865376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" y="4828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pPr algn="l" indent="0" marL="0">
              <a:buNone/>
            </a:pPr>
            <a:r>
              <a:rPr lang="en-US" sz="168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l" indent="0" marL="0">
              <a:buNone/>
            </a:pP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809744"/>
            <a:ext cx="1481328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64424" y="48280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｜把焦耳花在值得的服務上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490472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 · 69–92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182112" y="96012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有限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budget 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與短窗口下，資料何時送、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 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或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pPr algn="l" indent="0" marL="0">
              <a:buNone/>
            </a:pP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？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7498080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673352"/>
            <a:ext cx="192024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16916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六格任務板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1719072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parity 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87552" y="22219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43584" y="21396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090672" y="22219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46704" y="213969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PERIODIC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358384" y="2221992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14416" y="213969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BULK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｜大量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32688" y="2862072"/>
            <a:ext cx="1024128" cy="603504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" y="29535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984248" y="3163824"/>
            <a:ext cx="109728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21408" y="2862072"/>
            <a:ext cx="1024128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67128" y="29535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3172968" y="3163824"/>
            <a:ext cx="109728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10128" y="2862072"/>
            <a:ext cx="1024128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55848" y="29535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4361688" y="3163824"/>
            <a:ext cx="109728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98848" y="2862072"/>
            <a:ext cx="1024128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4568" y="29535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5550408" y="3163824"/>
            <a:ext cx="109728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687568" y="2862072"/>
            <a:ext cx="1024128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33288" y="29535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739128" y="3163824"/>
            <a:ext cx="109728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76288" y="2862072"/>
            <a:ext cx="1024128" cy="603504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22008" y="29535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50" dirty="0"/>
          </a:p>
        </p:txBody>
      </p:sp>
      <p:sp>
        <p:nvSpPr>
          <p:cNvPr id="34" name="Text 32"/>
          <p:cNvSpPr txBox="1"/>
          <p:nvPr/>
        </p:nvSpPr>
        <p:spPr>
          <a:xfrm>
            <a:off x="950976" y="3575304"/>
            <a:ext cx="6986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學生只改中間四格；這條排程直接成為</a:t>
            </a:r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actual timeline input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394192" y="1517904"/>
            <a:ext cx="3328416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86216" y="1673352"/>
            <a:ext cx="2944368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59368" y="169164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一次修訂，之後凍結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732520" y="213969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125712" y="2139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預測</a:t>
            </a:r>
            <a:pPr algn="l" indent="0" marL="0">
              <a:buNone/>
            </a:pPr>
            <a:r>
              <a:rPr lang="en-US" sz="172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baseline</a:t>
            </a:r>
            <a:endParaRPr lang="en-US" sz="1720" dirty="0"/>
          </a:p>
        </p:txBody>
      </p:sp>
      <p:sp>
        <p:nvSpPr>
          <p:cNvPr id="40" name="Shape 38"/>
          <p:cNvSpPr/>
          <p:nvPr/>
        </p:nvSpPr>
        <p:spPr>
          <a:xfrm>
            <a:off x="8741664" y="2496312"/>
            <a:ext cx="2395728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32520" y="25786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9125712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安排＋</a:t>
            </a:r>
            <a:pPr algn="l" indent="0" marL="0">
              <a:buNone/>
            </a:pPr>
            <a:r>
              <a:rPr lang="en-US" sz="172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</a:t>
            </a:r>
            <a:endParaRPr lang="en-US" sz="1720" dirty="0"/>
          </a:p>
        </p:txBody>
      </p:sp>
      <p:sp>
        <p:nvSpPr>
          <p:cNvPr id="43" name="Shape 41"/>
          <p:cNvSpPr/>
          <p:nvPr/>
        </p:nvSpPr>
        <p:spPr>
          <a:xfrm>
            <a:off x="8741664" y="2935224"/>
            <a:ext cx="2395728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732520" y="301752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9125712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只修一次</a:t>
            </a:r>
            <a:endParaRPr lang="en-US" sz="1720" dirty="0"/>
          </a:p>
        </p:txBody>
      </p:sp>
      <p:sp>
        <p:nvSpPr>
          <p:cNvPr id="46" name="Shape 44"/>
          <p:cNvSpPr/>
          <p:nvPr/>
        </p:nvSpPr>
        <p:spPr>
          <a:xfrm>
            <a:off x="8705088" y="3429000"/>
            <a:ext cx="2523744" cy="393192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78240" y="344728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pPr algn="ctr"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→ withheld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713232" y="4078224"/>
            <a:ext cx="11009376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62272" y="4187952"/>
            <a:ext cx="0" cy="61264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54112" y="4187952"/>
            <a:ext cx="0" cy="612648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6112" y="425196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1750" dirty="0"/>
          </a:p>
        </p:txBody>
      </p:sp>
      <p:sp>
        <p:nvSpPr>
          <p:cNvPr id="52" name="Text 50"/>
          <p:cNvSpPr txBox="1"/>
          <p:nvPr/>
        </p:nvSpPr>
        <p:spPr>
          <a:xfrm>
            <a:off x="1700784" y="415137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 · received time</a:t>
            </a:r>
            <a:endParaRPr lang="en-US" sz="1650" dirty="0"/>
          </a:p>
        </p:txBody>
      </p:sp>
      <p:sp>
        <p:nvSpPr>
          <p:cNvPr id="53" name="Text 51"/>
          <p:cNvSpPr txBox="1"/>
          <p:nvPr/>
        </p:nvSpPr>
        <p:spPr>
          <a:xfrm>
            <a:off x="4645152" y="425196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</a:t>
            </a:r>
            <a:endParaRPr lang="en-US" sz="1750" dirty="0"/>
          </a:p>
        </p:txBody>
      </p:sp>
      <p:sp>
        <p:nvSpPr>
          <p:cNvPr id="54" name="Text 52"/>
          <p:cNvSpPr txBox="1"/>
          <p:nvPr/>
        </p:nvSpPr>
        <p:spPr>
          <a:xfrm>
            <a:off x="5449824" y="4151376"/>
            <a:ext cx="2112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→ cumulative J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remaining</a:t>
            </a:r>
            <a:endParaRPr lang="en-US" sz="1650" dirty="0"/>
          </a:p>
        </p:txBody>
      </p:sp>
      <p:sp>
        <p:nvSpPr>
          <p:cNvPr id="55" name="Text 53"/>
          <p:cNvSpPr txBox="1"/>
          <p:nvPr/>
        </p:nvSpPr>
        <p:spPr>
          <a:xfrm>
            <a:off x="7936992" y="425196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557C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效率</a:t>
            </a:r>
            <a:endParaRPr lang="en-US" sz="1750" dirty="0"/>
          </a:p>
        </p:txBody>
      </p:sp>
      <p:sp>
        <p:nvSpPr>
          <p:cNvPr id="56" name="Text 54"/>
          <p:cNvSpPr txBox="1"/>
          <p:nvPr/>
        </p:nvSpPr>
        <p:spPr>
          <a:xfrm>
            <a:off x="8741664" y="4151376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bits · canonical bit/J
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不另造</a:t>
            </a:r>
            <a:pPr algn="l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ratio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713232" y="5020056"/>
            <a:ext cx="6784848" cy="70408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96112" y="51663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750" dirty="0"/>
          </a:p>
        </p:txBody>
      </p:sp>
      <p:sp>
        <p:nvSpPr>
          <p:cNvPr id="59" name="Text 57"/>
          <p:cNvSpPr txBox="1"/>
          <p:nvPr/>
        </p:nvSpPr>
        <p:spPr>
          <a:xfrm>
            <a:off x="2057400" y="5074920"/>
            <a:ext cx="5184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 miss </a:t>
            </a:r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即使</a:t>
            </a:r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bit/J </a:t>
            </a:r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上升，</a:t>
            </a:r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仍不能宣稱</a:t>
            </a:r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mission winner</a:t>
            </a:r>
            <a:pPr algn="l"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671816" y="5020056"/>
            <a:ext cx="4050792" cy="70408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854696" y="5157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750" dirty="0"/>
          </a:p>
        </p:txBody>
      </p:sp>
      <p:sp>
        <p:nvSpPr>
          <p:cNvPr id="62" name="Text 60"/>
          <p:cNvSpPr txBox="1"/>
          <p:nvPr/>
        </p:nvSpPr>
        <p:spPr>
          <a:xfrm>
            <a:off x="8906256" y="515721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合法</a:t>
            </a:r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reset → surprise alert</a:t>
            </a:r>
            <a:endParaRPr lang="en-US" sz="1650" dirty="0"/>
          </a:p>
        </p:txBody>
      </p:sp>
      <p:sp>
        <p:nvSpPr>
          <p:cNvPr id="63" name="Text 61"/>
          <p:cNvSpPr txBox="1"/>
          <p:nvPr/>
        </p:nvSpPr>
        <p:spPr>
          <a:xfrm>
            <a:off x="749808" y="57972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bit/J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3675888" y="57972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｜六格＋一次修訂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7680960" y="5797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state · parity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78308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483864" y="960120"/>
            <a:ext cx="8147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prediction score</a:t>
            </a:r>
            <a:pPr algn="l" indent="0" marL="0">
              <a:buNone/>
            </a:pPr>
            <a:r>
              <a:rPr lang="en-US" sz="21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，真的比</a:t>
            </a:r>
            <a:pPr algn="l" indent="0" marL="0">
              <a:buNone/>
            </a:pPr>
            <a:r>
              <a:rPr lang="en-US" sz="21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pPr algn="l" indent="0" marL="0">
              <a:buNone/>
            </a:pPr>
            <a:r>
              <a:rPr lang="en-US" sz="21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更能證明節能？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3520440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517904"/>
            <a:ext cx="3154680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517904"/>
            <a:ext cx="3931920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73352"/>
            <a:ext cx="315468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169164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AVAILABILITY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0976" y="2176272"/>
            <a:ext cx="54864" cy="5394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2139696"/>
            <a:ext cx="8961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現在可得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2029968" y="2139696"/>
            <a:ext cx="19019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age · contact </a:t>
            </a:r>
            <a:pPr algn="l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剩餘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50976" y="2788920"/>
            <a:ext cx="292608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2871216"/>
            <a:ext cx="54864" cy="4297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283464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需判讀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2029968" y="28346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50976" y="3374136"/>
            <a:ext cx="292608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3465576"/>
            <a:ext cx="54864" cy="5394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15568" y="3429000"/>
            <a:ext cx="8961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事後才有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2029968" y="3429000"/>
            <a:ext cx="19019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service · received time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413308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：必須看</a:t>
            </a:r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timestamp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4617720" y="1673352"/>
            <a:ext cx="278892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90872" y="1691640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A LEGAL ACTION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9696"/>
            <a:ext cx="2697480" cy="3474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36592" y="215798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NOW ✓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663440" y="2587752"/>
            <a:ext cx="2697480" cy="40233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36592" y="260604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 REJECTED ×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1280160" cy="566928"/>
          </a:xfrm>
          <a:prstGeom prst="roundRect">
            <a:avLst/>
          </a:prstGeom>
          <a:solidFill>
            <a:srgbClr val="FFFFFF"/>
          </a:solidFill>
          <a:ln w="19685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317296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｜現在送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053328" y="3154680"/>
            <a:ext cx="1307592" cy="566928"/>
          </a:xfrm>
          <a:prstGeom prst="roundRect">
            <a:avLst/>
          </a:prstGeom>
          <a:solidFill>
            <a:srgbClr val="FFFFFF"/>
          </a:solidFill>
          <a:ln w="19685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26480" y="3172968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｜等／</a:t>
            </a:r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4663440" y="3877056"/>
            <a:ext cx="2697480" cy="365760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36592" y="3895344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4233672" y="2990088"/>
            <a:ext cx="20116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89520" y="2990088"/>
            <a:ext cx="20116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973568" y="1673352"/>
            <a:ext cx="356616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169164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TRACE B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101584" y="222199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57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SCORE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101584" y="258775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模型輸出｜不進</a:t>
            </a:r>
            <a:pPr algn="ctr" indent="0" marL="0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energy formula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756648" y="2825496"/>
            <a:ext cx="0" cy="219456"/>
          </a:xfrm>
          <a:prstGeom prst="line">
            <a:avLst/>
          </a:prstGeom>
          <a:noFill/>
          <a:ln w="2159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083296" y="3136392"/>
            <a:ext cx="3346704" cy="10698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47888" y="3273552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FROZEN-ACTION EVIDENCE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8247888" y="367588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freshness · deadline</a:t>
            </a:r>
            <a:endParaRPr lang="en-US" sz="1630" dirty="0"/>
          </a:p>
          <a:p>
            <a:pPr algn="ctr" indent="0" marL="0">
              <a:buNone/>
            </a:pPr>
            <a:r>
              <a:rPr lang="en-US" sz="163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30" dirty="0"/>
          </a:p>
        </p:txBody>
      </p:sp>
      <p:sp>
        <p:nvSpPr>
          <p:cNvPr id="46" name="Shape 44"/>
          <p:cNvSpPr/>
          <p:nvPr/>
        </p:nvSpPr>
        <p:spPr>
          <a:xfrm>
            <a:off x="713232" y="4599432"/>
            <a:ext cx="6903720" cy="10424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6112" y="4791456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750" dirty="0"/>
          </a:p>
        </p:txBody>
      </p:sp>
      <p:sp>
        <p:nvSpPr>
          <p:cNvPr id="48" name="Text 46"/>
          <p:cNvSpPr txBox="1"/>
          <p:nvPr/>
        </p:nvSpPr>
        <p:spPr>
          <a:xfrm>
            <a:off x="1865376" y="4690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saving</a:t>
            </a:r>
            <a:endParaRPr lang="en-US" sz="2500" dirty="0"/>
          </a:p>
        </p:txBody>
      </p:sp>
      <p:sp>
        <p:nvSpPr>
          <p:cNvPr id="49" name="Text 47"/>
          <p:cNvSpPr txBox="1"/>
          <p:nvPr/>
        </p:nvSpPr>
        <p:spPr>
          <a:xfrm>
            <a:off x="1865376" y="5157216"/>
            <a:ext cx="5358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 → J → bounded claim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7818120" y="4599432"/>
            <a:ext cx="3904488" cy="10424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01000" y="4791456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750" dirty="0"/>
          </a:p>
        </p:txBody>
      </p:sp>
      <p:sp>
        <p:nvSpPr>
          <p:cNvPr id="52" name="Text 50"/>
          <p:cNvSpPr txBox="1"/>
          <p:nvPr/>
        </p:nvSpPr>
        <p:spPr>
          <a:xfrm>
            <a:off x="8997696" y="479145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tooltip → fallback → shift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8046720" y="523036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模擬｜非即時｜非量測</a:t>
            </a:r>
            <a:endParaRPr lang="en-US" sz="1650" dirty="0"/>
          </a:p>
        </p:txBody>
      </p:sp>
      <p:sp>
        <p:nvSpPr>
          <p:cNvPr id="54" name="Text 52"/>
          <p:cNvSpPr txBox="1"/>
          <p:nvPr/>
        </p:nvSpPr>
        <p:spPr>
          <a:xfrm>
            <a:off x="749808" y="579729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energy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3584448" y="57972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actions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7662672" y="57972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browser · parity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— four-slide style checkpoint</dc:title>
  <dc:subject>Approved two-slide donor style plus current C-120 Lab C and evidence-clinic stress tests</dc:subject>
  <dc:creator>C-120 four-slide style checkpoint</dc:creator>
  <cp:lastModifiedBy>C-120 four-slide style checkpoint</cp:lastModifiedBy>
  <cp:revision>1</cp:revision>
  <dcterms:created xsi:type="dcterms:W3CDTF">2026-08-10T13:53:44Z</dcterms:created>
  <dcterms:modified xsi:type="dcterms:W3CDTF">2026-08-10T13:53:44Z</dcterms:modified>
</cp:coreProperties>
</file>