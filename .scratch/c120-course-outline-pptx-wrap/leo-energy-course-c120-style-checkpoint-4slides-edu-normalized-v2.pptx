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44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X_WRAP_EDUCATE_CONTENT_NO_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ite template field and decorative mo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pic>
        <p:nvPicPr>
          <p:cNvPr id="6" name="Image 1" descr="Template programm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30" y="0"/>
            <a:ext cx="1981230" cy="283007"/>
          </a:xfrm>
          <a:prstGeom prst="rect">
            <a:avLst/>
          </a:prstGeom>
        </p:spPr>
      </p:pic>
      <p:pic>
        <p:nvPicPr>
          <p:cNvPr id="7" name="Image 2" descr="Template footer divi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13496"/>
            <a:ext cx="12191970" cy="21616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C-120 LEO </a:t>
            </a: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能源決策課程｜</a:t>
            </a: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3931920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TITLE · OWNER REVIEW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25880"/>
            <a:ext cx="69311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軌跡會變，</a:t>
            </a:r>
            <a:r>
              <a:rPr lang="en-US" sz="3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3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節能判斷也要會變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2951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低軌衛星情境</a:t>
            </a: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功率與時間</a:t>
            </a: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換手</a:t>
            </a: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IoT ×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 rot="480000">
            <a:off x="8805672" y="1024128"/>
            <a:ext cx="2679192" cy="1389888"/>
          </a:xfrm>
          <a:prstGeom prst="arc">
            <a:avLst/>
          </a:prstGeom>
          <a:solidFill>
            <a:srgbClr val="FFFFFF">
              <a:alpha val="0"/>
            </a:srgbClr>
          </a:solidFill>
          <a:ln w="22860">
            <a:solidFill>
              <a:srgbClr val="2DB7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4025" y="1222553"/>
            <a:ext cx="326441" cy="230429"/>
          </a:xfrm>
          <a:prstGeom prst="rect">
            <a:avLst/>
          </a:prstGeom>
          <a:solidFill>
            <a:srgbClr val="FFFFFF"/>
          </a:solidFill>
          <a:ln w="19050">
            <a:solidFill>
              <a:srgbClr val="1722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87584" y="1203350"/>
            <a:ext cx="288036" cy="268834"/>
          </a:xfrm>
          <a:prstGeom prst="rect">
            <a:avLst/>
          </a:prstGeom>
          <a:solidFill>
            <a:srgbClr val="536F87"/>
          </a:solidFill>
          <a:ln w="12700">
            <a:solidFill>
              <a:srgbClr val="1722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78870" y="1203350"/>
            <a:ext cx="288036" cy="268834"/>
          </a:xfrm>
          <a:prstGeom prst="rect">
            <a:avLst/>
          </a:prstGeom>
          <a:solidFill>
            <a:srgbClr val="536F87"/>
          </a:solidFill>
          <a:ln w="12700">
            <a:solidFill>
              <a:srgbClr val="1722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75620" y="1337767"/>
            <a:ext cx="403250" cy="0"/>
          </a:xfrm>
          <a:prstGeom prst="line">
            <a:avLst/>
          </a:prstGeom>
          <a:noFill/>
          <a:ln w="17780">
            <a:solidFill>
              <a:srgbClr val="1722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10790834" y="1491386"/>
            <a:ext cx="172822" cy="172822"/>
          </a:xfrm>
          <a:prstGeom prst="triangle">
            <a:avLst/>
          </a:prstGeom>
          <a:solidFill>
            <a:srgbClr val="536F87">
              <a:alpha val="88000"/>
            </a:srgbClr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62872" y="1984248"/>
            <a:ext cx="2039112" cy="0"/>
          </a:xfrm>
          <a:prstGeom prst="line">
            <a:avLst/>
          </a:prstGeom>
          <a:noFill/>
          <a:ln w="27940">
            <a:solidFill>
              <a:srgbClr val="1722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85219" y="1819656"/>
            <a:ext cx="265085" cy="164592"/>
          </a:xfrm>
          <a:prstGeom prst="rect">
            <a:avLst/>
          </a:prstGeom>
          <a:solidFill>
            <a:srgbClr val="17223B"/>
          </a:solidFill>
          <a:ln w="12700">
            <a:solidFill>
              <a:srgbClr val="17223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2259" y="1709928"/>
            <a:ext cx="326258" cy="274320"/>
          </a:xfrm>
          <a:prstGeom prst="rect">
            <a:avLst/>
          </a:prstGeom>
          <a:solidFill>
            <a:srgbClr val="17223B"/>
          </a:solidFill>
          <a:ln w="12700">
            <a:solidFill>
              <a:srgbClr val="17223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0864" y="1783080"/>
            <a:ext cx="367040" cy="201168"/>
          </a:xfrm>
          <a:prstGeom prst="rect">
            <a:avLst/>
          </a:prstGeom>
          <a:solidFill>
            <a:srgbClr val="17223B"/>
          </a:solidFill>
          <a:ln w="12700">
            <a:solidFill>
              <a:srgbClr val="17223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0250" y="1655064"/>
            <a:ext cx="203911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17223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55335" y="1746504"/>
            <a:ext cx="224302" cy="237744"/>
          </a:xfrm>
          <a:prstGeom prst="rect">
            <a:avLst/>
          </a:prstGeom>
          <a:solidFill>
            <a:srgbClr val="17223B"/>
          </a:solidFill>
          <a:ln w="12700">
            <a:solidFill>
              <a:srgbClr val="17223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47513" y="1527048"/>
            <a:ext cx="146304" cy="146304"/>
          </a:xfrm>
          <a:prstGeom prst="ellipse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10642" y="1600200"/>
            <a:ext cx="0" cy="384048"/>
          </a:xfrm>
          <a:prstGeom prst="line">
            <a:avLst/>
          </a:prstGeom>
          <a:noFill/>
          <a:ln w="19050">
            <a:solidFill>
              <a:srgbClr val="536F8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81160" y="20208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33104" y="2194560"/>
            <a:ext cx="2807208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22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0" y="22402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能源決策實驗室｜非專家課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2724912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 </a:t>
            </a:r>
            <a:r>
              <a:rPr lang="en-US" sz="168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分鐘核心</a:t>
            </a:r>
            <a:endParaRPr lang="en-US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99008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E3 </a:t>
            </a: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整段移除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48256" y="2679192"/>
            <a:ext cx="1627632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B7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03120" y="2752344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TLE→NTPU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721608" y="2944368"/>
            <a:ext cx="155448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922776" y="2679192"/>
            <a:ext cx="12252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B7C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77640" y="2752344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193792" y="2944368"/>
            <a:ext cx="155448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94960" y="2679192"/>
            <a:ext cx="12252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B7C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49824" y="2752344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E2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665976" y="2944368"/>
            <a:ext cx="155448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867144" y="2679192"/>
            <a:ext cx="1426464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223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22008" y="2752344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IoT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挑戰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339328" y="2944368"/>
            <a:ext cx="155448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540496" y="2679192"/>
            <a:ext cx="1426464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223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95360" y="2752344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012680" y="2944368"/>
            <a:ext cx="155448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213848" y="2679192"/>
            <a:ext cx="1508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223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268712" y="2752344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提取／緩衝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2048256" y="324612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+ 22 + 22 + 18 + 12 + 6 = 90</a:t>
            </a:r>
            <a:endParaRPr lang="en-US" sz="175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3666744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分鐘路線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39319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可拔除保留段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139696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B7C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194560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145536" y="3886200"/>
            <a:ext cx="12801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319272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B7C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374136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E1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325112" y="3886200"/>
            <a:ext cx="12801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498848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B7C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53712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E2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504688" y="3886200"/>
            <a:ext cx="12801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678424" y="3621024"/>
            <a:ext cx="164592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F73C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733288" y="3694176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F73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E3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｜條件式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370064" y="3886200"/>
            <a:ext cx="128016" cy="0"/>
          </a:xfrm>
          <a:prstGeom prst="line">
            <a:avLst/>
          </a:prstGeom>
          <a:noFill/>
          <a:ln w="22860">
            <a:solidFill>
              <a:srgbClr val="8F73C9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543800" y="3621024"/>
            <a:ext cx="97840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598664" y="3694176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IoT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8567928" y="3886200"/>
            <a:ext cx="12801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741664" y="3621024"/>
            <a:ext cx="102412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796528" y="3694176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轉移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9811512" y="3886200"/>
            <a:ext cx="12801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985248" y="3621024"/>
            <a:ext cx="9966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040112" y="3694176"/>
            <a:ext cx="886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收束</a:t>
            </a:r>
            <a:endParaRPr lang="en-US" sz="1800" dirty="0"/>
          </a:p>
        </p:txBody>
      </p:sp>
      <p:sp>
        <p:nvSpPr>
          <p:cNvPr id="66" name="Text 64"/>
          <p:cNvSpPr txBox="1"/>
          <p:nvPr/>
        </p:nvSpPr>
        <p:spPr>
          <a:xfrm>
            <a:off x="2139696" y="4197096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+ 22 + 22 + 30 + 18 + 12 + 6 = 120</a:t>
            </a:r>
            <a:endParaRPr lang="en-US" sz="1750" dirty="0"/>
          </a:p>
        </p:txBody>
      </p:sp>
      <p:sp>
        <p:nvSpPr>
          <p:cNvPr id="67" name="Shape 65"/>
          <p:cNvSpPr/>
          <p:nvPr/>
        </p:nvSpPr>
        <p:spPr>
          <a:xfrm>
            <a:off x="731520" y="4663440"/>
            <a:ext cx="10908792" cy="10698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7223B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96112" y="4855464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共同判讀骨架</a:t>
            </a:r>
            <a:endParaRPr lang="en-US" sz="1750" dirty="0"/>
          </a:p>
        </p:txBody>
      </p:sp>
      <p:sp>
        <p:nvSpPr>
          <p:cNvPr id="69" name="Text 67"/>
          <p:cNvSpPr txBox="1"/>
          <p:nvPr/>
        </p:nvSpPr>
        <p:spPr>
          <a:xfrm>
            <a:off x="2487168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2200" dirty="0"/>
          </a:p>
        </p:txBody>
      </p:sp>
      <p:sp>
        <p:nvSpPr>
          <p:cNvPr id="70" name="Text 68"/>
          <p:cNvSpPr txBox="1"/>
          <p:nvPr/>
        </p:nvSpPr>
        <p:spPr>
          <a:xfrm>
            <a:off x="2322576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當下功率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474720" y="5056632"/>
            <a:ext cx="40233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4334256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時間</a:t>
            </a:r>
            <a:endParaRPr lang="en-US" sz="2200" dirty="0"/>
          </a:p>
        </p:txBody>
      </p:sp>
      <p:sp>
        <p:nvSpPr>
          <p:cNvPr id="73" name="Text 71"/>
          <p:cNvSpPr txBox="1"/>
          <p:nvPr/>
        </p:nvSpPr>
        <p:spPr>
          <a:xfrm>
            <a:off x="4169664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累積多久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5321808" y="5056632"/>
            <a:ext cx="40233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6181344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2200" dirty="0"/>
          </a:p>
        </p:txBody>
      </p:sp>
      <p:sp>
        <p:nvSpPr>
          <p:cNvPr id="76" name="Text 74"/>
          <p:cNvSpPr txBox="1"/>
          <p:nvPr/>
        </p:nvSpPr>
        <p:spPr>
          <a:xfrm>
            <a:off x="6016752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總能源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168896" y="5056632"/>
            <a:ext cx="40233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78" name="Text 76"/>
          <p:cNvSpPr txBox="1"/>
          <p:nvPr/>
        </p:nvSpPr>
        <p:spPr>
          <a:xfrm>
            <a:off x="8028432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服務</a:t>
            </a:r>
            <a:endParaRPr lang="en-US" sz="2200" dirty="0"/>
          </a:p>
        </p:txBody>
      </p:sp>
      <p:sp>
        <p:nvSpPr>
          <p:cNvPr id="79" name="Text 77"/>
          <p:cNvSpPr txBox="1"/>
          <p:nvPr/>
        </p:nvSpPr>
        <p:spPr>
          <a:xfrm>
            <a:off x="7863840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是否合格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015984" y="5056632"/>
            <a:ext cx="40233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81" name="Text 79"/>
          <p:cNvSpPr txBox="1"/>
          <p:nvPr/>
        </p:nvSpPr>
        <p:spPr>
          <a:xfrm>
            <a:off x="9875520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bit/J</a:t>
            </a:r>
            <a:endParaRPr lang="en-US" sz="2200" dirty="0"/>
          </a:p>
        </p:txBody>
      </p:sp>
      <p:sp>
        <p:nvSpPr>
          <p:cNvPr id="82" name="Text 80"/>
          <p:cNvSpPr txBox="1"/>
          <p:nvPr/>
        </p:nvSpPr>
        <p:spPr>
          <a:xfrm>
            <a:off x="9710928" y="513892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合格邊界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內的效率</a:t>
            </a:r>
            <a:endParaRPr lang="en-US" sz="1600" dirty="0"/>
          </a:p>
        </p:txBody>
      </p:sp>
      <p:sp>
        <p:nvSpPr>
          <p:cNvPr id="83" name="Text 81"/>
          <p:cNvSpPr txBox="1"/>
          <p:nvPr/>
        </p:nvSpPr>
        <p:spPr>
          <a:xfrm>
            <a:off x="749808" y="5769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STYLE STUDY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DONOR</a:t>
            </a:r>
            <a:endParaRPr lang="en-US" sz="1600" dirty="0"/>
          </a:p>
        </p:txBody>
      </p:sp>
      <p:sp>
        <p:nvSpPr>
          <p:cNvPr id="84" name="Text 82"/>
          <p:cNvSpPr txBox="1"/>
          <p:nvPr/>
        </p:nvSpPr>
        <p:spPr>
          <a:xfrm>
            <a:off x="7333488" y="5769864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模擬教學｜非即時｜非量測｜未驗證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parity</a:t>
            </a:r>
            <a:endParaRPr lang="en-US" sz="1600" dirty="0"/>
          </a:p>
        </p:txBody>
      </p:sp>
      <p:sp>
        <p:nvSpPr>
          <p:cNvPr id="85" name="Text 83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TLE-to-NTPU</a:t>
            </a: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｜先知道場景從哪裡來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170432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993392" y="978408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核心問題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2889504" y="960120"/>
            <a:ext cx="7662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一筆精簡軌道資料，如何成為眼前可用的</a:t>
            </a: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NTPU </a:t>
            </a: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衛星場景？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762488" y="969264"/>
            <a:ext cx="10149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35640" y="101498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00–10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353312"/>
            <a:ext cx="9363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 →  ACTION  →  EVIDENCE  →  MEANING  →  RECOVERY / STATUS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1572768"/>
            <a:ext cx="10972800" cy="0"/>
          </a:xfrm>
          <a:prstGeom prst="line">
            <a:avLst/>
          </a:prstGeom>
          <a:noFill/>
          <a:ln w="13970">
            <a:solidFill>
              <a:srgbClr val="DC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DB7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3876" y="1856232"/>
            <a:ext cx="132588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DB7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67028" y="187452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B7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r>
              <a:rPr lang="en-US" sz="21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讀來源與</a:t>
            </a:r>
            <a:r>
              <a:rPr lang="en-US" sz="162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epoch</a:t>
            </a:r>
            <a:endParaRPr lang="en-US" sz="1620" dirty="0"/>
          </a:p>
        </p:txBody>
      </p:sp>
      <p:sp>
        <p:nvSpPr>
          <p:cNvPr id="16" name="Shape 14"/>
          <p:cNvSpPr/>
          <p:nvPr/>
        </p:nvSpPr>
        <p:spPr>
          <a:xfrm>
            <a:off x="3246120" y="2359152"/>
            <a:ext cx="256032" cy="0"/>
          </a:xfrm>
          <a:prstGeom prst="line">
            <a:avLst/>
          </a:prstGeom>
          <a:noFill/>
          <a:ln w="2540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66160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536F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58184" y="1856232"/>
            <a:ext cx="210312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536F8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31336" y="18745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MODEL-DERIVED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694176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位置／相對幾何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3694176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友善輸出＋單位</a:t>
            </a:r>
            <a:endParaRPr lang="en-US" sz="1620" dirty="0"/>
          </a:p>
        </p:txBody>
      </p:sp>
      <p:sp>
        <p:nvSpPr>
          <p:cNvPr id="22" name="Shape 20"/>
          <p:cNvSpPr/>
          <p:nvPr/>
        </p:nvSpPr>
        <p:spPr>
          <a:xfrm>
            <a:off x="6099048" y="2359152"/>
            <a:ext cx="256032" cy="0"/>
          </a:xfrm>
          <a:prstGeom prst="line">
            <a:avLst/>
          </a:prstGeom>
          <a:noFill/>
          <a:ln w="2540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19088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B67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792224"/>
            <a:ext cx="2157984" cy="530352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B67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56832" y="18105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B67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 ASSUMPTION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547104" y="238658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波束／流量／任務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6547104" y="27432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後續才加入</a:t>
            </a:r>
            <a:endParaRPr lang="en-US" sz="1620" dirty="0"/>
          </a:p>
        </p:txBody>
      </p:sp>
      <p:sp>
        <p:nvSpPr>
          <p:cNvPr id="28" name="Shape 26"/>
          <p:cNvSpPr/>
          <p:nvPr/>
        </p:nvSpPr>
        <p:spPr>
          <a:xfrm>
            <a:off x="8951976" y="2359152"/>
            <a:ext cx="256032" cy="0"/>
          </a:xfrm>
          <a:prstGeom prst="line">
            <a:avLst/>
          </a:prstGeom>
          <a:noFill/>
          <a:ln w="2540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272016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EA9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56064" y="1856232"/>
            <a:ext cx="1719072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EA97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29216" y="18745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 SCENE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400032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r>
              <a:rPr lang="en-US" sz="21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9400032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版本化場景起點</a:t>
            </a:r>
            <a:endParaRPr lang="en-US" sz="162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3191256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B7C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學員動作</a:t>
            </a:r>
            <a:endParaRPr lang="en-US" sz="1650" dirty="0"/>
          </a:p>
        </p:txBody>
      </p:sp>
      <p:sp>
        <p:nvSpPr>
          <p:cNvPr id="35" name="Text 33"/>
          <p:cNvSpPr txBox="1"/>
          <p:nvPr/>
        </p:nvSpPr>
        <p:spPr>
          <a:xfrm>
            <a:off x="1792224" y="3136392"/>
            <a:ext cx="9738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匯入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分類來源／推導／假設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指定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UTC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逐站查看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生成同一個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NTPU scenario</a:t>
            </a:r>
            <a:endParaRPr lang="en-US" sz="1850" dirty="0"/>
          </a:p>
        </p:txBody>
      </p:sp>
      <p:sp>
        <p:nvSpPr>
          <p:cNvPr id="36" name="Shape 34"/>
          <p:cNvSpPr/>
          <p:nvPr/>
        </p:nvSpPr>
        <p:spPr>
          <a:xfrm>
            <a:off x="713232" y="3630168"/>
            <a:ext cx="5468112" cy="832104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" y="3785616"/>
            <a:ext cx="1517904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9264" y="38039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可觀察結果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2578608" y="3730752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每站呈現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input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與單位；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最終使用同一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。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6318504" y="3630168"/>
            <a:ext cx="5404104" cy="832104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1384" y="3785616"/>
            <a:ext cx="1325880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36F8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74536" y="380390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架構界線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7973568" y="373075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7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 </a:t>
            </a:r>
            <a:r>
              <a:rPr lang="en-US" sz="167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不含波束、流量、功率或能源；這一段建立可信起點，不算節能證據。</a:t>
            </a:r>
            <a:endParaRPr lang="en-US" sz="1670" dirty="0"/>
          </a:p>
        </p:txBody>
      </p:sp>
      <p:sp>
        <p:nvSpPr>
          <p:cNvPr id="44" name="Shape 42"/>
          <p:cNvSpPr/>
          <p:nvPr/>
        </p:nvSpPr>
        <p:spPr>
          <a:xfrm>
            <a:off x="713232" y="4645152"/>
            <a:ext cx="6839712" cy="103327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112" y="4809744"/>
            <a:ext cx="1865376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EA97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9264" y="482803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能源／競賽意義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2926080" y="4773168"/>
            <a:ext cx="4361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先分清資料來源與課程假設，後續能源判斷</a:t>
            </a:r>
            <a:r>
              <a:rPr lang="en-US" sz="168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8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才不會對著無來源動畫猜答案。</a:t>
            </a:r>
            <a:endParaRPr lang="en-US" sz="1680" dirty="0"/>
          </a:p>
        </p:txBody>
      </p:sp>
      <p:sp>
        <p:nvSpPr>
          <p:cNvPr id="48" name="Shape 46"/>
          <p:cNvSpPr/>
          <p:nvPr/>
        </p:nvSpPr>
        <p:spPr>
          <a:xfrm>
            <a:off x="7708392" y="4645152"/>
            <a:ext cx="4014216" cy="103327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91272" y="4809744"/>
            <a:ext cx="148132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EA97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64424" y="48280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復原／狀態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9528048" y="473659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續接末站／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載入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fallback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9528048" y="5248656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狀態：未驗證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749808" y="5769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STYLE STUDY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DONOR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7333488" y="5769864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模擬教學｜非即時｜非量測｜未驗證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parity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C</a:t>
            </a: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｜把焦耳花在值得的服務上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490472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C · 69–92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97840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182112" y="96012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有限</a:t>
            </a:r>
            <a:r>
              <a:rPr lang="en-US" sz="20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 budget </a:t>
            </a:r>
            <a:r>
              <a:rPr lang="en-US" sz="20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與短窗口下，資料何時送、</a:t>
            </a:r>
            <a:r>
              <a:rPr lang="en-US" sz="20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</a:t>
            </a:r>
            <a:r>
              <a:rPr lang="en-US" sz="20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</a:t>
            </a:r>
            <a:r>
              <a:rPr lang="en-US" sz="20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 </a:t>
            </a:r>
            <a:r>
              <a:rPr lang="en-US" sz="20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或</a:t>
            </a:r>
            <a:r>
              <a:rPr lang="en-US" sz="20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sleep</a:t>
            </a:r>
            <a:r>
              <a:rPr lang="en-US" sz="20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？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713232" y="1517904"/>
            <a:ext cx="7498080" cy="2395728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2DB7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673352"/>
            <a:ext cx="2670048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" y="169164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六格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MISSION BOARD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45152" y="17190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SIMULATED · NOT LIVE · NOT MEASURED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2688" y="2121408"/>
            <a:ext cx="1956816" cy="51206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B67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2276856"/>
            <a:ext cx="182880" cy="182880"/>
          </a:xfrm>
          <a:prstGeom prst="ellipse">
            <a:avLst/>
          </a:prstGeom>
          <a:solidFill>
            <a:srgbClr val="EB675C"/>
          </a:solidFill>
          <a:ln w="12700">
            <a:solidFill>
              <a:srgbClr val="EB675C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98448" y="22128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URGENT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deadline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17520" y="2121408"/>
            <a:ext cx="1956816" cy="51206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EA9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27248" y="2276856"/>
            <a:ext cx="182880" cy="182880"/>
          </a:xfrm>
          <a:prstGeom prst="ellipse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2128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PERIODIC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freshness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02352" y="2121408"/>
            <a:ext cx="1956816" cy="51206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536F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2276856"/>
            <a:ext cx="182880" cy="182880"/>
          </a:xfrm>
          <a:prstGeom prst="ellipse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68112" y="22128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BULK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｜大量資料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2688" y="2862072"/>
            <a:ext cx="1042416" cy="603504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6657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r>
              <a:rPr lang="en-US" sz="1600" b="1" dirty="0">
                <a:solidFill>
                  <a:srgbClr val="5665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56657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窗口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048256" y="2862072"/>
            <a:ext cx="1042416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2DB7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93976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63824" y="2862072"/>
            <a:ext cx="1042416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2DB7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09544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79392" y="2862072"/>
            <a:ext cx="1042416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2DB7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25112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94960" y="2862072"/>
            <a:ext cx="1042416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2DB7C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40680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SLEEP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10528" y="2862072"/>
            <a:ext cx="1042416" cy="603504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56248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6657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r>
              <a:rPr lang="en-US" sz="1600" b="1" dirty="0">
                <a:solidFill>
                  <a:srgbClr val="5665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56657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窗口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50976" y="3584448"/>
            <a:ext cx="6986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學員排程直接成為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actual timeline input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8394192" y="1517904"/>
            <a:ext cx="3328416" cy="2395728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2DB7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86216" y="1673352"/>
            <a:ext cx="2944368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59368" y="169164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一次修訂，之後凍結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705088" y="2112264"/>
            <a:ext cx="2523744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36F8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78240" y="2130552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｜預測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baseline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966960" y="2450592"/>
            <a:ext cx="0" cy="73152"/>
          </a:xfrm>
          <a:prstGeom prst="line">
            <a:avLst/>
          </a:prstGeom>
          <a:noFill/>
          <a:ln w="1905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705088" y="2551176"/>
            <a:ext cx="2523744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B7C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78240" y="2569464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｜安排＋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966960" y="2889504"/>
            <a:ext cx="0" cy="73152"/>
          </a:xfrm>
          <a:prstGeom prst="line">
            <a:avLst/>
          </a:prstGeom>
          <a:noFill/>
          <a:ln w="1905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705088" y="2990088"/>
            <a:ext cx="2523744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B7C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778240" y="300837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｜只修一次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966960" y="3328416"/>
            <a:ext cx="0" cy="73152"/>
          </a:xfrm>
          <a:prstGeom prst="line">
            <a:avLst/>
          </a:prstGeom>
          <a:noFill/>
          <a:ln w="1905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705088" y="3429000"/>
            <a:ext cx="2523744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B675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778240" y="3447288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B67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r>
              <a:rPr lang="en-US" sz="1600" b="1" dirty="0">
                <a:solidFill>
                  <a:srgbClr val="EB675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EB67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→ withheld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13232" y="4078224"/>
            <a:ext cx="3840480" cy="8321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2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9536" y="4233672"/>
            <a:ext cx="841248" cy="320040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32688" y="425196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服務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1847088" y="416052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service_pass · deadline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freshness · received time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663440" y="4078224"/>
            <a:ext cx="3108960" cy="8321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2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9744" y="4233672"/>
            <a:ext cx="841248" cy="320040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882896" y="425196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5797296" y="4160520"/>
            <a:ext cx="1847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 → cumulative J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budget remaining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882128" y="4078224"/>
            <a:ext cx="3840480" cy="8321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2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28432" y="4233672"/>
            <a:ext cx="841248" cy="320040"/>
          </a:xfrm>
          <a:prstGeom prst="roundRect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101584" y="425196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效率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9015984" y="416052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delivered bits
canonical bit/J
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不另造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ratio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13232" y="5020056"/>
            <a:ext cx="6784848" cy="7040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B67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96112" y="5148072"/>
            <a:ext cx="960120" cy="310896"/>
          </a:xfrm>
          <a:prstGeom prst="roundRect">
            <a:avLst/>
          </a:prstGeom>
          <a:solidFill>
            <a:srgbClr val="EB675C"/>
          </a:solidFill>
          <a:ln w="12700">
            <a:solidFill>
              <a:srgbClr val="EB675C">
                <a:alpha val="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69264" y="5166360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判讀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2057400" y="5074920"/>
            <a:ext cx="5184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urgent miss </a:t>
            </a: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即使</a:t>
            </a: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bit/J </a:t>
            </a: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上升，</a:t>
            </a: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仍不能宣稱</a:t>
            </a: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mission winner</a:t>
            </a: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。</a:t>
            </a:r>
            <a:endParaRPr lang="en-US" sz="1700" dirty="0"/>
          </a:p>
        </p:txBody>
      </p:sp>
      <p:sp>
        <p:nvSpPr>
          <p:cNvPr id="63" name="Shape 61"/>
          <p:cNvSpPr/>
          <p:nvPr/>
        </p:nvSpPr>
        <p:spPr>
          <a:xfrm>
            <a:off x="7671816" y="5020056"/>
            <a:ext cx="4050792" cy="7040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54696" y="5138928"/>
            <a:ext cx="1005840" cy="3108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EA97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927848" y="515721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</a:t>
            </a:r>
            <a:endParaRPr lang="en-US" sz="1600" dirty="0"/>
          </a:p>
        </p:txBody>
      </p:sp>
      <p:sp>
        <p:nvSpPr>
          <p:cNvPr id="66" name="Text 64"/>
          <p:cNvSpPr txBox="1"/>
          <p:nvPr/>
        </p:nvSpPr>
        <p:spPr>
          <a:xfrm>
            <a:off x="9034272" y="51572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合法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reset → surprise alert</a:t>
            </a:r>
            <a:endParaRPr lang="en-US" sz="1600" dirty="0"/>
          </a:p>
        </p:txBody>
      </p:sp>
      <p:sp>
        <p:nvSpPr>
          <p:cNvPr id="67" name="Text 65"/>
          <p:cNvSpPr txBox="1"/>
          <p:nvPr/>
        </p:nvSpPr>
        <p:spPr>
          <a:xfrm>
            <a:off x="749808" y="579729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B7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r>
              <a:rPr lang="en-US" sz="1600" b="1" dirty="0">
                <a:solidFill>
                  <a:srgbClr val="2DB7C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2DB7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canonical bit/J</a:t>
            </a:r>
            <a:endParaRPr lang="en-US" sz="1600" dirty="0"/>
          </a:p>
        </p:txBody>
      </p:sp>
      <p:sp>
        <p:nvSpPr>
          <p:cNvPr id="68" name="Text 66"/>
          <p:cNvSpPr txBox="1"/>
          <p:nvPr/>
        </p:nvSpPr>
        <p:spPr>
          <a:xfrm>
            <a:off x="3675888" y="579729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｜六格＋一次修訂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7680960" y="579729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timing · state · parity</a:t>
            </a:r>
            <a:endParaRPr lang="en-US" sz="1600" dirty="0"/>
          </a:p>
        </p:txBody>
      </p:sp>
      <p:sp>
        <p:nvSpPr>
          <p:cNvPr id="70" name="Text 68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clinic</a:t>
            </a: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is not saving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783080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 · 92–106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679192" y="97840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B7C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483864" y="960120"/>
            <a:ext cx="8147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 prediction score</a:t>
            </a:r>
            <a:r>
              <a:rPr lang="en-US" sz="21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，真的比</a:t>
            </a:r>
            <a:r>
              <a:rPr lang="en-US" sz="21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78% </a:t>
            </a:r>
            <a:r>
              <a:rPr lang="en-US" sz="21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更能證明節能？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713232" y="1517904"/>
            <a:ext cx="3657600" cy="2898648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2DB7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3712" y="1517904"/>
            <a:ext cx="2834640" cy="28986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36F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71232" y="1517904"/>
            <a:ext cx="4151376" cy="2898648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EA9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682496"/>
            <a:ext cx="3291840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" y="1700784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AVAILABILITY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2688" y="2121408"/>
            <a:ext cx="3218688" cy="30175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2DB7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2139696"/>
            <a:ext cx="3072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queue age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｜現在可得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2688" y="2487168"/>
            <a:ext cx="3218688" cy="30175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2DB7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2505456"/>
            <a:ext cx="3072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contact 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剩餘｜現在可得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2688" y="2852928"/>
            <a:ext cx="3218688" cy="30175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536F8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2871216"/>
            <a:ext cx="3072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timestamp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｜需判讀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3218688"/>
            <a:ext cx="3218688" cy="30175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EB67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236976"/>
            <a:ext cx="3072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B67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service</a:t>
            </a:r>
            <a:r>
              <a:rPr lang="en-US" sz="1600" b="1" dirty="0">
                <a:solidFill>
                  <a:srgbClr val="EB675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｜事後才有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2688" y="3584448"/>
            <a:ext cx="3218688" cy="30175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EB67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3602736"/>
            <a:ext cx="3072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B67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received time</a:t>
            </a:r>
            <a:r>
              <a:rPr lang="en-US" sz="1600" b="1" dirty="0">
                <a:solidFill>
                  <a:srgbClr val="EB675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｜事後才有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" y="4014216"/>
            <a:ext cx="3182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borderline</a:t>
            </a: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：必須看</a:t>
            </a: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timestamp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63440" y="1645920"/>
            <a:ext cx="2615184" cy="53035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36592" y="166420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LEGAL ACTION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63440" y="2276856"/>
            <a:ext cx="2615184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36592" y="22951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 NOW 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63440" y="2724912"/>
            <a:ext cx="2615184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B675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6592" y="27432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B67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LEAKAGE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B67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REJECTED 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63440" y="3310128"/>
            <a:ext cx="1097280" cy="52120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DB7C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27448" y="3438144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｜現在送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52160" y="3310128"/>
            <a:ext cx="1426464" cy="52120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DB7C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16168" y="343814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｜等／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663440" y="3922776"/>
            <a:ext cx="2615184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36592" y="39410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ONE ACTION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70832" y="3108960"/>
            <a:ext cx="182880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88352" y="3108960"/>
            <a:ext cx="182880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754112" y="1682496"/>
            <a:ext cx="3785616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27264" y="1700784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CHRONOLOGICAL TRACE B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772400" y="2121408"/>
            <a:ext cx="3749040" cy="7863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36F8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10144" y="2231136"/>
            <a:ext cx="3273552" cy="3108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36F8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83296" y="22494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SCORE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010144" y="2624328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模型輸出｜不進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energy formula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772400" y="3108960"/>
            <a:ext cx="3749040" cy="1078992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EA97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10144" y="3255264"/>
            <a:ext cx="3273552" cy="320040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83296" y="3273552"/>
            <a:ext cx="3127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FROZEN-ACTION EVIDENCE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8010144" y="3685032"/>
            <a:ext cx="3273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service_pass · freshness · deadline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consumed J · delivered bits · bit/J</a:t>
            </a:r>
            <a:endParaRPr lang="en-US" sz="1620" dirty="0"/>
          </a:p>
        </p:txBody>
      </p:sp>
      <p:sp>
        <p:nvSpPr>
          <p:cNvPr id="47" name="Shape 45"/>
          <p:cNvSpPr/>
          <p:nvPr/>
        </p:nvSpPr>
        <p:spPr>
          <a:xfrm>
            <a:off x="713232" y="4599432"/>
            <a:ext cx="6812280" cy="1042416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DB7C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6112" y="4764024"/>
            <a:ext cx="960120" cy="320040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69264" y="4782312"/>
            <a:ext cx="813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判讀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2048256" y="470916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≠ saving</a:t>
            </a:r>
            <a:endParaRPr lang="en-US" sz="2200" dirty="0"/>
          </a:p>
        </p:txBody>
      </p:sp>
      <p:sp>
        <p:nvSpPr>
          <p:cNvPr id="51" name="Text 49"/>
          <p:cNvSpPr txBox="1"/>
          <p:nvPr/>
        </p:nvSpPr>
        <p:spPr>
          <a:xfrm>
            <a:off x="2048256" y="513892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→ action → service → J → bounded claim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7717536" y="4599432"/>
            <a:ext cx="4005072" cy="1042416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EA9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00416" y="4764024"/>
            <a:ext cx="1005840" cy="320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EA97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973568" y="4782312"/>
            <a:ext cx="859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9079992" y="48006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tooltip → fallback → shift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7936992" y="52303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模擬｜非即時｜非量測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749808" y="5797296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B7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r>
              <a:rPr lang="en-US" sz="1600" b="1" dirty="0">
                <a:solidFill>
                  <a:srgbClr val="2DB7C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2DB7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≠ energy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3584448" y="5797296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borderline</a:t>
            </a: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＋</a:t>
            </a: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actions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7662672" y="579729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timing · browser · parity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標楷體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標楷體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Office PowerPoint</Application>
  <PresentationFormat>寬螢幕</PresentationFormat>
  <Paragraphs>147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標楷體</vt:lpstr>
      <vt:lpstr>Arial</vt:lpstr>
      <vt:lpstr>Times New Roman</vt:lpstr>
      <vt:lpstr>Office Theme</vt:lpstr>
      <vt:lpstr>PowerPoint 簡報</vt:lpstr>
      <vt:lpstr>PowerPoint 簡報</vt:lpstr>
      <vt:lpstr>PowerPoint 簡報</vt:lpstr>
      <vt:lpstr>PowerPoint 簡報</vt:lpstr>
    </vt:vector>
  </TitlesOfParts>
  <Company>C-120 course planning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LEO energy course — four-slide style checkpoint</dc:title>
  <dc:subject>Approved two-slide donor style plus current C-120 Lab C and evidence-clinic stress tests</dc:subject>
  <dc:creator>C-120 four-slide style checkpoint</dc:creator>
  <cp:lastModifiedBy>柏宏 吳</cp:lastModifiedBy>
  <cp:revision>1</cp:revision>
  <dcterms:created xsi:type="dcterms:W3CDTF">2026-08-10T11:23:03Z</dcterms:created>
  <dcterms:modified xsi:type="dcterms:W3CDTF">2026-08-10T11:23:44Z</dcterms:modified>
</cp:coreProperties>
</file>