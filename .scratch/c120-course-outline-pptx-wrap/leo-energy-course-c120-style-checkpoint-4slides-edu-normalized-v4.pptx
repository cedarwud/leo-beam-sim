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949884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PTX_WRAP_EDUCATE_CONTENT_NO_PLACEHOLD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White template field and decorative mot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7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rgbClr val="35377F"/>
            </a:solidFill>
            <a:prstDash val="solid"/>
          </a:ln>
        </p:spPr>
      </p:sp>
      <p:pic>
        <p:nvPicPr>
          <p:cNvPr id="6" name="Image 1" descr="Template programme logo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0830" y="0"/>
            <a:ext cx="1981230" cy="283007"/>
          </a:xfrm>
          <a:prstGeom prst="rect">
            <a:avLst/>
          </a:prstGeom>
        </p:spPr>
      </p:pic>
      <p:pic>
        <p:nvPicPr>
          <p:cNvPr id="7" name="Image 2" descr="Template footer divider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6113496"/>
            <a:ext cx="12191970" cy="216164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C-120 LEO 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能源決策課程｜</a:t>
            </a: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Phase 0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393192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378561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WORKING TITLE · OWNER REVIEW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713232" y="1325880"/>
            <a:ext cx="6931152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3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軌跡會變，</a:t>
            </a:r>
            <a:r>
              <a:rPr lang="en-US" sz="33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33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節能判斷也要會變</a:t>
            </a:r>
            <a:endParaRPr lang="en-US" sz="3300" dirty="0"/>
          </a:p>
        </p:txBody>
      </p:sp>
      <p:sp>
        <p:nvSpPr>
          <p:cNvPr id="6" name="Text 4"/>
          <p:cNvSpPr txBox="1"/>
          <p:nvPr/>
        </p:nvSpPr>
        <p:spPr>
          <a:xfrm>
            <a:off x="740664" y="2295144"/>
            <a:ext cx="7955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低軌衛星情境</a:t>
            </a: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功率與時間</a:t>
            </a: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換手</a:t>
            </a:r>
            <a:r>
              <a:rPr lang="en-US" sz="18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× IoT × </a:t>
            </a:r>
            <a:r>
              <a:rPr lang="en-US" sz="18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 rot="480000">
            <a:off x="8805672" y="1024128"/>
            <a:ext cx="2679192" cy="1389888"/>
          </a:xfrm>
          <a:prstGeom prst="arc">
            <a:avLst/>
          </a:prstGeom>
          <a:solidFill>
            <a:srgbClr val="FFFFFF">
              <a:alpha val="0"/>
            </a:srgbClr>
          </a:solidFill>
          <a:ln w="22860">
            <a:solidFill>
              <a:srgbClr val="4F46E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714025" y="1222553"/>
            <a:ext cx="326441" cy="230429"/>
          </a:xfrm>
          <a:prstGeom prst="rect">
            <a:avLst/>
          </a:prstGeom>
          <a:solidFill>
            <a:srgbClr val="FFFFFF"/>
          </a:solidFill>
          <a:ln w="19050">
            <a:solidFill>
              <a:srgbClr val="312E8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387584" y="1203350"/>
            <a:ext cx="288036" cy="268834"/>
          </a:xfrm>
          <a:prstGeom prst="rect">
            <a:avLst/>
          </a:prstGeom>
          <a:solidFill>
            <a:srgbClr val="64748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078870" y="1203350"/>
            <a:ext cx="288036" cy="268834"/>
          </a:xfrm>
          <a:prstGeom prst="rect">
            <a:avLst/>
          </a:prstGeom>
          <a:solidFill>
            <a:srgbClr val="64748B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10675620" y="1337767"/>
            <a:ext cx="403250" cy="0"/>
          </a:xfrm>
          <a:prstGeom prst="line">
            <a:avLst/>
          </a:prstGeom>
          <a:noFill/>
          <a:ln w="17780">
            <a:solidFill>
              <a:srgbClr val="312E81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 rot="10800000">
            <a:off x="10790834" y="1491386"/>
            <a:ext cx="172822" cy="172822"/>
          </a:xfrm>
          <a:prstGeom prst="triangle">
            <a:avLst/>
          </a:prstGeom>
          <a:solidFill>
            <a:srgbClr val="64748B">
              <a:alpha val="88000"/>
            </a:srgbClr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9262872" y="1984248"/>
            <a:ext cx="2039112" cy="0"/>
          </a:xfrm>
          <a:prstGeom prst="line">
            <a:avLst/>
          </a:prstGeom>
          <a:noFill/>
          <a:ln w="27940">
            <a:solidFill>
              <a:srgbClr val="312E8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385219" y="1819656"/>
            <a:ext cx="265085" cy="164592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752259" y="1709928"/>
            <a:ext cx="326258" cy="27432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0200864" y="1783080"/>
            <a:ext cx="367040" cy="201168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0690250" y="1655064"/>
            <a:ext cx="203911" cy="32918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0955335" y="1746504"/>
            <a:ext cx="224302" cy="237744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547513" y="1527048"/>
            <a:ext cx="146304" cy="146304"/>
          </a:xfrm>
          <a:prstGeom prst="ellipse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710642" y="1600200"/>
            <a:ext cx="0" cy="384048"/>
          </a:xfrm>
          <a:prstGeom prst="line">
            <a:avLst/>
          </a:prstGeom>
          <a:noFill/>
          <a:ln w="19050">
            <a:solidFill>
              <a:srgbClr val="64748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281160" y="2020824"/>
            <a:ext cx="7315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8833104" y="2194560"/>
            <a:ext cx="2807208" cy="34747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8961120" y="2240280"/>
            <a:ext cx="25420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能源決策實驗室｜非專家課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731520" y="2724912"/>
            <a:ext cx="1225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90 </a:t>
            </a: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分鐘核心</a:t>
            </a:r>
            <a:endParaRPr lang="en-US" sz="1680" dirty="0"/>
          </a:p>
        </p:txBody>
      </p:sp>
      <p:sp>
        <p:nvSpPr>
          <p:cNvPr id="25" name="Text 23"/>
          <p:cNvSpPr txBox="1"/>
          <p:nvPr/>
        </p:nvSpPr>
        <p:spPr>
          <a:xfrm>
            <a:off x="731520" y="2990088"/>
            <a:ext cx="13533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E3 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整段移除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2048256" y="2679192"/>
            <a:ext cx="1627632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2103120" y="2752344"/>
            <a:ext cx="15179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TLE→NTPU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3721608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3922776" y="2679192"/>
            <a:ext cx="1225296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3977640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31" name="Shape 29"/>
          <p:cNvSpPr/>
          <p:nvPr/>
        </p:nvSpPr>
        <p:spPr>
          <a:xfrm>
            <a:off x="5193792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5394960" y="2679192"/>
            <a:ext cx="1225296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5449824" y="2752344"/>
            <a:ext cx="11155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6665976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867144" y="2679192"/>
            <a:ext cx="1426464" cy="53035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922008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挑戰</a:t>
            </a:r>
            <a:endParaRPr lang="en-US" sz="1800" dirty="0"/>
          </a:p>
        </p:txBody>
      </p:sp>
      <p:sp>
        <p:nvSpPr>
          <p:cNvPr id="37" name="Shape 35"/>
          <p:cNvSpPr/>
          <p:nvPr/>
        </p:nvSpPr>
        <p:spPr>
          <a:xfrm>
            <a:off x="8339328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540496" y="2679192"/>
            <a:ext cx="1426464" cy="53035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595360" y="2752344"/>
            <a:ext cx="131673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競賽轉移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10012680" y="2944368"/>
            <a:ext cx="155448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1" name="Shape 39"/>
          <p:cNvSpPr/>
          <p:nvPr/>
        </p:nvSpPr>
        <p:spPr>
          <a:xfrm>
            <a:off x="10213848" y="2679192"/>
            <a:ext cx="1508760" cy="530352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10268712" y="2752344"/>
            <a:ext cx="139903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提取／緩衝</a:t>
            </a:r>
            <a:endParaRPr lang="en-US" sz="1800" dirty="0"/>
          </a:p>
        </p:txBody>
      </p:sp>
      <p:sp>
        <p:nvSpPr>
          <p:cNvPr id="43" name="Text 41"/>
          <p:cNvSpPr txBox="1"/>
          <p:nvPr/>
        </p:nvSpPr>
        <p:spPr>
          <a:xfrm>
            <a:off x="2048256" y="3246120"/>
            <a:ext cx="9052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+ 18 + 12 + 6 = 90</a:t>
            </a:r>
            <a:endParaRPr lang="en-US" sz="1750" dirty="0"/>
          </a:p>
        </p:txBody>
      </p:sp>
      <p:sp>
        <p:nvSpPr>
          <p:cNvPr id="44" name="Text 42"/>
          <p:cNvSpPr txBox="1"/>
          <p:nvPr/>
        </p:nvSpPr>
        <p:spPr>
          <a:xfrm>
            <a:off x="731520" y="3666744"/>
            <a:ext cx="135331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120 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分鐘路線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31520" y="3931920"/>
            <a:ext cx="12984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可拔除保留段</a:t>
            </a:r>
            <a:endParaRPr lang="en-US" sz="1600" dirty="0"/>
          </a:p>
        </p:txBody>
      </p:sp>
      <p:sp>
        <p:nvSpPr>
          <p:cNvPr id="46" name="Shape 44"/>
          <p:cNvSpPr/>
          <p:nvPr/>
        </p:nvSpPr>
        <p:spPr>
          <a:xfrm>
            <a:off x="2139696" y="3621024"/>
            <a:ext cx="960120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2194560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3145536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9" name="Shape 47"/>
          <p:cNvSpPr/>
          <p:nvPr/>
        </p:nvSpPr>
        <p:spPr>
          <a:xfrm>
            <a:off x="3319272" y="3621024"/>
            <a:ext cx="960120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3374136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E1</a:t>
            </a:r>
            <a:endParaRPr lang="en-US" sz="1800" dirty="0"/>
          </a:p>
        </p:txBody>
      </p:sp>
      <p:sp>
        <p:nvSpPr>
          <p:cNvPr id="51" name="Shape 49"/>
          <p:cNvSpPr/>
          <p:nvPr/>
        </p:nvSpPr>
        <p:spPr>
          <a:xfrm>
            <a:off x="4325112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2" name="Shape 50"/>
          <p:cNvSpPr/>
          <p:nvPr/>
        </p:nvSpPr>
        <p:spPr>
          <a:xfrm>
            <a:off x="4498848" y="3621024"/>
            <a:ext cx="960120" cy="530352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4553712" y="3694176"/>
            <a:ext cx="8503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E2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504688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55" name="Shape 53"/>
          <p:cNvSpPr/>
          <p:nvPr/>
        </p:nvSpPr>
        <p:spPr>
          <a:xfrm>
            <a:off x="5678424" y="3621024"/>
            <a:ext cx="1645920" cy="530352"/>
          </a:xfrm>
          <a:prstGeom prst="roundRect">
            <a:avLst/>
          </a:prstGeom>
          <a:solidFill>
            <a:srgbClr val="F3F0FF"/>
          </a:solidFill>
          <a:ln w="22860">
            <a:solidFill>
              <a:srgbClr val="6557C8"/>
            </a:solidFill>
            <a:prstDash val="dash"/>
          </a:ln>
        </p:spPr>
      </p:sp>
      <p:sp>
        <p:nvSpPr>
          <p:cNvPr id="56" name="Text 54"/>
          <p:cNvSpPr txBox="1"/>
          <p:nvPr/>
        </p:nvSpPr>
        <p:spPr>
          <a:xfrm>
            <a:off x="5733288" y="3694176"/>
            <a:ext cx="153619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30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E3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｜條件式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7370064" y="3886200"/>
            <a:ext cx="128016" cy="0"/>
          </a:xfrm>
          <a:prstGeom prst="line">
            <a:avLst/>
          </a:prstGeom>
          <a:noFill/>
          <a:ln w="22860">
            <a:solidFill>
              <a:srgbClr val="6557C8"/>
            </a:solidFill>
            <a:prstDash val="solid"/>
            <a:headEnd type="none"/>
            <a:tailEnd type="triangle"/>
          </a:ln>
        </p:spPr>
      </p:sp>
      <p:sp>
        <p:nvSpPr>
          <p:cNvPr id="58" name="Shape 56"/>
          <p:cNvSpPr/>
          <p:nvPr/>
        </p:nvSpPr>
        <p:spPr>
          <a:xfrm>
            <a:off x="7543800" y="3621024"/>
            <a:ext cx="978408" cy="530352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7598664" y="3694176"/>
            <a:ext cx="86868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18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IoT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8567928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61" name="Shape 59"/>
          <p:cNvSpPr/>
          <p:nvPr/>
        </p:nvSpPr>
        <p:spPr>
          <a:xfrm>
            <a:off x="8741664" y="3621024"/>
            <a:ext cx="1024128" cy="530352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8796528" y="3694176"/>
            <a:ext cx="91440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12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轉移</a:t>
            </a:r>
            <a:endParaRPr lang="en-US" sz="1800" dirty="0"/>
          </a:p>
        </p:txBody>
      </p:sp>
      <p:sp>
        <p:nvSpPr>
          <p:cNvPr id="63" name="Shape 61"/>
          <p:cNvSpPr/>
          <p:nvPr/>
        </p:nvSpPr>
        <p:spPr>
          <a:xfrm>
            <a:off x="9811512" y="3886200"/>
            <a:ext cx="12801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64" name="Shape 62"/>
          <p:cNvSpPr/>
          <p:nvPr/>
        </p:nvSpPr>
        <p:spPr>
          <a:xfrm>
            <a:off x="9985248" y="3621024"/>
            <a:ext cx="996696" cy="530352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10040112" y="3694176"/>
            <a:ext cx="88696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r>
              <a:rPr lang="en-US" sz="16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</a:t>
            </a:r>
            <a:r>
              <a:rPr lang="en-US" sz="16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收束</a:t>
            </a:r>
            <a:endParaRPr lang="en-US" sz="1800" dirty="0"/>
          </a:p>
        </p:txBody>
      </p:sp>
      <p:sp>
        <p:nvSpPr>
          <p:cNvPr id="66" name="Text 64"/>
          <p:cNvSpPr txBox="1"/>
          <p:nvPr/>
        </p:nvSpPr>
        <p:spPr>
          <a:xfrm>
            <a:off x="2139696" y="4197096"/>
            <a:ext cx="89611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10 + 22 + 22 + 30 + 18 + 12 + 6 = 120</a:t>
            </a:r>
            <a:endParaRPr lang="en-US" sz="1750" dirty="0"/>
          </a:p>
        </p:txBody>
      </p:sp>
      <p:sp>
        <p:nvSpPr>
          <p:cNvPr id="67" name="Shape 65"/>
          <p:cNvSpPr/>
          <p:nvPr/>
        </p:nvSpPr>
        <p:spPr>
          <a:xfrm>
            <a:off x="731520" y="4663440"/>
            <a:ext cx="10908792" cy="10698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68" name="Text 66"/>
          <p:cNvSpPr txBox="1"/>
          <p:nvPr/>
        </p:nvSpPr>
        <p:spPr>
          <a:xfrm>
            <a:off x="896112" y="4855464"/>
            <a:ext cx="14996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共同判讀骨架</a:t>
            </a:r>
            <a:endParaRPr lang="en-US" sz="1750" dirty="0"/>
          </a:p>
        </p:txBody>
      </p:sp>
      <p:sp>
        <p:nvSpPr>
          <p:cNvPr id="69" name="Text 67"/>
          <p:cNvSpPr txBox="1"/>
          <p:nvPr/>
        </p:nvSpPr>
        <p:spPr>
          <a:xfrm>
            <a:off x="2487168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</a:t>
            </a:r>
            <a:endParaRPr lang="en-US" sz="2200" dirty="0"/>
          </a:p>
        </p:txBody>
      </p:sp>
      <p:sp>
        <p:nvSpPr>
          <p:cNvPr id="70" name="Text 68"/>
          <p:cNvSpPr txBox="1"/>
          <p:nvPr/>
        </p:nvSpPr>
        <p:spPr>
          <a:xfrm>
            <a:off x="2322576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當下功率</a:t>
            </a:r>
            <a:endParaRPr lang="en-US" sz="1600" dirty="0"/>
          </a:p>
        </p:txBody>
      </p:sp>
      <p:sp>
        <p:nvSpPr>
          <p:cNvPr id="71" name="Shape 69"/>
          <p:cNvSpPr/>
          <p:nvPr/>
        </p:nvSpPr>
        <p:spPr>
          <a:xfrm>
            <a:off x="3474720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2" name="Text 70"/>
          <p:cNvSpPr txBox="1"/>
          <p:nvPr/>
        </p:nvSpPr>
        <p:spPr>
          <a:xfrm>
            <a:off x="4334256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時間</a:t>
            </a:r>
            <a:endParaRPr lang="en-US" sz="2200" dirty="0"/>
          </a:p>
        </p:txBody>
      </p:sp>
      <p:sp>
        <p:nvSpPr>
          <p:cNvPr id="73" name="Text 71"/>
          <p:cNvSpPr txBox="1"/>
          <p:nvPr/>
        </p:nvSpPr>
        <p:spPr>
          <a:xfrm>
            <a:off x="4169664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累積多久</a:t>
            </a:r>
            <a:endParaRPr lang="en-US" sz="1600" dirty="0"/>
          </a:p>
        </p:txBody>
      </p:sp>
      <p:sp>
        <p:nvSpPr>
          <p:cNvPr id="74" name="Shape 72"/>
          <p:cNvSpPr/>
          <p:nvPr/>
        </p:nvSpPr>
        <p:spPr>
          <a:xfrm>
            <a:off x="5321808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5" name="Text 73"/>
          <p:cNvSpPr txBox="1"/>
          <p:nvPr/>
        </p:nvSpPr>
        <p:spPr>
          <a:xfrm>
            <a:off x="6181344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J</a:t>
            </a:r>
            <a:endParaRPr lang="en-US" sz="2200" dirty="0"/>
          </a:p>
        </p:txBody>
      </p:sp>
      <p:sp>
        <p:nvSpPr>
          <p:cNvPr id="76" name="Text 74"/>
          <p:cNvSpPr txBox="1"/>
          <p:nvPr/>
        </p:nvSpPr>
        <p:spPr>
          <a:xfrm>
            <a:off x="6016752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總能源</a:t>
            </a:r>
            <a:endParaRPr lang="en-US" sz="1600" dirty="0"/>
          </a:p>
        </p:txBody>
      </p:sp>
      <p:sp>
        <p:nvSpPr>
          <p:cNvPr id="77" name="Shape 75"/>
          <p:cNvSpPr/>
          <p:nvPr/>
        </p:nvSpPr>
        <p:spPr>
          <a:xfrm>
            <a:off x="7168896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78" name="Text 76"/>
          <p:cNvSpPr txBox="1"/>
          <p:nvPr/>
        </p:nvSpPr>
        <p:spPr>
          <a:xfrm>
            <a:off x="8028432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2200" dirty="0"/>
          </a:p>
        </p:txBody>
      </p:sp>
      <p:sp>
        <p:nvSpPr>
          <p:cNvPr id="79" name="Text 77"/>
          <p:cNvSpPr txBox="1"/>
          <p:nvPr/>
        </p:nvSpPr>
        <p:spPr>
          <a:xfrm>
            <a:off x="7863840" y="5230368"/>
            <a:ext cx="1170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是否合格</a:t>
            </a:r>
            <a:endParaRPr lang="en-US" sz="1600" dirty="0"/>
          </a:p>
        </p:txBody>
      </p:sp>
      <p:sp>
        <p:nvSpPr>
          <p:cNvPr id="80" name="Shape 78"/>
          <p:cNvSpPr/>
          <p:nvPr/>
        </p:nvSpPr>
        <p:spPr>
          <a:xfrm>
            <a:off x="9015984" y="5056632"/>
            <a:ext cx="402336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81" name="Text 79"/>
          <p:cNvSpPr txBox="1"/>
          <p:nvPr/>
        </p:nvSpPr>
        <p:spPr>
          <a:xfrm>
            <a:off x="9875520" y="4818888"/>
            <a:ext cx="8412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bit/J</a:t>
            </a:r>
            <a:endParaRPr lang="en-US" sz="2200" dirty="0"/>
          </a:p>
        </p:txBody>
      </p:sp>
      <p:sp>
        <p:nvSpPr>
          <p:cNvPr id="82" name="Text 80"/>
          <p:cNvSpPr txBox="1"/>
          <p:nvPr/>
        </p:nvSpPr>
        <p:spPr>
          <a:xfrm>
            <a:off x="9710928" y="5138928"/>
            <a:ext cx="117043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合格邊界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內的效率</a:t>
            </a:r>
            <a:endParaRPr lang="en-US" sz="1600" dirty="0"/>
          </a:p>
        </p:txBody>
      </p:sp>
      <p:sp>
        <p:nvSpPr>
          <p:cNvPr id="83" name="Text 81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84" name="Text 82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85" name="Text 8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TLE-to-NTPU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｜先知道場景從哪裡來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170432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0241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STAGE 1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1993392" y="978408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核心問題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2889504" y="960120"/>
            <a:ext cx="76626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一筆精簡軌道資料，如何成為眼前可用的</a:t>
            </a:r>
            <a:r>
              <a:rPr lang="en-US" sz="22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</a:t>
            </a:r>
            <a:r>
              <a:rPr lang="en-US" sz="22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衛星場景？</a:t>
            </a:r>
            <a:endParaRPr lang="en-US" sz="2250" dirty="0"/>
          </a:p>
        </p:txBody>
      </p:sp>
      <p:sp>
        <p:nvSpPr>
          <p:cNvPr id="7" name="Shape 5"/>
          <p:cNvSpPr/>
          <p:nvPr/>
        </p:nvSpPr>
        <p:spPr>
          <a:xfrm>
            <a:off x="10762488" y="969264"/>
            <a:ext cx="1014984" cy="31089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0835640" y="1014984"/>
            <a:ext cx="868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00–10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49808" y="1353312"/>
            <a:ext cx="9363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  →  ACTION  →  EVIDENCE  →  MEANING  →  RECOVERY / STATUS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49808" y="1572768"/>
            <a:ext cx="10972800" cy="0"/>
          </a:xfrm>
          <a:prstGeom prst="line">
            <a:avLst/>
          </a:prstGeom>
          <a:noFill/>
          <a:ln w="13970">
            <a:solidFill>
              <a:srgbClr val="C7D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13232" y="1719072"/>
            <a:ext cx="2487168" cy="128016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77824" y="18745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SOURCE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841248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21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TLE</a:t>
            </a:r>
            <a:endParaRPr lang="en-US" sz="2100" dirty="0"/>
          </a:p>
        </p:txBody>
      </p:sp>
      <p:sp>
        <p:nvSpPr>
          <p:cNvPr id="14" name="Text 12"/>
          <p:cNvSpPr txBox="1"/>
          <p:nvPr/>
        </p:nvSpPr>
        <p:spPr>
          <a:xfrm>
            <a:off x="841248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讀來源與</a:t>
            </a:r>
            <a:r>
              <a:rPr lang="en-US" sz="162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epoch</a:t>
            </a:r>
            <a:endParaRPr lang="en-US" sz="1620" dirty="0"/>
          </a:p>
        </p:txBody>
      </p:sp>
      <p:sp>
        <p:nvSpPr>
          <p:cNvPr id="15" name="Shape 13"/>
          <p:cNvSpPr/>
          <p:nvPr/>
        </p:nvSpPr>
        <p:spPr>
          <a:xfrm>
            <a:off x="3246120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3566160" y="1719072"/>
            <a:ext cx="2487168" cy="128016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3730752" y="18745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MODEL-DERIVED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3694176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位置／相對幾何</a:t>
            </a:r>
            <a:endParaRPr lang="en-US" sz="2100" dirty="0"/>
          </a:p>
        </p:txBody>
      </p:sp>
      <p:sp>
        <p:nvSpPr>
          <p:cNvPr id="19" name="Text 17"/>
          <p:cNvSpPr txBox="1"/>
          <p:nvPr/>
        </p:nvSpPr>
        <p:spPr>
          <a:xfrm>
            <a:off x="3694176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友善輸出＋單位</a:t>
            </a:r>
            <a:endParaRPr lang="en-US" sz="1620" dirty="0"/>
          </a:p>
        </p:txBody>
      </p:sp>
      <p:sp>
        <p:nvSpPr>
          <p:cNvPr id="20" name="Shape 18"/>
          <p:cNvSpPr/>
          <p:nvPr/>
        </p:nvSpPr>
        <p:spPr>
          <a:xfrm>
            <a:off x="6099048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419088" y="1719072"/>
            <a:ext cx="2487168" cy="1280160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1801368"/>
            <a:ext cx="21579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557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COURSE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6557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ASSUMPTION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6547104" y="2359152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波束／流量／任務</a:t>
            </a:r>
            <a:endParaRPr lang="en-US" sz="2100" dirty="0"/>
          </a:p>
        </p:txBody>
      </p:sp>
      <p:sp>
        <p:nvSpPr>
          <p:cNvPr id="24" name="Text 22"/>
          <p:cNvSpPr txBox="1"/>
          <p:nvPr/>
        </p:nvSpPr>
        <p:spPr>
          <a:xfrm>
            <a:off x="6547104" y="272491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後續才加入</a:t>
            </a:r>
            <a:endParaRPr lang="en-US" sz="1620" dirty="0"/>
          </a:p>
        </p:txBody>
      </p:sp>
      <p:sp>
        <p:nvSpPr>
          <p:cNvPr id="25" name="Shape 23"/>
          <p:cNvSpPr/>
          <p:nvPr/>
        </p:nvSpPr>
        <p:spPr>
          <a:xfrm>
            <a:off x="8951976" y="2359152"/>
            <a:ext cx="256032" cy="0"/>
          </a:xfrm>
          <a:prstGeom prst="line">
            <a:avLst/>
          </a:prstGeom>
          <a:noFill/>
          <a:ln w="2540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9272016" y="1719072"/>
            <a:ext cx="2487168" cy="1280160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9436608" y="1874520"/>
            <a:ext cx="21579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NTPU SCENE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9400032" y="2322576"/>
            <a:ext cx="2231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同一</a:t>
            </a:r>
            <a:r>
              <a:rPr lang="en-US" sz="21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endParaRPr lang="en-US" sz="2100" dirty="0"/>
          </a:p>
        </p:txBody>
      </p:sp>
      <p:sp>
        <p:nvSpPr>
          <p:cNvPr id="29" name="Text 27"/>
          <p:cNvSpPr txBox="1"/>
          <p:nvPr/>
        </p:nvSpPr>
        <p:spPr>
          <a:xfrm>
            <a:off x="9400032" y="2679192"/>
            <a:ext cx="22311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版本化場景起點</a:t>
            </a:r>
            <a:endParaRPr lang="en-US" sz="1620" dirty="0"/>
          </a:p>
        </p:txBody>
      </p:sp>
      <p:sp>
        <p:nvSpPr>
          <p:cNvPr id="30" name="Text 28"/>
          <p:cNvSpPr txBox="1"/>
          <p:nvPr/>
        </p:nvSpPr>
        <p:spPr>
          <a:xfrm>
            <a:off x="749808" y="3191256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學員動作</a:t>
            </a:r>
            <a:endParaRPr lang="en-US" sz="1650" dirty="0"/>
          </a:p>
        </p:txBody>
      </p:sp>
      <p:sp>
        <p:nvSpPr>
          <p:cNvPr id="31" name="Text 29"/>
          <p:cNvSpPr txBox="1"/>
          <p:nvPr/>
        </p:nvSpPr>
        <p:spPr>
          <a:xfrm>
            <a:off x="1792224" y="3136392"/>
            <a:ext cx="9738360" cy="3566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匯入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分類來源／推導／假設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指定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UTC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逐站查看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→ </a:t>
            </a:r>
            <a:r>
              <a:rPr lang="en-US" sz="18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生成同一個</a:t>
            </a:r>
            <a:r>
              <a:rPr lang="en-US" sz="18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NTPU scenario</a:t>
            </a:r>
            <a:endParaRPr lang="en-US" sz="1850" dirty="0"/>
          </a:p>
        </p:txBody>
      </p:sp>
      <p:sp>
        <p:nvSpPr>
          <p:cNvPr id="32" name="Shape 30"/>
          <p:cNvSpPr/>
          <p:nvPr/>
        </p:nvSpPr>
        <p:spPr>
          <a:xfrm>
            <a:off x="713232" y="3630168"/>
            <a:ext cx="5468112" cy="83210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896112" y="3803904"/>
            <a:ext cx="15179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可觀察結果</a:t>
            </a:r>
            <a:endParaRPr lang="en-US" sz="1650" dirty="0"/>
          </a:p>
        </p:txBody>
      </p:sp>
      <p:sp>
        <p:nvSpPr>
          <p:cNvPr id="34" name="Text 32"/>
          <p:cNvSpPr txBox="1"/>
          <p:nvPr/>
        </p:nvSpPr>
        <p:spPr>
          <a:xfrm>
            <a:off x="2578608" y="3730752"/>
            <a:ext cx="337413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每站呈現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input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 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與單位；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最終使用同一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scenario</a:t>
            </a: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650" dirty="0"/>
          </a:p>
        </p:txBody>
      </p:sp>
      <p:sp>
        <p:nvSpPr>
          <p:cNvPr id="35" name="Shape 33"/>
          <p:cNvSpPr/>
          <p:nvPr/>
        </p:nvSpPr>
        <p:spPr>
          <a:xfrm>
            <a:off x="6318504" y="3630168"/>
            <a:ext cx="5404104" cy="832104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501384" y="3803904"/>
            <a:ext cx="1325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架構界線</a:t>
            </a:r>
            <a:endParaRPr lang="en-US" sz="1650" dirty="0"/>
          </a:p>
        </p:txBody>
      </p:sp>
      <p:sp>
        <p:nvSpPr>
          <p:cNvPr id="37" name="Text 35"/>
          <p:cNvSpPr txBox="1"/>
          <p:nvPr/>
        </p:nvSpPr>
        <p:spPr>
          <a:xfrm>
            <a:off x="7973568" y="3730752"/>
            <a:ext cx="3520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7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TLE </a:t>
            </a:r>
            <a:r>
              <a:rPr lang="en-US" sz="167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不含波束、流量、功率或能源；這一段建立可信起點，不算節能證據。</a:t>
            </a:r>
            <a:endParaRPr lang="en-US" sz="1670" dirty="0"/>
          </a:p>
        </p:txBody>
      </p:sp>
      <p:sp>
        <p:nvSpPr>
          <p:cNvPr id="38" name="Shape 36"/>
          <p:cNvSpPr/>
          <p:nvPr/>
        </p:nvSpPr>
        <p:spPr>
          <a:xfrm>
            <a:off x="713232" y="4645152"/>
            <a:ext cx="6839712" cy="1033272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896112" y="484632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557C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能源／競賽意義</a:t>
            </a:r>
            <a:endParaRPr lang="en-US" sz="1650" dirty="0"/>
          </a:p>
        </p:txBody>
      </p:sp>
      <p:sp>
        <p:nvSpPr>
          <p:cNvPr id="40" name="Text 38"/>
          <p:cNvSpPr txBox="1"/>
          <p:nvPr/>
        </p:nvSpPr>
        <p:spPr>
          <a:xfrm>
            <a:off x="2926080" y="4773168"/>
            <a:ext cx="436168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先分清資料來源與課程假設，後續能源判斷</a:t>
            </a:r>
            <a:r>
              <a:rPr lang="en-US" sz="168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8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才不會對著無來源動畫猜答案。</a:t>
            </a:r>
            <a:endParaRPr lang="en-US" sz="1680" dirty="0"/>
          </a:p>
        </p:txBody>
      </p:sp>
      <p:sp>
        <p:nvSpPr>
          <p:cNvPr id="41" name="Shape 39"/>
          <p:cNvSpPr/>
          <p:nvPr/>
        </p:nvSpPr>
        <p:spPr>
          <a:xfrm>
            <a:off x="7708392" y="4645152"/>
            <a:ext cx="4014216" cy="1033272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7891272" y="4846320"/>
            <a:ext cx="148132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復原／狀態</a:t>
            </a:r>
            <a:endParaRPr lang="en-US" sz="1650" dirty="0"/>
          </a:p>
        </p:txBody>
      </p:sp>
      <p:sp>
        <p:nvSpPr>
          <p:cNvPr id="43" name="Text 41"/>
          <p:cNvSpPr txBox="1"/>
          <p:nvPr/>
        </p:nvSpPr>
        <p:spPr>
          <a:xfrm>
            <a:off x="9528048" y="4736592"/>
            <a:ext cx="197510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續接末站／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載入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fallback</a:t>
            </a:r>
            <a:endParaRPr lang="en-US" sz="1600" dirty="0"/>
          </a:p>
        </p:txBody>
      </p:sp>
      <p:sp>
        <p:nvSpPr>
          <p:cNvPr id="44" name="Text 42"/>
          <p:cNvSpPr txBox="1"/>
          <p:nvPr/>
        </p:nvSpPr>
        <p:spPr>
          <a:xfrm>
            <a:off x="9528048" y="5248656"/>
            <a:ext cx="19751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狀態：未驗證</a:t>
            </a:r>
            <a:endParaRPr lang="en-US" sz="1600" dirty="0"/>
          </a:p>
        </p:txBody>
      </p:sp>
      <p:sp>
        <p:nvSpPr>
          <p:cNvPr id="45" name="Text 43"/>
          <p:cNvSpPr txBox="1"/>
          <p:nvPr/>
        </p:nvSpPr>
        <p:spPr>
          <a:xfrm>
            <a:off x="749808" y="5769864"/>
            <a:ext cx="3474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STYLE STUDY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DONOR</a:t>
            </a:r>
            <a:endParaRPr lang="en-US" sz="1600" dirty="0"/>
          </a:p>
        </p:txBody>
      </p:sp>
      <p:sp>
        <p:nvSpPr>
          <p:cNvPr id="46" name="Text 44"/>
          <p:cNvSpPr txBox="1"/>
          <p:nvPr/>
        </p:nvSpPr>
        <p:spPr>
          <a:xfrm>
            <a:off x="7333488" y="5769864"/>
            <a:ext cx="424281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模擬教學｜非即時｜非量測｜未驗證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parity</a:t>
            </a:r>
            <a:endParaRPr lang="en-US" sz="1600" dirty="0"/>
          </a:p>
        </p:txBody>
      </p:sp>
      <p:sp>
        <p:nvSpPr>
          <p:cNvPr id="47" name="Text 45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｜把焦耳花在值得的服務上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490472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34416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LAB C · 69–92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377440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182112" y="960120"/>
            <a:ext cx="844905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有限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J budget 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與短窗口下，資料何時送、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、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 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或</a:t>
            </a:r>
            <a:r>
              <a:rPr lang="en-US" sz="20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sleep</a:t>
            </a:r>
            <a:r>
              <a:rPr lang="en-US" sz="20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？</a:t>
            </a:r>
            <a:endParaRPr lang="en-US" sz="20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7498080" cy="239572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96112" y="1673352"/>
            <a:ext cx="214884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969264" y="1691640"/>
            <a:ext cx="200253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六格任務板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3163824" y="1719072"/>
            <a:ext cx="4773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模擬教學資料｜非即時｜非量測｜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parity 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未驗證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932688" y="2121408"/>
            <a:ext cx="1956816" cy="512064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42416" y="2276856"/>
            <a:ext cx="182880" cy="182880"/>
          </a:xfrm>
          <a:prstGeom prst="ellipse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298448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deadline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017520" y="2121408"/>
            <a:ext cx="1956816" cy="512064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27248" y="2276856"/>
            <a:ext cx="182880" cy="182880"/>
          </a:xfrm>
          <a:prstGeom prst="ellipse">
            <a:avLst/>
          </a:prstGeom>
          <a:solidFill>
            <a:srgbClr val="16A34A"/>
          </a:solidFill>
          <a:ln w="12700">
            <a:solidFill>
              <a:srgbClr val="16A34A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3383280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PERIODIC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102352" y="2121408"/>
            <a:ext cx="1956816" cy="512064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12080" y="2276856"/>
            <a:ext cx="182880" cy="182880"/>
          </a:xfrm>
          <a:prstGeom prst="ellipse">
            <a:avLst/>
          </a:prstGeom>
          <a:solidFill>
            <a:srgbClr val="6557C8"/>
          </a:solidFill>
          <a:ln w="12700">
            <a:solidFill>
              <a:srgbClr val="6557C8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68112" y="2212848"/>
            <a:ext cx="14996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BULK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｜大量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2862072"/>
            <a:ext cx="1042416" cy="603504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97840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2048256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093976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SEND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163824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3209544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26" name="Shape 24"/>
          <p:cNvSpPr/>
          <p:nvPr/>
        </p:nvSpPr>
        <p:spPr>
          <a:xfrm>
            <a:off x="4279392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325112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WAIT</a:t>
            </a:r>
            <a:endParaRPr lang="en-US" sz="1600" dirty="0"/>
          </a:p>
        </p:txBody>
      </p:sp>
      <p:sp>
        <p:nvSpPr>
          <p:cNvPr id="28" name="Shape 26"/>
          <p:cNvSpPr/>
          <p:nvPr/>
        </p:nvSpPr>
        <p:spPr>
          <a:xfrm>
            <a:off x="5394960" y="2862072"/>
            <a:ext cx="1042416" cy="603504"/>
          </a:xfrm>
          <a:prstGeom prst="roundRect">
            <a:avLst/>
          </a:prstGeom>
          <a:solidFill>
            <a:srgbClr val="FFFFFF"/>
          </a:solidFill>
          <a:ln w="18415">
            <a:solidFill>
              <a:srgbClr val="4F46E5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5440680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SLEEP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6510528" y="2862072"/>
            <a:ext cx="1042416" cy="603504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C7D2FE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556248" y="2953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固定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窗口</a:t>
            </a:r>
            <a:endParaRPr lang="en-US" sz="1600" dirty="0"/>
          </a:p>
        </p:txBody>
      </p:sp>
      <p:sp>
        <p:nvSpPr>
          <p:cNvPr id="32" name="Text 30"/>
          <p:cNvSpPr txBox="1"/>
          <p:nvPr/>
        </p:nvSpPr>
        <p:spPr>
          <a:xfrm>
            <a:off x="950976" y="3584448"/>
            <a:ext cx="69860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學員排程直接成為</a:t>
            </a: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actual timeline input</a:t>
            </a:r>
            <a:endParaRPr lang="en-US" sz="1650" dirty="0"/>
          </a:p>
        </p:txBody>
      </p:sp>
      <p:sp>
        <p:nvSpPr>
          <p:cNvPr id="33" name="Shape 31"/>
          <p:cNvSpPr/>
          <p:nvPr/>
        </p:nvSpPr>
        <p:spPr>
          <a:xfrm>
            <a:off x="8394192" y="1517904"/>
            <a:ext cx="3328416" cy="2395728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8586216" y="1673352"/>
            <a:ext cx="2944368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8659368" y="1691640"/>
            <a:ext cx="2798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一次修訂，之後凍結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8705088" y="2112264"/>
            <a:ext cx="2523744" cy="320040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778240" y="2130552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｜預測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baseline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9966960" y="2450592"/>
            <a:ext cx="0" cy="7315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8705088" y="2551176"/>
            <a:ext cx="2523744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778240" y="2569464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｜安排＋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RUN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9966960" y="2889504"/>
            <a:ext cx="0" cy="7315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8705088" y="2990088"/>
            <a:ext cx="2523744" cy="320040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8778240" y="3008376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｜只修一次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9966960" y="3328416"/>
            <a:ext cx="0" cy="73152"/>
          </a:xfrm>
          <a:prstGeom prst="line">
            <a:avLst/>
          </a:prstGeom>
          <a:noFill/>
          <a:ln w="1905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5" name="Shape 43"/>
          <p:cNvSpPr/>
          <p:nvPr/>
        </p:nvSpPr>
        <p:spPr>
          <a:xfrm>
            <a:off x="8705088" y="3429000"/>
            <a:ext cx="2523744" cy="320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778240" y="3447288"/>
            <a:ext cx="23774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→ withheld</a:t>
            </a:r>
            <a:endParaRPr lang="en-US" sz="1600" dirty="0"/>
          </a:p>
        </p:txBody>
      </p:sp>
      <p:sp>
        <p:nvSpPr>
          <p:cNvPr id="47" name="Shape 45"/>
          <p:cNvSpPr/>
          <p:nvPr/>
        </p:nvSpPr>
        <p:spPr>
          <a:xfrm>
            <a:off x="713232" y="4078224"/>
            <a:ext cx="3840480" cy="832104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59536" y="4251960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服務</a:t>
            </a:r>
            <a:endParaRPr lang="en-US" sz="1650" dirty="0"/>
          </a:p>
        </p:txBody>
      </p:sp>
      <p:sp>
        <p:nvSpPr>
          <p:cNvPr id="49" name="Text 47"/>
          <p:cNvSpPr txBox="1"/>
          <p:nvPr/>
        </p:nvSpPr>
        <p:spPr>
          <a:xfrm>
            <a:off x="1847088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deadline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freshness · received time</a:t>
            </a:r>
            <a:endParaRPr lang="en-US" sz="1600" dirty="0"/>
          </a:p>
        </p:txBody>
      </p:sp>
      <p:sp>
        <p:nvSpPr>
          <p:cNvPr id="50" name="Shape 48"/>
          <p:cNvSpPr/>
          <p:nvPr/>
        </p:nvSpPr>
        <p:spPr>
          <a:xfrm>
            <a:off x="4663440" y="4078224"/>
            <a:ext cx="3108960" cy="832104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809744" y="4251960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能源</a:t>
            </a:r>
            <a:endParaRPr lang="en-US" sz="1650" dirty="0"/>
          </a:p>
        </p:txBody>
      </p:sp>
      <p:sp>
        <p:nvSpPr>
          <p:cNvPr id="52" name="Text 50"/>
          <p:cNvSpPr txBox="1"/>
          <p:nvPr/>
        </p:nvSpPr>
        <p:spPr>
          <a:xfrm>
            <a:off x="5797296" y="4160520"/>
            <a:ext cx="184708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 → cumulative J</a:t>
            </a:r>
            <a:endParaRPr lang="en-US" sz="1600" dirty="0"/>
          </a:p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budget remaining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882128" y="4078224"/>
            <a:ext cx="3840480" cy="832104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54" name="Text 52"/>
          <p:cNvSpPr txBox="1"/>
          <p:nvPr/>
        </p:nvSpPr>
        <p:spPr>
          <a:xfrm>
            <a:off x="8028432" y="4251960"/>
            <a:ext cx="8412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557C8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效率</a:t>
            </a:r>
            <a:endParaRPr lang="en-US" sz="1650" dirty="0"/>
          </a:p>
        </p:txBody>
      </p:sp>
      <p:sp>
        <p:nvSpPr>
          <p:cNvPr id="55" name="Text 53"/>
          <p:cNvSpPr txBox="1"/>
          <p:nvPr/>
        </p:nvSpPr>
        <p:spPr>
          <a:xfrm>
            <a:off x="9015984" y="4160520"/>
            <a:ext cx="257860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delivered bits
canonical bit/J
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不另造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ratio</a:t>
            </a:r>
            <a:endParaRPr lang="en-US" sz="1600" dirty="0"/>
          </a:p>
        </p:txBody>
      </p:sp>
      <p:sp>
        <p:nvSpPr>
          <p:cNvPr id="56" name="Shape 54"/>
          <p:cNvSpPr/>
          <p:nvPr/>
        </p:nvSpPr>
        <p:spPr>
          <a:xfrm>
            <a:off x="713232" y="5020056"/>
            <a:ext cx="6784848" cy="704088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896112" y="5166360"/>
            <a:ext cx="960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50" dirty="0"/>
          </a:p>
        </p:txBody>
      </p:sp>
      <p:sp>
        <p:nvSpPr>
          <p:cNvPr id="58" name="Text 56"/>
          <p:cNvSpPr txBox="1"/>
          <p:nvPr/>
        </p:nvSpPr>
        <p:spPr>
          <a:xfrm>
            <a:off x="2057400" y="5074920"/>
            <a:ext cx="51846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urgent miss 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即使</a:t>
            </a: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bit/J 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上升，</a:t>
            </a: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
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仍不能宣稱</a:t>
            </a:r>
            <a:r>
              <a:rPr lang="en-US" sz="17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mission winner</a:t>
            </a:r>
            <a:r>
              <a:rPr lang="en-US" sz="17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。</a:t>
            </a:r>
            <a:endParaRPr lang="en-US" sz="1700" dirty="0"/>
          </a:p>
        </p:txBody>
      </p:sp>
      <p:sp>
        <p:nvSpPr>
          <p:cNvPr id="59" name="Shape 57"/>
          <p:cNvSpPr/>
          <p:nvPr/>
        </p:nvSpPr>
        <p:spPr>
          <a:xfrm>
            <a:off x="7671816" y="5020056"/>
            <a:ext cx="4050792" cy="704088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7854696" y="5157216"/>
            <a:ext cx="1005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50" dirty="0"/>
          </a:p>
        </p:txBody>
      </p:sp>
      <p:sp>
        <p:nvSpPr>
          <p:cNvPr id="61" name="Text 59"/>
          <p:cNvSpPr txBox="1"/>
          <p:nvPr/>
        </p:nvSpPr>
        <p:spPr>
          <a:xfrm>
            <a:off x="9034272" y="5157216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合法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reset → surprise alert</a:t>
            </a:r>
            <a:endParaRPr lang="en-US" sz="1600" dirty="0"/>
          </a:p>
        </p:txBody>
      </p:sp>
      <p:sp>
        <p:nvSpPr>
          <p:cNvPr id="62" name="Text 60"/>
          <p:cNvSpPr txBox="1"/>
          <p:nvPr/>
        </p:nvSpPr>
        <p:spPr>
          <a:xfrm>
            <a:off x="749808" y="5797296"/>
            <a:ext cx="2788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canonical bit/J</a:t>
            </a:r>
            <a:endParaRPr lang="en-US" sz="1600" dirty="0"/>
          </a:p>
        </p:txBody>
      </p:sp>
      <p:sp>
        <p:nvSpPr>
          <p:cNvPr id="63" name="Text 61"/>
          <p:cNvSpPr txBox="1"/>
          <p:nvPr/>
        </p:nvSpPr>
        <p:spPr>
          <a:xfrm>
            <a:off x="3675888" y="5797296"/>
            <a:ext cx="37307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｜六格＋一次修訂</a:t>
            </a:r>
            <a:endParaRPr lang="en-US" sz="1600" dirty="0"/>
          </a:p>
        </p:txBody>
      </p:sp>
      <p:sp>
        <p:nvSpPr>
          <p:cNvPr id="64" name="Text 62"/>
          <p:cNvSpPr txBox="1"/>
          <p:nvPr/>
        </p:nvSpPr>
        <p:spPr>
          <a:xfrm>
            <a:off x="7680960" y="579729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state · parity</a:t>
            </a:r>
            <a:endParaRPr lang="en-US" sz="1600" dirty="0"/>
          </a:p>
        </p:txBody>
      </p:sp>
      <p:sp>
        <p:nvSpPr>
          <p:cNvPr id="65" name="Text 63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56591" y="187008"/>
            <a:ext cx="9462769" cy="4800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Evidence clinic</a:t>
            </a:r>
            <a:r>
              <a:rPr lang="en-US" sz="28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28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is not saving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13232" y="960120"/>
            <a:ext cx="1783080" cy="347472"/>
          </a:xfrm>
          <a:prstGeom prst="roundRect">
            <a:avLst/>
          </a:prstGeom>
          <a:solidFill>
            <a:srgbClr val="EBEEF8"/>
          </a:solidFill>
          <a:ln w="12700">
            <a:solidFill>
              <a:srgbClr val="EBEEF8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786384" y="978408"/>
            <a:ext cx="16367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CLINIC · 92–106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2679192" y="978408"/>
            <a:ext cx="78638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主問題</a:t>
            </a:r>
            <a:endParaRPr lang="en-US" sz="1650" dirty="0"/>
          </a:p>
        </p:txBody>
      </p:sp>
      <p:sp>
        <p:nvSpPr>
          <p:cNvPr id="6" name="Text 4"/>
          <p:cNvSpPr txBox="1"/>
          <p:nvPr/>
        </p:nvSpPr>
        <p:spPr>
          <a:xfrm>
            <a:off x="3483864" y="960120"/>
            <a:ext cx="81473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1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99% prediction score</a:t>
            </a:r>
            <a:r>
              <a:rPr lang="en-US" sz="21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，真的比</a:t>
            </a:r>
            <a:r>
              <a:rPr lang="en-US" sz="21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78% </a:t>
            </a:r>
            <a:r>
              <a:rPr lang="en-US" sz="215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更能證明節能？</a:t>
            </a:r>
            <a:endParaRPr lang="en-US" sz="2150" dirty="0"/>
          </a:p>
        </p:txBody>
      </p:sp>
      <p:sp>
        <p:nvSpPr>
          <p:cNvPr id="7" name="Shape 5"/>
          <p:cNvSpPr/>
          <p:nvPr/>
        </p:nvSpPr>
        <p:spPr>
          <a:xfrm>
            <a:off x="713232" y="1517904"/>
            <a:ext cx="3657600" cy="2898648"/>
          </a:xfrm>
          <a:prstGeom prst="roundRect">
            <a:avLst/>
          </a:prstGeom>
          <a:solidFill>
            <a:srgbClr val="F6F7FB"/>
          </a:solidFill>
          <a:ln w="12700">
            <a:solidFill>
              <a:srgbClr val="F6F7FB">
                <a:alpha val="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53712" y="1517904"/>
            <a:ext cx="2834640" cy="2898648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71232" y="1517904"/>
            <a:ext cx="4151376" cy="2898648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96112" y="1719072"/>
            <a:ext cx="3291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FEATURE AVAILABILITY</a:t>
            </a:r>
            <a:endParaRPr lang="en-US" sz="1650" dirty="0"/>
          </a:p>
        </p:txBody>
      </p:sp>
      <p:sp>
        <p:nvSpPr>
          <p:cNvPr id="11" name="Shape 9"/>
          <p:cNvSpPr/>
          <p:nvPr/>
        </p:nvSpPr>
        <p:spPr>
          <a:xfrm>
            <a:off x="932688" y="2121408"/>
            <a:ext cx="3218688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32688" y="2157984"/>
            <a:ext cx="45720" cy="228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1069848" y="2139696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queue age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｜現在可得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932688" y="2487168"/>
            <a:ext cx="3218688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932688" y="2523744"/>
            <a:ext cx="45720" cy="228600"/>
          </a:xfrm>
          <a:prstGeom prst="rect">
            <a:avLst/>
          </a:prstGeom>
          <a:solidFill>
            <a:srgbClr val="4F46E5"/>
          </a:solidFill>
          <a:ln w="12700">
            <a:solidFill>
              <a:srgbClr val="4F46E5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69848" y="2505456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contact 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剩餘｜現在可得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932688" y="2852928"/>
            <a:ext cx="3218688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32688" y="2889504"/>
            <a:ext cx="45720" cy="228600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69848" y="2871216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timestamp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｜需判讀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932688" y="3218688"/>
            <a:ext cx="3218688" cy="3017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32688" y="3255264"/>
            <a:ext cx="4572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69848" y="3236976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final service</a:t>
            </a: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932688" y="3584448"/>
            <a:ext cx="3218688" cy="301752"/>
          </a:xfrm>
          <a:prstGeom prst="roundRect">
            <a:avLst/>
          </a:prstGeom>
          <a:solidFill>
            <a:srgbClr val="FEF2F2"/>
          </a:solidFill>
          <a:ln w="12700">
            <a:solidFill>
              <a:srgbClr val="FEF2F2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32688" y="3621024"/>
            <a:ext cx="45720" cy="228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69848" y="3602736"/>
            <a:ext cx="297180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received time</a:t>
            </a:r>
            <a:r>
              <a:rPr lang="en-US" sz="1600" b="1" dirty="0">
                <a:solidFill>
                  <a:srgbClr val="DC2626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｜事後才有</a:t>
            </a:r>
            <a:endParaRPr lang="en-US" sz="1600" dirty="0"/>
          </a:p>
        </p:txBody>
      </p:sp>
      <p:sp>
        <p:nvSpPr>
          <p:cNvPr id="26" name="Text 24"/>
          <p:cNvSpPr txBox="1"/>
          <p:nvPr/>
        </p:nvSpPr>
        <p:spPr>
          <a:xfrm>
            <a:off x="950976" y="4014216"/>
            <a:ext cx="318211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：必須看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timestamp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4663440" y="1673352"/>
            <a:ext cx="261518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A</a:t>
            </a:r>
            <a:endParaRPr lang="en-US" sz="1650" dirty="0"/>
          </a:p>
          <a:p>
            <a:pPr marL="0" indent="0" algn="ctr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LEGAL ACTION</a:t>
            </a:r>
            <a:endParaRPr lang="en-US" sz="1650" dirty="0"/>
          </a:p>
        </p:txBody>
      </p:sp>
      <p:sp>
        <p:nvSpPr>
          <p:cNvPr id="28" name="Shape 26"/>
          <p:cNvSpPr/>
          <p:nvPr/>
        </p:nvSpPr>
        <p:spPr>
          <a:xfrm>
            <a:off x="4663440" y="2276856"/>
            <a:ext cx="2615184" cy="347472"/>
          </a:xfrm>
          <a:prstGeom prst="roundRect">
            <a:avLst/>
          </a:prstGeom>
          <a:solidFill>
            <a:srgbClr val="EDF8F0"/>
          </a:solidFill>
          <a:ln w="15875">
            <a:solidFill>
              <a:srgbClr val="16A34A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4736592" y="2295144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AVAILABLE NOW ✓</a:t>
            </a:r>
            <a:endParaRPr lang="en-US" sz="1600" dirty="0"/>
          </a:p>
        </p:txBody>
      </p:sp>
      <p:sp>
        <p:nvSpPr>
          <p:cNvPr id="30" name="Shape 28"/>
          <p:cNvSpPr/>
          <p:nvPr/>
        </p:nvSpPr>
        <p:spPr>
          <a:xfrm>
            <a:off x="4663440" y="2724912"/>
            <a:ext cx="2615184" cy="457200"/>
          </a:xfrm>
          <a:prstGeom prst="roundRect">
            <a:avLst/>
          </a:prstGeom>
          <a:solidFill>
            <a:srgbClr val="FEF2F2"/>
          </a:solidFill>
          <a:ln w="15875">
            <a:solidFill>
              <a:srgbClr val="DC2626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4736592" y="2743200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LEAKAGE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DC262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REJECTED ×</a:t>
            </a:r>
            <a:endParaRPr lang="en-US" sz="1600" dirty="0"/>
          </a:p>
        </p:txBody>
      </p:sp>
      <p:sp>
        <p:nvSpPr>
          <p:cNvPr id="32" name="Shape 30"/>
          <p:cNvSpPr/>
          <p:nvPr/>
        </p:nvSpPr>
        <p:spPr>
          <a:xfrm>
            <a:off x="4663440" y="3310128"/>
            <a:ext cx="1097280" cy="521208"/>
          </a:xfrm>
          <a:prstGeom prst="roundRect">
            <a:avLst/>
          </a:prstGeom>
          <a:solidFill>
            <a:srgbClr val="EEF2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727448" y="3438144"/>
            <a:ext cx="969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｜現在送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5852160" y="3310128"/>
            <a:ext cx="1426464" cy="521208"/>
          </a:xfrm>
          <a:prstGeom prst="roundRect">
            <a:avLst/>
          </a:prstGeom>
          <a:solidFill>
            <a:srgbClr val="EEF2FF"/>
          </a:solidFill>
          <a:ln w="17145">
            <a:solidFill>
              <a:srgbClr val="4F46E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916168" y="3438144"/>
            <a:ext cx="12984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</a:t>
            </a: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｜等／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batch</a:t>
            </a:r>
            <a:endParaRPr lang="en-US" sz="1600" dirty="0"/>
          </a:p>
        </p:txBody>
      </p:sp>
      <p:sp>
        <p:nvSpPr>
          <p:cNvPr id="36" name="Shape 34"/>
          <p:cNvSpPr/>
          <p:nvPr/>
        </p:nvSpPr>
        <p:spPr>
          <a:xfrm>
            <a:off x="4663440" y="3867912"/>
            <a:ext cx="2615184" cy="347472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4F46E5"/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4736592" y="388620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FREEZE ONE ACTION</a:t>
            </a:r>
            <a:endParaRPr lang="en-US" sz="1600" dirty="0"/>
          </a:p>
        </p:txBody>
      </p:sp>
      <p:sp>
        <p:nvSpPr>
          <p:cNvPr id="38" name="Shape 36"/>
          <p:cNvSpPr/>
          <p:nvPr/>
        </p:nvSpPr>
        <p:spPr>
          <a:xfrm>
            <a:off x="4370832" y="3108960"/>
            <a:ext cx="182880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7388352" y="3108960"/>
            <a:ext cx="182880" cy="0"/>
          </a:xfrm>
          <a:prstGeom prst="line">
            <a:avLst/>
          </a:prstGeom>
          <a:noFill/>
          <a:ln w="22860">
            <a:solidFill>
              <a:srgbClr val="4F46E5"/>
            </a:solidFill>
            <a:prstDash val="solid"/>
            <a:headEnd type="none"/>
            <a:tailEnd type="triangle"/>
          </a:ln>
        </p:spPr>
      </p:sp>
      <p:sp>
        <p:nvSpPr>
          <p:cNvPr id="40" name="Text 38"/>
          <p:cNvSpPr txBox="1"/>
          <p:nvPr/>
        </p:nvSpPr>
        <p:spPr>
          <a:xfrm>
            <a:off x="7754112" y="1719072"/>
            <a:ext cx="378561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CHRONOLOGICAL TRACE B</a:t>
            </a:r>
            <a:endParaRPr lang="en-US" sz="1650" dirty="0"/>
          </a:p>
        </p:txBody>
      </p:sp>
      <p:sp>
        <p:nvSpPr>
          <p:cNvPr id="41" name="Shape 39"/>
          <p:cNvSpPr/>
          <p:nvPr/>
        </p:nvSpPr>
        <p:spPr>
          <a:xfrm>
            <a:off x="7772400" y="2121408"/>
            <a:ext cx="3749040" cy="786384"/>
          </a:xfrm>
          <a:prstGeom prst="roundRect">
            <a:avLst/>
          </a:prstGeom>
          <a:solidFill>
            <a:srgbClr val="F3F0FF"/>
          </a:solidFill>
          <a:ln w="12700">
            <a:solidFill>
              <a:srgbClr val="F3F0FF">
                <a:alpha val="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010144" y="2258568"/>
            <a:ext cx="3273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6557C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SCORE</a:t>
            </a:r>
            <a:endParaRPr lang="en-US" sz="1650" dirty="0"/>
          </a:p>
        </p:txBody>
      </p:sp>
      <p:sp>
        <p:nvSpPr>
          <p:cNvPr id="43" name="Text 41"/>
          <p:cNvSpPr txBox="1"/>
          <p:nvPr/>
        </p:nvSpPr>
        <p:spPr>
          <a:xfrm>
            <a:off x="8010144" y="2624328"/>
            <a:ext cx="32735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模型輸出｜不進</a:t>
            </a: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 energy formula</a:t>
            </a:r>
            <a:endParaRPr lang="en-US" sz="1600" dirty="0"/>
          </a:p>
        </p:txBody>
      </p:sp>
      <p:sp>
        <p:nvSpPr>
          <p:cNvPr id="44" name="Shape 42"/>
          <p:cNvSpPr/>
          <p:nvPr/>
        </p:nvSpPr>
        <p:spPr>
          <a:xfrm>
            <a:off x="7772400" y="3108960"/>
            <a:ext cx="3749040" cy="1078992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010144" y="3273552"/>
            <a:ext cx="3273552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FROZEN-ACTION EVIDENCE</a:t>
            </a:r>
            <a:endParaRPr lang="en-US" sz="1650" dirty="0"/>
          </a:p>
        </p:txBody>
      </p:sp>
      <p:sp>
        <p:nvSpPr>
          <p:cNvPr id="46" name="Text 44"/>
          <p:cNvSpPr txBox="1"/>
          <p:nvPr/>
        </p:nvSpPr>
        <p:spPr>
          <a:xfrm>
            <a:off x="8010144" y="3685032"/>
            <a:ext cx="327355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2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service_pass · freshness · deadline</a:t>
            </a:r>
            <a:endParaRPr lang="en-US" sz="1620" dirty="0"/>
          </a:p>
          <a:p>
            <a:pPr marL="0" indent="0" algn="ctr">
              <a:buNone/>
            </a:pPr>
            <a:r>
              <a:rPr lang="en-US" sz="162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consumed J · delivered bits · bit/J</a:t>
            </a:r>
            <a:endParaRPr lang="en-US" sz="1620" dirty="0"/>
          </a:p>
        </p:txBody>
      </p:sp>
      <p:sp>
        <p:nvSpPr>
          <p:cNvPr id="47" name="Shape 45"/>
          <p:cNvSpPr/>
          <p:nvPr/>
        </p:nvSpPr>
        <p:spPr>
          <a:xfrm>
            <a:off x="713232" y="4599432"/>
            <a:ext cx="6812280" cy="1042416"/>
          </a:xfrm>
          <a:prstGeom prst="roundRect">
            <a:avLst/>
          </a:prstGeom>
          <a:solidFill>
            <a:srgbClr val="EEF2FF"/>
          </a:solidFill>
          <a:ln w="12700">
            <a:solidFill>
              <a:srgbClr val="EEF2FF">
                <a:alpha val="0"/>
              </a:srgbClr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896112" y="4800600"/>
            <a:ext cx="9601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判讀</a:t>
            </a:r>
            <a:endParaRPr lang="en-US" sz="1650" dirty="0"/>
          </a:p>
        </p:txBody>
      </p:sp>
      <p:sp>
        <p:nvSpPr>
          <p:cNvPr id="49" name="Text 47"/>
          <p:cNvSpPr txBox="1"/>
          <p:nvPr/>
        </p:nvSpPr>
        <p:spPr>
          <a:xfrm>
            <a:off x="2048256" y="4709160"/>
            <a:ext cx="21396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saving</a:t>
            </a:r>
            <a:endParaRPr lang="en-US" sz="2200" dirty="0"/>
          </a:p>
        </p:txBody>
      </p:sp>
      <p:sp>
        <p:nvSpPr>
          <p:cNvPr id="50" name="Text 48"/>
          <p:cNvSpPr txBox="1"/>
          <p:nvPr/>
        </p:nvSpPr>
        <p:spPr>
          <a:xfrm>
            <a:off x="2048256" y="5138928"/>
            <a:ext cx="5074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5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→ action → service → J → bounded claim</a:t>
            </a:r>
            <a:endParaRPr lang="en-US" sz="1650" dirty="0"/>
          </a:p>
        </p:txBody>
      </p:sp>
      <p:sp>
        <p:nvSpPr>
          <p:cNvPr id="51" name="Shape 49"/>
          <p:cNvSpPr/>
          <p:nvPr/>
        </p:nvSpPr>
        <p:spPr>
          <a:xfrm>
            <a:off x="7717536" y="4599432"/>
            <a:ext cx="4005072" cy="1042416"/>
          </a:xfrm>
          <a:prstGeom prst="roundRect">
            <a:avLst/>
          </a:prstGeom>
          <a:solidFill>
            <a:srgbClr val="EDF8F0"/>
          </a:solidFill>
          <a:ln w="12700">
            <a:solidFill>
              <a:srgbClr val="EDF8F0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7900416" y="480060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50" b="1" dirty="0">
                <a:solidFill>
                  <a:srgbClr val="16A34A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復原</a:t>
            </a:r>
            <a:endParaRPr lang="en-US" sz="1650" dirty="0"/>
          </a:p>
        </p:txBody>
      </p:sp>
      <p:sp>
        <p:nvSpPr>
          <p:cNvPr id="53" name="Text 51"/>
          <p:cNvSpPr txBox="1"/>
          <p:nvPr/>
        </p:nvSpPr>
        <p:spPr>
          <a:xfrm>
            <a:off x="9079992" y="4800600"/>
            <a:ext cx="2423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312E81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tooltip → fallback → shift</a:t>
            </a:r>
            <a:endParaRPr lang="en-US" sz="1600" dirty="0"/>
          </a:p>
        </p:txBody>
      </p:sp>
      <p:sp>
        <p:nvSpPr>
          <p:cNvPr id="54" name="Text 52"/>
          <p:cNvSpPr txBox="1"/>
          <p:nvPr/>
        </p:nvSpPr>
        <p:spPr>
          <a:xfrm>
            <a:off x="7936992" y="52303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模擬｜非即時｜非量測</a:t>
            </a:r>
            <a:endParaRPr lang="en-US" sz="1600" dirty="0"/>
          </a:p>
        </p:txBody>
      </p:sp>
      <p:sp>
        <p:nvSpPr>
          <p:cNvPr id="55" name="Text 53"/>
          <p:cNvSpPr txBox="1"/>
          <p:nvPr/>
        </p:nvSpPr>
        <p:spPr>
          <a:xfrm>
            <a:off x="749808" y="5797296"/>
            <a:ext cx="281635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FACT</a:t>
            </a:r>
            <a:r>
              <a:rPr lang="en-US" sz="1600" b="1" dirty="0">
                <a:solidFill>
                  <a:srgbClr val="4F46E5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4F46E5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score ≠ energy</a:t>
            </a:r>
            <a:endParaRPr lang="en-US" sz="1600" dirty="0"/>
          </a:p>
        </p:txBody>
      </p:sp>
      <p:sp>
        <p:nvSpPr>
          <p:cNvPr id="56" name="Text 54"/>
          <p:cNvSpPr txBox="1"/>
          <p:nvPr/>
        </p:nvSpPr>
        <p:spPr>
          <a:xfrm>
            <a:off x="3584448" y="5797296"/>
            <a:ext cx="405079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DESIGN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borderline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＋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 actions</a:t>
            </a:r>
            <a:endParaRPr lang="en-US" sz="1600" dirty="0"/>
          </a:p>
        </p:txBody>
      </p:sp>
      <p:sp>
        <p:nvSpPr>
          <p:cNvPr id="57" name="Text 55"/>
          <p:cNvSpPr txBox="1"/>
          <p:nvPr/>
        </p:nvSpPr>
        <p:spPr>
          <a:xfrm>
            <a:off x="7662672" y="5797296"/>
            <a:ext cx="3904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</a:t>
            </a:r>
            <a:r>
              <a:rPr lang="en-US" sz="1600" b="1" dirty="0">
                <a:solidFill>
                  <a:srgbClr val="64748B"/>
                </a:solidFill>
                <a:latin typeface="標楷體" pitchFamily="34" charset="0"/>
                <a:ea typeface="標楷體" pitchFamily="34" charset="-122"/>
                <a:cs typeface="標楷體" pitchFamily="34" charset="-120"/>
              </a:rPr>
              <a:t>｜</a:t>
            </a:r>
            <a:r>
              <a:rPr lang="en-US" sz="1600" b="1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timing · browser · parity</a:t>
            </a:r>
            <a:endParaRPr lang="en-US" sz="1600" dirty="0"/>
          </a:p>
        </p:txBody>
      </p:sp>
      <p:sp>
        <p:nvSpPr>
          <p:cNvPr id="58" name="Text 56"/>
          <p:cNvSpPr txBox="1"/>
          <p:nvPr/>
        </p:nvSpPr>
        <p:spPr>
          <a:xfrm>
            <a:off x="10934700" y="6340475"/>
            <a:ext cx="889000" cy="4762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35377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標楷體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標楷體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531</Words>
  <Application>Microsoft Office PowerPoint</Application>
  <PresentationFormat>寬螢幕</PresentationFormat>
  <Paragraphs>148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8" baseType="lpstr">
      <vt:lpstr>標楷體</vt:lpstr>
      <vt:lpstr>Arial</vt:lpstr>
      <vt:lpstr>Times New Roman</vt:lpstr>
      <vt:lpstr>Office Theme</vt:lpstr>
      <vt:lpstr>PowerPoint 簡報</vt:lpstr>
      <vt:lpstr>PowerPoint 簡報</vt:lpstr>
      <vt:lpstr>PowerPoint 簡報</vt:lpstr>
      <vt:lpstr>PowerPoint 簡報</vt:lpstr>
    </vt:vector>
  </TitlesOfParts>
  <Company>C-120 course planning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LEO energy course — four-slide style checkpoint</dc:title>
  <dc:subject>Approved two-slide donor style plus current C-120 Lab C and evidence-clinic stress tests</dc:subject>
  <dc:creator>C-120 four-slide style checkpoint</dc:creator>
  <cp:lastModifiedBy>柏宏 吳</cp:lastModifiedBy>
  <cp:revision>1</cp:revision>
  <dcterms:created xsi:type="dcterms:W3CDTF">2026-08-10T12:15:06Z</dcterms:created>
  <dcterms:modified xsi:type="dcterms:W3CDTF">2026-08-10T12:16:43Z</dcterms:modified>
</cp:coreProperties>
</file>