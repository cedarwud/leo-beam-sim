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869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X_WRAP_EDUCATE_CONTENT_NO_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hite template field and decorative mo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pic>
        <p:nvPicPr>
          <p:cNvPr id="6" name="Image 1" descr="Template programm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30" y="0"/>
            <a:ext cx="1981230" cy="283007"/>
          </a:xfrm>
          <a:prstGeom prst="rect">
            <a:avLst/>
          </a:prstGeom>
        </p:spPr>
      </p:pic>
      <p:pic>
        <p:nvPicPr>
          <p:cNvPr id="7" name="Image 2" descr="Template footer divi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13496"/>
            <a:ext cx="12191970" cy="21616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C-120 LEO </a:t>
            </a:r>
            <a:r>
              <a:rPr lang="en-US" sz="28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能源決策課程｜</a:t>
            </a:r>
            <a:r>
              <a:rPr lang="en-US" sz="2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0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" y="960120"/>
            <a:ext cx="3931920" cy="347472"/>
          </a:xfrm>
          <a:prstGeom prst="roundRect">
            <a:avLst/>
          </a:prstGeom>
          <a:solidFill>
            <a:srgbClr val="E7E3F1"/>
          </a:solidFill>
          <a:ln w="12700">
            <a:solidFill>
              <a:srgbClr val="E7E3F1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978408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D42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WORKING TITLE · OWNER REVIEW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325880"/>
            <a:ext cx="69311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軌跡會變，</a:t>
            </a:r>
            <a:r>
              <a:rPr lang="en-US" sz="33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33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節能判斷也要會變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740664" y="22951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NTPU </a:t>
            </a:r>
            <a:r>
              <a:rPr lang="en-US" sz="185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低軌衛星情境</a:t>
            </a:r>
            <a:r>
              <a:rPr lang="en-US" sz="185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</a:t>
            </a:r>
            <a:r>
              <a:rPr lang="en-US" sz="185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功率與時間</a:t>
            </a:r>
            <a:r>
              <a:rPr lang="en-US" sz="185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</a:t>
            </a:r>
            <a:r>
              <a:rPr lang="en-US" sz="185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換手</a:t>
            </a:r>
            <a:r>
              <a:rPr lang="en-US" sz="185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IoT × </a:t>
            </a:r>
            <a:r>
              <a:rPr lang="en-US" sz="185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競賽轉移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 rot="480000">
            <a:off x="8805672" y="1024128"/>
            <a:ext cx="2679192" cy="1389888"/>
          </a:xfrm>
          <a:prstGeom prst="arc">
            <a:avLst/>
          </a:prstGeom>
          <a:solidFill>
            <a:srgbClr val="FFFFFF">
              <a:alpha val="0"/>
            </a:srgbClr>
          </a:solidFill>
          <a:ln w="22860">
            <a:solidFill>
              <a:srgbClr val="28B8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14025" y="1222553"/>
            <a:ext cx="326441" cy="230429"/>
          </a:xfrm>
          <a:prstGeom prst="rect">
            <a:avLst/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87584" y="1203350"/>
            <a:ext cx="288036" cy="268834"/>
          </a:xfrm>
          <a:prstGeom prst="rect">
            <a:avLst/>
          </a:prstGeom>
          <a:solidFill>
            <a:srgbClr val="536F87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78870" y="1203350"/>
            <a:ext cx="288036" cy="268834"/>
          </a:xfrm>
          <a:prstGeom prst="rect">
            <a:avLst/>
          </a:prstGeom>
          <a:solidFill>
            <a:srgbClr val="536F87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75620" y="1337767"/>
            <a:ext cx="403250" cy="0"/>
          </a:xfrm>
          <a:prstGeom prst="line">
            <a:avLst/>
          </a:prstGeom>
          <a:noFill/>
          <a:ln w="17780">
            <a:solidFill>
              <a:srgbClr val="1421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800000">
            <a:off x="10790834" y="1491386"/>
            <a:ext cx="172822" cy="172822"/>
          </a:xfrm>
          <a:prstGeom prst="triangle">
            <a:avLst/>
          </a:prstGeom>
          <a:solidFill>
            <a:srgbClr val="536F87">
              <a:alpha val="88000"/>
            </a:srgbClr>
          </a:solidFill>
          <a:ln w="12700">
            <a:solidFill>
              <a:srgbClr val="536F8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62872" y="1984248"/>
            <a:ext cx="2039112" cy="0"/>
          </a:xfrm>
          <a:prstGeom prst="line">
            <a:avLst/>
          </a:prstGeom>
          <a:noFill/>
          <a:ln w="27940">
            <a:solidFill>
              <a:srgbClr val="1421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85219" y="1819656"/>
            <a:ext cx="265085" cy="164592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52259" y="1709928"/>
            <a:ext cx="326258" cy="27432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00864" y="1783080"/>
            <a:ext cx="367040" cy="201168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0250" y="1655064"/>
            <a:ext cx="203911" cy="329184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55335" y="1746504"/>
            <a:ext cx="224302" cy="237744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47513" y="1527048"/>
            <a:ext cx="146304" cy="146304"/>
          </a:xfrm>
          <a:prstGeom prst="ellipse">
            <a:avLst/>
          </a:prstGeom>
          <a:solidFill>
            <a:srgbClr val="536F87"/>
          </a:solidFill>
          <a:ln w="12700">
            <a:solidFill>
              <a:srgbClr val="536F87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10642" y="1600200"/>
            <a:ext cx="0" cy="384048"/>
          </a:xfrm>
          <a:prstGeom prst="line">
            <a:avLst/>
          </a:prstGeom>
          <a:noFill/>
          <a:ln w="19050">
            <a:solidFill>
              <a:srgbClr val="536F8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81160" y="20208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21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NTPU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833104" y="2194560"/>
            <a:ext cx="2807208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21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61120" y="22402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能源決策實驗室｜非專家課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2724912"/>
            <a:ext cx="1225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 </a:t>
            </a:r>
            <a:r>
              <a:rPr lang="en-US" sz="168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分鐘核心</a:t>
            </a:r>
            <a:endParaRPr lang="en-US" sz="168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2990088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D42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E3 </a:t>
            </a:r>
            <a:r>
              <a:rPr lang="en-US" sz="1600" b="1" dirty="0">
                <a:solidFill>
                  <a:srgbClr val="4D426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整段移除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048256" y="2679192"/>
            <a:ext cx="1627632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8B8C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103120" y="2752344"/>
            <a:ext cx="1517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TLE→NTPU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721608" y="2944368"/>
            <a:ext cx="155448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922776" y="2679192"/>
            <a:ext cx="1225296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8B8C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977640" y="2752344"/>
            <a:ext cx="11155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E1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193792" y="2944368"/>
            <a:ext cx="155448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394960" y="2679192"/>
            <a:ext cx="1225296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8B8C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49824" y="2752344"/>
            <a:ext cx="11155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E2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665976" y="2944368"/>
            <a:ext cx="155448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867144" y="2679192"/>
            <a:ext cx="1426464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4213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922008" y="2752344"/>
            <a:ext cx="13167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IoT </a:t>
            </a:r>
            <a:r>
              <a:rPr lang="en-US" sz="1600" b="1" dirty="0">
                <a:solidFill>
                  <a:srgbClr val="17223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挑戰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339328" y="2944368"/>
            <a:ext cx="155448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540496" y="2679192"/>
            <a:ext cx="1426464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4213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595360" y="2752344"/>
            <a:ext cx="13167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600" b="1" dirty="0">
                <a:solidFill>
                  <a:srgbClr val="17223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競賽轉移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0012680" y="2944368"/>
            <a:ext cx="155448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213848" y="2679192"/>
            <a:ext cx="150876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4213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268712" y="2752344"/>
            <a:ext cx="1399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600" b="1" dirty="0">
                <a:solidFill>
                  <a:srgbClr val="17223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提取／緩衝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2048256" y="3246120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+ 22 + 22 + 18 + 12 + 6 = 90</a:t>
            </a:r>
            <a:endParaRPr lang="en-US" sz="1750" dirty="0"/>
          </a:p>
        </p:txBody>
      </p:sp>
      <p:sp>
        <p:nvSpPr>
          <p:cNvPr id="44" name="Text 42"/>
          <p:cNvSpPr txBox="1"/>
          <p:nvPr/>
        </p:nvSpPr>
        <p:spPr>
          <a:xfrm>
            <a:off x="731520" y="3666744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120 </a:t>
            </a: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分鐘路線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731520" y="393192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D426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可拔除保留段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2139696" y="3621024"/>
            <a:ext cx="9601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8B8C7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194560" y="3694176"/>
            <a:ext cx="8503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TLE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3145536" y="3886200"/>
            <a:ext cx="128016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319272" y="3621024"/>
            <a:ext cx="9601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8B8C7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374136" y="3694176"/>
            <a:ext cx="8503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E1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4325112" y="3886200"/>
            <a:ext cx="128016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4498848" y="3621024"/>
            <a:ext cx="9601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8B8C7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553712" y="3694176"/>
            <a:ext cx="8503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E2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5504688" y="3886200"/>
            <a:ext cx="128016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5678424" y="3621024"/>
            <a:ext cx="1645920" cy="5303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B79D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733288" y="3694176"/>
            <a:ext cx="1536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D42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E3</a:t>
            </a:r>
            <a:r>
              <a:rPr lang="en-US" sz="1600" b="1" dirty="0">
                <a:solidFill>
                  <a:srgbClr val="17223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｜條件式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370064" y="3886200"/>
            <a:ext cx="128016" cy="0"/>
          </a:xfrm>
          <a:prstGeom prst="line">
            <a:avLst/>
          </a:prstGeom>
          <a:noFill/>
          <a:ln w="22860">
            <a:solidFill>
              <a:srgbClr val="9B79D0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7543800" y="3621024"/>
            <a:ext cx="978408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EA97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598664" y="3694176"/>
            <a:ext cx="868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IoT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8567928" y="3886200"/>
            <a:ext cx="128016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8741664" y="3621024"/>
            <a:ext cx="1024128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EA978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796528" y="3694176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600" b="1" dirty="0">
                <a:solidFill>
                  <a:srgbClr val="17223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轉移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9811512" y="3886200"/>
            <a:ext cx="128016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9985248" y="3621024"/>
            <a:ext cx="996696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EA978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0040112" y="3694176"/>
            <a:ext cx="886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r>
              <a:rPr lang="en-US" sz="16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600" b="1" dirty="0">
                <a:solidFill>
                  <a:srgbClr val="17223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收束</a:t>
            </a:r>
            <a:endParaRPr lang="en-US" sz="1800" dirty="0"/>
          </a:p>
        </p:txBody>
      </p:sp>
      <p:sp>
        <p:nvSpPr>
          <p:cNvPr id="66" name="Text 64"/>
          <p:cNvSpPr txBox="1"/>
          <p:nvPr/>
        </p:nvSpPr>
        <p:spPr>
          <a:xfrm>
            <a:off x="2139696" y="4197096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4D42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+ 22 + 22 + 30 + 18 + 12 + 6 = 120</a:t>
            </a:r>
            <a:endParaRPr lang="en-US" sz="1750" dirty="0"/>
          </a:p>
        </p:txBody>
      </p:sp>
      <p:sp>
        <p:nvSpPr>
          <p:cNvPr id="67" name="Shape 65"/>
          <p:cNvSpPr/>
          <p:nvPr/>
        </p:nvSpPr>
        <p:spPr>
          <a:xfrm>
            <a:off x="731520" y="4663440"/>
            <a:ext cx="10908792" cy="10698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14213D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96112" y="4855464"/>
            <a:ext cx="1499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共同判讀骨架</a:t>
            </a:r>
            <a:endParaRPr lang="en-US" sz="1750" dirty="0"/>
          </a:p>
        </p:txBody>
      </p:sp>
      <p:sp>
        <p:nvSpPr>
          <p:cNvPr id="69" name="Text 67"/>
          <p:cNvSpPr txBox="1"/>
          <p:nvPr/>
        </p:nvSpPr>
        <p:spPr>
          <a:xfrm>
            <a:off x="2487168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endParaRPr lang="en-US" sz="2200" dirty="0"/>
          </a:p>
        </p:txBody>
      </p:sp>
      <p:sp>
        <p:nvSpPr>
          <p:cNvPr id="70" name="Text 68"/>
          <p:cNvSpPr txBox="1"/>
          <p:nvPr/>
        </p:nvSpPr>
        <p:spPr>
          <a:xfrm>
            <a:off x="2322576" y="5230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當下功率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474720" y="5056632"/>
            <a:ext cx="402336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72" name="Text 70"/>
          <p:cNvSpPr txBox="1"/>
          <p:nvPr/>
        </p:nvSpPr>
        <p:spPr>
          <a:xfrm>
            <a:off x="4334256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23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時間</a:t>
            </a:r>
            <a:endParaRPr lang="en-US" sz="2200" dirty="0"/>
          </a:p>
        </p:txBody>
      </p:sp>
      <p:sp>
        <p:nvSpPr>
          <p:cNvPr id="73" name="Text 71"/>
          <p:cNvSpPr txBox="1"/>
          <p:nvPr/>
        </p:nvSpPr>
        <p:spPr>
          <a:xfrm>
            <a:off x="4169664" y="5230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累積多久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5321808" y="5056632"/>
            <a:ext cx="402336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75" name="Text 73"/>
          <p:cNvSpPr txBox="1"/>
          <p:nvPr/>
        </p:nvSpPr>
        <p:spPr>
          <a:xfrm>
            <a:off x="6181344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2200" dirty="0"/>
          </a:p>
        </p:txBody>
      </p:sp>
      <p:sp>
        <p:nvSpPr>
          <p:cNvPr id="76" name="Text 74"/>
          <p:cNvSpPr txBox="1"/>
          <p:nvPr/>
        </p:nvSpPr>
        <p:spPr>
          <a:xfrm>
            <a:off x="6016752" y="5230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總能源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7168896" y="5056632"/>
            <a:ext cx="402336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78" name="Text 76"/>
          <p:cNvSpPr txBox="1"/>
          <p:nvPr/>
        </p:nvSpPr>
        <p:spPr>
          <a:xfrm>
            <a:off x="8028432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EA97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服務</a:t>
            </a:r>
            <a:endParaRPr lang="en-US" sz="2200" dirty="0"/>
          </a:p>
        </p:txBody>
      </p:sp>
      <p:sp>
        <p:nvSpPr>
          <p:cNvPr id="79" name="Text 77"/>
          <p:cNvSpPr txBox="1"/>
          <p:nvPr/>
        </p:nvSpPr>
        <p:spPr>
          <a:xfrm>
            <a:off x="7863840" y="5230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是否合格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9015984" y="5056632"/>
            <a:ext cx="402336" cy="0"/>
          </a:xfrm>
          <a:prstGeom prst="line">
            <a:avLst/>
          </a:prstGeom>
          <a:noFill/>
          <a:ln w="2286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81" name="Text 79"/>
          <p:cNvSpPr txBox="1"/>
          <p:nvPr/>
        </p:nvSpPr>
        <p:spPr>
          <a:xfrm>
            <a:off x="9875520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2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bit/J</a:t>
            </a:r>
            <a:endParaRPr lang="en-US" sz="2200" dirty="0"/>
          </a:p>
        </p:txBody>
      </p:sp>
      <p:sp>
        <p:nvSpPr>
          <p:cNvPr id="82" name="Text 80"/>
          <p:cNvSpPr txBox="1"/>
          <p:nvPr/>
        </p:nvSpPr>
        <p:spPr>
          <a:xfrm>
            <a:off x="9710928" y="5138928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合格邊界</a:t>
            </a: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內的效率</a:t>
            </a:r>
            <a:endParaRPr lang="en-US" sz="1600" dirty="0"/>
          </a:p>
        </p:txBody>
      </p:sp>
      <p:sp>
        <p:nvSpPr>
          <p:cNvPr id="83" name="Text 81"/>
          <p:cNvSpPr txBox="1"/>
          <p:nvPr/>
        </p:nvSpPr>
        <p:spPr>
          <a:xfrm>
            <a:off x="749808" y="57698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STYLE STUDY</a:t>
            </a: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DONOR</a:t>
            </a:r>
            <a:endParaRPr lang="en-US" sz="1600" dirty="0"/>
          </a:p>
        </p:txBody>
      </p:sp>
      <p:sp>
        <p:nvSpPr>
          <p:cNvPr id="84" name="Text 82"/>
          <p:cNvSpPr txBox="1"/>
          <p:nvPr/>
        </p:nvSpPr>
        <p:spPr>
          <a:xfrm>
            <a:off x="7333488" y="5769864"/>
            <a:ext cx="4242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模擬教學｜非即時｜非量測｜未驗證</a:t>
            </a: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parity</a:t>
            </a:r>
            <a:endParaRPr lang="en-US" sz="1600" dirty="0"/>
          </a:p>
        </p:txBody>
      </p:sp>
      <p:sp>
        <p:nvSpPr>
          <p:cNvPr id="85" name="Text 83"/>
          <p:cNvSpPr txBox="1"/>
          <p:nvPr/>
        </p:nvSpPr>
        <p:spPr>
          <a:xfrm>
            <a:off x="10934700" y="6340475"/>
            <a:ext cx="88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TLE-to-NTPU</a:t>
            </a:r>
            <a:r>
              <a:rPr lang="en-US" sz="28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｜先知道場景從哪裡來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" y="960120"/>
            <a:ext cx="1170432" cy="347472"/>
          </a:xfrm>
          <a:prstGeom prst="roundRect">
            <a:avLst/>
          </a:prstGeom>
          <a:solidFill>
            <a:srgbClr val="DDEAE2"/>
          </a:solidFill>
          <a:ln w="12700">
            <a:solidFill>
              <a:srgbClr val="DDEAE2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97840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560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 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993392" y="978408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D426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核心問題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2889504" y="960120"/>
            <a:ext cx="7662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一筆精簡軌道資料，如何成為眼前可用的</a:t>
            </a:r>
            <a:r>
              <a:rPr lang="en-US" sz="22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NTPU </a:t>
            </a:r>
            <a:r>
              <a:rPr lang="en-US" sz="22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衛星場景？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762488" y="969264"/>
            <a:ext cx="101498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835640" y="101498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00–10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353312"/>
            <a:ext cx="9363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  →  ACTION  →  EVIDENCE  →  MEANING  →  RECOVERY / STATUS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9808" y="1572768"/>
            <a:ext cx="10972800" cy="0"/>
          </a:xfrm>
          <a:prstGeom prst="line">
            <a:avLst/>
          </a:prstGeom>
          <a:noFill/>
          <a:ln w="13970">
            <a:solidFill>
              <a:srgbClr val="DCE3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1719072"/>
            <a:ext cx="2487168" cy="12801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8B8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93876" y="1856232"/>
            <a:ext cx="1325880" cy="384048"/>
          </a:xfrm>
          <a:prstGeom prst="roundRect">
            <a:avLst/>
          </a:prstGeom>
          <a:solidFill>
            <a:srgbClr val="DCEBF0"/>
          </a:solidFill>
          <a:ln w="12700">
            <a:solidFill>
              <a:srgbClr val="DCEBF0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67028" y="1874520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5F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23225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固定</a:t>
            </a:r>
            <a:r>
              <a:rPr lang="en-US" sz="21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TLE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2679192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讀來源與</a:t>
            </a:r>
            <a:r>
              <a:rPr lang="en-US" sz="162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epoch</a:t>
            </a:r>
            <a:endParaRPr lang="en-US" sz="1620" dirty="0"/>
          </a:p>
        </p:txBody>
      </p:sp>
      <p:sp>
        <p:nvSpPr>
          <p:cNvPr id="16" name="Shape 14"/>
          <p:cNvSpPr/>
          <p:nvPr/>
        </p:nvSpPr>
        <p:spPr>
          <a:xfrm>
            <a:off x="3246120" y="2359152"/>
            <a:ext cx="256032" cy="0"/>
          </a:xfrm>
          <a:prstGeom prst="line">
            <a:avLst/>
          </a:prstGeom>
          <a:noFill/>
          <a:ln w="2540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566160" y="1719072"/>
            <a:ext cx="2487168" cy="12801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536F8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58184" y="1856232"/>
            <a:ext cx="2103120" cy="384048"/>
          </a:xfrm>
          <a:prstGeom prst="roundRect">
            <a:avLst/>
          </a:prstGeom>
          <a:solidFill>
            <a:srgbClr val="536F87"/>
          </a:solidFill>
          <a:ln w="12700">
            <a:solidFill>
              <a:srgbClr val="536F87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31336" y="187452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MODEL-DERIVED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694176" y="23225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位置／相對幾何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3694176" y="2679192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友善輸出＋單位</a:t>
            </a:r>
            <a:endParaRPr lang="en-US" sz="1620" dirty="0"/>
          </a:p>
        </p:txBody>
      </p:sp>
      <p:sp>
        <p:nvSpPr>
          <p:cNvPr id="22" name="Shape 20"/>
          <p:cNvSpPr/>
          <p:nvPr/>
        </p:nvSpPr>
        <p:spPr>
          <a:xfrm>
            <a:off x="6099048" y="2359152"/>
            <a:ext cx="256032" cy="0"/>
          </a:xfrm>
          <a:prstGeom prst="line">
            <a:avLst/>
          </a:prstGeom>
          <a:noFill/>
          <a:ln w="2540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419088" y="1719072"/>
            <a:ext cx="2487168" cy="12801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9B79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1792224"/>
            <a:ext cx="2157984" cy="530352"/>
          </a:xfrm>
          <a:prstGeom prst="roundRect">
            <a:avLst/>
          </a:prstGeom>
          <a:solidFill>
            <a:srgbClr val="9B79D0"/>
          </a:solidFill>
          <a:ln w="12700">
            <a:solidFill>
              <a:srgbClr val="9B79D0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56832" y="181051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COURSE ASSUMPTION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547104" y="2386584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波束／流量／任務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6547104" y="2743200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後續才加入</a:t>
            </a:r>
            <a:endParaRPr lang="en-US" sz="1620" dirty="0"/>
          </a:p>
        </p:txBody>
      </p:sp>
      <p:sp>
        <p:nvSpPr>
          <p:cNvPr id="28" name="Shape 26"/>
          <p:cNvSpPr/>
          <p:nvPr/>
        </p:nvSpPr>
        <p:spPr>
          <a:xfrm>
            <a:off x="8951976" y="2359152"/>
            <a:ext cx="256032" cy="0"/>
          </a:xfrm>
          <a:prstGeom prst="line">
            <a:avLst/>
          </a:prstGeom>
          <a:noFill/>
          <a:ln w="2540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272016" y="1719072"/>
            <a:ext cx="2487168" cy="12801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4EA97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56064" y="1856232"/>
            <a:ext cx="1719072" cy="384048"/>
          </a:xfrm>
          <a:prstGeom prst="roundRect">
            <a:avLst/>
          </a:prstGeom>
          <a:solidFill>
            <a:srgbClr val="4EA978"/>
          </a:solidFill>
          <a:ln w="12700">
            <a:solidFill>
              <a:srgbClr val="4EA978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729216" y="18745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NTPU SCENE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400032" y="23225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同一</a:t>
            </a:r>
            <a:r>
              <a:rPr lang="en-US" sz="21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scenario</a:t>
            </a:r>
            <a:endParaRPr lang="en-US" sz="2100" dirty="0"/>
          </a:p>
        </p:txBody>
      </p:sp>
      <p:sp>
        <p:nvSpPr>
          <p:cNvPr id="33" name="Text 31"/>
          <p:cNvSpPr txBox="1"/>
          <p:nvPr/>
        </p:nvSpPr>
        <p:spPr>
          <a:xfrm>
            <a:off x="9400032" y="2679192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版本化場景起點</a:t>
            </a:r>
            <a:endParaRPr lang="en-US" sz="1620" dirty="0"/>
          </a:p>
        </p:txBody>
      </p:sp>
      <p:sp>
        <p:nvSpPr>
          <p:cNvPr id="34" name="Text 32"/>
          <p:cNvSpPr txBox="1"/>
          <p:nvPr/>
        </p:nvSpPr>
        <p:spPr>
          <a:xfrm>
            <a:off x="749808" y="3191256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D426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學員動作</a:t>
            </a:r>
            <a:endParaRPr lang="en-US" sz="1650" dirty="0"/>
          </a:p>
        </p:txBody>
      </p:sp>
      <p:sp>
        <p:nvSpPr>
          <p:cNvPr id="35" name="Text 33"/>
          <p:cNvSpPr txBox="1"/>
          <p:nvPr/>
        </p:nvSpPr>
        <p:spPr>
          <a:xfrm>
            <a:off x="1792224" y="3136392"/>
            <a:ext cx="9738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匯入</a:t>
            </a:r>
            <a:r>
              <a:rPr lang="en-US" sz="18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r>
              <a:rPr lang="en-US" sz="18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分類來源／推導／假設</a:t>
            </a:r>
            <a:r>
              <a:rPr lang="en-US" sz="18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r>
              <a:rPr lang="en-US" sz="18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指定</a:t>
            </a:r>
            <a:r>
              <a:rPr lang="en-US" sz="18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UTC → </a:t>
            </a:r>
            <a:r>
              <a:rPr lang="en-US" sz="18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逐站查看</a:t>
            </a:r>
            <a:r>
              <a:rPr lang="en-US" sz="18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r>
              <a:rPr lang="en-US" sz="18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生成同一個</a:t>
            </a:r>
            <a:r>
              <a:rPr lang="en-US" sz="18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NTPU scenario</a:t>
            </a:r>
            <a:endParaRPr lang="en-US" sz="1850" dirty="0"/>
          </a:p>
        </p:txBody>
      </p:sp>
      <p:sp>
        <p:nvSpPr>
          <p:cNvPr id="36" name="Shape 34"/>
          <p:cNvSpPr/>
          <p:nvPr/>
        </p:nvSpPr>
        <p:spPr>
          <a:xfrm>
            <a:off x="713232" y="3630168"/>
            <a:ext cx="5468112" cy="832104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9D2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6112" y="3785616"/>
            <a:ext cx="1517904" cy="347472"/>
          </a:xfrm>
          <a:prstGeom prst="roundRect">
            <a:avLst/>
          </a:prstGeom>
          <a:solidFill>
            <a:srgbClr val="E7E3F1"/>
          </a:solidFill>
          <a:ln w="12700">
            <a:solidFill>
              <a:srgbClr val="E7E3F1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69264" y="38039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D426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可觀察結果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2578608" y="3730752"/>
            <a:ext cx="3374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每站呈現</a:t>
            </a: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input</a:t>
            </a: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、</a:t>
            </a: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</a:t>
            </a: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與單位；</a:t>
            </a: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最終使用同一</a:t>
            </a: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scenario</a:t>
            </a: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。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6318504" y="3630168"/>
            <a:ext cx="5404104" cy="832104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9D2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01384" y="3785616"/>
            <a:ext cx="1325880" cy="347472"/>
          </a:xfrm>
          <a:prstGeom prst="roundRect">
            <a:avLst/>
          </a:prstGeom>
          <a:solidFill>
            <a:srgbClr val="536F87"/>
          </a:solidFill>
          <a:ln w="12700">
            <a:solidFill>
              <a:srgbClr val="536F87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74536" y="3803904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架構界線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7973568" y="373075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7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TLE </a:t>
            </a:r>
            <a:r>
              <a:rPr lang="en-US" sz="167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不含波束、流量、功率或能源；這一段建立可信起點，不算節能證據。</a:t>
            </a:r>
            <a:endParaRPr lang="en-US" sz="1670" dirty="0"/>
          </a:p>
        </p:txBody>
      </p:sp>
      <p:sp>
        <p:nvSpPr>
          <p:cNvPr id="44" name="Shape 42"/>
          <p:cNvSpPr/>
          <p:nvPr/>
        </p:nvSpPr>
        <p:spPr>
          <a:xfrm>
            <a:off x="713232" y="4645152"/>
            <a:ext cx="6839712" cy="1033272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9D2D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6112" y="4809744"/>
            <a:ext cx="1865376" cy="347472"/>
          </a:xfrm>
          <a:prstGeom prst="roundRect">
            <a:avLst/>
          </a:prstGeom>
          <a:solidFill>
            <a:srgbClr val="DDEAE2"/>
          </a:solidFill>
          <a:ln w="12700">
            <a:solidFill>
              <a:srgbClr val="DDEAE2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69264" y="482803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5604D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能源／競賽意義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2926080" y="4773168"/>
            <a:ext cx="4361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先分清資料來源與課程假設，後續能源判斷</a:t>
            </a:r>
            <a:r>
              <a:rPr lang="en-US" sz="168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8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才不會對著無來源動畫猜答案。</a:t>
            </a:r>
            <a:endParaRPr lang="en-US" sz="1680" dirty="0"/>
          </a:p>
        </p:txBody>
      </p:sp>
      <p:sp>
        <p:nvSpPr>
          <p:cNvPr id="48" name="Shape 46"/>
          <p:cNvSpPr/>
          <p:nvPr/>
        </p:nvSpPr>
        <p:spPr>
          <a:xfrm>
            <a:off x="7708392" y="4645152"/>
            <a:ext cx="4014216" cy="1033272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9D2D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91272" y="4809744"/>
            <a:ext cx="1481328" cy="347472"/>
          </a:xfrm>
          <a:prstGeom prst="roundRect">
            <a:avLst/>
          </a:prstGeom>
          <a:solidFill>
            <a:srgbClr val="DDEAE2"/>
          </a:solidFill>
          <a:ln w="12700">
            <a:solidFill>
              <a:srgbClr val="DDEAE2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964424" y="482803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5604D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復原／狀態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9528048" y="4736592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續接末站／</a:t>
            </a: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載入</a:t>
            </a: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fallback</a:t>
            </a:r>
            <a:endParaRPr lang="en-US" sz="1600" dirty="0"/>
          </a:p>
        </p:txBody>
      </p:sp>
      <p:sp>
        <p:nvSpPr>
          <p:cNvPr id="52" name="Text 50"/>
          <p:cNvSpPr txBox="1"/>
          <p:nvPr/>
        </p:nvSpPr>
        <p:spPr>
          <a:xfrm>
            <a:off x="9528048" y="5248656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狀態：未驗證</a:t>
            </a:r>
            <a:endParaRPr lang="en-US" sz="1600" dirty="0"/>
          </a:p>
        </p:txBody>
      </p:sp>
      <p:sp>
        <p:nvSpPr>
          <p:cNvPr id="53" name="Text 51"/>
          <p:cNvSpPr txBox="1"/>
          <p:nvPr/>
        </p:nvSpPr>
        <p:spPr>
          <a:xfrm>
            <a:off x="749808" y="57698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STYLE STUDY</a:t>
            </a: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DONOR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7333488" y="5769864"/>
            <a:ext cx="4242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模擬教學｜非即時｜非量測｜未驗證</a:t>
            </a: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parity</a:t>
            </a:r>
            <a:endParaRPr lang="en-US" sz="1600" dirty="0"/>
          </a:p>
        </p:txBody>
      </p:sp>
      <p:sp>
        <p:nvSpPr>
          <p:cNvPr id="55" name="Text 53"/>
          <p:cNvSpPr txBox="1"/>
          <p:nvPr/>
        </p:nvSpPr>
        <p:spPr>
          <a:xfrm>
            <a:off x="10934700" y="6340475"/>
            <a:ext cx="88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標楷體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標楷體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</Words>
  <Application>Microsoft Office PowerPoint</Application>
  <PresentationFormat>寬螢幕</PresentationFormat>
  <Paragraphs>73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標楷體</vt:lpstr>
      <vt:lpstr>Arial</vt:lpstr>
      <vt:lpstr>Times New Roman</vt:lpstr>
      <vt:lpstr>Office Theme</vt:lpstr>
      <vt:lpstr>PowerPoint 簡報</vt:lpstr>
      <vt:lpstr>PowerPoint 簡報</vt:lpstr>
    </vt:vector>
  </TitlesOfParts>
  <Company>C-120 course planning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LEO energy course donor transplant — two-slide style study</dc:title>
  <dc:subject>Archived Phase-0 visual donor transplanted into the edu frame</dc:subject>
  <dc:creator>C-120 two-slide donor transplant checkpoint</dc:creator>
  <cp:lastModifiedBy>柏宏 吳</cp:lastModifiedBy>
  <cp:revision>1</cp:revision>
  <dcterms:created xsi:type="dcterms:W3CDTF">2026-08-10T08:54:14Z</dcterms:created>
  <dcterms:modified xsi:type="dcterms:W3CDTF">2026-08-10T08:54:28Z</dcterms:modified>
</cp:coreProperties>
</file>