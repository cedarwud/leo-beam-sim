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  <p:sldId id="258" r:id="rId9"/>
    <p:sldId id="259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6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CONTENT_NO_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pic>
        <p:nvPicPr>
          <p:cNvPr id="6" name="Image 1" descr="Template programm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30" y="0"/>
            <a:ext cx="1981230" cy="283007"/>
          </a:xfrm>
          <a:prstGeom prst="rect">
            <a:avLst/>
          </a:prstGeom>
        </p:spPr>
      </p:pic>
      <p:pic>
        <p:nvPicPr>
          <p:cNvPr id="7" name="Image 2" descr="Template footer divi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C-120 LEO 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能源決策課程｜</a:t>
            </a: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3931920" cy="347472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TITLE · OWNER REVIEW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25880"/>
            <a:ext cx="6931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軌跡會變，</a:t>
            </a:r>
            <a:r>
              <a:rPr lang="en-US" sz="3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3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節能判斷也要會變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2951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低軌衛星情境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功率與時間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換手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IoT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 rot="480000">
            <a:off x="8805672" y="1024128"/>
            <a:ext cx="2679192" cy="1389888"/>
          </a:xfrm>
          <a:prstGeom prst="arc">
            <a:avLst/>
          </a:prstGeom>
          <a:solidFill>
            <a:srgbClr val="FFFFFF">
              <a:alpha val="0"/>
            </a:srgbClr>
          </a:solidFill>
          <a:ln w="22860">
            <a:solidFill>
              <a:srgbClr val="28B8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4025" y="1222553"/>
            <a:ext cx="326441" cy="230429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7584" y="1203350"/>
            <a:ext cx="288036" cy="268834"/>
          </a:xfrm>
          <a:prstGeom prst="rect">
            <a:avLst/>
          </a:prstGeom>
          <a:solidFill>
            <a:srgbClr val="536F87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78870" y="1203350"/>
            <a:ext cx="288036" cy="268834"/>
          </a:xfrm>
          <a:prstGeom prst="rect">
            <a:avLst/>
          </a:prstGeom>
          <a:solidFill>
            <a:srgbClr val="536F87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5620" y="1337767"/>
            <a:ext cx="403250" cy="0"/>
          </a:xfrm>
          <a:prstGeom prst="line">
            <a:avLst/>
          </a:prstGeom>
          <a:noFill/>
          <a:ln w="17780">
            <a:solidFill>
              <a:srgbClr val="1421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10790834" y="1491386"/>
            <a:ext cx="172822" cy="172822"/>
          </a:xfrm>
          <a:prstGeom prst="triangle">
            <a:avLst/>
          </a:prstGeom>
          <a:solidFill>
            <a:srgbClr val="536F87">
              <a:alpha val="88000"/>
            </a:srgbClr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62872" y="1984248"/>
            <a:ext cx="2039112" cy="0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85219" y="1819656"/>
            <a:ext cx="265085" cy="16459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2259" y="1709928"/>
            <a:ext cx="326258" cy="274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0864" y="1783080"/>
            <a:ext cx="367040" cy="20116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0250" y="1655064"/>
            <a:ext cx="203911" cy="32918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55335" y="1746504"/>
            <a:ext cx="224302" cy="23774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47513" y="1527048"/>
            <a:ext cx="146304" cy="146304"/>
          </a:xfrm>
          <a:prstGeom prst="ellipse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10642" y="1600200"/>
            <a:ext cx="0" cy="384048"/>
          </a:xfrm>
          <a:prstGeom prst="line">
            <a:avLst/>
          </a:prstGeom>
          <a:noFill/>
          <a:ln w="19050">
            <a:solidFill>
              <a:srgbClr val="536F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20208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33104" y="2194560"/>
            <a:ext cx="2807208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0" y="22402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能源決策實驗室｜非專家課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72491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 </a:t>
            </a: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分鐘核心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99008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E3 </a:t>
            </a:r>
            <a:r>
              <a:rPr lang="en-US" sz="160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整段移除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48256" y="2679192"/>
            <a:ext cx="1627632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03120" y="2752344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TLE→NTPU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21608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22776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77640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193792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94960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9824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65976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67144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22008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挑戰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339328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540496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95360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012680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13848" y="2679192"/>
            <a:ext cx="1508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68712" y="2752344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提取／緩衝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2048256" y="32461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+ 18 + 12 + 6 = 90</a:t>
            </a:r>
            <a:endParaRPr lang="en-US" sz="17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366674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分鐘路線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39319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可拔除保留段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139696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94560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145536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319272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74136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325112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498848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53712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504688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678424" y="3621024"/>
            <a:ext cx="164592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79D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33288" y="3694176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E3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｜條件式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370064" y="3886200"/>
            <a:ext cx="128016" cy="0"/>
          </a:xfrm>
          <a:prstGeom prst="line">
            <a:avLst/>
          </a:prstGeom>
          <a:noFill/>
          <a:ln w="22860">
            <a:solidFill>
              <a:srgbClr val="9B79D0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543800" y="3621024"/>
            <a:ext cx="97840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98664" y="369417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8567928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741664" y="3621024"/>
            <a:ext cx="102412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796528" y="369417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轉移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811512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985248" y="3621024"/>
            <a:ext cx="9966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040112" y="3694176"/>
            <a:ext cx="886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收束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2139696" y="4197096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+ 30 + 18 + 12 + 6 = 120</a:t>
            </a:r>
            <a:endParaRPr lang="en-US" sz="1750" dirty="0"/>
          </a:p>
        </p:txBody>
      </p:sp>
      <p:sp>
        <p:nvSpPr>
          <p:cNvPr id="67" name="Shape 65"/>
          <p:cNvSpPr/>
          <p:nvPr/>
        </p:nvSpPr>
        <p:spPr>
          <a:xfrm>
            <a:off x="731520" y="4663440"/>
            <a:ext cx="10908792" cy="10698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4213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96112" y="4855464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共同判讀骨架</a:t>
            </a:r>
            <a:endParaRPr lang="en-US" sz="1750" dirty="0"/>
          </a:p>
        </p:txBody>
      </p:sp>
      <p:sp>
        <p:nvSpPr>
          <p:cNvPr id="69" name="Text 67"/>
          <p:cNvSpPr txBox="1"/>
          <p:nvPr/>
        </p:nvSpPr>
        <p:spPr>
          <a:xfrm>
            <a:off x="2487168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200" dirty="0"/>
          </a:p>
        </p:txBody>
      </p:sp>
      <p:sp>
        <p:nvSpPr>
          <p:cNvPr id="70" name="Text 68"/>
          <p:cNvSpPr txBox="1"/>
          <p:nvPr/>
        </p:nvSpPr>
        <p:spPr>
          <a:xfrm>
            <a:off x="2322576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當下功率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474720" y="5056632"/>
            <a:ext cx="40233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4334256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時間</a:t>
            </a:r>
            <a:endParaRPr lang="en-US" sz="2200" dirty="0"/>
          </a:p>
        </p:txBody>
      </p:sp>
      <p:sp>
        <p:nvSpPr>
          <p:cNvPr id="73" name="Text 71"/>
          <p:cNvSpPr txBox="1"/>
          <p:nvPr/>
        </p:nvSpPr>
        <p:spPr>
          <a:xfrm>
            <a:off x="4169664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累積多久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321808" y="5056632"/>
            <a:ext cx="40233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6181344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2200" dirty="0"/>
          </a:p>
        </p:txBody>
      </p:sp>
      <p:sp>
        <p:nvSpPr>
          <p:cNvPr id="76" name="Text 74"/>
          <p:cNvSpPr txBox="1"/>
          <p:nvPr/>
        </p:nvSpPr>
        <p:spPr>
          <a:xfrm>
            <a:off x="6016752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總能源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168896" y="5056632"/>
            <a:ext cx="40233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8028432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2200" dirty="0"/>
          </a:p>
        </p:txBody>
      </p:sp>
      <p:sp>
        <p:nvSpPr>
          <p:cNvPr id="79" name="Text 77"/>
          <p:cNvSpPr txBox="1"/>
          <p:nvPr/>
        </p:nvSpPr>
        <p:spPr>
          <a:xfrm>
            <a:off x="7863840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是否合格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015984" y="5056632"/>
            <a:ext cx="40233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9875520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</a:t>
            </a:r>
            <a:endParaRPr lang="en-US" sz="2200" dirty="0"/>
          </a:p>
        </p:txBody>
      </p:sp>
      <p:sp>
        <p:nvSpPr>
          <p:cNvPr id="82" name="Text 80"/>
          <p:cNvSpPr txBox="1"/>
          <p:nvPr/>
        </p:nvSpPr>
        <p:spPr>
          <a:xfrm>
            <a:off x="9710928" y="513892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合格邊界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內的效率</a:t>
            </a:r>
            <a:endParaRPr lang="en-US" sz="1600" dirty="0"/>
          </a:p>
        </p:txBody>
      </p:sp>
      <p:sp>
        <p:nvSpPr>
          <p:cNvPr id="83" name="Text 8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85" name="Text 8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TLE-to-NTPU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｜先知道場景從哪裡來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170432" cy="347472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93392" y="978408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2889504" y="960120"/>
            <a:ext cx="7662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一筆精簡軌道資料，如何成為眼前可用的</a:t>
            </a: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</a:t>
            </a: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衛星場景？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762488" y="969264"/>
            <a:ext cx="10149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5640" y="10149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00–10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353312"/>
            <a:ext cx="936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 →  ACTION  →  EVIDENCE  →  MEANING  →  RECOVERY / STATUS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10972800" cy="0"/>
          </a:xfrm>
          <a:prstGeom prst="line">
            <a:avLst/>
          </a:prstGeom>
          <a:noFill/>
          <a:ln w="13970">
            <a:solidFill>
              <a:srgbClr val="DC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8B8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3876" y="1856232"/>
            <a:ext cx="1325880" cy="384048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67028" y="187452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5F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2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讀來源與</a:t>
            </a:r>
            <a:r>
              <a:rPr lang="en-US" sz="162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epoch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3246120" y="2359152"/>
            <a:ext cx="256032" cy="0"/>
          </a:xfrm>
          <a:prstGeom prst="line">
            <a:avLst/>
          </a:prstGeom>
          <a:noFill/>
          <a:ln w="2540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66160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536F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8184" y="1856232"/>
            <a:ext cx="2103120" cy="384048"/>
          </a:xfrm>
          <a:prstGeom prst="roundRect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31336" y="18745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MODEL-DERIVED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694176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位置／相對幾何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3694176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友善輸出＋單位</a:t>
            </a:r>
            <a:endParaRPr lang="en-US" sz="1620" dirty="0"/>
          </a:p>
        </p:txBody>
      </p:sp>
      <p:sp>
        <p:nvSpPr>
          <p:cNvPr id="22" name="Shape 20"/>
          <p:cNvSpPr/>
          <p:nvPr/>
        </p:nvSpPr>
        <p:spPr>
          <a:xfrm>
            <a:off x="6099048" y="2359152"/>
            <a:ext cx="256032" cy="0"/>
          </a:xfrm>
          <a:prstGeom prst="line">
            <a:avLst/>
          </a:prstGeom>
          <a:noFill/>
          <a:ln w="2540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19088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9B79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792224"/>
            <a:ext cx="2157984" cy="530352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18105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ASSUMPTION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47104" y="238658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波束／流量／任務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27432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後續才加入</a:t>
            </a:r>
            <a:endParaRPr lang="en-US" sz="1620" dirty="0"/>
          </a:p>
        </p:txBody>
      </p:sp>
      <p:sp>
        <p:nvSpPr>
          <p:cNvPr id="28" name="Shape 26"/>
          <p:cNvSpPr/>
          <p:nvPr/>
        </p:nvSpPr>
        <p:spPr>
          <a:xfrm>
            <a:off x="8951976" y="2359152"/>
            <a:ext cx="256032" cy="0"/>
          </a:xfrm>
          <a:prstGeom prst="line">
            <a:avLst/>
          </a:prstGeom>
          <a:noFill/>
          <a:ln w="2540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72016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EA9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56064" y="1856232"/>
            <a:ext cx="1719072" cy="384048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29216" y="1874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SCENE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400032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r>
              <a:rPr lang="en-US" sz="2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9400032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版本化場景起點</a:t>
            </a:r>
            <a:endParaRPr lang="en-US" sz="162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3191256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學員動作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1792224" y="3136392"/>
            <a:ext cx="9738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匯入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分類來源／推導／假設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指定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UTC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逐站查看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生成同一個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scenario</a:t>
            </a:r>
            <a:endParaRPr lang="en-US" sz="1850" dirty="0"/>
          </a:p>
        </p:txBody>
      </p:sp>
      <p:sp>
        <p:nvSpPr>
          <p:cNvPr id="36" name="Shape 34"/>
          <p:cNvSpPr/>
          <p:nvPr/>
        </p:nvSpPr>
        <p:spPr>
          <a:xfrm>
            <a:off x="713232" y="3630168"/>
            <a:ext cx="5468112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" y="3785616"/>
            <a:ext cx="1517904" cy="347472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9264" y="3803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可觀察結果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2578608" y="3730752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每站呈現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input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與單位；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最終使用同一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6318504" y="3630168"/>
            <a:ext cx="5404104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1384" y="3785616"/>
            <a:ext cx="1325880" cy="347472"/>
          </a:xfrm>
          <a:prstGeom prst="roundRect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74536" y="380390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架構界線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973568" y="373075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7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 </a:t>
            </a:r>
            <a:r>
              <a:rPr lang="en-US" sz="167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不含波束、流量、功率或能源；這一段建立可信起點，不算節能證據。</a:t>
            </a:r>
            <a:endParaRPr lang="en-US" sz="1670" dirty="0"/>
          </a:p>
        </p:txBody>
      </p:sp>
      <p:sp>
        <p:nvSpPr>
          <p:cNvPr id="44" name="Shape 42"/>
          <p:cNvSpPr/>
          <p:nvPr/>
        </p:nvSpPr>
        <p:spPr>
          <a:xfrm>
            <a:off x="713232" y="4645152"/>
            <a:ext cx="6839712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" y="4809744"/>
            <a:ext cx="1865376" cy="347472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9264" y="48280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能源／競賽意義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2926080" y="4773168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先分清資料來源與課程假設，後續能源判斷</a:t>
            </a:r>
            <a:r>
              <a:rPr lang="en-US" sz="168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才不會對著無來源動畫猜答案。</a:t>
            </a:r>
            <a:endParaRPr lang="en-US" sz="1680" dirty="0"/>
          </a:p>
        </p:txBody>
      </p:sp>
      <p:sp>
        <p:nvSpPr>
          <p:cNvPr id="48" name="Shape 46"/>
          <p:cNvSpPr/>
          <p:nvPr/>
        </p:nvSpPr>
        <p:spPr>
          <a:xfrm>
            <a:off x="7708392" y="4645152"/>
            <a:ext cx="4014216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91272" y="4809744"/>
            <a:ext cx="1481328" cy="347472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64424" y="48280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復原／狀態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9528048" y="473659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續接末站／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載入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fallback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9528048" y="524865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狀態：未驗證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A</a:t>
            </a:r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｜同一份任務，快做還是慢做？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664208" cy="365760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9784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A · 18–41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2542032" y="1005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355848" y="960120"/>
            <a:ext cx="8193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payload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、同一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deadline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：低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 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一定比較省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 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嗎？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53619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先預測三條</a:t>
            </a:r>
            <a:pPr algn="l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power–time </a:t>
            </a:r>
            <a:pPr algn="l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路徑</a:t>
            </a:r>
            <a:endParaRPr lang="en-US" sz="1850" dirty="0"/>
          </a:p>
        </p:txBody>
      </p:sp>
      <p:sp>
        <p:nvSpPr>
          <p:cNvPr id="8" name="Text 6"/>
          <p:cNvSpPr txBox="1"/>
          <p:nvPr/>
        </p:nvSpPr>
        <p:spPr>
          <a:xfrm>
            <a:off x="5605272" y="155448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payload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42048" y="15544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79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18120" y="1828800"/>
            <a:ext cx="0" cy="2505456"/>
          </a:xfrm>
          <a:prstGeom prst="line">
            <a:avLst/>
          </a:prstGeom>
          <a:noFill/>
          <a:ln w="25400">
            <a:solidFill>
              <a:srgbClr val="9B79D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49808" y="1938528"/>
            <a:ext cx="1508760" cy="566928"/>
          </a:xfrm>
          <a:prstGeom prst="roundRect">
            <a:avLst/>
          </a:prstGeom>
          <a:solidFill>
            <a:srgbClr val="DCEBF0"/>
          </a:solidFill>
          <a:ln w="17780">
            <a:solidFill>
              <a:srgbClr val="28B8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01168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15F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2450592" y="1938528"/>
            <a:ext cx="484632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8B8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938528"/>
            <a:ext cx="91440" cy="566928"/>
          </a:xfrm>
          <a:prstGeom prst="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79192" y="2029968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較低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久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06640" y="2221992"/>
            <a:ext cx="347472" cy="0"/>
          </a:xfrm>
          <a:prstGeom prst="line">
            <a:avLst/>
          </a:prstGeom>
          <a:noFill/>
          <a:ln w="19050">
            <a:solidFill>
              <a:srgbClr val="C9D2D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49808" y="2761488"/>
            <a:ext cx="150876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36F8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283464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2450592" y="2761488"/>
            <a:ext cx="361188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536F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2761488"/>
            <a:ext cx="91440" cy="566928"/>
          </a:xfrm>
          <a:prstGeom prst="rect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79192" y="285292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中間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｜中間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active time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72200" y="3044952"/>
            <a:ext cx="1527048" cy="0"/>
          </a:xfrm>
          <a:prstGeom prst="line">
            <a:avLst/>
          </a:prstGeom>
          <a:noFill/>
          <a:ln w="19050">
            <a:solidFill>
              <a:srgbClr val="C9D2D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227064" y="282549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留一些</a:t>
            </a:r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idle</a:t>
            </a:r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sleep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9808" y="3584448"/>
            <a:ext cx="1508760" cy="566928"/>
          </a:xfrm>
          <a:prstGeom prst="roundRect">
            <a:avLst/>
          </a:prstGeom>
          <a:solidFill>
            <a:srgbClr val="DDEAE2"/>
          </a:solidFill>
          <a:ln w="17780">
            <a:solidFill>
              <a:srgbClr val="4EA9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65760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BURST → SLEEP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450592" y="3584448"/>
            <a:ext cx="2304288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EA9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50592" y="3584448"/>
            <a:ext cx="91440" cy="566928"/>
          </a:xfrm>
          <a:prstGeom prst="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79192" y="36758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較高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｜快速完成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864608" y="3867912"/>
            <a:ext cx="2834640" cy="0"/>
          </a:xfrm>
          <a:prstGeom prst="line">
            <a:avLst/>
          </a:prstGeom>
          <a:noFill/>
          <a:ln w="19050">
            <a:solidFill>
              <a:srgbClr val="C9D2D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4919472" y="3648456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提早</a:t>
            </a:r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sleep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65008" y="2980944"/>
            <a:ext cx="329184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8485632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學生操作</a:t>
            </a:r>
            <a:endParaRPr lang="en-US" sz="1850" dirty="0"/>
          </a:p>
        </p:txBody>
      </p:sp>
      <p:sp>
        <p:nvSpPr>
          <p:cNvPr id="33" name="Shape 31"/>
          <p:cNvSpPr/>
          <p:nvPr/>
        </p:nvSpPr>
        <p:spPr>
          <a:xfrm>
            <a:off x="8503920" y="1975104"/>
            <a:ext cx="457200" cy="457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8B8C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0" y="20208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B8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9125712" y="1956816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time · J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· bit/J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8732520" y="2459736"/>
            <a:ext cx="0" cy="283464"/>
          </a:xfrm>
          <a:prstGeom prst="line">
            <a:avLst/>
          </a:prstGeom>
          <a:noFill/>
          <a:ln w="17780">
            <a:solidFill>
              <a:srgbClr val="C9D2D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503920" y="2770632"/>
            <a:ext cx="457200" cy="457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4EA97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0" y="28163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9125712" y="2752344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選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candidate → RUN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8732520" y="3255264"/>
            <a:ext cx="0" cy="283464"/>
          </a:xfrm>
          <a:prstGeom prst="line">
            <a:avLst/>
          </a:prstGeom>
          <a:noFill/>
          <a:ln w="17780">
            <a:solidFill>
              <a:srgbClr val="C9D2D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503920" y="3566160"/>
            <a:ext cx="457200" cy="457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9B79D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03920" y="3611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79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9125712" y="3547872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揭開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fixed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idle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wakeup cost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8485632" y="4224528"/>
            <a:ext cx="3145536" cy="365760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49640" y="42428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RESET</a:t>
            </a:r>
            <a:pPr algn="ctr" indent="0" marL="0">
              <a:buNone/>
            </a:pPr>
            <a:r>
              <a:rPr lang="en-US" sz="162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｜同一情境｜未驗證</a:t>
            </a:r>
            <a:endParaRPr lang="en-US" sz="1620" dirty="0"/>
          </a:p>
        </p:txBody>
      </p:sp>
      <p:sp>
        <p:nvSpPr>
          <p:cNvPr id="46" name="Shape 44"/>
          <p:cNvSpPr/>
          <p:nvPr/>
        </p:nvSpPr>
        <p:spPr>
          <a:xfrm>
            <a:off x="713232" y="4754880"/>
            <a:ext cx="8001000" cy="85039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4400" y="501091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同一時間軸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2395728" y="49103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2889504" y="5138928"/>
            <a:ext cx="49377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3456432" y="492861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time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718304" y="5138928"/>
            <a:ext cx="47548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5257800" y="491032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5687568" y="5138928"/>
            <a:ext cx="49377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6254496" y="491947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7223760" y="5138928"/>
            <a:ext cx="49377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7754112" y="4910328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8887968" y="4754880"/>
            <a:ext cx="2834640" cy="850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A97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089136" y="48463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省</a:t>
            </a:r>
            <a:pPr algn="ctr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 ≠ </a:t>
            </a:r>
            <a:pPr algn="ctr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省</a:t>
            </a:r>
            <a:pPr algn="ctr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endParaRPr lang="en-US" sz="2300" dirty="0"/>
          </a:p>
        </p:txBody>
      </p:sp>
      <p:sp>
        <p:nvSpPr>
          <p:cNvPr id="59" name="Text 57"/>
          <p:cNvSpPr txBox="1"/>
          <p:nvPr/>
        </p:nvSpPr>
        <p:spPr>
          <a:xfrm>
            <a:off x="9089136" y="52212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先過</a:t>
            </a:r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service</a:t>
            </a:r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50" dirty="0"/>
          </a:p>
        </p:txBody>
      </p:sp>
      <p:sp>
        <p:nvSpPr>
          <p:cNvPr id="60" name="Text 58"/>
          <p:cNvSpPr txBox="1"/>
          <p:nvPr/>
        </p:nvSpPr>
        <p:spPr>
          <a:xfrm>
            <a:off x="749808" y="57790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設計估計｜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分鐘，尚未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novice-timed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4864608" y="5779008"/>
            <a:ext cx="671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模擬教學資料｜非即時｜非量測｜</a:t>
            </a:r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parity </a:t>
            </a:r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clinic</a:t>
            </a:r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is not saving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847088" cy="365760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97840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 · 92–106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2724912" y="1005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538728" y="960120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比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78% 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更能證明節能嗎？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55448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示例</a:t>
            </a:r>
            <a:pPr algn="ctr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prediction score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859536" y="1929384"/>
            <a:ext cx="1207008" cy="12070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9B7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3544" y="218541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228600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523744" y="1929384"/>
            <a:ext cx="1207008" cy="12070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536F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87752" y="218541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78%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32918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只回答：模型預測得多準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" y="37033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4B5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尚未回答：是否真的省</a:t>
            </a:r>
            <a:pPr algn="ctr" indent="0" marL="0">
              <a:buNone/>
            </a:pPr>
            <a:r>
              <a:rPr lang="en-US" sz="1800" b="1" dirty="0">
                <a:solidFill>
                  <a:srgbClr val="B34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13048" y="2788920"/>
            <a:ext cx="438912" cy="0"/>
          </a:xfrm>
          <a:prstGeom prst="line">
            <a:avLst/>
          </a:prstGeom>
          <a:noFill/>
          <a:ln w="2794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315968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先過</a:t>
            </a:r>
            <a:pPr algn="ctr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evidence gate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4352544" y="1920240"/>
            <a:ext cx="2670048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EA9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17136" y="202996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 age</a:t>
            </a:r>
            <a:pPr algn="ctr" indent="0" marL="0">
              <a:buNone/>
            </a:pPr>
            <a:r>
              <a:rPr lang="en-US" sz="17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｜現在可得</a:t>
            </a:r>
            <a:pPr algn="ctr" indent="0" marL="0">
              <a:buNone/>
            </a:pPr>
            <a:r>
              <a:rPr lang="en-US" sz="17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✓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4352544" y="2651760"/>
            <a:ext cx="2670048" cy="67665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34B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17136" y="279806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4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service</a:t>
            </a:r>
            <a:pPr algn="ctr" indent="0" marL="0">
              <a:buNone/>
            </a:pPr>
            <a:r>
              <a:rPr lang="en-US" sz="1700" b="1" dirty="0">
                <a:solidFill>
                  <a:srgbClr val="B34B5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｜事後才有</a:t>
            </a:r>
            <a:pPr algn="ctr" indent="0" marL="0">
              <a:buNone/>
            </a:pPr>
            <a:r>
              <a:rPr lang="en-US" sz="1700" b="1" dirty="0">
                <a:solidFill>
                  <a:srgbClr val="B34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687568" y="3401568"/>
            <a:ext cx="0" cy="347472"/>
          </a:xfrm>
          <a:prstGeom prst="line">
            <a:avLst/>
          </a:prstGeom>
          <a:noFill/>
          <a:ln w="2413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52544" y="3822192"/>
            <a:ext cx="2670048" cy="67665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8B8C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17136" y="39502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ONE ACTION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14032" y="2788920"/>
            <a:ext cx="438912" cy="0"/>
          </a:xfrm>
          <a:prstGeom prst="line">
            <a:avLst/>
          </a:prstGeom>
          <a:noFill/>
          <a:ln w="2794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607808" y="155448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replay </a:t>
            </a:r>
            <a:pPr algn="ctr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才能檢驗能源紀錄</a:t>
            </a:r>
            <a:endParaRPr lang="en-US" sz="1850" dirty="0"/>
          </a:p>
        </p:txBody>
      </p:sp>
      <p:sp>
        <p:nvSpPr>
          <p:cNvPr id="26" name="Text 24"/>
          <p:cNvSpPr txBox="1"/>
          <p:nvPr/>
        </p:nvSpPr>
        <p:spPr>
          <a:xfrm>
            <a:off x="7717536" y="201168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B8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997696" y="2185416"/>
            <a:ext cx="384048" cy="0"/>
          </a:xfrm>
          <a:prstGeom prst="line">
            <a:avLst/>
          </a:prstGeom>
          <a:noFill/>
          <a:ln w="2413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9418320" y="20116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10789920" y="2185416"/>
            <a:ext cx="365760" cy="0"/>
          </a:xfrm>
          <a:prstGeom prst="line">
            <a:avLst/>
          </a:prstGeom>
          <a:noFill/>
          <a:ln w="2413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11192256" y="199339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7662672" y="2615184"/>
            <a:ext cx="3968496" cy="14447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EA9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2779776"/>
            <a:ext cx="3383280" cy="384048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19288" y="2798064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FROZEN RECORD</a:t>
            </a:r>
            <a:pPr algn="ctr" indent="0" marL="0">
              <a:buNone/>
            </a:pPr>
            <a:r>
              <a:rPr lang="en-US" sz="165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｜待驗證</a:t>
            </a:r>
            <a:endParaRPr lang="en-US" sz="1650" dirty="0"/>
          </a:p>
        </p:txBody>
      </p:sp>
      <p:sp>
        <p:nvSpPr>
          <p:cNvPr id="34" name="Text 32"/>
          <p:cNvSpPr txBox="1"/>
          <p:nvPr/>
        </p:nvSpPr>
        <p:spPr>
          <a:xfrm>
            <a:off x="7882128" y="325526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deadline · freshness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7882128" y="362102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consumed J · delivered bits · bit/J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7662672" y="4233672"/>
            <a:ext cx="3968496" cy="365760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26680" y="4251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</a:t>
            </a:r>
            <a:pPr algn="ctr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fallback → same trace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713232" y="4773168"/>
            <a:ext cx="11009376" cy="850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79D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50976" y="4855464"/>
            <a:ext cx="654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≠ saving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｜還要看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service 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endParaRPr lang="en-US" sz="2300" dirty="0"/>
          </a:p>
        </p:txBody>
      </p:sp>
      <p:sp>
        <p:nvSpPr>
          <p:cNvPr id="40" name="Text 38"/>
          <p:cNvSpPr txBox="1"/>
          <p:nvPr/>
        </p:nvSpPr>
        <p:spPr>
          <a:xfrm>
            <a:off x="7278624" y="4818888"/>
            <a:ext cx="4169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→ action → service</a:t>
            </a:r>
            <a:endParaRPr lang="en-US" sz="1650" dirty="0"/>
          </a:p>
          <a:p>
            <a:pPr algn="r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J → bounded claim</a:t>
            </a:r>
            <a:endParaRPr lang="en-US" sz="1650" dirty="0"/>
          </a:p>
        </p:txBody>
      </p:sp>
      <p:sp>
        <p:nvSpPr>
          <p:cNvPr id="41" name="Text 39"/>
          <p:cNvSpPr txBox="1"/>
          <p:nvPr/>
        </p:nvSpPr>
        <p:spPr>
          <a:xfrm>
            <a:off x="7845552" y="5349240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狀態：流程與數值皆未驗證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49808" y="57790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設計估計｜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分鐘，尚未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novice-timed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4864608" y="5779008"/>
            <a:ext cx="671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模擬教學資料｜非即時｜非量測｜</a:t>
            </a:r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parity </a:t>
            </a:r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標楷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寬螢幕</PresentationFormat>
  <Paragraphs>73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標楷體</vt:lpstr>
      <vt:lpstr>Arial</vt:lpstr>
      <vt:lpstr>Times New Roman</vt:lpstr>
      <vt:lpstr>Office Theme</vt:lpstr>
      <vt:lpstr>PowerPoint 簡報</vt:lpstr>
      <vt:lpstr>PowerPoint 簡報</vt:lpstr>
      <vt:lpstr>Lab A｜同一份任務，快做還是慢做？</vt:lpstr>
      <vt:lpstr>Evidence clinic｜Prediction is not saving</vt:lpstr>
    </vt:vector>
  </TitlesOfParts>
  <Company>C-120 course planning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 energy course donor transplant — two-slide style study</dc:title>
  <dc:subject>Archived Phase-0 visual donor transplanted into the edu frame</dc:subject>
  <dc:creator>C-120 two-slide donor transplant checkpoint</dc:creator>
  <cp:lastModifiedBy>柏宏 吳</cp:lastModifiedBy>
  <cp:revision>1</cp:revision>
  <dcterms:created xsi:type="dcterms:W3CDTF">2026-08-10T08:54:14Z</dcterms:created>
  <dcterms:modified xsi:type="dcterms:W3CDTF">2026-08-10T08:54:28Z</dcterms:modified>
</cp:coreProperties>
</file>