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970" cy="6858000"/>
  <p:notesSz cx="6858000" cy="1219197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pic>
        <p:nvPicPr>
          <p:cNvPr id="3" name="Image 1" descr="Template footer divi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pic>
        <p:nvPicPr>
          <p:cNvPr id="4" name="Image 2" descr="Template programm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154" y="0"/>
            <a:ext cx="2265426" cy="32360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001177" y="2312335"/>
            <a:ext cx="0" cy="76197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683697" y="2844150"/>
            <a:ext cx="10943173" cy="0"/>
          </a:xfrm>
          <a:prstGeom prst="line">
            <a:avLst/>
          </a:prstGeom>
          <a:noFill/>
          <a:ln w="38100">
            <a:solidFill>
              <a:srgbClr val="35377F"/>
            </a:solidFill>
            <a:prstDash val="solid"/>
          </a:ln>
        </p:spPr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1132393" y="1581180"/>
            <a:ext cx="1036317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1780154" y="2935773"/>
            <a:ext cx="8534370" cy="1438077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rgbClr val="00000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sp>
        <p:nvSpPr>
          <p:cNvPr id="7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5377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rgbClr val="00000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pic>
        <p:nvPicPr>
          <p:cNvPr id="9" name="Image 2" descr="Template footer div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｜同一份任務，快做還是慢做？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664208" cy="365760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A · 18–41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54203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355848" y="96012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、同一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：低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一定比較省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</a:t>
            </a:r>
            <a:pPr algn="l" indent="0" marL="0">
              <a:buNone/>
            </a:pPr>
            <a:r>
              <a:rPr lang="en-US" sz="22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嗎？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713232" y="1481328"/>
            <a:ext cx="7571232" cy="3099816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609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先預測三條</a:t>
            </a:r>
            <a:pPr algn="l" indent="0" marL="0">
              <a:buNone/>
            </a:pPr>
            <a:r>
              <a:rPr lang="en-US" sz="18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power–time </a:t>
            </a:r>
            <a:pPr algn="l" indent="0" marL="0">
              <a:buNone/>
            </a:pP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路徑</a:t>
            </a:r>
            <a:endParaRPr lang="en-US" sz="18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1627632"/>
            <a:ext cx="3163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payload · </a:t>
            </a:r>
            <a:pPr algn="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pPr algn="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deadline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18836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52944" y="2121408"/>
            <a:ext cx="0" cy="2157984"/>
          </a:xfrm>
          <a:prstGeom prst="line">
            <a:avLst/>
          </a:prstGeom>
          <a:noFill/>
          <a:ln w="25400">
            <a:solidFill>
              <a:srgbClr val="9B79D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914400" y="2212848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2194560" y="2139696"/>
            <a:ext cx="4937760" cy="530352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59152" y="2212848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較低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242048" y="2404872"/>
            <a:ext cx="34747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14400" y="2953512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94560" y="2880360"/>
            <a:ext cx="3703320" cy="530352"/>
          </a:xfrm>
          <a:prstGeom prst="roundRect">
            <a:avLst/>
          </a:prstGeom>
          <a:solidFill>
            <a:srgbClr val="536F87"/>
          </a:solidFill>
          <a:ln w="12700">
            <a:solidFill>
              <a:srgbClr val="536F8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59152" y="2953512"/>
            <a:ext cx="3374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中間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｜中間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active time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007608" y="3145536"/>
            <a:ext cx="1472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053328" y="2944368"/>
            <a:ext cx="1380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留一些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idle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69417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BURST → SLEEP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194560" y="3621024"/>
            <a:ext cx="2423160" cy="530352"/>
          </a:xfrm>
          <a:prstGeom prst="roundRect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9152" y="3694176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較高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</a:t>
            </a:r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｜快速完成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4727448" y="3886200"/>
            <a:ext cx="275234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4773168" y="3685032"/>
            <a:ext cx="2660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提早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85632" y="1481328"/>
            <a:ext cx="3236976" cy="3099816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23376" y="162763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學生操作</a:t>
            </a:r>
            <a:endParaRPr lang="en-US" sz="1850" dirty="0"/>
          </a:p>
        </p:txBody>
      </p:sp>
      <p:sp>
        <p:nvSpPr>
          <p:cNvPr id="28" name="Shape 26"/>
          <p:cNvSpPr/>
          <p:nvPr/>
        </p:nvSpPr>
        <p:spPr>
          <a:xfrm>
            <a:off x="8723376" y="2011680"/>
            <a:ext cx="420624" cy="420624"/>
          </a:xfrm>
          <a:prstGeom prst="ellipse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23376" y="204825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0" y="1984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先預測</a:t>
            </a:r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time · J · service · bit/J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23376" y="2596896"/>
            <a:ext cx="276148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23376" y="2761488"/>
            <a:ext cx="420624" cy="420624"/>
          </a:xfrm>
          <a:prstGeom prst="ellipse">
            <a:avLst/>
          </a:prstGeom>
          <a:solidFill>
            <a:srgbClr val="4EA978"/>
          </a:solidFill>
          <a:ln w="12700">
            <a:solidFill>
              <a:srgbClr val="4EA97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23376" y="279806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273405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選</a:t>
            </a:r>
            <a:pPr algn="l"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candidate → RUN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8723376" y="3346704"/>
            <a:ext cx="2761488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23376" y="3493008"/>
            <a:ext cx="420624" cy="420624"/>
          </a:xfrm>
          <a:prstGeom prst="ellipse">
            <a:avLst/>
          </a:prstGeom>
          <a:solidFill>
            <a:srgbClr val="9B79D0"/>
          </a:solidFill>
          <a:ln w="12700">
            <a:solidFill>
              <a:srgbClr val="9B79D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23376" y="352958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465576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揭開</a:t>
            </a:r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fixed</a:t>
            </a:r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idle</a:t>
            </a:r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l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wakeup cost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8723376" y="4160520"/>
            <a:ext cx="2761488" cy="292608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87384" y="417880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RESET</a:t>
            </a:r>
            <a:pPr algn="ctr" indent="0" marL="0">
              <a:buNone/>
            </a:pPr>
            <a:r>
              <a:rPr lang="en-US" sz="16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｜同一情境｜未驗證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13232" y="4754880"/>
            <a:ext cx="11009376" cy="850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50109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同一時間軸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212848" y="4892040"/>
            <a:ext cx="6291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 →  active time  →  J  →  service  →  bit/J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8741664" y="4882896"/>
            <a:ext cx="0" cy="585216"/>
          </a:xfrm>
          <a:prstGeom prst="line">
            <a:avLst/>
          </a:prstGeom>
          <a:noFill/>
          <a:ln w="15240">
            <a:solidFill>
              <a:srgbClr val="9B79D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979408" y="4846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 ≠ 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省</a:t>
            </a:r>
            <a:pPr algn="ctr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46" name="Text 44"/>
          <p:cNvSpPr txBox="1"/>
          <p:nvPr/>
        </p:nvSpPr>
        <p:spPr>
          <a:xfrm>
            <a:off x="8979408" y="522122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／</a:t>
            </a:r>
            <a:pPr algn="ctr" indent="0" marL="0">
              <a:buNone/>
            </a:pPr>
            <a:r>
              <a:rPr lang="en-US" sz="1650" b="1" dirty="0">
                <a:solidFill>
                  <a:srgbClr val="4EA9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50" dirty="0"/>
          </a:p>
        </p:txBody>
      </p:sp>
      <p:sp>
        <p:nvSpPr>
          <p:cNvPr id="47" name="Text 45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1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l" indent="0" marL="0">
              <a:buNone/>
            </a:pPr>
            <a:r>
              <a:rPr lang="en-US" sz="28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847088" cy="365760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7840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2724912" y="1005840"/>
            <a:ext cx="786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538728" y="960120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比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更能證明節能嗎？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713232" y="1481328"/>
            <a:ext cx="3154680" cy="3136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14216" y="1481328"/>
            <a:ext cx="3108960" cy="3136392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1481328"/>
            <a:ext cx="4453128" cy="3136392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1645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4D426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示例</a:t>
            </a:r>
            <a:pPr algn="ctr" indent="0" marL="0">
              <a:buNone/>
            </a:pPr>
            <a:r>
              <a:rPr lang="en-US" sz="1850" b="1" dirty="0">
                <a:solidFill>
                  <a:srgbClr val="4D426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prediction score</a:t>
            </a:r>
            <a:endParaRPr lang="en-US" sz="18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488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093976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B79D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542032" y="214884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960120" y="2944368"/>
            <a:ext cx="2651760" cy="0"/>
          </a:xfrm>
          <a:prstGeom prst="line">
            <a:avLst/>
          </a:prstGeom>
          <a:noFill/>
          <a:ln w="1651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18211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只回答：模型預測得多準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37307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尚未回答：是否真的省</a:t>
            </a:r>
            <a:pPr algn="ctr" indent="0" marL="0">
              <a:buNone/>
            </a:pPr>
            <a:r>
              <a:rPr lang="en-US" sz="175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3785616" y="2852928"/>
            <a:ext cx="347472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4233672" y="164592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15F70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先過</a:t>
            </a:r>
            <a:pPr algn="ctr" indent="0" marL="0">
              <a:buNone/>
            </a:pPr>
            <a:r>
              <a:rPr lang="en-US" sz="1850" b="1" dirty="0">
                <a:solidFill>
                  <a:srgbClr val="315F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evidence gate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4297680" y="2084832"/>
            <a:ext cx="2542032" cy="493776"/>
          </a:xfrm>
          <a:prstGeom prst="roundRect">
            <a:avLst/>
          </a:prstGeom>
          <a:solidFill>
            <a:srgbClr val="DDEAE2"/>
          </a:solidFill>
          <a:ln w="12700">
            <a:solidFill>
              <a:srgbClr val="DDEAE2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61688" y="210312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queue age</a:t>
            </a:r>
            <a:pPr algn="ctr" indent="0" marL="0">
              <a:buNone/>
            </a:pPr>
            <a:r>
              <a:rPr lang="en-US" sz="17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297680" y="2761488"/>
            <a:ext cx="2542032" cy="566928"/>
          </a:xfrm>
          <a:prstGeom prst="roundRect">
            <a:avLst/>
          </a:prstGeom>
          <a:solidFill>
            <a:srgbClr val="F5E4E7"/>
          </a:solidFill>
          <a:ln w="12700">
            <a:solidFill>
              <a:srgbClr val="F5E4E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61688" y="277977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B34B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final service</a:t>
            </a:r>
            <a:pPr algn="ctr" indent="0" marL="0">
              <a:buNone/>
            </a:pPr>
            <a:r>
              <a:rPr lang="en-US" sz="1650" b="1" dirty="0">
                <a:solidFill>
                  <a:srgbClr val="B34B5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4564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 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決定能否使用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97680" y="3913632"/>
            <a:ext cx="2542032" cy="475488"/>
          </a:xfrm>
          <a:prstGeom prst="roundRect">
            <a:avLst/>
          </a:prstGeom>
          <a:solidFill>
            <a:srgbClr val="28B8C7"/>
          </a:solidFill>
          <a:ln w="12700">
            <a:solidFill>
              <a:srgbClr val="28B8C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62272" y="399592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7040880" y="2852928"/>
            <a:ext cx="347472" cy="0"/>
          </a:xfrm>
          <a:prstGeom prst="line">
            <a:avLst/>
          </a:prstGeom>
          <a:noFill/>
          <a:ln w="26670">
            <a:solidFill>
              <a:srgbClr val="28B8C7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7516368" y="1645920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replay</a:t>
            </a:r>
            <a:pPr algn="ctr" indent="0" marL="0">
              <a:buNone/>
            </a:pPr>
            <a:r>
              <a:rPr lang="en-US" sz="185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｜能源紀錄</a:t>
            </a:r>
            <a:endParaRPr lang="en-US" sz="18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210312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  →  SERVICE  →  J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626096" y="2670048"/>
            <a:ext cx="374904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690104" y="2688336"/>
            <a:ext cx="3621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604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 RECORD</a:t>
            </a:r>
            <a:pPr algn="ctr" indent="0" marL="0">
              <a:buNone/>
            </a:pPr>
            <a:r>
              <a:rPr lang="en-US" sz="1700" b="1" dirty="0">
                <a:solidFill>
                  <a:srgbClr val="35604D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｜待驗證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626096" y="3246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 · freshness</a:t>
            </a:r>
            <a:endParaRPr lang="en-US" sz="1650" dirty="0"/>
          </a:p>
        </p:txBody>
      </p:sp>
      <p:sp>
        <p:nvSpPr>
          <p:cNvPr id="32" name="Text 30"/>
          <p:cNvSpPr txBox="1"/>
          <p:nvPr/>
        </p:nvSpPr>
        <p:spPr>
          <a:xfrm>
            <a:off x="7626096" y="3639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626096" y="4096512"/>
            <a:ext cx="3749040" cy="310896"/>
          </a:xfrm>
          <a:prstGeom prst="roundRect">
            <a:avLst/>
          </a:prstGeom>
          <a:solidFill>
            <a:srgbClr val="DCEBF0"/>
          </a:solidFill>
          <a:ln w="12700">
            <a:solidFill>
              <a:srgbClr val="DCEBF0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90104" y="411480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pPr algn="ctr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fallback → same trace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13232" y="4773168"/>
            <a:ext cx="11009376" cy="850392"/>
          </a:xfrm>
          <a:prstGeom prst="roundRect">
            <a:avLst/>
          </a:prstGeom>
          <a:solidFill>
            <a:srgbClr val="E7E3F1"/>
          </a:solidFill>
          <a:ln w="12700">
            <a:solidFill>
              <a:srgbClr val="E7E3F1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50976" y="4855464"/>
            <a:ext cx="6547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≠ saving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｜還要看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service 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</a:t>
            </a:r>
            <a:pPr algn="l" indent="0" marL="0">
              <a:buNone/>
            </a:pPr>
            <a:r>
              <a:rPr lang="en-US" sz="2300" b="1" dirty="0">
                <a:solidFill>
                  <a:srgbClr val="0B13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</a:t>
            </a:r>
            <a:endParaRPr lang="en-US" sz="2300" dirty="0"/>
          </a:p>
        </p:txBody>
      </p:sp>
      <p:sp>
        <p:nvSpPr>
          <p:cNvPr id="37" name="Text 35"/>
          <p:cNvSpPr txBox="1"/>
          <p:nvPr/>
        </p:nvSpPr>
        <p:spPr>
          <a:xfrm>
            <a:off x="7278624" y="48554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38" name="Text 36"/>
          <p:cNvSpPr txBox="1"/>
          <p:nvPr/>
        </p:nvSpPr>
        <p:spPr>
          <a:xfrm>
            <a:off x="7845552" y="5276088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狀態：流程與數值皆未驗證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57790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設計估計｜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分鐘，尚未</a:t>
            </a:r>
            <a:pPr algn="l" indent="0" marL="0">
              <a:buNone/>
            </a:pPr>
            <a:r>
              <a:rPr lang="en-US" sz="1600" b="1" dirty="0">
                <a:solidFill>
                  <a:srgbClr val="536F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novice-timed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5779008"/>
            <a:ext cx="671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parity </a:t>
            </a:r>
            <a:pPr algn="r" indent="0" marL="0">
              <a:buNone/>
            </a:pPr>
            <a:r>
              <a:rPr lang="en-US" sz="1600" b="1" dirty="0">
                <a:solidFill>
                  <a:srgbClr val="60708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3"/>
          <p:cNvSpPr/>
          <p:nvPr>
            <p:ph idx="105" type="title" hasCustomPrompt="1"/>
          </p:nvPr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3" name="Text 3"/>
          <p:cNvSpPr/>
          <p:nvPr>
            <p:ph idx="106" type="body" hasCustomPrompt="1"/>
          </p:nvPr>
        </p:nvSpPr>
        <p:spPr>
          <a:xfrm>
            <a:off x="656591" y="960120"/>
            <a:ext cx="11234420" cy="5099685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34700" y="6340475"/>
            <a:ext cx="889000" cy="4762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400">
                <a:solidFill>
                  <a:srgbClr val="35377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C-120 donor-style extension content</dc:title>
  <dc:subject>Editable content slides for Lab A and the evidence clinic</dc:subject>
  <dc:creator>C-120 donor-style four-slide test</dc:creator>
  <cp:lastModifiedBy>C-120 donor-style four-slide test</cp:lastModifiedBy>
  <cp:revision>1</cp:revision>
  <dcterms:created xsi:type="dcterms:W3CDTF">2026-08-10T15:48:54Z</dcterms:created>
  <dcterms:modified xsi:type="dcterms:W3CDTF">2026-08-10T15:48:54Z</dcterms:modified>
</cp:coreProperties>
</file>