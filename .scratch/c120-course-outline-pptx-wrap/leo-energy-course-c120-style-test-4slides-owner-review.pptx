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6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CONTENT_NO_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pic>
        <p:nvPicPr>
          <p:cNvPr id="6" name="Image 1" descr="Template programm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30" y="0"/>
            <a:ext cx="1981230" cy="283007"/>
          </a:xfrm>
          <a:prstGeom prst="rect">
            <a:avLst/>
          </a:prstGeom>
        </p:spPr>
      </p:pic>
      <p:pic>
        <p:nvPicPr>
          <p:cNvPr id="7" name="Image 2" descr="Template footer divi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C-120 LEO 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能源決策課程｜</a:t>
            </a: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3931920" cy="347472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TITLE · OWNER REVIEW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25880"/>
            <a:ext cx="6931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軌跡會變，</a:t>
            </a:r>
            <a:r>
              <a:rPr lang="en-US" sz="3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3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節能判斷也要會變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2951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低軌衛星情境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功率與時間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換手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IoT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 rot="480000">
            <a:off x="8805672" y="1024128"/>
            <a:ext cx="2679192" cy="1389888"/>
          </a:xfrm>
          <a:prstGeom prst="arc">
            <a:avLst/>
          </a:prstGeom>
          <a:solidFill>
            <a:srgbClr val="FFFFFF">
              <a:alpha val="0"/>
            </a:srgbClr>
          </a:solidFill>
          <a:ln w="22860">
            <a:solidFill>
              <a:srgbClr val="28B8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4025" y="1222553"/>
            <a:ext cx="326441" cy="230429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7584" y="1203350"/>
            <a:ext cx="288036" cy="268834"/>
          </a:xfrm>
          <a:prstGeom prst="rect">
            <a:avLst/>
          </a:prstGeom>
          <a:solidFill>
            <a:srgbClr val="536F87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78870" y="1203350"/>
            <a:ext cx="288036" cy="268834"/>
          </a:xfrm>
          <a:prstGeom prst="rect">
            <a:avLst/>
          </a:prstGeom>
          <a:solidFill>
            <a:srgbClr val="536F87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5620" y="1337767"/>
            <a:ext cx="403250" cy="0"/>
          </a:xfrm>
          <a:prstGeom prst="line">
            <a:avLst/>
          </a:prstGeom>
          <a:noFill/>
          <a:ln w="17780">
            <a:solidFill>
              <a:srgbClr val="1421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10790834" y="1491386"/>
            <a:ext cx="172822" cy="172822"/>
          </a:xfrm>
          <a:prstGeom prst="triangle">
            <a:avLst/>
          </a:prstGeom>
          <a:solidFill>
            <a:srgbClr val="536F87">
              <a:alpha val="88000"/>
            </a:srgbClr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62872" y="1984248"/>
            <a:ext cx="2039112" cy="0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85219" y="1819656"/>
            <a:ext cx="265085" cy="16459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2259" y="1709928"/>
            <a:ext cx="326258" cy="274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0864" y="1783080"/>
            <a:ext cx="367040" cy="20116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0250" y="1655064"/>
            <a:ext cx="203911" cy="32918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55335" y="1746504"/>
            <a:ext cx="224302" cy="23774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47513" y="1527048"/>
            <a:ext cx="146304" cy="146304"/>
          </a:xfrm>
          <a:prstGeom prst="ellipse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10642" y="1600200"/>
            <a:ext cx="0" cy="384048"/>
          </a:xfrm>
          <a:prstGeom prst="line">
            <a:avLst/>
          </a:prstGeom>
          <a:noFill/>
          <a:ln w="19050">
            <a:solidFill>
              <a:srgbClr val="536F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20208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33104" y="2194560"/>
            <a:ext cx="2807208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0" y="22402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能源決策實驗室｜非專家課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72491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 </a:t>
            </a: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分鐘核心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99008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E3 </a:t>
            </a:r>
            <a:r>
              <a:rPr lang="en-US" sz="160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整段移除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48256" y="2679192"/>
            <a:ext cx="1627632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03120" y="2752344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TLE→NTPU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21608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22776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77640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193792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94960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9824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65976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67144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22008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挑戰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339328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540496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95360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012680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13848" y="2679192"/>
            <a:ext cx="1508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68712" y="2752344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提取／緩衝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2048256" y="32461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+ 18 + 12 + 6 = 90</a:t>
            </a:r>
            <a:endParaRPr lang="en-US" sz="17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366674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分鐘路線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39319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可拔除保留段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139696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94560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145536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319272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74136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325112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498848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53712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504688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678424" y="3621024"/>
            <a:ext cx="164592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79D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33288" y="3694176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E3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｜條件式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370064" y="3886200"/>
            <a:ext cx="128016" cy="0"/>
          </a:xfrm>
          <a:prstGeom prst="line">
            <a:avLst/>
          </a:prstGeom>
          <a:noFill/>
          <a:ln w="22860">
            <a:solidFill>
              <a:srgbClr val="9B79D0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543800" y="3621024"/>
            <a:ext cx="97840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98664" y="369417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8567928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741664" y="3621024"/>
            <a:ext cx="102412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796528" y="369417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轉移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811512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985248" y="3621024"/>
            <a:ext cx="9966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040112" y="3694176"/>
            <a:ext cx="886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收束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2139696" y="4197096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+ 30 + 18 + 12 + 6 = 120</a:t>
            </a:r>
            <a:endParaRPr lang="en-US" sz="1750" dirty="0"/>
          </a:p>
        </p:txBody>
      </p:sp>
      <p:sp>
        <p:nvSpPr>
          <p:cNvPr id="67" name="Shape 65"/>
          <p:cNvSpPr/>
          <p:nvPr/>
        </p:nvSpPr>
        <p:spPr>
          <a:xfrm>
            <a:off x="731520" y="4663440"/>
            <a:ext cx="10908792" cy="10698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4213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96112" y="4855464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共同判讀骨架</a:t>
            </a:r>
            <a:endParaRPr lang="en-US" sz="1750" dirty="0"/>
          </a:p>
        </p:txBody>
      </p:sp>
      <p:sp>
        <p:nvSpPr>
          <p:cNvPr id="69" name="Text 67"/>
          <p:cNvSpPr txBox="1"/>
          <p:nvPr/>
        </p:nvSpPr>
        <p:spPr>
          <a:xfrm>
            <a:off x="2487168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200" dirty="0"/>
          </a:p>
        </p:txBody>
      </p:sp>
      <p:sp>
        <p:nvSpPr>
          <p:cNvPr id="70" name="Text 68"/>
          <p:cNvSpPr txBox="1"/>
          <p:nvPr/>
        </p:nvSpPr>
        <p:spPr>
          <a:xfrm>
            <a:off x="2322576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當下功率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474720" y="5056632"/>
            <a:ext cx="40233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4334256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時間</a:t>
            </a:r>
            <a:endParaRPr lang="en-US" sz="2200" dirty="0"/>
          </a:p>
        </p:txBody>
      </p:sp>
      <p:sp>
        <p:nvSpPr>
          <p:cNvPr id="73" name="Text 71"/>
          <p:cNvSpPr txBox="1"/>
          <p:nvPr/>
        </p:nvSpPr>
        <p:spPr>
          <a:xfrm>
            <a:off x="4169664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累積多久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321808" y="5056632"/>
            <a:ext cx="40233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6181344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2200" dirty="0"/>
          </a:p>
        </p:txBody>
      </p:sp>
      <p:sp>
        <p:nvSpPr>
          <p:cNvPr id="76" name="Text 74"/>
          <p:cNvSpPr txBox="1"/>
          <p:nvPr/>
        </p:nvSpPr>
        <p:spPr>
          <a:xfrm>
            <a:off x="6016752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總能源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168896" y="5056632"/>
            <a:ext cx="40233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8028432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2200" dirty="0"/>
          </a:p>
        </p:txBody>
      </p:sp>
      <p:sp>
        <p:nvSpPr>
          <p:cNvPr id="79" name="Text 77"/>
          <p:cNvSpPr txBox="1"/>
          <p:nvPr/>
        </p:nvSpPr>
        <p:spPr>
          <a:xfrm>
            <a:off x="7863840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是否合格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015984" y="5056632"/>
            <a:ext cx="40233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9875520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</a:t>
            </a:r>
            <a:endParaRPr lang="en-US" sz="2200" dirty="0"/>
          </a:p>
        </p:txBody>
      </p:sp>
      <p:sp>
        <p:nvSpPr>
          <p:cNvPr id="82" name="Text 80"/>
          <p:cNvSpPr txBox="1"/>
          <p:nvPr/>
        </p:nvSpPr>
        <p:spPr>
          <a:xfrm>
            <a:off x="9710928" y="513892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合格邊界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內的效率</a:t>
            </a:r>
            <a:endParaRPr lang="en-US" sz="1600" dirty="0"/>
          </a:p>
        </p:txBody>
      </p:sp>
      <p:sp>
        <p:nvSpPr>
          <p:cNvPr id="83" name="Text 8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85" name="Text 8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TLE-to-NTPU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｜先知道場景從哪裡來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170432" cy="347472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93392" y="978408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2889504" y="960120"/>
            <a:ext cx="7662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一筆精簡軌道資料，如何成為眼前可用的</a:t>
            </a: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</a:t>
            </a: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衛星場景？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762488" y="969264"/>
            <a:ext cx="10149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5640" y="10149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00–10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353312"/>
            <a:ext cx="936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 →  ACTION  →  EVIDENCE  →  MEANING  →  RECOVERY / STATUS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10972800" cy="0"/>
          </a:xfrm>
          <a:prstGeom prst="line">
            <a:avLst/>
          </a:prstGeom>
          <a:noFill/>
          <a:ln w="13970">
            <a:solidFill>
              <a:srgbClr val="DC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8B8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3876" y="1856232"/>
            <a:ext cx="1325880" cy="384048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67028" y="187452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5F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2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讀來源與</a:t>
            </a:r>
            <a:r>
              <a:rPr lang="en-US" sz="162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epoch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3246120" y="2359152"/>
            <a:ext cx="256032" cy="0"/>
          </a:xfrm>
          <a:prstGeom prst="line">
            <a:avLst/>
          </a:prstGeom>
          <a:noFill/>
          <a:ln w="2540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66160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536F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8184" y="1856232"/>
            <a:ext cx="2103120" cy="384048"/>
          </a:xfrm>
          <a:prstGeom prst="roundRect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31336" y="18745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MODEL-DERIVED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694176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位置／相對幾何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3694176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友善輸出＋單位</a:t>
            </a:r>
            <a:endParaRPr lang="en-US" sz="1620" dirty="0"/>
          </a:p>
        </p:txBody>
      </p:sp>
      <p:sp>
        <p:nvSpPr>
          <p:cNvPr id="22" name="Shape 20"/>
          <p:cNvSpPr/>
          <p:nvPr/>
        </p:nvSpPr>
        <p:spPr>
          <a:xfrm>
            <a:off x="6099048" y="2359152"/>
            <a:ext cx="256032" cy="0"/>
          </a:xfrm>
          <a:prstGeom prst="line">
            <a:avLst/>
          </a:prstGeom>
          <a:noFill/>
          <a:ln w="2540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19088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9B79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792224"/>
            <a:ext cx="2157984" cy="530352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18105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ASSUMPTION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47104" y="238658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波束／流量／任務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27432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後續才加入</a:t>
            </a:r>
            <a:endParaRPr lang="en-US" sz="1620" dirty="0"/>
          </a:p>
        </p:txBody>
      </p:sp>
      <p:sp>
        <p:nvSpPr>
          <p:cNvPr id="28" name="Shape 26"/>
          <p:cNvSpPr/>
          <p:nvPr/>
        </p:nvSpPr>
        <p:spPr>
          <a:xfrm>
            <a:off x="8951976" y="2359152"/>
            <a:ext cx="256032" cy="0"/>
          </a:xfrm>
          <a:prstGeom prst="line">
            <a:avLst/>
          </a:prstGeom>
          <a:noFill/>
          <a:ln w="2540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72016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EA9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56064" y="1856232"/>
            <a:ext cx="1719072" cy="384048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29216" y="1874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SCENE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400032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r>
              <a:rPr lang="en-US" sz="2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9400032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版本化場景起點</a:t>
            </a:r>
            <a:endParaRPr lang="en-US" sz="162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3191256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學員動作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1792224" y="3136392"/>
            <a:ext cx="9738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匯入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分類來源／推導／假設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指定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UTC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逐站查看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生成同一個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scenario</a:t>
            </a:r>
            <a:endParaRPr lang="en-US" sz="1850" dirty="0"/>
          </a:p>
        </p:txBody>
      </p:sp>
      <p:sp>
        <p:nvSpPr>
          <p:cNvPr id="36" name="Shape 34"/>
          <p:cNvSpPr/>
          <p:nvPr/>
        </p:nvSpPr>
        <p:spPr>
          <a:xfrm>
            <a:off x="713232" y="3630168"/>
            <a:ext cx="5468112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" y="3785616"/>
            <a:ext cx="1517904" cy="347472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9264" y="3803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可觀察結果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2578608" y="3730752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每站呈現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input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與單位；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最終使用同一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6318504" y="3630168"/>
            <a:ext cx="5404104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1384" y="3785616"/>
            <a:ext cx="1325880" cy="347472"/>
          </a:xfrm>
          <a:prstGeom prst="roundRect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74536" y="380390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架構界線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973568" y="373075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7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 </a:t>
            </a:r>
            <a:r>
              <a:rPr lang="en-US" sz="167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不含波束、流量、功率或能源；這一段建立可信起點，不算節能證據。</a:t>
            </a:r>
            <a:endParaRPr lang="en-US" sz="1670" dirty="0"/>
          </a:p>
        </p:txBody>
      </p:sp>
      <p:sp>
        <p:nvSpPr>
          <p:cNvPr id="44" name="Shape 42"/>
          <p:cNvSpPr/>
          <p:nvPr/>
        </p:nvSpPr>
        <p:spPr>
          <a:xfrm>
            <a:off x="713232" y="4645152"/>
            <a:ext cx="6839712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" y="4809744"/>
            <a:ext cx="1865376" cy="347472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9264" y="48280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能源／競賽意義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2926080" y="4773168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先分清資料來源與課程假設，後續能源判斷</a:t>
            </a:r>
            <a:r>
              <a:rPr lang="en-US" sz="168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才不會對著無來源動畫猜答案。</a:t>
            </a:r>
            <a:endParaRPr lang="en-US" sz="1680" dirty="0"/>
          </a:p>
        </p:txBody>
      </p:sp>
      <p:sp>
        <p:nvSpPr>
          <p:cNvPr id="48" name="Shape 46"/>
          <p:cNvSpPr/>
          <p:nvPr/>
        </p:nvSpPr>
        <p:spPr>
          <a:xfrm>
            <a:off x="7708392" y="4645152"/>
            <a:ext cx="4014216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91272" y="4809744"/>
            <a:ext cx="1481328" cy="347472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64424" y="48280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復原／狀態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9528048" y="473659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續接末站／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載入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fallback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9528048" y="524865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狀態：未驗證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C2F5F08-0BCA-BE9F-ADE0-15BFBAC3AD89}"/>
              </a:ext>
            </a:extLst>
          </p:cNvPr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A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｜同一份任務，快做還是慢做？</a:t>
            </a:r>
            <a:endParaRPr lang="en-US" sz="28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38AF19D-4048-7DFD-E93A-179BD0F15F51}"/>
              </a:ext>
            </a:extLst>
          </p:cNvPr>
          <p:cNvSpPr/>
          <p:nvPr/>
        </p:nvSpPr>
        <p:spPr>
          <a:xfrm>
            <a:off x="713232" y="960120"/>
            <a:ext cx="1664208" cy="365760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505ECAF-54DA-7C96-BC44-54F7B3335CC6}"/>
              </a:ext>
            </a:extLst>
          </p:cNvPr>
          <p:cNvSpPr txBox="1"/>
          <p:nvPr/>
        </p:nvSpPr>
        <p:spPr>
          <a:xfrm>
            <a:off x="777240" y="9784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A · 18–41</a:t>
            </a:r>
            <a:endParaRPr lang="en-US" sz="16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E8316B7-912A-0E48-DE61-83B6479EC4C5}"/>
              </a:ext>
            </a:extLst>
          </p:cNvPr>
          <p:cNvSpPr txBox="1"/>
          <p:nvPr/>
        </p:nvSpPr>
        <p:spPr>
          <a:xfrm>
            <a:off x="2542032" y="1005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492C243-BBF5-B7E0-1E12-CF75B76F0E2B}"/>
              </a:ext>
            </a:extLst>
          </p:cNvPr>
          <p:cNvSpPr txBox="1"/>
          <p:nvPr/>
        </p:nvSpPr>
        <p:spPr>
          <a:xfrm>
            <a:off x="3355848" y="960120"/>
            <a:ext cx="8193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payload</a:t>
            </a: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、同一</a:t>
            </a: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deadline</a:t>
            </a: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：低</a:t>
            </a: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 </a:t>
            </a: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一定比較省</a:t>
            </a: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 </a:t>
            </a: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嗎？</a:t>
            </a:r>
            <a:endParaRPr lang="en-US" sz="225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44539340-7B8A-3503-4E05-24D37DBBD6A0}"/>
              </a:ext>
            </a:extLst>
          </p:cNvPr>
          <p:cNvSpPr/>
          <p:nvPr/>
        </p:nvSpPr>
        <p:spPr>
          <a:xfrm>
            <a:off x="713232" y="1481328"/>
            <a:ext cx="7571232" cy="3099816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450F84B-1239-031A-AB59-51D07344D232}"/>
              </a:ext>
            </a:extLst>
          </p:cNvPr>
          <p:cNvSpPr txBox="1"/>
          <p:nvPr/>
        </p:nvSpPr>
        <p:spPr>
          <a:xfrm>
            <a:off x="914400" y="16093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315F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先預測三條</a:t>
            </a:r>
            <a:r>
              <a:rPr lang="en-US" sz="1850" b="1" dirty="0">
                <a:solidFill>
                  <a:srgbClr val="315F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power–time </a:t>
            </a:r>
            <a:r>
              <a:rPr lang="en-US" sz="1850" b="1" dirty="0">
                <a:solidFill>
                  <a:srgbClr val="315F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路徑</a:t>
            </a:r>
            <a:endParaRPr lang="en-US" sz="185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225647F-69AD-15E8-72C0-00EBB76DC6BA}"/>
              </a:ext>
            </a:extLst>
          </p:cNvPr>
          <p:cNvSpPr txBox="1"/>
          <p:nvPr/>
        </p:nvSpPr>
        <p:spPr>
          <a:xfrm>
            <a:off x="4690872" y="162763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payload · 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deadline</a:t>
            </a:r>
            <a:endParaRPr lang="en-US" sz="16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D175ED4D-EAFE-0EF4-6DA2-667229273487}"/>
              </a:ext>
            </a:extLst>
          </p:cNvPr>
          <p:cNvSpPr txBox="1"/>
          <p:nvPr/>
        </p:nvSpPr>
        <p:spPr>
          <a:xfrm>
            <a:off x="7114032" y="18836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BA786191-0841-42F7-23D1-AA8457202C97}"/>
              </a:ext>
            </a:extLst>
          </p:cNvPr>
          <p:cNvSpPr/>
          <p:nvPr/>
        </p:nvSpPr>
        <p:spPr>
          <a:xfrm>
            <a:off x="7552944" y="2121408"/>
            <a:ext cx="0" cy="2157984"/>
          </a:xfrm>
          <a:prstGeom prst="line">
            <a:avLst/>
          </a:prstGeom>
          <a:noFill/>
          <a:ln w="25400">
            <a:solidFill>
              <a:srgbClr val="9B79D0"/>
            </a:solidFill>
            <a:prstDash val="dash"/>
          </a:ln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D49406CD-F328-B21C-510D-319EF2815116}"/>
              </a:ext>
            </a:extLst>
          </p:cNvPr>
          <p:cNvSpPr txBox="1"/>
          <p:nvPr/>
        </p:nvSpPr>
        <p:spPr>
          <a:xfrm>
            <a:off x="914400" y="221284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315F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PACE</a:t>
            </a:r>
            <a:endParaRPr lang="en-US" sz="175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578C466D-1572-1855-1155-946D86127331}"/>
              </a:ext>
            </a:extLst>
          </p:cNvPr>
          <p:cNvSpPr/>
          <p:nvPr/>
        </p:nvSpPr>
        <p:spPr>
          <a:xfrm>
            <a:off x="2194560" y="2139696"/>
            <a:ext cx="4937760" cy="530352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9CFEE2B3-201C-3B11-E684-3C0E17CBDB0F}"/>
              </a:ext>
            </a:extLst>
          </p:cNvPr>
          <p:cNvSpPr txBox="1"/>
          <p:nvPr/>
        </p:nvSpPr>
        <p:spPr>
          <a:xfrm>
            <a:off x="2359152" y="2212848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較低</a:t>
            </a: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</a:t>
            </a: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久</a:t>
            </a:r>
            <a:endParaRPr lang="en-US" sz="17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D3F451EC-4BEF-DFDC-F4B0-954A09A48E0B}"/>
              </a:ext>
            </a:extLst>
          </p:cNvPr>
          <p:cNvSpPr/>
          <p:nvPr/>
        </p:nvSpPr>
        <p:spPr>
          <a:xfrm>
            <a:off x="7242048" y="2404872"/>
            <a:ext cx="34747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9AEF9CFD-738C-30A6-6914-1229E5C16C94}"/>
              </a:ext>
            </a:extLst>
          </p:cNvPr>
          <p:cNvSpPr txBox="1"/>
          <p:nvPr/>
        </p:nvSpPr>
        <p:spPr>
          <a:xfrm>
            <a:off x="914400" y="29535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</a:t>
            </a:r>
            <a:endParaRPr lang="en-US" sz="16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CD57EDAC-3E33-1C8D-3330-A36F1FF4963B}"/>
              </a:ext>
            </a:extLst>
          </p:cNvPr>
          <p:cNvSpPr/>
          <p:nvPr/>
        </p:nvSpPr>
        <p:spPr>
          <a:xfrm>
            <a:off x="2194560" y="2880360"/>
            <a:ext cx="3703320" cy="530352"/>
          </a:xfrm>
          <a:prstGeom prst="roundRect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BD2C6ED3-3747-6DAF-4694-6A386B45E6AA}"/>
              </a:ext>
            </a:extLst>
          </p:cNvPr>
          <p:cNvSpPr txBox="1"/>
          <p:nvPr/>
        </p:nvSpPr>
        <p:spPr>
          <a:xfrm>
            <a:off x="2359152" y="2953512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中間</a:t>
            </a: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｜中間</a:t>
            </a: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active time</a:t>
            </a:r>
            <a:endParaRPr lang="en-US" sz="17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D821C3B5-5F7C-901D-AFC8-84982855FB55}"/>
              </a:ext>
            </a:extLst>
          </p:cNvPr>
          <p:cNvSpPr/>
          <p:nvPr/>
        </p:nvSpPr>
        <p:spPr>
          <a:xfrm>
            <a:off x="6007608" y="3145536"/>
            <a:ext cx="147218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6D995EA2-8D8A-F0AA-30C5-4E8B61147B4E}"/>
              </a:ext>
            </a:extLst>
          </p:cNvPr>
          <p:cNvSpPr txBox="1"/>
          <p:nvPr/>
        </p:nvSpPr>
        <p:spPr>
          <a:xfrm>
            <a:off x="6053328" y="2944368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留一些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idle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sleep</a:t>
            </a:r>
            <a:endParaRPr lang="en-US" sz="16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2E4AE321-7E75-2963-6C89-62523ABDE53B}"/>
              </a:ext>
            </a:extLst>
          </p:cNvPr>
          <p:cNvSpPr txBox="1"/>
          <p:nvPr/>
        </p:nvSpPr>
        <p:spPr>
          <a:xfrm>
            <a:off x="914400" y="369417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BURST → SLEEP</a:t>
            </a:r>
            <a:endParaRPr lang="en-US" sz="1600" dirty="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9A6B9005-1E0A-869D-FC1E-F7DD248EE9EA}"/>
              </a:ext>
            </a:extLst>
          </p:cNvPr>
          <p:cNvSpPr/>
          <p:nvPr/>
        </p:nvSpPr>
        <p:spPr>
          <a:xfrm>
            <a:off x="2194560" y="3621024"/>
            <a:ext cx="2423160" cy="530352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787BAE58-079A-51BB-3052-E5F388F4FE57}"/>
              </a:ext>
            </a:extLst>
          </p:cNvPr>
          <p:cNvSpPr txBox="1"/>
          <p:nvPr/>
        </p:nvSpPr>
        <p:spPr>
          <a:xfrm>
            <a:off x="2359152" y="3694176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較高</a:t>
            </a: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｜快速完成</a:t>
            </a:r>
            <a:endParaRPr lang="en-US" sz="1700" dirty="0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12029C2C-E572-713E-42D9-99273CA843AE}"/>
              </a:ext>
            </a:extLst>
          </p:cNvPr>
          <p:cNvSpPr/>
          <p:nvPr/>
        </p:nvSpPr>
        <p:spPr>
          <a:xfrm>
            <a:off x="4727448" y="3886200"/>
            <a:ext cx="275234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4DA67478-CDA3-4ECF-5C89-7186EA534848}"/>
              </a:ext>
            </a:extLst>
          </p:cNvPr>
          <p:cNvSpPr txBox="1"/>
          <p:nvPr/>
        </p:nvSpPr>
        <p:spPr>
          <a:xfrm>
            <a:off x="4773168" y="3685032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提早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sleep</a:t>
            </a:r>
            <a:endParaRPr lang="en-US" sz="160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8BACA6FA-82C0-999D-E6F6-DE6EE83381CD}"/>
              </a:ext>
            </a:extLst>
          </p:cNvPr>
          <p:cNvSpPr/>
          <p:nvPr/>
        </p:nvSpPr>
        <p:spPr>
          <a:xfrm>
            <a:off x="8485632" y="1481328"/>
            <a:ext cx="3236976" cy="3099816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2AEF8142-67D1-209A-9C97-C8E9BD0CEC71}"/>
              </a:ext>
            </a:extLst>
          </p:cNvPr>
          <p:cNvSpPr txBox="1"/>
          <p:nvPr/>
        </p:nvSpPr>
        <p:spPr>
          <a:xfrm>
            <a:off x="8723376" y="16276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學生操作</a:t>
            </a:r>
            <a:endParaRPr lang="en-US" sz="1850" dirty="0"/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C3FC045C-8C32-3715-EC46-6A1183B96800}"/>
              </a:ext>
            </a:extLst>
          </p:cNvPr>
          <p:cNvSpPr/>
          <p:nvPr/>
        </p:nvSpPr>
        <p:spPr>
          <a:xfrm>
            <a:off x="8723376" y="2011680"/>
            <a:ext cx="420624" cy="420624"/>
          </a:xfrm>
          <a:prstGeom prst="ellipse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78EC4C9D-B61E-1AF7-B47C-F81F8C546041}"/>
              </a:ext>
            </a:extLst>
          </p:cNvPr>
          <p:cNvSpPr txBox="1"/>
          <p:nvPr/>
        </p:nvSpPr>
        <p:spPr>
          <a:xfrm>
            <a:off x="8723376" y="204825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CD0AB350-8EC1-5108-2E34-8F4C71C6E7A9}"/>
              </a:ext>
            </a:extLst>
          </p:cNvPr>
          <p:cNvSpPr txBox="1"/>
          <p:nvPr/>
        </p:nvSpPr>
        <p:spPr>
          <a:xfrm>
            <a:off x="9326880" y="1984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先預測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time · J · service · bit/J</a:t>
            </a:r>
            <a:endParaRPr lang="en-US" sz="1600" dirty="0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FB01ECF6-9730-0678-F3B7-9ECCE30641C4}"/>
              </a:ext>
            </a:extLst>
          </p:cNvPr>
          <p:cNvSpPr/>
          <p:nvPr/>
        </p:nvSpPr>
        <p:spPr>
          <a:xfrm>
            <a:off x="8723376" y="2596896"/>
            <a:ext cx="2761488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63" name="Shape 30">
            <a:extLst>
              <a:ext uri="{FF2B5EF4-FFF2-40B4-BE49-F238E27FC236}">
                <a16:creationId xmlns:a16="http://schemas.microsoft.com/office/drawing/2014/main" id="{BFBBCC51-03E7-467B-CAAE-EA1FF7A89C22}"/>
              </a:ext>
            </a:extLst>
          </p:cNvPr>
          <p:cNvSpPr/>
          <p:nvPr/>
        </p:nvSpPr>
        <p:spPr>
          <a:xfrm>
            <a:off x="8723376" y="2761488"/>
            <a:ext cx="420624" cy="420624"/>
          </a:xfrm>
          <a:prstGeom prst="ellipse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A3033661-56CB-9E4B-81EE-68CFD728FC70}"/>
              </a:ext>
            </a:extLst>
          </p:cNvPr>
          <p:cNvSpPr txBox="1"/>
          <p:nvPr/>
        </p:nvSpPr>
        <p:spPr>
          <a:xfrm>
            <a:off x="8723376" y="279806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96B5A174-0859-B68A-B097-723847310CF6}"/>
              </a:ext>
            </a:extLst>
          </p:cNvPr>
          <p:cNvSpPr txBox="1"/>
          <p:nvPr/>
        </p:nvSpPr>
        <p:spPr>
          <a:xfrm>
            <a:off x="9326880" y="27340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選</a:t>
            </a: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candidate → RUN</a:t>
            </a:r>
            <a:endParaRPr lang="en-US" sz="1700" dirty="0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7F4D936C-BCCC-0552-5D78-AD3A6D2A8893}"/>
              </a:ext>
            </a:extLst>
          </p:cNvPr>
          <p:cNvSpPr/>
          <p:nvPr/>
        </p:nvSpPr>
        <p:spPr>
          <a:xfrm>
            <a:off x="8723376" y="3346704"/>
            <a:ext cx="2761488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E6F538F4-5F20-3962-4FE6-B0FB855B200E}"/>
              </a:ext>
            </a:extLst>
          </p:cNvPr>
          <p:cNvSpPr/>
          <p:nvPr/>
        </p:nvSpPr>
        <p:spPr>
          <a:xfrm>
            <a:off x="8723376" y="3493008"/>
            <a:ext cx="420624" cy="420624"/>
          </a:xfrm>
          <a:prstGeom prst="ellipse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5E382593-8912-17DE-564D-6ECC0D4274EE}"/>
              </a:ext>
            </a:extLst>
          </p:cNvPr>
          <p:cNvSpPr txBox="1"/>
          <p:nvPr/>
        </p:nvSpPr>
        <p:spPr>
          <a:xfrm>
            <a:off x="8723376" y="352958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DEFC9050-5085-5072-1444-13707C6266AD}"/>
              </a:ext>
            </a:extLst>
          </p:cNvPr>
          <p:cNvSpPr txBox="1"/>
          <p:nvPr/>
        </p:nvSpPr>
        <p:spPr>
          <a:xfrm>
            <a:off x="9326880" y="346557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揭開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fixed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idle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wakeup cost</a:t>
            </a:r>
            <a:endParaRPr lang="en-US" sz="1650" dirty="0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8E2EBA46-B06A-57D5-87A0-2866FC22D0E6}"/>
              </a:ext>
            </a:extLst>
          </p:cNvPr>
          <p:cNvSpPr/>
          <p:nvPr/>
        </p:nvSpPr>
        <p:spPr>
          <a:xfrm>
            <a:off x="8723376" y="4160520"/>
            <a:ext cx="2761488" cy="292608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E4B5C44B-5744-52A6-FF82-F773AE20D6EA}"/>
              </a:ext>
            </a:extLst>
          </p:cNvPr>
          <p:cNvSpPr txBox="1"/>
          <p:nvPr/>
        </p:nvSpPr>
        <p:spPr>
          <a:xfrm>
            <a:off x="8787384" y="41788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RESET</a:t>
            </a:r>
            <a:r>
              <a:rPr lang="en-US" sz="160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｜同一情境｜未驗證</a:t>
            </a:r>
            <a:endParaRPr lang="en-US" sz="1600" dirty="0"/>
          </a:p>
        </p:txBody>
      </p:sp>
      <p:sp>
        <p:nvSpPr>
          <p:cNvPr id="81" name="Shape 39">
            <a:extLst>
              <a:ext uri="{FF2B5EF4-FFF2-40B4-BE49-F238E27FC236}">
                <a16:creationId xmlns:a16="http://schemas.microsoft.com/office/drawing/2014/main" id="{CF2BD4AE-4E41-BEC6-F77A-439C365124BE}"/>
              </a:ext>
            </a:extLst>
          </p:cNvPr>
          <p:cNvSpPr/>
          <p:nvPr/>
        </p:nvSpPr>
        <p:spPr>
          <a:xfrm>
            <a:off x="713232" y="4754880"/>
            <a:ext cx="11009376" cy="850392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200AEE1A-8577-9E2F-F1F2-FAEFC6757891}"/>
              </a:ext>
            </a:extLst>
          </p:cNvPr>
          <p:cNvSpPr txBox="1"/>
          <p:nvPr/>
        </p:nvSpPr>
        <p:spPr>
          <a:xfrm>
            <a:off x="914400" y="501091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同一時間軸</a:t>
            </a:r>
            <a:endParaRPr lang="en-US" sz="18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AF58523A-D05B-3783-FA1C-41DA58447D22}"/>
              </a:ext>
            </a:extLst>
          </p:cNvPr>
          <p:cNvSpPr txBox="1"/>
          <p:nvPr/>
        </p:nvSpPr>
        <p:spPr>
          <a:xfrm>
            <a:off x="2212848" y="4892040"/>
            <a:ext cx="629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 →  active time  →  J  →  service  →  bit/J</a:t>
            </a:r>
            <a:endParaRPr lang="en-US" sz="1900" dirty="0"/>
          </a:p>
        </p:txBody>
      </p:sp>
      <p:sp>
        <p:nvSpPr>
          <p:cNvPr id="87" name="Shape 42">
            <a:extLst>
              <a:ext uri="{FF2B5EF4-FFF2-40B4-BE49-F238E27FC236}">
                <a16:creationId xmlns:a16="http://schemas.microsoft.com/office/drawing/2014/main" id="{E328DB47-E66A-3EF8-7A7E-DDDDAA91EA27}"/>
              </a:ext>
            </a:extLst>
          </p:cNvPr>
          <p:cNvSpPr/>
          <p:nvPr/>
        </p:nvSpPr>
        <p:spPr>
          <a:xfrm>
            <a:off x="8741664" y="4882896"/>
            <a:ext cx="0" cy="585216"/>
          </a:xfrm>
          <a:prstGeom prst="line">
            <a:avLst/>
          </a:prstGeom>
          <a:noFill/>
          <a:ln w="15240">
            <a:solidFill>
              <a:srgbClr val="9B79D0"/>
            </a:solidFill>
            <a:prstDash val="solid"/>
          </a:ln>
        </p:spPr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A20DBF5F-ECA9-C460-56E1-F00D98CA9FA9}"/>
              </a:ext>
            </a:extLst>
          </p:cNvPr>
          <p:cNvSpPr txBox="1"/>
          <p:nvPr/>
        </p:nvSpPr>
        <p:spPr>
          <a:xfrm>
            <a:off x="8979408" y="4846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省</a:t>
            </a: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 ≠ </a:t>
            </a: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省</a:t>
            </a: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endParaRPr lang="en-US" sz="2300" dirty="0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8E298710-3F07-D668-8B5C-C86B49C61F9F}"/>
              </a:ext>
            </a:extLst>
          </p:cNvPr>
          <p:cNvSpPr txBox="1"/>
          <p:nvPr/>
        </p:nvSpPr>
        <p:spPr>
          <a:xfrm>
            <a:off x="8979408" y="52212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先過</a:t>
            </a:r>
            <a:r>
              <a:rPr lang="en-US" sz="16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service</a:t>
            </a:r>
            <a:r>
              <a:rPr lang="en-US" sz="16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r>
              <a:rPr lang="en-US" sz="16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50" dirty="0"/>
          </a:p>
        </p:txBody>
      </p:sp>
      <p:sp>
        <p:nvSpPr>
          <p:cNvPr id="93" name="Text 45">
            <a:extLst>
              <a:ext uri="{FF2B5EF4-FFF2-40B4-BE49-F238E27FC236}">
                <a16:creationId xmlns:a16="http://schemas.microsoft.com/office/drawing/2014/main" id="{D84E39C6-8E9B-90AC-6187-91B3FA80E60E}"/>
              </a:ext>
            </a:extLst>
          </p:cNvPr>
          <p:cNvSpPr txBox="1"/>
          <p:nvPr/>
        </p:nvSpPr>
        <p:spPr>
          <a:xfrm>
            <a:off x="749808" y="57790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設計估計｜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分鐘，尚未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novice-timed</a:t>
            </a:r>
            <a:endParaRPr lang="en-US" sz="1600" dirty="0"/>
          </a:p>
        </p:txBody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B57A4B2E-4D14-956D-FD30-9C88853C4173}"/>
              </a:ext>
            </a:extLst>
          </p:cNvPr>
          <p:cNvSpPr txBox="1"/>
          <p:nvPr/>
        </p:nvSpPr>
        <p:spPr>
          <a:xfrm>
            <a:off x="4864608" y="5779008"/>
            <a:ext cx="671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模擬教學資料｜非即時｜非量測｜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parity 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600" dirty="0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6BE12DE9-ABB4-1B16-406E-2953236B6253}"/>
              </a:ext>
            </a:extLst>
          </p:cNvPr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00183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51641FC-FD50-6A41-2BED-D6EA26B0A0F5}"/>
              </a:ext>
            </a:extLst>
          </p:cNvPr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clinic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is not saving</a:t>
            </a:r>
            <a:endParaRPr lang="en-US" sz="28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719B72E-7BAB-9D77-F713-429FAA5EFA0B}"/>
              </a:ext>
            </a:extLst>
          </p:cNvPr>
          <p:cNvSpPr/>
          <p:nvPr/>
        </p:nvSpPr>
        <p:spPr>
          <a:xfrm>
            <a:off x="713232" y="960120"/>
            <a:ext cx="1847088" cy="365760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77DD9DD-77A7-D097-6BFE-3F4DFC36932F}"/>
              </a:ext>
            </a:extLst>
          </p:cNvPr>
          <p:cNvSpPr txBox="1"/>
          <p:nvPr/>
        </p:nvSpPr>
        <p:spPr>
          <a:xfrm>
            <a:off x="777240" y="97840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 · 92–106</a:t>
            </a:r>
            <a:endParaRPr lang="en-US" sz="16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9A4458-E644-526B-B671-E4206E2FEA6F}"/>
              </a:ext>
            </a:extLst>
          </p:cNvPr>
          <p:cNvSpPr txBox="1"/>
          <p:nvPr/>
        </p:nvSpPr>
        <p:spPr>
          <a:xfrm>
            <a:off x="2724912" y="1005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E8DAD0A-3522-DD27-43D5-230FAFF785B8}"/>
              </a:ext>
            </a:extLst>
          </p:cNvPr>
          <p:cNvSpPr txBox="1"/>
          <p:nvPr/>
        </p:nvSpPr>
        <p:spPr>
          <a:xfrm>
            <a:off x="3538728" y="960120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</a:t>
            </a: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比</a:t>
            </a: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78% </a:t>
            </a: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更能證明節能嗎？</a:t>
            </a:r>
            <a:endParaRPr lang="en-US" sz="23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67A87AB1-440E-6637-736A-75FE10C9D091}"/>
              </a:ext>
            </a:extLst>
          </p:cNvPr>
          <p:cNvSpPr/>
          <p:nvPr/>
        </p:nvSpPr>
        <p:spPr>
          <a:xfrm>
            <a:off x="713232" y="1481328"/>
            <a:ext cx="3154680" cy="3136392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939DE980-96B4-75BC-3368-54F104B17D96}"/>
              </a:ext>
            </a:extLst>
          </p:cNvPr>
          <p:cNvSpPr/>
          <p:nvPr/>
        </p:nvSpPr>
        <p:spPr>
          <a:xfrm>
            <a:off x="4014216" y="1481328"/>
            <a:ext cx="3108960" cy="3136392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2D42A16B-58E4-1325-ABE4-BB6B0D8439E2}"/>
              </a:ext>
            </a:extLst>
          </p:cNvPr>
          <p:cNvSpPr/>
          <p:nvPr/>
        </p:nvSpPr>
        <p:spPr>
          <a:xfrm>
            <a:off x="7269480" y="1481328"/>
            <a:ext cx="4453128" cy="3136392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87EC6C58-1CCA-2F80-9B44-FDC983A6DA43}"/>
              </a:ext>
            </a:extLst>
          </p:cNvPr>
          <p:cNvSpPr txBox="1"/>
          <p:nvPr/>
        </p:nvSpPr>
        <p:spPr>
          <a:xfrm>
            <a:off x="932688" y="164592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示例</a:t>
            </a:r>
            <a:r>
              <a:rPr lang="en-US" sz="185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prediction score</a:t>
            </a:r>
            <a:endParaRPr lang="en-US" sz="185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8F41317A-EE65-CEBF-0B36-CAD95DCD35D4}"/>
              </a:ext>
            </a:extLst>
          </p:cNvPr>
          <p:cNvSpPr txBox="1"/>
          <p:nvPr/>
        </p:nvSpPr>
        <p:spPr>
          <a:xfrm>
            <a:off x="914400" y="214884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</a:t>
            </a:r>
            <a:endParaRPr lang="en-US" sz="34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7BEE9736-9A83-D27E-40AE-C6B6231A3DE6}"/>
              </a:ext>
            </a:extLst>
          </p:cNvPr>
          <p:cNvSpPr txBox="1"/>
          <p:nvPr/>
        </p:nvSpPr>
        <p:spPr>
          <a:xfrm>
            <a:off x="2093976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79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</a:t>
            </a:r>
            <a:endParaRPr lang="en-US" sz="28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985CEA72-7B5C-25E1-2D57-90632F4893CB}"/>
              </a:ext>
            </a:extLst>
          </p:cNvPr>
          <p:cNvSpPr txBox="1"/>
          <p:nvPr/>
        </p:nvSpPr>
        <p:spPr>
          <a:xfrm>
            <a:off x="2542032" y="214884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78%</a:t>
            </a:r>
            <a:endParaRPr lang="en-US" sz="34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ABCF1FA1-EF71-3333-9BB5-B856BF0B959E}"/>
              </a:ext>
            </a:extLst>
          </p:cNvPr>
          <p:cNvSpPr/>
          <p:nvPr/>
        </p:nvSpPr>
        <p:spPr>
          <a:xfrm>
            <a:off x="960120" y="2944368"/>
            <a:ext cx="2651760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DC80CB74-CC3C-9EE3-DE38-3DDFD7F5BFFC}"/>
              </a:ext>
            </a:extLst>
          </p:cNvPr>
          <p:cNvSpPr txBox="1"/>
          <p:nvPr/>
        </p:nvSpPr>
        <p:spPr>
          <a:xfrm>
            <a:off x="941832" y="318211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只回答：模型預測得多準</a:t>
            </a:r>
            <a:endParaRPr lang="en-US" sz="175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C3173483-5B36-48CB-CA43-A099A89A30F7}"/>
              </a:ext>
            </a:extLst>
          </p:cNvPr>
          <p:cNvSpPr txBox="1"/>
          <p:nvPr/>
        </p:nvSpPr>
        <p:spPr>
          <a:xfrm>
            <a:off x="941832" y="373075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B34B5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尚未回答：是否真的省</a:t>
            </a:r>
            <a:r>
              <a:rPr lang="en-US" sz="1750" b="1" dirty="0">
                <a:solidFill>
                  <a:srgbClr val="B34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endParaRPr lang="en-US" sz="175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8D021C71-2740-B544-BA57-B814F1DFFD3F}"/>
              </a:ext>
            </a:extLst>
          </p:cNvPr>
          <p:cNvSpPr/>
          <p:nvPr/>
        </p:nvSpPr>
        <p:spPr>
          <a:xfrm>
            <a:off x="3785616" y="2852928"/>
            <a:ext cx="347472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168377DE-7453-BBEC-04C9-95A403D1A6A6}"/>
              </a:ext>
            </a:extLst>
          </p:cNvPr>
          <p:cNvSpPr txBox="1"/>
          <p:nvPr/>
        </p:nvSpPr>
        <p:spPr>
          <a:xfrm>
            <a:off x="4233672" y="1645920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315F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先過</a:t>
            </a:r>
            <a:r>
              <a:rPr lang="en-US" sz="1850" b="1" dirty="0">
                <a:solidFill>
                  <a:srgbClr val="315F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evidence gate</a:t>
            </a:r>
            <a:endParaRPr lang="en-US" sz="185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ED9DBBB5-0521-7666-1D7E-7338A0413528}"/>
              </a:ext>
            </a:extLst>
          </p:cNvPr>
          <p:cNvSpPr/>
          <p:nvPr/>
        </p:nvSpPr>
        <p:spPr>
          <a:xfrm>
            <a:off x="4297680" y="2084832"/>
            <a:ext cx="2542032" cy="493776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B573B4E1-CF8E-4529-BE5F-618B1656A643}"/>
              </a:ext>
            </a:extLst>
          </p:cNvPr>
          <p:cNvSpPr txBox="1"/>
          <p:nvPr/>
        </p:nvSpPr>
        <p:spPr>
          <a:xfrm>
            <a:off x="4361688" y="2103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queue age</a:t>
            </a:r>
            <a:r>
              <a:rPr lang="en-US" sz="170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｜現在可得</a:t>
            </a:r>
            <a:endParaRPr lang="en-US" sz="170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3857B518-2338-7B5C-4B7B-5A88DBB2D975}"/>
              </a:ext>
            </a:extLst>
          </p:cNvPr>
          <p:cNvSpPr/>
          <p:nvPr/>
        </p:nvSpPr>
        <p:spPr>
          <a:xfrm>
            <a:off x="4297680" y="2761488"/>
            <a:ext cx="2542032" cy="566928"/>
          </a:xfrm>
          <a:prstGeom prst="roundRect">
            <a:avLst/>
          </a:prstGeom>
          <a:solidFill>
            <a:srgbClr val="F5E4E7"/>
          </a:solidFill>
          <a:ln w="12700">
            <a:solidFill>
              <a:srgbClr val="F5E4E7">
                <a:alpha val="0"/>
              </a:srgbClr>
            </a:solidFill>
            <a:prstDash val="solid"/>
          </a:ln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6CEFA6CA-BE76-F2AE-8824-A95D581A50DE}"/>
              </a:ext>
            </a:extLst>
          </p:cNvPr>
          <p:cNvSpPr txBox="1"/>
          <p:nvPr/>
        </p:nvSpPr>
        <p:spPr>
          <a:xfrm>
            <a:off x="4361688" y="277977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B34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final service</a:t>
            </a:r>
            <a:r>
              <a:rPr lang="en-US" sz="1650" b="1" dirty="0">
                <a:solidFill>
                  <a:srgbClr val="B34B5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｜事後才有</a:t>
            </a:r>
            <a:endParaRPr lang="en-US" sz="165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3BD3F33D-5F00-B6D6-772F-2E932EE31432}"/>
              </a:ext>
            </a:extLst>
          </p:cNvPr>
          <p:cNvSpPr txBox="1"/>
          <p:nvPr/>
        </p:nvSpPr>
        <p:spPr>
          <a:xfrm>
            <a:off x="4297680" y="34564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timestamp 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決定能否使用</a:t>
            </a:r>
            <a:endParaRPr lang="en-US" sz="1600" dirty="0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01FF4448-C2C7-2AA9-C7A6-085E2D78A37D}"/>
              </a:ext>
            </a:extLst>
          </p:cNvPr>
          <p:cNvSpPr/>
          <p:nvPr/>
        </p:nvSpPr>
        <p:spPr>
          <a:xfrm>
            <a:off x="4297680" y="3913632"/>
            <a:ext cx="2542032" cy="475488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5F34E229-9785-D38B-9DB1-F2B405D8BB8B}"/>
              </a:ext>
            </a:extLst>
          </p:cNvPr>
          <p:cNvSpPr txBox="1"/>
          <p:nvPr/>
        </p:nvSpPr>
        <p:spPr>
          <a:xfrm>
            <a:off x="4462272" y="399592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ONE ACTION</a:t>
            </a:r>
            <a:endParaRPr lang="en-US" sz="175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E0907655-57C2-3E67-9ACF-A5B6DBF20645}"/>
              </a:ext>
            </a:extLst>
          </p:cNvPr>
          <p:cNvSpPr/>
          <p:nvPr/>
        </p:nvSpPr>
        <p:spPr>
          <a:xfrm>
            <a:off x="7040880" y="2852928"/>
            <a:ext cx="347472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28F61FCA-87B1-FCC4-F147-35EA3101B63B}"/>
              </a:ext>
            </a:extLst>
          </p:cNvPr>
          <p:cNvSpPr txBox="1"/>
          <p:nvPr/>
        </p:nvSpPr>
        <p:spPr>
          <a:xfrm>
            <a:off x="7516368" y="164592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replay</a:t>
            </a:r>
            <a:r>
              <a:rPr lang="en-US" sz="185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｜能源紀錄</a:t>
            </a:r>
            <a:endParaRPr lang="en-US" sz="185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8ABED3E6-778F-3126-ED4A-2B50F1572EA3}"/>
              </a:ext>
            </a:extLst>
          </p:cNvPr>
          <p:cNvSpPr txBox="1"/>
          <p:nvPr/>
        </p:nvSpPr>
        <p:spPr>
          <a:xfrm>
            <a:off x="7589520" y="210312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  →  SERVICE  →  J</a:t>
            </a:r>
            <a:endParaRPr lang="en-US" sz="1900" dirty="0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A9627123-BC60-CC08-6BC9-0B4825CB78D2}"/>
              </a:ext>
            </a:extLst>
          </p:cNvPr>
          <p:cNvSpPr/>
          <p:nvPr/>
        </p:nvSpPr>
        <p:spPr>
          <a:xfrm>
            <a:off x="7626096" y="2670048"/>
            <a:ext cx="37490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5799E15C-3EF1-9AFD-61D7-E2DD3A7BE705}"/>
              </a:ext>
            </a:extLst>
          </p:cNvPr>
          <p:cNvSpPr txBox="1"/>
          <p:nvPr/>
        </p:nvSpPr>
        <p:spPr>
          <a:xfrm>
            <a:off x="7690104" y="2688336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FROZEN RECORD</a:t>
            </a:r>
            <a:r>
              <a:rPr lang="en-US" sz="170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｜待驗證</a:t>
            </a:r>
            <a:endParaRPr lang="en-US" sz="1700" dirty="0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CE4080EB-2FC7-8F56-430B-64A4A2AFBE29}"/>
              </a:ext>
            </a:extLst>
          </p:cNvPr>
          <p:cNvSpPr txBox="1"/>
          <p:nvPr/>
        </p:nvSpPr>
        <p:spPr>
          <a:xfrm>
            <a:off x="7626096" y="3246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deadline · freshness</a:t>
            </a:r>
            <a:endParaRPr lang="en-US" sz="165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C7072C6A-629E-2689-A85A-7CE95C70DD9C}"/>
              </a:ext>
            </a:extLst>
          </p:cNvPr>
          <p:cNvSpPr txBox="1"/>
          <p:nvPr/>
        </p:nvSpPr>
        <p:spPr>
          <a:xfrm>
            <a:off x="7626096" y="3639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consumed J · delivered bits · bit/J</a:t>
            </a:r>
            <a:endParaRPr lang="en-US" sz="165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6F49F4AB-64DB-C711-BDCE-E86C2C4C40F5}"/>
              </a:ext>
            </a:extLst>
          </p:cNvPr>
          <p:cNvSpPr/>
          <p:nvPr/>
        </p:nvSpPr>
        <p:spPr>
          <a:xfrm>
            <a:off x="7626096" y="4096512"/>
            <a:ext cx="3749040" cy="310896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F5F900CC-7C58-0D8E-3BE6-8E3F5F69F601}"/>
              </a:ext>
            </a:extLst>
          </p:cNvPr>
          <p:cNvSpPr txBox="1"/>
          <p:nvPr/>
        </p:nvSpPr>
        <p:spPr>
          <a:xfrm>
            <a:off x="7690104" y="411480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fallback → same trace</a:t>
            </a:r>
            <a:endParaRPr lang="en-US" sz="1600" dirty="0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E60967E7-7967-7653-EA0D-2F6F96EB4CAD}"/>
              </a:ext>
            </a:extLst>
          </p:cNvPr>
          <p:cNvSpPr/>
          <p:nvPr/>
        </p:nvSpPr>
        <p:spPr>
          <a:xfrm>
            <a:off x="713232" y="4773168"/>
            <a:ext cx="11009376" cy="850392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6AD90F78-204A-B4D6-84BA-7B3B12CDEAF9}"/>
              </a:ext>
            </a:extLst>
          </p:cNvPr>
          <p:cNvSpPr txBox="1"/>
          <p:nvPr/>
        </p:nvSpPr>
        <p:spPr>
          <a:xfrm>
            <a:off x="950976" y="4855464"/>
            <a:ext cx="654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≠ saving</a:t>
            </a: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｜還要看</a:t>
            </a: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service </a:t>
            </a: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</a:t>
            </a: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endParaRPr lang="en-US" sz="230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8F438281-3375-BDE8-42A7-88BADB1F161E}"/>
              </a:ext>
            </a:extLst>
          </p:cNvPr>
          <p:cNvSpPr txBox="1"/>
          <p:nvPr/>
        </p:nvSpPr>
        <p:spPr>
          <a:xfrm>
            <a:off x="7278624" y="485546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→ action → service → J → bounded claim</a:t>
            </a:r>
            <a:endParaRPr lang="en-US" sz="165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4F302193-F2C9-E420-2A2C-E1F4FC719F4E}"/>
              </a:ext>
            </a:extLst>
          </p:cNvPr>
          <p:cNvSpPr txBox="1"/>
          <p:nvPr/>
        </p:nvSpPr>
        <p:spPr>
          <a:xfrm>
            <a:off x="7845552" y="5276088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狀態：流程與數值皆未驗證</a:t>
            </a:r>
            <a:endParaRPr lang="en-US" sz="1600" dirty="0"/>
          </a:p>
        </p:txBody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33C6F1D0-4497-BB20-2BA7-CC494E52ECC1}"/>
              </a:ext>
            </a:extLst>
          </p:cNvPr>
          <p:cNvSpPr txBox="1"/>
          <p:nvPr/>
        </p:nvSpPr>
        <p:spPr>
          <a:xfrm>
            <a:off x="749808" y="57790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設計估計｜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分鐘，尚未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novice-timed</a:t>
            </a:r>
            <a:endParaRPr lang="en-US" sz="1600" dirty="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A0B5DB62-90AB-1388-FAC4-78E6B010186A}"/>
              </a:ext>
            </a:extLst>
          </p:cNvPr>
          <p:cNvSpPr txBox="1"/>
          <p:nvPr/>
        </p:nvSpPr>
        <p:spPr>
          <a:xfrm>
            <a:off x="4864608" y="5779008"/>
            <a:ext cx="671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模擬教學資料｜非即時｜非量測｜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parity 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60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D8D0F6DC-B1A8-8B77-0541-5FDB3289581A}"/>
              </a:ext>
            </a:extLst>
          </p:cNvPr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51571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標楷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Microsoft Office PowerPoint</Application>
  <PresentationFormat>寬螢幕</PresentationFormat>
  <Paragraphs>131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標楷體</vt:lpstr>
      <vt:lpstr>Arial</vt:lpstr>
      <vt:lpstr>Times New Roman</vt:lpstr>
      <vt:lpstr>Office Theme</vt:lpstr>
      <vt:lpstr>PowerPoint 簡報</vt:lpstr>
      <vt:lpstr>PowerPoint 簡報</vt:lpstr>
      <vt:lpstr>PowerPoint 簡報</vt:lpstr>
      <vt:lpstr>PowerPoint 簡報</vt:lpstr>
    </vt:vector>
  </TitlesOfParts>
  <Company>C-120 course planning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 energy course donor transplant — two-slide style study</dc:title>
  <dc:subject>Archived Phase-0 visual donor transplanted into the edu frame</dc:subject>
  <dc:creator>C-120 two-slide donor transplant checkpoint</dc:creator>
  <cp:lastModifiedBy>柏宏 吳</cp:lastModifiedBy>
  <cp:revision>2</cp:revision>
  <dcterms:created xsi:type="dcterms:W3CDTF">2026-08-10T08:54:14Z</dcterms:created>
  <dcterms:modified xsi:type="dcterms:W3CDTF">2026-08-10T15:49:01Z</dcterms:modified>
</cp:coreProperties>
</file>