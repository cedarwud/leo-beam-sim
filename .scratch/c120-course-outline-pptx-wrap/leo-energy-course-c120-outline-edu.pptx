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3" name="Image 1" descr="Template footer divi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  <p:pic>
        <p:nvPicPr>
          <p:cNvPr id="4" name="Image 2" descr="Template programm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154" y="0"/>
            <a:ext cx="2265426" cy="32360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01177" y="2312335"/>
            <a:ext cx="0" cy="761970"/>
          </a:xfrm>
          <a:prstGeom prst="line">
            <a:avLst/>
          </a:prstGeom>
          <a:noFill/>
          <a:ln w="38100">
            <a:solidFill>
              <a:srgbClr val="35377F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683697" y="2844150"/>
            <a:ext cx="10943173" cy="0"/>
          </a:xfrm>
          <a:prstGeom prst="line">
            <a:avLst/>
          </a:prstGeom>
          <a:noFill/>
          <a:ln w="38100">
            <a:solidFill>
              <a:srgbClr val="35377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9" name="Image 2" descr="Template footer divi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 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完整課程大綱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" y="9601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+ 8 + 23 + 23 + 5 + 23 + 14 + 14 = 120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3533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energy-first → LEO-as-index → </a:t>
            </a:r>
            <a:pPr algn="ctr" indent="0" marL="0">
              <a:buNone/>
            </a:pPr>
            <a:r>
              <a:rPr lang="en-US" sz="200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同一份</a:t>
            </a:r>
            <a:pPr algn="ctr" indent="0" marL="0">
              <a:buNone/>
            </a:pPr>
            <a:r>
              <a:rPr lang="en-US" sz="20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Energy Decision Workbook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" y="1773936"/>
            <a:ext cx="2496312" cy="530352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C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847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主張判讀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511296" y="1773936"/>
            <a:ext cx="2496312" cy="530352"/>
          </a:xfrm>
          <a:prstGeom prst="roundRect">
            <a:avLst/>
          </a:prstGeom>
          <a:solidFill>
            <a:srgbClr val="EEF5F8"/>
          </a:solidFill>
          <a:ln w="12700">
            <a:solidFill>
              <a:srgbClr val="577F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18653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77F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97096" y="1847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資料錨點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773936"/>
            <a:ext cx="2496312" cy="530352"/>
          </a:xfrm>
          <a:prstGeom prst="roundRect">
            <a:avLst/>
          </a:prstGeom>
          <a:solidFill>
            <a:srgbClr val="F3EFFA"/>
          </a:solidFill>
          <a:ln w="12700">
            <a:solidFill>
              <a:srgbClr val="8064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8653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58584" y="1847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｜同工異速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034272" y="1773936"/>
            <a:ext cx="2496312" cy="530352"/>
          </a:xfrm>
          <a:prstGeom prst="roundRect">
            <a:avLst/>
          </a:prstGeom>
          <a:solidFill>
            <a:srgbClr val="FAF0EE"/>
          </a:solidFill>
          <a:ln w="12700">
            <a:solidFill>
              <a:srgbClr val="C46F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8653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20072" y="1847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B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｜先行或等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034272" y="2404872"/>
            <a:ext cx="2496312" cy="530352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6074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96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74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20072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回復與重整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272784" y="2404872"/>
            <a:ext cx="2496312" cy="530352"/>
          </a:xfrm>
          <a:prstGeom prst="roundRect">
            <a:avLst/>
          </a:prstGeom>
          <a:solidFill>
            <a:srgbClr val="EDF8F2"/>
          </a:solidFill>
          <a:ln w="12700">
            <a:solidFill>
              <a:srgbClr val="3F98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496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9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58584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｜分配焦耳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511296" y="2404872"/>
            <a:ext cx="2496312" cy="530352"/>
          </a:xfrm>
          <a:prstGeom prst="roundRect">
            <a:avLst/>
          </a:prstGeom>
          <a:solidFill>
            <a:srgbClr val="F3EFFA"/>
          </a:solidFill>
          <a:ln w="12700">
            <a:solidFill>
              <a:srgbClr val="846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2496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6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97096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證據檢核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49808" y="2404872"/>
            <a:ext cx="2496312" cy="530352"/>
          </a:xfrm>
          <a:prstGeom prst="roundRect">
            <a:avLst/>
          </a:prstGeom>
          <a:solidFill>
            <a:srgbClr val="ECF7F7"/>
          </a:solidFill>
          <a:ln w="12700">
            <a:solidFill>
              <a:srgbClr val="328E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2496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8E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35608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競賽轉移／離場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3264408" y="2039112"/>
            <a:ext cx="219456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511296" y="2670048"/>
            <a:ext cx="-219456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25896" y="2039112"/>
            <a:ext cx="219456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72784" y="2670048"/>
            <a:ext cx="-219456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787384" y="2039112"/>
            <a:ext cx="219456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34272" y="2670048"/>
            <a:ext cx="-219456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1594592" y="2112264"/>
            <a:ext cx="0" cy="210312"/>
          </a:xfrm>
          <a:prstGeom prst="line">
            <a:avLst/>
          </a:prstGeom>
          <a:noFill/>
          <a:ln w="20320">
            <a:solidFill>
              <a:srgbClr val="8A70B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9808" y="3099816"/>
            <a:ext cx="10972800" cy="768096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5778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3236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606040" y="31729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2560320" y="35021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3767328" y="3355848"/>
            <a:ext cx="338328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224528" y="31729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4178808" y="35021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385816" y="3355848"/>
            <a:ext cx="338328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099048" y="31729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6053328" y="35021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7260336" y="3355848"/>
            <a:ext cx="338328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744968" y="31729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7699248" y="35021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8906256" y="3355848"/>
            <a:ext cx="338328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582912" y="31729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9537192" y="35021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邊界內效率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749808" y="4050792"/>
            <a:ext cx="5394960" cy="621792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D7A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976" y="41422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MISSION CONTRACT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2633472" y="4087368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pass · freshness · deadline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budget · window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6327648" y="4050792"/>
            <a:ext cx="5394960" cy="621792"/>
          </a:xfrm>
          <a:prstGeom prst="roundRect">
            <a:avLst/>
          </a:prstGeom>
          <a:solidFill>
            <a:srgbClr val="F2EEFA"/>
          </a:solidFill>
          <a:ln w="12700">
            <a:solidFill>
              <a:srgbClr val="7257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37960" y="417880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不能互換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7754112" y="413308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≠ J</a:t>
            </a:r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bit/s ≠ bit/J</a:t>
            </a:r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841248" y="48188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模擬教學資料、非即時、非量測、尚未通過</a:t>
            </a:r>
            <a:pPr algn="ctr" indent="0" marL="0">
              <a:buNone/>
            </a:pPr>
            <a:r>
              <a:rPr lang="en-US" sz="14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canonical parity </a:t>
            </a:r>
            <a:pPr algn="ctr" indent="0" marL="0">
              <a:buNone/>
            </a:pPr>
            <a:r>
              <a:rPr lang="en-US" sz="145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驗證。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＝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bits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</a:t>
            </a:r>
            <a:endParaRPr lang="en-US" sz="1420" dirty="0"/>
          </a:p>
        </p:txBody>
      </p:sp>
      <p:sp>
        <p:nvSpPr>
          <p:cNvPr id="62" name="Shape 60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頁；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分鐘為設計估計</a:t>
            </a:r>
            <a:endParaRPr lang="en-US" sz="1420" dirty="0"/>
          </a:p>
        </p:txBody>
      </p:sp>
      <p:sp>
        <p:nvSpPr>
          <p:cNvPr id="65" name="Shape 63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classroom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parity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能源主張判讀｜任務條件先鎖定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低、完成快、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 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高：何者省？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先判｜</a:t>
            </a:r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r" indent="0" marL="0">
              <a:buNone/>
            </a:pPr>
            <a:r>
              <a:rPr lang="en-US" sz="155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＋信心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2D8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09344"/>
            <a:ext cx="3127248" cy="694944"/>
          </a:xfrm>
          <a:prstGeom prst="roundRect">
            <a:avLst/>
          </a:prstGeom>
          <a:solidFill>
            <a:srgbClr val="EAF7F8"/>
          </a:solidFill>
          <a:ln w="12700">
            <a:solidFill>
              <a:srgbClr val="28A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746504"/>
            <a:ext cx="411480" cy="411480"/>
          </a:xfrm>
          <a:prstGeom prst="ellipse">
            <a:avLst/>
          </a:prstGeom>
          <a:solidFill>
            <a:srgbClr val="EAF7F8"/>
          </a:solidFill>
          <a:ln w="15240">
            <a:solidFill>
              <a:srgbClr val="28A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46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81328" y="16824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平均</a:t>
            </a:r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</a:t>
            </a:r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81328" y="198424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</a:t>
            </a:r>
            <a:pPr algn="l" indent="0" marL="0">
              <a:buNone/>
            </a:pPr>
            <a:r>
              <a:rPr lang="en-US" sz="1420" b="1" dirty="0">
                <a:solidFill>
                  <a:srgbClr val="28AFC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pPr algn="l" indent="0" marL="0">
              <a:buNone/>
            </a:pPr>
            <a:r>
              <a:rPr lang="en-US" sz="142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749808" y="2414016"/>
            <a:ext cx="3127248" cy="694944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551176"/>
            <a:ext cx="411480" cy="411480"/>
          </a:xfrm>
          <a:prstGeom prst="ellipse">
            <a:avLst/>
          </a:prstGeom>
          <a:solidFill>
            <a:srgbClr val="ECF7F1"/>
          </a:solidFill>
          <a:ln w="15240">
            <a:solidFill>
              <a:srgbClr val="4EA9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81328" y="24871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較快完成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81328" y="278892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</a:t>
            </a:r>
            <a:pPr algn="l" indent="0" marL="0">
              <a:buNone/>
            </a:pPr>
            <a:r>
              <a:rPr lang="en-US" sz="142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＋完成時刻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749808" y="3218688"/>
            <a:ext cx="3127248" cy="694944"/>
          </a:xfrm>
          <a:prstGeom prst="roundRect">
            <a:avLst/>
          </a:prstGeom>
          <a:solidFill>
            <a:srgbClr val="FAEFED"/>
          </a:solidFill>
          <a:ln w="12700">
            <a:solidFill>
              <a:srgbClr val="C96F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355848"/>
            <a:ext cx="411480" cy="411480"/>
          </a:xfrm>
          <a:prstGeom prst="ellipse">
            <a:avLst/>
          </a:prstGeom>
          <a:solidFill>
            <a:srgbClr val="FAEFED"/>
          </a:solidFill>
          <a:ln w="15240">
            <a:solidFill>
              <a:srgbClr val="C96F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81328" y="32918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 </a:t>
            </a:r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高但漏</a:t>
            </a:r>
            <a:pPr algn="l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81328" y="3593592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逾期＝服務不合格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3904488" y="2770632"/>
            <a:ext cx="219456" cy="0"/>
          </a:xfrm>
          <a:prstGeom prst="line">
            <a:avLst/>
          </a:prstGeom>
          <a:noFill/>
          <a:ln w="2286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151376" y="1609344"/>
            <a:ext cx="3182112" cy="2304288"/>
          </a:xfrm>
          <a:prstGeom prst="roundRect">
            <a:avLst/>
          </a:prstGeom>
          <a:solidFill>
            <a:srgbClr val="EEF4F7"/>
          </a:solidFill>
          <a:ln w="13970">
            <a:solidFill>
              <a:srgbClr val="5778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18196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先固定可比邊界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62272" y="22677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工作量／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payload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62272" y="25786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462272" y="28895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idle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wakeup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462272" y="32004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單位／時間窗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4864608" y="3557016"/>
            <a:ext cx="1755648" cy="310896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D7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5844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條件相同？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60920" y="2770632"/>
            <a:ext cx="219456" cy="0"/>
          </a:xfrm>
          <a:prstGeom prst="line">
            <a:avLst/>
          </a:prstGeom>
          <a:noFill/>
          <a:ln w="2286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07808" y="1609344"/>
            <a:ext cx="4114800" cy="2304288"/>
          </a:xfrm>
          <a:prstGeom prst="roundRect">
            <a:avLst/>
          </a:prstGeom>
          <a:solidFill>
            <a:srgbClr val="FAEFED"/>
          </a:solidFill>
          <a:ln w="13970">
            <a:solidFill>
              <a:srgbClr val="C96F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181965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揭露</a:t>
            </a:r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判決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936992" y="229514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A</a:t>
            </a:r>
            <a:pPr algn="ctr" indent="0" marL="0">
              <a:buNone/>
            </a:pPr>
            <a:r>
              <a:rPr lang="en-US" sz="23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pPr algn="ctr" indent="0" marL="0">
              <a:buNone/>
            </a:pPr>
            <a:r>
              <a:rPr lang="en-US" sz="23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Q</a:t>
            </a:r>
            <a:pPr algn="ctr" indent="0" marL="0">
              <a:buNone/>
            </a:pPr>
            <a:r>
              <a:rPr lang="en-US" sz="23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pPr algn="ctr" indent="0" marL="0">
              <a:buNone/>
            </a:pPr>
            <a:r>
              <a:rPr lang="en-US" sz="23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R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7936992" y="27066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471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信心：低／中／高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8001000" y="3090672"/>
            <a:ext cx="3328416" cy="0"/>
          </a:xfrm>
          <a:prstGeom prst="line">
            <a:avLst/>
          </a:prstGeom>
          <a:noFill/>
          <a:ln w="11430">
            <a:solidFill>
              <a:srgbClr val="C58A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36992" y="32004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揭露：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／時間／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936992" y="35478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只允許改判</a:t>
            </a:r>
            <a:pPr algn="ctr" indent="0" marL="0">
              <a:buNone/>
            </a:pPr>
            <a:r>
              <a:rPr lang="en-US" sz="18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 </a:t>
            </a:r>
            <a:pPr algn="ctr" indent="0" marL="0">
              <a:buNone/>
            </a:pPr>
            <a:r>
              <a:rPr lang="en-US" sz="18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次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49808" y="4370832"/>
            <a:ext cx="5394960" cy="658368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44" name="Text 42"/>
          <p:cNvSpPr/>
          <p:nvPr/>
        </p:nvSpPr>
        <p:spPr>
          <a:xfrm>
            <a:off x="2194560" y="4443984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初判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鎖定條件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揭露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改判一次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7648" y="4370832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D8C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47" name="Text 45"/>
          <p:cNvSpPr/>
          <p:nvPr/>
        </p:nvSpPr>
        <p:spPr>
          <a:xfrm>
            <a:off x="7772400" y="4443984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先固定服務邊界｜卡住時給單位／邊界提示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W≠J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；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bit/s≠bit/J</a:t>
            </a:r>
            <a:endParaRPr lang="en-US" sz="1420" dirty="0"/>
          </a:p>
        </p:txBody>
      </p:sp>
      <p:sp>
        <p:nvSpPr>
          <p:cNvPr id="51" name="Shape 49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3–4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活動（設計估計）</a:t>
            </a:r>
            <a:endParaRPr lang="en-US" sz="1420" dirty="0"/>
          </a:p>
        </p:txBody>
      </p:sp>
      <p:sp>
        <p:nvSpPr>
          <p:cNvPr id="54" name="Shape 52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cards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stakes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novice timing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10–18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到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｜資料來源錨點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EEF5F8"/>
          </a:solidFill>
          <a:ln w="12700">
            <a:solidFill>
              <a:srgbClr val="577F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F9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來源、模型、課程假設，怎麼分？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577F9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先分類｜來源／模型／假設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577F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09344"/>
            <a:ext cx="3255264" cy="1170432"/>
          </a:xfrm>
          <a:prstGeom prst="roundRect">
            <a:avLst/>
          </a:prstGeom>
          <a:solidFill>
            <a:srgbClr val="EAF7F8"/>
          </a:solidFill>
          <a:ln w="13335">
            <a:solidFill>
              <a:srgbClr val="28A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73736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932688" y="204825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pinned TLE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</a:t>
            </a:r>
            <a:pPr algn="ctr" indent="0" marL="0">
              <a:buNone/>
            </a:pPr>
            <a:r>
              <a:rPr lang="en-US" sz="1550" b="1" dirty="0">
                <a:solidFill>
                  <a:srgbClr val="28AFC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55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041648" y="2194560"/>
            <a:ext cx="329184" cy="0"/>
          </a:xfrm>
          <a:prstGeom prst="line">
            <a:avLst/>
          </a:prstGeom>
          <a:noFill/>
          <a:ln w="2159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43984" y="1609344"/>
            <a:ext cx="3255264" cy="1170432"/>
          </a:xfrm>
          <a:prstGeom prst="roundRect">
            <a:avLst/>
          </a:prstGeom>
          <a:solidFill>
            <a:srgbClr val="ECF7F1"/>
          </a:solidFill>
          <a:ln w="13335">
            <a:solidFill>
              <a:srgbClr val="4EA9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73736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626864" y="204825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service window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26864" y="2432304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可服務的時間區間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35824" y="2194560"/>
            <a:ext cx="329184" cy="0"/>
          </a:xfrm>
          <a:prstGeom prst="line">
            <a:avLst/>
          </a:prstGeom>
          <a:noFill/>
          <a:ln w="2159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1609344"/>
            <a:ext cx="3584448" cy="1170432"/>
          </a:xfrm>
          <a:prstGeom prst="roundRect">
            <a:avLst/>
          </a:prstGeom>
          <a:solidFill>
            <a:srgbClr val="F2EEFA"/>
          </a:solidFill>
          <a:ln w="13335">
            <a:solidFill>
              <a:srgbClr val="8A70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73736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8321040" y="204825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</a:t>
            </a:r>
            <a:pPr algn="ctr"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21040" y="243230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pPr algn="ctr" indent="0" marL="0">
              <a:buNone/>
            </a:pPr>
            <a:r>
              <a:rPr lang="en-US" sz="155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55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22960" y="2880360"/>
            <a:ext cx="10826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77F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versioned scenario_id</a:t>
            </a:r>
            <a:pPr algn="ctr" indent="0" marL="0">
              <a:buNone/>
            </a:pPr>
            <a:r>
              <a:rPr lang="en-US" sz="1600" b="1" dirty="0">
                <a:solidFill>
                  <a:srgbClr val="577F9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｜本頁只建立資料身分與行動合法性，不比較能源策略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" y="3273552"/>
            <a:ext cx="2267712" cy="621792"/>
          </a:xfrm>
          <a:prstGeom prst="rect">
            <a:avLst/>
          </a:prstGeom>
          <a:solidFill>
            <a:srgbClr val="F7F8FA"/>
          </a:solidFill>
          <a:ln w="11430">
            <a:solidFill>
              <a:srgbClr val="5778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3273552"/>
            <a:ext cx="5138928" cy="621792"/>
          </a:xfrm>
          <a:prstGeom prst="rect">
            <a:avLst/>
          </a:prstGeom>
          <a:solidFill>
            <a:srgbClr val="ECF7F1"/>
          </a:solidFill>
          <a:ln w="15240">
            <a:solidFill>
              <a:srgbClr val="4EA9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6448" y="3273552"/>
            <a:ext cx="3566160" cy="621792"/>
          </a:xfrm>
          <a:prstGeom prst="rect">
            <a:avLst/>
          </a:prstGeom>
          <a:solidFill>
            <a:srgbClr val="F7F8FA"/>
          </a:solidFill>
          <a:ln w="11430">
            <a:solidFill>
              <a:srgbClr val="5778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4564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1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OUTSIDE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46120" y="342900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WINDOW</a:t>
            </a:r>
            <a:pPr algn="ctr" indent="0" marL="0">
              <a:buNone/>
            </a:pPr>
            <a:r>
              <a:rPr lang="en-US" sz="180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8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pPr algn="ctr" indent="0" marL="0">
              <a:buNone/>
            </a:pPr>
            <a:r>
              <a:rPr lang="en-US" sz="180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8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57616" y="345643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1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OUTSIDE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" y="4288536"/>
            <a:ext cx="5394960" cy="658368"/>
          </a:xfrm>
          <a:prstGeom prst="roundRect">
            <a:avLst/>
          </a:prstGeom>
          <a:solidFill>
            <a:srgbClr val="EEF5F8"/>
          </a:solidFill>
          <a:ln w="12700">
            <a:solidFill>
              <a:srgbClr val="577F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379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577F9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2194560" y="436168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排序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lineage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確認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scenario_id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＋合法窗口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7648" y="4288536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577F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379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577F9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7772400" y="436168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限制下一步行動｜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power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</a:t>
            </a:r>
            <a:endParaRPr lang="en-US" sz="1420" dirty="0"/>
          </a:p>
        </p:txBody>
      </p:sp>
      <p:sp>
        <p:nvSpPr>
          <p:cNvPr id="40" name="Shape 38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3–4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資料排序（設計估計）</a:t>
            </a:r>
            <a:endParaRPr lang="en-US" sz="1420" dirty="0"/>
          </a:p>
        </p:txBody>
      </p:sp>
      <p:sp>
        <p:nvSpPr>
          <p:cNvPr id="43" name="Shape 41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seam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18–41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｜同一任務，不同節奏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F3EFFA"/>
          </a:solidFill>
          <a:ln w="12700">
            <a:solidFill>
              <a:srgbClr val="8064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或最快，哪個更少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先選｜</a:t>
            </a:r>
            <a:pPr algn="r" indent="0" marL="0">
              <a:buNone/>
            </a:pPr>
            <a:r>
              <a:rPr lang="en-US" sz="155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</a:t>
            </a:r>
            <a:pPr algn="r" indent="0" marL="0">
              <a:buNone/>
            </a:pPr>
            <a:r>
              <a:rPr lang="en-US" sz="155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r" indent="0" marL="0">
              <a:buNone/>
            </a:pPr>
            <a:r>
              <a:rPr lang="en-US" sz="155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pPr algn="r" indent="0" marL="0">
              <a:buNone/>
            </a:pPr>
            <a:r>
              <a:rPr lang="en-US" sz="155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r" indent="0" marL="0">
              <a:buNone/>
            </a:pPr>
            <a:r>
              <a:rPr lang="en-US" sz="155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806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81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固定比較｜同工作量</a:t>
            </a:r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・</a:t>
            </a:r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</a:t>
            </a:r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deadline・</a:t>
            </a:r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同系統邊界　　設計估計｜</a:t>
            </a:r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reference → 11 operation → 5 debrief → 2 transition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749808" y="1847088"/>
            <a:ext cx="3017520" cy="2350008"/>
          </a:xfrm>
          <a:prstGeom prst="roundRect">
            <a:avLst/>
          </a:prstGeom>
          <a:solidFill>
            <a:srgbClr val="F2EEFA"/>
          </a:solidFill>
          <a:ln w="13335">
            <a:solidFill>
              <a:srgbClr val="8A70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116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選一種節奏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87552" y="2441448"/>
            <a:ext cx="2542032" cy="438912"/>
          </a:xfrm>
          <a:prstGeom prst="roundRect">
            <a:avLst/>
          </a:prstGeom>
          <a:solidFill>
            <a:srgbClr val="ECF7F1"/>
          </a:solidFill>
          <a:ln w="11430">
            <a:solidFill>
              <a:srgbClr val="4EA9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252374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慢速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258568" y="25146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W・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7552" y="2999232"/>
            <a:ext cx="2542032" cy="438912"/>
          </a:xfrm>
          <a:prstGeom prst="roundRect">
            <a:avLst/>
          </a:prstGeom>
          <a:solidFill>
            <a:srgbClr val="EEF4F7"/>
          </a:solidFill>
          <a:ln w="11430">
            <a:solidFill>
              <a:srgbClr val="5778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30815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平衡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58568" y="30723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W・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" y="3557016"/>
            <a:ext cx="2542032" cy="438912"/>
          </a:xfrm>
          <a:prstGeom prst="roundRect">
            <a:avLst/>
          </a:prstGeom>
          <a:solidFill>
            <a:srgbClr val="F2EEFA"/>
          </a:solidFill>
          <a:ln w="11430">
            <a:solidFill>
              <a:srgbClr val="8A70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36393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高速後休眠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258568" y="36301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高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W・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短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4760" y="3008376"/>
            <a:ext cx="219456" cy="0"/>
          </a:xfrm>
          <a:prstGeom prst="line">
            <a:avLst/>
          </a:prstGeom>
          <a:noFill/>
          <a:ln w="22860">
            <a:solidFill>
              <a:srgbClr val="8A70B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41648" y="1847088"/>
            <a:ext cx="3694176" cy="2350008"/>
          </a:xfrm>
          <a:prstGeom prst="roundRect">
            <a:avLst/>
          </a:prstGeom>
          <a:solidFill>
            <a:srgbClr val="EEF4F7"/>
          </a:solidFill>
          <a:ln w="13335">
            <a:solidFill>
              <a:srgbClr val="5778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03911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同一份工作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343400" y="2432304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同工作量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・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
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同一系統邊界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52544" y="312724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× active time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352544" y="352044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consumed J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001768" y="3886200"/>
            <a:ext cx="1783080" cy="310896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D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91363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PASS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63256" y="3008376"/>
            <a:ext cx="219456" cy="0"/>
          </a:xfrm>
          <a:prstGeom prst="line">
            <a:avLst/>
          </a:prstGeom>
          <a:noFill/>
          <a:ln w="22860">
            <a:solidFill>
              <a:srgbClr val="8A70B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10144" y="1847088"/>
            <a:ext cx="3712464" cy="2350008"/>
          </a:xfrm>
          <a:prstGeom prst="roundRect">
            <a:avLst/>
          </a:prstGeom>
          <a:solidFill>
            <a:srgbClr val="FAF7F0"/>
          </a:solidFill>
          <a:ln w="13335">
            <a:solidFill>
              <a:srgbClr val="C9A7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203911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 replay → </a:t>
            </a:r>
            <a:pPr algn="ctr"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自動</a:t>
            </a:r>
            <a:pPr algn="ctr"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ledger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02752" y="25328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A7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390888" y="2532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2752" y="28986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A7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390888" y="2898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02752" y="326440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A7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390888" y="3264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02752" y="36301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A7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390888" y="36301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完成時刻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808" y="4407408"/>
            <a:ext cx="5394960" cy="658368"/>
          </a:xfrm>
          <a:prstGeom prst="roundRect">
            <a:avLst/>
          </a:prstGeom>
          <a:solidFill>
            <a:srgbClr val="F3EFFA"/>
          </a:solidFill>
          <a:ln w="12700">
            <a:solidFill>
              <a:srgbClr val="8064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4498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43" name="Text 41"/>
          <p:cNvSpPr/>
          <p:nvPr/>
        </p:nvSpPr>
        <p:spPr>
          <a:xfrm>
            <a:off x="2194560" y="448056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選策略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hidden replay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比較同一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ledger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7648" y="4407408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8064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498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064A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46" name="Text 44"/>
          <p:cNvSpPr/>
          <p:nvPr/>
        </p:nvSpPr>
        <p:spPr>
          <a:xfrm>
            <a:off x="7772400" y="448056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排序可能翻轉｜同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反例重設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bit/s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 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分欄</a:t>
            </a:r>
            <a:endParaRPr lang="en-US" sz="1420" dirty="0"/>
          </a:p>
        </p:txBody>
      </p:sp>
      <p:sp>
        <p:nvSpPr>
          <p:cNvPr id="50" name="Shape 48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5–6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lab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（設計估計）</a:t>
            </a:r>
            <a:endParaRPr lang="en-US" sz="1420" dirty="0"/>
          </a:p>
        </p:txBody>
      </p:sp>
      <p:sp>
        <p:nvSpPr>
          <p:cNvPr id="53" name="Shape 51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change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／反例未驗證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41–64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B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｜現在行動，還是等待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FAF0EE"/>
          </a:solidFill>
          <a:ln w="12700">
            <a:solidFill>
              <a:srgbClr val="C46F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4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何時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switch 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才守住服務並省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C4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先決定｜現在切換／等待／維持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C46F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27632"/>
            <a:ext cx="3054096" cy="2578608"/>
          </a:xfrm>
          <a:prstGeom prst="roundRect">
            <a:avLst/>
          </a:prstGeom>
          <a:solidFill>
            <a:srgbClr val="EAF7F8"/>
          </a:solidFill>
          <a:ln w="13335">
            <a:solidFill>
              <a:srgbClr val="28A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8470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buNone/>
            </a:pPr>
            <a:r>
              <a:rPr lang="en-US" sz="1900" b="1" dirty="0">
                <a:solidFill>
                  <a:srgbClr val="28AFC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｜看目前狀態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114800" y="1627632"/>
            <a:ext cx="3054096" cy="2578608"/>
          </a:xfrm>
          <a:prstGeom prst="roundRect">
            <a:avLst/>
          </a:prstGeom>
          <a:solidFill>
            <a:srgbClr val="F2EEFA"/>
          </a:solidFill>
          <a:ln w="13335">
            <a:solidFill>
              <a:srgbClr val="8A70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8470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buNone/>
            </a:pPr>
            <a:r>
              <a:rPr lang="en-US" sz="19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｜鎖定規則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479792" y="1627632"/>
            <a:ext cx="4242816" cy="2578608"/>
          </a:xfrm>
          <a:prstGeom prst="roundRect">
            <a:avLst/>
          </a:prstGeom>
          <a:solidFill>
            <a:srgbClr val="FAEFED"/>
          </a:solidFill>
          <a:ln w="13335">
            <a:solidFill>
              <a:srgbClr val="C96F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184708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｜面對未知未來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24128" y="2359152"/>
            <a:ext cx="2505456" cy="39319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8A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432304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現在切換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24128" y="2880360"/>
            <a:ext cx="2505456" cy="39319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8A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2953512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等待穩定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24128" y="3401568"/>
            <a:ext cx="2505456" cy="39319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8A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47472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維持目前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370832" y="23774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 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370832" y="279806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選一次</a:t>
            </a:r>
            <a:pPr algn="ctr" indent="0" marL="0">
              <a:buNone/>
            </a:pPr>
            <a:r>
              <a:rPr lang="en-US" sz="18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freeze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37176" y="3319272"/>
            <a:ext cx="1609344" cy="365760"/>
          </a:xfrm>
          <a:prstGeom prst="roundRect">
            <a:avLst/>
          </a:prstGeom>
          <a:solidFill>
            <a:srgbClr val="FAEFED"/>
          </a:solidFill>
          <a:ln w="12700">
            <a:solidFill>
              <a:srgbClr val="C96F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3467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RETUNE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70832" y="37947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1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同一規則，不因結果不好重調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99832" y="2368296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 B</a:t>
            </a:r>
            <a:pPr algn="ctr"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withheld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882128" y="277063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看見未公開的變化後</a:t>
            </a:r>
            <a:pPr algn="ctr" indent="0" marL="0">
              <a:buNone/>
            </a:pPr>
            <a:r>
              <a:rPr lang="en-US" sz="17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17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仍用剛才的</a:t>
            </a:r>
            <a:pPr algn="ctr" indent="0" marL="0">
              <a:buNone/>
            </a:pPr>
            <a:r>
              <a:rPr lang="en-US" sz="17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rule replay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92440" y="3639312"/>
            <a:ext cx="3017520" cy="384048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D7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5592" y="366674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</a:t>
            </a:r>
            <a:pPr algn="ctr" indent="0" marL="0">
              <a:buNone/>
            </a:pPr>
            <a:r>
              <a:rPr lang="en-US" sz="160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· service · J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22192" y="2898648"/>
            <a:ext cx="256032" cy="0"/>
          </a:xfrm>
          <a:prstGeom prst="line">
            <a:avLst/>
          </a:prstGeom>
          <a:noFill/>
          <a:ln w="2286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87184" y="2898648"/>
            <a:ext cx="256032" cy="0"/>
          </a:xfrm>
          <a:prstGeom prst="line">
            <a:avLst/>
          </a:prstGeom>
          <a:noFill/>
          <a:ln w="22860">
            <a:solidFill>
              <a:srgbClr val="8A70B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" y="4425696"/>
            <a:ext cx="5394960" cy="658368"/>
          </a:xfrm>
          <a:prstGeom prst="roundRect">
            <a:avLst/>
          </a:prstGeom>
          <a:solidFill>
            <a:srgbClr val="FAF0EE"/>
          </a:solidFill>
          <a:ln w="12700">
            <a:solidFill>
              <a:srgbClr val="C46F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4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219456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看狀態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選規則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freeze → Trace B replay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7648" y="4425696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C46F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4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777240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choice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改變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active time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rewind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switch count 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不是能耗項</a:t>
            </a:r>
            <a:endParaRPr lang="en-US" sz="1420" dirty="0"/>
          </a:p>
        </p:txBody>
      </p:sp>
      <p:sp>
        <p:nvSpPr>
          <p:cNvPr id="42" name="Shape 40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5–6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lab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（設計估計）</a:t>
            </a:r>
            <a:endParaRPr lang="en-US" sz="1420" dirty="0"/>
          </a:p>
        </p:txBody>
      </p:sp>
      <p:sp>
        <p:nvSpPr>
          <p:cNvPr id="45" name="Shape 43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branch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withheld fairness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64–69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回復與重整｜保住證據連續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6074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0748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能閉卷重建一條因果鏈嗎？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60748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閉卷決定｜缺哪一節就補哪一節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6074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27632"/>
            <a:ext cx="2057400" cy="1078992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5778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288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222199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Workbook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843784" y="2167128"/>
            <a:ext cx="274320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1627632"/>
            <a:ext cx="2542032" cy="1078992"/>
          </a:xfrm>
          <a:prstGeom prst="roundRect">
            <a:avLst/>
          </a:prstGeom>
          <a:solidFill>
            <a:srgbClr val="EAF7F8"/>
          </a:solidFill>
          <a:ln w="12700">
            <a:solidFill>
              <a:srgbClr val="28A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8288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pPr algn="ctr" indent="0" marL="0">
              <a:buNone/>
            </a:pPr>
            <a:r>
              <a:rPr lang="en-US" sz="1750" b="1" dirty="0">
                <a:solidFill>
                  <a:srgbClr val="28AFC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pPr algn="ctr" indent="0" marL="0">
              <a:buNone/>
            </a:pPr>
            <a:r>
              <a:rPr lang="en-US" sz="175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319272" y="22219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當時狀態＋動作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733288" y="2167128"/>
            <a:ext cx="274320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44184" y="1627632"/>
            <a:ext cx="2057400" cy="1078992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8288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08776" y="222199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系統路徑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138160" y="2167128"/>
            <a:ext cx="274320" cy="0"/>
          </a:xfrm>
          <a:prstGeom prst="line">
            <a:avLst/>
          </a:prstGeom>
          <a:noFill/>
          <a:ln w="2032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49056" y="1627632"/>
            <a:ext cx="3273552" cy="1078992"/>
          </a:xfrm>
          <a:prstGeom prst="roundRect">
            <a:avLst/>
          </a:prstGeom>
          <a:solidFill>
            <a:srgbClr val="F2EEFA"/>
          </a:solidFill>
          <a:ln w="12700">
            <a:solidFill>
              <a:srgbClr val="8A70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82880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pPr algn="ctr" indent="0" marL="0">
              <a:buNone/>
            </a:pPr>
            <a:r>
              <a:rPr lang="en-US" sz="175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75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613648" y="22219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服務結果＋累積能量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10826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｜閉卷重建一條『狀態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動作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路徑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service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』因果句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9808" y="3310128"/>
            <a:ext cx="5193792" cy="896112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5778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48386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需要協助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542032" y="34564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 → reset → resume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54496" y="3310128"/>
            <a:ext cx="5468112" cy="896112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348386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已能重建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37576" y="34381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用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boundary 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反例測試因果句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49808" y="4425696"/>
            <a:ext cx="5394960" cy="658368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6074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60748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219456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保存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閉卷重建｜留下狀態＋因果句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7648" y="4425696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6074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60748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777240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證據不中斷｜提示或延伸反例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Workbook 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可重開</a:t>
            </a:r>
            <a:endParaRPr lang="en-US" sz="1420" dirty="0"/>
          </a:p>
        </p:txBody>
      </p:sp>
      <p:sp>
        <p:nvSpPr>
          <p:cNvPr id="41" name="Shape 39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1–2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checkpoint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（設計估計）</a:t>
            </a:r>
            <a:endParaRPr lang="en-US" sz="1420" dirty="0"/>
          </a:p>
        </p:txBody>
      </p:sp>
      <p:sp>
        <p:nvSpPr>
          <p:cNvPr id="44" name="Shape 42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20-seat resume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69–92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｜如何分配焦耳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EDF8F2"/>
          </a:solidFill>
          <a:ln w="12700">
            <a:solidFill>
              <a:srgbClr val="3F9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F98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有限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與短窗口，資料怎麼排？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3F98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先排｜</a:t>
            </a:r>
            <a:pPr algn="r" indent="0" marL="0">
              <a:buNone/>
            </a:pPr>
            <a:r>
              <a:rPr lang="en-US" sz="1550" b="1" dirty="0">
                <a:solidFill>
                  <a:srgbClr val="3F9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→ revise → freeze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3F98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27632"/>
            <a:ext cx="3063240" cy="2578608"/>
          </a:xfrm>
          <a:prstGeom prst="roundRect">
            <a:avLst/>
          </a:prstGeom>
          <a:solidFill>
            <a:srgbClr val="FAEFED"/>
          </a:solidFill>
          <a:ln w="13335">
            <a:solidFill>
              <a:srgbClr val="C96F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837944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buNone/>
            </a:pPr>
            <a:r>
              <a:rPr lang="en-US" sz="19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｜三張任務卡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096512" y="1627632"/>
            <a:ext cx="4069080" cy="2578608"/>
          </a:xfrm>
          <a:prstGeom prst="roundRect">
            <a:avLst/>
          </a:prstGeom>
          <a:solidFill>
            <a:srgbClr val="EEF4F7"/>
          </a:solidFill>
          <a:ln w="13335">
            <a:solidFill>
              <a:srgbClr val="5778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3794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buNone/>
            </a:pPr>
            <a:r>
              <a:rPr lang="en-US" sz="190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｜六格</a:t>
            </a:r>
            <a:pPr algn="ctr" indent="0" marL="0">
              <a:buNone/>
            </a:pPr>
            <a:r>
              <a:rPr lang="en-US" sz="190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schedule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449056" y="1627632"/>
            <a:ext cx="3273552" cy="2578608"/>
          </a:xfrm>
          <a:prstGeom prst="roundRect">
            <a:avLst/>
          </a:prstGeom>
          <a:solidFill>
            <a:srgbClr val="F2EEFA"/>
          </a:solidFill>
          <a:ln w="13335">
            <a:solidFill>
              <a:srgbClr val="8A70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0224" y="1837944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ctr" indent="0" marL="0">
              <a:buNone/>
            </a:pPr>
            <a:r>
              <a:rPr lang="en-US" sz="19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9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withheld replay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2359152"/>
            <a:ext cx="2560320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96F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2432304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緊急警報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59152" y="243230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短</a:t>
            </a:r>
            <a:pPr algn="ctr" indent="0" marL="0">
              <a:buNone/>
            </a:pPr>
            <a:r>
              <a:rPr lang="en-US" sz="145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05840" y="2889504"/>
            <a:ext cx="2560320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4EA9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2962656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環境資料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59152" y="296265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保持</a:t>
            </a:r>
            <a:pPr algn="ctr" indent="0" marL="0">
              <a:buNone/>
            </a:pPr>
            <a:r>
              <a:rPr lang="en-US" sz="14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fresh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05840" y="3419856"/>
            <a:ext cx="2560320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8AF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" y="3493008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大量資料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59152" y="34930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AFC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可延後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87552" y="39410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→ </a:t>
            </a:r>
            <a:pPr algn="ctr" indent="0" marL="0">
              <a:buNone/>
            </a:pPr>
            <a:r>
              <a:rPr lang="en-US" sz="15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選先送任務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98264" y="231343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1–2 fixed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550" b="1" dirty="0">
                <a:solidFill>
                  <a:srgbClr val="5778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3–6 learner action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425696" y="2770632"/>
            <a:ext cx="420624" cy="566928"/>
          </a:xfrm>
          <a:prstGeom prst="rect">
            <a:avLst/>
          </a:prstGeom>
          <a:solidFill>
            <a:srgbClr val="F2EEFA"/>
          </a:solidFill>
          <a:ln w="12700">
            <a:solidFill>
              <a:srgbClr val="8A70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29260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74336" y="2770632"/>
            <a:ext cx="420624" cy="566928"/>
          </a:xfrm>
          <a:prstGeom prst="rect">
            <a:avLst/>
          </a:prstGeom>
          <a:solidFill>
            <a:srgbClr val="F2EEFA"/>
          </a:solidFill>
          <a:ln w="12700">
            <a:solidFill>
              <a:srgbClr val="8A70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9260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22976" y="2770632"/>
            <a:ext cx="420624" cy="566928"/>
          </a:xfrm>
          <a:prstGeom prst="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29260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71616" y="2770632"/>
            <a:ext cx="420624" cy="566928"/>
          </a:xfrm>
          <a:prstGeom prst="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9260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20256" y="2770632"/>
            <a:ext cx="420624" cy="566928"/>
          </a:xfrm>
          <a:prstGeom prst="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9260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68896" y="2770632"/>
            <a:ext cx="420624" cy="566928"/>
          </a:xfrm>
          <a:prstGeom prst="rect">
            <a:avLst/>
          </a:prstGeom>
          <a:solidFill>
            <a:srgbClr val="ECF7F1"/>
          </a:solidFill>
          <a:ln w="12700">
            <a:solidFill>
              <a:srgbClr val="4EA9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68896" y="29260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07408" y="3511296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 · batch · wait · sleep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166360" y="3858768"/>
            <a:ext cx="1938528" cy="310896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D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38862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revise → freeze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32520" y="236829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shorter window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732520" y="2770632"/>
            <a:ext cx="27066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</a:t>
            </a:r>
            <a:pPr algn="ctr" indent="0" marL="0">
              <a:buNone/>
            </a:pPr>
            <a:r>
              <a:rPr lang="en-US" sz="17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</a:t>
            </a:r>
            <a:pPr algn="ctr" indent="0" marL="0">
              <a:buNone/>
            </a:pPr>
            <a:r>
              <a:rPr lang="en-US" sz="17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replay
</a:t>
            </a:r>
            <a:pPr algn="ctr" indent="0" marL="0">
              <a:buNone/>
            </a:pPr>
            <a:r>
              <a:rPr lang="en-US" sz="17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不重排剛才的策略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842248" y="3602736"/>
            <a:ext cx="2487168" cy="393192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D7A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15400" y="3630168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· FRESH · J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3840480" y="2907792"/>
            <a:ext cx="219456" cy="0"/>
          </a:xfrm>
          <a:prstGeom prst="line">
            <a:avLst/>
          </a:prstGeom>
          <a:noFill/>
          <a:ln w="22860">
            <a:solidFill>
              <a:srgbClr val="4EA978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193024" y="2907792"/>
            <a:ext cx="219456" cy="0"/>
          </a:xfrm>
          <a:prstGeom prst="line">
            <a:avLst/>
          </a:prstGeom>
          <a:noFill/>
          <a:ln w="22860">
            <a:solidFill>
              <a:srgbClr val="4EA978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49808" y="4425696"/>
            <a:ext cx="5394960" cy="658368"/>
          </a:xfrm>
          <a:prstGeom prst="roundRect">
            <a:avLst/>
          </a:prstGeom>
          <a:solidFill>
            <a:srgbClr val="EDF8F2"/>
          </a:solidFill>
          <a:ln w="12700">
            <a:solidFill>
              <a:srgbClr val="3F98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3F98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50" name="Text 48"/>
          <p:cNvSpPr/>
          <p:nvPr/>
        </p:nvSpPr>
        <p:spPr>
          <a:xfrm>
            <a:off x="219456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排程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執行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修正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freeze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｜比較三次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ledger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7648" y="4425696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3F98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3F98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53" name="Text 51"/>
          <p:cNvSpPr/>
          <p:nvPr/>
        </p:nvSpPr>
        <p:spPr>
          <a:xfrm>
            <a:off x="777240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分欄｜非法時槽自動補齊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freshness </a:t>
            </a:r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分開</a:t>
            </a:r>
            <a:endParaRPr lang="en-US" sz="1420" dirty="0"/>
          </a:p>
        </p:txBody>
      </p:sp>
      <p:sp>
        <p:nvSpPr>
          <p:cNvPr id="57" name="Shape 55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6–7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lab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（設計估計）</a:t>
            </a:r>
            <a:endParaRPr lang="en-US" sz="1420" dirty="0"/>
          </a:p>
        </p:txBody>
      </p:sp>
      <p:sp>
        <p:nvSpPr>
          <p:cNvPr id="60" name="Shape 58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schedule state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withheld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92–106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證據檢核｜預測不等於節能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F3EFFA"/>
          </a:solidFill>
          <a:ln w="12700">
            <a:solidFill>
              <a:srgbClr val="846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468B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accuracy </a:t>
            </a:r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能證明節能嗎？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8468B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先判斷｜當下真正可用的特徵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8468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09344"/>
            <a:ext cx="3255264" cy="1143000"/>
          </a:xfrm>
          <a:prstGeom prst="roundRect">
            <a:avLst/>
          </a:prstGeom>
          <a:solidFill>
            <a:srgbClr val="ECF7F1"/>
          </a:solidFill>
          <a:ln w="13335">
            <a:solidFill>
              <a:srgbClr val="4EA9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81965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2677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load(t−2) · quality(t−1)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041648" y="2176272"/>
            <a:ext cx="329184" cy="0"/>
          </a:xfrm>
          <a:prstGeom prst="line">
            <a:avLst/>
          </a:prstGeom>
          <a:noFill/>
          <a:ln w="21590">
            <a:solidFill>
              <a:srgbClr val="8A70B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3984" y="1609344"/>
            <a:ext cx="3255264" cy="1143000"/>
          </a:xfrm>
          <a:prstGeom prst="roundRect">
            <a:avLst/>
          </a:prstGeom>
          <a:solidFill>
            <a:srgbClr val="F2EEFA"/>
          </a:solidFill>
          <a:ln w="13335">
            <a:solidFill>
              <a:srgbClr val="8A70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81965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45152" y="22677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看</a:t>
            </a:r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timestamp </a:t>
            </a:r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再決定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735824" y="2176272"/>
            <a:ext cx="329184" cy="0"/>
          </a:xfrm>
          <a:prstGeom prst="line">
            <a:avLst/>
          </a:prstGeom>
          <a:noFill/>
          <a:ln w="21590">
            <a:solidFill>
              <a:srgbClr val="8A70B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609344"/>
            <a:ext cx="3584448" cy="1143000"/>
          </a:xfrm>
          <a:prstGeom prst="roundRect">
            <a:avLst/>
          </a:prstGeom>
          <a:solidFill>
            <a:srgbClr val="FAEFED"/>
          </a:solidFill>
          <a:ln w="13335">
            <a:solidFill>
              <a:srgbClr val="C96F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81965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</a:t>
            </a:r>
            <a:pPr algn="ctr" indent="0" marL="0">
              <a:buNone/>
            </a:pPr>
            <a:r>
              <a:rPr lang="en-US" sz="1800" b="1" dirty="0">
                <a:solidFill>
                  <a:srgbClr val="C96F6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8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t+1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9328" y="226771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行動後結果不可偷看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9808" y="3090672"/>
            <a:ext cx="2377440" cy="603504"/>
          </a:xfrm>
          <a:prstGeom prst="roundRect">
            <a:avLst/>
          </a:prstGeom>
          <a:solidFill>
            <a:srgbClr val="ECF7F1"/>
          </a:solidFill>
          <a:ln w="12065">
            <a:solidFill>
              <a:srgbClr val="4EA9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255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163824" y="3392424"/>
            <a:ext cx="146304" cy="0"/>
          </a:xfrm>
          <a:prstGeom prst="line">
            <a:avLst/>
          </a:prstGeom>
          <a:noFill/>
          <a:ln w="1905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37560" y="3090672"/>
            <a:ext cx="2377440" cy="603504"/>
          </a:xfrm>
          <a:prstGeom prst="roundRect">
            <a:avLst/>
          </a:prstGeom>
          <a:solidFill>
            <a:srgbClr val="F2EEFA"/>
          </a:solidFill>
          <a:ln w="12065">
            <a:solidFill>
              <a:srgbClr val="8A70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255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once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5751576" y="3392424"/>
            <a:ext cx="146304" cy="0"/>
          </a:xfrm>
          <a:prstGeom prst="line">
            <a:avLst/>
          </a:prstGeom>
          <a:noFill/>
          <a:ln w="1905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25312" y="3090672"/>
            <a:ext cx="2560320" cy="603504"/>
          </a:xfrm>
          <a:prstGeom prst="roundRect">
            <a:avLst/>
          </a:prstGeom>
          <a:solidFill>
            <a:srgbClr val="F2EEFA"/>
          </a:solidFill>
          <a:ln w="12065">
            <a:solidFill>
              <a:srgbClr val="8A70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255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A70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replay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522208" y="3392424"/>
            <a:ext cx="146304" cy="0"/>
          </a:xfrm>
          <a:prstGeom prst="line">
            <a:avLst/>
          </a:prstGeom>
          <a:noFill/>
          <a:ln w="1905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95944" y="3090672"/>
            <a:ext cx="3026664" cy="603504"/>
          </a:xfrm>
          <a:prstGeom prst="roundRect">
            <a:avLst/>
          </a:prstGeom>
          <a:solidFill>
            <a:srgbClr val="ECF7F1"/>
          </a:solidFill>
          <a:ln w="12065">
            <a:solidFill>
              <a:srgbClr val="2D7A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33104" y="3255264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∥ service</a:t>
            </a:r>
            <a:pPr algn="ctr" indent="0" marL="0">
              <a:buNone/>
            </a:pPr>
            <a:r>
              <a:rPr lang="en-US" sz="165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3337560" y="3904488"/>
            <a:ext cx="5148072" cy="38404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C9A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968496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≠ saving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49808" y="4416552"/>
            <a:ext cx="5394960" cy="658368"/>
          </a:xfrm>
          <a:prstGeom prst="roundRect">
            <a:avLst/>
          </a:prstGeom>
          <a:solidFill>
            <a:srgbClr val="F3EFFA"/>
          </a:solidFill>
          <a:ln w="12700">
            <a:solidFill>
              <a:srgbClr val="846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5079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468B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2194560" y="4489704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 → freeze → replay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 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並列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7648" y="4416552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846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5079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468B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39" name="Text 37"/>
          <p:cNvSpPr/>
          <p:nvPr/>
        </p:nvSpPr>
        <p:spPr>
          <a:xfrm>
            <a:off x="7772400" y="4489704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預測不等於節能｜提示／誠實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模型分數不是能耗公式項</a:t>
            </a:r>
            <a:endParaRPr lang="en-US" sz="1420" dirty="0"/>
          </a:p>
        </p:txBody>
      </p:sp>
      <p:sp>
        <p:nvSpPr>
          <p:cNvPr id="43" name="Shape 41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4–5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coherent case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（設計估計）</a:t>
            </a:r>
            <a:endParaRPr lang="en-US" sz="1420" dirty="0"/>
          </a:p>
        </p:txBody>
      </p:sp>
      <p:sp>
        <p:nvSpPr>
          <p:cNvPr id="46" name="Shape 44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action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91" y="187008"/>
            <a:ext cx="217627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106–120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16936" y="265176"/>
            <a:ext cx="0" cy="310896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36392" y="187008"/>
            <a:ext cx="69829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競賽轉移與離場｜讓主張可被推翻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969264"/>
            <a:ext cx="1143000" cy="347472"/>
          </a:xfrm>
          <a:prstGeom prst="roundRect">
            <a:avLst/>
          </a:prstGeom>
          <a:solidFill>
            <a:srgbClr val="ECF7F7"/>
          </a:solidFill>
          <a:ln w="12700">
            <a:solidFill>
              <a:srgbClr val="328E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9669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28E9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960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換到新場景，主張如何被推翻？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1364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328E9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決定｜</a:t>
            </a:r>
            <a:pPr algn="r" indent="0" marL="0">
              <a:buNone/>
            </a:pPr>
            <a:r>
              <a:rPr lang="en-US" sz="1550" b="1" dirty="0">
                <a:solidFill>
                  <a:srgbClr val="328E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domain → falsifier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380744"/>
            <a:ext cx="10972800" cy="0"/>
          </a:xfrm>
          <a:prstGeom prst="line">
            <a:avLst/>
          </a:prstGeom>
          <a:noFill/>
          <a:ln w="14605">
            <a:solidFill>
              <a:srgbClr val="328E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27632"/>
            <a:ext cx="2926080" cy="2615184"/>
          </a:xfrm>
          <a:prstGeom prst="roundRect">
            <a:avLst/>
          </a:prstGeom>
          <a:solidFill>
            <a:srgbClr val="F2EEFA"/>
          </a:solidFill>
          <a:ln w="13335">
            <a:solidFill>
              <a:srgbClr val="8A70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0B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帶走的機制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42416" y="2331720"/>
            <a:ext cx="234086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70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3957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2761488"/>
            <a:ext cx="234086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70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82549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B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1042416" y="3191256"/>
            <a:ext cx="234086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70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25526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042416" y="3621024"/>
            <a:ext cx="234086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70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6850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claim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703320" y="2926080"/>
            <a:ext cx="274320" cy="0"/>
          </a:xfrm>
          <a:prstGeom prst="line">
            <a:avLst/>
          </a:prstGeom>
          <a:noFill/>
          <a:ln w="2286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05072" y="1627632"/>
            <a:ext cx="2743200" cy="2615184"/>
          </a:xfrm>
          <a:prstGeom prst="roundRect">
            <a:avLst/>
          </a:prstGeom>
          <a:solidFill>
            <a:srgbClr val="EAF7F8"/>
          </a:solidFill>
          <a:ln w="13335">
            <a:solidFill>
              <a:srgbClr val="28A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86537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UNSEEN DOMAIN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42816" y="23225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FARM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42816" y="28803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AF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moisture → irrigation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279392" y="33375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不搬衛星數值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只搬因果與取捨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775704" y="2926080"/>
            <a:ext cx="274320" cy="0"/>
          </a:xfrm>
          <a:prstGeom prst="line">
            <a:avLst/>
          </a:prstGeom>
          <a:noFill/>
          <a:ln w="22860">
            <a:solidFill>
              <a:srgbClr val="28AFC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77456" y="1627632"/>
            <a:ext cx="4645152" cy="2615184"/>
          </a:xfrm>
          <a:prstGeom prst="roundRect">
            <a:avLst/>
          </a:prstGeom>
          <a:solidFill>
            <a:srgbClr val="ECF7F1"/>
          </a:solidFill>
          <a:ln w="13335">
            <a:solidFill>
              <a:srgbClr val="4EA9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184708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可被推翻的控制鏈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461504" y="2359152"/>
            <a:ext cx="3877056" cy="42062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4EA9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244144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→ control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461504" y="2907792"/>
            <a:ext cx="3877056" cy="42062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4EA9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299008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→ P×time → J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461504" y="3456432"/>
            <a:ext cx="3877056" cy="42062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96F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35387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6F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measurement → falsifier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49808" y="4425696"/>
            <a:ext cx="5394960" cy="658368"/>
          </a:xfrm>
          <a:prstGeom prst="roundRect">
            <a:avLst/>
          </a:prstGeom>
          <a:solidFill>
            <a:srgbClr val="ECF7F7"/>
          </a:solidFill>
          <a:ln w="12700">
            <a:solidFill>
              <a:srgbClr val="328E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328E9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操作／證據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219456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映射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hypothesis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falsifier → what-if → export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7648" y="4425696"/>
            <a:ext cx="5394960" cy="658368"/>
          </a:xfrm>
          <a:prstGeom prst="roundRect">
            <a:avLst/>
          </a:prstGeom>
          <a:solidFill>
            <a:srgbClr val="FAF7F0"/>
          </a:solidFill>
          <a:ln w="12700">
            <a:solidFill>
              <a:srgbClr val="328E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517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328E9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意義／回復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7772400" y="44988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control → J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what-if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808" y="5276088"/>
            <a:ext cx="3310128" cy="658368"/>
          </a:xfrm>
          <a:prstGeom prst="roundRect">
            <a:avLst/>
          </a:prstGeom>
          <a:solidFill>
            <a:srgbClr val="ECF7F1"/>
          </a:solidFill>
          <a:ln w="10795">
            <a:solidFill>
              <a:srgbClr val="2D7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" y="5330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7A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86968" y="554126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D7A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分析／預測後才形成節能控制</a:t>
            </a:r>
            <a:endParaRPr lang="en-US" sz="1420" dirty="0"/>
          </a:p>
        </p:txBody>
      </p:sp>
      <p:sp>
        <p:nvSpPr>
          <p:cNvPr id="44" name="Shape 42"/>
          <p:cNvSpPr/>
          <p:nvPr/>
        </p:nvSpPr>
        <p:spPr>
          <a:xfrm>
            <a:off x="4178808" y="5276088"/>
            <a:ext cx="3913632" cy="658368"/>
          </a:xfrm>
          <a:prstGeom prst="roundRect">
            <a:avLst/>
          </a:prstGeom>
          <a:solidFill>
            <a:srgbClr val="F2EEFA"/>
          </a:solidFill>
          <a:ln w="10795">
            <a:solidFill>
              <a:srgbClr val="7257A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5968" y="53309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INFERENCE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315968" y="55412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4–5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頁＋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transfer</a:t>
            </a:r>
            <a:pPr algn="l" indent="0" marL="0">
              <a:buNone/>
            </a:pPr>
            <a:r>
              <a:rPr lang="en-US" sz="1420" b="1" dirty="0">
                <a:solidFill>
                  <a:srgbClr val="7257A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（設計估計）</a:t>
            </a:r>
            <a:endParaRPr lang="en-US" sz="1420" dirty="0"/>
          </a:p>
        </p:txBody>
      </p:sp>
      <p:sp>
        <p:nvSpPr>
          <p:cNvPr id="47" name="Shape 45"/>
          <p:cNvSpPr/>
          <p:nvPr/>
        </p:nvSpPr>
        <p:spPr>
          <a:xfrm>
            <a:off x="8211312" y="5276088"/>
            <a:ext cx="3511296" cy="658368"/>
          </a:xfrm>
          <a:prstGeom prst="roundRect">
            <a:avLst/>
          </a:prstGeom>
          <a:solidFill>
            <a:srgbClr val="FAEFED"/>
          </a:solidFill>
          <a:ln w="10795">
            <a:solidFill>
              <a:srgbClr val="9851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48472" y="53309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348472" y="554126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causal transfer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novice timing </a:t>
            </a:r>
            <a:pPr algn="l" indent="0" marL="0">
              <a:buNone/>
            </a:pPr>
            <a:r>
              <a:rPr lang="en-US" sz="1420" b="1" dirty="0">
                <a:solidFill>
                  <a:srgbClr val="98514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C-120 LEO 能源決策課程 Phase 0 outline</dc:title>
  <dc:subject>Exact-120 energy-first LEO-as-index course outline</dc:subject>
  <dc:creator>C-120 Phase 0 owner-review checkpoint</dc:creator>
  <cp:lastModifiedBy>C-120 Phase 0 owner-review checkpoint</cp:lastModifiedBy>
  <cp:revision>1</cp:revision>
  <dcterms:created xsi:type="dcterms:W3CDTF">2026-08-10T05:45:02Z</dcterms:created>
  <dcterms:modified xsi:type="dcterms:W3CDTF">2026-08-10T05:45:02Z</dcterms:modified>
</cp:coreProperties>
</file>