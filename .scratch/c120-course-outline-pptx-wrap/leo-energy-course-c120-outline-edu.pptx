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sldSz cx="12191970" cy="6858000"/>
  <p:notesSz cx="6858000" cy="1219197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image" Target="../media/image-1002-2.png"/><Relationship Id="rId3" Type="http://schemas.openxmlformats.org/officeDocument/2006/relationships/image" Target="../media/image-1002-3.png"/><Relationship Id="rId4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3-1.png"/><Relationship Id="rId2" Type="http://schemas.openxmlformats.org/officeDocument/2006/relationships/image" Target="../media/image-1003-2.png"/><Relationship Id="rId3" Type="http://schemas.openxmlformats.org/officeDocument/2006/relationships/image" Target="../media/image-1003-3.png"/><Relationship Id="rId4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PTX_WRAP_EDUCATE_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White template field and decorative motif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970" cy="6858000"/>
          </a:xfrm>
          <a:prstGeom prst="rect">
            <a:avLst/>
          </a:prstGeom>
        </p:spPr>
      </p:pic>
      <p:pic>
        <p:nvPicPr>
          <p:cNvPr id="3" name="Image 1" descr="Template footer divide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6113496"/>
            <a:ext cx="12191970" cy="216164"/>
          </a:xfrm>
          <a:prstGeom prst="rect">
            <a:avLst/>
          </a:prstGeom>
        </p:spPr>
      </p:pic>
      <p:pic>
        <p:nvPicPr>
          <p:cNvPr id="4" name="Image 2" descr="Template programme logo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75154" y="0"/>
            <a:ext cx="2265426" cy="323606"/>
          </a:xfrm>
          <a:prstGeom prst="rect">
            <a:avLst/>
          </a:prstGeom>
        </p:spPr>
      </p:pic>
      <p:sp>
        <p:nvSpPr>
          <p:cNvPr id="5" name="Shape 0"/>
          <p:cNvSpPr/>
          <p:nvPr/>
        </p:nvSpPr>
        <p:spPr>
          <a:xfrm>
            <a:off x="1001177" y="2312335"/>
            <a:ext cx="0" cy="761970"/>
          </a:xfrm>
          <a:prstGeom prst="line">
            <a:avLst/>
          </a:prstGeom>
          <a:noFill/>
          <a:ln w="38100">
            <a:solidFill>
              <a:srgbClr val="35377F"/>
            </a:solidFill>
            <a:prstDash val="solid"/>
          </a:ln>
        </p:spPr>
      </p:sp>
      <p:sp>
        <p:nvSpPr>
          <p:cNvPr id="6" name="Shape 1"/>
          <p:cNvSpPr/>
          <p:nvPr/>
        </p:nvSpPr>
        <p:spPr>
          <a:xfrm>
            <a:off x="683697" y="2844150"/>
            <a:ext cx="10943173" cy="0"/>
          </a:xfrm>
          <a:prstGeom prst="line">
            <a:avLst/>
          </a:prstGeom>
          <a:noFill/>
          <a:ln w="38100">
            <a:solidFill>
              <a:srgbClr val="35377F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34700" y="6340475"/>
            <a:ext cx="889000" cy="47625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400">
                <a:solidFill>
                  <a:srgbClr val="35377F"/>
                </a:solidFill>
                <a:latin typeface="Times New Roman"/>
                <a:ea typeface="Times New Roman"/>
                <a:cs typeface="Times New Roman"/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PTX_WRAP_EDUCATE_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White template field and decorative motif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970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425451" y="252413"/>
            <a:ext cx="0" cy="692150"/>
          </a:xfrm>
          <a:prstGeom prst="line">
            <a:avLst/>
          </a:prstGeom>
          <a:noFill/>
          <a:ln w="19050">
            <a:solidFill>
              <a:srgbClr val="35377F"/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209551" y="784225"/>
            <a:ext cx="11772900" cy="0"/>
          </a:xfrm>
          <a:prstGeom prst="line">
            <a:avLst/>
          </a:prstGeom>
          <a:noFill/>
          <a:ln w="19050">
            <a:solidFill>
              <a:srgbClr val="35377F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209551" y="6240463"/>
            <a:ext cx="11772900" cy="0"/>
          </a:xfrm>
          <a:prstGeom prst="line">
            <a:avLst/>
          </a:prstGeom>
          <a:noFill/>
          <a:ln w="19050">
            <a:solidFill>
              <a:srgbClr val="35377F"/>
            </a:solidFill>
            <a:prstDash val="solid"/>
          </a:ln>
        </p:spPr>
      </p:sp>
      <p:pic>
        <p:nvPicPr>
          <p:cNvPr id="6" name="Image 1" descr="Template programme log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10830" y="0"/>
            <a:ext cx="1981230" cy="283007"/>
          </a:xfrm>
          <a:prstGeom prst="rect">
            <a:avLst/>
          </a:prstGeom>
        </p:spPr>
      </p:pic>
      <p:pic>
        <p:nvPicPr>
          <p:cNvPr id="9" name="Image 2" descr="Template footer divider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113496"/>
            <a:ext cx="12191970" cy="216164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34700" y="6340475"/>
            <a:ext cx="889000" cy="47625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400">
                <a:solidFill>
                  <a:srgbClr val="35377F"/>
                </a:solidFill>
                <a:latin typeface="Times New Roman"/>
                <a:ea typeface="Times New Roman"/>
                <a:cs typeface="Times New Roman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34700" y="6340475"/>
            <a:ext cx="889000" cy="47625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400">
                <a:solidFill>
                  <a:srgbClr val="35377F"/>
                </a:solidFill>
                <a:latin typeface="Times New Roman"/>
                <a:ea typeface="Times New Roman"/>
                <a:cs typeface="Times New Roman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6591" y="187008"/>
            <a:ext cx="9462769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35377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C-120 LEO </a:t>
            </a:r>
            <a:pPr algn="l" indent="0" marL="0">
              <a:buNone/>
            </a:pPr>
            <a:r>
              <a:rPr lang="en-US" sz="2800" b="1" dirty="0">
                <a:solidFill>
                  <a:srgbClr val="35377F"/>
                </a:solidFill>
                <a:latin typeface="標楷體" pitchFamily="34" charset="0"/>
                <a:ea typeface="標楷體" pitchFamily="34" charset="-122"/>
                <a:cs typeface="標楷體" pitchFamily="34" charset="-120"/>
              </a:rPr>
              <a:t>能源決策課程｜</a:t>
            </a:r>
            <a:pPr algn="l" indent="0" marL="0">
              <a:buNone/>
            </a:pPr>
            <a:r>
              <a:rPr lang="en-US" sz="2800" b="1" dirty="0">
                <a:solidFill>
                  <a:srgbClr val="35377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Phase 0 </a:t>
            </a:r>
            <a:pPr algn="l" indent="0" marL="0">
              <a:buNone/>
            </a:pPr>
            <a:r>
              <a:rPr lang="en-US" sz="2800" b="1" dirty="0">
                <a:solidFill>
                  <a:srgbClr val="35377F"/>
                </a:solidFill>
                <a:latin typeface="標楷體" pitchFamily="34" charset="0"/>
                <a:ea typeface="標楷體" pitchFamily="34" charset="-122"/>
                <a:cs typeface="標楷體" pitchFamily="34" charset="-120"/>
              </a:rPr>
              <a:t>完整課程大綱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749808" y="960120"/>
            <a:ext cx="10972800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35377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10 + 8 + 23 + 23 + 5 + 23 + 14 + 14 = 120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841248" y="1353312"/>
            <a:ext cx="10789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>
                <a:solidFill>
                  <a:srgbClr val="2D7A7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energy-first  →  LEO-as-index  →  </a:t>
            </a:r>
            <a:pPr algn="ctr" indent="0" marL="0">
              <a:buNone/>
            </a:pPr>
            <a:r>
              <a:rPr lang="en-US" sz="1950" b="1" dirty="0">
                <a:solidFill>
                  <a:srgbClr val="2D7A70"/>
                </a:solidFill>
                <a:latin typeface="標楷體" pitchFamily="34" charset="0"/>
                <a:ea typeface="標楷體" pitchFamily="34" charset="-122"/>
                <a:cs typeface="標楷體" pitchFamily="34" charset="-120"/>
              </a:rPr>
              <a:t>同一份</a:t>
            </a:r>
            <a:pPr algn="ctr" indent="0" marL="0">
              <a:buNone/>
            </a:pPr>
            <a:r>
              <a:rPr lang="en-US" sz="1950" b="1" dirty="0">
                <a:solidFill>
                  <a:srgbClr val="2D7A7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Energy Decision Workbook</a:t>
            </a:r>
            <a:endParaRPr lang="en-US" sz="1950" dirty="0"/>
          </a:p>
        </p:txBody>
      </p:sp>
      <p:sp>
        <p:nvSpPr>
          <p:cNvPr id="5" name="Shape 3"/>
          <p:cNvSpPr/>
          <p:nvPr/>
        </p:nvSpPr>
        <p:spPr>
          <a:xfrm>
            <a:off x="3273552" y="2112264"/>
            <a:ext cx="256032" cy="0"/>
          </a:xfrm>
          <a:prstGeom prst="line">
            <a:avLst/>
          </a:prstGeom>
          <a:noFill/>
          <a:ln w="19685">
            <a:solidFill>
              <a:srgbClr val="28AFC0"/>
            </a:solidFill>
            <a:prstDash val="solid"/>
            <a:headEnd type="none"/>
            <a:tailEnd type="triangle"/>
          </a:ln>
        </p:spPr>
      </p:sp>
      <p:sp>
        <p:nvSpPr>
          <p:cNvPr id="6" name="Shape 4"/>
          <p:cNvSpPr/>
          <p:nvPr/>
        </p:nvSpPr>
        <p:spPr>
          <a:xfrm>
            <a:off x="6053328" y="2112264"/>
            <a:ext cx="256032" cy="0"/>
          </a:xfrm>
          <a:prstGeom prst="line">
            <a:avLst/>
          </a:prstGeom>
          <a:noFill/>
          <a:ln w="19685">
            <a:solidFill>
              <a:srgbClr val="28AFC0"/>
            </a:solidFill>
            <a:prstDash val="solid"/>
            <a:headEnd type="none"/>
            <a:tailEnd type="triangle"/>
          </a:ln>
        </p:spPr>
      </p:sp>
      <p:sp>
        <p:nvSpPr>
          <p:cNvPr id="7" name="Shape 5"/>
          <p:cNvSpPr/>
          <p:nvPr/>
        </p:nvSpPr>
        <p:spPr>
          <a:xfrm>
            <a:off x="8833104" y="2112264"/>
            <a:ext cx="256032" cy="0"/>
          </a:xfrm>
          <a:prstGeom prst="line">
            <a:avLst/>
          </a:prstGeom>
          <a:noFill/>
          <a:ln w="19685">
            <a:solidFill>
              <a:srgbClr val="28AFC0"/>
            </a:solidFill>
            <a:prstDash val="solid"/>
            <a:headEnd type="none"/>
            <a:tailEnd type="triangle"/>
          </a:ln>
        </p:spPr>
      </p:sp>
      <p:sp>
        <p:nvSpPr>
          <p:cNvPr id="8" name="Shape 6"/>
          <p:cNvSpPr/>
          <p:nvPr/>
        </p:nvSpPr>
        <p:spPr>
          <a:xfrm>
            <a:off x="11631168" y="2139696"/>
            <a:ext cx="0" cy="237744"/>
          </a:xfrm>
          <a:prstGeom prst="line">
            <a:avLst/>
          </a:prstGeom>
          <a:noFill/>
          <a:ln w="19050">
            <a:solidFill>
              <a:srgbClr val="8A70BF"/>
            </a:solidFill>
            <a:prstDash val="solid"/>
            <a:headEnd type="none"/>
            <a:tailEnd type="triangle"/>
          </a:ln>
        </p:spPr>
      </p:sp>
      <p:sp>
        <p:nvSpPr>
          <p:cNvPr id="9" name="Shape 7"/>
          <p:cNvSpPr/>
          <p:nvPr/>
        </p:nvSpPr>
        <p:spPr>
          <a:xfrm>
            <a:off x="9089136" y="2807208"/>
            <a:ext cx="-256032" cy="0"/>
          </a:xfrm>
          <a:prstGeom prst="line">
            <a:avLst/>
          </a:prstGeom>
          <a:noFill/>
          <a:ln w="19685">
            <a:solidFill>
              <a:srgbClr val="28AFC0"/>
            </a:solidFill>
            <a:prstDash val="solid"/>
            <a:headEnd type="none"/>
            <a:tailEnd type="triangle"/>
          </a:ln>
        </p:spPr>
      </p:sp>
      <p:sp>
        <p:nvSpPr>
          <p:cNvPr id="10" name="Shape 8"/>
          <p:cNvSpPr/>
          <p:nvPr/>
        </p:nvSpPr>
        <p:spPr>
          <a:xfrm>
            <a:off x="6309360" y="2807208"/>
            <a:ext cx="-256032" cy="0"/>
          </a:xfrm>
          <a:prstGeom prst="line">
            <a:avLst/>
          </a:prstGeom>
          <a:noFill/>
          <a:ln w="19685">
            <a:solidFill>
              <a:srgbClr val="28AFC0"/>
            </a:solidFill>
            <a:prstDash val="solid"/>
            <a:headEnd type="none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3529584" y="2807208"/>
            <a:ext cx="-256032" cy="0"/>
          </a:xfrm>
          <a:prstGeom prst="line">
            <a:avLst/>
          </a:prstGeom>
          <a:noFill/>
          <a:ln w="19685">
            <a:solidFill>
              <a:srgbClr val="28AFC0"/>
            </a:solidFill>
            <a:prstDash val="solid"/>
            <a:headEnd type="none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749808" y="1810512"/>
            <a:ext cx="2523744" cy="530352"/>
          </a:xfrm>
          <a:prstGeom prst="roundRect">
            <a:avLst/>
          </a:prstGeom>
          <a:solidFill>
            <a:srgbClr val="FFFFFF"/>
          </a:solidFill>
          <a:ln w="14605">
            <a:solidFill>
              <a:srgbClr val="2D8C8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41248" y="1901952"/>
            <a:ext cx="493776" cy="329184"/>
          </a:xfrm>
          <a:prstGeom prst="roundRect">
            <a:avLst/>
          </a:prstGeom>
          <a:solidFill>
            <a:srgbClr val="2D8C8A"/>
          </a:solidFill>
          <a:ln w="10160">
            <a:solidFill>
              <a:srgbClr val="2D8C8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96112" y="1920240"/>
            <a:ext cx="3840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10</a:t>
            </a:r>
            <a:endParaRPr lang="en-US" sz="1550" dirty="0"/>
          </a:p>
        </p:txBody>
      </p:sp>
      <p:sp>
        <p:nvSpPr>
          <p:cNvPr id="15" name="Text 13"/>
          <p:cNvSpPr/>
          <p:nvPr/>
        </p:nvSpPr>
        <p:spPr>
          <a:xfrm>
            <a:off x="1426464" y="1883664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20" b="1" dirty="0">
                <a:solidFill>
                  <a:srgbClr val="2D8C8A"/>
                </a:solidFill>
                <a:latin typeface="標楷體" pitchFamily="34" charset="0"/>
                <a:ea typeface="標楷體" pitchFamily="34" charset="-122"/>
                <a:cs typeface="標楷體" pitchFamily="34" charset="-120"/>
              </a:rPr>
              <a:t>主張判讀</a:t>
            </a:r>
            <a:endParaRPr lang="en-US" sz="1420" dirty="0"/>
          </a:p>
        </p:txBody>
      </p:sp>
      <p:sp>
        <p:nvSpPr>
          <p:cNvPr id="16" name="Shape 14"/>
          <p:cNvSpPr/>
          <p:nvPr/>
        </p:nvSpPr>
        <p:spPr>
          <a:xfrm>
            <a:off x="3529584" y="1810512"/>
            <a:ext cx="2523744" cy="530352"/>
          </a:xfrm>
          <a:prstGeom prst="roundRect">
            <a:avLst/>
          </a:prstGeom>
          <a:solidFill>
            <a:srgbClr val="FFFFFF"/>
          </a:solidFill>
          <a:ln w="14605">
            <a:solidFill>
              <a:srgbClr val="577F9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3621024" y="1901952"/>
            <a:ext cx="493776" cy="329184"/>
          </a:xfrm>
          <a:prstGeom prst="roundRect">
            <a:avLst/>
          </a:prstGeom>
          <a:solidFill>
            <a:srgbClr val="577F96"/>
          </a:solidFill>
          <a:ln w="10160">
            <a:solidFill>
              <a:srgbClr val="577F9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75888" y="1920240"/>
            <a:ext cx="3840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8</a:t>
            </a:r>
            <a:endParaRPr lang="en-US" sz="1550" dirty="0"/>
          </a:p>
        </p:txBody>
      </p:sp>
      <p:sp>
        <p:nvSpPr>
          <p:cNvPr id="19" name="Text 17"/>
          <p:cNvSpPr/>
          <p:nvPr/>
        </p:nvSpPr>
        <p:spPr>
          <a:xfrm>
            <a:off x="4206240" y="1883664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20" b="1" dirty="0">
                <a:solidFill>
                  <a:srgbClr val="577F96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TLE </a:t>
            </a:r>
            <a:pPr algn="ctr" indent="0" marL="0">
              <a:buNone/>
            </a:pPr>
            <a:r>
              <a:rPr lang="en-US" sz="1420" b="1" dirty="0">
                <a:solidFill>
                  <a:srgbClr val="577F96"/>
                </a:solidFill>
                <a:latin typeface="標楷體" pitchFamily="34" charset="0"/>
                <a:ea typeface="標楷體" pitchFamily="34" charset="-122"/>
                <a:cs typeface="標楷體" pitchFamily="34" charset="-120"/>
              </a:rPr>
              <a:t>資料錨點</a:t>
            </a:r>
            <a:endParaRPr lang="en-US" sz="1420" dirty="0"/>
          </a:p>
        </p:txBody>
      </p:sp>
      <p:sp>
        <p:nvSpPr>
          <p:cNvPr id="20" name="Shape 18"/>
          <p:cNvSpPr/>
          <p:nvPr/>
        </p:nvSpPr>
        <p:spPr>
          <a:xfrm>
            <a:off x="6309360" y="1810512"/>
            <a:ext cx="2523744" cy="530352"/>
          </a:xfrm>
          <a:prstGeom prst="roundRect">
            <a:avLst/>
          </a:prstGeom>
          <a:solidFill>
            <a:srgbClr val="FFFFFF"/>
          </a:solidFill>
          <a:ln w="14605">
            <a:solidFill>
              <a:srgbClr val="8064AE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400800" y="1901952"/>
            <a:ext cx="493776" cy="329184"/>
          </a:xfrm>
          <a:prstGeom prst="roundRect">
            <a:avLst/>
          </a:prstGeom>
          <a:solidFill>
            <a:srgbClr val="8064AE"/>
          </a:solidFill>
          <a:ln w="10160">
            <a:solidFill>
              <a:srgbClr val="8064AE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455664" y="1920240"/>
            <a:ext cx="3840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23</a:t>
            </a:r>
            <a:endParaRPr lang="en-US" sz="1550" dirty="0"/>
          </a:p>
        </p:txBody>
      </p:sp>
      <p:sp>
        <p:nvSpPr>
          <p:cNvPr id="23" name="Text 21"/>
          <p:cNvSpPr/>
          <p:nvPr/>
        </p:nvSpPr>
        <p:spPr>
          <a:xfrm>
            <a:off x="6986016" y="1883664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20" b="1" dirty="0">
                <a:solidFill>
                  <a:srgbClr val="8064A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Lab A</a:t>
            </a:r>
            <a:pPr algn="ctr" indent="0" marL="0">
              <a:buNone/>
            </a:pPr>
            <a:r>
              <a:rPr lang="en-US" sz="1420" b="1" dirty="0">
                <a:solidFill>
                  <a:srgbClr val="8064AE"/>
                </a:solidFill>
                <a:latin typeface="標楷體" pitchFamily="34" charset="0"/>
                <a:ea typeface="標楷體" pitchFamily="34" charset="-122"/>
                <a:cs typeface="標楷體" pitchFamily="34" charset="-120"/>
              </a:rPr>
              <a:t>｜同工異速</a:t>
            </a:r>
            <a:endParaRPr lang="en-US" sz="1420" dirty="0"/>
          </a:p>
        </p:txBody>
      </p:sp>
      <p:sp>
        <p:nvSpPr>
          <p:cNvPr id="24" name="Shape 22"/>
          <p:cNvSpPr/>
          <p:nvPr/>
        </p:nvSpPr>
        <p:spPr>
          <a:xfrm>
            <a:off x="9089136" y="1810512"/>
            <a:ext cx="2523744" cy="530352"/>
          </a:xfrm>
          <a:prstGeom prst="roundRect">
            <a:avLst/>
          </a:prstGeom>
          <a:solidFill>
            <a:srgbClr val="FFFFFF"/>
          </a:solidFill>
          <a:ln w="14605">
            <a:solidFill>
              <a:srgbClr val="C46F67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9180576" y="1901952"/>
            <a:ext cx="493776" cy="329184"/>
          </a:xfrm>
          <a:prstGeom prst="roundRect">
            <a:avLst/>
          </a:prstGeom>
          <a:solidFill>
            <a:srgbClr val="C46F67"/>
          </a:solidFill>
          <a:ln w="10160">
            <a:solidFill>
              <a:srgbClr val="C46F67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235440" y="1920240"/>
            <a:ext cx="3840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23</a:t>
            </a:r>
            <a:endParaRPr lang="en-US" sz="1550" dirty="0"/>
          </a:p>
        </p:txBody>
      </p:sp>
      <p:sp>
        <p:nvSpPr>
          <p:cNvPr id="27" name="Text 25"/>
          <p:cNvSpPr/>
          <p:nvPr/>
        </p:nvSpPr>
        <p:spPr>
          <a:xfrm>
            <a:off x="9765792" y="1883664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20" b="1" dirty="0">
                <a:solidFill>
                  <a:srgbClr val="C46F67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Lab B</a:t>
            </a:r>
            <a:pPr algn="ctr" indent="0" marL="0">
              <a:buNone/>
            </a:pPr>
            <a:r>
              <a:rPr lang="en-US" sz="1420" b="1" dirty="0">
                <a:solidFill>
                  <a:srgbClr val="C46F67"/>
                </a:solidFill>
                <a:latin typeface="標楷體" pitchFamily="34" charset="0"/>
                <a:ea typeface="標楷體" pitchFamily="34" charset="-122"/>
                <a:cs typeface="標楷體" pitchFamily="34" charset="-120"/>
              </a:rPr>
              <a:t>｜先行或等</a:t>
            </a:r>
            <a:endParaRPr lang="en-US" sz="1420" dirty="0"/>
          </a:p>
        </p:txBody>
      </p:sp>
      <p:sp>
        <p:nvSpPr>
          <p:cNvPr id="28" name="Shape 26"/>
          <p:cNvSpPr/>
          <p:nvPr/>
        </p:nvSpPr>
        <p:spPr>
          <a:xfrm>
            <a:off x="9089136" y="2505456"/>
            <a:ext cx="2523744" cy="530352"/>
          </a:xfrm>
          <a:prstGeom prst="roundRect">
            <a:avLst/>
          </a:prstGeom>
          <a:solidFill>
            <a:srgbClr val="FFFFFF"/>
          </a:solidFill>
          <a:ln w="14605">
            <a:solidFill>
              <a:srgbClr val="60748F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9180576" y="2596896"/>
            <a:ext cx="493776" cy="329184"/>
          </a:xfrm>
          <a:prstGeom prst="roundRect">
            <a:avLst/>
          </a:prstGeom>
          <a:solidFill>
            <a:srgbClr val="60748F"/>
          </a:solidFill>
          <a:ln w="10160">
            <a:solidFill>
              <a:srgbClr val="60748F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9235440" y="2615184"/>
            <a:ext cx="3840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5</a:t>
            </a:r>
            <a:endParaRPr lang="en-US" sz="1550" dirty="0"/>
          </a:p>
        </p:txBody>
      </p:sp>
      <p:sp>
        <p:nvSpPr>
          <p:cNvPr id="31" name="Text 29"/>
          <p:cNvSpPr/>
          <p:nvPr/>
        </p:nvSpPr>
        <p:spPr>
          <a:xfrm>
            <a:off x="9765792" y="2578608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20" b="1" dirty="0">
                <a:solidFill>
                  <a:srgbClr val="60748F"/>
                </a:solidFill>
                <a:latin typeface="標楷體" pitchFamily="34" charset="0"/>
                <a:ea typeface="標楷體" pitchFamily="34" charset="-122"/>
                <a:cs typeface="標楷體" pitchFamily="34" charset="-120"/>
              </a:rPr>
              <a:t>回復與重整</a:t>
            </a:r>
            <a:endParaRPr lang="en-US" sz="1420" dirty="0"/>
          </a:p>
        </p:txBody>
      </p:sp>
      <p:sp>
        <p:nvSpPr>
          <p:cNvPr id="32" name="Shape 30"/>
          <p:cNvSpPr/>
          <p:nvPr/>
        </p:nvSpPr>
        <p:spPr>
          <a:xfrm>
            <a:off x="6309360" y="2505456"/>
            <a:ext cx="2523744" cy="530352"/>
          </a:xfrm>
          <a:prstGeom prst="roundRect">
            <a:avLst/>
          </a:prstGeom>
          <a:solidFill>
            <a:srgbClr val="FFFFFF"/>
          </a:solidFill>
          <a:ln w="14605">
            <a:solidFill>
              <a:srgbClr val="3F9870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400800" y="2596896"/>
            <a:ext cx="493776" cy="329184"/>
          </a:xfrm>
          <a:prstGeom prst="roundRect">
            <a:avLst/>
          </a:prstGeom>
          <a:solidFill>
            <a:srgbClr val="3F9870"/>
          </a:solidFill>
          <a:ln w="10160">
            <a:solidFill>
              <a:srgbClr val="3F987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55664" y="2615184"/>
            <a:ext cx="3840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23</a:t>
            </a:r>
            <a:endParaRPr lang="en-US" sz="1550" dirty="0"/>
          </a:p>
        </p:txBody>
      </p:sp>
      <p:sp>
        <p:nvSpPr>
          <p:cNvPr id="35" name="Text 33"/>
          <p:cNvSpPr/>
          <p:nvPr/>
        </p:nvSpPr>
        <p:spPr>
          <a:xfrm>
            <a:off x="6986016" y="2578608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20" b="1" dirty="0">
                <a:solidFill>
                  <a:srgbClr val="3F987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Lab C</a:t>
            </a:r>
            <a:pPr algn="ctr" indent="0" marL="0">
              <a:buNone/>
            </a:pPr>
            <a:r>
              <a:rPr lang="en-US" sz="1420" b="1" dirty="0">
                <a:solidFill>
                  <a:srgbClr val="3F9870"/>
                </a:solidFill>
                <a:latin typeface="標楷體" pitchFamily="34" charset="0"/>
                <a:ea typeface="標楷體" pitchFamily="34" charset="-122"/>
                <a:cs typeface="標楷體" pitchFamily="34" charset="-120"/>
              </a:rPr>
              <a:t>｜分配焦耳</a:t>
            </a:r>
            <a:endParaRPr lang="en-US" sz="1420" dirty="0"/>
          </a:p>
        </p:txBody>
      </p:sp>
      <p:sp>
        <p:nvSpPr>
          <p:cNvPr id="36" name="Shape 34"/>
          <p:cNvSpPr/>
          <p:nvPr/>
        </p:nvSpPr>
        <p:spPr>
          <a:xfrm>
            <a:off x="3529584" y="2505456"/>
            <a:ext cx="2523744" cy="530352"/>
          </a:xfrm>
          <a:prstGeom prst="roundRect">
            <a:avLst/>
          </a:prstGeom>
          <a:solidFill>
            <a:srgbClr val="FFFFFF"/>
          </a:solidFill>
          <a:ln w="14605">
            <a:solidFill>
              <a:srgbClr val="8468B5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21024" y="2596896"/>
            <a:ext cx="493776" cy="329184"/>
          </a:xfrm>
          <a:prstGeom prst="roundRect">
            <a:avLst/>
          </a:prstGeom>
          <a:solidFill>
            <a:srgbClr val="8468B5"/>
          </a:solidFill>
          <a:ln w="10160">
            <a:solidFill>
              <a:srgbClr val="8468B5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675888" y="2615184"/>
            <a:ext cx="3840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14</a:t>
            </a:r>
            <a:endParaRPr lang="en-US" sz="1550" dirty="0"/>
          </a:p>
        </p:txBody>
      </p:sp>
      <p:sp>
        <p:nvSpPr>
          <p:cNvPr id="39" name="Text 37"/>
          <p:cNvSpPr/>
          <p:nvPr/>
        </p:nvSpPr>
        <p:spPr>
          <a:xfrm>
            <a:off x="4206240" y="2578608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20" b="1" dirty="0">
                <a:solidFill>
                  <a:srgbClr val="8468B5"/>
                </a:solidFill>
                <a:latin typeface="標楷體" pitchFamily="34" charset="0"/>
                <a:ea typeface="標楷體" pitchFamily="34" charset="-122"/>
                <a:cs typeface="標楷體" pitchFamily="34" charset="-120"/>
              </a:rPr>
              <a:t>證據檢核</a:t>
            </a:r>
            <a:endParaRPr lang="en-US" sz="1420" dirty="0"/>
          </a:p>
        </p:txBody>
      </p:sp>
      <p:sp>
        <p:nvSpPr>
          <p:cNvPr id="40" name="Shape 38"/>
          <p:cNvSpPr/>
          <p:nvPr/>
        </p:nvSpPr>
        <p:spPr>
          <a:xfrm>
            <a:off x="749808" y="2505456"/>
            <a:ext cx="2523744" cy="530352"/>
          </a:xfrm>
          <a:prstGeom prst="roundRect">
            <a:avLst/>
          </a:prstGeom>
          <a:solidFill>
            <a:srgbClr val="FFFFFF"/>
          </a:solidFill>
          <a:ln w="14605">
            <a:solidFill>
              <a:srgbClr val="328E98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841248" y="2596896"/>
            <a:ext cx="493776" cy="329184"/>
          </a:xfrm>
          <a:prstGeom prst="roundRect">
            <a:avLst/>
          </a:prstGeom>
          <a:solidFill>
            <a:srgbClr val="328E98"/>
          </a:solidFill>
          <a:ln w="10160">
            <a:solidFill>
              <a:srgbClr val="328E98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896112" y="2615184"/>
            <a:ext cx="3840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14</a:t>
            </a:r>
            <a:endParaRPr lang="en-US" sz="1550" dirty="0"/>
          </a:p>
        </p:txBody>
      </p:sp>
      <p:sp>
        <p:nvSpPr>
          <p:cNvPr id="43" name="Text 41"/>
          <p:cNvSpPr/>
          <p:nvPr/>
        </p:nvSpPr>
        <p:spPr>
          <a:xfrm>
            <a:off x="1426464" y="2578608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20" b="1" dirty="0">
                <a:solidFill>
                  <a:srgbClr val="328E98"/>
                </a:solidFill>
                <a:latin typeface="標楷體" pitchFamily="34" charset="0"/>
                <a:ea typeface="標楷體" pitchFamily="34" charset="-122"/>
                <a:cs typeface="標楷體" pitchFamily="34" charset="-120"/>
              </a:rPr>
              <a:t>競賽轉移／離場</a:t>
            </a:r>
            <a:endParaRPr lang="en-US" sz="1420" dirty="0"/>
          </a:p>
        </p:txBody>
      </p:sp>
      <p:sp>
        <p:nvSpPr>
          <p:cNvPr id="44" name="Shape 42"/>
          <p:cNvSpPr/>
          <p:nvPr/>
        </p:nvSpPr>
        <p:spPr>
          <a:xfrm>
            <a:off x="749808" y="3236976"/>
            <a:ext cx="10972800" cy="667512"/>
          </a:xfrm>
          <a:prstGeom prst="roundRect">
            <a:avLst/>
          </a:prstGeom>
          <a:solidFill>
            <a:srgbClr val="FAF7F0"/>
          </a:solidFill>
          <a:ln w="11430">
            <a:solidFill>
              <a:srgbClr val="D5DDE4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932688" y="3364992"/>
            <a:ext cx="132588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20" b="1" dirty="0">
                <a:solidFill>
                  <a:srgbClr val="C9A74F"/>
                </a:solidFill>
                <a:latin typeface="標楷體" pitchFamily="34" charset="0"/>
                <a:ea typeface="標楷體" pitchFamily="34" charset="-122"/>
                <a:cs typeface="標楷體" pitchFamily="34" charset="-120"/>
              </a:rPr>
              <a:t>共同判讀骨架</a:t>
            </a:r>
            <a:endParaRPr lang="en-US" sz="1320" dirty="0"/>
          </a:p>
        </p:txBody>
      </p:sp>
      <p:sp>
        <p:nvSpPr>
          <p:cNvPr id="46" name="Shape 44"/>
          <p:cNvSpPr/>
          <p:nvPr/>
        </p:nvSpPr>
        <p:spPr>
          <a:xfrm>
            <a:off x="2423160" y="3337560"/>
            <a:ext cx="420624" cy="420624"/>
          </a:xfrm>
          <a:prstGeom prst="ellipse">
            <a:avLst/>
          </a:prstGeom>
          <a:solidFill>
            <a:srgbClr val="28AFC0"/>
          </a:solidFill>
          <a:ln w="8890">
            <a:solidFill>
              <a:srgbClr val="28AFC0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258568" y="3364992"/>
            <a:ext cx="7498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</a:t>
            </a:r>
            <a:endParaRPr lang="en-US" sz="1550" dirty="0"/>
          </a:p>
        </p:txBody>
      </p:sp>
      <p:sp>
        <p:nvSpPr>
          <p:cNvPr id="48" name="Text 46"/>
          <p:cNvSpPr/>
          <p:nvPr/>
        </p:nvSpPr>
        <p:spPr>
          <a:xfrm>
            <a:off x="2103120" y="3685032"/>
            <a:ext cx="1060704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80" b="1" dirty="0">
                <a:solidFill>
                  <a:srgbClr val="647187"/>
                </a:solidFill>
                <a:latin typeface="標楷體" pitchFamily="34" charset="0"/>
                <a:ea typeface="標楷體" pitchFamily="34" charset="-122"/>
                <a:cs typeface="標楷體" pitchFamily="34" charset="-120"/>
              </a:rPr>
              <a:t>當下功率</a:t>
            </a:r>
            <a:endParaRPr lang="en-US" sz="1080" dirty="0"/>
          </a:p>
        </p:txBody>
      </p:sp>
      <p:sp>
        <p:nvSpPr>
          <p:cNvPr id="49" name="Shape 47"/>
          <p:cNvSpPr/>
          <p:nvPr/>
        </p:nvSpPr>
        <p:spPr>
          <a:xfrm>
            <a:off x="2990088" y="3547872"/>
            <a:ext cx="694944" cy="0"/>
          </a:xfrm>
          <a:prstGeom prst="line">
            <a:avLst/>
          </a:prstGeom>
          <a:noFill/>
          <a:ln w="20320">
            <a:solidFill>
              <a:srgbClr val="28AFC0"/>
            </a:solidFill>
            <a:prstDash val="solid"/>
            <a:headEnd type="none"/>
            <a:tailEnd type="triangle"/>
          </a:ln>
        </p:spPr>
      </p:sp>
      <p:sp>
        <p:nvSpPr>
          <p:cNvPr id="50" name="Shape 48"/>
          <p:cNvSpPr/>
          <p:nvPr/>
        </p:nvSpPr>
        <p:spPr>
          <a:xfrm>
            <a:off x="4114800" y="3337560"/>
            <a:ext cx="420624" cy="420624"/>
          </a:xfrm>
          <a:prstGeom prst="ellipse">
            <a:avLst/>
          </a:prstGeom>
          <a:solidFill>
            <a:srgbClr val="57788E"/>
          </a:solidFill>
          <a:ln w="8890">
            <a:solidFill>
              <a:srgbClr val="57788E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3950208" y="3364992"/>
            <a:ext cx="7498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標楷體" pitchFamily="34" charset="0"/>
                <a:ea typeface="標楷體" pitchFamily="34" charset="-122"/>
                <a:cs typeface="標楷體" pitchFamily="34" charset="-120"/>
              </a:rPr>
              <a:t>時間</a:t>
            </a:r>
            <a:endParaRPr lang="en-US" sz="1550" dirty="0"/>
          </a:p>
        </p:txBody>
      </p:sp>
      <p:sp>
        <p:nvSpPr>
          <p:cNvPr id="52" name="Text 50"/>
          <p:cNvSpPr/>
          <p:nvPr/>
        </p:nvSpPr>
        <p:spPr>
          <a:xfrm>
            <a:off x="3794760" y="3685032"/>
            <a:ext cx="1060704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80" b="1" dirty="0">
                <a:solidFill>
                  <a:srgbClr val="647187"/>
                </a:solidFill>
                <a:latin typeface="標楷體" pitchFamily="34" charset="0"/>
                <a:ea typeface="標楷體" pitchFamily="34" charset="-122"/>
                <a:cs typeface="標楷體" pitchFamily="34" charset="-120"/>
              </a:rPr>
              <a:t>累積多久</a:t>
            </a:r>
            <a:endParaRPr lang="en-US" sz="1080" dirty="0"/>
          </a:p>
        </p:txBody>
      </p:sp>
      <p:sp>
        <p:nvSpPr>
          <p:cNvPr id="53" name="Shape 51"/>
          <p:cNvSpPr/>
          <p:nvPr/>
        </p:nvSpPr>
        <p:spPr>
          <a:xfrm>
            <a:off x="4681728" y="3547872"/>
            <a:ext cx="694944" cy="0"/>
          </a:xfrm>
          <a:prstGeom prst="line">
            <a:avLst/>
          </a:prstGeom>
          <a:noFill/>
          <a:ln w="20320">
            <a:solidFill>
              <a:srgbClr val="28AFC0"/>
            </a:solidFill>
            <a:prstDash val="solid"/>
            <a:headEnd type="none"/>
            <a:tailEnd type="triangle"/>
          </a:ln>
        </p:spPr>
      </p:sp>
      <p:sp>
        <p:nvSpPr>
          <p:cNvPr id="54" name="Shape 52"/>
          <p:cNvSpPr/>
          <p:nvPr/>
        </p:nvSpPr>
        <p:spPr>
          <a:xfrm>
            <a:off x="5806440" y="3337560"/>
            <a:ext cx="420624" cy="420624"/>
          </a:xfrm>
          <a:prstGeom prst="ellipse">
            <a:avLst/>
          </a:prstGeom>
          <a:solidFill>
            <a:srgbClr val="8A70BF"/>
          </a:solidFill>
          <a:ln w="8890">
            <a:solidFill>
              <a:srgbClr val="8A70BF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5641848" y="3364992"/>
            <a:ext cx="7498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J</a:t>
            </a:r>
            <a:endParaRPr lang="en-US" sz="1550" dirty="0"/>
          </a:p>
        </p:txBody>
      </p:sp>
      <p:sp>
        <p:nvSpPr>
          <p:cNvPr id="56" name="Text 54"/>
          <p:cNvSpPr/>
          <p:nvPr/>
        </p:nvSpPr>
        <p:spPr>
          <a:xfrm>
            <a:off x="5486400" y="3685032"/>
            <a:ext cx="1060704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80" b="1" dirty="0">
                <a:solidFill>
                  <a:srgbClr val="647187"/>
                </a:solidFill>
                <a:latin typeface="標楷體" pitchFamily="34" charset="0"/>
                <a:ea typeface="標楷體" pitchFamily="34" charset="-122"/>
                <a:cs typeface="標楷體" pitchFamily="34" charset="-120"/>
              </a:rPr>
              <a:t>總能源</a:t>
            </a:r>
            <a:endParaRPr lang="en-US" sz="1080" dirty="0"/>
          </a:p>
        </p:txBody>
      </p:sp>
      <p:sp>
        <p:nvSpPr>
          <p:cNvPr id="57" name="Shape 55"/>
          <p:cNvSpPr/>
          <p:nvPr/>
        </p:nvSpPr>
        <p:spPr>
          <a:xfrm>
            <a:off x="6373368" y="3547872"/>
            <a:ext cx="694944" cy="0"/>
          </a:xfrm>
          <a:prstGeom prst="line">
            <a:avLst/>
          </a:prstGeom>
          <a:noFill/>
          <a:ln w="20320">
            <a:solidFill>
              <a:srgbClr val="28AFC0"/>
            </a:solidFill>
            <a:prstDash val="solid"/>
            <a:headEnd type="none"/>
            <a:tailEnd type="triangle"/>
          </a:ln>
        </p:spPr>
      </p:sp>
      <p:sp>
        <p:nvSpPr>
          <p:cNvPr id="58" name="Shape 56"/>
          <p:cNvSpPr/>
          <p:nvPr/>
        </p:nvSpPr>
        <p:spPr>
          <a:xfrm>
            <a:off x="7498080" y="3337560"/>
            <a:ext cx="420624" cy="420624"/>
          </a:xfrm>
          <a:prstGeom prst="ellipse">
            <a:avLst/>
          </a:prstGeom>
          <a:solidFill>
            <a:srgbClr val="4EA978"/>
          </a:solidFill>
          <a:ln w="8890">
            <a:solidFill>
              <a:srgbClr val="4EA978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7333488" y="3364992"/>
            <a:ext cx="7498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標楷體" pitchFamily="34" charset="0"/>
                <a:ea typeface="標楷體" pitchFamily="34" charset="-122"/>
                <a:cs typeface="標楷體" pitchFamily="34" charset="-120"/>
              </a:rPr>
              <a:t>服務</a:t>
            </a:r>
            <a:endParaRPr lang="en-US" sz="1550" dirty="0"/>
          </a:p>
        </p:txBody>
      </p:sp>
      <p:sp>
        <p:nvSpPr>
          <p:cNvPr id="60" name="Text 58"/>
          <p:cNvSpPr/>
          <p:nvPr/>
        </p:nvSpPr>
        <p:spPr>
          <a:xfrm>
            <a:off x="7178040" y="3685032"/>
            <a:ext cx="1060704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80" b="1" dirty="0">
                <a:solidFill>
                  <a:srgbClr val="647187"/>
                </a:solidFill>
                <a:latin typeface="標楷體" pitchFamily="34" charset="0"/>
                <a:ea typeface="標楷體" pitchFamily="34" charset="-122"/>
                <a:cs typeface="標楷體" pitchFamily="34" charset="-120"/>
              </a:rPr>
              <a:t>是否合格</a:t>
            </a:r>
            <a:endParaRPr lang="en-US" sz="1080" dirty="0"/>
          </a:p>
        </p:txBody>
      </p:sp>
      <p:sp>
        <p:nvSpPr>
          <p:cNvPr id="61" name="Shape 59"/>
          <p:cNvSpPr/>
          <p:nvPr/>
        </p:nvSpPr>
        <p:spPr>
          <a:xfrm>
            <a:off x="8065008" y="3547872"/>
            <a:ext cx="694944" cy="0"/>
          </a:xfrm>
          <a:prstGeom prst="line">
            <a:avLst/>
          </a:prstGeom>
          <a:noFill/>
          <a:ln w="20320">
            <a:solidFill>
              <a:srgbClr val="28AFC0"/>
            </a:solidFill>
            <a:prstDash val="solid"/>
            <a:headEnd type="none"/>
            <a:tailEnd type="triangle"/>
          </a:ln>
        </p:spPr>
      </p:sp>
      <p:sp>
        <p:nvSpPr>
          <p:cNvPr id="62" name="Shape 60"/>
          <p:cNvSpPr/>
          <p:nvPr/>
        </p:nvSpPr>
        <p:spPr>
          <a:xfrm>
            <a:off x="9189720" y="3337560"/>
            <a:ext cx="420624" cy="420624"/>
          </a:xfrm>
          <a:prstGeom prst="ellipse">
            <a:avLst/>
          </a:prstGeom>
          <a:solidFill>
            <a:srgbClr val="2D7A70"/>
          </a:solidFill>
          <a:ln w="8890">
            <a:solidFill>
              <a:srgbClr val="2D7A70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9025128" y="3364992"/>
            <a:ext cx="7498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bit/J</a:t>
            </a:r>
            <a:endParaRPr lang="en-US" sz="1550" dirty="0"/>
          </a:p>
        </p:txBody>
      </p:sp>
      <p:sp>
        <p:nvSpPr>
          <p:cNvPr id="64" name="Text 62"/>
          <p:cNvSpPr/>
          <p:nvPr/>
        </p:nvSpPr>
        <p:spPr>
          <a:xfrm>
            <a:off x="8869680" y="3685032"/>
            <a:ext cx="1060704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80" b="1" dirty="0">
                <a:solidFill>
                  <a:srgbClr val="647187"/>
                </a:solidFill>
                <a:latin typeface="標楷體" pitchFamily="34" charset="0"/>
                <a:ea typeface="標楷體" pitchFamily="34" charset="-122"/>
                <a:cs typeface="標楷體" pitchFamily="34" charset="-120"/>
              </a:rPr>
              <a:t>合格邊界內效率</a:t>
            </a:r>
            <a:endParaRPr lang="en-US" sz="1080" dirty="0"/>
          </a:p>
        </p:txBody>
      </p:sp>
      <p:sp>
        <p:nvSpPr>
          <p:cNvPr id="65" name="Shape 63"/>
          <p:cNvSpPr/>
          <p:nvPr/>
        </p:nvSpPr>
        <p:spPr>
          <a:xfrm>
            <a:off x="749808" y="4096512"/>
            <a:ext cx="5266944" cy="658368"/>
          </a:xfrm>
          <a:prstGeom prst="roundRect">
            <a:avLst/>
          </a:prstGeom>
          <a:solidFill>
            <a:srgbClr val="ECF7F1"/>
          </a:solidFill>
          <a:ln w="12700">
            <a:solidFill>
              <a:srgbClr val="4EA978"/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932688" y="4261104"/>
            <a:ext cx="1490472" cy="292608"/>
          </a:xfrm>
          <a:prstGeom prst="roundRect">
            <a:avLst/>
          </a:prstGeom>
          <a:solidFill>
            <a:srgbClr val="4EA978"/>
          </a:solidFill>
          <a:ln w="10160">
            <a:solidFill>
              <a:srgbClr val="4EA978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987552" y="4279392"/>
            <a:ext cx="13807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6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MISSION CONTRACT</a:t>
            </a:r>
            <a:endParaRPr lang="en-US" sz="1160" dirty="0"/>
          </a:p>
        </p:txBody>
      </p:sp>
      <p:sp>
        <p:nvSpPr>
          <p:cNvPr id="68" name="Text 66"/>
          <p:cNvSpPr/>
          <p:nvPr/>
        </p:nvSpPr>
        <p:spPr>
          <a:xfrm>
            <a:off x="2596896" y="4215384"/>
            <a:ext cx="32186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20" b="1" dirty="0">
                <a:solidFill>
                  <a:srgbClr val="2D7A7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service pass · freshness · deadline · energy budget · window</a:t>
            </a:r>
            <a:endParaRPr lang="en-US" sz="1320" dirty="0"/>
          </a:p>
        </p:txBody>
      </p:sp>
      <p:sp>
        <p:nvSpPr>
          <p:cNvPr id="69" name="Shape 67"/>
          <p:cNvSpPr/>
          <p:nvPr/>
        </p:nvSpPr>
        <p:spPr>
          <a:xfrm>
            <a:off x="6199632" y="4096512"/>
            <a:ext cx="5522976" cy="658368"/>
          </a:xfrm>
          <a:prstGeom prst="roundRect">
            <a:avLst/>
          </a:prstGeom>
          <a:solidFill>
            <a:srgbClr val="F2EEFA"/>
          </a:solidFill>
          <a:ln w="12700">
            <a:solidFill>
              <a:srgbClr val="8A70BF"/>
            </a:solidFill>
            <a:prstDash val="solid"/>
          </a:ln>
        </p:spPr>
      </p:sp>
      <p:sp>
        <p:nvSpPr>
          <p:cNvPr id="70" name="Shape 68"/>
          <p:cNvSpPr/>
          <p:nvPr/>
        </p:nvSpPr>
        <p:spPr>
          <a:xfrm>
            <a:off x="6382512" y="4261104"/>
            <a:ext cx="950976" cy="292608"/>
          </a:xfrm>
          <a:prstGeom prst="roundRect">
            <a:avLst/>
          </a:prstGeom>
          <a:solidFill>
            <a:srgbClr val="8A70BF"/>
          </a:solidFill>
          <a:ln w="10160">
            <a:solidFill>
              <a:srgbClr val="8A70BF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6437376" y="4279392"/>
            <a:ext cx="8412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70" b="1" dirty="0">
                <a:solidFill>
                  <a:srgbClr val="FFFFFF"/>
                </a:solidFill>
                <a:latin typeface="標楷體" pitchFamily="34" charset="0"/>
                <a:ea typeface="標楷體" pitchFamily="34" charset="-122"/>
                <a:cs typeface="標楷體" pitchFamily="34" charset="-120"/>
              </a:rPr>
              <a:t>不可互換</a:t>
            </a:r>
            <a:endParaRPr lang="en-US" sz="1170" dirty="0"/>
          </a:p>
        </p:txBody>
      </p:sp>
      <p:sp>
        <p:nvSpPr>
          <p:cNvPr id="72" name="Text 70"/>
          <p:cNvSpPr/>
          <p:nvPr/>
        </p:nvSpPr>
        <p:spPr>
          <a:xfrm>
            <a:off x="7479792" y="4215384"/>
            <a:ext cx="40416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20" b="1" dirty="0">
                <a:solidFill>
                  <a:srgbClr val="7257A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 ≠ J</a:t>
            </a:r>
            <a:pPr algn="ctr" indent="0" marL="0">
              <a:buNone/>
            </a:pPr>
            <a:r>
              <a:rPr lang="en-US" sz="1520" b="1" dirty="0">
                <a:solidFill>
                  <a:srgbClr val="7257A1"/>
                </a:solidFill>
                <a:latin typeface="標楷體" pitchFamily="34" charset="0"/>
                <a:ea typeface="標楷體" pitchFamily="34" charset="-122"/>
                <a:cs typeface="標楷體" pitchFamily="34" charset="-120"/>
              </a:rPr>
              <a:t>　｜　</a:t>
            </a:r>
            <a:pPr algn="ctr" indent="0" marL="0">
              <a:buNone/>
            </a:pPr>
            <a:r>
              <a:rPr lang="en-US" sz="1520" b="1" dirty="0">
                <a:solidFill>
                  <a:srgbClr val="7257A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bit/s ≠ bit/J</a:t>
            </a:r>
            <a:pPr algn="ctr" indent="0" marL="0">
              <a:buNone/>
            </a:pPr>
            <a:r>
              <a:rPr lang="en-US" sz="1520" b="1" dirty="0">
                <a:solidFill>
                  <a:srgbClr val="7257A1"/>
                </a:solidFill>
                <a:latin typeface="標楷體" pitchFamily="34" charset="0"/>
                <a:ea typeface="標楷體" pitchFamily="34" charset="-122"/>
                <a:cs typeface="標楷體" pitchFamily="34" charset="-120"/>
              </a:rPr>
              <a:t>　｜　</a:t>
            </a:r>
            <a:pPr algn="ctr" indent="0" marL="0">
              <a:buNone/>
            </a:pPr>
            <a:r>
              <a:rPr lang="en-US" sz="1520" b="1" dirty="0">
                <a:solidFill>
                  <a:srgbClr val="7257A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active time</a:t>
            </a:r>
            <a:endParaRPr lang="en-US" sz="1520" dirty="0"/>
          </a:p>
        </p:txBody>
      </p:sp>
      <p:sp>
        <p:nvSpPr>
          <p:cNvPr id="73" name="Text 71"/>
          <p:cNvSpPr/>
          <p:nvPr/>
        </p:nvSpPr>
        <p:spPr>
          <a:xfrm>
            <a:off x="804672" y="4892040"/>
            <a:ext cx="108630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20" b="1" dirty="0">
                <a:solidFill>
                  <a:srgbClr val="98514F"/>
                </a:solidFill>
                <a:latin typeface="標楷體" pitchFamily="34" charset="0"/>
                <a:ea typeface="標楷體" pitchFamily="34" charset="-122"/>
                <a:cs typeface="標楷體" pitchFamily="34" charset="-120"/>
              </a:rPr>
              <a:t>模擬教學資料、非即時、非量測、尚未通過</a:t>
            </a:r>
            <a:pPr algn="ctr" indent="0" marL="0">
              <a:buNone/>
            </a:pPr>
            <a:r>
              <a:rPr lang="en-US" sz="1420" b="1" dirty="0">
                <a:solidFill>
                  <a:srgbClr val="98514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canonical parity </a:t>
            </a:r>
            <a:pPr algn="ctr" indent="0" marL="0">
              <a:buNone/>
            </a:pPr>
            <a:r>
              <a:rPr lang="en-US" sz="1420" b="1" dirty="0">
                <a:solidFill>
                  <a:srgbClr val="98514F"/>
                </a:solidFill>
                <a:latin typeface="標楷體" pitchFamily="34" charset="0"/>
                <a:ea typeface="標楷體" pitchFamily="34" charset="-122"/>
                <a:cs typeface="標楷體" pitchFamily="34" charset="-120"/>
              </a:rPr>
              <a:t>驗證。</a:t>
            </a:r>
            <a:endParaRPr lang="en-US" sz="1420" dirty="0"/>
          </a:p>
        </p:txBody>
      </p:sp>
      <p:sp>
        <p:nvSpPr>
          <p:cNvPr id="74" name="Shape 72"/>
          <p:cNvSpPr/>
          <p:nvPr/>
        </p:nvSpPr>
        <p:spPr>
          <a:xfrm>
            <a:off x="749808" y="5349240"/>
            <a:ext cx="10972800" cy="0"/>
          </a:xfrm>
          <a:prstGeom prst="line">
            <a:avLst/>
          </a:prstGeom>
          <a:noFill/>
          <a:ln w="12700">
            <a:solidFill>
              <a:srgbClr val="D5DDE4"/>
            </a:solidFill>
            <a:prstDash val="solid"/>
          </a:ln>
        </p:spPr>
      </p:sp>
      <p:sp>
        <p:nvSpPr>
          <p:cNvPr id="75" name="Shape 73"/>
          <p:cNvSpPr/>
          <p:nvPr/>
        </p:nvSpPr>
        <p:spPr>
          <a:xfrm>
            <a:off x="3749040" y="5440680"/>
            <a:ext cx="0" cy="457200"/>
          </a:xfrm>
          <a:prstGeom prst="line">
            <a:avLst/>
          </a:prstGeom>
          <a:noFill/>
          <a:ln w="10160">
            <a:solidFill>
              <a:srgbClr val="D5DDE4"/>
            </a:solidFill>
            <a:prstDash val="solid"/>
          </a:ln>
        </p:spPr>
      </p:sp>
      <p:sp>
        <p:nvSpPr>
          <p:cNvPr id="76" name="Shape 74"/>
          <p:cNvSpPr/>
          <p:nvPr/>
        </p:nvSpPr>
        <p:spPr>
          <a:xfrm>
            <a:off x="7909560" y="5440680"/>
            <a:ext cx="0" cy="457200"/>
          </a:xfrm>
          <a:prstGeom prst="line">
            <a:avLst/>
          </a:prstGeom>
          <a:noFill/>
          <a:ln w="10160">
            <a:solidFill>
              <a:srgbClr val="D5DDE4"/>
            </a:solidFill>
            <a:prstDash val="solid"/>
          </a:ln>
        </p:spPr>
      </p:sp>
      <p:sp>
        <p:nvSpPr>
          <p:cNvPr id="77" name="Shape 75"/>
          <p:cNvSpPr/>
          <p:nvPr/>
        </p:nvSpPr>
        <p:spPr>
          <a:xfrm>
            <a:off x="749808" y="5458968"/>
            <a:ext cx="100584" cy="100584"/>
          </a:xfrm>
          <a:prstGeom prst="ellipse">
            <a:avLst/>
          </a:prstGeom>
          <a:solidFill>
            <a:srgbClr val="2D7A70"/>
          </a:solidFill>
          <a:ln w="5080">
            <a:solidFill>
              <a:srgbClr val="2D7A70"/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905256" y="5468112"/>
            <a:ext cx="2770632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60" b="1" dirty="0">
                <a:solidFill>
                  <a:srgbClr val="2D7A7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FACT</a:t>
            </a:r>
            <a:pPr algn="l" indent="0" marL="0">
              <a:buNone/>
            </a:pPr>
            <a:r>
              <a:rPr lang="en-US" sz="1060" b="1" dirty="0">
                <a:solidFill>
                  <a:srgbClr val="2D7A70"/>
                </a:solidFill>
                <a:latin typeface="標楷體" pitchFamily="34" charset="0"/>
                <a:ea typeface="標楷體" pitchFamily="34" charset="-122"/>
                <a:cs typeface="標楷體" pitchFamily="34" charset="-120"/>
              </a:rPr>
              <a:t>｜</a:t>
            </a:r>
            <a:pPr algn="l" indent="0" marL="0">
              <a:buNone/>
            </a:pPr>
            <a:r>
              <a:rPr lang="en-US" sz="1060" b="1" dirty="0">
                <a:solidFill>
                  <a:srgbClr val="2D7A7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EE</a:t>
            </a:r>
            <a:pPr algn="l" indent="0" marL="0">
              <a:buNone/>
            </a:pPr>
            <a:r>
              <a:rPr lang="en-US" sz="1060" b="1" dirty="0">
                <a:solidFill>
                  <a:srgbClr val="2D7A70"/>
                </a:solidFill>
                <a:latin typeface="標楷體" pitchFamily="34" charset="0"/>
                <a:ea typeface="標楷體" pitchFamily="34" charset="-122"/>
                <a:cs typeface="標楷體" pitchFamily="34" charset="-120"/>
              </a:rPr>
              <a:t>＝</a:t>
            </a:r>
            <a:pPr algn="l" indent="0" marL="0">
              <a:buNone/>
            </a:pPr>
            <a:r>
              <a:rPr lang="en-US" sz="1060" b="1" dirty="0">
                <a:solidFill>
                  <a:srgbClr val="2D7A7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delivered bits</a:t>
            </a:r>
            <a:pPr algn="l" indent="0" marL="0">
              <a:buNone/>
            </a:pPr>
            <a:r>
              <a:rPr lang="en-US" sz="1060" b="1" dirty="0">
                <a:solidFill>
                  <a:srgbClr val="2D7A70"/>
                </a:solidFill>
                <a:latin typeface="標楷體" pitchFamily="34" charset="0"/>
                <a:ea typeface="標楷體" pitchFamily="34" charset="-122"/>
                <a:cs typeface="標楷體" pitchFamily="34" charset="-120"/>
              </a:rPr>
              <a:t>／</a:t>
            </a:r>
            <a:pPr algn="l" indent="0" marL="0">
              <a:buNone/>
            </a:pPr>
            <a:r>
              <a:rPr lang="en-US" sz="1060" b="1" dirty="0">
                <a:solidFill>
                  <a:srgbClr val="2D7A7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consumed J</a:t>
            </a:r>
            <a:endParaRPr lang="en-US" sz="1060" dirty="0"/>
          </a:p>
        </p:txBody>
      </p:sp>
      <p:sp>
        <p:nvSpPr>
          <p:cNvPr id="79" name="Shape 77"/>
          <p:cNvSpPr/>
          <p:nvPr/>
        </p:nvSpPr>
        <p:spPr>
          <a:xfrm>
            <a:off x="3840480" y="5458968"/>
            <a:ext cx="100584" cy="100584"/>
          </a:xfrm>
          <a:prstGeom prst="ellipse">
            <a:avLst/>
          </a:prstGeom>
          <a:solidFill>
            <a:srgbClr val="7257A1"/>
          </a:solidFill>
          <a:ln w="5080">
            <a:solidFill>
              <a:srgbClr val="7257A1"/>
            </a:solidFill>
            <a:prstDash val="solid"/>
          </a:ln>
        </p:spPr>
      </p:sp>
      <p:sp>
        <p:nvSpPr>
          <p:cNvPr id="80" name="Text 78"/>
          <p:cNvSpPr/>
          <p:nvPr/>
        </p:nvSpPr>
        <p:spPr>
          <a:xfrm>
            <a:off x="3995928" y="5468112"/>
            <a:ext cx="3822192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60" b="1" dirty="0">
                <a:solidFill>
                  <a:srgbClr val="7257A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DESIGN INFERENCE</a:t>
            </a:r>
            <a:pPr algn="l" indent="0" marL="0">
              <a:buNone/>
            </a:pPr>
            <a:r>
              <a:rPr lang="en-US" sz="1060" b="1" dirty="0">
                <a:solidFill>
                  <a:srgbClr val="7257A1"/>
                </a:solidFill>
                <a:latin typeface="標楷體" pitchFamily="34" charset="0"/>
                <a:ea typeface="標楷體" pitchFamily="34" charset="-122"/>
                <a:cs typeface="標楷體" pitchFamily="34" charset="-120"/>
              </a:rPr>
              <a:t>｜設計估計：</a:t>
            </a:r>
            <a:pPr algn="l" indent="0" marL="0">
              <a:buNone/>
            </a:pPr>
            <a:r>
              <a:rPr lang="en-US" sz="1060" b="1" dirty="0">
                <a:solidFill>
                  <a:srgbClr val="7257A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9 </a:t>
            </a:r>
            <a:pPr algn="l" indent="0" marL="0">
              <a:buNone/>
            </a:pPr>
            <a:r>
              <a:rPr lang="en-US" sz="1060" b="1" dirty="0">
                <a:solidFill>
                  <a:srgbClr val="7257A1"/>
                </a:solidFill>
                <a:latin typeface="標楷體" pitchFamily="34" charset="0"/>
                <a:ea typeface="標楷體" pitchFamily="34" charset="-122"/>
                <a:cs typeface="標楷體" pitchFamily="34" charset="-120"/>
              </a:rPr>
              <a:t>頁；</a:t>
            </a:r>
            <a:pPr algn="l" indent="0" marL="0">
              <a:buNone/>
            </a:pPr>
            <a:r>
              <a:rPr lang="en-US" sz="1060" b="1" dirty="0">
                <a:solidFill>
                  <a:srgbClr val="7257A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120 </a:t>
            </a:r>
            <a:pPr algn="l" indent="0" marL="0">
              <a:buNone/>
            </a:pPr>
            <a:r>
              <a:rPr lang="en-US" sz="1060" b="1" dirty="0">
                <a:solidFill>
                  <a:srgbClr val="7257A1"/>
                </a:solidFill>
                <a:latin typeface="標楷體" pitchFamily="34" charset="0"/>
                <a:ea typeface="標楷體" pitchFamily="34" charset="-122"/>
                <a:cs typeface="標楷體" pitchFamily="34" charset="-120"/>
              </a:rPr>
              <a:t>分鐘待實證</a:t>
            </a:r>
            <a:endParaRPr lang="en-US" sz="1060" dirty="0"/>
          </a:p>
        </p:txBody>
      </p:sp>
      <p:sp>
        <p:nvSpPr>
          <p:cNvPr id="81" name="Shape 79"/>
          <p:cNvSpPr/>
          <p:nvPr/>
        </p:nvSpPr>
        <p:spPr>
          <a:xfrm>
            <a:off x="8001000" y="5458968"/>
            <a:ext cx="100584" cy="100584"/>
          </a:xfrm>
          <a:prstGeom prst="ellipse">
            <a:avLst/>
          </a:prstGeom>
          <a:solidFill>
            <a:srgbClr val="98514F"/>
          </a:solidFill>
          <a:ln w="5080">
            <a:solidFill>
              <a:srgbClr val="98514F"/>
            </a:solidFill>
            <a:prstDash val="solid"/>
          </a:ln>
        </p:spPr>
      </p:sp>
      <p:sp>
        <p:nvSpPr>
          <p:cNvPr id="82" name="Text 80"/>
          <p:cNvSpPr/>
          <p:nvPr/>
        </p:nvSpPr>
        <p:spPr>
          <a:xfrm>
            <a:off x="8156448" y="5468112"/>
            <a:ext cx="356616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60" b="1" dirty="0">
                <a:solidFill>
                  <a:srgbClr val="98514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UNKNOWN</a:t>
            </a:r>
            <a:pPr algn="l" indent="0" marL="0">
              <a:buNone/>
            </a:pPr>
            <a:r>
              <a:rPr lang="en-US" sz="1060" b="1" dirty="0">
                <a:solidFill>
                  <a:srgbClr val="98514F"/>
                </a:solidFill>
                <a:latin typeface="標楷體" pitchFamily="34" charset="0"/>
                <a:ea typeface="標楷體" pitchFamily="34" charset="-122"/>
                <a:cs typeface="標楷體" pitchFamily="34" charset="-120"/>
              </a:rPr>
              <a:t>｜</a:t>
            </a:r>
            <a:pPr algn="l" indent="0" marL="0">
              <a:buNone/>
            </a:pPr>
            <a:r>
              <a:rPr lang="en-US" sz="1060" b="1" dirty="0">
                <a:solidFill>
                  <a:srgbClr val="98514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browser pixels</a:t>
            </a:r>
            <a:pPr algn="l" indent="0" marL="0">
              <a:buNone/>
            </a:pPr>
            <a:r>
              <a:rPr lang="en-US" sz="1060" b="1" dirty="0">
                <a:solidFill>
                  <a:srgbClr val="98514F"/>
                </a:solidFill>
                <a:latin typeface="標楷體" pitchFamily="34" charset="0"/>
                <a:ea typeface="標楷體" pitchFamily="34" charset="-122"/>
                <a:cs typeface="標楷體" pitchFamily="34" charset="-120"/>
              </a:rPr>
              <a:t>／</a:t>
            </a:r>
            <a:pPr algn="l" indent="0" marL="0">
              <a:buNone/>
            </a:pPr>
            <a:r>
              <a:rPr lang="en-US" sz="1060" b="1" dirty="0">
                <a:solidFill>
                  <a:srgbClr val="98514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classroom</a:t>
            </a:r>
            <a:pPr algn="l" indent="0" marL="0">
              <a:buNone/>
            </a:pPr>
            <a:r>
              <a:rPr lang="en-US" sz="1060" b="1" dirty="0">
                <a:solidFill>
                  <a:srgbClr val="98514F"/>
                </a:solidFill>
                <a:latin typeface="標楷體" pitchFamily="34" charset="0"/>
                <a:ea typeface="標楷體" pitchFamily="34" charset="-122"/>
                <a:cs typeface="標楷體" pitchFamily="34" charset="-120"/>
              </a:rPr>
              <a:t>／</a:t>
            </a:r>
            <a:pPr algn="l" indent="0" marL="0">
              <a:buNone/>
            </a:pPr>
            <a:r>
              <a:rPr lang="en-US" sz="1060" b="1" dirty="0">
                <a:solidFill>
                  <a:srgbClr val="98514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parity </a:t>
            </a:r>
            <a:pPr algn="l" indent="0" marL="0">
              <a:buNone/>
            </a:pPr>
            <a:r>
              <a:rPr lang="en-US" sz="1060" b="1" dirty="0">
                <a:solidFill>
                  <a:srgbClr val="98514F"/>
                </a:solidFill>
                <a:latin typeface="標楷體" pitchFamily="34" charset="0"/>
                <a:ea typeface="標楷體" pitchFamily="34" charset="-122"/>
                <a:cs typeface="標楷體" pitchFamily="34" charset="-120"/>
              </a:rPr>
              <a:t>未驗證</a:t>
            </a:r>
            <a:endParaRPr lang="en-US" sz="106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34700" y="6340475"/>
            <a:ext cx="889000" cy="47625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400">
                <a:solidFill>
                  <a:srgbClr val="35377F"/>
                </a:solidFill>
                <a:latin typeface="Times New Roman"/>
                <a:ea typeface="Times New Roman"/>
                <a:cs typeface="Times New Roman"/>
              </a:defRPr>
            </a:lvl1pPr>
          </a:lstStyle>
          <a:p>
            <a:pPr algn="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6591" y="187008"/>
            <a:ext cx="2176272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35377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00–10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2916936" y="265176"/>
            <a:ext cx="0" cy="310896"/>
          </a:xfrm>
          <a:prstGeom prst="line">
            <a:avLst/>
          </a:prstGeom>
          <a:noFill/>
          <a:ln w="19050">
            <a:solidFill>
              <a:srgbClr val="35377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136392" y="187008"/>
            <a:ext cx="6982968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35377F"/>
                </a:solidFill>
                <a:latin typeface="標楷體" pitchFamily="34" charset="0"/>
                <a:ea typeface="標楷體" pitchFamily="34" charset="-122"/>
                <a:cs typeface="標楷體" pitchFamily="34" charset="-120"/>
              </a:rPr>
              <a:t>能源主張判讀｜任務條件先鎖定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749808" y="969264"/>
            <a:ext cx="969264" cy="301752"/>
          </a:xfrm>
          <a:prstGeom prst="roundRect">
            <a:avLst/>
          </a:prstGeom>
          <a:solidFill>
            <a:srgbClr val="2D8C8A"/>
          </a:solidFill>
          <a:ln w="10160">
            <a:solidFill>
              <a:srgbClr val="2D8C8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04672" y="987552"/>
            <a:ext cx="85953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20" b="1" dirty="0">
                <a:solidFill>
                  <a:srgbClr val="FFFFFF"/>
                </a:solidFill>
                <a:latin typeface="標楷體" pitchFamily="34" charset="0"/>
                <a:ea typeface="標楷體" pitchFamily="34" charset="-122"/>
                <a:cs typeface="標楷體" pitchFamily="34" charset="-120"/>
              </a:rPr>
              <a:t>核心問題</a:t>
            </a:r>
            <a:endParaRPr lang="en-US" sz="1220" dirty="0"/>
          </a:p>
        </p:txBody>
      </p:sp>
      <p:sp>
        <p:nvSpPr>
          <p:cNvPr id="7" name="Text 5"/>
          <p:cNvSpPr/>
          <p:nvPr/>
        </p:nvSpPr>
        <p:spPr>
          <a:xfrm>
            <a:off x="1883664" y="960120"/>
            <a:ext cx="65653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243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 </a:t>
            </a:r>
            <a:pPr algn="l" indent="0" marL="0">
              <a:buNone/>
            </a:pPr>
            <a:r>
              <a:rPr lang="en-US" sz="2000" b="1" dirty="0">
                <a:solidFill>
                  <a:srgbClr val="1E2430"/>
                </a:solidFill>
                <a:latin typeface="標楷體" pitchFamily="34" charset="0"/>
                <a:ea typeface="標楷體" pitchFamily="34" charset="-122"/>
                <a:cs typeface="標楷體" pitchFamily="34" charset="-120"/>
              </a:rPr>
              <a:t>低、完成快、</a:t>
            </a:r>
            <a:pPr algn="l" indent="0" marL="0">
              <a:buNone/>
            </a:pPr>
            <a:r>
              <a:rPr lang="en-US" sz="2000" b="1" dirty="0">
                <a:solidFill>
                  <a:srgbClr val="1E243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bit/J </a:t>
            </a:r>
            <a:pPr algn="l" indent="0" marL="0">
              <a:buNone/>
            </a:pPr>
            <a:r>
              <a:rPr lang="en-US" sz="2000" b="1" dirty="0">
                <a:solidFill>
                  <a:srgbClr val="1E2430"/>
                </a:solidFill>
                <a:latin typeface="標楷體" pitchFamily="34" charset="0"/>
                <a:ea typeface="標楷體" pitchFamily="34" charset="-122"/>
                <a:cs typeface="標楷體" pitchFamily="34" charset="-120"/>
              </a:rPr>
              <a:t>高：何者省？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8549640" y="964692"/>
            <a:ext cx="317296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80" b="1" dirty="0">
                <a:solidFill>
                  <a:srgbClr val="2D8C8A"/>
                </a:solidFill>
                <a:latin typeface="標楷體" pitchFamily="34" charset="0"/>
                <a:ea typeface="標楷體" pitchFamily="34" charset="-122"/>
                <a:cs typeface="標楷體" pitchFamily="34" charset="-120"/>
              </a:rPr>
              <a:t>先投票｜</a:t>
            </a:r>
            <a:pPr algn="r" indent="0" marL="0">
              <a:buNone/>
            </a:pPr>
            <a:r>
              <a:rPr lang="en-US" sz="1380" b="1" dirty="0">
                <a:solidFill>
                  <a:srgbClr val="2D8C8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</a:t>
            </a:r>
            <a:pPr algn="r" indent="0" marL="0">
              <a:buNone/>
            </a:pPr>
            <a:r>
              <a:rPr lang="en-US" sz="1380" b="1" dirty="0">
                <a:solidFill>
                  <a:srgbClr val="2D8C8A"/>
                </a:solidFill>
                <a:latin typeface="標楷體" pitchFamily="34" charset="0"/>
                <a:ea typeface="標楷體" pitchFamily="34" charset="-122"/>
                <a:cs typeface="標楷體" pitchFamily="34" charset="-120"/>
              </a:rPr>
              <a:t>／</a:t>
            </a:r>
            <a:pPr algn="r" indent="0" marL="0">
              <a:buNone/>
            </a:pPr>
            <a:r>
              <a:rPr lang="en-US" sz="1380" b="1" dirty="0">
                <a:solidFill>
                  <a:srgbClr val="2D8C8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Q</a:t>
            </a:r>
            <a:pPr algn="r" indent="0" marL="0">
              <a:buNone/>
            </a:pPr>
            <a:r>
              <a:rPr lang="en-US" sz="1380" b="1" dirty="0">
                <a:solidFill>
                  <a:srgbClr val="2D8C8A"/>
                </a:solidFill>
                <a:latin typeface="標楷體" pitchFamily="34" charset="0"/>
                <a:ea typeface="標楷體" pitchFamily="34" charset="-122"/>
                <a:cs typeface="標楷體" pitchFamily="34" charset="-120"/>
              </a:rPr>
              <a:t>／</a:t>
            </a:r>
            <a:pPr algn="r" indent="0" marL="0">
              <a:buNone/>
            </a:pPr>
            <a:r>
              <a:rPr lang="en-US" sz="1380" b="1" dirty="0">
                <a:solidFill>
                  <a:srgbClr val="2D8C8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</a:t>
            </a:r>
            <a:pPr algn="r" indent="0" marL="0">
              <a:buNone/>
            </a:pPr>
            <a:r>
              <a:rPr lang="en-US" sz="1380" b="1" dirty="0">
                <a:solidFill>
                  <a:srgbClr val="2D8C8A"/>
                </a:solidFill>
                <a:latin typeface="標楷體" pitchFamily="34" charset="0"/>
                <a:ea typeface="標楷體" pitchFamily="34" charset="-122"/>
                <a:cs typeface="標楷體" pitchFamily="34" charset="-120"/>
              </a:rPr>
              <a:t>＋信心</a:t>
            </a:r>
            <a:endParaRPr lang="en-US" sz="1380" dirty="0"/>
          </a:p>
        </p:txBody>
      </p:sp>
      <p:sp>
        <p:nvSpPr>
          <p:cNvPr id="9" name="Shape 7"/>
          <p:cNvSpPr/>
          <p:nvPr/>
        </p:nvSpPr>
        <p:spPr>
          <a:xfrm>
            <a:off x="749808" y="1353312"/>
            <a:ext cx="10972800" cy="0"/>
          </a:xfrm>
          <a:prstGeom prst="line">
            <a:avLst/>
          </a:prstGeom>
          <a:noFill/>
          <a:ln w="13335">
            <a:solidFill>
              <a:srgbClr val="2D8C8A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49808" y="1527048"/>
            <a:ext cx="2788920" cy="2788920"/>
          </a:xfrm>
          <a:prstGeom prst="roundRect">
            <a:avLst/>
          </a:prstGeom>
          <a:solidFill>
            <a:srgbClr val="EAF7F8"/>
          </a:solidFill>
          <a:ln w="14605">
            <a:solidFill>
              <a:srgbClr val="2D8C8A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987552" y="1700784"/>
            <a:ext cx="1591056" cy="310896"/>
          </a:xfrm>
          <a:prstGeom prst="roundRect">
            <a:avLst/>
          </a:prstGeom>
          <a:solidFill>
            <a:srgbClr val="2D8C8A"/>
          </a:solidFill>
          <a:ln w="10160">
            <a:solidFill>
              <a:srgbClr val="2D8C8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042416" y="1719072"/>
            <a:ext cx="1481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1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MISSION CONTRACT</a:t>
            </a:r>
            <a:endParaRPr lang="en-US" sz="1210" dirty="0"/>
          </a:p>
        </p:txBody>
      </p:sp>
      <p:sp>
        <p:nvSpPr>
          <p:cNvPr id="13" name="Text 11"/>
          <p:cNvSpPr/>
          <p:nvPr/>
        </p:nvSpPr>
        <p:spPr>
          <a:xfrm>
            <a:off x="987552" y="2075688"/>
            <a:ext cx="23042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1E2430"/>
                </a:solidFill>
                <a:latin typeface="標楷體" pitchFamily="34" charset="0"/>
                <a:ea typeface="標楷體" pitchFamily="34" charset="-122"/>
                <a:cs typeface="標楷體" pitchFamily="34" charset="-120"/>
              </a:rPr>
              <a:t>任務契約</a:t>
            </a:r>
            <a:endParaRPr lang="en-US" sz="2100" dirty="0"/>
          </a:p>
        </p:txBody>
      </p:sp>
      <p:sp>
        <p:nvSpPr>
          <p:cNvPr id="14" name="Text 12"/>
          <p:cNvSpPr/>
          <p:nvPr/>
        </p:nvSpPr>
        <p:spPr>
          <a:xfrm>
            <a:off x="1005840" y="2487168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20" b="1" dirty="0">
                <a:solidFill>
                  <a:srgbClr val="2D8C8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payload</a:t>
            </a:r>
            <a:pPr algn="ctr" indent="0" marL="0">
              <a:buNone/>
            </a:pPr>
            <a:r>
              <a:rPr lang="en-US" sz="1420" b="1" dirty="0">
                <a:solidFill>
                  <a:srgbClr val="2D8C8A"/>
                </a:solidFill>
                <a:latin typeface="標楷體" pitchFamily="34" charset="0"/>
                <a:ea typeface="標楷體" pitchFamily="34" charset="-122"/>
                <a:cs typeface="標楷體" pitchFamily="34" charset="-120"/>
              </a:rPr>
              <a:t>／工作量</a:t>
            </a:r>
            <a:endParaRPr lang="en-US" sz="1420" dirty="0"/>
          </a:p>
        </p:txBody>
      </p:sp>
      <p:sp>
        <p:nvSpPr>
          <p:cNvPr id="15" name="Shape 13"/>
          <p:cNvSpPr/>
          <p:nvPr/>
        </p:nvSpPr>
        <p:spPr>
          <a:xfrm>
            <a:off x="1051560" y="2779776"/>
            <a:ext cx="2194560" cy="0"/>
          </a:xfrm>
          <a:prstGeom prst="line">
            <a:avLst/>
          </a:prstGeom>
          <a:noFill/>
          <a:ln w="9525">
            <a:solidFill>
              <a:srgbClr val="B9DED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005840" y="2816352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20" b="1" dirty="0">
                <a:solidFill>
                  <a:srgbClr val="2D8C8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deadline</a:t>
            </a:r>
            <a:pPr algn="ctr" indent="0" marL="0">
              <a:buNone/>
            </a:pPr>
            <a:r>
              <a:rPr lang="en-US" sz="1420" b="1" dirty="0">
                <a:solidFill>
                  <a:srgbClr val="2D8C8A"/>
                </a:solidFill>
                <a:latin typeface="標楷體" pitchFamily="34" charset="0"/>
                <a:ea typeface="標楷體" pitchFamily="34" charset="-122"/>
                <a:cs typeface="標楷體" pitchFamily="34" charset="-120"/>
              </a:rPr>
              <a:t>／期限</a:t>
            </a:r>
            <a:endParaRPr lang="en-US" sz="1420" dirty="0"/>
          </a:p>
        </p:txBody>
      </p:sp>
      <p:sp>
        <p:nvSpPr>
          <p:cNvPr id="17" name="Shape 15"/>
          <p:cNvSpPr/>
          <p:nvPr/>
        </p:nvSpPr>
        <p:spPr>
          <a:xfrm>
            <a:off x="1051560" y="3108960"/>
            <a:ext cx="2194560" cy="0"/>
          </a:xfrm>
          <a:prstGeom prst="line">
            <a:avLst/>
          </a:prstGeom>
          <a:noFill/>
          <a:ln w="9525">
            <a:solidFill>
              <a:srgbClr val="B9DED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005840" y="3145536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20" b="1" dirty="0">
                <a:solidFill>
                  <a:srgbClr val="2D8C8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idle</a:t>
            </a:r>
            <a:pPr algn="ctr" indent="0" marL="0">
              <a:buNone/>
            </a:pPr>
            <a:r>
              <a:rPr lang="en-US" sz="1420" b="1" dirty="0">
                <a:solidFill>
                  <a:srgbClr val="2D8C8A"/>
                </a:solidFill>
                <a:latin typeface="標楷體" pitchFamily="34" charset="0"/>
                <a:ea typeface="標楷體" pitchFamily="34" charset="-122"/>
                <a:cs typeface="標楷體" pitchFamily="34" charset="-120"/>
              </a:rPr>
              <a:t>／</a:t>
            </a:r>
            <a:pPr algn="ctr" indent="0" marL="0">
              <a:buNone/>
            </a:pPr>
            <a:r>
              <a:rPr lang="en-US" sz="1420" b="1" dirty="0">
                <a:solidFill>
                  <a:srgbClr val="2D8C8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wakeup </a:t>
            </a:r>
            <a:pPr algn="ctr" indent="0" marL="0">
              <a:buNone/>
            </a:pPr>
            <a:r>
              <a:rPr lang="en-US" sz="1420" b="1" dirty="0">
                <a:solidFill>
                  <a:srgbClr val="2D8C8A"/>
                </a:solidFill>
                <a:latin typeface="標楷體" pitchFamily="34" charset="0"/>
                <a:ea typeface="標楷體" pitchFamily="34" charset="-122"/>
                <a:cs typeface="標楷體" pitchFamily="34" charset="-120"/>
              </a:rPr>
              <a:t>邊界</a:t>
            </a:r>
            <a:endParaRPr lang="en-US" sz="1420" dirty="0"/>
          </a:p>
        </p:txBody>
      </p:sp>
      <p:sp>
        <p:nvSpPr>
          <p:cNvPr id="19" name="Shape 17"/>
          <p:cNvSpPr/>
          <p:nvPr/>
        </p:nvSpPr>
        <p:spPr>
          <a:xfrm>
            <a:off x="1051560" y="3438144"/>
            <a:ext cx="2194560" cy="0"/>
          </a:xfrm>
          <a:prstGeom prst="line">
            <a:avLst/>
          </a:prstGeom>
          <a:noFill/>
          <a:ln w="9525">
            <a:solidFill>
              <a:srgbClr val="B9DED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005840" y="3474720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20" b="1" dirty="0">
                <a:solidFill>
                  <a:srgbClr val="2D8C8A"/>
                </a:solidFill>
                <a:latin typeface="標楷體" pitchFamily="34" charset="0"/>
                <a:ea typeface="標楷體" pitchFamily="34" charset="-122"/>
                <a:cs typeface="標楷體" pitchFamily="34" charset="-120"/>
              </a:rPr>
              <a:t>單位／時間窗</a:t>
            </a:r>
            <a:endParaRPr lang="en-US" sz="1420" dirty="0"/>
          </a:p>
        </p:txBody>
      </p:sp>
      <p:sp>
        <p:nvSpPr>
          <p:cNvPr id="21" name="Shape 19"/>
          <p:cNvSpPr/>
          <p:nvPr/>
        </p:nvSpPr>
        <p:spPr>
          <a:xfrm>
            <a:off x="1078992" y="3813048"/>
            <a:ext cx="1572768" cy="283464"/>
          </a:xfrm>
          <a:prstGeom prst="roundRect">
            <a:avLst/>
          </a:prstGeom>
          <a:solidFill>
            <a:srgbClr val="14213D"/>
          </a:solidFill>
          <a:ln w="10160">
            <a:solidFill>
              <a:srgbClr val="14213D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133856" y="3831336"/>
            <a:ext cx="14630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4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COMPARABLE?</a:t>
            </a:r>
            <a:endParaRPr lang="en-US" sz="1240" dirty="0"/>
          </a:p>
        </p:txBody>
      </p:sp>
      <p:sp>
        <p:nvSpPr>
          <p:cNvPr id="23" name="Text 21"/>
          <p:cNvSpPr/>
          <p:nvPr/>
        </p:nvSpPr>
        <p:spPr>
          <a:xfrm>
            <a:off x="987552" y="4142232"/>
            <a:ext cx="2322576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30" b="1" dirty="0">
                <a:solidFill>
                  <a:srgbClr val="98514F"/>
                </a:solidFill>
                <a:latin typeface="標楷體" pitchFamily="34" charset="0"/>
                <a:ea typeface="標楷體" pitchFamily="34" charset="-122"/>
                <a:cs typeface="標楷體" pitchFamily="34" charset="-120"/>
              </a:rPr>
              <a:t>條件不同＝</a:t>
            </a:r>
            <a:pPr algn="ctr" indent="0" marL="0">
              <a:buNone/>
            </a:pPr>
            <a:r>
              <a:rPr lang="en-US" sz="1030" b="1" dirty="0">
                <a:solidFill>
                  <a:srgbClr val="98514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INCOMPARABLE</a:t>
            </a:r>
            <a:endParaRPr lang="en-US" sz="1030" dirty="0"/>
          </a:p>
        </p:txBody>
      </p:sp>
      <p:sp>
        <p:nvSpPr>
          <p:cNvPr id="24" name="Text 22"/>
          <p:cNvSpPr/>
          <p:nvPr/>
        </p:nvSpPr>
        <p:spPr>
          <a:xfrm>
            <a:off x="3822192" y="1545336"/>
            <a:ext cx="79004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20" b="1" dirty="0">
                <a:solidFill>
                  <a:srgbClr val="2D8C8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REVEAL → VERDICT</a:t>
            </a:r>
            <a:endParaRPr lang="en-US" sz="1320" dirty="0"/>
          </a:p>
        </p:txBody>
      </p:sp>
      <p:sp>
        <p:nvSpPr>
          <p:cNvPr id="25" name="Shape 23"/>
          <p:cNvSpPr/>
          <p:nvPr/>
        </p:nvSpPr>
        <p:spPr>
          <a:xfrm>
            <a:off x="3822192" y="1883664"/>
            <a:ext cx="7900416" cy="640080"/>
          </a:xfrm>
          <a:prstGeom prst="roundRect">
            <a:avLst/>
          </a:prstGeom>
          <a:solidFill>
            <a:srgbClr val="ECF7F1"/>
          </a:solidFill>
          <a:ln w="12065">
            <a:solidFill>
              <a:srgbClr val="2D7A7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005072" y="2002536"/>
            <a:ext cx="402336" cy="402336"/>
          </a:xfrm>
          <a:prstGeom prst="ellipse">
            <a:avLst/>
          </a:prstGeom>
          <a:solidFill>
            <a:srgbClr val="2D7A70"/>
          </a:solidFill>
          <a:ln w="7620">
            <a:solidFill>
              <a:srgbClr val="2D7A7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005072" y="2048256"/>
            <a:ext cx="4023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</a:t>
            </a:r>
            <a:endParaRPr lang="en-US" sz="1500" dirty="0"/>
          </a:p>
        </p:txBody>
      </p:sp>
      <p:sp>
        <p:nvSpPr>
          <p:cNvPr id="28" name="Text 26"/>
          <p:cNvSpPr/>
          <p:nvPr/>
        </p:nvSpPr>
        <p:spPr>
          <a:xfrm>
            <a:off x="4590288" y="1993392"/>
            <a:ext cx="2212848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E2430"/>
                </a:solidFill>
                <a:latin typeface="標楷體" pitchFamily="34" charset="0"/>
                <a:ea typeface="標楷體" pitchFamily="34" charset="-122"/>
                <a:cs typeface="標楷體" pitchFamily="34" charset="-120"/>
              </a:rPr>
              <a:t>平均</a:t>
            </a:r>
            <a:pPr algn="l" indent="0" marL="0">
              <a:buNone/>
            </a:pPr>
            <a:r>
              <a:rPr lang="en-US" sz="1600" b="1" dirty="0">
                <a:solidFill>
                  <a:srgbClr val="1E243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W </a:t>
            </a:r>
            <a:pPr algn="l" indent="0" marL="0">
              <a:buNone/>
            </a:pPr>
            <a:r>
              <a:rPr lang="en-US" sz="1600" b="1" dirty="0">
                <a:solidFill>
                  <a:srgbClr val="1E2430"/>
                </a:solidFill>
                <a:latin typeface="標楷體" pitchFamily="34" charset="0"/>
                <a:ea typeface="標楷體" pitchFamily="34" charset="-122"/>
                <a:cs typeface="標楷體" pitchFamily="34" charset="-120"/>
              </a:rPr>
              <a:t>較低</a:t>
            </a:r>
            <a:endParaRPr lang="en-US" sz="1600" dirty="0"/>
          </a:p>
        </p:txBody>
      </p:sp>
      <p:sp>
        <p:nvSpPr>
          <p:cNvPr id="29" name="Text 27"/>
          <p:cNvSpPr/>
          <p:nvPr/>
        </p:nvSpPr>
        <p:spPr>
          <a:xfrm>
            <a:off x="4590288" y="2231136"/>
            <a:ext cx="22128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80" b="1" dirty="0">
                <a:solidFill>
                  <a:srgbClr val="2D7A7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service_pass</a:t>
            </a:r>
            <a:pPr algn="l" indent="0" marL="0">
              <a:buNone/>
            </a:pPr>
            <a:r>
              <a:rPr lang="en-US" sz="1180" b="1" dirty="0">
                <a:solidFill>
                  <a:srgbClr val="2D7A70"/>
                </a:solidFill>
                <a:latin typeface="標楷體" pitchFamily="34" charset="0"/>
                <a:ea typeface="標楷體" pitchFamily="34" charset="-122"/>
                <a:cs typeface="標楷體" pitchFamily="34" charset="-120"/>
              </a:rPr>
              <a:t>＋期限</a:t>
            </a:r>
            <a:endParaRPr lang="en-US" sz="1180" dirty="0"/>
          </a:p>
        </p:txBody>
      </p:sp>
      <p:sp>
        <p:nvSpPr>
          <p:cNvPr id="30" name="Shape 28"/>
          <p:cNvSpPr/>
          <p:nvPr/>
        </p:nvSpPr>
        <p:spPr>
          <a:xfrm>
            <a:off x="6967728" y="1975104"/>
            <a:ext cx="0" cy="457200"/>
          </a:xfrm>
          <a:prstGeom prst="line">
            <a:avLst/>
          </a:prstGeom>
          <a:noFill/>
          <a:ln w="9525">
            <a:solidFill>
              <a:srgbClr val="D5DDE4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187184" y="1984248"/>
            <a:ext cx="199339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30" b="1" dirty="0">
                <a:solidFill>
                  <a:srgbClr val="2D7A7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○ A</a:t>
            </a:r>
            <a:pPr algn="ctr" indent="0" marL="0">
              <a:buNone/>
            </a:pPr>
            <a:r>
              <a:rPr lang="en-US" sz="1530" b="1" dirty="0">
                <a:solidFill>
                  <a:srgbClr val="2D7A70"/>
                </a:solidFill>
                <a:latin typeface="標楷體" pitchFamily="34" charset="0"/>
                <a:ea typeface="標楷體" pitchFamily="34" charset="-122"/>
                <a:cs typeface="標楷體" pitchFamily="34" charset="-120"/>
              </a:rPr>
              <a:t>　</a:t>
            </a:r>
            <a:pPr algn="ctr" indent="0" marL="0">
              <a:buNone/>
            </a:pPr>
            <a:r>
              <a:rPr lang="en-US" sz="1530" b="1" dirty="0">
                <a:solidFill>
                  <a:srgbClr val="2D7A7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○ Q</a:t>
            </a:r>
            <a:pPr algn="ctr" indent="0" marL="0">
              <a:buNone/>
            </a:pPr>
            <a:r>
              <a:rPr lang="en-US" sz="1530" b="1" dirty="0">
                <a:solidFill>
                  <a:srgbClr val="2D7A70"/>
                </a:solidFill>
                <a:latin typeface="標楷體" pitchFamily="34" charset="0"/>
                <a:ea typeface="標楷體" pitchFamily="34" charset="-122"/>
                <a:cs typeface="標楷體" pitchFamily="34" charset="-120"/>
              </a:rPr>
              <a:t>　</a:t>
            </a:r>
            <a:pPr algn="ctr" indent="0" marL="0">
              <a:buNone/>
            </a:pPr>
            <a:r>
              <a:rPr lang="en-US" sz="1530" b="1" dirty="0">
                <a:solidFill>
                  <a:srgbClr val="2D7A7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○ R</a:t>
            </a:r>
            <a:endParaRPr lang="en-US" sz="1530" dirty="0"/>
          </a:p>
        </p:txBody>
      </p:sp>
      <p:sp>
        <p:nvSpPr>
          <p:cNvPr id="32" name="Text 30"/>
          <p:cNvSpPr/>
          <p:nvPr/>
        </p:nvSpPr>
        <p:spPr>
          <a:xfrm>
            <a:off x="7187184" y="2240280"/>
            <a:ext cx="1993392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60" b="1" dirty="0">
                <a:solidFill>
                  <a:srgbClr val="647187"/>
                </a:solidFill>
                <a:latin typeface="標楷體" pitchFamily="34" charset="0"/>
                <a:ea typeface="標楷體" pitchFamily="34" charset="-122"/>
                <a:cs typeface="標楷體" pitchFamily="34" charset="-120"/>
              </a:rPr>
              <a:t>信心：低／中／高</a:t>
            </a:r>
            <a:endParaRPr lang="en-US" sz="1160" dirty="0"/>
          </a:p>
        </p:txBody>
      </p:sp>
      <p:sp>
        <p:nvSpPr>
          <p:cNvPr id="33" name="Text 31"/>
          <p:cNvSpPr/>
          <p:nvPr/>
        </p:nvSpPr>
        <p:spPr>
          <a:xfrm>
            <a:off x="9317736" y="2048256"/>
            <a:ext cx="21854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20" b="1" dirty="0">
                <a:solidFill>
                  <a:srgbClr val="2D7A70"/>
                </a:solidFill>
                <a:latin typeface="標楷體" pitchFamily="34" charset="0"/>
                <a:ea typeface="標楷體" pitchFamily="34" charset="-122"/>
                <a:cs typeface="標楷體" pitchFamily="34" charset="-120"/>
              </a:rPr>
              <a:t>先確認可比較</a:t>
            </a:r>
            <a:endParaRPr lang="en-US" sz="1320" dirty="0"/>
          </a:p>
        </p:txBody>
      </p:sp>
      <p:sp>
        <p:nvSpPr>
          <p:cNvPr id="34" name="Shape 32"/>
          <p:cNvSpPr/>
          <p:nvPr/>
        </p:nvSpPr>
        <p:spPr>
          <a:xfrm>
            <a:off x="3822192" y="2642616"/>
            <a:ext cx="7900416" cy="640080"/>
          </a:xfrm>
          <a:prstGeom prst="roundRect">
            <a:avLst/>
          </a:prstGeom>
          <a:solidFill>
            <a:srgbClr val="F2EEFA"/>
          </a:solidFill>
          <a:ln w="12065">
            <a:solidFill>
              <a:srgbClr val="7257A1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4005072" y="2761488"/>
            <a:ext cx="402336" cy="402336"/>
          </a:xfrm>
          <a:prstGeom prst="ellipse">
            <a:avLst/>
          </a:prstGeom>
          <a:solidFill>
            <a:srgbClr val="7257A1"/>
          </a:solidFill>
          <a:ln w="7620">
            <a:solidFill>
              <a:srgbClr val="7257A1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005072" y="2807208"/>
            <a:ext cx="4023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</a:t>
            </a:r>
            <a:endParaRPr lang="en-US" sz="1500" dirty="0"/>
          </a:p>
        </p:txBody>
      </p:sp>
      <p:sp>
        <p:nvSpPr>
          <p:cNvPr id="37" name="Text 35"/>
          <p:cNvSpPr/>
          <p:nvPr/>
        </p:nvSpPr>
        <p:spPr>
          <a:xfrm>
            <a:off x="4590288" y="2752344"/>
            <a:ext cx="2212848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E2430"/>
                </a:solidFill>
                <a:latin typeface="標楷體" pitchFamily="34" charset="0"/>
                <a:ea typeface="標楷體" pitchFamily="34" charset="-122"/>
                <a:cs typeface="標楷體" pitchFamily="34" charset="-120"/>
              </a:rPr>
              <a:t>較快完成</a:t>
            </a:r>
            <a:endParaRPr lang="en-US" sz="1600" dirty="0"/>
          </a:p>
        </p:txBody>
      </p:sp>
      <p:sp>
        <p:nvSpPr>
          <p:cNvPr id="38" name="Text 36"/>
          <p:cNvSpPr/>
          <p:nvPr/>
        </p:nvSpPr>
        <p:spPr>
          <a:xfrm>
            <a:off x="4590288" y="2990088"/>
            <a:ext cx="22128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80" b="1" dirty="0">
                <a:solidFill>
                  <a:srgbClr val="7257A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active time</a:t>
            </a:r>
            <a:pPr algn="l" indent="0" marL="0">
              <a:buNone/>
            </a:pPr>
            <a:r>
              <a:rPr lang="en-US" sz="1180" b="1" dirty="0">
                <a:solidFill>
                  <a:srgbClr val="7257A1"/>
                </a:solidFill>
                <a:latin typeface="標楷體" pitchFamily="34" charset="0"/>
                <a:ea typeface="標楷體" pitchFamily="34" charset="-122"/>
                <a:cs typeface="標楷體" pitchFamily="34" charset="-120"/>
              </a:rPr>
              <a:t>＋完成時刻</a:t>
            </a:r>
            <a:endParaRPr lang="en-US" sz="1180" dirty="0"/>
          </a:p>
        </p:txBody>
      </p:sp>
      <p:sp>
        <p:nvSpPr>
          <p:cNvPr id="39" name="Shape 37"/>
          <p:cNvSpPr/>
          <p:nvPr/>
        </p:nvSpPr>
        <p:spPr>
          <a:xfrm>
            <a:off x="6967728" y="2734056"/>
            <a:ext cx="0" cy="457200"/>
          </a:xfrm>
          <a:prstGeom prst="line">
            <a:avLst/>
          </a:prstGeom>
          <a:noFill/>
          <a:ln w="9525">
            <a:solidFill>
              <a:srgbClr val="D5DDE4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7187184" y="2743200"/>
            <a:ext cx="199339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30" b="1" dirty="0">
                <a:solidFill>
                  <a:srgbClr val="7257A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○ A</a:t>
            </a:r>
            <a:pPr algn="ctr" indent="0" marL="0">
              <a:buNone/>
            </a:pPr>
            <a:r>
              <a:rPr lang="en-US" sz="1530" b="1" dirty="0">
                <a:solidFill>
                  <a:srgbClr val="7257A1"/>
                </a:solidFill>
                <a:latin typeface="標楷體" pitchFamily="34" charset="0"/>
                <a:ea typeface="標楷體" pitchFamily="34" charset="-122"/>
                <a:cs typeface="標楷體" pitchFamily="34" charset="-120"/>
              </a:rPr>
              <a:t>　</a:t>
            </a:r>
            <a:pPr algn="ctr" indent="0" marL="0">
              <a:buNone/>
            </a:pPr>
            <a:r>
              <a:rPr lang="en-US" sz="1530" b="1" dirty="0">
                <a:solidFill>
                  <a:srgbClr val="7257A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○ Q</a:t>
            </a:r>
            <a:pPr algn="ctr" indent="0" marL="0">
              <a:buNone/>
            </a:pPr>
            <a:r>
              <a:rPr lang="en-US" sz="1530" b="1" dirty="0">
                <a:solidFill>
                  <a:srgbClr val="7257A1"/>
                </a:solidFill>
                <a:latin typeface="標楷體" pitchFamily="34" charset="0"/>
                <a:ea typeface="標楷體" pitchFamily="34" charset="-122"/>
                <a:cs typeface="標楷體" pitchFamily="34" charset="-120"/>
              </a:rPr>
              <a:t>　</a:t>
            </a:r>
            <a:pPr algn="ctr" indent="0" marL="0">
              <a:buNone/>
            </a:pPr>
            <a:r>
              <a:rPr lang="en-US" sz="1530" b="1" dirty="0">
                <a:solidFill>
                  <a:srgbClr val="7257A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○ R</a:t>
            </a:r>
            <a:endParaRPr lang="en-US" sz="1530" dirty="0"/>
          </a:p>
        </p:txBody>
      </p:sp>
      <p:sp>
        <p:nvSpPr>
          <p:cNvPr id="41" name="Text 39"/>
          <p:cNvSpPr/>
          <p:nvPr/>
        </p:nvSpPr>
        <p:spPr>
          <a:xfrm>
            <a:off x="7187184" y="2999232"/>
            <a:ext cx="1993392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60" b="1" dirty="0">
                <a:solidFill>
                  <a:srgbClr val="647187"/>
                </a:solidFill>
                <a:latin typeface="標楷體" pitchFamily="34" charset="0"/>
                <a:ea typeface="標楷體" pitchFamily="34" charset="-122"/>
                <a:cs typeface="標楷體" pitchFamily="34" charset="-120"/>
              </a:rPr>
              <a:t>信心：低／中／高</a:t>
            </a:r>
            <a:endParaRPr lang="en-US" sz="1160" dirty="0"/>
          </a:p>
        </p:txBody>
      </p:sp>
      <p:sp>
        <p:nvSpPr>
          <p:cNvPr id="42" name="Text 40"/>
          <p:cNvSpPr/>
          <p:nvPr/>
        </p:nvSpPr>
        <p:spPr>
          <a:xfrm>
            <a:off x="9317736" y="2807208"/>
            <a:ext cx="21854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20" b="1" dirty="0">
                <a:solidFill>
                  <a:srgbClr val="7257A1"/>
                </a:solidFill>
                <a:latin typeface="標楷體" pitchFamily="34" charset="0"/>
                <a:ea typeface="標楷體" pitchFamily="34" charset="-122"/>
                <a:cs typeface="標楷體" pitchFamily="34" charset="-120"/>
              </a:rPr>
              <a:t>不直接等於低</a:t>
            </a:r>
            <a:pPr algn="ctr" indent="0" marL="0">
              <a:buNone/>
            </a:pPr>
            <a:r>
              <a:rPr lang="en-US" sz="1320" b="1" dirty="0">
                <a:solidFill>
                  <a:srgbClr val="7257A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J</a:t>
            </a:r>
            <a:endParaRPr lang="en-US" sz="1320" dirty="0"/>
          </a:p>
        </p:txBody>
      </p:sp>
      <p:sp>
        <p:nvSpPr>
          <p:cNvPr id="43" name="Shape 41"/>
          <p:cNvSpPr/>
          <p:nvPr/>
        </p:nvSpPr>
        <p:spPr>
          <a:xfrm>
            <a:off x="3822192" y="3401568"/>
            <a:ext cx="7900416" cy="640080"/>
          </a:xfrm>
          <a:prstGeom prst="roundRect">
            <a:avLst/>
          </a:prstGeom>
          <a:solidFill>
            <a:srgbClr val="FAEFED"/>
          </a:solidFill>
          <a:ln w="12065">
            <a:solidFill>
              <a:srgbClr val="98514F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4005072" y="3520440"/>
            <a:ext cx="402336" cy="402336"/>
          </a:xfrm>
          <a:prstGeom prst="ellipse">
            <a:avLst/>
          </a:prstGeom>
          <a:solidFill>
            <a:srgbClr val="98514F"/>
          </a:solidFill>
          <a:ln w="7620">
            <a:solidFill>
              <a:srgbClr val="98514F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4005072" y="3566160"/>
            <a:ext cx="4023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</a:t>
            </a:r>
            <a:endParaRPr lang="en-US" sz="1500" dirty="0"/>
          </a:p>
        </p:txBody>
      </p:sp>
      <p:sp>
        <p:nvSpPr>
          <p:cNvPr id="46" name="Text 44"/>
          <p:cNvSpPr/>
          <p:nvPr/>
        </p:nvSpPr>
        <p:spPr>
          <a:xfrm>
            <a:off x="4590288" y="3511296"/>
            <a:ext cx="2212848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E243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bit/J </a:t>
            </a:r>
            <a:pPr algn="l" indent="0" marL="0">
              <a:buNone/>
            </a:pPr>
            <a:r>
              <a:rPr lang="en-US" sz="1600" b="1" dirty="0">
                <a:solidFill>
                  <a:srgbClr val="1E2430"/>
                </a:solidFill>
                <a:latin typeface="標楷體" pitchFamily="34" charset="0"/>
                <a:ea typeface="標楷體" pitchFamily="34" charset="-122"/>
                <a:cs typeface="標楷體" pitchFamily="34" charset="-120"/>
              </a:rPr>
              <a:t>高但漏</a:t>
            </a:r>
            <a:pPr algn="l" indent="0" marL="0">
              <a:buNone/>
            </a:pPr>
            <a:r>
              <a:rPr lang="en-US" sz="1600" b="1" dirty="0">
                <a:solidFill>
                  <a:srgbClr val="1E243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deadline</a:t>
            </a:r>
            <a:endParaRPr lang="en-US" sz="1600" dirty="0"/>
          </a:p>
        </p:txBody>
      </p:sp>
      <p:sp>
        <p:nvSpPr>
          <p:cNvPr id="47" name="Text 45"/>
          <p:cNvSpPr/>
          <p:nvPr/>
        </p:nvSpPr>
        <p:spPr>
          <a:xfrm>
            <a:off x="4590288" y="3749040"/>
            <a:ext cx="22128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80" b="1" dirty="0">
                <a:solidFill>
                  <a:srgbClr val="98514F"/>
                </a:solidFill>
                <a:latin typeface="標楷體" pitchFamily="34" charset="0"/>
                <a:ea typeface="標楷體" pitchFamily="34" charset="-122"/>
                <a:cs typeface="標楷體" pitchFamily="34" charset="-120"/>
              </a:rPr>
              <a:t>逾期＝服務不合格</a:t>
            </a:r>
            <a:endParaRPr lang="en-US" sz="1180" dirty="0"/>
          </a:p>
        </p:txBody>
      </p:sp>
      <p:sp>
        <p:nvSpPr>
          <p:cNvPr id="48" name="Shape 46"/>
          <p:cNvSpPr/>
          <p:nvPr/>
        </p:nvSpPr>
        <p:spPr>
          <a:xfrm>
            <a:off x="6967728" y="3493008"/>
            <a:ext cx="0" cy="457200"/>
          </a:xfrm>
          <a:prstGeom prst="line">
            <a:avLst/>
          </a:prstGeom>
          <a:noFill/>
          <a:ln w="9525">
            <a:solidFill>
              <a:srgbClr val="D5DDE4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7187184" y="3502152"/>
            <a:ext cx="199339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30" b="1" dirty="0">
                <a:solidFill>
                  <a:srgbClr val="98514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○ A</a:t>
            </a:r>
            <a:pPr algn="ctr" indent="0" marL="0">
              <a:buNone/>
            </a:pPr>
            <a:r>
              <a:rPr lang="en-US" sz="1530" b="1" dirty="0">
                <a:solidFill>
                  <a:srgbClr val="98514F"/>
                </a:solidFill>
                <a:latin typeface="標楷體" pitchFamily="34" charset="0"/>
                <a:ea typeface="標楷體" pitchFamily="34" charset="-122"/>
                <a:cs typeface="標楷體" pitchFamily="34" charset="-120"/>
              </a:rPr>
              <a:t>　</a:t>
            </a:r>
            <a:pPr algn="ctr" indent="0" marL="0">
              <a:buNone/>
            </a:pPr>
            <a:r>
              <a:rPr lang="en-US" sz="1530" b="1" dirty="0">
                <a:solidFill>
                  <a:srgbClr val="98514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○ Q</a:t>
            </a:r>
            <a:pPr algn="ctr" indent="0" marL="0">
              <a:buNone/>
            </a:pPr>
            <a:r>
              <a:rPr lang="en-US" sz="1530" b="1" dirty="0">
                <a:solidFill>
                  <a:srgbClr val="98514F"/>
                </a:solidFill>
                <a:latin typeface="標楷體" pitchFamily="34" charset="0"/>
                <a:ea typeface="標楷體" pitchFamily="34" charset="-122"/>
                <a:cs typeface="標楷體" pitchFamily="34" charset="-120"/>
              </a:rPr>
              <a:t>　</a:t>
            </a:r>
            <a:pPr algn="ctr" indent="0" marL="0">
              <a:buNone/>
            </a:pPr>
            <a:r>
              <a:rPr lang="en-US" sz="1530" b="1" dirty="0">
                <a:solidFill>
                  <a:srgbClr val="98514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○ R</a:t>
            </a:r>
            <a:endParaRPr lang="en-US" sz="1530" dirty="0"/>
          </a:p>
        </p:txBody>
      </p:sp>
      <p:sp>
        <p:nvSpPr>
          <p:cNvPr id="50" name="Text 48"/>
          <p:cNvSpPr/>
          <p:nvPr/>
        </p:nvSpPr>
        <p:spPr>
          <a:xfrm>
            <a:off x="7187184" y="3758184"/>
            <a:ext cx="1993392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60" b="1" dirty="0">
                <a:solidFill>
                  <a:srgbClr val="647187"/>
                </a:solidFill>
                <a:latin typeface="標楷體" pitchFamily="34" charset="0"/>
                <a:ea typeface="標楷體" pitchFamily="34" charset="-122"/>
                <a:cs typeface="標楷體" pitchFamily="34" charset="-120"/>
              </a:rPr>
              <a:t>信心：低／中／高</a:t>
            </a:r>
            <a:endParaRPr lang="en-US" sz="1160" dirty="0"/>
          </a:p>
        </p:txBody>
      </p:sp>
      <p:sp>
        <p:nvSpPr>
          <p:cNvPr id="51" name="Text 49"/>
          <p:cNvSpPr/>
          <p:nvPr/>
        </p:nvSpPr>
        <p:spPr>
          <a:xfrm>
            <a:off x="9317736" y="3566160"/>
            <a:ext cx="21854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20" b="1" dirty="0">
                <a:solidFill>
                  <a:srgbClr val="98514F"/>
                </a:solidFill>
                <a:latin typeface="標楷體" pitchFamily="34" charset="0"/>
                <a:ea typeface="標楷體" pitchFamily="34" charset="-122"/>
                <a:cs typeface="標楷體" pitchFamily="34" charset="-120"/>
              </a:rPr>
              <a:t>效率不覆蓋服務</a:t>
            </a:r>
            <a:endParaRPr lang="en-US" sz="1320" dirty="0"/>
          </a:p>
        </p:txBody>
      </p:sp>
      <p:sp>
        <p:nvSpPr>
          <p:cNvPr id="52" name="Shape 50"/>
          <p:cNvSpPr/>
          <p:nvPr/>
        </p:nvSpPr>
        <p:spPr>
          <a:xfrm>
            <a:off x="3822192" y="4160520"/>
            <a:ext cx="7900416" cy="310896"/>
          </a:xfrm>
          <a:prstGeom prst="roundRect">
            <a:avLst/>
          </a:prstGeom>
          <a:solidFill>
            <a:srgbClr val="FFFFFF"/>
          </a:solidFill>
          <a:ln w="11430">
            <a:solidFill>
              <a:srgbClr val="2D8C8A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986784" y="4215384"/>
            <a:ext cx="75712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80" b="1" dirty="0">
                <a:solidFill>
                  <a:srgbClr val="2D8C8A"/>
                </a:solidFill>
                <a:latin typeface="標楷體" pitchFamily="34" charset="0"/>
                <a:ea typeface="標楷體" pitchFamily="34" charset="-122"/>
                <a:cs typeface="標楷體" pitchFamily="34" charset="-120"/>
              </a:rPr>
              <a:t>初判</a:t>
            </a:r>
            <a:pPr algn="ctr" indent="0" marL="0">
              <a:buNone/>
            </a:pPr>
            <a:r>
              <a:rPr lang="en-US" sz="1380" b="1" dirty="0">
                <a:solidFill>
                  <a:srgbClr val="2D8C8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→ </a:t>
            </a:r>
            <a:pPr algn="ctr" indent="0" marL="0">
              <a:buNone/>
            </a:pPr>
            <a:r>
              <a:rPr lang="en-US" sz="1380" b="1" dirty="0">
                <a:solidFill>
                  <a:srgbClr val="2D8C8A"/>
                </a:solidFill>
                <a:latin typeface="標楷體" pitchFamily="34" charset="0"/>
                <a:ea typeface="標楷體" pitchFamily="34" charset="-122"/>
                <a:cs typeface="標楷體" pitchFamily="34" charset="-120"/>
              </a:rPr>
              <a:t>鎖定條件</a:t>
            </a:r>
            <a:pPr algn="ctr" indent="0" marL="0">
              <a:buNone/>
            </a:pPr>
            <a:r>
              <a:rPr lang="en-US" sz="1380" b="1" dirty="0">
                <a:solidFill>
                  <a:srgbClr val="2D8C8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→ </a:t>
            </a:r>
            <a:pPr algn="ctr" indent="0" marL="0">
              <a:buNone/>
            </a:pPr>
            <a:r>
              <a:rPr lang="en-US" sz="1380" b="1" dirty="0">
                <a:solidFill>
                  <a:srgbClr val="2D8C8A"/>
                </a:solidFill>
                <a:latin typeface="標楷體" pitchFamily="34" charset="0"/>
                <a:ea typeface="標楷體" pitchFamily="34" charset="-122"/>
                <a:cs typeface="標楷體" pitchFamily="34" charset="-120"/>
              </a:rPr>
              <a:t>揭露</a:t>
            </a:r>
            <a:pPr algn="ctr" indent="0" marL="0">
              <a:buNone/>
            </a:pPr>
            <a:r>
              <a:rPr lang="en-US" sz="1380" b="1" dirty="0">
                <a:solidFill>
                  <a:srgbClr val="2D8C8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J</a:t>
            </a:r>
            <a:pPr algn="ctr" indent="0" marL="0">
              <a:buNone/>
            </a:pPr>
            <a:r>
              <a:rPr lang="en-US" sz="1380" b="1" dirty="0">
                <a:solidFill>
                  <a:srgbClr val="2D8C8A"/>
                </a:solidFill>
                <a:latin typeface="標楷體" pitchFamily="34" charset="0"/>
                <a:ea typeface="標楷體" pitchFamily="34" charset="-122"/>
                <a:cs typeface="標楷體" pitchFamily="34" charset="-120"/>
              </a:rPr>
              <a:t>／時間／服務</a:t>
            </a:r>
            <a:pPr algn="ctr" indent="0" marL="0">
              <a:buNone/>
            </a:pPr>
            <a:r>
              <a:rPr lang="en-US" sz="1380" b="1" dirty="0">
                <a:solidFill>
                  <a:srgbClr val="2D8C8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→ </a:t>
            </a:r>
            <a:pPr algn="ctr" indent="0" marL="0">
              <a:buNone/>
            </a:pPr>
            <a:r>
              <a:rPr lang="en-US" sz="1380" b="1" dirty="0">
                <a:solidFill>
                  <a:srgbClr val="2D8C8A"/>
                </a:solidFill>
                <a:latin typeface="標楷體" pitchFamily="34" charset="0"/>
                <a:ea typeface="標楷體" pitchFamily="34" charset="-122"/>
                <a:cs typeface="標楷體" pitchFamily="34" charset="-120"/>
              </a:rPr>
              <a:t>只改判</a:t>
            </a:r>
            <a:pPr algn="ctr" indent="0" marL="0">
              <a:buNone/>
            </a:pPr>
            <a:r>
              <a:rPr lang="en-US" sz="1380" b="1" dirty="0">
                <a:solidFill>
                  <a:srgbClr val="2D8C8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1 </a:t>
            </a:r>
            <a:pPr algn="ctr" indent="0" marL="0">
              <a:buNone/>
            </a:pPr>
            <a:r>
              <a:rPr lang="en-US" sz="1380" b="1" dirty="0">
                <a:solidFill>
                  <a:srgbClr val="2D8C8A"/>
                </a:solidFill>
                <a:latin typeface="標楷體" pitchFamily="34" charset="0"/>
                <a:ea typeface="標楷體" pitchFamily="34" charset="-122"/>
                <a:cs typeface="標楷體" pitchFamily="34" charset="-120"/>
              </a:rPr>
              <a:t>次</a:t>
            </a:r>
            <a:endParaRPr lang="en-US" sz="1380" dirty="0"/>
          </a:p>
        </p:txBody>
      </p:sp>
      <p:sp>
        <p:nvSpPr>
          <p:cNvPr id="54" name="Shape 52"/>
          <p:cNvSpPr/>
          <p:nvPr/>
        </p:nvSpPr>
        <p:spPr>
          <a:xfrm>
            <a:off x="749808" y="4599432"/>
            <a:ext cx="10972800" cy="640080"/>
          </a:xfrm>
          <a:prstGeom prst="roundRect">
            <a:avLst/>
          </a:prstGeom>
          <a:solidFill>
            <a:srgbClr val="EAF7F6"/>
          </a:solidFill>
          <a:ln w="12065">
            <a:solidFill>
              <a:srgbClr val="2D8C8A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868680" y="4690872"/>
            <a:ext cx="250545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80" b="1" dirty="0">
                <a:solidFill>
                  <a:srgbClr val="2D8C8A"/>
                </a:solidFill>
                <a:latin typeface="標楷體" pitchFamily="34" charset="0"/>
                <a:ea typeface="標楷體" pitchFamily="34" charset="-122"/>
                <a:cs typeface="標楷體" pitchFamily="34" charset="-120"/>
              </a:rPr>
              <a:t>操作</a:t>
            </a:r>
            <a:endParaRPr lang="en-US" sz="1080" dirty="0"/>
          </a:p>
        </p:txBody>
      </p:sp>
      <p:sp>
        <p:nvSpPr>
          <p:cNvPr id="56" name="Text 54"/>
          <p:cNvSpPr/>
          <p:nvPr/>
        </p:nvSpPr>
        <p:spPr>
          <a:xfrm>
            <a:off x="868680" y="4882896"/>
            <a:ext cx="2505456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243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vote → reveal → revise</a:t>
            </a:r>
            <a:endParaRPr lang="en-US" sz="1300" dirty="0"/>
          </a:p>
        </p:txBody>
      </p:sp>
      <p:sp>
        <p:nvSpPr>
          <p:cNvPr id="57" name="Shape 55"/>
          <p:cNvSpPr/>
          <p:nvPr/>
        </p:nvSpPr>
        <p:spPr>
          <a:xfrm>
            <a:off x="3493008" y="4690872"/>
            <a:ext cx="0" cy="457200"/>
          </a:xfrm>
          <a:prstGeom prst="line">
            <a:avLst/>
          </a:prstGeom>
          <a:noFill/>
          <a:ln w="10160">
            <a:solidFill>
              <a:srgbClr val="D5DDE4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3611880" y="4690872"/>
            <a:ext cx="250545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80" b="1" dirty="0">
                <a:solidFill>
                  <a:srgbClr val="2D8C8A"/>
                </a:solidFill>
                <a:latin typeface="標楷體" pitchFamily="34" charset="0"/>
                <a:ea typeface="標楷體" pitchFamily="34" charset="-122"/>
                <a:cs typeface="標楷體" pitchFamily="34" charset="-120"/>
              </a:rPr>
              <a:t>證據</a:t>
            </a:r>
            <a:endParaRPr lang="en-US" sz="1080" dirty="0"/>
          </a:p>
        </p:txBody>
      </p:sp>
      <p:sp>
        <p:nvSpPr>
          <p:cNvPr id="59" name="Text 57"/>
          <p:cNvSpPr/>
          <p:nvPr/>
        </p:nvSpPr>
        <p:spPr>
          <a:xfrm>
            <a:off x="3611880" y="4882896"/>
            <a:ext cx="2505456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2430"/>
                </a:solidFill>
                <a:latin typeface="標楷體" pitchFamily="34" charset="0"/>
                <a:ea typeface="標楷體" pitchFamily="34" charset="-122"/>
                <a:cs typeface="標楷體" pitchFamily="34" charset="-120"/>
              </a:rPr>
              <a:t>任務契約＋判決</a:t>
            </a:r>
            <a:endParaRPr lang="en-US" sz="1300" dirty="0"/>
          </a:p>
        </p:txBody>
      </p:sp>
      <p:sp>
        <p:nvSpPr>
          <p:cNvPr id="60" name="Shape 58"/>
          <p:cNvSpPr/>
          <p:nvPr/>
        </p:nvSpPr>
        <p:spPr>
          <a:xfrm>
            <a:off x="6236208" y="4690872"/>
            <a:ext cx="0" cy="457200"/>
          </a:xfrm>
          <a:prstGeom prst="line">
            <a:avLst/>
          </a:prstGeom>
          <a:noFill/>
          <a:ln w="10160">
            <a:solidFill>
              <a:srgbClr val="D5DDE4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6355080" y="4690872"/>
            <a:ext cx="250545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80" b="1" dirty="0">
                <a:solidFill>
                  <a:srgbClr val="2D8C8A"/>
                </a:solidFill>
                <a:latin typeface="標楷體" pitchFamily="34" charset="0"/>
                <a:ea typeface="標楷體" pitchFamily="34" charset="-122"/>
                <a:cs typeface="標楷體" pitchFamily="34" charset="-120"/>
              </a:rPr>
              <a:t>意義</a:t>
            </a:r>
            <a:endParaRPr lang="en-US" sz="1080" dirty="0"/>
          </a:p>
        </p:txBody>
      </p:sp>
      <p:sp>
        <p:nvSpPr>
          <p:cNvPr id="62" name="Text 60"/>
          <p:cNvSpPr/>
          <p:nvPr/>
        </p:nvSpPr>
        <p:spPr>
          <a:xfrm>
            <a:off x="6355080" y="4882896"/>
            <a:ext cx="2505456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2430"/>
                </a:solidFill>
                <a:latin typeface="標楷體" pitchFamily="34" charset="0"/>
                <a:ea typeface="標楷體" pitchFamily="34" charset="-122"/>
                <a:cs typeface="標楷體" pitchFamily="34" charset="-120"/>
              </a:rPr>
              <a:t>先固定服務邊界</a:t>
            </a:r>
            <a:endParaRPr lang="en-US" sz="1300" dirty="0"/>
          </a:p>
        </p:txBody>
      </p:sp>
      <p:sp>
        <p:nvSpPr>
          <p:cNvPr id="63" name="Shape 61"/>
          <p:cNvSpPr/>
          <p:nvPr/>
        </p:nvSpPr>
        <p:spPr>
          <a:xfrm>
            <a:off x="8979408" y="4690872"/>
            <a:ext cx="0" cy="457200"/>
          </a:xfrm>
          <a:prstGeom prst="line">
            <a:avLst/>
          </a:prstGeom>
          <a:noFill/>
          <a:ln w="10160">
            <a:solidFill>
              <a:srgbClr val="D5DDE4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9098280" y="4690872"/>
            <a:ext cx="250545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80" b="1" dirty="0">
                <a:solidFill>
                  <a:srgbClr val="2D8C8A"/>
                </a:solidFill>
                <a:latin typeface="標楷體" pitchFamily="34" charset="0"/>
                <a:ea typeface="標楷體" pitchFamily="34" charset="-122"/>
                <a:cs typeface="標楷體" pitchFamily="34" charset="-120"/>
              </a:rPr>
              <a:t>回復</a:t>
            </a:r>
            <a:endParaRPr lang="en-US" sz="1080" dirty="0"/>
          </a:p>
        </p:txBody>
      </p:sp>
      <p:sp>
        <p:nvSpPr>
          <p:cNvPr id="65" name="Text 63"/>
          <p:cNvSpPr/>
          <p:nvPr/>
        </p:nvSpPr>
        <p:spPr>
          <a:xfrm>
            <a:off x="9098280" y="4882896"/>
            <a:ext cx="2505456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2430"/>
                </a:solidFill>
                <a:latin typeface="標楷體" pitchFamily="34" charset="0"/>
                <a:ea typeface="標楷體" pitchFamily="34" charset="-122"/>
                <a:cs typeface="標楷體" pitchFamily="34" charset="-120"/>
              </a:rPr>
              <a:t>單位／邊界提示</a:t>
            </a:r>
            <a:endParaRPr lang="en-US" sz="1300" dirty="0"/>
          </a:p>
        </p:txBody>
      </p:sp>
      <p:sp>
        <p:nvSpPr>
          <p:cNvPr id="66" name="Shape 64"/>
          <p:cNvSpPr/>
          <p:nvPr/>
        </p:nvSpPr>
        <p:spPr>
          <a:xfrm>
            <a:off x="749808" y="5349240"/>
            <a:ext cx="10972800" cy="0"/>
          </a:xfrm>
          <a:prstGeom prst="line">
            <a:avLst/>
          </a:prstGeom>
          <a:noFill/>
          <a:ln w="12700">
            <a:solidFill>
              <a:srgbClr val="D5DDE4"/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>
            <a:off x="3749040" y="5440680"/>
            <a:ext cx="0" cy="457200"/>
          </a:xfrm>
          <a:prstGeom prst="line">
            <a:avLst/>
          </a:prstGeom>
          <a:noFill/>
          <a:ln w="10160">
            <a:solidFill>
              <a:srgbClr val="D5DDE4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7909560" y="5440680"/>
            <a:ext cx="0" cy="457200"/>
          </a:xfrm>
          <a:prstGeom prst="line">
            <a:avLst/>
          </a:prstGeom>
          <a:noFill/>
          <a:ln w="10160">
            <a:solidFill>
              <a:srgbClr val="D5DDE4"/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>
            <a:off x="749808" y="5458968"/>
            <a:ext cx="100584" cy="100584"/>
          </a:xfrm>
          <a:prstGeom prst="ellipse">
            <a:avLst/>
          </a:prstGeom>
          <a:solidFill>
            <a:srgbClr val="2D7A70"/>
          </a:solidFill>
          <a:ln w="5080">
            <a:solidFill>
              <a:srgbClr val="2D7A70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905256" y="5468112"/>
            <a:ext cx="2770632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60" b="1" dirty="0">
                <a:solidFill>
                  <a:srgbClr val="2D7A7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FACT</a:t>
            </a:r>
            <a:pPr algn="l" indent="0" marL="0">
              <a:buNone/>
            </a:pPr>
            <a:r>
              <a:rPr lang="en-US" sz="1060" b="1" dirty="0">
                <a:solidFill>
                  <a:srgbClr val="2D7A70"/>
                </a:solidFill>
                <a:latin typeface="標楷體" pitchFamily="34" charset="0"/>
                <a:ea typeface="標楷體" pitchFamily="34" charset="-122"/>
                <a:cs typeface="標楷體" pitchFamily="34" charset="-120"/>
              </a:rPr>
              <a:t>｜</a:t>
            </a:r>
            <a:pPr algn="l" indent="0" marL="0">
              <a:buNone/>
            </a:pPr>
            <a:r>
              <a:rPr lang="en-US" sz="1060" b="1" dirty="0">
                <a:solidFill>
                  <a:srgbClr val="2D7A7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</a:t>
            </a:r>
            <a:pPr algn="l" indent="0" marL="0">
              <a:buNone/>
            </a:pPr>
            <a:r>
              <a:rPr lang="en-US" sz="1060" b="1" dirty="0">
                <a:solidFill>
                  <a:srgbClr val="2D7A70"/>
                </a:solidFill>
                <a:latin typeface="標楷體" pitchFamily="34" charset="0"/>
                <a:ea typeface="標楷體" pitchFamily="34" charset="-122"/>
                <a:cs typeface="標楷體" pitchFamily="34" charset="-120"/>
              </a:rPr>
              <a:t>、</a:t>
            </a:r>
            <a:pPr algn="l" indent="0" marL="0">
              <a:buNone/>
            </a:pPr>
            <a:r>
              <a:rPr lang="en-US" sz="1060" b="1" dirty="0">
                <a:solidFill>
                  <a:srgbClr val="2D7A7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J</a:t>
            </a:r>
            <a:pPr algn="l" indent="0" marL="0">
              <a:buNone/>
            </a:pPr>
            <a:r>
              <a:rPr lang="en-US" sz="1060" b="1" dirty="0">
                <a:solidFill>
                  <a:srgbClr val="2D7A70"/>
                </a:solidFill>
                <a:latin typeface="標楷體" pitchFamily="34" charset="0"/>
                <a:ea typeface="標楷體" pitchFamily="34" charset="-122"/>
                <a:cs typeface="標楷體" pitchFamily="34" charset="-120"/>
              </a:rPr>
              <a:t>、</a:t>
            </a:r>
            <a:pPr algn="l" indent="0" marL="0">
              <a:buNone/>
            </a:pPr>
            <a:r>
              <a:rPr lang="en-US" sz="1060" b="1" dirty="0">
                <a:solidFill>
                  <a:srgbClr val="2D7A7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bit/s</a:t>
            </a:r>
            <a:pPr algn="l" indent="0" marL="0">
              <a:buNone/>
            </a:pPr>
            <a:r>
              <a:rPr lang="en-US" sz="1060" b="1" dirty="0">
                <a:solidFill>
                  <a:srgbClr val="2D7A70"/>
                </a:solidFill>
                <a:latin typeface="標楷體" pitchFamily="34" charset="0"/>
                <a:ea typeface="標楷體" pitchFamily="34" charset="-122"/>
                <a:cs typeface="標楷體" pitchFamily="34" charset="-120"/>
              </a:rPr>
              <a:t>、</a:t>
            </a:r>
            <a:pPr algn="l" indent="0" marL="0">
              <a:buNone/>
            </a:pPr>
            <a:r>
              <a:rPr lang="en-US" sz="1060" b="1" dirty="0">
                <a:solidFill>
                  <a:srgbClr val="2D7A7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bit/J </a:t>
            </a:r>
            <a:pPr algn="l" indent="0" marL="0">
              <a:buNone/>
            </a:pPr>
            <a:r>
              <a:rPr lang="en-US" sz="1060" b="1" dirty="0">
                <a:solidFill>
                  <a:srgbClr val="2D7A70"/>
                </a:solidFill>
                <a:latin typeface="標楷體" pitchFamily="34" charset="0"/>
                <a:ea typeface="標楷體" pitchFamily="34" charset="-122"/>
                <a:cs typeface="標楷體" pitchFamily="34" charset="-120"/>
              </a:rPr>
              <a:t>分開</a:t>
            </a:r>
            <a:endParaRPr lang="en-US" sz="1060" dirty="0"/>
          </a:p>
        </p:txBody>
      </p:sp>
      <p:sp>
        <p:nvSpPr>
          <p:cNvPr id="71" name="Shape 69"/>
          <p:cNvSpPr/>
          <p:nvPr/>
        </p:nvSpPr>
        <p:spPr>
          <a:xfrm>
            <a:off x="3840480" y="5458968"/>
            <a:ext cx="100584" cy="100584"/>
          </a:xfrm>
          <a:prstGeom prst="ellipse">
            <a:avLst/>
          </a:prstGeom>
          <a:solidFill>
            <a:srgbClr val="7257A1"/>
          </a:solidFill>
          <a:ln w="5080">
            <a:solidFill>
              <a:srgbClr val="7257A1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3995928" y="5468112"/>
            <a:ext cx="3822192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60" b="1" dirty="0">
                <a:solidFill>
                  <a:srgbClr val="7257A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DESIGN INFERENCE</a:t>
            </a:r>
            <a:pPr algn="l" indent="0" marL="0">
              <a:buNone/>
            </a:pPr>
            <a:r>
              <a:rPr lang="en-US" sz="1060" b="1" dirty="0">
                <a:solidFill>
                  <a:srgbClr val="7257A1"/>
                </a:solidFill>
                <a:latin typeface="標楷體" pitchFamily="34" charset="0"/>
                <a:ea typeface="標楷體" pitchFamily="34" charset="-122"/>
                <a:cs typeface="標楷體" pitchFamily="34" charset="-120"/>
              </a:rPr>
              <a:t>｜設計估計：</a:t>
            </a:r>
            <a:pPr algn="l" indent="0" marL="0">
              <a:buNone/>
            </a:pPr>
            <a:r>
              <a:rPr lang="en-US" sz="1060" b="1" dirty="0">
                <a:solidFill>
                  <a:srgbClr val="7257A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3–4 </a:t>
            </a:r>
            <a:pPr algn="l" indent="0" marL="0">
              <a:buNone/>
            </a:pPr>
            <a:r>
              <a:rPr lang="en-US" sz="1060" b="1" dirty="0">
                <a:solidFill>
                  <a:srgbClr val="7257A1"/>
                </a:solidFill>
                <a:latin typeface="標楷體" pitchFamily="34" charset="0"/>
                <a:ea typeface="標楷體" pitchFamily="34" charset="-122"/>
                <a:cs typeface="標楷體" pitchFamily="34" charset="-120"/>
              </a:rPr>
              <a:t>頁＋</a:t>
            </a:r>
            <a:pPr algn="l" indent="0" marL="0">
              <a:buNone/>
            </a:pPr>
            <a:r>
              <a:rPr lang="en-US" sz="1060" b="1" dirty="0">
                <a:solidFill>
                  <a:srgbClr val="7257A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 </a:t>
            </a:r>
            <a:pPr algn="l" indent="0" marL="0">
              <a:buNone/>
            </a:pPr>
            <a:r>
              <a:rPr lang="en-US" sz="1060" b="1" dirty="0">
                <a:solidFill>
                  <a:srgbClr val="7257A1"/>
                </a:solidFill>
                <a:latin typeface="標楷體" pitchFamily="34" charset="0"/>
                <a:ea typeface="標楷體" pitchFamily="34" charset="-122"/>
                <a:cs typeface="標楷體" pitchFamily="34" charset="-120"/>
              </a:rPr>
              <a:t>活動</a:t>
            </a:r>
            <a:endParaRPr lang="en-US" sz="1060" dirty="0"/>
          </a:p>
        </p:txBody>
      </p:sp>
      <p:sp>
        <p:nvSpPr>
          <p:cNvPr id="73" name="Shape 71"/>
          <p:cNvSpPr/>
          <p:nvPr/>
        </p:nvSpPr>
        <p:spPr>
          <a:xfrm>
            <a:off x="8001000" y="5458968"/>
            <a:ext cx="100584" cy="100584"/>
          </a:xfrm>
          <a:prstGeom prst="ellipse">
            <a:avLst/>
          </a:prstGeom>
          <a:solidFill>
            <a:srgbClr val="98514F"/>
          </a:solidFill>
          <a:ln w="5080">
            <a:solidFill>
              <a:srgbClr val="98514F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8156448" y="5468112"/>
            <a:ext cx="356616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60" b="1" dirty="0">
                <a:solidFill>
                  <a:srgbClr val="98514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UNKNOWN</a:t>
            </a:r>
            <a:pPr algn="l" indent="0" marL="0">
              <a:buNone/>
            </a:pPr>
            <a:r>
              <a:rPr lang="en-US" sz="1060" b="1" dirty="0">
                <a:solidFill>
                  <a:srgbClr val="98514F"/>
                </a:solidFill>
                <a:latin typeface="標楷體" pitchFamily="34" charset="0"/>
                <a:ea typeface="標楷體" pitchFamily="34" charset="-122"/>
                <a:cs typeface="標楷體" pitchFamily="34" charset="-120"/>
              </a:rPr>
              <a:t>｜</a:t>
            </a:r>
            <a:pPr algn="l" indent="0" marL="0">
              <a:buNone/>
            </a:pPr>
            <a:r>
              <a:rPr lang="en-US" sz="1060" b="1" dirty="0">
                <a:solidFill>
                  <a:srgbClr val="98514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cards</a:t>
            </a:r>
            <a:pPr algn="l" indent="0" marL="0">
              <a:buNone/>
            </a:pPr>
            <a:r>
              <a:rPr lang="en-US" sz="1060" b="1" dirty="0">
                <a:solidFill>
                  <a:srgbClr val="98514F"/>
                </a:solidFill>
                <a:latin typeface="標楷體" pitchFamily="34" charset="0"/>
                <a:ea typeface="標楷體" pitchFamily="34" charset="-122"/>
                <a:cs typeface="標楷體" pitchFamily="34" charset="-120"/>
              </a:rPr>
              <a:t>／</a:t>
            </a:r>
            <a:pPr algn="l" indent="0" marL="0">
              <a:buNone/>
            </a:pPr>
            <a:r>
              <a:rPr lang="en-US" sz="1060" b="1" dirty="0">
                <a:solidFill>
                  <a:srgbClr val="98514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story stakes</a:t>
            </a:r>
            <a:pPr algn="l" indent="0" marL="0">
              <a:buNone/>
            </a:pPr>
            <a:r>
              <a:rPr lang="en-US" sz="1060" b="1" dirty="0">
                <a:solidFill>
                  <a:srgbClr val="98514F"/>
                </a:solidFill>
                <a:latin typeface="標楷體" pitchFamily="34" charset="0"/>
                <a:ea typeface="標楷體" pitchFamily="34" charset="-122"/>
                <a:cs typeface="標楷體" pitchFamily="34" charset="-120"/>
              </a:rPr>
              <a:t>／</a:t>
            </a:r>
            <a:pPr algn="l" indent="0" marL="0">
              <a:buNone/>
            </a:pPr>
            <a:r>
              <a:rPr lang="en-US" sz="1060" b="1" dirty="0">
                <a:solidFill>
                  <a:srgbClr val="98514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novice timing </a:t>
            </a:r>
            <a:pPr algn="l" indent="0" marL="0">
              <a:buNone/>
            </a:pPr>
            <a:r>
              <a:rPr lang="en-US" sz="1060" b="1" dirty="0">
                <a:solidFill>
                  <a:srgbClr val="98514F"/>
                </a:solidFill>
                <a:latin typeface="標楷體" pitchFamily="34" charset="0"/>
                <a:ea typeface="標楷體" pitchFamily="34" charset="-122"/>
                <a:cs typeface="標楷體" pitchFamily="34" charset="-120"/>
              </a:rPr>
              <a:t>未驗證</a:t>
            </a:r>
            <a:endParaRPr lang="en-US" sz="106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34700" y="6340475"/>
            <a:ext cx="889000" cy="47625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400">
                <a:solidFill>
                  <a:srgbClr val="35377F"/>
                </a:solidFill>
                <a:latin typeface="Times New Roman"/>
                <a:ea typeface="Times New Roman"/>
                <a:cs typeface="Times New Roman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6591" y="187008"/>
            <a:ext cx="2176272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35377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10–18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2916936" y="265176"/>
            <a:ext cx="0" cy="310896"/>
          </a:xfrm>
          <a:prstGeom prst="line">
            <a:avLst/>
          </a:prstGeom>
          <a:noFill/>
          <a:ln w="19050">
            <a:solidFill>
              <a:srgbClr val="35377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136392" y="187008"/>
            <a:ext cx="6982968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35377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TLE </a:t>
            </a:r>
            <a:pPr algn="l" indent="0" marL="0">
              <a:buNone/>
            </a:pPr>
            <a:r>
              <a:rPr lang="en-US" sz="2800" b="1" dirty="0">
                <a:solidFill>
                  <a:srgbClr val="35377F"/>
                </a:solidFill>
                <a:latin typeface="標楷體" pitchFamily="34" charset="0"/>
                <a:ea typeface="標楷體" pitchFamily="34" charset="-122"/>
                <a:cs typeface="標楷體" pitchFamily="34" charset="-120"/>
              </a:rPr>
              <a:t>到</a:t>
            </a:r>
            <a:pPr algn="l" indent="0" marL="0">
              <a:buNone/>
            </a:pPr>
            <a:r>
              <a:rPr lang="en-US" sz="2800" b="1" dirty="0">
                <a:solidFill>
                  <a:srgbClr val="35377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NTPU</a:t>
            </a:r>
            <a:pPr algn="l" indent="0" marL="0">
              <a:buNone/>
            </a:pPr>
            <a:r>
              <a:rPr lang="en-US" sz="2800" b="1" dirty="0">
                <a:solidFill>
                  <a:srgbClr val="35377F"/>
                </a:solidFill>
                <a:latin typeface="標楷體" pitchFamily="34" charset="0"/>
                <a:ea typeface="標楷體" pitchFamily="34" charset="-122"/>
                <a:cs typeface="標楷體" pitchFamily="34" charset="-120"/>
              </a:rPr>
              <a:t>｜資料來源錨點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749808" y="969264"/>
            <a:ext cx="969264" cy="301752"/>
          </a:xfrm>
          <a:prstGeom prst="roundRect">
            <a:avLst/>
          </a:prstGeom>
          <a:solidFill>
            <a:srgbClr val="577F96"/>
          </a:solidFill>
          <a:ln w="10160">
            <a:solidFill>
              <a:srgbClr val="577F9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04672" y="987552"/>
            <a:ext cx="85953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20" b="1" dirty="0">
                <a:solidFill>
                  <a:srgbClr val="FFFFFF"/>
                </a:solidFill>
                <a:latin typeface="標楷體" pitchFamily="34" charset="0"/>
                <a:ea typeface="標楷體" pitchFamily="34" charset="-122"/>
                <a:cs typeface="標楷體" pitchFamily="34" charset="-120"/>
              </a:rPr>
              <a:t>核心問題</a:t>
            </a:r>
            <a:endParaRPr lang="en-US" sz="1220" dirty="0"/>
          </a:p>
        </p:txBody>
      </p:sp>
      <p:sp>
        <p:nvSpPr>
          <p:cNvPr id="7" name="Text 5"/>
          <p:cNvSpPr/>
          <p:nvPr/>
        </p:nvSpPr>
        <p:spPr>
          <a:xfrm>
            <a:off x="1883664" y="960120"/>
            <a:ext cx="65653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2430"/>
                </a:solidFill>
                <a:latin typeface="標楷體" pitchFamily="34" charset="0"/>
                <a:ea typeface="標楷體" pitchFamily="34" charset="-122"/>
                <a:cs typeface="標楷體" pitchFamily="34" charset="-120"/>
              </a:rPr>
              <a:t>來源、模型、課程假設，怎麼分？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8549640" y="964692"/>
            <a:ext cx="317296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80" b="1" dirty="0">
                <a:solidFill>
                  <a:srgbClr val="577F96"/>
                </a:solidFill>
                <a:latin typeface="標楷體" pitchFamily="34" charset="0"/>
                <a:ea typeface="標楷體" pitchFamily="34" charset="-122"/>
                <a:cs typeface="標楷體" pitchFamily="34" charset="-120"/>
              </a:rPr>
              <a:t>先分類｜</a:t>
            </a:r>
            <a:pPr algn="r" indent="0" marL="0">
              <a:buNone/>
            </a:pPr>
            <a:r>
              <a:rPr lang="en-US" sz="1380" b="1" dirty="0">
                <a:solidFill>
                  <a:srgbClr val="577F96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source</a:t>
            </a:r>
            <a:pPr algn="r" indent="0" marL="0">
              <a:buNone/>
            </a:pPr>
            <a:r>
              <a:rPr lang="en-US" sz="1380" b="1" dirty="0">
                <a:solidFill>
                  <a:srgbClr val="577F96"/>
                </a:solidFill>
                <a:latin typeface="標楷體" pitchFamily="34" charset="0"/>
                <a:ea typeface="標楷體" pitchFamily="34" charset="-122"/>
                <a:cs typeface="標楷體" pitchFamily="34" charset="-120"/>
              </a:rPr>
              <a:t>／</a:t>
            </a:r>
            <a:pPr algn="r" indent="0" marL="0">
              <a:buNone/>
            </a:pPr>
            <a:r>
              <a:rPr lang="en-US" sz="1380" b="1" dirty="0">
                <a:solidFill>
                  <a:srgbClr val="577F96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model</a:t>
            </a:r>
            <a:pPr algn="r" indent="0" marL="0">
              <a:buNone/>
            </a:pPr>
            <a:r>
              <a:rPr lang="en-US" sz="1380" b="1" dirty="0">
                <a:solidFill>
                  <a:srgbClr val="577F96"/>
                </a:solidFill>
                <a:latin typeface="標楷體" pitchFamily="34" charset="0"/>
                <a:ea typeface="標楷體" pitchFamily="34" charset="-122"/>
                <a:cs typeface="標楷體" pitchFamily="34" charset="-120"/>
              </a:rPr>
              <a:t>／</a:t>
            </a:r>
            <a:pPr algn="r" indent="0" marL="0">
              <a:buNone/>
            </a:pPr>
            <a:r>
              <a:rPr lang="en-US" sz="1380" b="1" dirty="0">
                <a:solidFill>
                  <a:srgbClr val="577F96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assumption</a:t>
            </a:r>
            <a:endParaRPr lang="en-US" sz="1380" dirty="0"/>
          </a:p>
        </p:txBody>
      </p:sp>
      <p:sp>
        <p:nvSpPr>
          <p:cNvPr id="9" name="Shape 7"/>
          <p:cNvSpPr/>
          <p:nvPr/>
        </p:nvSpPr>
        <p:spPr>
          <a:xfrm>
            <a:off x="749808" y="1353312"/>
            <a:ext cx="10972800" cy="0"/>
          </a:xfrm>
          <a:prstGeom prst="line">
            <a:avLst/>
          </a:prstGeom>
          <a:noFill/>
          <a:ln w="13335">
            <a:solidFill>
              <a:srgbClr val="577F9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877056" y="2148840"/>
            <a:ext cx="658368" cy="0"/>
          </a:xfrm>
          <a:prstGeom prst="line">
            <a:avLst/>
          </a:prstGeom>
          <a:noFill/>
          <a:ln w="22860">
            <a:solidFill>
              <a:srgbClr val="28AFC0"/>
            </a:solidFill>
            <a:prstDash val="solid"/>
            <a:headEnd type="none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749808" y="1572768"/>
            <a:ext cx="3127248" cy="1234440"/>
          </a:xfrm>
          <a:prstGeom prst="roundRect">
            <a:avLst/>
          </a:prstGeom>
          <a:solidFill>
            <a:srgbClr val="FFFFFF"/>
          </a:solidFill>
          <a:ln w="14605">
            <a:solidFill>
              <a:srgbClr val="28AFC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950976" y="1737360"/>
            <a:ext cx="1627632" cy="292608"/>
          </a:xfrm>
          <a:prstGeom prst="roundRect">
            <a:avLst/>
          </a:prstGeom>
          <a:solidFill>
            <a:srgbClr val="28AFC0"/>
          </a:solidFill>
          <a:ln w="10160">
            <a:solidFill>
              <a:srgbClr val="28AFC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005840" y="1755648"/>
            <a:ext cx="15179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4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SOURCE</a:t>
            </a:r>
            <a:endParaRPr lang="en-US" sz="1140" dirty="0"/>
          </a:p>
        </p:txBody>
      </p:sp>
      <p:sp>
        <p:nvSpPr>
          <p:cNvPr id="14" name="Text 12"/>
          <p:cNvSpPr/>
          <p:nvPr/>
        </p:nvSpPr>
        <p:spPr>
          <a:xfrm>
            <a:off x="969264" y="2121408"/>
            <a:ext cx="2688336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E243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pinned TLE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969264" y="2468880"/>
            <a:ext cx="268833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28AFC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epoch</a:t>
            </a:r>
            <a:pPr algn="ctr" indent="0" marL="0">
              <a:buNone/>
            </a:pPr>
            <a:r>
              <a:rPr lang="en-US" sz="1350" b="1" dirty="0">
                <a:solidFill>
                  <a:srgbClr val="28AFC0"/>
                </a:solidFill>
                <a:latin typeface="標楷體" pitchFamily="34" charset="0"/>
                <a:ea typeface="標楷體" pitchFamily="34" charset="-122"/>
                <a:cs typeface="標楷體" pitchFamily="34" charset="-120"/>
              </a:rPr>
              <a:t>／</a:t>
            </a:r>
            <a:pPr algn="ctr" indent="0" marL="0">
              <a:buNone/>
            </a:pPr>
            <a:r>
              <a:rPr lang="en-US" sz="1350" b="1" dirty="0">
                <a:solidFill>
                  <a:srgbClr val="28AFC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identity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7662672" y="2148840"/>
            <a:ext cx="658368" cy="0"/>
          </a:xfrm>
          <a:prstGeom prst="line">
            <a:avLst/>
          </a:prstGeom>
          <a:noFill/>
          <a:ln w="22860">
            <a:solidFill>
              <a:srgbClr val="28AFC0"/>
            </a:solidFill>
            <a:prstDash val="solid"/>
            <a:headEnd type="none"/>
            <a:tailEnd type="triangle"/>
          </a:ln>
        </p:spPr>
      </p:sp>
      <p:sp>
        <p:nvSpPr>
          <p:cNvPr id="17" name="Shape 15"/>
          <p:cNvSpPr/>
          <p:nvPr/>
        </p:nvSpPr>
        <p:spPr>
          <a:xfrm>
            <a:off x="4535424" y="1572768"/>
            <a:ext cx="3127248" cy="1234440"/>
          </a:xfrm>
          <a:prstGeom prst="roundRect">
            <a:avLst/>
          </a:prstGeom>
          <a:solidFill>
            <a:srgbClr val="FFFFFF"/>
          </a:solidFill>
          <a:ln w="14605">
            <a:solidFill>
              <a:srgbClr val="4EA978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736592" y="1737360"/>
            <a:ext cx="1627632" cy="292608"/>
          </a:xfrm>
          <a:prstGeom prst="roundRect">
            <a:avLst/>
          </a:prstGeom>
          <a:solidFill>
            <a:srgbClr val="4EA978"/>
          </a:solidFill>
          <a:ln w="10160">
            <a:solidFill>
              <a:srgbClr val="4EA978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791456" y="1755648"/>
            <a:ext cx="15179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4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MODEL-DERIVED</a:t>
            </a:r>
            <a:endParaRPr lang="en-US" sz="1140" dirty="0"/>
          </a:p>
        </p:txBody>
      </p:sp>
      <p:sp>
        <p:nvSpPr>
          <p:cNvPr id="20" name="Text 18"/>
          <p:cNvSpPr/>
          <p:nvPr/>
        </p:nvSpPr>
        <p:spPr>
          <a:xfrm>
            <a:off x="4754880" y="2121408"/>
            <a:ext cx="2688336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E243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NTPU service window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4754880" y="2468880"/>
            <a:ext cx="268833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4EA978"/>
                </a:solidFill>
                <a:latin typeface="標楷體" pitchFamily="34" charset="0"/>
                <a:ea typeface="標楷體" pitchFamily="34" charset="-122"/>
                <a:cs typeface="標楷體" pitchFamily="34" charset="-120"/>
              </a:rPr>
              <a:t>可服務的時間區間</a:t>
            </a:r>
            <a:endParaRPr lang="en-US" sz="1350" dirty="0"/>
          </a:p>
        </p:txBody>
      </p:sp>
      <p:sp>
        <p:nvSpPr>
          <p:cNvPr id="22" name="Shape 20"/>
          <p:cNvSpPr/>
          <p:nvPr/>
        </p:nvSpPr>
        <p:spPr>
          <a:xfrm>
            <a:off x="8321040" y="1572768"/>
            <a:ext cx="3401568" cy="1234440"/>
          </a:xfrm>
          <a:prstGeom prst="roundRect">
            <a:avLst/>
          </a:prstGeom>
          <a:solidFill>
            <a:srgbClr val="FFFFFF"/>
          </a:solidFill>
          <a:ln w="14605">
            <a:solidFill>
              <a:srgbClr val="8A70BF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8522208" y="1737360"/>
            <a:ext cx="1627632" cy="292608"/>
          </a:xfrm>
          <a:prstGeom prst="roundRect">
            <a:avLst/>
          </a:prstGeom>
          <a:solidFill>
            <a:srgbClr val="8A70BF"/>
          </a:solidFill>
          <a:ln w="10160">
            <a:solidFill>
              <a:srgbClr val="8A70B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577072" y="1755648"/>
            <a:ext cx="15179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4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COURSE ASSUMPTION</a:t>
            </a:r>
            <a:endParaRPr lang="en-US" sz="1140" dirty="0"/>
          </a:p>
        </p:txBody>
      </p:sp>
      <p:sp>
        <p:nvSpPr>
          <p:cNvPr id="25" name="Text 23"/>
          <p:cNvSpPr/>
          <p:nvPr/>
        </p:nvSpPr>
        <p:spPr>
          <a:xfrm>
            <a:off x="8540496" y="2121408"/>
            <a:ext cx="2962656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E243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traffic</a:t>
            </a:r>
            <a:pPr algn="ctr" indent="0" marL="0">
              <a:buNone/>
            </a:pPr>
            <a:r>
              <a:rPr lang="en-US" sz="1800" b="1" dirty="0">
                <a:solidFill>
                  <a:srgbClr val="1E2430"/>
                </a:solidFill>
                <a:latin typeface="標楷體" pitchFamily="34" charset="0"/>
                <a:ea typeface="標楷體" pitchFamily="34" charset="-122"/>
                <a:cs typeface="標楷體" pitchFamily="34" charset="-120"/>
              </a:rPr>
              <a:t>／</a:t>
            </a:r>
            <a:pPr algn="ctr" indent="0" marL="0">
              <a:buNone/>
            </a:pPr>
            <a:r>
              <a:rPr lang="en-US" sz="1800" b="1" dirty="0">
                <a:solidFill>
                  <a:srgbClr val="1E243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power</a:t>
            </a:r>
            <a:endParaRPr lang="en-US" sz="1800" dirty="0"/>
          </a:p>
        </p:txBody>
      </p:sp>
      <p:sp>
        <p:nvSpPr>
          <p:cNvPr id="26" name="Text 24"/>
          <p:cNvSpPr/>
          <p:nvPr/>
        </p:nvSpPr>
        <p:spPr>
          <a:xfrm>
            <a:off x="8540496" y="2468880"/>
            <a:ext cx="296265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8A70B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freshness</a:t>
            </a:r>
            <a:pPr algn="ctr" indent="0" marL="0">
              <a:buNone/>
            </a:pPr>
            <a:r>
              <a:rPr lang="en-US" sz="1350" b="1" dirty="0">
                <a:solidFill>
                  <a:srgbClr val="8A70BF"/>
                </a:solidFill>
                <a:latin typeface="標楷體" pitchFamily="34" charset="0"/>
                <a:ea typeface="標楷體" pitchFamily="34" charset="-122"/>
                <a:cs typeface="標楷體" pitchFamily="34" charset="-120"/>
              </a:rPr>
              <a:t>／</a:t>
            </a:r>
            <a:pPr algn="ctr" indent="0" marL="0">
              <a:buNone/>
            </a:pPr>
            <a:r>
              <a:rPr lang="en-US" sz="1350" b="1" dirty="0">
                <a:solidFill>
                  <a:srgbClr val="8A70B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deadline</a:t>
            </a:r>
            <a:endParaRPr lang="en-US" sz="1350" dirty="0"/>
          </a:p>
        </p:txBody>
      </p:sp>
      <p:sp>
        <p:nvSpPr>
          <p:cNvPr id="27" name="Text 25"/>
          <p:cNvSpPr/>
          <p:nvPr/>
        </p:nvSpPr>
        <p:spPr>
          <a:xfrm>
            <a:off x="1874520" y="2926080"/>
            <a:ext cx="8412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20" b="1" dirty="0">
                <a:solidFill>
                  <a:srgbClr val="577F96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same versioned scenario_id</a:t>
            </a:r>
            <a:endParaRPr lang="en-US" sz="1420" dirty="0"/>
          </a:p>
        </p:txBody>
      </p:sp>
      <p:sp>
        <p:nvSpPr>
          <p:cNvPr id="28" name="Shape 26"/>
          <p:cNvSpPr/>
          <p:nvPr/>
        </p:nvSpPr>
        <p:spPr>
          <a:xfrm>
            <a:off x="6099048" y="2816352"/>
            <a:ext cx="0" cy="393192"/>
          </a:xfrm>
          <a:prstGeom prst="line">
            <a:avLst/>
          </a:prstGeom>
          <a:noFill/>
          <a:ln w="19050">
            <a:solidFill>
              <a:srgbClr val="4EA978"/>
            </a:solidFill>
            <a:prstDash val="solid"/>
            <a:headEnd type="none"/>
            <a:tailEnd type="triangle"/>
          </a:ln>
        </p:spPr>
      </p:sp>
      <p:sp>
        <p:nvSpPr>
          <p:cNvPr id="29" name="Shape 27"/>
          <p:cNvSpPr/>
          <p:nvPr/>
        </p:nvSpPr>
        <p:spPr>
          <a:xfrm>
            <a:off x="749808" y="3273552"/>
            <a:ext cx="2304288" cy="603504"/>
          </a:xfrm>
          <a:prstGeom prst="rect">
            <a:avLst/>
          </a:prstGeom>
          <a:solidFill>
            <a:srgbClr val="F7F8FA"/>
          </a:solidFill>
          <a:ln w="10795">
            <a:solidFill>
              <a:srgbClr val="57788E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054096" y="3273552"/>
            <a:ext cx="5102352" cy="603504"/>
          </a:xfrm>
          <a:prstGeom prst="rect">
            <a:avLst/>
          </a:prstGeom>
          <a:solidFill>
            <a:srgbClr val="ECF7F1"/>
          </a:solidFill>
          <a:ln w="14605">
            <a:solidFill>
              <a:srgbClr val="4EA978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8156448" y="3273552"/>
            <a:ext cx="3566160" cy="603504"/>
          </a:xfrm>
          <a:prstGeom prst="rect">
            <a:avLst/>
          </a:prstGeom>
          <a:solidFill>
            <a:srgbClr val="F7F8FA"/>
          </a:solidFill>
          <a:ln w="10795">
            <a:solidFill>
              <a:srgbClr val="57788E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914400" y="3465576"/>
            <a:ext cx="19751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647187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OUTSIDE</a:t>
            </a:r>
            <a:endParaRPr lang="en-US" sz="1500" dirty="0"/>
          </a:p>
        </p:txBody>
      </p:sp>
      <p:sp>
        <p:nvSpPr>
          <p:cNvPr id="33" name="Text 31"/>
          <p:cNvSpPr/>
          <p:nvPr/>
        </p:nvSpPr>
        <p:spPr>
          <a:xfrm>
            <a:off x="3273552" y="3438144"/>
            <a:ext cx="4663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20" b="1" dirty="0">
                <a:solidFill>
                  <a:srgbClr val="2D7A7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LEGAL WINDOW</a:t>
            </a:r>
            <a:pPr algn="ctr" indent="0" marL="0">
              <a:buNone/>
            </a:pPr>
            <a:r>
              <a:rPr lang="en-US" sz="1720" b="1" dirty="0">
                <a:solidFill>
                  <a:srgbClr val="2D7A70"/>
                </a:solidFill>
                <a:latin typeface="標楷體" pitchFamily="34" charset="0"/>
                <a:ea typeface="標楷體" pitchFamily="34" charset="-122"/>
                <a:cs typeface="標楷體" pitchFamily="34" charset="-120"/>
              </a:rPr>
              <a:t>｜</a:t>
            </a:r>
            <a:pPr algn="ctr" indent="0" marL="0">
              <a:buNone/>
            </a:pPr>
            <a:r>
              <a:rPr lang="en-US" sz="1720" b="1" dirty="0">
                <a:solidFill>
                  <a:srgbClr val="2D7A7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send</a:t>
            </a:r>
            <a:pPr algn="ctr" indent="0" marL="0">
              <a:buNone/>
            </a:pPr>
            <a:r>
              <a:rPr lang="en-US" sz="1720" b="1" dirty="0">
                <a:solidFill>
                  <a:srgbClr val="2D7A70"/>
                </a:solidFill>
                <a:latin typeface="標楷體" pitchFamily="34" charset="0"/>
                <a:ea typeface="標楷體" pitchFamily="34" charset="-122"/>
                <a:cs typeface="標楷體" pitchFamily="34" charset="-120"/>
              </a:rPr>
              <a:t>／</a:t>
            </a:r>
            <a:pPr algn="ctr" indent="0" marL="0">
              <a:buNone/>
            </a:pPr>
            <a:r>
              <a:rPr lang="en-US" sz="1720" b="1" dirty="0">
                <a:solidFill>
                  <a:srgbClr val="2D7A7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wait</a:t>
            </a:r>
            <a:endParaRPr lang="en-US" sz="1720" dirty="0"/>
          </a:p>
        </p:txBody>
      </p:sp>
      <p:sp>
        <p:nvSpPr>
          <p:cNvPr id="34" name="Text 32"/>
          <p:cNvSpPr/>
          <p:nvPr/>
        </p:nvSpPr>
        <p:spPr>
          <a:xfrm>
            <a:off x="8339328" y="3465576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647187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OUTSIDE</a:t>
            </a:r>
            <a:endParaRPr lang="en-US" sz="1500" dirty="0"/>
          </a:p>
        </p:txBody>
      </p:sp>
      <p:sp>
        <p:nvSpPr>
          <p:cNvPr id="35" name="Shape 33"/>
          <p:cNvSpPr/>
          <p:nvPr/>
        </p:nvSpPr>
        <p:spPr>
          <a:xfrm>
            <a:off x="749808" y="4279392"/>
            <a:ext cx="10972800" cy="640080"/>
          </a:xfrm>
          <a:prstGeom prst="roundRect">
            <a:avLst/>
          </a:prstGeom>
          <a:solidFill>
            <a:srgbClr val="EEF5F8"/>
          </a:solidFill>
          <a:ln w="12065">
            <a:solidFill>
              <a:srgbClr val="577F96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868680" y="4370832"/>
            <a:ext cx="250545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80" b="1" dirty="0">
                <a:solidFill>
                  <a:srgbClr val="577F96"/>
                </a:solidFill>
                <a:latin typeface="標楷體" pitchFamily="34" charset="0"/>
                <a:ea typeface="標楷體" pitchFamily="34" charset="-122"/>
                <a:cs typeface="標楷體" pitchFamily="34" charset="-120"/>
              </a:rPr>
              <a:t>操作</a:t>
            </a:r>
            <a:endParaRPr lang="en-US" sz="1080" dirty="0"/>
          </a:p>
        </p:txBody>
      </p:sp>
      <p:sp>
        <p:nvSpPr>
          <p:cNvPr id="37" name="Text 35"/>
          <p:cNvSpPr/>
          <p:nvPr/>
        </p:nvSpPr>
        <p:spPr>
          <a:xfrm>
            <a:off x="868680" y="4562856"/>
            <a:ext cx="2505456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2430"/>
                </a:solidFill>
                <a:latin typeface="標楷體" pitchFamily="34" charset="0"/>
                <a:ea typeface="標楷體" pitchFamily="34" charset="-122"/>
                <a:cs typeface="標楷體" pitchFamily="34" charset="-120"/>
              </a:rPr>
              <a:t>排序</a:t>
            </a:r>
            <a:pPr algn="ctr" indent="0" marL="0">
              <a:buNone/>
            </a:pPr>
            <a:r>
              <a:rPr lang="en-US" sz="1300" b="1" dirty="0">
                <a:solidFill>
                  <a:srgbClr val="1E243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lineage</a:t>
            </a:r>
            <a:pPr algn="ctr" indent="0" marL="0">
              <a:buNone/>
            </a:pPr>
            <a:r>
              <a:rPr lang="en-US" sz="1300" b="1" dirty="0">
                <a:solidFill>
                  <a:srgbClr val="1E2430"/>
                </a:solidFill>
                <a:latin typeface="標楷體" pitchFamily="34" charset="0"/>
                <a:ea typeface="標楷體" pitchFamily="34" charset="-122"/>
                <a:cs typeface="標楷體" pitchFamily="34" charset="-120"/>
              </a:rPr>
              <a:t>＋檢查區間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3493008" y="4370832"/>
            <a:ext cx="0" cy="457200"/>
          </a:xfrm>
          <a:prstGeom prst="line">
            <a:avLst/>
          </a:prstGeom>
          <a:noFill/>
          <a:ln w="10160">
            <a:solidFill>
              <a:srgbClr val="D5DDE4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611880" y="4370832"/>
            <a:ext cx="250545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80" b="1" dirty="0">
                <a:solidFill>
                  <a:srgbClr val="577F96"/>
                </a:solidFill>
                <a:latin typeface="標楷體" pitchFamily="34" charset="0"/>
                <a:ea typeface="標楷體" pitchFamily="34" charset="-122"/>
                <a:cs typeface="標楷體" pitchFamily="34" charset="-120"/>
              </a:rPr>
              <a:t>證據</a:t>
            </a:r>
            <a:endParaRPr lang="en-US" sz="1080" dirty="0"/>
          </a:p>
        </p:txBody>
      </p:sp>
      <p:sp>
        <p:nvSpPr>
          <p:cNvPr id="40" name="Text 38"/>
          <p:cNvSpPr/>
          <p:nvPr/>
        </p:nvSpPr>
        <p:spPr>
          <a:xfrm>
            <a:off x="3611880" y="4562856"/>
            <a:ext cx="2505456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243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scenario_id</a:t>
            </a:r>
            <a:pPr algn="ctr" indent="0" marL="0">
              <a:buNone/>
            </a:pPr>
            <a:r>
              <a:rPr lang="en-US" sz="1300" b="1" dirty="0">
                <a:solidFill>
                  <a:srgbClr val="1E2430"/>
                </a:solidFill>
                <a:latin typeface="標楷體" pitchFamily="34" charset="0"/>
                <a:ea typeface="標楷體" pitchFamily="34" charset="-122"/>
                <a:cs typeface="標楷體" pitchFamily="34" charset="-120"/>
              </a:rPr>
              <a:t>＋合法窗口</a:t>
            </a:r>
            <a:endParaRPr lang="en-US" sz="1300" dirty="0"/>
          </a:p>
        </p:txBody>
      </p:sp>
      <p:sp>
        <p:nvSpPr>
          <p:cNvPr id="41" name="Shape 39"/>
          <p:cNvSpPr/>
          <p:nvPr/>
        </p:nvSpPr>
        <p:spPr>
          <a:xfrm>
            <a:off x="6236208" y="4370832"/>
            <a:ext cx="0" cy="457200"/>
          </a:xfrm>
          <a:prstGeom prst="line">
            <a:avLst/>
          </a:prstGeom>
          <a:noFill/>
          <a:ln w="10160">
            <a:solidFill>
              <a:srgbClr val="D5DDE4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355080" y="4370832"/>
            <a:ext cx="250545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80" b="1" dirty="0">
                <a:solidFill>
                  <a:srgbClr val="577F96"/>
                </a:solidFill>
                <a:latin typeface="標楷體" pitchFamily="34" charset="0"/>
                <a:ea typeface="標楷體" pitchFamily="34" charset="-122"/>
                <a:cs typeface="標楷體" pitchFamily="34" charset="-120"/>
              </a:rPr>
              <a:t>意義</a:t>
            </a:r>
            <a:endParaRPr lang="en-US" sz="1080" dirty="0"/>
          </a:p>
        </p:txBody>
      </p:sp>
      <p:sp>
        <p:nvSpPr>
          <p:cNvPr id="43" name="Text 41"/>
          <p:cNvSpPr/>
          <p:nvPr/>
        </p:nvSpPr>
        <p:spPr>
          <a:xfrm>
            <a:off x="6355080" y="4562856"/>
            <a:ext cx="2505456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243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window </a:t>
            </a:r>
            <a:pPr algn="ctr" indent="0" marL="0">
              <a:buNone/>
            </a:pPr>
            <a:r>
              <a:rPr lang="en-US" sz="1300" b="1" dirty="0">
                <a:solidFill>
                  <a:srgbClr val="1E2430"/>
                </a:solidFill>
                <a:latin typeface="標楷體" pitchFamily="34" charset="0"/>
                <a:ea typeface="標楷體" pitchFamily="34" charset="-122"/>
                <a:cs typeface="標楷體" pitchFamily="34" charset="-120"/>
              </a:rPr>
              <a:t>限制行動</a:t>
            </a:r>
            <a:endParaRPr lang="en-US" sz="1300" dirty="0"/>
          </a:p>
        </p:txBody>
      </p:sp>
      <p:sp>
        <p:nvSpPr>
          <p:cNvPr id="44" name="Shape 42"/>
          <p:cNvSpPr/>
          <p:nvPr/>
        </p:nvSpPr>
        <p:spPr>
          <a:xfrm>
            <a:off x="8979408" y="4370832"/>
            <a:ext cx="0" cy="457200"/>
          </a:xfrm>
          <a:prstGeom prst="line">
            <a:avLst/>
          </a:prstGeom>
          <a:noFill/>
          <a:ln w="10160">
            <a:solidFill>
              <a:srgbClr val="D5DDE4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9098280" y="4370832"/>
            <a:ext cx="250545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80" b="1" dirty="0">
                <a:solidFill>
                  <a:srgbClr val="577F96"/>
                </a:solidFill>
                <a:latin typeface="標楷體" pitchFamily="34" charset="0"/>
                <a:ea typeface="標楷體" pitchFamily="34" charset="-122"/>
                <a:cs typeface="標楷體" pitchFamily="34" charset="-120"/>
              </a:rPr>
              <a:t>回復</a:t>
            </a:r>
            <a:endParaRPr lang="en-US" sz="1080" dirty="0"/>
          </a:p>
        </p:txBody>
      </p:sp>
      <p:sp>
        <p:nvSpPr>
          <p:cNvPr id="46" name="Text 44"/>
          <p:cNvSpPr/>
          <p:nvPr/>
        </p:nvSpPr>
        <p:spPr>
          <a:xfrm>
            <a:off x="9098280" y="4562856"/>
            <a:ext cx="2505456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243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resume</a:t>
            </a:r>
            <a:pPr algn="ctr" indent="0" marL="0">
              <a:buNone/>
            </a:pPr>
            <a:r>
              <a:rPr lang="en-US" sz="1300" b="1" dirty="0">
                <a:solidFill>
                  <a:srgbClr val="1E2430"/>
                </a:solidFill>
                <a:latin typeface="標楷體" pitchFamily="34" charset="0"/>
                <a:ea typeface="標楷體" pitchFamily="34" charset="-122"/>
                <a:cs typeface="標楷體" pitchFamily="34" charset="-120"/>
              </a:rPr>
              <a:t>／</a:t>
            </a:r>
            <a:pPr algn="ctr" indent="0" marL="0">
              <a:buNone/>
            </a:pPr>
            <a:r>
              <a:rPr lang="en-US" sz="1300" b="1" dirty="0">
                <a:solidFill>
                  <a:srgbClr val="1E243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fallback</a:t>
            </a:r>
            <a:endParaRPr lang="en-US" sz="1300" dirty="0"/>
          </a:p>
        </p:txBody>
      </p:sp>
      <p:sp>
        <p:nvSpPr>
          <p:cNvPr id="47" name="Text 45"/>
          <p:cNvSpPr/>
          <p:nvPr/>
        </p:nvSpPr>
        <p:spPr>
          <a:xfrm>
            <a:off x="877824" y="5001768"/>
            <a:ext cx="10716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30" b="1" dirty="0">
                <a:solidFill>
                  <a:srgbClr val="647187"/>
                </a:solidFill>
                <a:latin typeface="標楷體" pitchFamily="34" charset="0"/>
                <a:ea typeface="標楷體" pitchFamily="34" charset="-122"/>
                <a:cs typeface="標楷體" pitchFamily="34" charset="-120"/>
              </a:rPr>
              <a:t>後續只沿同一</a:t>
            </a:r>
            <a:pPr algn="ctr" indent="0" marL="0">
              <a:buNone/>
            </a:pPr>
            <a:r>
              <a:rPr lang="en-US" sz="1230" b="1" dirty="0">
                <a:solidFill>
                  <a:srgbClr val="647187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identity </a:t>
            </a:r>
            <a:pPr algn="ctr" indent="0" marL="0">
              <a:buNone/>
            </a:pPr>
            <a:r>
              <a:rPr lang="en-US" sz="1230" b="1" dirty="0">
                <a:solidFill>
                  <a:srgbClr val="647187"/>
                </a:solidFill>
                <a:latin typeface="標楷體" pitchFamily="34" charset="0"/>
                <a:ea typeface="標楷體" pitchFamily="34" charset="-122"/>
                <a:cs typeface="標楷體" pitchFamily="34" charset="-120"/>
              </a:rPr>
              <a:t>進入</a:t>
            </a:r>
            <a:pPr algn="ctr" indent="0" marL="0">
              <a:buNone/>
            </a:pPr>
            <a:r>
              <a:rPr lang="en-US" sz="1230" b="1" dirty="0">
                <a:solidFill>
                  <a:srgbClr val="647187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Lab A</a:t>
            </a:r>
            <a:pPr algn="ctr" indent="0" marL="0">
              <a:buNone/>
            </a:pPr>
            <a:r>
              <a:rPr lang="en-US" sz="1230" b="1" dirty="0">
                <a:solidFill>
                  <a:srgbClr val="647187"/>
                </a:solidFill>
                <a:latin typeface="標楷體" pitchFamily="34" charset="0"/>
                <a:ea typeface="標楷體" pitchFamily="34" charset="-122"/>
                <a:cs typeface="標楷體" pitchFamily="34" charset="-120"/>
              </a:rPr>
              <a:t>／</a:t>
            </a:r>
            <a:pPr algn="ctr" indent="0" marL="0">
              <a:buNone/>
            </a:pPr>
            <a:r>
              <a:rPr lang="en-US" sz="1230" b="1" dirty="0">
                <a:solidFill>
                  <a:srgbClr val="647187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</a:t>
            </a:r>
            <a:pPr algn="ctr" indent="0" marL="0">
              <a:buNone/>
            </a:pPr>
            <a:r>
              <a:rPr lang="en-US" sz="1230" b="1" dirty="0">
                <a:solidFill>
                  <a:srgbClr val="647187"/>
                </a:solidFill>
                <a:latin typeface="標楷體" pitchFamily="34" charset="0"/>
                <a:ea typeface="標楷體" pitchFamily="34" charset="-122"/>
                <a:cs typeface="標楷體" pitchFamily="34" charset="-120"/>
              </a:rPr>
              <a:t>／</a:t>
            </a:r>
            <a:pPr algn="ctr" indent="0" marL="0">
              <a:buNone/>
            </a:pPr>
            <a:r>
              <a:rPr lang="en-US" sz="1230" b="1" dirty="0">
                <a:solidFill>
                  <a:srgbClr val="647187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</a:t>
            </a:r>
            <a:pPr algn="ctr" indent="0" marL="0">
              <a:buNone/>
            </a:pPr>
            <a:r>
              <a:rPr lang="en-US" sz="1230" b="1" dirty="0">
                <a:solidFill>
                  <a:srgbClr val="647187"/>
                </a:solidFill>
                <a:latin typeface="標楷體" pitchFamily="34" charset="0"/>
                <a:ea typeface="標楷體" pitchFamily="34" charset="-122"/>
                <a:cs typeface="標楷體" pitchFamily="34" charset="-120"/>
              </a:rPr>
              <a:t>、</a:t>
            </a:r>
            <a:pPr algn="ctr" indent="0" marL="0">
              <a:buNone/>
            </a:pPr>
            <a:r>
              <a:rPr lang="en-US" sz="1230" b="1" dirty="0">
                <a:solidFill>
                  <a:srgbClr val="647187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clinic </a:t>
            </a:r>
            <a:pPr algn="ctr" indent="0" marL="0">
              <a:buNone/>
            </a:pPr>
            <a:r>
              <a:rPr lang="en-US" sz="1230" b="1" dirty="0">
                <a:solidFill>
                  <a:srgbClr val="647187"/>
                </a:solidFill>
                <a:latin typeface="標楷體" pitchFamily="34" charset="0"/>
                <a:ea typeface="標楷體" pitchFamily="34" charset="-122"/>
                <a:cs typeface="標楷體" pitchFamily="34" charset="-120"/>
              </a:rPr>
              <a:t>與</a:t>
            </a:r>
            <a:pPr algn="ctr" indent="0" marL="0">
              <a:buNone/>
            </a:pPr>
            <a:r>
              <a:rPr lang="en-US" sz="1230" b="1" dirty="0">
                <a:solidFill>
                  <a:srgbClr val="647187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Workbook</a:t>
            </a:r>
            <a:endParaRPr lang="en-US" sz="1230" dirty="0"/>
          </a:p>
        </p:txBody>
      </p:sp>
      <p:sp>
        <p:nvSpPr>
          <p:cNvPr id="48" name="Shape 46"/>
          <p:cNvSpPr/>
          <p:nvPr/>
        </p:nvSpPr>
        <p:spPr>
          <a:xfrm>
            <a:off x="749808" y="5349240"/>
            <a:ext cx="10972800" cy="0"/>
          </a:xfrm>
          <a:prstGeom prst="line">
            <a:avLst/>
          </a:prstGeom>
          <a:noFill/>
          <a:ln w="12700">
            <a:solidFill>
              <a:srgbClr val="D5DDE4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3749040" y="5440680"/>
            <a:ext cx="0" cy="457200"/>
          </a:xfrm>
          <a:prstGeom prst="line">
            <a:avLst/>
          </a:prstGeom>
          <a:noFill/>
          <a:ln w="10160">
            <a:solidFill>
              <a:srgbClr val="D5DDE4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7909560" y="5440680"/>
            <a:ext cx="0" cy="457200"/>
          </a:xfrm>
          <a:prstGeom prst="line">
            <a:avLst/>
          </a:prstGeom>
          <a:noFill/>
          <a:ln w="10160">
            <a:solidFill>
              <a:srgbClr val="D5DDE4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749808" y="5458968"/>
            <a:ext cx="100584" cy="100584"/>
          </a:xfrm>
          <a:prstGeom prst="ellipse">
            <a:avLst/>
          </a:prstGeom>
          <a:solidFill>
            <a:srgbClr val="2D7A70"/>
          </a:solidFill>
          <a:ln w="5080">
            <a:solidFill>
              <a:srgbClr val="2D7A70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905256" y="5468112"/>
            <a:ext cx="2770632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60" b="1" dirty="0">
                <a:solidFill>
                  <a:srgbClr val="2D7A7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FACT</a:t>
            </a:r>
            <a:pPr algn="l" indent="0" marL="0">
              <a:buNone/>
            </a:pPr>
            <a:r>
              <a:rPr lang="en-US" sz="1060" b="1" dirty="0">
                <a:solidFill>
                  <a:srgbClr val="2D7A70"/>
                </a:solidFill>
                <a:latin typeface="標楷體" pitchFamily="34" charset="0"/>
                <a:ea typeface="標楷體" pitchFamily="34" charset="-122"/>
                <a:cs typeface="標楷體" pitchFamily="34" charset="-120"/>
              </a:rPr>
              <a:t>｜</a:t>
            </a:r>
            <a:pPr algn="l" indent="0" marL="0">
              <a:buNone/>
            </a:pPr>
            <a:r>
              <a:rPr lang="en-US" sz="1060" b="1" dirty="0">
                <a:solidFill>
                  <a:srgbClr val="2D7A7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TLE </a:t>
            </a:r>
            <a:pPr algn="l" indent="0" marL="0">
              <a:buNone/>
            </a:pPr>
            <a:r>
              <a:rPr lang="en-US" sz="1060" b="1" dirty="0">
                <a:solidFill>
                  <a:srgbClr val="2D7A70"/>
                </a:solidFill>
                <a:latin typeface="標楷體" pitchFamily="34" charset="0"/>
                <a:ea typeface="標楷體" pitchFamily="34" charset="-122"/>
                <a:cs typeface="標楷體" pitchFamily="34" charset="-120"/>
              </a:rPr>
              <a:t>不含</a:t>
            </a:r>
            <a:pPr algn="l" indent="0" marL="0">
              <a:buNone/>
            </a:pPr>
            <a:r>
              <a:rPr lang="en-US" sz="1060" b="1" dirty="0">
                <a:solidFill>
                  <a:srgbClr val="2D7A7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power</a:t>
            </a:r>
            <a:pPr algn="l" indent="0" marL="0">
              <a:buNone/>
            </a:pPr>
            <a:r>
              <a:rPr lang="en-US" sz="1060" b="1" dirty="0">
                <a:solidFill>
                  <a:srgbClr val="2D7A70"/>
                </a:solidFill>
                <a:latin typeface="標楷體" pitchFamily="34" charset="0"/>
                <a:ea typeface="標楷體" pitchFamily="34" charset="-122"/>
                <a:cs typeface="標楷體" pitchFamily="34" charset="-120"/>
              </a:rPr>
              <a:t>／</a:t>
            </a:r>
            <a:pPr algn="l" indent="0" marL="0">
              <a:buNone/>
            </a:pPr>
            <a:r>
              <a:rPr lang="en-US" sz="1060" b="1" dirty="0">
                <a:solidFill>
                  <a:srgbClr val="2D7A7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traffic</a:t>
            </a:r>
            <a:pPr algn="l" indent="0" marL="0">
              <a:buNone/>
            </a:pPr>
            <a:r>
              <a:rPr lang="en-US" sz="1060" b="1" dirty="0">
                <a:solidFill>
                  <a:srgbClr val="2D7A70"/>
                </a:solidFill>
                <a:latin typeface="標楷體" pitchFamily="34" charset="0"/>
                <a:ea typeface="標楷體" pitchFamily="34" charset="-122"/>
                <a:cs typeface="標楷體" pitchFamily="34" charset="-120"/>
              </a:rPr>
              <a:t>／</a:t>
            </a:r>
            <a:pPr algn="l" indent="0" marL="0">
              <a:buNone/>
            </a:pPr>
            <a:r>
              <a:rPr lang="en-US" sz="1060" b="1" dirty="0">
                <a:solidFill>
                  <a:srgbClr val="2D7A7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energy</a:t>
            </a:r>
            <a:endParaRPr lang="en-US" sz="1060" dirty="0"/>
          </a:p>
        </p:txBody>
      </p:sp>
      <p:sp>
        <p:nvSpPr>
          <p:cNvPr id="53" name="Shape 51"/>
          <p:cNvSpPr/>
          <p:nvPr/>
        </p:nvSpPr>
        <p:spPr>
          <a:xfrm>
            <a:off x="3840480" y="5458968"/>
            <a:ext cx="100584" cy="100584"/>
          </a:xfrm>
          <a:prstGeom prst="ellipse">
            <a:avLst/>
          </a:prstGeom>
          <a:solidFill>
            <a:srgbClr val="7257A1"/>
          </a:solidFill>
          <a:ln w="5080">
            <a:solidFill>
              <a:srgbClr val="7257A1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3995928" y="5468112"/>
            <a:ext cx="3822192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60" b="1" dirty="0">
                <a:solidFill>
                  <a:srgbClr val="7257A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DESIGN INFERENCE</a:t>
            </a:r>
            <a:pPr algn="l" indent="0" marL="0">
              <a:buNone/>
            </a:pPr>
            <a:r>
              <a:rPr lang="en-US" sz="1060" b="1" dirty="0">
                <a:solidFill>
                  <a:srgbClr val="7257A1"/>
                </a:solidFill>
                <a:latin typeface="標楷體" pitchFamily="34" charset="0"/>
                <a:ea typeface="標楷體" pitchFamily="34" charset="-122"/>
                <a:cs typeface="標楷體" pitchFamily="34" charset="-120"/>
              </a:rPr>
              <a:t>｜設計估計：</a:t>
            </a:r>
            <a:pPr algn="l" indent="0" marL="0">
              <a:buNone/>
            </a:pPr>
            <a:r>
              <a:rPr lang="en-US" sz="1060" b="1" dirty="0">
                <a:solidFill>
                  <a:srgbClr val="7257A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3–4 </a:t>
            </a:r>
            <a:pPr algn="l" indent="0" marL="0">
              <a:buNone/>
            </a:pPr>
            <a:r>
              <a:rPr lang="en-US" sz="1060" b="1" dirty="0">
                <a:solidFill>
                  <a:srgbClr val="7257A1"/>
                </a:solidFill>
                <a:latin typeface="標楷體" pitchFamily="34" charset="0"/>
                <a:ea typeface="標楷體" pitchFamily="34" charset="-122"/>
                <a:cs typeface="標楷體" pitchFamily="34" charset="-120"/>
              </a:rPr>
              <a:t>頁＋</a:t>
            </a:r>
            <a:pPr algn="l" indent="0" marL="0">
              <a:buNone/>
            </a:pPr>
            <a:r>
              <a:rPr lang="en-US" sz="1060" b="1" dirty="0">
                <a:solidFill>
                  <a:srgbClr val="7257A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 </a:t>
            </a:r>
            <a:pPr algn="l" indent="0" marL="0">
              <a:buNone/>
            </a:pPr>
            <a:r>
              <a:rPr lang="en-US" sz="1060" b="1" dirty="0">
                <a:solidFill>
                  <a:srgbClr val="7257A1"/>
                </a:solidFill>
                <a:latin typeface="標楷體" pitchFamily="34" charset="0"/>
                <a:ea typeface="標楷體" pitchFamily="34" charset="-122"/>
                <a:cs typeface="標楷體" pitchFamily="34" charset="-120"/>
              </a:rPr>
              <a:t>操作</a:t>
            </a:r>
            <a:endParaRPr lang="en-US" sz="1060" dirty="0"/>
          </a:p>
        </p:txBody>
      </p:sp>
      <p:sp>
        <p:nvSpPr>
          <p:cNvPr id="55" name="Shape 53"/>
          <p:cNvSpPr/>
          <p:nvPr/>
        </p:nvSpPr>
        <p:spPr>
          <a:xfrm>
            <a:off x="8001000" y="5458968"/>
            <a:ext cx="100584" cy="100584"/>
          </a:xfrm>
          <a:prstGeom prst="ellipse">
            <a:avLst/>
          </a:prstGeom>
          <a:solidFill>
            <a:srgbClr val="98514F"/>
          </a:solidFill>
          <a:ln w="5080">
            <a:solidFill>
              <a:srgbClr val="98514F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8156448" y="5468112"/>
            <a:ext cx="356616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60" b="1" dirty="0">
                <a:solidFill>
                  <a:srgbClr val="98514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UNKNOWN</a:t>
            </a:r>
            <a:pPr algn="l" indent="0" marL="0">
              <a:buNone/>
            </a:pPr>
            <a:r>
              <a:rPr lang="en-US" sz="1060" b="1" dirty="0">
                <a:solidFill>
                  <a:srgbClr val="98514F"/>
                </a:solidFill>
                <a:latin typeface="標楷體" pitchFamily="34" charset="0"/>
                <a:ea typeface="標楷體" pitchFamily="34" charset="-122"/>
                <a:cs typeface="標楷體" pitchFamily="34" charset="-120"/>
              </a:rPr>
              <a:t>｜</a:t>
            </a:r>
            <a:pPr algn="l" indent="0" marL="0">
              <a:buNone/>
            </a:pPr>
            <a:r>
              <a:rPr lang="en-US" sz="1060" b="1" dirty="0">
                <a:solidFill>
                  <a:srgbClr val="98514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scenario seam</a:t>
            </a:r>
            <a:pPr algn="l" indent="0" marL="0">
              <a:buNone/>
            </a:pPr>
            <a:r>
              <a:rPr lang="en-US" sz="1060" b="1" dirty="0">
                <a:solidFill>
                  <a:srgbClr val="98514F"/>
                </a:solidFill>
                <a:latin typeface="標楷體" pitchFamily="34" charset="0"/>
                <a:ea typeface="標楷體" pitchFamily="34" charset="-122"/>
                <a:cs typeface="標楷體" pitchFamily="34" charset="-120"/>
              </a:rPr>
              <a:t>／</a:t>
            </a:r>
            <a:pPr algn="l" indent="0" marL="0">
              <a:buNone/>
            </a:pPr>
            <a:r>
              <a:rPr lang="en-US" sz="1060" b="1" dirty="0">
                <a:solidFill>
                  <a:srgbClr val="98514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fallback </a:t>
            </a:r>
            <a:pPr algn="l" indent="0" marL="0">
              <a:buNone/>
            </a:pPr>
            <a:r>
              <a:rPr lang="en-US" sz="1060" b="1" dirty="0">
                <a:solidFill>
                  <a:srgbClr val="98514F"/>
                </a:solidFill>
                <a:latin typeface="標楷體" pitchFamily="34" charset="0"/>
                <a:ea typeface="標楷體" pitchFamily="34" charset="-122"/>
                <a:cs typeface="標楷體" pitchFamily="34" charset="-120"/>
              </a:rPr>
              <a:t>未驗證</a:t>
            </a:r>
            <a:endParaRPr lang="en-US" sz="106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34700" y="6340475"/>
            <a:ext cx="889000" cy="47625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400">
                <a:solidFill>
                  <a:srgbClr val="35377F"/>
                </a:solidFill>
                <a:latin typeface="Times New Roman"/>
                <a:ea typeface="Times New Roman"/>
                <a:cs typeface="Times New Roman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6591" y="187008"/>
            <a:ext cx="2176272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35377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18–41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2916936" y="265176"/>
            <a:ext cx="0" cy="310896"/>
          </a:xfrm>
          <a:prstGeom prst="line">
            <a:avLst/>
          </a:prstGeom>
          <a:noFill/>
          <a:ln w="19050">
            <a:solidFill>
              <a:srgbClr val="35377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136392" y="187008"/>
            <a:ext cx="6982968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35377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Lab A</a:t>
            </a:r>
            <a:pPr algn="l" indent="0" marL="0">
              <a:buNone/>
            </a:pPr>
            <a:r>
              <a:rPr lang="en-US" sz="2800" b="1" dirty="0">
                <a:solidFill>
                  <a:srgbClr val="35377F"/>
                </a:solidFill>
                <a:latin typeface="標楷體" pitchFamily="34" charset="0"/>
                <a:ea typeface="標楷體" pitchFamily="34" charset="-122"/>
                <a:cs typeface="標楷體" pitchFamily="34" charset="-120"/>
              </a:rPr>
              <a:t>｜同一任務，不同節奏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749808" y="969264"/>
            <a:ext cx="969264" cy="301752"/>
          </a:xfrm>
          <a:prstGeom prst="roundRect">
            <a:avLst/>
          </a:prstGeom>
          <a:solidFill>
            <a:srgbClr val="8064AE"/>
          </a:solidFill>
          <a:ln w="10160">
            <a:solidFill>
              <a:srgbClr val="8064A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04672" y="987552"/>
            <a:ext cx="85953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20" b="1" dirty="0">
                <a:solidFill>
                  <a:srgbClr val="FFFFFF"/>
                </a:solidFill>
                <a:latin typeface="標楷體" pitchFamily="34" charset="0"/>
                <a:ea typeface="標楷體" pitchFamily="34" charset="-122"/>
                <a:cs typeface="標楷體" pitchFamily="34" charset="-120"/>
              </a:rPr>
              <a:t>核心問題</a:t>
            </a:r>
            <a:endParaRPr lang="en-US" sz="1220" dirty="0"/>
          </a:p>
        </p:txBody>
      </p:sp>
      <p:sp>
        <p:nvSpPr>
          <p:cNvPr id="7" name="Text 5"/>
          <p:cNvSpPr/>
          <p:nvPr/>
        </p:nvSpPr>
        <p:spPr>
          <a:xfrm>
            <a:off x="1883664" y="960120"/>
            <a:ext cx="65653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2430"/>
                </a:solidFill>
                <a:latin typeface="標楷體" pitchFamily="34" charset="0"/>
                <a:ea typeface="標楷體" pitchFamily="34" charset="-122"/>
                <a:cs typeface="標楷體" pitchFamily="34" charset="-120"/>
              </a:rPr>
              <a:t>低</a:t>
            </a:r>
            <a:pPr algn="l" indent="0" marL="0">
              <a:buNone/>
            </a:pPr>
            <a:r>
              <a:rPr lang="en-US" sz="2000" b="1" dirty="0">
                <a:solidFill>
                  <a:srgbClr val="1E243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W </a:t>
            </a:r>
            <a:pPr algn="l" indent="0" marL="0">
              <a:buNone/>
            </a:pPr>
            <a:r>
              <a:rPr lang="en-US" sz="2000" b="1" dirty="0">
                <a:solidFill>
                  <a:srgbClr val="1E2430"/>
                </a:solidFill>
                <a:latin typeface="標楷體" pitchFamily="34" charset="0"/>
                <a:ea typeface="標楷體" pitchFamily="34" charset="-122"/>
                <a:cs typeface="標楷體" pitchFamily="34" charset="-120"/>
              </a:rPr>
              <a:t>或最快，哪個更少</a:t>
            </a:r>
            <a:pPr algn="l" indent="0" marL="0">
              <a:buNone/>
            </a:pPr>
            <a:r>
              <a:rPr lang="en-US" sz="2000" b="1" dirty="0">
                <a:solidFill>
                  <a:srgbClr val="1E243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J</a:t>
            </a:r>
            <a:pPr algn="l" indent="0" marL="0">
              <a:buNone/>
            </a:pPr>
            <a:r>
              <a:rPr lang="en-US" sz="2000" b="1" dirty="0">
                <a:solidFill>
                  <a:srgbClr val="1E2430"/>
                </a:solidFill>
                <a:latin typeface="標楷體" pitchFamily="34" charset="0"/>
                <a:ea typeface="標楷體" pitchFamily="34" charset="-122"/>
                <a:cs typeface="標楷體" pitchFamily="34" charset="-120"/>
              </a:rPr>
              <a:t>？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8549640" y="964692"/>
            <a:ext cx="317296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80" b="1" dirty="0">
                <a:solidFill>
                  <a:srgbClr val="8064AE"/>
                </a:solidFill>
                <a:latin typeface="標楷體" pitchFamily="34" charset="0"/>
                <a:ea typeface="標楷體" pitchFamily="34" charset="-122"/>
                <a:cs typeface="標楷體" pitchFamily="34" charset="-120"/>
              </a:rPr>
              <a:t>先預測｜</a:t>
            </a:r>
            <a:pPr algn="r" indent="0" marL="0">
              <a:buNone/>
            </a:pPr>
            <a:r>
              <a:rPr lang="en-US" sz="1380" b="1" dirty="0">
                <a:solidFill>
                  <a:srgbClr val="8064A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pace</a:t>
            </a:r>
            <a:pPr algn="r" indent="0" marL="0">
              <a:buNone/>
            </a:pPr>
            <a:r>
              <a:rPr lang="en-US" sz="1380" b="1" dirty="0">
                <a:solidFill>
                  <a:srgbClr val="8064AE"/>
                </a:solidFill>
                <a:latin typeface="標楷體" pitchFamily="34" charset="0"/>
                <a:ea typeface="標楷體" pitchFamily="34" charset="-122"/>
                <a:cs typeface="標楷體" pitchFamily="34" charset="-120"/>
              </a:rPr>
              <a:t>／</a:t>
            </a:r>
            <a:pPr algn="r" indent="0" marL="0">
              <a:buNone/>
            </a:pPr>
            <a:r>
              <a:rPr lang="en-US" sz="1380" b="1" dirty="0">
                <a:solidFill>
                  <a:srgbClr val="8064A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balanced</a:t>
            </a:r>
            <a:pPr algn="r" indent="0" marL="0">
              <a:buNone/>
            </a:pPr>
            <a:r>
              <a:rPr lang="en-US" sz="1380" b="1" dirty="0">
                <a:solidFill>
                  <a:srgbClr val="8064AE"/>
                </a:solidFill>
                <a:latin typeface="標楷體" pitchFamily="34" charset="0"/>
                <a:ea typeface="標楷體" pitchFamily="34" charset="-122"/>
                <a:cs typeface="標楷體" pitchFamily="34" charset="-120"/>
              </a:rPr>
              <a:t>／</a:t>
            </a:r>
            <a:pPr algn="r" indent="0" marL="0">
              <a:buNone/>
            </a:pPr>
            <a:r>
              <a:rPr lang="en-US" sz="1380" b="1" dirty="0">
                <a:solidFill>
                  <a:srgbClr val="8064A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burst</a:t>
            </a:r>
            <a:endParaRPr lang="en-US" sz="1380" dirty="0"/>
          </a:p>
        </p:txBody>
      </p:sp>
      <p:sp>
        <p:nvSpPr>
          <p:cNvPr id="9" name="Shape 7"/>
          <p:cNvSpPr/>
          <p:nvPr/>
        </p:nvSpPr>
        <p:spPr>
          <a:xfrm>
            <a:off x="749808" y="1353312"/>
            <a:ext cx="10972800" cy="0"/>
          </a:xfrm>
          <a:prstGeom prst="line">
            <a:avLst/>
          </a:prstGeom>
          <a:noFill/>
          <a:ln w="13335">
            <a:solidFill>
              <a:srgbClr val="8064A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49808" y="1499616"/>
            <a:ext cx="10972800" cy="365760"/>
          </a:xfrm>
          <a:prstGeom prst="roundRect">
            <a:avLst/>
          </a:prstGeom>
          <a:solidFill>
            <a:srgbClr val="F2EEFA"/>
          </a:solidFill>
          <a:ln w="10795">
            <a:solidFill>
              <a:srgbClr val="8A70B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32688" y="1581912"/>
            <a:ext cx="5486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7257A1"/>
                </a:solidFill>
                <a:latin typeface="標楷體" pitchFamily="34" charset="0"/>
                <a:ea typeface="標楷體" pitchFamily="34" charset="-122"/>
                <a:cs typeface="標楷體" pitchFamily="34" charset="-120"/>
              </a:rPr>
              <a:t>固定比較｜同工作量</a:t>
            </a:r>
            <a:pPr algn="l" indent="0" marL="0">
              <a:buNone/>
            </a:pPr>
            <a:r>
              <a:rPr lang="en-US" sz="1350" b="1" dirty="0">
                <a:solidFill>
                  <a:srgbClr val="7257A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・</a:t>
            </a:r>
            <a:pPr algn="l" indent="0" marL="0">
              <a:buNone/>
            </a:pPr>
            <a:r>
              <a:rPr lang="en-US" sz="1350" b="1" dirty="0">
                <a:solidFill>
                  <a:srgbClr val="7257A1"/>
                </a:solidFill>
                <a:latin typeface="標楷體" pitchFamily="34" charset="0"/>
                <a:ea typeface="標楷體" pitchFamily="34" charset="-122"/>
                <a:cs typeface="標楷體" pitchFamily="34" charset="-120"/>
              </a:rPr>
              <a:t>同</a:t>
            </a:r>
            <a:pPr algn="l" indent="0" marL="0">
              <a:buNone/>
            </a:pPr>
            <a:r>
              <a:rPr lang="en-US" sz="1350" b="1" dirty="0">
                <a:solidFill>
                  <a:srgbClr val="7257A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deadline・</a:t>
            </a:r>
            <a:pPr algn="l" indent="0" marL="0">
              <a:buNone/>
            </a:pPr>
            <a:r>
              <a:rPr lang="en-US" sz="1350" b="1" dirty="0">
                <a:solidFill>
                  <a:srgbClr val="7257A1"/>
                </a:solidFill>
                <a:latin typeface="標楷體" pitchFamily="34" charset="0"/>
                <a:ea typeface="標楷體" pitchFamily="34" charset="-122"/>
                <a:cs typeface="標楷體" pitchFamily="34" charset="-120"/>
              </a:rPr>
              <a:t>同系統邊界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6382512" y="1572768"/>
            <a:ext cx="5138928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30" b="1" dirty="0">
                <a:solidFill>
                  <a:srgbClr val="7257A1"/>
                </a:solidFill>
                <a:latin typeface="標楷體" pitchFamily="34" charset="0"/>
                <a:ea typeface="標楷體" pitchFamily="34" charset="-122"/>
                <a:cs typeface="標楷體" pitchFamily="34" charset="-120"/>
              </a:rPr>
              <a:t>設計估計｜</a:t>
            </a:r>
            <a:pPr algn="r" indent="0" marL="0">
              <a:buNone/>
            </a:pPr>
            <a:r>
              <a:rPr lang="en-US" sz="1230" b="1" dirty="0">
                <a:solidFill>
                  <a:srgbClr val="7257A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5 reference → 11 operation → 5 debrief → 2 transition</a:t>
            </a:r>
            <a:endParaRPr lang="en-US" sz="1230" dirty="0"/>
          </a:p>
        </p:txBody>
      </p:sp>
      <p:sp>
        <p:nvSpPr>
          <p:cNvPr id="13" name="Shape 11"/>
          <p:cNvSpPr/>
          <p:nvPr/>
        </p:nvSpPr>
        <p:spPr>
          <a:xfrm>
            <a:off x="2852928" y="2139696"/>
            <a:ext cx="5623560" cy="0"/>
          </a:xfrm>
          <a:prstGeom prst="line">
            <a:avLst/>
          </a:prstGeom>
          <a:noFill/>
          <a:ln w="13970">
            <a:solidFill>
              <a:srgbClr val="57788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069080" y="1920240"/>
            <a:ext cx="28163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40" b="1" dirty="0">
                <a:solidFill>
                  <a:srgbClr val="647187"/>
                </a:solidFill>
                <a:latin typeface="標楷體" pitchFamily="34" charset="0"/>
                <a:ea typeface="標楷體" pitchFamily="34" charset="-122"/>
                <a:cs typeface="標楷體" pitchFamily="34" charset="-120"/>
              </a:rPr>
              <a:t>共同時間軸｜示意、非量測</a:t>
            </a:r>
            <a:endParaRPr lang="en-US" sz="1240" dirty="0"/>
          </a:p>
        </p:txBody>
      </p:sp>
      <p:sp>
        <p:nvSpPr>
          <p:cNvPr id="15" name="Shape 13"/>
          <p:cNvSpPr/>
          <p:nvPr/>
        </p:nvSpPr>
        <p:spPr>
          <a:xfrm>
            <a:off x="8476488" y="1993392"/>
            <a:ext cx="0" cy="2148840"/>
          </a:xfrm>
          <a:prstGeom prst="line">
            <a:avLst/>
          </a:prstGeom>
          <a:noFill/>
          <a:ln w="15875">
            <a:solidFill>
              <a:srgbClr val="98514F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726680" y="1901952"/>
            <a:ext cx="685800" cy="256032"/>
          </a:xfrm>
          <a:prstGeom prst="roundRect">
            <a:avLst/>
          </a:prstGeom>
          <a:solidFill>
            <a:srgbClr val="FAEFED"/>
          </a:solidFill>
          <a:ln w="10160">
            <a:solidFill>
              <a:srgbClr val="98514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781544" y="1920240"/>
            <a:ext cx="5760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98514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deadline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804672" y="2340864"/>
            <a:ext cx="1024128" cy="292608"/>
          </a:xfrm>
          <a:prstGeom prst="roundRect">
            <a:avLst/>
          </a:prstGeom>
          <a:solidFill>
            <a:srgbClr val="4EA978"/>
          </a:solidFill>
          <a:ln w="10160">
            <a:solidFill>
              <a:srgbClr val="4EA978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59536" y="2359152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標楷體" pitchFamily="34" charset="0"/>
                <a:ea typeface="標楷體" pitchFamily="34" charset="-122"/>
                <a:cs typeface="標楷體" pitchFamily="34" charset="-120"/>
              </a:rPr>
              <a:t>慢速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1901952" y="2359152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30" b="1" dirty="0">
                <a:solidFill>
                  <a:srgbClr val="4EA978"/>
                </a:solidFill>
                <a:latin typeface="標楷體" pitchFamily="34" charset="0"/>
                <a:ea typeface="標楷體" pitchFamily="34" charset="-122"/>
                <a:cs typeface="標楷體" pitchFamily="34" charset="-120"/>
              </a:rPr>
              <a:t>低</a:t>
            </a:r>
            <a:pPr algn="r" indent="0" marL="0">
              <a:buNone/>
            </a:pPr>
            <a:r>
              <a:rPr lang="en-US" sz="1230" b="1" dirty="0">
                <a:solidFill>
                  <a:srgbClr val="4EA978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W</a:t>
            </a:r>
            <a:pPr algn="r" indent="0" marL="0">
              <a:buNone/>
            </a:pPr>
            <a:r>
              <a:rPr lang="en-US" sz="1230" b="1" dirty="0">
                <a:solidFill>
                  <a:srgbClr val="4EA978"/>
                </a:solidFill>
                <a:latin typeface="標楷體" pitchFamily="34" charset="0"/>
                <a:ea typeface="標楷體" pitchFamily="34" charset="-122"/>
                <a:cs typeface="標楷體" pitchFamily="34" charset="-120"/>
              </a:rPr>
              <a:t>／時間長</a:t>
            </a:r>
            <a:endParaRPr lang="en-US" sz="1230" dirty="0"/>
          </a:p>
        </p:txBody>
      </p:sp>
      <p:sp>
        <p:nvSpPr>
          <p:cNvPr id="21" name="Shape 19"/>
          <p:cNvSpPr/>
          <p:nvPr/>
        </p:nvSpPr>
        <p:spPr>
          <a:xfrm>
            <a:off x="2852928" y="2670048"/>
            <a:ext cx="5623560" cy="0"/>
          </a:xfrm>
          <a:prstGeom prst="line">
            <a:avLst/>
          </a:prstGeom>
          <a:noFill/>
          <a:ln w="11430">
            <a:solidFill>
              <a:srgbClr val="D5DDE4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852928" y="2487168"/>
            <a:ext cx="5074920" cy="182880"/>
          </a:xfrm>
          <a:prstGeom prst="rect">
            <a:avLst/>
          </a:prstGeom>
          <a:solidFill>
            <a:srgbClr val="4EA978">
              <a:alpha val="95000"/>
            </a:srgbClr>
          </a:solidFill>
          <a:ln w="8890">
            <a:solidFill>
              <a:srgbClr val="4EA978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927848" y="2601468"/>
            <a:ext cx="548640" cy="68580"/>
          </a:xfrm>
          <a:prstGeom prst="rect">
            <a:avLst/>
          </a:prstGeom>
          <a:solidFill>
            <a:srgbClr val="ECF7F1"/>
          </a:solidFill>
          <a:ln w="4445">
            <a:solidFill>
              <a:srgbClr val="4EA978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7845552" y="2587752"/>
            <a:ext cx="164592" cy="16459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4EA97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804672" y="2944368"/>
            <a:ext cx="1024128" cy="292608"/>
          </a:xfrm>
          <a:prstGeom prst="roundRect">
            <a:avLst/>
          </a:prstGeom>
          <a:solidFill>
            <a:srgbClr val="57788E"/>
          </a:solidFill>
          <a:ln w="10160">
            <a:solidFill>
              <a:srgbClr val="57788E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59536" y="2962656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標楷體" pitchFamily="34" charset="0"/>
                <a:ea typeface="標楷體" pitchFamily="34" charset="-122"/>
                <a:cs typeface="標楷體" pitchFamily="34" charset="-120"/>
              </a:rPr>
              <a:t>平衡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1901952" y="296265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30" b="1" dirty="0">
                <a:solidFill>
                  <a:srgbClr val="57788E"/>
                </a:solidFill>
                <a:latin typeface="標楷體" pitchFamily="34" charset="0"/>
                <a:ea typeface="標楷體" pitchFamily="34" charset="-122"/>
                <a:cs typeface="標楷體" pitchFamily="34" charset="-120"/>
              </a:rPr>
              <a:t>中</a:t>
            </a:r>
            <a:pPr algn="r" indent="0" marL="0">
              <a:buNone/>
            </a:pPr>
            <a:r>
              <a:rPr lang="en-US" sz="1230" b="1" dirty="0">
                <a:solidFill>
                  <a:srgbClr val="57788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W</a:t>
            </a:r>
            <a:pPr algn="r" indent="0" marL="0">
              <a:buNone/>
            </a:pPr>
            <a:r>
              <a:rPr lang="en-US" sz="1230" b="1" dirty="0">
                <a:solidFill>
                  <a:srgbClr val="57788E"/>
                </a:solidFill>
                <a:latin typeface="標楷體" pitchFamily="34" charset="0"/>
                <a:ea typeface="標楷體" pitchFamily="34" charset="-122"/>
                <a:cs typeface="標楷體" pitchFamily="34" charset="-120"/>
              </a:rPr>
              <a:t>／時間中</a:t>
            </a:r>
            <a:endParaRPr lang="en-US" sz="1230" dirty="0"/>
          </a:p>
        </p:txBody>
      </p:sp>
      <p:sp>
        <p:nvSpPr>
          <p:cNvPr id="28" name="Shape 26"/>
          <p:cNvSpPr/>
          <p:nvPr/>
        </p:nvSpPr>
        <p:spPr>
          <a:xfrm>
            <a:off x="2852928" y="3273552"/>
            <a:ext cx="5623560" cy="0"/>
          </a:xfrm>
          <a:prstGeom prst="line">
            <a:avLst/>
          </a:prstGeom>
          <a:noFill/>
          <a:ln w="11430">
            <a:solidFill>
              <a:srgbClr val="D5DDE4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852928" y="2962656"/>
            <a:ext cx="3968496" cy="310896"/>
          </a:xfrm>
          <a:prstGeom prst="rect">
            <a:avLst/>
          </a:prstGeom>
          <a:solidFill>
            <a:srgbClr val="57788E">
              <a:alpha val="95000"/>
            </a:srgbClr>
          </a:solidFill>
          <a:ln w="8890">
            <a:solidFill>
              <a:srgbClr val="57788E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821424" y="3204972"/>
            <a:ext cx="1655064" cy="68580"/>
          </a:xfrm>
          <a:prstGeom prst="rect">
            <a:avLst/>
          </a:prstGeom>
          <a:solidFill>
            <a:srgbClr val="ECF7F1"/>
          </a:solidFill>
          <a:ln w="4445">
            <a:solidFill>
              <a:srgbClr val="4EA978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6739128" y="3191256"/>
            <a:ext cx="164592" cy="16459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7788E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804672" y="3547872"/>
            <a:ext cx="1024128" cy="292608"/>
          </a:xfrm>
          <a:prstGeom prst="roundRect">
            <a:avLst/>
          </a:prstGeom>
          <a:solidFill>
            <a:srgbClr val="8A70BF"/>
          </a:solidFill>
          <a:ln w="10160">
            <a:solidFill>
              <a:srgbClr val="8A70B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859536" y="3566160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標楷體" pitchFamily="34" charset="0"/>
                <a:ea typeface="標楷體" pitchFamily="34" charset="-122"/>
                <a:cs typeface="標楷體" pitchFamily="34" charset="-120"/>
              </a:rPr>
              <a:t>高速後休眠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1901952" y="3566160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30" b="1" dirty="0">
                <a:solidFill>
                  <a:srgbClr val="8A70BF"/>
                </a:solidFill>
                <a:latin typeface="標楷體" pitchFamily="34" charset="0"/>
                <a:ea typeface="標楷體" pitchFamily="34" charset="-122"/>
                <a:cs typeface="標楷體" pitchFamily="34" charset="-120"/>
              </a:rPr>
              <a:t>高</a:t>
            </a:r>
            <a:pPr algn="r" indent="0" marL="0">
              <a:buNone/>
            </a:pPr>
            <a:r>
              <a:rPr lang="en-US" sz="1230" b="1" dirty="0">
                <a:solidFill>
                  <a:srgbClr val="8A70B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W</a:t>
            </a:r>
            <a:pPr algn="r" indent="0" marL="0">
              <a:buNone/>
            </a:pPr>
            <a:r>
              <a:rPr lang="en-US" sz="1230" b="1" dirty="0">
                <a:solidFill>
                  <a:srgbClr val="8A70BF"/>
                </a:solidFill>
                <a:latin typeface="標楷體" pitchFamily="34" charset="0"/>
                <a:ea typeface="標楷體" pitchFamily="34" charset="-122"/>
                <a:cs typeface="標楷體" pitchFamily="34" charset="-120"/>
              </a:rPr>
              <a:t>／時間短</a:t>
            </a:r>
            <a:endParaRPr lang="en-US" sz="1230" dirty="0"/>
          </a:p>
        </p:txBody>
      </p:sp>
      <p:sp>
        <p:nvSpPr>
          <p:cNvPr id="35" name="Shape 33"/>
          <p:cNvSpPr/>
          <p:nvPr/>
        </p:nvSpPr>
        <p:spPr>
          <a:xfrm>
            <a:off x="2852928" y="3877056"/>
            <a:ext cx="5623560" cy="0"/>
          </a:xfrm>
          <a:prstGeom prst="line">
            <a:avLst/>
          </a:prstGeom>
          <a:noFill/>
          <a:ln w="11430">
            <a:solidFill>
              <a:srgbClr val="D5DDE4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852928" y="3438144"/>
            <a:ext cx="2706624" cy="438912"/>
          </a:xfrm>
          <a:prstGeom prst="rect">
            <a:avLst/>
          </a:prstGeom>
          <a:solidFill>
            <a:srgbClr val="8A70BF">
              <a:alpha val="95000"/>
            </a:srgbClr>
          </a:solidFill>
          <a:ln w="8890">
            <a:solidFill>
              <a:srgbClr val="8A70BF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559552" y="3808476"/>
            <a:ext cx="2916936" cy="68580"/>
          </a:xfrm>
          <a:prstGeom prst="rect">
            <a:avLst/>
          </a:prstGeom>
          <a:solidFill>
            <a:srgbClr val="ECF7F1"/>
          </a:solidFill>
          <a:ln w="4445">
            <a:solidFill>
              <a:srgbClr val="4EA978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5477256" y="3794760"/>
            <a:ext cx="164592" cy="16459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8A70BF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8759952" y="1993392"/>
            <a:ext cx="2962656" cy="2148840"/>
          </a:xfrm>
          <a:prstGeom prst="roundRect">
            <a:avLst/>
          </a:prstGeom>
          <a:solidFill>
            <a:srgbClr val="14213D"/>
          </a:solidFill>
          <a:ln w="12700">
            <a:solidFill>
              <a:srgbClr val="14213D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9363456" y="2194560"/>
            <a:ext cx="1755648" cy="292608"/>
          </a:xfrm>
          <a:prstGeom prst="roundRect">
            <a:avLst/>
          </a:prstGeom>
          <a:solidFill>
            <a:srgbClr val="28AFC0"/>
          </a:solidFill>
          <a:ln w="10160">
            <a:solidFill>
              <a:srgbClr val="28AFC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9418320" y="2212848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70" b="1" dirty="0">
                <a:solidFill>
                  <a:srgbClr val="14213D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AUTO-LEDGER</a:t>
            </a:r>
            <a:endParaRPr lang="en-US" sz="1170" dirty="0"/>
          </a:p>
        </p:txBody>
      </p:sp>
      <p:sp>
        <p:nvSpPr>
          <p:cNvPr id="42" name="Text 40"/>
          <p:cNvSpPr/>
          <p:nvPr/>
        </p:nvSpPr>
        <p:spPr>
          <a:xfrm>
            <a:off x="9034272" y="2596896"/>
            <a:ext cx="2414016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標楷體" pitchFamily="34" charset="0"/>
                <a:ea typeface="標楷體" pitchFamily="34" charset="-122"/>
                <a:cs typeface="標楷體" pitchFamily="34" charset="-120"/>
              </a:rPr>
              <a:t>回放後自動填入</a:t>
            </a:r>
            <a:endParaRPr lang="en-US" sz="1600" dirty="0"/>
          </a:p>
        </p:txBody>
      </p:sp>
      <p:sp>
        <p:nvSpPr>
          <p:cNvPr id="43" name="Shape 41"/>
          <p:cNvSpPr/>
          <p:nvPr/>
        </p:nvSpPr>
        <p:spPr>
          <a:xfrm>
            <a:off x="9052560" y="2962656"/>
            <a:ext cx="731520" cy="219456"/>
          </a:xfrm>
          <a:prstGeom prst="roundRect">
            <a:avLst/>
          </a:prstGeom>
          <a:solidFill>
            <a:srgbClr val="4EA978"/>
          </a:solidFill>
          <a:ln w="10160">
            <a:solidFill>
              <a:srgbClr val="4EA978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9107424" y="2980944"/>
            <a:ext cx="62179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3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SERVICE</a:t>
            </a:r>
            <a:endParaRPr lang="en-US" sz="930" dirty="0"/>
          </a:p>
        </p:txBody>
      </p:sp>
      <p:sp>
        <p:nvSpPr>
          <p:cNvPr id="45" name="Text 43"/>
          <p:cNvSpPr/>
          <p:nvPr/>
        </p:nvSpPr>
        <p:spPr>
          <a:xfrm>
            <a:off x="9912096" y="2962656"/>
            <a:ext cx="13990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service_pass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9052560" y="3227832"/>
            <a:ext cx="731520" cy="219456"/>
          </a:xfrm>
          <a:prstGeom prst="roundRect">
            <a:avLst/>
          </a:prstGeom>
          <a:solidFill>
            <a:srgbClr val="8A70BF"/>
          </a:solidFill>
          <a:ln w="10160">
            <a:solidFill>
              <a:srgbClr val="8A70BF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9107424" y="3246120"/>
            <a:ext cx="62179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3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J</a:t>
            </a:r>
            <a:endParaRPr lang="en-US" sz="930" dirty="0"/>
          </a:p>
        </p:txBody>
      </p:sp>
      <p:sp>
        <p:nvSpPr>
          <p:cNvPr id="48" name="Text 46"/>
          <p:cNvSpPr/>
          <p:nvPr/>
        </p:nvSpPr>
        <p:spPr>
          <a:xfrm>
            <a:off x="9912096" y="3227832"/>
            <a:ext cx="13990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consumed J</a:t>
            </a:r>
            <a:endParaRPr lang="en-US" sz="1200" dirty="0"/>
          </a:p>
        </p:txBody>
      </p:sp>
      <p:sp>
        <p:nvSpPr>
          <p:cNvPr id="49" name="Shape 47"/>
          <p:cNvSpPr/>
          <p:nvPr/>
        </p:nvSpPr>
        <p:spPr>
          <a:xfrm>
            <a:off x="9052560" y="3493008"/>
            <a:ext cx="731520" cy="219456"/>
          </a:xfrm>
          <a:prstGeom prst="roundRect">
            <a:avLst/>
          </a:prstGeom>
          <a:solidFill>
            <a:srgbClr val="28AFC0"/>
          </a:solidFill>
          <a:ln w="10160">
            <a:solidFill>
              <a:srgbClr val="28AFC0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9107424" y="3511296"/>
            <a:ext cx="62179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3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EE</a:t>
            </a:r>
            <a:endParaRPr lang="en-US" sz="930" dirty="0"/>
          </a:p>
        </p:txBody>
      </p:sp>
      <p:sp>
        <p:nvSpPr>
          <p:cNvPr id="51" name="Text 49"/>
          <p:cNvSpPr/>
          <p:nvPr/>
        </p:nvSpPr>
        <p:spPr>
          <a:xfrm>
            <a:off x="9912096" y="3493008"/>
            <a:ext cx="13990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bit/J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9052560" y="3758184"/>
            <a:ext cx="731520" cy="219456"/>
          </a:xfrm>
          <a:prstGeom prst="roundRect">
            <a:avLst/>
          </a:prstGeom>
          <a:solidFill>
            <a:srgbClr val="57788E"/>
          </a:solidFill>
          <a:ln w="10160">
            <a:solidFill>
              <a:srgbClr val="57788E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9107424" y="3776472"/>
            <a:ext cx="62179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3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TIME</a:t>
            </a:r>
            <a:endParaRPr lang="en-US" sz="930" dirty="0"/>
          </a:p>
        </p:txBody>
      </p:sp>
      <p:sp>
        <p:nvSpPr>
          <p:cNvPr id="54" name="Text 52"/>
          <p:cNvSpPr/>
          <p:nvPr/>
        </p:nvSpPr>
        <p:spPr>
          <a:xfrm>
            <a:off x="9912096" y="3758184"/>
            <a:ext cx="13990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標楷體" pitchFamily="34" charset="0"/>
                <a:ea typeface="標楷體" pitchFamily="34" charset="-122"/>
                <a:cs typeface="標楷體" pitchFamily="34" charset="-120"/>
              </a:rPr>
              <a:t>完成時刻</a:t>
            </a:r>
            <a:endParaRPr lang="en-US" sz="1200" dirty="0"/>
          </a:p>
        </p:txBody>
      </p:sp>
      <p:sp>
        <p:nvSpPr>
          <p:cNvPr id="55" name="Text 53"/>
          <p:cNvSpPr/>
          <p:nvPr/>
        </p:nvSpPr>
        <p:spPr>
          <a:xfrm>
            <a:off x="9107424" y="4014216"/>
            <a:ext cx="2267712" cy="1005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0" b="1" dirty="0">
                <a:solidFill>
                  <a:srgbClr val="B8CBDC"/>
                </a:solidFill>
                <a:latin typeface="標楷體" pitchFamily="34" charset="0"/>
                <a:ea typeface="標楷體" pitchFamily="34" charset="-122"/>
                <a:cs typeface="標楷體" pitchFamily="34" charset="-120"/>
              </a:rPr>
              <a:t>同一</a:t>
            </a:r>
            <a:pPr algn="ctr" indent="0" marL="0">
              <a:buNone/>
            </a:pPr>
            <a:r>
              <a:rPr lang="en-US" sz="970" b="1" dirty="0">
                <a:solidFill>
                  <a:srgbClr val="B8CBDC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clock ledger</a:t>
            </a:r>
            <a:endParaRPr lang="en-US" sz="970" dirty="0"/>
          </a:p>
        </p:txBody>
      </p:sp>
      <p:sp>
        <p:nvSpPr>
          <p:cNvPr id="56" name="Shape 54"/>
          <p:cNvSpPr/>
          <p:nvPr/>
        </p:nvSpPr>
        <p:spPr>
          <a:xfrm>
            <a:off x="749808" y="4407408"/>
            <a:ext cx="10972800" cy="640080"/>
          </a:xfrm>
          <a:prstGeom prst="roundRect">
            <a:avLst/>
          </a:prstGeom>
          <a:solidFill>
            <a:srgbClr val="F3EFFA"/>
          </a:solidFill>
          <a:ln w="12065">
            <a:solidFill>
              <a:srgbClr val="8064AE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868680" y="4498848"/>
            <a:ext cx="250545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80" b="1" dirty="0">
                <a:solidFill>
                  <a:srgbClr val="8064AE"/>
                </a:solidFill>
                <a:latin typeface="標楷體" pitchFamily="34" charset="0"/>
                <a:ea typeface="標楷體" pitchFamily="34" charset="-122"/>
                <a:cs typeface="標楷體" pitchFamily="34" charset="-120"/>
              </a:rPr>
              <a:t>操作</a:t>
            </a:r>
            <a:endParaRPr lang="en-US" sz="1080" dirty="0"/>
          </a:p>
        </p:txBody>
      </p:sp>
      <p:sp>
        <p:nvSpPr>
          <p:cNvPr id="58" name="Text 56"/>
          <p:cNvSpPr/>
          <p:nvPr/>
        </p:nvSpPr>
        <p:spPr>
          <a:xfrm>
            <a:off x="868680" y="4690872"/>
            <a:ext cx="2505456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2430"/>
                </a:solidFill>
                <a:latin typeface="標楷體" pitchFamily="34" charset="0"/>
                <a:ea typeface="標楷體" pitchFamily="34" charset="-122"/>
                <a:cs typeface="標楷體" pitchFamily="34" charset="-120"/>
              </a:rPr>
              <a:t>鎖定策略</a:t>
            </a:r>
            <a:pPr algn="ctr" indent="0" marL="0">
              <a:buNone/>
            </a:pPr>
            <a:r>
              <a:rPr lang="en-US" sz="1300" b="1" dirty="0">
                <a:solidFill>
                  <a:srgbClr val="1E243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→ hidden replay</a:t>
            </a:r>
            <a:endParaRPr lang="en-US" sz="1300" dirty="0"/>
          </a:p>
        </p:txBody>
      </p:sp>
      <p:sp>
        <p:nvSpPr>
          <p:cNvPr id="59" name="Shape 57"/>
          <p:cNvSpPr/>
          <p:nvPr/>
        </p:nvSpPr>
        <p:spPr>
          <a:xfrm>
            <a:off x="3493008" y="4498848"/>
            <a:ext cx="0" cy="457200"/>
          </a:xfrm>
          <a:prstGeom prst="line">
            <a:avLst/>
          </a:prstGeom>
          <a:noFill/>
          <a:ln w="10160">
            <a:solidFill>
              <a:srgbClr val="D5DDE4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3611880" y="4498848"/>
            <a:ext cx="250545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80" b="1" dirty="0">
                <a:solidFill>
                  <a:srgbClr val="8064AE"/>
                </a:solidFill>
                <a:latin typeface="標楷體" pitchFamily="34" charset="0"/>
                <a:ea typeface="標楷體" pitchFamily="34" charset="-122"/>
                <a:cs typeface="標楷體" pitchFamily="34" charset="-120"/>
              </a:rPr>
              <a:t>證據</a:t>
            </a:r>
            <a:endParaRPr lang="en-US" sz="1080" dirty="0"/>
          </a:p>
        </p:txBody>
      </p:sp>
      <p:sp>
        <p:nvSpPr>
          <p:cNvPr id="61" name="Text 59"/>
          <p:cNvSpPr/>
          <p:nvPr/>
        </p:nvSpPr>
        <p:spPr>
          <a:xfrm>
            <a:off x="3611880" y="4690872"/>
            <a:ext cx="2505456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243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service</a:t>
            </a:r>
            <a:pPr algn="ctr" indent="0" marL="0">
              <a:buNone/>
            </a:pPr>
            <a:r>
              <a:rPr lang="en-US" sz="1300" b="1" dirty="0">
                <a:solidFill>
                  <a:srgbClr val="1E2430"/>
                </a:solidFill>
                <a:latin typeface="標楷體" pitchFamily="34" charset="0"/>
                <a:ea typeface="標楷體" pitchFamily="34" charset="-122"/>
                <a:cs typeface="標楷體" pitchFamily="34" charset="-120"/>
              </a:rPr>
              <a:t>／</a:t>
            </a:r>
            <a:pPr algn="ctr" indent="0" marL="0">
              <a:buNone/>
            </a:pPr>
            <a:r>
              <a:rPr lang="en-US" sz="1300" b="1" dirty="0">
                <a:solidFill>
                  <a:srgbClr val="1E243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J</a:t>
            </a:r>
            <a:pPr algn="ctr" indent="0" marL="0">
              <a:buNone/>
            </a:pPr>
            <a:r>
              <a:rPr lang="en-US" sz="1300" b="1" dirty="0">
                <a:solidFill>
                  <a:srgbClr val="1E2430"/>
                </a:solidFill>
                <a:latin typeface="標楷體" pitchFamily="34" charset="0"/>
                <a:ea typeface="標楷體" pitchFamily="34" charset="-122"/>
                <a:cs typeface="標楷體" pitchFamily="34" charset="-120"/>
              </a:rPr>
              <a:t>／</a:t>
            </a:r>
            <a:pPr algn="ctr" indent="0" marL="0">
              <a:buNone/>
            </a:pPr>
            <a:r>
              <a:rPr lang="en-US" sz="1300" b="1" dirty="0">
                <a:solidFill>
                  <a:srgbClr val="1E243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bit/J</a:t>
            </a:r>
            <a:pPr algn="ctr" indent="0" marL="0">
              <a:buNone/>
            </a:pPr>
            <a:r>
              <a:rPr lang="en-US" sz="1300" b="1" dirty="0">
                <a:solidFill>
                  <a:srgbClr val="1E2430"/>
                </a:solidFill>
                <a:latin typeface="標楷體" pitchFamily="34" charset="0"/>
                <a:ea typeface="標楷體" pitchFamily="34" charset="-122"/>
                <a:cs typeface="標楷體" pitchFamily="34" charset="-120"/>
              </a:rPr>
              <a:t>／</a:t>
            </a:r>
            <a:pPr algn="ctr" indent="0" marL="0">
              <a:buNone/>
            </a:pPr>
            <a:r>
              <a:rPr lang="en-US" sz="1300" b="1" dirty="0">
                <a:solidFill>
                  <a:srgbClr val="1E243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time</a:t>
            </a:r>
            <a:endParaRPr lang="en-US" sz="1300" dirty="0"/>
          </a:p>
        </p:txBody>
      </p:sp>
      <p:sp>
        <p:nvSpPr>
          <p:cNvPr id="62" name="Shape 60"/>
          <p:cNvSpPr/>
          <p:nvPr/>
        </p:nvSpPr>
        <p:spPr>
          <a:xfrm>
            <a:off x="6236208" y="4498848"/>
            <a:ext cx="0" cy="457200"/>
          </a:xfrm>
          <a:prstGeom prst="line">
            <a:avLst/>
          </a:prstGeom>
          <a:noFill/>
          <a:ln w="10160">
            <a:solidFill>
              <a:srgbClr val="D5DDE4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6355080" y="4498848"/>
            <a:ext cx="250545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80" b="1" dirty="0">
                <a:solidFill>
                  <a:srgbClr val="8064AE"/>
                </a:solidFill>
                <a:latin typeface="標楷體" pitchFamily="34" charset="0"/>
                <a:ea typeface="標楷體" pitchFamily="34" charset="-122"/>
                <a:cs typeface="標楷體" pitchFamily="34" charset="-120"/>
              </a:rPr>
              <a:t>意義</a:t>
            </a:r>
            <a:endParaRPr lang="en-US" sz="1080" dirty="0"/>
          </a:p>
        </p:txBody>
      </p:sp>
      <p:sp>
        <p:nvSpPr>
          <p:cNvPr id="64" name="Text 62"/>
          <p:cNvSpPr/>
          <p:nvPr/>
        </p:nvSpPr>
        <p:spPr>
          <a:xfrm>
            <a:off x="6355080" y="4690872"/>
            <a:ext cx="2505456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2430"/>
                </a:solidFill>
                <a:latin typeface="標楷體" pitchFamily="34" charset="0"/>
                <a:ea typeface="標楷體" pitchFamily="34" charset="-122"/>
                <a:cs typeface="標楷體" pitchFamily="34" charset="-120"/>
              </a:rPr>
              <a:t>排序可能翻轉</a:t>
            </a:r>
            <a:endParaRPr lang="en-US" sz="1300" dirty="0"/>
          </a:p>
        </p:txBody>
      </p:sp>
      <p:sp>
        <p:nvSpPr>
          <p:cNvPr id="65" name="Shape 63"/>
          <p:cNvSpPr/>
          <p:nvPr/>
        </p:nvSpPr>
        <p:spPr>
          <a:xfrm>
            <a:off x="8979408" y="4498848"/>
            <a:ext cx="0" cy="457200"/>
          </a:xfrm>
          <a:prstGeom prst="line">
            <a:avLst/>
          </a:prstGeom>
          <a:noFill/>
          <a:ln w="10160">
            <a:solidFill>
              <a:srgbClr val="D5DDE4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9098280" y="4498848"/>
            <a:ext cx="250545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80" b="1" dirty="0">
                <a:solidFill>
                  <a:srgbClr val="8064AE"/>
                </a:solidFill>
                <a:latin typeface="標楷體" pitchFamily="34" charset="0"/>
                <a:ea typeface="標楷體" pitchFamily="34" charset="-122"/>
                <a:cs typeface="標楷體" pitchFamily="34" charset="-120"/>
              </a:rPr>
              <a:t>回復</a:t>
            </a:r>
            <a:endParaRPr lang="en-US" sz="1080" dirty="0"/>
          </a:p>
        </p:txBody>
      </p:sp>
      <p:sp>
        <p:nvSpPr>
          <p:cNvPr id="67" name="Text 65"/>
          <p:cNvSpPr/>
          <p:nvPr/>
        </p:nvSpPr>
        <p:spPr>
          <a:xfrm>
            <a:off x="9098280" y="4690872"/>
            <a:ext cx="2505456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2430"/>
                </a:solidFill>
                <a:latin typeface="標楷體" pitchFamily="34" charset="0"/>
                <a:ea typeface="標楷體" pitchFamily="34" charset="-122"/>
                <a:cs typeface="標楷體" pitchFamily="34" charset="-120"/>
              </a:rPr>
              <a:t>同</a:t>
            </a:r>
            <a:pPr algn="ctr" indent="0" marL="0">
              <a:buNone/>
            </a:pPr>
            <a:r>
              <a:rPr lang="en-US" sz="1300" b="1" dirty="0">
                <a:solidFill>
                  <a:srgbClr val="1E243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scenario </a:t>
            </a:r>
            <a:pPr algn="ctr" indent="0" marL="0">
              <a:buNone/>
            </a:pPr>
            <a:r>
              <a:rPr lang="en-US" sz="1300" b="1" dirty="0">
                <a:solidFill>
                  <a:srgbClr val="1E2430"/>
                </a:solidFill>
                <a:latin typeface="標楷體" pitchFamily="34" charset="0"/>
                <a:ea typeface="標楷體" pitchFamily="34" charset="-122"/>
                <a:cs typeface="標楷體" pitchFamily="34" charset="-120"/>
              </a:rPr>
              <a:t>反例重設</a:t>
            </a:r>
            <a:endParaRPr lang="en-US" sz="1300" dirty="0"/>
          </a:p>
        </p:txBody>
      </p:sp>
      <p:sp>
        <p:nvSpPr>
          <p:cNvPr id="68" name="Shape 66"/>
          <p:cNvSpPr/>
          <p:nvPr/>
        </p:nvSpPr>
        <p:spPr>
          <a:xfrm>
            <a:off x="749808" y="5349240"/>
            <a:ext cx="10972800" cy="0"/>
          </a:xfrm>
          <a:prstGeom prst="line">
            <a:avLst/>
          </a:prstGeom>
          <a:noFill/>
          <a:ln w="12700">
            <a:solidFill>
              <a:srgbClr val="D5DDE4"/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>
            <a:off x="3749040" y="5440680"/>
            <a:ext cx="0" cy="457200"/>
          </a:xfrm>
          <a:prstGeom prst="line">
            <a:avLst/>
          </a:prstGeom>
          <a:noFill/>
          <a:ln w="10160">
            <a:solidFill>
              <a:srgbClr val="D5DDE4"/>
            </a:solidFill>
            <a:prstDash val="solid"/>
          </a:ln>
        </p:spPr>
      </p:sp>
      <p:sp>
        <p:nvSpPr>
          <p:cNvPr id="70" name="Shape 68"/>
          <p:cNvSpPr/>
          <p:nvPr/>
        </p:nvSpPr>
        <p:spPr>
          <a:xfrm>
            <a:off x="7909560" y="5440680"/>
            <a:ext cx="0" cy="457200"/>
          </a:xfrm>
          <a:prstGeom prst="line">
            <a:avLst/>
          </a:prstGeom>
          <a:noFill/>
          <a:ln w="10160">
            <a:solidFill>
              <a:srgbClr val="D5DDE4"/>
            </a:solidFill>
            <a:prstDash val="solid"/>
          </a:ln>
        </p:spPr>
      </p:sp>
      <p:sp>
        <p:nvSpPr>
          <p:cNvPr id="71" name="Shape 69"/>
          <p:cNvSpPr/>
          <p:nvPr/>
        </p:nvSpPr>
        <p:spPr>
          <a:xfrm>
            <a:off x="749808" y="5458968"/>
            <a:ext cx="100584" cy="100584"/>
          </a:xfrm>
          <a:prstGeom prst="ellipse">
            <a:avLst/>
          </a:prstGeom>
          <a:solidFill>
            <a:srgbClr val="2D7A70"/>
          </a:solidFill>
          <a:ln w="5080">
            <a:solidFill>
              <a:srgbClr val="2D7A70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905256" y="5468112"/>
            <a:ext cx="2770632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60" b="1" dirty="0">
                <a:solidFill>
                  <a:srgbClr val="2D7A7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FACT</a:t>
            </a:r>
            <a:pPr algn="l" indent="0" marL="0">
              <a:buNone/>
            </a:pPr>
            <a:r>
              <a:rPr lang="en-US" sz="1060" b="1" dirty="0">
                <a:solidFill>
                  <a:srgbClr val="2D7A70"/>
                </a:solidFill>
                <a:latin typeface="標楷體" pitchFamily="34" charset="0"/>
                <a:ea typeface="標楷體" pitchFamily="34" charset="-122"/>
                <a:cs typeface="標楷體" pitchFamily="34" charset="-120"/>
              </a:rPr>
              <a:t>｜</a:t>
            </a:r>
            <a:pPr algn="l" indent="0" marL="0">
              <a:buNone/>
            </a:pPr>
            <a:r>
              <a:rPr lang="en-US" sz="1060" b="1" dirty="0">
                <a:solidFill>
                  <a:srgbClr val="2D7A7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</a:t>
            </a:r>
            <a:pPr algn="l" indent="0" marL="0">
              <a:buNone/>
            </a:pPr>
            <a:r>
              <a:rPr lang="en-US" sz="1060" b="1" dirty="0">
                <a:solidFill>
                  <a:srgbClr val="2D7A70"/>
                </a:solidFill>
                <a:latin typeface="標楷體" pitchFamily="34" charset="0"/>
                <a:ea typeface="標楷體" pitchFamily="34" charset="-122"/>
                <a:cs typeface="標楷體" pitchFamily="34" charset="-120"/>
              </a:rPr>
              <a:t>、</a:t>
            </a:r>
            <a:pPr algn="l" indent="0" marL="0">
              <a:buNone/>
            </a:pPr>
            <a:r>
              <a:rPr lang="en-US" sz="1060" b="1" dirty="0">
                <a:solidFill>
                  <a:srgbClr val="2D7A7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J</a:t>
            </a:r>
            <a:pPr algn="l" indent="0" marL="0">
              <a:buNone/>
            </a:pPr>
            <a:r>
              <a:rPr lang="en-US" sz="1060" b="1" dirty="0">
                <a:solidFill>
                  <a:srgbClr val="2D7A70"/>
                </a:solidFill>
                <a:latin typeface="標楷體" pitchFamily="34" charset="0"/>
                <a:ea typeface="標楷體" pitchFamily="34" charset="-122"/>
                <a:cs typeface="標楷體" pitchFamily="34" charset="-120"/>
              </a:rPr>
              <a:t>、</a:t>
            </a:r>
            <a:pPr algn="l" indent="0" marL="0">
              <a:buNone/>
            </a:pPr>
            <a:r>
              <a:rPr lang="en-US" sz="1060" b="1" dirty="0">
                <a:solidFill>
                  <a:srgbClr val="2D7A7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bit/s</a:t>
            </a:r>
            <a:pPr algn="l" indent="0" marL="0">
              <a:buNone/>
            </a:pPr>
            <a:r>
              <a:rPr lang="en-US" sz="1060" b="1" dirty="0">
                <a:solidFill>
                  <a:srgbClr val="2D7A70"/>
                </a:solidFill>
                <a:latin typeface="標楷體" pitchFamily="34" charset="0"/>
                <a:ea typeface="標楷體" pitchFamily="34" charset="-122"/>
                <a:cs typeface="標楷體" pitchFamily="34" charset="-120"/>
              </a:rPr>
              <a:t>、</a:t>
            </a:r>
            <a:pPr algn="l" indent="0" marL="0">
              <a:buNone/>
            </a:pPr>
            <a:r>
              <a:rPr lang="en-US" sz="1060" b="1" dirty="0">
                <a:solidFill>
                  <a:srgbClr val="2D7A7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bit/J </a:t>
            </a:r>
            <a:pPr algn="l" indent="0" marL="0">
              <a:buNone/>
            </a:pPr>
            <a:r>
              <a:rPr lang="en-US" sz="1060" b="1" dirty="0">
                <a:solidFill>
                  <a:srgbClr val="2D7A70"/>
                </a:solidFill>
                <a:latin typeface="標楷體" pitchFamily="34" charset="0"/>
                <a:ea typeface="標楷體" pitchFamily="34" charset="-122"/>
                <a:cs typeface="標楷體" pitchFamily="34" charset="-120"/>
              </a:rPr>
              <a:t>分欄</a:t>
            </a:r>
            <a:endParaRPr lang="en-US" sz="1060" dirty="0"/>
          </a:p>
        </p:txBody>
      </p:sp>
      <p:sp>
        <p:nvSpPr>
          <p:cNvPr id="73" name="Shape 71"/>
          <p:cNvSpPr/>
          <p:nvPr/>
        </p:nvSpPr>
        <p:spPr>
          <a:xfrm>
            <a:off x="3840480" y="5458968"/>
            <a:ext cx="100584" cy="100584"/>
          </a:xfrm>
          <a:prstGeom prst="ellipse">
            <a:avLst/>
          </a:prstGeom>
          <a:solidFill>
            <a:srgbClr val="7257A1"/>
          </a:solidFill>
          <a:ln w="5080">
            <a:solidFill>
              <a:srgbClr val="7257A1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3995928" y="5468112"/>
            <a:ext cx="3822192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60" b="1" dirty="0">
                <a:solidFill>
                  <a:srgbClr val="7257A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DESIGN INFERENCE</a:t>
            </a:r>
            <a:pPr algn="l" indent="0" marL="0">
              <a:buNone/>
            </a:pPr>
            <a:r>
              <a:rPr lang="en-US" sz="1060" b="1" dirty="0">
                <a:solidFill>
                  <a:srgbClr val="7257A1"/>
                </a:solidFill>
                <a:latin typeface="標楷體" pitchFamily="34" charset="0"/>
                <a:ea typeface="標楷體" pitchFamily="34" charset="-122"/>
                <a:cs typeface="標楷體" pitchFamily="34" charset="-120"/>
              </a:rPr>
              <a:t>｜設計估計：</a:t>
            </a:r>
            <a:pPr algn="l" indent="0" marL="0">
              <a:buNone/>
            </a:pPr>
            <a:r>
              <a:rPr lang="en-US" sz="1060" b="1" dirty="0">
                <a:solidFill>
                  <a:srgbClr val="7257A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5–6 </a:t>
            </a:r>
            <a:pPr algn="l" indent="0" marL="0">
              <a:buNone/>
            </a:pPr>
            <a:r>
              <a:rPr lang="en-US" sz="1060" b="1" dirty="0">
                <a:solidFill>
                  <a:srgbClr val="7257A1"/>
                </a:solidFill>
                <a:latin typeface="標楷體" pitchFamily="34" charset="0"/>
                <a:ea typeface="標楷體" pitchFamily="34" charset="-122"/>
                <a:cs typeface="標楷體" pitchFamily="34" charset="-120"/>
              </a:rPr>
              <a:t>頁＋</a:t>
            </a:r>
            <a:pPr algn="l" indent="0" marL="0">
              <a:buNone/>
            </a:pPr>
            <a:r>
              <a:rPr lang="en-US" sz="1060" b="1" dirty="0">
                <a:solidFill>
                  <a:srgbClr val="7257A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 lab</a:t>
            </a:r>
            <a:endParaRPr lang="en-US" sz="1060" dirty="0"/>
          </a:p>
        </p:txBody>
      </p:sp>
      <p:sp>
        <p:nvSpPr>
          <p:cNvPr id="75" name="Shape 73"/>
          <p:cNvSpPr/>
          <p:nvPr/>
        </p:nvSpPr>
        <p:spPr>
          <a:xfrm>
            <a:off x="8001000" y="5458968"/>
            <a:ext cx="100584" cy="100584"/>
          </a:xfrm>
          <a:prstGeom prst="ellipse">
            <a:avLst/>
          </a:prstGeom>
          <a:solidFill>
            <a:srgbClr val="98514F"/>
          </a:solidFill>
          <a:ln w="5080">
            <a:solidFill>
              <a:srgbClr val="98514F"/>
            </a:solidFill>
            <a:prstDash val="solid"/>
          </a:ln>
        </p:spPr>
      </p:sp>
      <p:sp>
        <p:nvSpPr>
          <p:cNvPr id="76" name="Text 74"/>
          <p:cNvSpPr/>
          <p:nvPr/>
        </p:nvSpPr>
        <p:spPr>
          <a:xfrm>
            <a:off x="8156448" y="5468112"/>
            <a:ext cx="356616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60" b="1" dirty="0">
                <a:solidFill>
                  <a:srgbClr val="98514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UNKNOWN</a:t>
            </a:r>
            <a:pPr algn="l" indent="0" marL="0">
              <a:buNone/>
            </a:pPr>
            <a:r>
              <a:rPr lang="en-US" sz="1060" b="1" dirty="0">
                <a:solidFill>
                  <a:srgbClr val="98514F"/>
                </a:solidFill>
                <a:latin typeface="標楷體" pitchFamily="34" charset="0"/>
                <a:ea typeface="標楷體" pitchFamily="34" charset="-122"/>
                <a:cs typeface="標楷體" pitchFamily="34" charset="-120"/>
              </a:rPr>
              <a:t>｜</a:t>
            </a:r>
            <a:pPr algn="l" indent="0" marL="0">
              <a:buNone/>
            </a:pPr>
            <a:r>
              <a:rPr lang="en-US" sz="1060" b="1" dirty="0">
                <a:solidFill>
                  <a:srgbClr val="98514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state change</a:t>
            </a:r>
            <a:pPr algn="l" indent="0" marL="0">
              <a:buNone/>
            </a:pPr>
            <a:r>
              <a:rPr lang="en-US" sz="1060" b="1" dirty="0">
                <a:solidFill>
                  <a:srgbClr val="98514F"/>
                </a:solidFill>
                <a:latin typeface="標楷體" pitchFamily="34" charset="0"/>
                <a:ea typeface="標楷體" pitchFamily="34" charset="-122"/>
                <a:cs typeface="標楷體" pitchFamily="34" charset="-120"/>
              </a:rPr>
              <a:t>／</a:t>
            </a:r>
            <a:pPr algn="l" indent="0" marL="0">
              <a:buNone/>
            </a:pPr>
            <a:r>
              <a:rPr lang="en-US" sz="1060" b="1" dirty="0">
                <a:solidFill>
                  <a:srgbClr val="98514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counterexample </a:t>
            </a:r>
            <a:pPr algn="l" indent="0" marL="0">
              <a:buNone/>
            </a:pPr>
            <a:r>
              <a:rPr lang="en-US" sz="1060" b="1" dirty="0">
                <a:solidFill>
                  <a:srgbClr val="98514F"/>
                </a:solidFill>
                <a:latin typeface="標楷體" pitchFamily="34" charset="0"/>
                <a:ea typeface="標楷體" pitchFamily="34" charset="-122"/>
                <a:cs typeface="標楷體" pitchFamily="34" charset="-120"/>
              </a:rPr>
              <a:t>未驗證</a:t>
            </a:r>
            <a:endParaRPr lang="en-US" sz="106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34700" y="6340475"/>
            <a:ext cx="889000" cy="47625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400">
                <a:solidFill>
                  <a:srgbClr val="35377F"/>
                </a:solidFill>
                <a:latin typeface="Times New Roman"/>
                <a:ea typeface="Times New Roman"/>
                <a:cs typeface="Times New Roman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6591" y="187008"/>
            <a:ext cx="2176272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35377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41–64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2916936" y="265176"/>
            <a:ext cx="0" cy="310896"/>
          </a:xfrm>
          <a:prstGeom prst="line">
            <a:avLst/>
          </a:prstGeom>
          <a:noFill/>
          <a:ln w="19050">
            <a:solidFill>
              <a:srgbClr val="35377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136392" y="187008"/>
            <a:ext cx="6982968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35377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Lab B</a:t>
            </a:r>
            <a:pPr algn="l" indent="0" marL="0">
              <a:buNone/>
            </a:pPr>
            <a:r>
              <a:rPr lang="en-US" sz="2800" b="1" dirty="0">
                <a:solidFill>
                  <a:srgbClr val="35377F"/>
                </a:solidFill>
                <a:latin typeface="標楷體" pitchFamily="34" charset="0"/>
                <a:ea typeface="標楷體" pitchFamily="34" charset="-122"/>
                <a:cs typeface="標楷體" pitchFamily="34" charset="-120"/>
              </a:rPr>
              <a:t>｜現在行動，還是等待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749808" y="969264"/>
            <a:ext cx="969264" cy="301752"/>
          </a:xfrm>
          <a:prstGeom prst="roundRect">
            <a:avLst/>
          </a:prstGeom>
          <a:solidFill>
            <a:srgbClr val="C46F67"/>
          </a:solidFill>
          <a:ln w="10160">
            <a:solidFill>
              <a:srgbClr val="C46F6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04672" y="987552"/>
            <a:ext cx="85953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20" b="1" dirty="0">
                <a:solidFill>
                  <a:srgbClr val="FFFFFF"/>
                </a:solidFill>
                <a:latin typeface="標楷體" pitchFamily="34" charset="0"/>
                <a:ea typeface="標楷體" pitchFamily="34" charset="-122"/>
                <a:cs typeface="標楷體" pitchFamily="34" charset="-120"/>
              </a:rPr>
              <a:t>核心問題</a:t>
            </a:r>
            <a:endParaRPr lang="en-US" sz="1220" dirty="0"/>
          </a:p>
        </p:txBody>
      </p:sp>
      <p:sp>
        <p:nvSpPr>
          <p:cNvPr id="7" name="Text 5"/>
          <p:cNvSpPr/>
          <p:nvPr/>
        </p:nvSpPr>
        <p:spPr>
          <a:xfrm>
            <a:off x="1883664" y="960120"/>
            <a:ext cx="65653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2430"/>
                </a:solidFill>
                <a:latin typeface="標楷體" pitchFamily="34" charset="0"/>
                <a:ea typeface="標楷體" pitchFamily="34" charset="-122"/>
                <a:cs typeface="標楷體" pitchFamily="34" charset="-120"/>
              </a:rPr>
              <a:t>何時</a:t>
            </a:r>
            <a:pPr algn="l" indent="0" marL="0">
              <a:buNone/>
            </a:pPr>
            <a:r>
              <a:rPr lang="en-US" sz="2000" b="1" dirty="0">
                <a:solidFill>
                  <a:srgbClr val="1E243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switch </a:t>
            </a:r>
            <a:pPr algn="l" indent="0" marL="0">
              <a:buNone/>
            </a:pPr>
            <a:r>
              <a:rPr lang="en-US" sz="2000" b="1" dirty="0">
                <a:solidFill>
                  <a:srgbClr val="1E2430"/>
                </a:solidFill>
                <a:latin typeface="標楷體" pitchFamily="34" charset="0"/>
                <a:ea typeface="標楷體" pitchFamily="34" charset="-122"/>
                <a:cs typeface="標楷體" pitchFamily="34" charset="-120"/>
              </a:rPr>
              <a:t>才守住服務並省</a:t>
            </a:r>
            <a:pPr algn="l" indent="0" marL="0">
              <a:buNone/>
            </a:pPr>
            <a:r>
              <a:rPr lang="en-US" sz="2000" b="1" dirty="0">
                <a:solidFill>
                  <a:srgbClr val="1E243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J</a:t>
            </a:r>
            <a:pPr algn="l" indent="0" marL="0">
              <a:buNone/>
            </a:pPr>
            <a:r>
              <a:rPr lang="en-US" sz="2000" b="1" dirty="0">
                <a:solidFill>
                  <a:srgbClr val="1E2430"/>
                </a:solidFill>
                <a:latin typeface="標楷體" pitchFamily="34" charset="0"/>
                <a:ea typeface="標楷體" pitchFamily="34" charset="-122"/>
                <a:cs typeface="標楷體" pitchFamily="34" charset="-120"/>
              </a:rPr>
              <a:t>？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8549640" y="964692"/>
            <a:ext cx="317296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80" b="1" dirty="0">
                <a:solidFill>
                  <a:srgbClr val="C46F67"/>
                </a:solidFill>
                <a:latin typeface="標楷體" pitchFamily="34" charset="0"/>
                <a:ea typeface="標楷體" pitchFamily="34" charset="-122"/>
                <a:cs typeface="標楷體" pitchFamily="34" charset="-120"/>
              </a:rPr>
              <a:t>先決定｜</a:t>
            </a:r>
            <a:pPr algn="r" indent="0" marL="0">
              <a:buNone/>
            </a:pPr>
            <a:r>
              <a:rPr lang="en-US" sz="1380" b="1" dirty="0">
                <a:solidFill>
                  <a:srgbClr val="C46F67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switch now</a:t>
            </a:r>
            <a:pPr algn="r" indent="0" marL="0">
              <a:buNone/>
            </a:pPr>
            <a:r>
              <a:rPr lang="en-US" sz="1380" b="1" dirty="0">
                <a:solidFill>
                  <a:srgbClr val="C46F67"/>
                </a:solidFill>
                <a:latin typeface="標楷體" pitchFamily="34" charset="0"/>
                <a:ea typeface="標楷體" pitchFamily="34" charset="-122"/>
                <a:cs typeface="標楷體" pitchFamily="34" charset="-120"/>
              </a:rPr>
              <a:t>／</a:t>
            </a:r>
            <a:pPr algn="r" indent="0" marL="0">
              <a:buNone/>
            </a:pPr>
            <a:r>
              <a:rPr lang="en-US" sz="1380" b="1" dirty="0">
                <a:solidFill>
                  <a:srgbClr val="C46F67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wait</a:t>
            </a:r>
            <a:pPr algn="r" indent="0" marL="0">
              <a:buNone/>
            </a:pPr>
            <a:r>
              <a:rPr lang="en-US" sz="1380" b="1" dirty="0">
                <a:solidFill>
                  <a:srgbClr val="C46F67"/>
                </a:solidFill>
                <a:latin typeface="標楷體" pitchFamily="34" charset="0"/>
                <a:ea typeface="標楷體" pitchFamily="34" charset="-122"/>
                <a:cs typeface="標楷體" pitchFamily="34" charset="-120"/>
              </a:rPr>
              <a:t>／</a:t>
            </a:r>
            <a:pPr algn="r" indent="0" marL="0">
              <a:buNone/>
            </a:pPr>
            <a:r>
              <a:rPr lang="en-US" sz="1380" b="1" dirty="0">
                <a:solidFill>
                  <a:srgbClr val="C46F67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remain</a:t>
            </a:r>
            <a:endParaRPr lang="en-US" sz="1380" dirty="0"/>
          </a:p>
        </p:txBody>
      </p:sp>
      <p:sp>
        <p:nvSpPr>
          <p:cNvPr id="9" name="Shape 7"/>
          <p:cNvSpPr/>
          <p:nvPr/>
        </p:nvSpPr>
        <p:spPr>
          <a:xfrm>
            <a:off x="749808" y="1353312"/>
            <a:ext cx="10972800" cy="0"/>
          </a:xfrm>
          <a:prstGeom prst="line">
            <a:avLst/>
          </a:prstGeom>
          <a:noFill/>
          <a:ln w="13335">
            <a:solidFill>
              <a:srgbClr val="C46F6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417320" y="1554480"/>
            <a:ext cx="1097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20" b="1" dirty="0">
                <a:solidFill>
                  <a:srgbClr val="647187"/>
                </a:solidFill>
                <a:latin typeface="標楷體" pitchFamily="34" charset="0"/>
                <a:ea typeface="標楷體" pitchFamily="34" charset="-122"/>
                <a:cs typeface="標楷體" pitchFamily="34" charset="-120"/>
              </a:rPr>
              <a:t>決策點</a:t>
            </a:r>
            <a:endParaRPr lang="en-US" sz="1320" dirty="0"/>
          </a:p>
        </p:txBody>
      </p:sp>
      <p:sp>
        <p:nvSpPr>
          <p:cNvPr id="11" name="Shape 9"/>
          <p:cNvSpPr/>
          <p:nvPr/>
        </p:nvSpPr>
        <p:spPr>
          <a:xfrm>
            <a:off x="1113373" y="1889516"/>
            <a:ext cx="223845" cy="144841"/>
          </a:xfrm>
          <a:prstGeom prst="rect">
            <a:avLst/>
          </a:prstGeom>
          <a:solidFill>
            <a:srgbClr val="14213D"/>
          </a:solidFill>
          <a:ln w="8890">
            <a:solidFill>
              <a:srgbClr val="14213D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96112" y="1876349"/>
            <a:ext cx="184343" cy="171176"/>
          </a:xfrm>
          <a:prstGeom prst="rect">
            <a:avLst/>
          </a:prstGeom>
          <a:solidFill>
            <a:srgbClr val="28AFC0"/>
          </a:solidFill>
          <a:ln w="10160">
            <a:solidFill>
              <a:srgbClr val="14213D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370137" y="1876349"/>
            <a:ext cx="184343" cy="171176"/>
          </a:xfrm>
          <a:prstGeom prst="rect">
            <a:avLst/>
          </a:prstGeom>
          <a:solidFill>
            <a:srgbClr val="28AFC0"/>
          </a:solidFill>
          <a:ln w="10160">
            <a:solidFill>
              <a:srgbClr val="14213D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080455" y="1961937"/>
            <a:ext cx="289682" cy="0"/>
          </a:xfrm>
          <a:prstGeom prst="line">
            <a:avLst/>
          </a:prstGeom>
          <a:noFill/>
          <a:ln w="12700">
            <a:solidFill>
              <a:srgbClr val="14213D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2210653" y="1788932"/>
            <a:ext cx="223845" cy="144841"/>
          </a:xfrm>
          <a:prstGeom prst="rect">
            <a:avLst/>
          </a:prstGeom>
          <a:solidFill>
            <a:srgbClr val="14213D"/>
          </a:solidFill>
          <a:ln w="8890">
            <a:solidFill>
              <a:srgbClr val="14213D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993392" y="1775765"/>
            <a:ext cx="184343" cy="171176"/>
          </a:xfrm>
          <a:prstGeom prst="rect">
            <a:avLst/>
          </a:prstGeom>
          <a:solidFill>
            <a:srgbClr val="C96F67"/>
          </a:solidFill>
          <a:ln w="10160">
            <a:solidFill>
              <a:srgbClr val="14213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467417" y="1775765"/>
            <a:ext cx="184343" cy="171176"/>
          </a:xfrm>
          <a:prstGeom prst="rect">
            <a:avLst/>
          </a:prstGeom>
          <a:solidFill>
            <a:srgbClr val="C96F67"/>
          </a:solidFill>
          <a:ln w="10160">
            <a:solidFill>
              <a:srgbClr val="14213D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177735" y="1861353"/>
            <a:ext cx="289682" cy="0"/>
          </a:xfrm>
          <a:prstGeom prst="line">
            <a:avLst/>
          </a:prstGeom>
          <a:noFill/>
          <a:ln w="12700">
            <a:solidFill>
              <a:srgbClr val="14213D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 rot="10800000">
            <a:off x="868680" y="2084832"/>
            <a:ext cx="1417320" cy="1188720"/>
          </a:xfrm>
          <a:prstGeom prst="triangle">
            <a:avLst/>
          </a:prstGeom>
          <a:solidFill>
            <a:srgbClr val="28AFC0">
              <a:alpha val="28000"/>
            </a:srgbClr>
          </a:solidFill>
          <a:ln w="12700">
            <a:solidFill>
              <a:srgbClr val="28AFC0">
                <a:alpha val="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 rot="10800000">
            <a:off x="1664208" y="2029968"/>
            <a:ext cx="1417320" cy="1243584"/>
          </a:xfrm>
          <a:prstGeom prst="triangle">
            <a:avLst/>
          </a:prstGeom>
          <a:solidFill>
            <a:srgbClr val="C96F67">
              <a:alpha val="24000"/>
            </a:srgbClr>
          </a:solidFill>
          <a:ln w="12700">
            <a:solidFill>
              <a:srgbClr val="C96F67">
                <a:alpha val="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664208" y="2871216"/>
            <a:ext cx="438912" cy="438912"/>
          </a:xfrm>
          <a:prstGeom prst="ellipse">
            <a:avLst/>
          </a:prstGeom>
          <a:solidFill>
            <a:srgbClr val="C9A74F"/>
          </a:solidFill>
          <a:ln w="10160">
            <a:solidFill>
              <a:srgbClr val="C9A74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143000" y="3383280"/>
            <a:ext cx="150876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E2430"/>
                </a:solidFill>
                <a:latin typeface="標楷體" pitchFamily="34" charset="0"/>
                <a:ea typeface="標楷體" pitchFamily="34" charset="-122"/>
                <a:cs typeface="標楷體" pitchFamily="34" charset="-120"/>
              </a:rPr>
              <a:t>現在狀態</a:t>
            </a:r>
            <a:endParaRPr lang="en-US" sz="1350" dirty="0"/>
          </a:p>
        </p:txBody>
      </p:sp>
      <p:sp>
        <p:nvSpPr>
          <p:cNvPr id="23" name="Shape 21"/>
          <p:cNvSpPr/>
          <p:nvPr/>
        </p:nvSpPr>
        <p:spPr>
          <a:xfrm>
            <a:off x="3063240" y="1664208"/>
            <a:ext cx="2304288" cy="566928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C96F67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273552" y="1810512"/>
            <a:ext cx="256032" cy="256032"/>
          </a:xfrm>
          <a:prstGeom prst="ellipse">
            <a:avLst/>
          </a:prstGeom>
          <a:solidFill>
            <a:srgbClr val="C96F67"/>
          </a:solidFill>
          <a:ln w="6350">
            <a:solidFill>
              <a:srgbClr val="C96F67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39312" y="1792224"/>
            <a:ext cx="14813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C96F67"/>
                </a:solidFill>
                <a:latin typeface="標楷體" pitchFamily="34" charset="0"/>
                <a:ea typeface="標楷體" pitchFamily="34" charset="-122"/>
                <a:cs typeface="標楷體" pitchFamily="34" charset="-120"/>
              </a:rPr>
              <a:t>現在切換</a:t>
            </a:r>
            <a:endParaRPr lang="en-US" sz="1600" dirty="0"/>
          </a:p>
        </p:txBody>
      </p:sp>
      <p:sp>
        <p:nvSpPr>
          <p:cNvPr id="26" name="Shape 24"/>
          <p:cNvSpPr/>
          <p:nvPr/>
        </p:nvSpPr>
        <p:spPr>
          <a:xfrm>
            <a:off x="3063240" y="2423160"/>
            <a:ext cx="2304288" cy="566928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C9A74F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273552" y="2569464"/>
            <a:ext cx="256032" cy="256032"/>
          </a:xfrm>
          <a:prstGeom prst="ellipse">
            <a:avLst/>
          </a:prstGeom>
          <a:solidFill>
            <a:srgbClr val="C9A74F"/>
          </a:solidFill>
          <a:ln w="6350">
            <a:solidFill>
              <a:srgbClr val="C9A74F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639312" y="2551176"/>
            <a:ext cx="14813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C9A74F"/>
                </a:solidFill>
                <a:latin typeface="標楷體" pitchFamily="34" charset="0"/>
                <a:ea typeface="標楷體" pitchFamily="34" charset="-122"/>
                <a:cs typeface="標楷體" pitchFamily="34" charset="-120"/>
              </a:rPr>
              <a:t>等待穩定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3063240" y="3182112"/>
            <a:ext cx="2304288" cy="566928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28AFC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273552" y="3328416"/>
            <a:ext cx="256032" cy="256032"/>
          </a:xfrm>
          <a:prstGeom prst="ellipse">
            <a:avLst/>
          </a:prstGeom>
          <a:solidFill>
            <a:srgbClr val="28AFC0"/>
          </a:solidFill>
          <a:ln w="6350">
            <a:solidFill>
              <a:srgbClr val="28AFC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39312" y="3310128"/>
            <a:ext cx="14813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8AFC0"/>
                </a:solidFill>
                <a:latin typeface="標楷體" pitchFamily="34" charset="0"/>
                <a:ea typeface="標楷體" pitchFamily="34" charset="-122"/>
                <a:cs typeface="標楷體" pitchFamily="34" charset="-120"/>
              </a:rPr>
              <a:t>維持目前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2267712" y="3090672"/>
            <a:ext cx="603504" cy="-347472"/>
          </a:xfrm>
          <a:prstGeom prst="line">
            <a:avLst/>
          </a:prstGeom>
          <a:noFill/>
          <a:ln w="22860">
            <a:solidFill>
              <a:srgbClr val="C96F67"/>
            </a:solidFill>
            <a:prstDash val="solid"/>
            <a:headEnd type="none"/>
            <a:tailEnd type="triangle"/>
          </a:ln>
        </p:spPr>
      </p:sp>
      <p:sp>
        <p:nvSpPr>
          <p:cNvPr id="33" name="Shape 31"/>
          <p:cNvSpPr/>
          <p:nvPr/>
        </p:nvSpPr>
        <p:spPr>
          <a:xfrm>
            <a:off x="3547872" y="3913632"/>
            <a:ext cx="1325880" cy="292608"/>
          </a:xfrm>
          <a:prstGeom prst="roundRect">
            <a:avLst/>
          </a:prstGeom>
          <a:solidFill>
            <a:srgbClr val="14213D"/>
          </a:solidFill>
          <a:ln w="10160">
            <a:solidFill>
              <a:srgbClr val="14213D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02736" y="3931920"/>
            <a:ext cx="12161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8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LOCK RULE</a:t>
            </a:r>
            <a:endParaRPr lang="en-US" sz="1180" dirty="0"/>
          </a:p>
        </p:txBody>
      </p:sp>
      <p:sp>
        <p:nvSpPr>
          <p:cNvPr id="35" name="Text 33"/>
          <p:cNvSpPr/>
          <p:nvPr/>
        </p:nvSpPr>
        <p:spPr>
          <a:xfrm>
            <a:off x="2944368" y="4224528"/>
            <a:ext cx="2560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647187"/>
                </a:solidFill>
                <a:latin typeface="標楷體" pitchFamily="34" charset="0"/>
                <a:ea typeface="標楷體" pitchFamily="34" charset="-122"/>
                <a:cs typeface="標楷體" pitchFamily="34" charset="-120"/>
              </a:rPr>
              <a:t>只鎖一次，再面對未知未來</a:t>
            </a:r>
            <a:endParaRPr lang="en-US" sz="1150" dirty="0"/>
          </a:p>
        </p:txBody>
      </p:sp>
      <p:sp>
        <p:nvSpPr>
          <p:cNvPr id="36" name="Shape 34"/>
          <p:cNvSpPr/>
          <p:nvPr/>
        </p:nvSpPr>
        <p:spPr>
          <a:xfrm>
            <a:off x="5797296" y="1572768"/>
            <a:ext cx="5925312" cy="2770632"/>
          </a:xfrm>
          <a:prstGeom prst="roundRect">
            <a:avLst/>
          </a:prstGeom>
          <a:solidFill>
            <a:srgbClr val="F2EEFA"/>
          </a:solidFill>
          <a:ln w="14605">
            <a:solidFill>
              <a:srgbClr val="8A70BF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6053328" y="1764792"/>
            <a:ext cx="960120" cy="292608"/>
          </a:xfrm>
          <a:prstGeom prst="roundRect">
            <a:avLst/>
          </a:prstGeom>
          <a:solidFill>
            <a:srgbClr val="8A70BF"/>
          </a:solidFill>
          <a:ln w="10160">
            <a:solidFill>
              <a:srgbClr val="8A70BF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108192" y="1783080"/>
            <a:ext cx="8503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8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REPLAY</a:t>
            </a:r>
            <a:endParaRPr lang="en-US" sz="1180" dirty="0"/>
          </a:p>
        </p:txBody>
      </p:sp>
      <p:sp>
        <p:nvSpPr>
          <p:cNvPr id="39" name="Text 37"/>
          <p:cNvSpPr/>
          <p:nvPr/>
        </p:nvSpPr>
        <p:spPr>
          <a:xfrm>
            <a:off x="7205472" y="1746504"/>
            <a:ext cx="42245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7257A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Trace A </a:t>
            </a:r>
            <a:pPr algn="r" indent="0" marL="0">
              <a:buNone/>
            </a:pPr>
            <a:r>
              <a:rPr lang="en-US" sz="1500" b="1" dirty="0">
                <a:solidFill>
                  <a:srgbClr val="7257A1"/>
                </a:solidFill>
                <a:latin typeface="標楷體" pitchFamily="34" charset="0"/>
                <a:ea typeface="標楷體" pitchFamily="34" charset="-122"/>
                <a:cs typeface="標楷體" pitchFamily="34" charset="-120"/>
              </a:rPr>
              <a:t>鎖定規則</a:t>
            </a:r>
            <a:pPr algn="r" indent="0" marL="0">
              <a:buNone/>
            </a:pPr>
            <a:r>
              <a:rPr lang="en-US" sz="1500" b="1" dirty="0">
                <a:solidFill>
                  <a:srgbClr val="7257A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→ Trace B </a:t>
            </a:r>
            <a:pPr algn="r" indent="0" marL="0">
              <a:buNone/>
            </a:pPr>
            <a:r>
              <a:rPr lang="en-US" sz="1500" b="1" dirty="0">
                <a:solidFill>
                  <a:srgbClr val="7257A1"/>
                </a:solidFill>
                <a:latin typeface="標楷體" pitchFamily="34" charset="0"/>
                <a:ea typeface="標楷體" pitchFamily="34" charset="-122"/>
                <a:cs typeface="標楷體" pitchFamily="34" charset="-120"/>
              </a:rPr>
              <a:t>不重調</a:t>
            </a:r>
            <a:endParaRPr lang="en-US" sz="1500" dirty="0"/>
          </a:p>
        </p:txBody>
      </p:sp>
      <p:sp>
        <p:nvSpPr>
          <p:cNvPr id="40" name="Text 38"/>
          <p:cNvSpPr/>
          <p:nvPr/>
        </p:nvSpPr>
        <p:spPr>
          <a:xfrm>
            <a:off x="6089904" y="2322576"/>
            <a:ext cx="9875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20" b="1" dirty="0">
                <a:solidFill>
                  <a:srgbClr val="28AFC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TRACE A</a:t>
            </a:r>
            <a:endParaRPr lang="en-US" sz="1420" dirty="0"/>
          </a:p>
        </p:txBody>
      </p:sp>
      <p:sp>
        <p:nvSpPr>
          <p:cNvPr id="41" name="Shape 39"/>
          <p:cNvSpPr/>
          <p:nvPr/>
        </p:nvSpPr>
        <p:spPr>
          <a:xfrm>
            <a:off x="7278624" y="2468880"/>
            <a:ext cx="4041648" cy="0"/>
          </a:xfrm>
          <a:prstGeom prst="line">
            <a:avLst/>
          </a:prstGeom>
          <a:noFill/>
          <a:ln w="16510">
            <a:solidFill>
              <a:srgbClr val="D5DDE4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7607808" y="2377440"/>
            <a:ext cx="164592" cy="164592"/>
          </a:xfrm>
          <a:prstGeom prst="ellipse">
            <a:avLst/>
          </a:prstGeom>
          <a:solidFill>
            <a:srgbClr val="28AFC0"/>
          </a:solidFill>
          <a:ln w="6350">
            <a:solidFill>
              <a:srgbClr val="28AFC0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8577072" y="2304288"/>
            <a:ext cx="164592" cy="164592"/>
          </a:xfrm>
          <a:prstGeom prst="ellipse">
            <a:avLst/>
          </a:prstGeom>
          <a:solidFill>
            <a:srgbClr val="28AFC0"/>
          </a:solidFill>
          <a:ln w="6350">
            <a:solidFill>
              <a:srgbClr val="28AFC0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9528048" y="2377440"/>
            <a:ext cx="164592" cy="164592"/>
          </a:xfrm>
          <a:prstGeom prst="ellipse">
            <a:avLst/>
          </a:prstGeom>
          <a:solidFill>
            <a:srgbClr val="28AFC0"/>
          </a:solidFill>
          <a:ln w="6350">
            <a:solidFill>
              <a:srgbClr val="28AFC0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10744200" y="2304288"/>
            <a:ext cx="164592" cy="164592"/>
          </a:xfrm>
          <a:prstGeom prst="ellipse">
            <a:avLst/>
          </a:prstGeom>
          <a:solidFill>
            <a:srgbClr val="28AFC0"/>
          </a:solidFill>
          <a:ln w="6350">
            <a:solidFill>
              <a:srgbClr val="28AFC0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8915400" y="2176272"/>
            <a:ext cx="0" cy="621792"/>
          </a:xfrm>
          <a:prstGeom prst="line">
            <a:avLst/>
          </a:prstGeom>
          <a:noFill/>
          <a:ln w="16510">
            <a:solidFill>
              <a:srgbClr val="14213D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8558784" y="2112264"/>
            <a:ext cx="713232" cy="237744"/>
          </a:xfrm>
          <a:prstGeom prst="roundRect">
            <a:avLst/>
          </a:prstGeom>
          <a:solidFill>
            <a:srgbClr val="14213D"/>
          </a:solidFill>
          <a:ln w="10160">
            <a:solidFill>
              <a:srgbClr val="14213D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8613648" y="2130552"/>
            <a:ext cx="6035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2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LOCK</a:t>
            </a:r>
            <a:endParaRPr lang="en-US" sz="1020" dirty="0"/>
          </a:p>
        </p:txBody>
      </p:sp>
      <p:sp>
        <p:nvSpPr>
          <p:cNvPr id="49" name="Text 47"/>
          <p:cNvSpPr/>
          <p:nvPr/>
        </p:nvSpPr>
        <p:spPr>
          <a:xfrm>
            <a:off x="6089904" y="2999232"/>
            <a:ext cx="9875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20" b="1" dirty="0">
                <a:solidFill>
                  <a:srgbClr val="8A70B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TRACE B</a:t>
            </a:r>
            <a:endParaRPr lang="en-US" sz="1420" dirty="0"/>
          </a:p>
        </p:txBody>
      </p:sp>
      <p:sp>
        <p:nvSpPr>
          <p:cNvPr id="50" name="Shape 48"/>
          <p:cNvSpPr/>
          <p:nvPr/>
        </p:nvSpPr>
        <p:spPr>
          <a:xfrm>
            <a:off x="7278624" y="3145536"/>
            <a:ext cx="4041648" cy="0"/>
          </a:xfrm>
          <a:prstGeom prst="line">
            <a:avLst/>
          </a:prstGeom>
          <a:noFill/>
          <a:ln w="16510">
            <a:solidFill>
              <a:srgbClr val="D5DDE4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7498080" y="3054096"/>
            <a:ext cx="164592" cy="164592"/>
          </a:xfrm>
          <a:prstGeom prst="ellipse">
            <a:avLst/>
          </a:prstGeom>
          <a:solidFill>
            <a:srgbClr val="8A70BF"/>
          </a:solidFill>
          <a:ln w="6350">
            <a:solidFill>
              <a:srgbClr val="8A70BF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8183880" y="2907792"/>
            <a:ext cx="164592" cy="164592"/>
          </a:xfrm>
          <a:prstGeom prst="ellipse">
            <a:avLst/>
          </a:prstGeom>
          <a:solidFill>
            <a:srgbClr val="8A70BF"/>
          </a:solidFill>
          <a:ln w="6350">
            <a:solidFill>
              <a:srgbClr val="8A70BF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8887968" y="3090672"/>
            <a:ext cx="164592" cy="164592"/>
          </a:xfrm>
          <a:prstGeom prst="ellipse">
            <a:avLst/>
          </a:prstGeom>
          <a:solidFill>
            <a:srgbClr val="8A70BF"/>
          </a:solidFill>
          <a:ln w="6350">
            <a:solidFill>
              <a:srgbClr val="8A70BF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9637776" y="2852928"/>
            <a:ext cx="164592" cy="164592"/>
          </a:xfrm>
          <a:prstGeom prst="ellipse">
            <a:avLst/>
          </a:prstGeom>
          <a:solidFill>
            <a:srgbClr val="8A70BF"/>
          </a:solidFill>
          <a:ln w="6350">
            <a:solidFill>
              <a:srgbClr val="8A70BF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10405872" y="3035808"/>
            <a:ext cx="164592" cy="164592"/>
          </a:xfrm>
          <a:prstGeom prst="ellipse">
            <a:avLst/>
          </a:prstGeom>
          <a:solidFill>
            <a:srgbClr val="8A70BF"/>
          </a:solidFill>
          <a:ln w="6350">
            <a:solidFill>
              <a:srgbClr val="8A70BF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10972800" y="2926080"/>
            <a:ext cx="164592" cy="164592"/>
          </a:xfrm>
          <a:prstGeom prst="ellipse">
            <a:avLst/>
          </a:prstGeom>
          <a:solidFill>
            <a:srgbClr val="8A70BF"/>
          </a:solidFill>
          <a:ln w="6350">
            <a:solidFill>
              <a:srgbClr val="8A70BF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9509760" y="3474720"/>
            <a:ext cx="1371600" cy="274320"/>
          </a:xfrm>
          <a:prstGeom prst="roundRect">
            <a:avLst/>
          </a:prstGeom>
          <a:solidFill>
            <a:srgbClr val="C96F67"/>
          </a:solidFill>
          <a:ln w="10160">
            <a:solidFill>
              <a:srgbClr val="C96F67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9564624" y="3493008"/>
            <a:ext cx="12618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8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NO RETUNE</a:t>
            </a:r>
            <a:endParaRPr lang="en-US" sz="1080" dirty="0"/>
          </a:p>
        </p:txBody>
      </p:sp>
      <p:sp>
        <p:nvSpPr>
          <p:cNvPr id="59" name="Text 57"/>
          <p:cNvSpPr/>
          <p:nvPr/>
        </p:nvSpPr>
        <p:spPr>
          <a:xfrm>
            <a:off x="6089904" y="3913632"/>
            <a:ext cx="5285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80" b="1" dirty="0">
                <a:solidFill>
                  <a:srgbClr val="7257A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EVIDENCE</a:t>
            </a:r>
            <a:pPr algn="ctr" indent="0" marL="0">
              <a:buNone/>
            </a:pPr>
            <a:r>
              <a:rPr lang="en-US" sz="1380" b="1" dirty="0">
                <a:solidFill>
                  <a:srgbClr val="7257A1"/>
                </a:solidFill>
                <a:latin typeface="標楷體" pitchFamily="34" charset="0"/>
                <a:ea typeface="標楷體" pitchFamily="34" charset="-122"/>
                <a:cs typeface="標楷體" pitchFamily="34" charset="-120"/>
              </a:rPr>
              <a:t>｜</a:t>
            </a:r>
            <a:pPr algn="ctr" indent="0" marL="0">
              <a:buNone/>
            </a:pPr>
            <a:r>
              <a:rPr lang="en-US" sz="1380" b="1" dirty="0">
                <a:solidFill>
                  <a:srgbClr val="7257A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state · service · J</a:t>
            </a:r>
            <a:endParaRPr lang="en-US" sz="1380" dirty="0"/>
          </a:p>
        </p:txBody>
      </p:sp>
      <p:sp>
        <p:nvSpPr>
          <p:cNvPr id="60" name="Shape 58"/>
          <p:cNvSpPr/>
          <p:nvPr/>
        </p:nvSpPr>
        <p:spPr>
          <a:xfrm>
            <a:off x="749808" y="4498848"/>
            <a:ext cx="10972800" cy="640080"/>
          </a:xfrm>
          <a:prstGeom prst="roundRect">
            <a:avLst/>
          </a:prstGeom>
          <a:solidFill>
            <a:srgbClr val="FAF0EE"/>
          </a:solidFill>
          <a:ln w="12065">
            <a:solidFill>
              <a:srgbClr val="C46F67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868680" y="4590288"/>
            <a:ext cx="250545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80" b="1" dirty="0">
                <a:solidFill>
                  <a:srgbClr val="C46F67"/>
                </a:solidFill>
                <a:latin typeface="標楷體" pitchFamily="34" charset="0"/>
                <a:ea typeface="標楷體" pitchFamily="34" charset="-122"/>
                <a:cs typeface="標楷體" pitchFamily="34" charset="-120"/>
              </a:rPr>
              <a:t>操作</a:t>
            </a:r>
            <a:endParaRPr lang="en-US" sz="1080" dirty="0"/>
          </a:p>
        </p:txBody>
      </p:sp>
      <p:sp>
        <p:nvSpPr>
          <p:cNvPr id="62" name="Text 60"/>
          <p:cNvSpPr/>
          <p:nvPr/>
        </p:nvSpPr>
        <p:spPr>
          <a:xfrm>
            <a:off x="868680" y="4782312"/>
            <a:ext cx="2505456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243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rewind → freeze → Trace B</a:t>
            </a:r>
            <a:endParaRPr lang="en-US" sz="1300" dirty="0"/>
          </a:p>
        </p:txBody>
      </p:sp>
      <p:sp>
        <p:nvSpPr>
          <p:cNvPr id="63" name="Shape 61"/>
          <p:cNvSpPr/>
          <p:nvPr/>
        </p:nvSpPr>
        <p:spPr>
          <a:xfrm>
            <a:off x="3493008" y="4590288"/>
            <a:ext cx="0" cy="457200"/>
          </a:xfrm>
          <a:prstGeom prst="line">
            <a:avLst/>
          </a:prstGeom>
          <a:noFill/>
          <a:ln w="10160">
            <a:solidFill>
              <a:srgbClr val="D5DDE4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3611880" y="4590288"/>
            <a:ext cx="250545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80" b="1" dirty="0">
                <a:solidFill>
                  <a:srgbClr val="C46F67"/>
                </a:solidFill>
                <a:latin typeface="標楷體" pitchFamily="34" charset="0"/>
                <a:ea typeface="標楷體" pitchFamily="34" charset="-122"/>
                <a:cs typeface="標楷體" pitchFamily="34" charset="-120"/>
              </a:rPr>
              <a:t>證據</a:t>
            </a:r>
            <a:endParaRPr lang="en-US" sz="1080" dirty="0"/>
          </a:p>
        </p:txBody>
      </p:sp>
      <p:sp>
        <p:nvSpPr>
          <p:cNvPr id="65" name="Text 63"/>
          <p:cNvSpPr/>
          <p:nvPr/>
        </p:nvSpPr>
        <p:spPr>
          <a:xfrm>
            <a:off x="3611880" y="4782312"/>
            <a:ext cx="2505456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243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state</a:t>
            </a:r>
            <a:pPr algn="ctr" indent="0" marL="0">
              <a:buNone/>
            </a:pPr>
            <a:r>
              <a:rPr lang="en-US" sz="1300" b="1" dirty="0">
                <a:solidFill>
                  <a:srgbClr val="1E2430"/>
                </a:solidFill>
                <a:latin typeface="標楷體" pitchFamily="34" charset="0"/>
                <a:ea typeface="標楷體" pitchFamily="34" charset="-122"/>
                <a:cs typeface="標楷體" pitchFamily="34" charset="-120"/>
              </a:rPr>
              <a:t>／</a:t>
            </a:r>
            <a:pPr algn="ctr" indent="0" marL="0">
              <a:buNone/>
            </a:pPr>
            <a:r>
              <a:rPr lang="en-US" sz="1300" b="1" dirty="0">
                <a:solidFill>
                  <a:srgbClr val="1E243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service</a:t>
            </a:r>
            <a:pPr algn="ctr" indent="0" marL="0">
              <a:buNone/>
            </a:pPr>
            <a:r>
              <a:rPr lang="en-US" sz="1300" b="1" dirty="0">
                <a:solidFill>
                  <a:srgbClr val="1E2430"/>
                </a:solidFill>
                <a:latin typeface="標楷體" pitchFamily="34" charset="0"/>
                <a:ea typeface="標楷體" pitchFamily="34" charset="-122"/>
                <a:cs typeface="標楷體" pitchFamily="34" charset="-120"/>
              </a:rPr>
              <a:t>／</a:t>
            </a:r>
            <a:pPr algn="ctr" indent="0" marL="0">
              <a:buNone/>
            </a:pPr>
            <a:r>
              <a:rPr lang="en-US" sz="1300" b="1" dirty="0">
                <a:solidFill>
                  <a:srgbClr val="1E243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J</a:t>
            </a:r>
            <a:endParaRPr lang="en-US" sz="1300" dirty="0"/>
          </a:p>
        </p:txBody>
      </p:sp>
      <p:sp>
        <p:nvSpPr>
          <p:cNvPr id="66" name="Shape 64"/>
          <p:cNvSpPr/>
          <p:nvPr/>
        </p:nvSpPr>
        <p:spPr>
          <a:xfrm>
            <a:off x="6236208" y="4590288"/>
            <a:ext cx="0" cy="457200"/>
          </a:xfrm>
          <a:prstGeom prst="line">
            <a:avLst/>
          </a:prstGeom>
          <a:noFill/>
          <a:ln w="10160">
            <a:solidFill>
              <a:srgbClr val="D5DDE4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6355080" y="4590288"/>
            <a:ext cx="250545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80" b="1" dirty="0">
                <a:solidFill>
                  <a:srgbClr val="C46F67"/>
                </a:solidFill>
                <a:latin typeface="標楷體" pitchFamily="34" charset="0"/>
                <a:ea typeface="標楷體" pitchFamily="34" charset="-122"/>
                <a:cs typeface="標楷體" pitchFamily="34" charset="-120"/>
              </a:rPr>
              <a:t>意義</a:t>
            </a:r>
            <a:endParaRPr lang="en-US" sz="1080" dirty="0"/>
          </a:p>
        </p:txBody>
      </p:sp>
      <p:sp>
        <p:nvSpPr>
          <p:cNvPr id="68" name="Text 66"/>
          <p:cNvSpPr/>
          <p:nvPr/>
        </p:nvSpPr>
        <p:spPr>
          <a:xfrm>
            <a:off x="6355080" y="4782312"/>
            <a:ext cx="2505456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20" b="1" dirty="0">
                <a:solidFill>
                  <a:srgbClr val="1E243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choice → active time</a:t>
            </a:r>
            <a:pPr algn="ctr" indent="0" marL="0">
              <a:buNone/>
            </a:pPr>
            <a:r>
              <a:rPr lang="en-US" sz="1220" b="1" dirty="0">
                <a:solidFill>
                  <a:srgbClr val="1E2430"/>
                </a:solidFill>
                <a:latin typeface="標楷體" pitchFamily="34" charset="0"/>
                <a:ea typeface="標楷體" pitchFamily="34" charset="-122"/>
                <a:cs typeface="標楷體" pitchFamily="34" charset="-120"/>
              </a:rPr>
              <a:t>／</a:t>
            </a:r>
            <a:pPr algn="ctr" indent="0" marL="0">
              <a:buNone/>
            </a:pPr>
            <a:r>
              <a:rPr lang="en-US" sz="1220" b="1" dirty="0">
                <a:solidFill>
                  <a:srgbClr val="1E243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service → J</a:t>
            </a:r>
            <a:endParaRPr lang="en-US" sz="1220" dirty="0"/>
          </a:p>
        </p:txBody>
      </p:sp>
      <p:sp>
        <p:nvSpPr>
          <p:cNvPr id="69" name="Shape 67"/>
          <p:cNvSpPr/>
          <p:nvPr/>
        </p:nvSpPr>
        <p:spPr>
          <a:xfrm>
            <a:off x="8979408" y="4590288"/>
            <a:ext cx="0" cy="457200"/>
          </a:xfrm>
          <a:prstGeom prst="line">
            <a:avLst/>
          </a:prstGeom>
          <a:noFill/>
          <a:ln w="10160">
            <a:solidFill>
              <a:srgbClr val="D5DDE4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9098280" y="4590288"/>
            <a:ext cx="250545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80" b="1" dirty="0">
                <a:solidFill>
                  <a:srgbClr val="C46F67"/>
                </a:solidFill>
                <a:latin typeface="標楷體" pitchFamily="34" charset="0"/>
                <a:ea typeface="標楷體" pitchFamily="34" charset="-122"/>
                <a:cs typeface="標楷體" pitchFamily="34" charset="-120"/>
              </a:rPr>
              <a:t>回復</a:t>
            </a:r>
            <a:endParaRPr lang="en-US" sz="1080" dirty="0"/>
          </a:p>
        </p:txBody>
      </p:sp>
      <p:sp>
        <p:nvSpPr>
          <p:cNvPr id="71" name="Text 69"/>
          <p:cNvSpPr/>
          <p:nvPr/>
        </p:nvSpPr>
        <p:spPr>
          <a:xfrm>
            <a:off x="9098280" y="4782312"/>
            <a:ext cx="2505456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243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rewind</a:t>
            </a:r>
            <a:pPr algn="ctr" indent="0" marL="0">
              <a:buNone/>
            </a:pPr>
            <a:r>
              <a:rPr lang="en-US" sz="1300" b="1" dirty="0">
                <a:solidFill>
                  <a:srgbClr val="1E2430"/>
                </a:solidFill>
                <a:latin typeface="標楷體" pitchFamily="34" charset="0"/>
                <a:ea typeface="標楷體" pitchFamily="34" charset="-122"/>
                <a:cs typeface="標楷體" pitchFamily="34" charset="-120"/>
              </a:rPr>
              <a:t>／</a:t>
            </a:r>
            <a:pPr algn="ctr" indent="0" marL="0">
              <a:buNone/>
            </a:pPr>
            <a:r>
              <a:rPr lang="en-US" sz="1300" b="1" dirty="0">
                <a:solidFill>
                  <a:srgbClr val="1E243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known-good</a:t>
            </a:r>
            <a:endParaRPr lang="en-US" sz="1300" dirty="0"/>
          </a:p>
        </p:txBody>
      </p:sp>
      <p:sp>
        <p:nvSpPr>
          <p:cNvPr id="72" name="Shape 70"/>
          <p:cNvSpPr/>
          <p:nvPr/>
        </p:nvSpPr>
        <p:spPr>
          <a:xfrm>
            <a:off x="749808" y="5349240"/>
            <a:ext cx="10972800" cy="0"/>
          </a:xfrm>
          <a:prstGeom prst="line">
            <a:avLst/>
          </a:prstGeom>
          <a:noFill/>
          <a:ln w="12700">
            <a:solidFill>
              <a:srgbClr val="D5DDE4"/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3749040" y="5440680"/>
            <a:ext cx="0" cy="457200"/>
          </a:xfrm>
          <a:prstGeom prst="line">
            <a:avLst/>
          </a:prstGeom>
          <a:noFill/>
          <a:ln w="10160">
            <a:solidFill>
              <a:srgbClr val="D5DDE4"/>
            </a:solidFill>
            <a:prstDash val="solid"/>
          </a:ln>
        </p:spPr>
      </p:sp>
      <p:sp>
        <p:nvSpPr>
          <p:cNvPr id="74" name="Shape 72"/>
          <p:cNvSpPr/>
          <p:nvPr/>
        </p:nvSpPr>
        <p:spPr>
          <a:xfrm>
            <a:off x="7909560" y="5440680"/>
            <a:ext cx="0" cy="457200"/>
          </a:xfrm>
          <a:prstGeom prst="line">
            <a:avLst/>
          </a:prstGeom>
          <a:noFill/>
          <a:ln w="10160">
            <a:solidFill>
              <a:srgbClr val="D5DDE4"/>
            </a:solidFill>
            <a:prstDash val="solid"/>
          </a:ln>
        </p:spPr>
      </p:sp>
      <p:sp>
        <p:nvSpPr>
          <p:cNvPr id="75" name="Shape 73"/>
          <p:cNvSpPr/>
          <p:nvPr/>
        </p:nvSpPr>
        <p:spPr>
          <a:xfrm>
            <a:off x="749808" y="5458968"/>
            <a:ext cx="100584" cy="100584"/>
          </a:xfrm>
          <a:prstGeom prst="ellipse">
            <a:avLst/>
          </a:prstGeom>
          <a:solidFill>
            <a:srgbClr val="2D7A70"/>
          </a:solidFill>
          <a:ln w="5080">
            <a:solidFill>
              <a:srgbClr val="2D7A70"/>
            </a:solidFill>
            <a:prstDash val="solid"/>
          </a:ln>
        </p:spPr>
      </p:sp>
      <p:sp>
        <p:nvSpPr>
          <p:cNvPr id="76" name="Text 74"/>
          <p:cNvSpPr/>
          <p:nvPr/>
        </p:nvSpPr>
        <p:spPr>
          <a:xfrm>
            <a:off x="905256" y="5468112"/>
            <a:ext cx="2770632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60" b="1" dirty="0">
                <a:solidFill>
                  <a:srgbClr val="2D7A7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FACT</a:t>
            </a:r>
            <a:pPr algn="l" indent="0" marL="0">
              <a:buNone/>
            </a:pPr>
            <a:r>
              <a:rPr lang="en-US" sz="1060" b="1" dirty="0">
                <a:solidFill>
                  <a:srgbClr val="2D7A70"/>
                </a:solidFill>
                <a:latin typeface="標楷體" pitchFamily="34" charset="0"/>
                <a:ea typeface="標楷體" pitchFamily="34" charset="-122"/>
                <a:cs typeface="標楷體" pitchFamily="34" charset="-120"/>
              </a:rPr>
              <a:t>｜</a:t>
            </a:r>
            <a:pPr algn="l" indent="0" marL="0">
              <a:buNone/>
            </a:pPr>
            <a:r>
              <a:rPr lang="en-US" sz="1060" b="1" dirty="0">
                <a:solidFill>
                  <a:srgbClr val="2D7A7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switch count </a:t>
            </a:r>
            <a:pPr algn="l" indent="0" marL="0">
              <a:buNone/>
            </a:pPr>
            <a:r>
              <a:rPr lang="en-US" sz="1060" b="1" dirty="0">
                <a:solidFill>
                  <a:srgbClr val="2D7A70"/>
                </a:solidFill>
                <a:latin typeface="標楷體" pitchFamily="34" charset="0"/>
                <a:ea typeface="標楷體" pitchFamily="34" charset="-122"/>
                <a:cs typeface="標楷體" pitchFamily="34" charset="-120"/>
              </a:rPr>
              <a:t>非能耗項</a:t>
            </a:r>
            <a:endParaRPr lang="en-US" sz="1060" dirty="0"/>
          </a:p>
        </p:txBody>
      </p:sp>
      <p:sp>
        <p:nvSpPr>
          <p:cNvPr id="77" name="Shape 75"/>
          <p:cNvSpPr/>
          <p:nvPr/>
        </p:nvSpPr>
        <p:spPr>
          <a:xfrm>
            <a:off x="3840480" y="5458968"/>
            <a:ext cx="100584" cy="100584"/>
          </a:xfrm>
          <a:prstGeom prst="ellipse">
            <a:avLst/>
          </a:prstGeom>
          <a:solidFill>
            <a:srgbClr val="7257A1"/>
          </a:solidFill>
          <a:ln w="5080">
            <a:solidFill>
              <a:srgbClr val="7257A1"/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3995928" y="5468112"/>
            <a:ext cx="3822192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60" b="1" dirty="0">
                <a:solidFill>
                  <a:srgbClr val="7257A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DESIGN INFERENCE</a:t>
            </a:r>
            <a:pPr algn="l" indent="0" marL="0">
              <a:buNone/>
            </a:pPr>
            <a:r>
              <a:rPr lang="en-US" sz="1060" b="1" dirty="0">
                <a:solidFill>
                  <a:srgbClr val="7257A1"/>
                </a:solidFill>
                <a:latin typeface="標楷體" pitchFamily="34" charset="0"/>
                <a:ea typeface="標楷體" pitchFamily="34" charset="-122"/>
                <a:cs typeface="標楷體" pitchFamily="34" charset="-120"/>
              </a:rPr>
              <a:t>｜設計估計：</a:t>
            </a:r>
            <a:pPr algn="l" indent="0" marL="0">
              <a:buNone/>
            </a:pPr>
            <a:r>
              <a:rPr lang="en-US" sz="1060" b="1" dirty="0">
                <a:solidFill>
                  <a:srgbClr val="7257A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5–6 </a:t>
            </a:r>
            <a:pPr algn="l" indent="0" marL="0">
              <a:buNone/>
            </a:pPr>
            <a:r>
              <a:rPr lang="en-US" sz="1060" b="1" dirty="0">
                <a:solidFill>
                  <a:srgbClr val="7257A1"/>
                </a:solidFill>
                <a:latin typeface="標楷體" pitchFamily="34" charset="0"/>
                <a:ea typeface="標楷體" pitchFamily="34" charset="-122"/>
                <a:cs typeface="標楷體" pitchFamily="34" charset="-120"/>
              </a:rPr>
              <a:t>頁＋</a:t>
            </a:r>
            <a:pPr algn="l" indent="0" marL="0">
              <a:buNone/>
            </a:pPr>
            <a:r>
              <a:rPr lang="en-US" sz="1060" b="1" dirty="0">
                <a:solidFill>
                  <a:srgbClr val="7257A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 lab</a:t>
            </a:r>
            <a:endParaRPr lang="en-US" sz="1060" dirty="0"/>
          </a:p>
        </p:txBody>
      </p:sp>
      <p:sp>
        <p:nvSpPr>
          <p:cNvPr id="79" name="Shape 77"/>
          <p:cNvSpPr/>
          <p:nvPr/>
        </p:nvSpPr>
        <p:spPr>
          <a:xfrm>
            <a:off x="8001000" y="5458968"/>
            <a:ext cx="100584" cy="100584"/>
          </a:xfrm>
          <a:prstGeom prst="ellipse">
            <a:avLst/>
          </a:prstGeom>
          <a:solidFill>
            <a:srgbClr val="98514F"/>
          </a:solidFill>
          <a:ln w="5080">
            <a:solidFill>
              <a:srgbClr val="98514F"/>
            </a:solidFill>
            <a:prstDash val="solid"/>
          </a:ln>
        </p:spPr>
      </p:sp>
      <p:sp>
        <p:nvSpPr>
          <p:cNvPr id="80" name="Text 78"/>
          <p:cNvSpPr/>
          <p:nvPr/>
        </p:nvSpPr>
        <p:spPr>
          <a:xfrm>
            <a:off x="8156448" y="5468112"/>
            <a:ext cx="356616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60" b="1" dirty="0">
                <a:solidFill>
                  <a:srgbClr val="98514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UNKNOWN</a:t>
            </a:r>
            <a:pPr algn="l" indent="0" marL="0">
              <a:buNone/>
            </a:pPr>
            <a:r>
              <a:rPr lang="en-US" sz="1060" b="1" dirty="0">
                <a:solidFill>
                  <a:srgbClr val="98514F"/>
                </a:solidFill>
                <a:latin typeface="標楷體" pitchFamily="34" charset="0"/>
                <a:ea typeface="標楷體" pitchFamily="34" charset="-122"/>
                <a:cs typeface="標楷體" pitchFamily="34" charset="-120"/>
              </a:rPr>
              <a:t>｜</a:t>
            </a:r>
            <a:pPr algn="l" indent="0" marL="0">
              <a:buNone/>
            </a:pPr>
            <a:r>
              <a:rPr lang="en-US" sz="1060" b="1" dirty="0">
                <a:solidFill>
                  <a:srgbClr val="98514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rule branch</a:t>
            </a:r>
            <a:pPr algn="l" indent="0" marL="0">
              <a:buNone/>
            </a:pPr>
            <a:r>
              <a:rPr lang="en-US" sz="1060" b="1" dirty="0">
                <a:solidFill>
                  <a:srgbClr val="98514F"/>
                </a:solidFill>
                <a:latin typeface="標楷體" pitchFamily="34" charset="0"/>
                <a:ea typeface="標楷體" pitchFamily="34" charset="-122"/>
                <a:cs typeface="標楷體" pitchFamily="34" charset="-120"/>
              </a:rPr>
              <a:t>／</a:t>
            </a:r>
            <a:pPr algn="l" indent="0" marL="0">
              <a:buNone/>
            </a:pPr>
            <a:r>
              <a:rPr lang="en-US" sz="1060" b="1" dirty="0">
                <a:solidFill>
                  <a:srgbClr val="98514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withheld fairness </a:t>
            </a:r>
            <a:pPr algn="l" indent="0" marL="0">
              <a:buNone/>
            </a:pPr>
            <a:r>
              <a:rPr lang="en-US" sz="1060" b="1" dirty="0">
                <a:solidFill>
                  <a:srgbClr val="98514F"/>
                </a:solidFill>
                <a:latin typeface="標楷體" pitchFamily="34" charset="0"/>
                <a:ea typeface="標楷體" pitchFamily="34" charset="-122"/>
                <a:cs typeface="標楷體" pitchFamily="34" charset="-120"/>
              </a:rPr>
              <a:t>待驗</a:t>
            </a:r>
            <a:endParaRPr lang="en-US" sz="106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34700" y="6340475"/>
            <a:ext cx="889000" cy="47625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400">
                <a:solidFill>
                  <a:srgbClr val="35377F"/>
                </a:solidFill>
                <a:latin typeface="Times New Roman"/>
                <a:ea typeface="Times New Roman"/>
                <a:cs typeface="Times New Roman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6591" y="187008"/>
            <a:ext cx="2176272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35377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64–69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2916936" y="265176"/>
            <a:ext cx="0" cy="310896"/>
          </a:xfrm>
          <a:prstGeom prst="line">
            <a:avLst/>
          </a:prstGeom>
          <a:noFill/>
          <a:ln w="19050">
            <a:solidFill>
              <a:srgbClr val="35377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136392" y="187008"/>
            <a:ext cx="6982968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35377F"/>
                </a:solidFill>
                <a:latin typeface="標楷體" pitchFamily="34" charset="0"/>
                <a:ea typeface="標楷體" pitchFamily="34" charset="-122"/>
                <a:cs typeface="標楷體" pitchFamily="34" charset="-120"/>
              </a:rPr>
              <a:t>回復與重整｜保住證據連續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749808" y="969264"/>
            <a:ext cx="969264" cy="301752"/>
          </a:xfrm>
          <a:prstGeom prst="roundRect">
            <a:avLst/>
          </a:prstGeom>
          <a:solidFill>
            <a:srgbClr val="60748F"/>
          </a:solidFill>
          <a:ln w="10160">
            <a:solidFill>
              <a:srgbClr val="60748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04672" y="987552"/>
            <a:ext cx="85953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20" b="1" dirty="0">
                <a:solidFill>
                  <a:srgbClr val="FFFFFF"/>
                </a:solidFill>
                <a:latin typeface="標楷體" pitchFamily="34" charset="0"/>
                <a:ea typeface="標楷體" pitchFamily="34" charset="-122"/>
                <a:cs typeface="標楷體" pitchFamily="34" charset="-120"/>
              </a:rPr>
              <a:t>核心問題</a:t>
            </a:r>
            <a:endParaRPr lang="en-US" sz="1220" dirty="0"/>
          </a:p>
        </p:txBody>
      </p:sp>
      <p:sp>
        <p:nvSpPr>
          <p:cNvPr id="7" name="Text 5"/>
          <p:cNvSpPr/>
          <p:nvPr/>
        </p:nvSpPr>
        <p:spPr>
          <a:xfrm>
            <a:off x="1883664" y="960120"/>
            <a:ext cx="65653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2430"/>
                </a:solidFill>
                <a:latin typeface="標楷體" pitchFamily="34" charset="0"/>
                <a:ea typeface="標楷體" pitchFamily="34" charset="-122"/>
                <a:cs typeface="標楷體" pitchFamily="34" charset="-120"/>
              </a:rPr>
              <a:t>能閉卷重建一條因果鏈嗎？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8549640" y="964692"/>
            <a:ext cx="317296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80" b="1" dirty="0">
                <a:solidFill>
                  <a:srgbClr val="60748F"/>
                </a:solidFill>
                <a:latin typeface="標楷體" pitchFamily="34" charset="0"/>
                <a:ea typeface="標楷體" pitchFamily="34" charset="-122"/>
                <a:cs typeface="標楷體" pitchFamily="34" charset="-120"/>
              </a:rPr>
              <a:t>閉卷決定｜缺哪一節就補哪一節</a:t>
            </a:r>
            <a:endParaRPr lang="en-US" sz="1380" dirty="0"/>
          </a:p>
        </p:txBody>
      </p:sp>
      <p:sp>
        <p:nvSpPr>
          <p:cNvPr id="9" name="Shape 7"/>
          <p:cNvSpPr/>
          <p:nvPr/>
        </p:nvSpPr>
        <p:spPr>
          <a:xfrm>
            <a:off x="749808" y="1353312"/>
            <a:ext cx="10972800" cy="0"/>
          </a:xfrm>
          <a:prstGeom prst="line">
            <a:avLst/>
          </a:prstGeom>
          <a:noFill/>
          <a:ln w="13335">
            <a:solidFill>
              <a:srgbClr val="60748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743200" y="2176272"/>
            <a:ext cx="420624" cy="0"/>
          </a:xfrm>
          <a:prstGeom prst="line">
            <a:avLst/>
          </a:prstGeom>
          <a:noFill/>
          <a:ln w="20320">
            <a:solidFill>
              <a:srgbClr val="28AFC0"/>
            </a:solidFill>
            <a:prstDash val="solid"/>
            <a:headEnd type="none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749808" y="1627632"/>
            <a:ext cx="1993392" cy="1078992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57788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950976" y="1819656"/>
            <a:ext cx="1572768" cy="292608"/>
          </a:xfrm>
          <a:prstGeom prst="roundRect">
            <a:avLst/>
          </a:prstGeom>
          <a:solidFill>
            <a:srgbClr val="57788E"/>
          </a:solidFill>
          <a:ln w="10160">
            <a:solidFill>
              <a:srgbClr val="57788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005840" y="1837944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7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SAVE</a:t>
            </a:r>
            <a:endParaRPr lang="en-US" sz="1170" dirty="0"/>
          </a:p>
        </p:txBody>
      </p:sp>
      <p:sp>
        <p:nvSpPr>
          <p:cNvPr id="14" name="Text 12"/>
          <p:cNvSpPr/>
          <p:nvPr/>
        </p:nvSpPr>
        <p:spPr>
          <a:xfrm>
            <a:off x="950976" y="2240280"/>
            <a:ext cx="1591056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30" b="1" dirty="0">
                <a:solidFill>
                  <a:srgbClr val="1E243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Workbook</a:t>
            </a:r>
            <a:endParaRPr lang="en-US" sz="1430" dirty="0"/>
          </a:p>
        </p:txBody>
      </p:sp>
      <p:sp>
        <p:nvSpPr>
          <p:cNvPr id="15" name="Shape 13"/>
          <p:cNvSpPr/>
          <p:nvPr/>
        </p:nvSpPr>
        <p:spPr>
          <a:xfrm>
            <a:off x="5797296" y="2176272"/>
            <a:ext cx="420624" cy="0"/>
          </a:xfrm>
          <a:prstGeom prst="line">
            <a:avLst/>
          </a:prstGeom>
          <a:noFill/>
          <a:ln w="20320">
            <a:solidFill>
              <a:srgbClr val="28AFC0"/>
            </a:solidFill>
            <a:prstDash val="solid"/>
            <a:headEnd type="none"/>
            <a:tailEnd type="triangle"/>
          </a:ln>
        </p:spPr>
      </p:sp>
      <p:sp>
        <p:nvSpPr>
          <p:cNvPr id="16" name="Shape 14"/>
          <p:cNvSpPr/>
          <p:nvPr/>
        </p:nvSpPr>
        <p:spPr>
          <a:xfrm>
            <a:off x="3163824" y="1627632"/>
            <a:ext cx="2633472" cy="1078992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28AFC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3364992" y="1819656"/>
            <a:ext cx="1572768" cy="292608"/>
          </a:xfrm>
          <a:prstGeom prst="roundRect">
            <a:avLst/>
          </a:prstGeom>
          <a:solidFill>
            <a:srgbClr val="28AFC0"/>
          </a:solidFill>
          <a:ln w="10160">
            <a:solidFill>
              <a:srgbClr val="28AFC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419856" y="1837944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7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STATE</a:t>
            </a:r>
            <a:pPr algn="ctr" indent="0" marL="0">
              <a:buNone/>
            </a:pPr>
            <a:r>
              <a:rPr lang="en-US" sz="1170" b="1" dirty="0">
                <a:solidFill>
                  <a:srgbClr val="FFFFFF"/>
                </a:solidFill>
                <a:latin typeface="標楷體" pitchFamily="34" charset="0"/>
                <a:ea typeface="標楷體" pitchFamily="34" charset="-122"/>
                <a:cs typeface="標楷體" pitchFamily="34" charset="-120"/>
              </a:rPr>
              <a:t>＋</a:t>
            </a:r>
            <a:pPr algn="ctr" indent="0" marL="0">
              <a:buNone/>
            </a:pPr>
            <a:r>
              <a:rPr lang="en-US" sz="117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ACTION</a:t>
            </a:r>
            <a:endParaRPr lang="en-US" sz="1170" dirty="0"/>
          </a:p>
        </p:txBody>
      </p:sp>
      <p:sp>
        <p:nvSpPr>
          <p:cNvPr id="19" name="Text 17"/>
          <p:cNvSpPr/>
          <p:nvPr/>
        </p:nvSpPr>
        <p:spPr>
          <a:xfrm>
            <a:off x="3364992" y="2240280"/>
            <a:ext cx="2231136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30" b="1" dirty="0">
                <a:solidFill>
                  <a:srgbClr val="1E2430"/>
                </a:solidFill>
                <a:latin typeface="標楷體" pitchFamily="34" charset="0"/>
                <a:ea typeface="標楷體" pitchFamily="34" charset="-122"/>
                <a:cs typeface="標楷體" pitchFamily="34" charset="-120"/>
              </a:rPr>
              <a:t>當時狀態＋採取動作</a:t>
            </a:r>
            <a:endParaRPr lang="en-US" sz="1430" dirty="0"/>
          </a:p>
        </p:txBody>
      </p:sp>
      <p:sp>
        <p:nvSpPr>
          <p:cNvPr id="20" name="Shape 18"/>
          <p:cNvSpPr/>
          <p:nvPr/>
        </p:nvSpPr>
        <p:spPr>
          <a:xfrm>
            <a:off x="8211312" y="2176272"/>
            <a:ext cx="420624" cy="0"/>
          </a:xfrm>
          <a:prstGeom prst="line">
            <a:avLst/>
          </a:prstGeom>
          <a:noFill/>
          <a:ln w="20320">
            <a:solidFill>
              <a:srgbClr val="28AFC0"/>
            </a:solidFill>
            <a:prstDash val="solid"/>
            <a:headEnd type="none"/>
            <a:tailEnd type="triangle"/>
          </a:ln>
        </p:spPr>
      </p:sp>
      <p:sp>
        <p:nvSpPr>
          <p:cNvPr id="21" name="Shape 19"/>
          <p:cNvSpPr/>
          <p:nvPr/>
        </p:nvSpPr>
        <p:spPr>
          <a:xfrm>
            <a:off x="6217920" y="1627632"/>
            <a:ext cx="1993392" cy="1078992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4EA978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419088" y="1819656"/>
            <a:ext cx="1572768" cy="292608"/>
          </a:xfrm>
          <a:prstGeom prst="roundRect">
            <a:avLst/>
          </a:prstGeom>
          <a:solidFill>
            <a:srgbClr val="4EA978"/>
          </a:solidFill>
          <a:ln w="10160">
            <a:solidFill>
              <a:srgbClr val="4EA97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473952" y="1837944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7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PATH</a:t>
            </a:r>
            <a:endParaRPr lang="en-US" sz="1170" dirty="0"/>
          </a:p>
        </p:txBody>
      </p:sp>
      <p:sp>
        <p:nvSpPr>
          <p:cNvPr id="24" name="Text 22"/>
          <p:cNvSpPr/>
          <p:nvPr/>
        </p:nvSpPr>
        <p:spPr>
          <a:xfrm>
            <a:off x="6419088" y="2240280"/>
            <a:ext cx="1591056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30" b="1" dirty="0">
                <a:solidFill>
                  <a:srgbClr val="1E2430"/>
                </a:solidFill>
                <a:latin typeface="標楷體" pitchFamily="34" charset="0"/>
                <a:ea typeface="標楷體" pitchFamily="34" charset="-122"/>
                <a:cs typeface="標楷體" pitchFamily="34" charset="-120"/>
              </a:rPr>
              <a:t>系統路徑</a:t>
            </a:r>
            <a:endParaRPr lang="en-US" sz="1430" dirty="0"/>
          </a:p>
        </p:txBody>
      </p:sp>
      <p:sp>
        <p:nvSpPr>
          <p:cNvPr id="25" name="Shape 23"/>
          <p:cNvSpPr/>
          <p:nvPr/>
        </p:nvSpPr>
        <p:spPr>
          <a:xfrm>
            <a:off x="8631936" y="1627632"/>
            <a:ext cx="3090672" cy="1078992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8A70BF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8833104" y="1819656"/>
            <a:ext cx="1572768" cy="292608"/>
          </a:xfrm>
          <a:prstGeom prst="roundRect">
            <a:avLst/>
          </a:prstGeom>
          <a:solidFill>
            <a:srgbClr val="8A70BF"/>
          </a:solidFill>
          <a:ln w="10160">
            <a:solidFill>
              <a:srgbClr val="8A70BF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8887968" y="1837944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7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SERVICE</a:t>
            </a:r>
            <a:pPr algn="ctr" indent="0" marL="0">
              <a:buNone/>
            </a:pPr>
            <a:r>
              <a:rPr lang="en-US" sz="1170" b="1" dirty="0">
                <a:solidFill>
                  <a:srgbClr val="FFFFFF"/>
                </a:solidFill>
                <a:latin typeface="標楷體" pitchFamily="34" charset="0"/>
                <a:ea typeface="標楷體" pitchFamily="34" charset="-122"/>
                <a:cs typeface="標楷體" pitchFamily="34" charset="-120"/>
              </a:rPr>
              <a:t>／</a:t>
            </a:r>
            <a:pPr algn="ctr" indent="0" marL="0">
              <a:buNone/>
            </a:pPr>
            <a:r>
              <a:rPr lang="en-US" sz="117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J</a:t>
            </a:r>
            <a:endParaRPr lang="en-US" sz="1170" dirty="0"/>
          </a:p>
        </p:txBody>
      </p:sp>
      <p:sp>
        <p:nvSpPr>
          <p:cNvPr id="28" name="Text 26"/>
          <p:cNvSpPr/>
          <p:nvPr/>
        </p:nvSpPr>
        <p:spPr>
          <a:xfrm>
            <a:off x="8833104" y="2240280"/>
            <a:ext cx="2688336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30" b="1" dirty="0">
                <a:solidFill>
                  <a:srgbClr val="1E2430"/>
                </a:solidFill>
                <a:latin typeface="標楷體" pitchFamily="34" charset="0"/>
                <a:ea typeface="標楷體" pitchFamily="34" charset="-122"/>
                <a:cs typeface="標楷體" pitchFamily="34" charset="-120"/>
              </a:rPr>
              <a:t>服務結果＋累積能量</a:t>
            </a:r>
            <a:endParaRPr lang="en-US" sz="1430" dirty="0"/>
          </a:p>
        </p:txBody>
      </p:sp>
      <p:sp>
        <p:nvSpPr>
          <p:cNvPr id="29" name="Shape 27"/>
          <p:cNvSpPr/>
          <p:nvPr/>
        </p:nvSpPr>
        <p:spPr>
          <a:xfrm>
            <a:off x="5715000" y="2926080"/>
            <a:ext cx="658368" cy="658368"/>
          </a:xfrm>
          <a:prstGeom prst="ellipse">
            <a:avLst/>
          </a:prstGeom>
          <a:solidFill>
            <a:srgbClr val="C9A74F"/>
          </a:solidFill>
          <a:ln w="10160">
            <a:solidFill>
              <a:srgbClr val="C9A74F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715000" y="3136392"/>
            <a:ext cx="65836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4213D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CHECK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6044184" y="2715768"/>
            <a:ext cx="0" cy="182880"/>
          </a:xfrm>
          <a:prstGeom prst="line">
            <a:avLst/>
          </a:prstGeom>
          <a:noFill/>
          <a:ln w="19050">
            <a:solidFill>
              <a:srgbClr val="C9A74F"/>
            </a:solidFill>
            <a:prstDash val="solid"/>
            <a:headEnd type="none"/>
            <a:tailEnd type="triangle"/>
          </a:ln>
        </p:spPr>
      </p:sp>
      <p:sp>
        <p:nvSpPr>
          <p:cNvPr id="32" name="Shape 30"/>
          <p:cNvSpPr/>
          <p:nvPr/>
        </p:nvSpPr>
        <p:spPr>
          <a:xfrm>
            <a:off x="5760720" y="3493008"/>
            <a:ext cx="-2468880" cy="384048"/>
          </a:xfrm>
          <a:prstGeom prst="line">
            <a:avLst/>
          </a:prstGeom>
          <a:noFill/>
          <a:ln w="18415">
            <a:solidFill>
              <a:srgbClr val="57788E"/>
            </a:solidFill>
            <a:prstDash val="solid"/>
            <a:headEnd type="none"/>
            <a:tailEnd type="triangle"/>
          </a:ln>
        </p:spPr>
      </p:sp>
      <p:sp>
        <p:nvSpPr>
          <p:cNvPr id="33" name="Shape 31"/>
          <p:cNvSpPr/>
          <p:nvPr/>
        </p:nvSpPr>
        <p:spPr>
          <a:xfrm>
            <a:off x="6327648" y="3493008"/>
            <a:ext cx="2487168" cy="384048"/>
          </a:xfrm>
          <a:prstGeom prst="line">
            <a:avLst/>
          </a:prstGeom>
          <a:noFill/>
          <a:ln w="18415">
            <a:solidFill>
              <a:srgbClr val="4EA978"/>
            </a:solidFill>
            <a:prstDash val="solid"/>
            <a:headEnd type="none"/>
            <a:tailEnd type="triangle"/>
          </a:ln>
        </p:spPr>
      </p:sp>
      <p:sp>
        <p:nvSpPr>
          <p:cNvPr id="34" name="Shape 32"/>
          <p:cNvSpPr/>
          <p:nvPr/>
        </p:nvSpPr>
        <p:spPr>
          <a:xfrm>
            <a:off x="749808" y="3502152"/>
            <a:ext cx="4754880" cy="777240"/>
          </a:xfrm>
          <a:prstGeom prst="roundRect">
            <a:avLst/>
          </a:prstGeom>
          <a:solidFill>
            <a:srgbClr val="EEF4F7"/>
          </a:solidFill>
          <a:ln w="12700">
            <a:solidFill>
              <a:srgbClr val="57788E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987552" y="3712464"/>
            <a:ext cx="1024128" cy="283464"/>
          </a:xfrm>
          <a:prstGeom prst="roundRect">
            <a:avLst/>
          </a:prstGeom>
          <a:solidFill>
            <a:srgbClr val="57788E"/>
          </a:solidFill>
          <a:ln w="10160">
            <a:solidFill>
              <a:srgbClr val="57788E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1042416" y="3730752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標楷體" pitchFamily="34" charset="0"/>
                <a:ea typeface="標楷體" pitchFamily="34" charset="-122"/>
                <a:cs typeface="標楷體" pitchFamily="34" charset="-120"/>
              </a:rPr>
              <a:t>需要協助</a:t>
            </a:r>
            <a:endParaRPr lang="en-US" sz="1150" dirty="0"/>
          </a:p>
        </p:txBody>
      </p:sp>
      <p:sp>
        <p:nvSpPr>
          <p:cNvPr id="37" name="Text 35"/>
          <p:cNvSpPr/>
          <p:nvPr/>
        </p:nvSpPr>
        <p:spPr>
          <a:xfrm>
            <a:off x="2212848" y="3657600"/>
            <a:ext cx="3035808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57788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hint → reset → resume</a:t>
            </a:r>
            <a:endParaRPr lang="en-US" sz="1600" dirty="0"/>
          </a:p>
        </p:txBody>
      </p:sp>
      <p:sp>
        <p:nvSpPr>
          <p:cNvPr id="38" name="Shape 36"/>
          <p:cNvSpPr/>
          <p:nvPr/>
        </p:nvSpPr>
        <p:spPr>
          <a:xfrm>
            <a:off x="6583680" y="3502152"/>
            <a:ext cx="5138928" cy="777240"/>
          </a:xfrm>
          <a:prstGeom prst="roundRect">
            <a:avLst/>
          </a:prstGeom>
          <a:solidFill>
            <a:srgbClr val="ECF7F1"/>
          </a:solidFill>
          <a:ln w="12700">
            <a:solidFill>
              <a:srgbClr val="4EA978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821424" y="3712464"/>
            <a:ext cx="1024128" cy="283464"/>
          </a:xfrm>
          <a:prstGeom prst="roundRect">
            <a:avLst/>
          </a:prstGeom>
          <a:solidFill>
            <a:srgbClr val="4EA978"/>
          </a:solidFill>
          <a:ln w="10160">
            <a:solidFill>
              <a:srgbClr val="4EA978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876288" y="3730752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標楷體" pitchFamily="34" charset="0"/>
                <a:ea typeface="標楷體" pitchFamily="34" charset="-122"/>
                <a:cs typeface="標楷體" pitchFamily="34" charset="-120"/>
              </a:rPr>
              <a:t>已能重建</a:t>
            </a:r>
            <a:endParaRPr lang="en-US" sz="1150" dirty="0"/>
          </a:p>
        </p:txBody>
      </p:sp>
      <p:sp>
        <p:nvSpPr>
          <p:cNvPr id="41" name="Text 39"/>
          <p:cNvSpPr/>
          <p:nvPr/>
        </p:nvSpPr>
        <p:spPr>
          <a:xfrm>
            <a:off x="8028432" y="3648456"/>
            <a:ext cx="34198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2D7A70"/>
                </a:solidFill>
                <a:latin typeface="標楷體" pitchFamily="34" charset="0"/>
                <a:ea typeface="標楷體" pitchFamily="34" charset="-122"/>
                <a:cs typeface="標楷體" pitchFamily="34" charset="-120"/>
              </a:rPr>
              <a:t>用</a:t>
            </a:r>
            <a:pPr algn="ctr" indent="0" marL="0">
              <a:buNone/>
            </a:pPr>
            <a:r>
              <a:rPr lang="en-US" sz="1450" b="1" dirty="0">
                <a:solidFill>
                  <a:srgbClr val="2D7A7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boundary </a:t>
            </a:r>
            <a:pPr algn="ctr" indent="0" marL="0">
              <a:buNone/>
            </a:pPr>
            <a:r>
              <a:rPr lang="en-US" sz="1450" b="1" dirty="0">
                <a:solidFill>
                  <a:srgbClr val="2D7A70"/>
                </a:solidFill>
                <a:latin typeface="標楷體" pitchFamily="34" charset="0"/>
                <a:ea typeface="標楷體" pitchFamily="34" charset="-122"/>
                <a:cs typeface="標楷體" pitchFamily="34" charset="-120"/>
              </a:rPr>
              <a:t>反例測試自己的因果句</a:t>
            </a:r>
            <a:endParaRPr lang="en-US" sz="1450" dirty="0"/>
          </a:p>
        </p:txBody>
      </p:sp>
      <p:sp>
        <p:nvSpPr>
          <p:cNvPr id="42" name="Shape 40"/>
          <p:cNvSpPr/>
          <p:nvPr/>
        </p:nvSpPr>
        <p:spPr>
          <a:xfrm>
            <a:off x="749808" y="4498848"/>
            <a:ext cx="10972800" cy="640080"/>
          </a:xfrm>
          <a:prstGeom prst="roundRect">
            <a:avLst/>
          </a:prstGeom>
          <a:solidFill>
            <a:srgbClr val="F1F4F8"/>
          </a:solidFill>
          <a:ln w="12065">
            <a:solidFill>
              <a:srgbClr val="60748F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868680" y="4590288"/>
            <a:ext cx="250545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80" b="1" dirty="0">
                <a:solidFill>
                  <a:srgbClr val="60748F"/>
                </a:solidFill>
                <a:latin typeface="標楷體" pitchFamily="34" charset="0"/>
                <a:ea typeface="標楷體" pitchFamily="34" charset="-122"/>
                <a:cs typeface="標楷體" pitchFamily="34" charset="-120"/>
              </a:rPr>
              <a:t>操作</a:t>
            </a:r>
            <a:endParaRPr lang="en-US" sz="1080" dirty="0"/>
          </a:p>
        </p:txBody>
      </p:sp>
      <p:sp>
        <p:nvSpPr>
          <p:cNvPr id="44" name="Text 42"/>
          <p:cNvSpPr/>
          <p:nvPr/>
        </p:nvSpPr>
        <p:spPr>
          <a:xfrm>
            <a:off x="868680" y="4782312"/>
            <a:ext cx="2505456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2430"/>
                </a:solidFill>
                <a:latin typeface="標楷體" pitchFamily="34" charset="0"/>
                <a:ea typeface="標楷體" pitchFamily="34" charset="-122"/>
                <a:cs typeface="標楷體" pitchFamily="34" charset="-120"/>
              </a:rPr>
              <a:t>保存</a:t>
            </a:r>
            <a:pPr algn="ctr" indent="0" marL="0">
              <a:buNone/>
            </a:pPr>
            <a:r>
              <a:rPr lang="en-US" sz="1300" b="1" dirty="0">
                <a:solidFill>
                  <a:srgbClr val="1E243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→ </a:t>
            </a:r>
            <a:pPr algn="ctr" indent="0" marL="0">
              <a:buNone/>
            </a:pPr>
            <a:r>
              <a:rPr lang="en-US" sz="1300" b="1" dirty="0">
                <a:solidFill>
                  <a:srgbClr val="1E2430"/>
                </a:solidFill>
                <a:latin typeface="標楷體" pitchFamily="34" charset="0"/>
                <a:ea typeface="標楷體" pitchFamily="34" charset="-122"/>
                <a:cs typeface="標楷體" pitchFamily="34" charset="-120"/>
              </a:rPr>
              <a:t>閉卷重建</a:t>
            </a:r>
            <a:endParaRPr lang="en-US" sz="1300" dirty="0"/>
          </a:p>
        </p:txBody>
      </p:sp>
      <p:sp>
        <p:nvSpPr>
          <p:cNvPr id="45" name="Shape 43"/>
          <p:cNvSpPr/>
          <p:nvPr/>
        </p:nvSpPr>
        <p:spPr>
          <a:xfrm>
            <a:off x="3493008" y="4590288"/>
            <a:ext cx="0" cy="457200"/>
          </a:xfrm>
          <a:prstGeom prst="line">
            <a:avLst/>
          </a:prstGeom>
          <a:noFill/>
          <a:ln w="10160">
            <a:solidFill>
              <a:srgbClr val="D5DDE4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611880" y="4590288"/>
            <a:ext cx="250545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80" b="1" dirty="0">
                <a:solidFill>
                  <a:srgbClr val="60748F"/>
                </a:solidFill>
                <a:latin typeface="標楷體" pitchFamily="34" charset="0"/>
                <a:ea typeface="標楷體" pitchFamily="34" charset="-122"/>
                <a:cs typeface="標楷體" pitchFamily="34" charset="-120"/>
              </a:rPr>
              <a:t>證據</a:t>
            </a:r>
            <a:endParaRPr lang="en-US" sz="1080" dirty="0"/>
          </a:p>
        </p:txBody>
      </p:sp>
      <p:sp>
        <p:nvSpPr>
          <p:cNvPr id="47" name="Text 45"/>
          <p:cNvSpPr/>
          <p:nvPr/>
        </p:nvSpPr>
        <p:spPr>
          <a:xfrm>
            <a:off x="3611880" y="4782312"/>
            <a:ext cx="2505456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2430"/>
                </a:solidFill>
                <a:latin typeface="標楷體" pitchFamily="34" charset="0"/>
                <a:ea typeface="標楷體" pitchFamily="34" charset="-122"/>
                <a:cs typeface="標楷體" pitchFamily="34" charset="-120"/>
              </a:rPr>
              <a:t>狀態＋因果句</a:t>
            </a:r>
            <a:endParaRPr lang="en-US" sz="1300" dirty="0"/>
          </a:p>
        </p:txBody>
      </p:sp>
      <p:sp>
        <p:nvSpPr>
          <p:cNvPr id="48" name="Shape 46"/>
          <p:cNvSpPr/>
          <p:nvPr/>
        </p:nvSpPr>
        <p:spPr>
          <a:xfrm>
            <a:off x="6236208" y="4590288"/>
            <a:ext cx="0" cy="457200"/>
          </a:xfrm>
          <a:prstGeom prst="line">
            <a:avLst/>
          </a:prstGeom>
          <a:noFill/>
          <a:ln w="10160">
            <a:solidFill>
              <a:srgbClr val="D5DDE4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6355080" y="4590288"/>
            <a:ext cx="250545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80" b="1" dirty="0">
                <a:solidFill>
                  <a:srgbClr val="60748F"/>
                </a:solidFill>
                <a:latin typeface="標楷體" pitchFamily="34" charset="0"/>
                <a:ea typeface="標楷體" pitchFamily="34" charset="-122"/>
                <a:cs typeface="標楷體" pitchFamily="34" charset="-120"/>
              </a:rPr>
              <a:t>意義</a:t>
            </a:r>
            <a:endParaRPr lang="en-US" sz="1080" dirty="0"/>
          </a:p>
        </p:txBody>
      </p:sp>
      <p:sp>
        <p:nvSpPr>
          <p:cNvPr id="50" name="Text 48"/>
          <p:cNvSpPr/>
          <p:nvPr/>
        </p:nvSpPr>
        <p:spPr>
          <a:xfrm>
            <a:off x="6355080" y="4782312"/>
            <a:ext cx="2505456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2430"/>
                </a:solidFill>
                <a:latin typeface="標楷體" pitchFamily="34" charset="0"/>
                <a:ea typeface="標楷體" pitchFamily="34" charset="-122"/>
                <a:cs typeface="標楷體" pitchFamily="34" charset="-120"/>
              </a:rPr>
              <a:t>證據不中斷</a:t>
            </a:r>
            <a:endParaRPr lang="en-US" sz="1300" dirty="0"/>
          </a:p>
        </p:txBody>
      </p:sp>
      <p:sp>
        <p:nvSpPr>
          <p:cNvPr id="51" name="Shape 49"/>
          <p:cNvSpPr/>
          <p:nvPr/>
        </p:nvSpPr>
        <p:spPr>
          <a:xfrm>
            <a:off x="8979408" y="4590288"/>
            <a:ext cx="0" cy="457200"/>
          </a:xfrm>
          <a:prstGeom prst="line">
            <a:avLst/>
          </a:prstGeom>
          <a:noFill/>
          <a:ln w="10160">
            <a:solidFill>
              <a:srgbClr val="D5DDE4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9098280" y="4590288"/>
            <a:ext cx="250545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80" b="1" dirty="0">
                <a:solidFill>
                  <a:srgbClr val="60748F"/>
                </a:solidFill>
                <a:latin typeface="標楷體" pitchFamily="34" charset="0"/>
                <a:ea typeface="標楷體" pitchFamily="34" charset="-122"/>
                <a:cs typeface="標楷體" pitchFamily="34" charset="-120"/>
              </a:rPr>
              <a:t>回復</a:t>
            </a:r>
            <a:endParaRPr lang="en-US" sz="1080" dirty="0"/>
          </a:p>
        </p:txBody>
      </p:sp>
      <p:sp>
        <p:nvSpPr>
          <p:cNvPr id="53" name="Text 51"/>
          <p:cNvSpPr/>
          <p:nvPr/>
        </p:nvSpPr>
        <p:spPr>
          <a:xfrm>
            <a:off x="9098280" y="4782312"/>
            <a:ext cx="2505456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2430"/>
                </a:solidFill>
                <a:latin typeface="標楷體" pitchFamily="34" charset="0"/>
                <a:ea typeface="標楷體" pitchFamily="34" charset="-122"/>
                <a:cs typeface="標楷體" pitchFamily="34" charset="-120"/>
              </a:rPr>
              <a:t>提示／延伸反例</a:t>
            </a:r>
            <a:endParaRPr lang="en-US" sz="1300" dirty="0"/>
          </a:p>
        </p:txBody>
      </p:sp>
      <p:sp>
        <p:nvSpPr>
          <p:cNvPr id="54" name="Shape 52"/>
          <p:cNvSpPr/>
          <p:nvPr/>
        </p:nvSpPr>
        <p:spPr>
          <a:xfrm>
            <a:off x="749808" y="5349240"/>
            <a:ext cx="10972800" cy="0"/>
          </a:xfrm>
          <a:prstGeom prst="line">
            <a:avLst/>
          </a:prstGeom>
          <a:noFill/>
          <a:ln w="12700">
            <a:solidFill>
              <a:srgbClr val="D5DDE4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3749040" y="5440680"/>
            <a:ext cx="0" cy="457200"/>
          </a:xfrm>
          <a:prstGeom prst="line">
            <a:avLst/>
          </a:prstGeom>
          <a:noFill/>
          <a:ln w="10160">
            <a:solidFill>
              <a:srgbClr val="D5DDE4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7909560" y="5440680"/>
            <a:ext cx="0" cy="457200"/>
          </a:xfrm>
          <a:prstGeom prst="line">
            <a:avLst/>
          </a:prstGeom>
          <a:noFill/>
          <a:ln w="10160">
            <a:solidFill>
              <a:srgbClr val="D5DDE4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749808" y="5458968"/>
            <a:ext cx="100584" cy="100584"/>
          </a:xfrm>
          <a:prstGeom prst="ellipse">
            <a:avLst/>
          </a:prstGeom>
          <a:solidFill>
            <a:srgbClr val="2D7A70"/>
          </a:solidFill>
          <a:ln w="5080">
            <a:solidFill>
              <a:srgbClr val="2D7A70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905256" y="5468112"/>
            <a:ext cx="2770632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60" b="1" dirty="0">
                <a:solidFill>
                  <a:srgbClr val="2D7A7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FACT</a:t>
            </a:r>
            <a:pPr algn="l" indent="0" marL="0">
              <a:buNone/>
            </a:pPr>
            <a:r>
              <a:rPr lang="en-US" sz="1060" b="1" dirty="0">
                <a:solidFill>
                  <a:srgbClr val="2D7A70"/>
                </a:solidFill>
                <a:latin typeface="標楷體" pitchFamily="34" charset="0"/>
                <a:ea typeface="標楷體" pitchFamily="34" charset="-122"/>
                <a:cs typeface="標楷體" pitchFamily="34" charset="-120"/>
              </a:rPr>
              <a:t>｜同一</a:t>
            </a:r>
            <a:pPr algn="l" indent="0" marL="0">
              <a:buNone/>
            </a:pPr>
            <a:r>
              <a:rPr lang="en-US" sz="1060" b="1" dirty="0">
                <a:solidFill>
                  <a:srgbClr val="2D7A7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workbook </a:t>
            </a:r>
            <a:pPr algn="l" indent="0" marL="0">
              <a:buNone/>
            </a:pPr>
            <a:r>
              <a:rPr lang="en-US" sz="1060" b="1" dirty="0">
                <a:solidFill>
                  <a:srgbClr val="2D7A70"/>
                </a:solidFill>
                <a:latin typeface="標楷體" pitchFamily="34" charset="0"/>
                <a:ea typeface="標楷體" pitchFamily="34" charset="-122"/>
                <a:cs typeface="標楷體" pitchFamily="34" charset="-120"/>
              </a:rPr>
              <a:t>可重開</a:t>
            </a:r>
            <a:endParaRPr lang="en-US" sz="1060" dirty="0"/>
          </a:p>
        </p:txBody>
      </p:sp>
      <p:sp>
        <p:nvSpPr>
          <p:cNvPr id="59" name="Shape 57"/>
          <p:cNvSpPr/>
          <p:nvPr/>
        </p:nvSpPr>
        <p:spPr>
          <a:xfrm>
            <a:off x="3840480" y="5458968"/>
            <a:ext cx="100584" cy="100584"/>
          </a:xfrm>
          <a:prstGeom prst="ellipse">
            <a:avLst/>
          </a:prstGeom>
          <a:solidFill>
            <a:srgbClr val="7257A1"/>
          </a:solidFill>
          <a:ln w="5080">
            <a:solidFill>
              <a:srgbClr val="7257A1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3995928" y="5468112"/>
            <a:ext cx="3822192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60" b="1" dirty="0">
                <a:solidFill>
                  <a:srgbClr val="7257A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DESIGN INFERENCE</a:t>
            </a:r>
            <a:pPr algn="l" indent="0" marL="0">
              <a:buNone/>
            </a:pPr>
            <a:r>
              <a:rPr lang="en-US" sz="1060" b="1" dirty="0">
                <a:solidFill>
                  <a:srgbClr val="7257A1"/>
                </a:solidFill>
                <a:latin typeface="標楷體" pitchFamily="34" charset="0"/>
                <a:ea typeface="標楷體" pitchFamily="34" charset="-122"/>
                <a:cs typeface="標楷體" pitchFamily="34" charset="-120"/>
              </a:rPr>
              <a:t>｜設計估計：</a:t>
            </a:r>
            <a:pPr algn="l" indent="0" marL="0">
              <a:buNone/>
            </a:pPr>
            <a:r>
              <a:rPr lang="en-US" sz="1060" b="1" dirty="0">
                <a:solidFill>
                  <a:srgbClr val="7257A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1–2 </a:t>
            </a:r>
            <a:pPr algn="l" indent="0" marL="0">
              <a:buNone/>
            </a:pPr>
            <a:r>
              <a:rPr lang="en-US" sz="1060" b="1" dirty="0">
                <a:solidFill>
                  <a:srgbClr val="7257A1"/>
                </a:solidFill>
                <a:latin typeface="標楷體" pitchFamily="34" charset="0"/>
                <a:ea typeface="標楷體" pitchFamily="34" charset="-122"/>
                <a:cs typeface="標楷體" pitchFamily="34" charset="-120"/>
              </a:rPr>
              <a:t>頁＋</a:t>
            </a:r>
            <a:pPr algn="l" indent="0" marL="0">
              <a:buNone/>
            </a:pPr>
            <a:r>
              <a:rPr lang="en-US" sz="1060" b="1" dirty="0">
                <a:solidFill>
                  <a:srgbClr val="7257A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 checkpoint</a:t>
            </a:r>
            <a:endParaRPr lang="en-US" sz="1060" dirty="0"/>
          </a:p>
        </p:txBody>
      </p:sp>
      <p:sp>
        <p:nvSpPr>
          <p:cNvPr id="61" name="Shape 59"/>
          <p:cNvSpPr/>
          <p:nvPr/>
        </p:nvSpPr>
        <p:spPr>
          <a:xfrm>
            <a:off x="8001000" y="5458968"/>
            <a:ext cx="100584" cy="100584"/>
          </a:xfrm>
          <a:prstGeom prst="ellipse">
            <a:avLst/>
          </a:prstGeom>
          <a:solidFill>
            <a:srgbClr val="98514F"/>
          </a:solidFill>
          <a:ln w="5080">
            <a:solidFill>
              <a:srgbClr val="98514F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8156448" y="5468112"/>
            <a:ext cx="356616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60" b="1" dirty="0">
                <a:solidFill>
                  <a:srgbClr val="98514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UNKNOWN</a:t>
            </a:r>
            <a:pPr algn="l" indent="0" marL="0">
              <a:buNone/>
            </a:pPr>
            <a:r>
              <a:rPr lang="en-US" sz="1060" b="1" dirty="0">
                <a:solidFill>
                  <a:srgbClr val="98514F"/>
                </a:solidFill>
                <a:latin typeface="標楷體" pitchFamily="34" charset="0"/>
                <a:ea typeface="標楷體" pitchFamily="34" charset="-122"/>
                <a:cs typeface="標楷體" pitchFamily="34" charset="-120"/>
              </a:rPr>
              <a:t>｜</a:t>
            </a:r>
            <a:pPr algn="l" indent="0" marL="0">
              <a:buNone/>
            </a:pPr>
            <a:r>
              <a:rPr lang="en-US" sz="1060" b="1" dirty="0">
                <a:solidFill>
                  <a:srgbClr val="98514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20-seat resume </a:t>
            </a:r>
            <a:pPr algn="l" indent="0" marL="0">
              <a:buNone/>
            </a:pPr>
            <a:r>
              <a:rPr lang="en-US" sz="1060" b="1" dirty="0">
                <a:solidFill>
                  <a:srgbClr val="98514F"/>
                </a:solidFill>
                <a:latin typeface="標楷體" pitchFamily="34" charset="0"/>
                <a:ea typeface="標楷體" pitchFamily="34" charset="-122"/>
                <a:cs typeface="標楷體" pitchFamily="34" charset="-120"/>
              </a:rPr>
              <a:t>未驗證</a:t>
            </a:r>
            <a:endParaRPr lang="en-US" sz="106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34700" y="6340475"/>
            <a:ext cx="889000" cy="47625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400">
                <a:solidFill>
                  <a:srgbClr val="35377F"/>
                </a:solidFill>
                <a:latin typeface="Times New Roman"/>
                <a:ea typeface="Times New Roman"/>
                <a:cs typeface="Times New Roman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6591" y="187008"/>
            <a:ext cx="2176272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35377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69–92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2916936" y="265176"/>
            <a:ext cx="0" cy="310896"/>
          </a:xfrm>
          <a:prstGeom prst="line">
            <a:avLst/>
          </a:prstGeom>
          <a:noFill/>
          <a:ln w="19050">
            <a:solidFill>
              <a:srgbClr val="35377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136392" y="187008"/>
            <a:ext cx="6982968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35377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Lab C</a:t>
            </a:r>
            <a:pPr algn="l" indent="0" marL="0">
              <a:buNone/>
            </a:pPr>
            <a:r>
              <a:rPr lang="en-US" sz="2800" b="1" dirty="0">
                <a:solidFill>
                  <a:srgbClr val="35377F"/>
                </a:solidFill>
                <a:latin typeface="標楷體" pitchFamily="34" charset="0"/>
                <a:ea typeface="標楷體" pitchFamily="34" charset="-122"/>
                <a:cs typeface="標楷體" pitchFamily="34" charset="-120"/>
              </a:rPr>
              <a:t>｜如何分配焦耳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749808" y="969264"/>
            <a:ext cx="969264" cy="301752"/>
          </a:xfrm>
          <a:prstGeom prst="roundRect">
            <a:avLst/>
          </a:prstGeom>
          <a:solidFill>
            <a:srgbClr val="3F9870"/>
          </a:solidFill>
          <a:ln w="10160">
            <a:solidFill>
              <a:srgbClr val="3F987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04672" y="987552"/>
            <a:ext cx="85953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20" b="1" dirty="0">
                <a:solidFill>
                  <a:srgbClr val="FFFFFF"/>
                </a:solidFill>
                <a:latin typeface="標楷體" pitchFamily="34" charset="0"/>
                <a:ea typeface="標楷體" pitchFamily="34" charset="-122"/>
                <a:cs typeface="標楷體" pitchFamily="34" charset="-120"/>
              </a:rPr>
              <a:t>核心問題</a:t>
            </a:r>
            <a:endParaRPr lang="en-US" sz="1220" dirty="0"/>
          </a:p>
        </p:txBody>
      </p:sp>
      <p:sp>
        <p:nvSpPr>
          <p:cNvPr id="7" name="Text 5"/>
          <p:cNvSpPr/>
          <p:nvPr/>
        </p:nvSpPr>
        <p:spPr>
          <a:xfrm>
            <a:off x="1883664" y="960120"/>
            <a:ext cx="65653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2430"/>
                </a:solidFill>
                <a:latin typeface="標楷體" pitchFamily="34" charset="0"/>
                <a:ea typeface="標楷體" pitchFamily="34" charset="-122"/>
                <a:cs typeface="標楷體" pitchFamily="34" charset="-120"/>
              </a:rPr>
              <a:t>有限</a:t>
            </a:r>
            <a:pPr algn="l" indent="0" marL="0">
              <a:buNone/>
            </a:pPr>
            <a:r>
              <a:rPr lang="en-US" sz="2000" b="1" dirty="0">
                <a:solidFill>
                  <a:srgbClr val="1E243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J </a:t>
            </a:r>
            <a:pPr algn="l" indent="0" marL="0">
              <a:buNone/>
            </a:pPr>
            <a:r>
              <a:rPr lang="en-US" sz="2000" b="1" dirty="0">
                <a:solidFill>
                  <a:srgbClr val="1E2430"/>
                </a:solidFill>
                <a:latin typeface="標楷體" pitchFamily="34" charset="0"/>
                <a:ea typeface="標楷體" pitchFamily="34" charset="-122"/>
                <a:cs typeface="標楷體" pitchFamily="34" charset="-120"/>
              </a:rPr>
              <a:t>與短窗口，資料怎麼排？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8549640" y="964692"/>
            <a:ext cx="317296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80" b="1" dirty="0">
                <a:solidFill>
                  <a:srgbClr val="3F9870"/>
                </a:solidFill>
                <a:latin typeface="標楷體" pitchFamily="34" charset="0"/>
                <a:ea typeface="標楷體" pitchFamily="34" charset="-122"/>
                <a:cs typeface="標楷體" pitchFamily="34" charset="-120"/>
              </a:rPr>
              <a:t>先排｜</a:t>
            </a:r>
            <a:pPr algn="r" indent="0" marL="0">
              <a:buNone/>
            </a:pPr>
            <a:r>
              <a:rPr lang="en-US" sz="1380" b="1" dirty="0">
                <a:solidFill>
                  <a:srgbClr val="3F987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baseline → revise → freeze</a:t>
            </a:r>
            <a:endParaRPr lang="en-US" sz="1380" dirty="0"/>
          </a:p>
        </p:txBody>
      </p:sp>
      <p:sp>
        <p:nvSpPr>
          <p:cNvPr id="9" name="Shape 7"/>
          <p:cNvSpPr/>
          <p:nvPr/>
        </p:nvSpPr>
        <p:spPr>
          <a:xfrm>
            <a:off x="749808" y="1353312"/>
            <a:ext cx="10972800" cy="0"/>
          </a:xfrm>
          <a:prstGeom prst="line">
            <a:avLst/>
          </a:prstGeom>
          <a:noFill/>
          <a:ln w="13335">
            <a:solidFill>
              <a:srgbClr val="3F987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49808" y="1444752"/>
            <a:ext cx="109728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70" b="1" dirty="0">
                <a:solidFill>
                  <a:srgbClr val="3F9870"/>
                </a:solidFill>
                <a:latin typeface="標楷體" pitchFamily="34" charset="0"/>
                <a:ea typeface="標楷體" pitchFamily="34" charset="-122"/>
                <a:cs typeface="標楷體" pitchFamily="34" charset="-120"/>
              </a:rPr>
              <a:t>設計估計｜</a:t>
            </a:r>
            <a:pPr algn="ctr" indent="0" marL="0">
              <a:buNone/>
            </a:pPr>
            <a:r>
              <a:rPr lang="en-US" sz="1270" b="1" dirty="0">
                <a:solidFill>
                  <a:srgbClr val="3F987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6 baseline → 10 schedule → 5 revise</a:t>
            </a:r>
            <a:pPr algn="ctr" indent="0" marL="0">
              <a:buNone/>
            </a:pPr>
            <a:r>
              <a:rPr lang="en-US" sz="1270" b="1" dirty="0">
                <a:solidFill>
                  <a:srgbClr val="3F9870"/>
                </a:solidFill>
                <a:latin typeface="標楷體" pitchFamily="34" charset="0"/>
                <a:ea typeface="標楷體" pitchFamily="34" charset="-122"/>
                <a:cs typeface="標楷體" pitchFamily="34" charset="-120"/>
              </a:rPr>
              <a:t>／</a:t>
            </a:r>
            <a:pPr algn="ctr" indent="0" marL="0">
              <a:buNone/>
            </a:pPr>
            <a:r>
              <a:rPr lang="en-US" sz="1270" b="1" dirty="0">
                <a:solidFill>
                  <a:srgbClr val="3F987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withheld → 2 debrief</a:t>
            </a:r>
            <a:endParaRPr lang="en-US" sz="1270" dirty="0"/>
          </a:p>
        </p:txBody>
      </p:sp>
      <p:sp>
        <p:nvSpPr>
          <p:cNvPr id="11" name="Text 9"/>
          <p:cNvSpPr/>
          <p:nvPr/>
        </p:nvSpPr>
        <p:spPr>
          <a:xfrm>
            <a:off x="786384" y="1737360"/>
            <a:ext cx="4114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50" b="1" dirty="0">
                <a:solidFill>
                  <a:srgbClr val="647187"/>
                </a:solidFill>
                <a:latin typeface="標楷體" pitchFamily="34" charset="0"/>
                <a:ea typeface="標楷體" pitchFamily="34" charset="-122"/>
                <a:cs typeface="標楷體" pitchFamily="34" charset="-120"/>
              </a:rPr>
              <a:t>三張任務卡</a:t>
            </a:r>
            <a:endParaRPr lang="en-US" sz="1550" dirty="0"/>
          </a:p>
        </p:txBody>
      </p:sp>
      <p:sp>
        <p:nvSpPr>
          <p:cNvPr id="12" name="Shape 10"/>
          <p:cNvSpPr/>
          <p:nvPr/>
        </p:nvSpPr>
        <p:spPr>
          <a:xfrm>
            <a:off x="749808" y="2011680"/>
            <a:ext cx="1280160" cy="960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96F67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77824" y="2139696"/>
            <a:ext cx="256032" cy="256032"/>
          </a:xfrm>
          <a:prstGeom prst="ellipse">
            <a:avLst/>
          </a:prstGeom>
          <a:solidFill>
            <a:srgbClr val="C96F67"/>
          </a:solidFill>
          <a:ln w="5080">
            <a:solidFill>
              <a:srgbClr val="C96F67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188720" y="2103120"/>
            <a:ext cx="7132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30" b="1" dirty="0">
                <a:solidFill>
                  <a:srgbClr val="1E2430"/>
                </a:solidFill>
                <a:latin typeface="標楷體" pitchFamily="34" charset="0"/>
                <a:ea typeface="標楷體" pitchFamily="34" charset="-122"/>
                <a:cs typeface="標楷體" pitchFamily="34" charset="-120"/>
              </a:rPr>
              <a:t>緊急警報</a:t>
            </a:r>
            <a:endParaRPr lang="en-US" sz="1330" dirty="0"/>
          </a:p>
        </p:txBody>
      </p:sp>
      <p:sp>
        <p:nvSpPr>
          <p:cNvPr id="15" name="Text 13"/>
          <p:cNvSpPr/>
          <p:nvPr/>
        </p:nvSpPr>
        <p:spPr>
          <a:xfrm>
            <a:off x="914400" y="2523744"/>
            <a:ext cx="95097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C96F67"/>
                </a:solidFill>
                <a:latin typeface="標楷體" pitchFamily="34" charset="0"/>
                <a:ea typeface="標楷體" pitchFamily="34" charset="-122"/>
                <a:cs typeface="標楷體" pitchFamily="34" charset="-120"/>
              </a:rPr>
              <a:t>短</a:t>
            </a:r>
            <a:pPr algn="ctr" indent="0" marL="0">
              <a:buNone/>
            </a:pPr>
            <a:r>
              <a:rPr lang="en-US" sz="1150" b="1" dirty="0">
                <a:solidFill>
                  <a:srgbClr val="C96F67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deadline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2157984" y="2011680"/>
            <a:ext cx="1280160" cy="960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4EA978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286000" y="2139696"/>
            <a:ext cx="256032" cy="256032"/>
          </a:xfrm>
          <a:prstGeom prst="ellipse">
            <a:avLst/>
          </a:prstGeom>
          <a:solidFill>
            <a:srgbClr val="4EA978"/>
          </a:solidFill>
          <a:ln w="5080">
            <a:solidFill>
              <a:srgbClr val="4EA97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596896" y="2103120"/>
            <a:ext cx="7132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30" b="1" dirty="0">
                <a:solidFill>
                  <a:srgbClr val="1E2430"/>
                </a:solidFill>
                <a:latin typeface="標楷體" pitchFamily="34" charset="0"/>
                <a:ea typeface="標楷體" pitchFamily="34" charset="-122"/>
                <a:cs typeface="標楷體" pitchFamily="34" charset="-120"/>
              </a:rPr>
              <a:t>環境資料</a:t>
            </a:r>
            <a:endParaRPr lang="en-US" sz="1330" dirty="0"/>
          </a:p>
        </p:txBody>
      </p:sp>
      <p:sp>
        <p:nvSpPr>
          <p:cNvPr id="19" name="Text 17"/>
          <p:cNvSpPr/>
          <p:nvPr/>
        </p:nvSpPr>
        <p:spPr>
          <a:xfrm>
            <a:off x="2322576" y="2523744"/>
            <a:ext cx="95097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4EA978"/>
                </a:solidFill>
                <a:latin typeface="標楷體" pitchFamily="34" charset="0"/>
                <a:ea typeface="標楷體" pitchFamily="34" charset="-122"/>
                <a:cs typeface="標楷體" pitchFamily="34" charset="-120"/>
              </a:rPr>
              <a:t>保持</a:t>
            </a:r>
            <a:pPr algn="ctr" indent="0" marL="0">
              <a:buNone/>
            </a:pPr>
            <a:r>
              <a:rPr lang="en-US" sz="1150" b="1" dirty="0">
                <a:solidFill>
                  <a:srgbClr val="4EA978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fresh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3566160" y="2011680"/>
            <a:ext cx="1280160" cy="960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28AFC0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694176" y="2139696"/>
            <a:ext cx="256032" cy="256032"/>
          </a:xfrm>
          <a:prstGeom prst="ellipse">
            <a:avLst/>
          </a:prstGeom>
          <a:solidFill>
            <a:srgbClr val="28AFC0"/>
          </a:solidFill>
          <a:ln w="5080">
            <a:solidFill>
              <a:srgbClr val="28AFC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005072" y="2103120"/>
            <a:ext cx="7132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30" b="1" dirty="0">
                <a:solidFill>
                  <a:srgbClr val="1E2430"/>
                </a:solidFill>
                <a:latin typeface="標楷體" pitchFamily="34" charset="0"/>
                <a:ea typeface="標楷體" pitchFamily="34" charset="-122"/>
                <a:cs typeface="標楷體" pitchFamily="34" charset="-120"/>
              </a:rPr>
              <a:t>大量資料</a:t>
            </a:r>
            <a:endParaRPr lang="en-US" sz="1330" dirty="0"/>
          </a:p>
        </p:txBody>
      </p:sp>
      <p:sp>
        <p:nvSpPr>
          <p:cNvPr id="23" name="Text 21"/>
          <p:cNvSpPr/>
          <p:nvPr/>
        </p:nvSpPr>
        <p:spPr>
          <a:xfrm>
            <a:off x="3730752" y="2523744"/>
            <a:ext cx="95097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28AFC0"/>
                </a:solidFill>
                <a:latin typeface="標楷體" pitchFamily="34" charset="0"/>
                <a:ea typeface="標楷體" pitchFamily="34" charset="-122"/>
                <a:cs typeface="標楷體" pitchFamily="34" charset="-120"/>
              </a:rPr>
              <a:t>可延後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1078992" y="3200400"/>
            <a:ext cx="3474720" cy="310896"/>
          </a:xfrm>
          <a:prstGeom prst="roundRect">
            <a:avLst/>
          </a:prstGeom>
          <a:solidFill>
            <a:srgbClr val="57788E"/>
          </a:solidFill>
          <a:ln w="10160">
            <a:solidFill>
              <a:srgbClr val="57788E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1133856" y="3218688"/>
            <a:ext cx="33649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2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BASELINE</a:t>
            </a:r>
            <a:pPr algn="ctr" indent="0" marL="0">
              <a:buNone/>
            </a:pPr>
            <a:r>
              <a:rPr lang="en-US" sz="1220" b="1" dirty="0">
                <a:solidFill>
                  <a:srgbClr val="FFFFFF"/>
                </a:solidFill>
                <a:latin typeface="標楷體" pitchFamily="34" charset="0"/>
                <a:ea typeface="標楷體" pitchFamily="34" charset="-122"/>
                <a:cs typeface="標楷體" pitchFamily="34" charset="-120"/>
              </a:rPr>
              <a:t>｜立即傳送</a:t>
            </a:r>
            <a:endParaRPr lang="en-US" sz="1220" dirty="0"/>
          </a:p>
        </p:txBody>
      </p:sp>
      <p:sp>
        <p:nvSpPr>
          <p:cNvPr id="26" name="Text 24"/>
          <p:cNvSpPr/>
          <p:nvPr/>
        </p:nvSpPr>
        <p:spPr>
          <a:xfrm>
            <a:off x="914400" y="3621024"/>
            <a:ext cx="38039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430"/>
                </a:solidFill>
                <a:latin typeface="標楷體" pitchFamily="34" charset="0"/>
                <a:ea typeface="標楷體" pitchFamily="34" charset="-122"/>
                <a:cs typeface="標楷體" pitchFamily="34" charset="-120"/>
              </a:rPr>
              <a:t>先預測，再把任務排進合法窗口</a:t>
            </a:r>
            <a:endParaRPr lang="en-US" sz="1400" dirty="0"/>
          </a:p>
        </p:txBody>
      </p:sp>
      <p:sp>
        <p:nvSpPr>
          <p:cNvPr id="27" name="Shape 25"/>
          <p:cNvSpPr/>
          <p:nvPr/>
        </p:nvSpPr>
        <p:spPr>
          <a:xfrm>
            <a:off x="4864608" y="2880360"/>
            <a:ext cx="384048" cy="0"/>
          </a:xfrm>
          <a:prstGeom prst="line">
            <a:avLst/>
          </a:prstGeom>
          <a:noFill/>
          <a:ln w="22860">
            <a:solidFill>
              <a:srgbClr val="4EA978"/>
            </a:solidFill>
            <a:prstDash val="solid"/>
            <a:headEnd type="none"/>
            <a:tailEnd type="triangle"/>
          </a:ln>
        </p:spPr>
      </p:sp>
      <p:sp>
        <p:nvSpPr>
          <p:cNvPr id="28" name="Shape 26"/>
          <p:cNvSpPr/>
          <p:nvPr/>
        </p:nvSpPr>
        <p:spPr>
          <a:xfrm>
            <a:off x="5266944" y="1810512"/>
            <a:ext cx="3584448" cy="2395728"/>
          </a:xfrm>
          <a:prstGeom prst="roundRect">
            <a:avLst/>
          </a:prstGeom>
          <a:solidFill>
            <a:srgbClr val="14213D"/>
          </a:solidFill>
          <a:ln w="12700">
            <a:solidFill>
              <a:srgbClr val="14213D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6108192" y="2011680"/>
            <a:ext cx="1901952" cy="292608"/>
          </a:xfrm>
          <a:prstGeom prst="roundRect">
            <a:avLst/>
          </a:prstGeom>
          <a:solidFill>
            <a:srgbClr val="28AFC0"/>
          </a:solidFill>
          <a:ln w="10160">
            <a:solidFill>
              <a:srgbClr val="28AFC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163056" y="2029968"/>
            <a:ext cx="17922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4213D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RULE TASK BOARD</a:t>
            </a:r>
            <a:endParaRPr lang="en-US" sz="1150" dirty="0"/>
          </a:p>
        </p:txBody>
      </p:sp>
      <p:sp>
        <p:nvSpPr>
          <p:cNvPr id="31" name="Text 29"/>
          <p:cNvSpPr/>
          <p:nvPr/>
        </p:nvSpPr>
        <p:spPr>
          <a:xfrm>
            <a:off x="5650992" y="2414016"/>
            <a:ext cx="2816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標楷體" pitchFamily="34" charset="0"/>
                <a:ea typeface="標楷體" pitchFamily="34" charset="-122"/>
                <a:cs typeface="標楷體" pitchFamily="34" charset="-120"/>
              </a:rPr>
              <a:t>六格</a:t>
            </a:r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schedule</a:t>
            </a:r>
            <a:endParaRPr lang="en-US" sz="1700" dirty="0"/>
          </a:p>
        </p:txBody>
      </p:sp>
      <p:sp>
        <p:nvSpPr>
          <p:cNvPr id="32" name="Shape 30"/>
          <p:cNvSpPr/>
          <p:nvPr/>
        </p:nvSpPr>
        <p:spPr>
          <a:xfrm>
            <a:off x="5559552" y="2852928"/>
            <a:ext cx="384048" cy="502920"/>
          </a:xfrm>
          <a:prstGeom prst="rect">
            <a:avLst/>
          </a:prstGeom>
          <a:solidFill>
            <a:srgbClr val="8A70BF"/>
          </a:solidFill>
          <a:ln w="7620">
            <a:solidFill>
              <a:srgbClr val="FFFFF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559552" y="2990088"/>
            <a:ext cx="3840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</a:t>
            </a:r>
            <a:endParaRPr lang="en-US" sz="1250" dirty="0"/>
          </a:p>
        </p:txBody>
      </p:sp>
      <p:sp>
        <p:nvSpPr>
          <p:cNvPr id="34" name="Shape 32"/>
          <p:cNvSpPr/>
          <p:nvPr/>
        </p:nvSpPr>
        <p:spPr>
          <a:xfrm>
            <a:off x="6062472" y="2852928"/>
            <a:ext cx="384048" cy="502920"/>
          </a:xfrm>
          <a:prstGeom prst="rect">
            <a:avLst/>
          </a:prstGeom>
          <a:solidFill>
            <a:srgbClr val="8A70BF"/>
          </a:solidFill>
          <a:ln w="7620">
            <a:solidFill>
              <a:srgbClr val="FFFFFF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062472" y="2990088"/>
            <a:ext cx="3840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2</a:t>
            </a:r>
            <a:endParaRPr lang="en-US" sz="1250" dirty="0"/>
          </a:p>
        </p:txBody>
      </p:sp>
      <p:sp>
        <p:nvSpPr>
          <p:cNvPr id="36" name="Shape 34"/>
          <p:cNvSpPr/>
          <p:nvPr/>
        </p:nvSpPr>
        <p:spPr>
          <a:xfrm>
            <a:off x="6565392" y="2852928"/>
            <a:ext cx="384048" cy="502920"/>
          </a:xfrm>
          <a:prstGeom prst="rect">
            <a:avLst/>
          </a:prstGeom>
          <a:solidFill>
            <a:srgbClr val="4EA978"/>
          </a:solidFill>
          <a:ln w="7620">
            <a:solidFill>
              <a:srgbClr val="FFFFFF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6565392" y="2990088"/>
            <a:ext cx="3840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3</a:t>
            </a:r>
            <a:endParaRPr lang="en-US" sz="1250" dirty="0"/>
          </a:p>
        </p:txBody>
      </p:sp>
      <p:sp>
        <p:nvSpPr>
          <p:cNvPr id="38" name="Shape 36"/>
          <p:cNvSpPr/>
          <p:nvPr/>
        </p:nvSpPr>
        <p:spPr>
          <a:xfrm>
            <a:off x="7068312" y="2852928"/>
            <a:ext cx="384048" cy="502920"/>
          </a:xfrm>
          <a:prstGeom prst="rect">
            <a:avLst/>
          </a:prstGeom>
          <a:solidFill>
            <a:srgbClr val="4EA978"/>
          </a:solidFill>
          <a:ln w="7620">
            <a:solidFill>
              <a:srgbClr val="FFFFFF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7068312" y="2990088"/>
            <a:ext cx="3840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4</a:t>
            </a:r>
            <a:endParaRPr lang="en-US" sz="1250" dirty="0"/>
          </a:p>
        </p:txBody>
      </p:sp>
      <p:sp>
        <p:nvSpPr>
          <p:cNvPr id="40" name="Shape 38"/>
          <p:cNvSpPr/>
          <p:nvPr/>
        </p:nvSpPr>
        <p:spPr>
          <a:xfrm>
            <a:off x="7571232" y="2852928"/>
            <a:ext cx="384048" cy="502920"/>
          </a:xfrm>
          <a:prstGeom prst="rect">
            <a:avLst/>
          </a:prstGeom>
          <a:solidFill>
            <a:srgbClr val="4EA978"/>
          </a:solidFill>
          <a:ln w="7620">
            <a:solidFill>
              <a:srgbClr val="FFFFFF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7571232" y="2990088"/>
            <a:ext cx="3840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5</a:t>
            </a:r>
            <a:endParaRPr lang="en-US" sz="1250" dirty="0"/>
          </a:p>
        </p:txBody>
      </p:sp>
      <p:sp>
        <p:nvSpPr>
          <p:cNvPr id="42" name="Shape 40"/>
          <p:cNvSpPr/>
          <p:nvPr/>
        </p:nvSpPr>
        <p:spPr>
          <a:xfrm>
            <a:off x="8074152" y="2852928"/>
            <a:ext cx="384048" cy="502920"/>
          </a:xfrm>
          <a:prstGeom prst="rect">
            <a:avLst/>
          </a:prstGeom>
          <a:solidFill>
            <a:srgbClr val="4EA978"/>
          </a:solidFill>
          <a:ln w="7620">
            <a:solidFill>
              <a:srgbClr val="FFFFFF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8074152" y="2990088"/>
            <a:ext cx="3840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6</a:t>
            </a:r>
            <a:endParaRPr lang="en-US" sz="1250" dirty="0"/>
          </a:p>
        </p:txBody>
      </p:sp>
      <p:sp>
        <p:nvSpPr>
          <p:cNvPr id="44" name="Text 42"/>
          <p:cNvSpPr/>
          <p:nvPr/>
        </p:nvSpPr>
        <p:spPr>
          <a:xfrm>
            <a:off x="5541264" y="3493008"/>
            <a:ext cx="303580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B8CBDC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1–2 fixed</a:t>
            </a:r>
            <a:pPr algn="ctr" indent="0" marL="0">
              <a:buNone/>
            </a:pPr>
            <a:r>
              <a:rPr lang="en-US" sz="1150" b="1" dirty="0">
                <a:solidFill>
                  <a:srgbClr val="B8CBDC"/>
                </a:solidFill>
                <a:latin typeface="標楷體" pitchFamily="34" charset="0"/>
                <a:ea typeface="標楷體" pitchFamily="34" charset="-122"/>
                <a:cs typeface="標楷體" pitchFamily="34" charset="-120"/>
              </a:rPr>
              <a:t>　｜　</a:t>
            </a:r>
            <a:pPr algn="ctr" indent="0" marL="0">
              <a:buNone/>
            </a:pPr>
            <a:r>
              <a:rPr lang="en-US" sz="1150" b="1" dirty="0">
                <a:solidFill>
                  <a:srgbClr val="B8CBDC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3–6 learner action</a:t>
            </a:r>
            <a:endParaRPr lang="en-US" sz="1150" dirty="0"/>
          </a:p>
        </p:txBody>
      </p:sp>
      <p:sp>
        <p:nvSpPr>
          <p:cNvPr id="45" name="Text 43"/>
          <p:cNvSpPr/>
          <p:nvPr/>
        </p:nvSpPr>
        <p:spPr>
          <a:xfrm>
            <a:off x="5559552" y="3794760"/>
            <a:ext cx="299923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4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send · batch · wait · sleep</a:t>
            </a:r>
            <a:endParaRPr lang="en-US" sz="1340" dirty="0"/>
          </a:p>
        </p:txBody>
      </p:sp>
      <p:sp>
        <p:nvSpPr>
          <p:cNvPr id="46" name="Shape 44"/>
          <p:cNvSpPr/>
          <p:nvPr/>
        </p:nvSpPr>
        <p:spPr>
          <a:xfrm>
            <a:off x="8869680" y="2880360"/>
            <a:ext cx="365760" cy="0"/>
          </a:xfrm>
          <a:prstGeom prst="line">
            <a:avLst/>
          </a:prstGeom>
          <a:noFill/>
          <a:ln w="22860">
            <a:solidFill>
              <a:srgbClr val="4EA978"/>
            </a:solidFill>
            <a:prstDash val="solid"/>
            <a:headEnd type="none"/>
            <a:tailEnd type="triangle"/>
          </a:ln>
        </p:spPr>
      </p:sp>
      <p:sp>
        <p:nvSpPr>
          <p:cNvPr id="47" name="Shape 45"/>
          <p:cNvSpPr/>
          <p:nvPr/>
        </p:nvSpPr>
        <p:spPr>
          <a:xfrm>
            <a:off x="9253728" y="1810512"/>
            <a:ext cx="2468880" cy="2395728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8A70BF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9820656" y="2011680"/>
            <a:ext cx="1335024" cy="292608"/>
          </a:xfrm>
          <a:prstGeom prst="roundRect">
            <a:avLst/>
          </a:prstGeom>
          <a:solidFill>
            <a:srgbClr val="8A70BF"/>
          </a:solidFill>
          <a:ln w="10160">
            <a:solidFill>
              <a:srgbClr val="8A70BF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9875520" y="2029968"/>
            <a:ext cx="12252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6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WITHHELD</a:t>
            </a:r>
            <a:endParaRPr lang="en-US" sz="1160" dirty="0"/>
          </a:p>
        </p:txBody>
      </p:sp>
      <p:sp>
        <p:nvSpPr>
          <p:cNvPr id="50" name="Text 48"/>
          <p:cNvSpPr/>
          <p:nvPr/>
        </p:nvSpPr>
        <p:spPr>
          <a:xfrm>
            <a:off x="9509760" y="2468880"/>
            <a:ext cx="1956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20" b="1" dirty="0">
                <a:solidFill>
                  <a:srgbClr val="7257A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freeze → replay</a:t>
            </a:r>
            <a:endParaRPr lang="en-US" sz="1520" dirty="0"/>
          </a:p>
        </p:txBody>
      </p:sp>
      <p:sp>
        <p:nvSpPr>
          <p:cNvPr id="51" name="Text 49"/>
          <p:cNvSpPr/>
          <p:nvPr/>
        </p:nvSpPr>
        <p:spPr>
          <a:xfrm>
            <a:off x="9473184" y="2816352"/>
            <a:ext cx="20299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20" b="1" dirty="0">
                <a:solidFill>
                  <a:srgbClr val="1E243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shorter window</a:t>
            </a:r>
            <a:pPr algn="ctr" indent="0" marL="0">
              <a:buNone/>
            </a:pPr>
            <a:r>
              <a:rPr lang="en-US" sz="1220" b="1" dirty="0">
                <a:solidFill>
                  <a:srgbClr val="1E2430"/>
                </a:solidFill>
                <a:latin typeface="標楷體" pitchFamily="34" charset="0"/>
                <a:ea typeface="標楷體" pitchFamily="34" charset="-122"/>
                <a:cs typeface="標楷體" pitchFamily="34" charset="-120"/>
              </a:rPr>
              <a:t>＋</a:t>
            </a:r>
            <a:pPr algn="ctr" indent="0" marL="0">
              <a:buNone/>
            </a:pPr>
            <a:r>
              <a:rPr lang="en-US" sz="1220" b="1" dirty="0">
                <a:solidFill>
                  <a:srgbClr val="1E243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urgent</a:t>
            </a:r>
            <a:endParaRPr lang="en-US" sz="1220" dirty="0"/>
          </a:p>
        </p:txBody>
      </p:sp>
      <p:sp>
        <p:nvSpPr>
          <p:cNvPr id="52" name="Shape 50"/>
          <p:cNvSpPr/>
          <p:nvPr/>
        </p:nvSpPr>
        <p:spPr>
          <a:xfrm>
            <a:off x="9656064" y="3200400"/>
            <a:ext cx="1591056" cy="219456"/>
          </a:xfrm>
          <a:prstGeom prst="roundRect">
            <a:avLst/>
          </a:prstGeom>
          <a:solidFill>
            <a:srgbClr val="4EA978"/>
          </a:solidFill>
          <a:ln w="10160">
            <a:solidFill>
              <a:srgbClr val="4EA978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9710928" y="3218688"/>
            <a:ext cx="14813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2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SERVICE</a:t>
            </a:r>
            <a:endParaRPr lang="en-US" sz="1020" dirty="0"/>
          </a:p>
        </p:txBody>
      </p:sp>
      <p:sp>
        <p:nvSpPr>
          <p:cNvPr id="54" name="Shape 52"/>
          <p:cNvSpPr/>
          <p:nvPr/>
        </p:nvSpPr>
        <p:spPr>
          <a:xfrm>
            <a:off x="9656064" y="3474720"/>
            <a:ext cx="1591056" cy="219456"/>
          </a:xfrm>
          <a:prstGeom prst="roundRect">
            <a:avLst/>
          </a:prstGeom>
          <a:solidFill>
            <a:srgbClr val="28AFC0"/>
          </a:solidFill>
          <a:ln w="10160">
            <a:solidFill>
              <a:srgbClr val="28AFC0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9710928" y="3493008"/>
            <a:ext cx="14813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2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FRESH</a:t>
            </a:r>
            <a:endParaRPr lang="en-US" sz="1020" dirty="0"/>
          </a:p>
        </p:txBody>
      </p:sp>
      <p:sp>
        <p:nvSpPr>
          <p:cNvPr id="56" name="Shape 54"/>
          <p:cNvSpPr/>
          <p:nvPr/>
        </p:nvSpPr>
        <p:spPr>
          <a:xfrm>
            <a:off x="9656064" y="3749040"/>
            <a:ext cx="1591056" cy="219456"/>
          </a:xfrm>
          <a:prstGeom prst="roundRect">
            <a:avLst/>
          </a:prstGeom>
          <a:solidFill>
            <a:srgbClr val="8A70BF"/>
          </a:solidFill>
          <a:ln w="10160">
            <a:solidFill>
              <a:srgbClr val="8A70BF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9710928" y="3767328"/>
            <a:ext cx="14813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2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J</a:t>
            </a:r>
            <a:endParaRPr lang="en-US" sz="1020" dirty="0"/>
          </a:p>
        </p:txBody>
      </p:sp>
      <p:sp>
        <p:nvSpPr>
          <p:cNvPr id="58" name="Shape 56"/>
          <p:cNvSpPr/>
          <p:nvPr/>
        </p:nvSpPr>
        <p:spPr>
          <a:xfrm>
            <a:off x="749808" y="4462272"/>
            <a:ext cx="10972800" cy="640080"/>
          </a:xfrm>
          <a:prstGeom prst="roundRect">
            <a:avLst/>
          </a:prstGeom>
          <a:solidFill>
            <a:srgbClr val="EDF8F2"/>
          </a:solidFill>
          <a:ln w="12065">
            <a:solidFill>
              <a:srgbClr val="3F9870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868680" y="4553712"/>
            <a:ext cx="250545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80" b="1" dirty="0">
                <a:solidFill>
                  <a:srgbClr val="3F9870"/>
                </a:solidFill>
                <a:latin typeface="標楷體" pitchFamily="34" charset="0"/>
                <a:ea typeface="標楷體" pitchFamily="34" charset="-122"/>
                <a:cs typeface="標楷體" pitchFamily="34" charset="-120"/>
              </a:rPr>
              <a:t>操作</a:t>
            </a:r>
            <a:endParaRPr lang="en-US" sz="1080" dirty="0"/>
          </a:p>
        </p:txBody>
      </p:sp>
      <p:sp>
        <p:nvSpPr>
          <p:cNvPr id="60" name="Text 58"/>
          <p:cNvSpPr/>
          <p:nvPr/>
        </p:nvSpPr>
        <p:spPr>
          <a:xfrm>
            <a:off x="868680" y="4745736"/>
            <a:ext cx="2505456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2430"/>
                </a:solidFill>
                <a:latin typeface="標楷體" pitchFamily="34" charset="0"/>
                <a:ea typeface="標楷體" pitchFamily="34" charset="-122"/>
                <a:cs typeface="標楷體" pitchFamily="34" charset="-120"/>
              </a:rPr>
              <a:t>排程</a:t>
            </a:r>
            <a:pPr algn="ctr" indent="0" marL="0">
              <a:buNone/>
            </a:pPr>
            <a:r>
              <a:rPr lang="en-US" sz="1300" b="1" dirty="0">
                <a:solidFill>
                  <a:srgbClr val="1E243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→ </a:t>
            </a:r>
            <a:pPr algn="ctr" indent="0" marL="0">
              <a:buNone/>
            </a:pPr>
            <a:r>
              <a:rPr lang="en-US" sz="1300" b="1" dirty="0">
                <a:solidFill>
                  <a:srgbClr val="1E2430"/>
                </a:solidFill>
                <a:latin typeface="標楷體" pitchFamily="34" charset="0"/>
                <a:ea typeface="標楷體" pitchFamily="34" charset="-122"/>
                <a:cs typeface="標楷體" pitchFamily="34" charset="-120"/>
              </a:rPr>
              <a:t>執行</a:t>
            </a:r>
            <a:pPr algn="ctr" indent="0" marL="0">
              <a:buNone/>
            </a:pPr>
            <a:r>
              <a:rPr lang="en-US" sz="1300" b="1" dirty="0">
                <a:solidFill>
                  <a:srgbClr val="1E243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→ </a:t>
            </a:r>
            <a:pPr algn="ctr" indent="0" marL="0">
              <a:buNone/>
            </a:pPr>
            <a:r>
              <a:rPr lang="en-US" sz="1300" b="1" dirty="0">
                <a:solidFill>
                  <a:srgbClr val="1E2430"/>
                </a:solidFill>
                <a:latin typeface="標楷體" pitchFamily="34" charset="0"/>
                <a:ea typeface="標楷體" pitchFamily="34" charset="-122"/>
                <a:cs typeface="標楷體" pitchFamily="34" charset="-120"/>
              </a:rPr>
              <a:t>修正</a:t>
            </a:r>
            <a:pPr algn="ctr" indent="0" marL="0">
              <a:buNone/>
            </a:pPr>
            <a:r>
              <a:rPr lang="en-US" sz="1300" b="1" dirty="0">
                <a:solidFill>
                  <a:srgbClr val="1E243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→ freeze</a:t>
            </a:r>
            <a:endParaRPr lang="en-US" sz="1300" dirty="0"/>
          </a:p>
        </p:txBody>
      </p:sp>
      <p:sp>
        <p:nvSpPr>
          <p:cNvPr id="61" name="Shape 59"/>
          <p:cNvSpPr/>
          <p:nvPr/>
        </p:nvSpPr>
        <p:spPr>
          <a:xfrm>
            <a:off x="3493008" y="4553712"/>
            <a:ext cx="0" cy="457200"/>
          </a:xfrm>
          <a:prstGeom prst="line">
            <a:avLst/>
          </a:prstGeom>
          <a:noFill/>
          <a:ln w="10160">
            <a:solidFill>
              <a:srgbClr val="D5DDE4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3611880" y="4553712"/>
            <a:ext cx="250545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80" b="1" dirty="0">
                <a:solidFill>
                  <a:srgbClr val="3F9870"/>
                </a:solidFill>
                <a:latin typeface="標楷體" pitchFamily="34" charset="0"/>
                <a:ea typeface="標楷體" pitchFamily="34" charset="-122"/>
                <a:cs typeface="標楷體" pitchFamily="34" charset="-120"/>
              </a:rPr>
              <a:t>證據</a:t>
            </a:r>
            <a:endParaRPr lang="en-US" sz="1080" dirty="0"/>
          </a:p>
        </p:txBody>
      </p:sp>
      <p:sp>
        <p:nvSpPr>
          <p:cNvPr id="63" name="Text 61"/>
          <p:cNvSpPr/>
          <p:nvPr/>
        </p:nvSpPr>
        <p:spPr>
          <a:xfrm>
            <a:off x="3611880" y="4745736"/>
            <a:ext cx="2505456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243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baseline ↔ learner ↔ withheld</a:t>
            </a:r>
            <a:endParaRPr lang="en-US" sz="1300" dirty="0"/>
          </a:p>
        </p:txBody>
      </p:sp>
      <p:sp>
        <p:nvSpPr>
          <p:cNvPr id="64" name="Shape 62"/>
          <p:cNvSpPr/>
          <p:nvPr/>
        </p:nvSpPr>
        <p:spPr>
          <a:xfrm>
            <a:off x="6236208" y="4553712"/>
            <a:ext cx="0" cy="457200"/>
          </a:xfrm>
          <a:prstGeom prst="line">
            <a:avLst/>
          </a:prstGeom>
          <a:noFill/>
          <a:ln w="10160">
            <a:solidFill>
              <a:srgbClr val="D5DDE4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6355080" y="4553712"/>
            <a:ext cx="250545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80" b="1" dirty="0">
                <a:solidFill>
                  <a:srgbClr val="3F9870"/>
                </a:solidFill>
                <a:latin typeface="標楷體" pitchFamily="34" charset="0"/>
                <a:ea typeface="標楷體" pitchFamily="34" charset="-122"/>
                <a:cs typeface="標楷體" pitchFamily="34" charset="-120"/>
              </a:rPr>
              <a:t>意義</a:t>
            </a:r>
            <a:endParaRPr lang="en-US" sz="1080" dirty="0"/>
          </a:p>
        </p:txBody>
      </p:sp>
      <p:sp>
        <p:nvSpPr>
          <p:cNvPr id="66" name="Text 64"/>
          <p:cNvSpPr/>
          <p:nvPr/>
        </p:nvSpPr>
        <p:spPr>
          <a:xfrm>
            <a:off x="6355080" y="4745736"/>
            <a:ext cx="2505456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243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service</a:t>
            </a:r>
            <a:pPr algn="ctr" indent="0" marL="0">
              <a:buNone/>
            </a:pPr>
            <a:r>
              <a:rPr lang="en-US" sz="1300" b="1" dirty="0">
                <a:solidFill>
                  <a:srgbClr val="1E2430"/>
                </a:solidFill>
                <a:latin typeface="標楷體" pitchFamily="34" charset="0"/>
                <a:ea typeface="標楷體" pitchFamily="34" charset="-122"/>
                <a:cs typeface="標楷體" pitchFamily="34" charset="-120"/>
              </a:rPr>
              <a:t>／</a:t>
            </a:r>
            <a:pPr algn="ctr" indent="0" marL="0">
              <a:buNone/>
            </a:pPr>
            <a:r>
              <a:rPr lang="en-US" sz="1300" b="1" dirty="0">
                <a:solidFill>
                  <a:srgbClr val="1E243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freshness</a:t>
            </a:r>
            <a:pPr algn="ctr" indent="0" marL="0">
              <a:buNone/>
            </a:pPr>
            <a:r>
              <a:rPr lang="en-US" sz="1300" b="1" dirty="0">
                <a:solidFill>
                  <a:srgbClr val="1E2430"/>
                </a:solidFill>
                <a:latin typeface="標楷體" pitchFamily="34" charset="0"/>
                <a:ea typeface="標楷體" pitchFamily="34" charset="-122"/>
                <a:cs typeface="標楷體" pitchFamily="34" charset="-120"/>
              </a:rPr>
              <a:t>／</a:t>
            </a:r>
            <a:pPr algn="ctr" indent="0" marL="0">
              <a:buNone/>
            </a:pPr>
            <a:r>
              <a:rPr lang="en-US" sz="1300" b="1" dirty="0">
                <a:solidFill>
                  <a:srgbClr val="1E243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J </a:t>
            </a:r>
            <a:pPr algn="ctr" indent="0" marL="0">
              <a:buNone/>
            </a:pPr>
            <a:r>
              <a:rPr lang="en-US" sz="1300" b="1" dirty="0">
                <a:solidFill>
                  <a:srgbClr val="1E2430"/>
                </a:solidFill>
                <a:latin typeface="標楷體" pitchFamily="34" charset="0"/>
                <a:ea typeface="標楷體" pitchFamily="34" charset="-122"/>
                <a:cs typeface="標楷體" pitchFamily="34" charset="-120"/>
              </a:rPr>
              <a:t>分欄</a:t>
            </a:r>
            <a:endParaRPr lang="en-US" sz="1300" dirty="0"/>
          </a:p>
        </p:txBody>
      </p:sp>
      <p:sp>
        <p:nvSpPr>
          <p:cNvPr id="67" name="Shape 65"/>
          <p:cNvSpPr/>
          <p:nvPr/>
        </p:nvSpPr>
        <p:spPr>
          <a:xfrm>
            <a:off x="8979408" y="4553712"/>
            <a:ext cx="0" cy="457200"/>
          </a:xfrm>
          <a:prstGeom prst="line">
            <a:avLst/>
          </a:prstGeom>
          <a:noFill/>
          <a:ln w="10160">
            <a:solidFill>
              <a:srgbClr val="D5DDE4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9098280" y="4553712"/>
            <a:ext cx="250545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80" b="1" dirty="0">
                <a:solidFill>
                  <a:srgbClr val="3F9870"/>
                </a:solidFill>
                <a:latin typeface="標楷體" pitchFamily="34" charset="0"/>
                <a:ea typeface="標楷體" pitchFamily="34" charset="-122"/>
                <a:cs typeface="標楷體" pitchFamily="34" charset="-120"/>
              </a:rPr>
              <a:t>回復</a:t>
            </a:r>
            <a:endParaRPr lang="en-US" sz="1080" dirty="0"/>
          </a:p>
        </p:txBody>
      </p:sp>
      <p:sp>
        <p:nvSpPr>
          <p:cNvPr id="69" name="Text 67"/>
          <p:cNvSpPr/>
          <p:nvPr/>
        </p:nvSpPr>
        <p:spPr>
          <a:xfrm>
            <a:off x="9098280" y="4745736"/>
            <a:ext cx="2505456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2430"/>
                </a:solidFill>
                <a:latin typeface="標楷體" pitchFamily="34" charset="0"/>
                <a:ea typeface="標楷體" pitchFamily="34" charset="-122"/>
                <a:cs typeface="標楷體" pitchFamily="34" charset="-120"/>
              </a:rPr>
              <a:t>非法時槽／自動補齊</a:t>
            </a:r>
            <a:endParaRPr lang="en-US" sz="1300" dirty="0"/>
          </a:p>
        </p:txBody>
      </p:sp>
      <p:sp>
        <p:nvSpPr>
          <p:cNvPr id="70" name="Shape 68"/>
          <p:cNvSpPr/>
          <p:nvPr/>
        </p:nvSpPr>
        <p:spPr>
          <a:xfrm>
            <a:off x="749808" y="5349240"/>
            <a:ext cx="10972800" cy="0"/>
          </a:xfrm>
          <a:prstGeom prst="line">
            <a:avLst/>
          </a:prstGeom>
          <a:noFill/>
          <a:ln w="12700">
            <a:solidFill>
              <a:srgbClr val="D5DDE4"/>
            </a:solidFill>
            <a:prstDash val="solid"/>
          </a:ln>
        </p:spPr>
      </p:sp>
      <p:sp>
        <p:nvSpPr>
          <p:cNvPr id="71" name="Shape 69"/>
          <p:cNvSpPr/>
          <p:nvPr/>
        </p:nvSpPr>
        <p:spPr>
          <a:xfrm>
            <a:off x="3749040" y="5440680"/>
            <a:ext cx="0" cy="457200"/>
          </a:xfrm>
          <a:prstGeom prst="line">
            <a:avLst/>
          </a:prstGeom>
          <a:noFill/>
          <a:ln w="10160">
            <a:solidFill>
              <a:srgbClr val="D5DDE4"/>
            </a:solidFill>
            <a:prstDash val="solid"/>
          </a:ln>
        </p:spPr>
      </p:sp>
      <p:sp>
        <p:nvSpPr>
          <p:cNvPr id="72" name="Shape 70"/>
          <p:cNvSpPr/>
          <p:nvPr/>
        </p:nvSpPr>
        <p:spPr>
          <a:xfrm>
            <a:off x="7909560" y="5440680"/>
            <a:ext cx="0" cy="457200"/>
          </a:xfrm>
          <a:prstGeom prst="line">
            <a:avLst/>
          </a:prstGeom>
          <a:noFill/>
          <a:ln w="10160">
            <a:solidFill>
              <a:srgbClr val="D5DDE4"/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749808" y="5458968"/>
            <a:ext cx="100584" cy="100584"/>
          </a:xfrm>
          <a:prstGeom prst="ellipse">
            <a:avLst/>
          </a:prstGeom>
          <a:solidFill>
            <a:srgbClr val="2D7A70"/>
          </a:solidFill>
          <a:ln w="5080">
            <a:solidFill>
              <a:srgbClr val="2D7A70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905256" y="5468112"/>
            <a:ext cx="2770632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60" b="1" dirty="0">
                <a:solidFill>
                  <a:srgbClr val="2D7A7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FACT</a:t>
            </a:r>
            <a:pPr algn="l" indent="0" marL="0">
              <a:buNone/>
            </a:pPr>
            <a:r>
              <a:rPr lang="en-US" sz="1060" b="1" dirty="0">
                <a:solidFill>
                  <a:srgbClr val="2D7A70"/>
                </a:solidFill>
                <a:latin typeface="標楷體" pitchFamily="34" charset="0"/>
                <a:ea typeface="標楷體" pitchFamily="34" charset="-122"/>
                <a:cs typeface="標楷體" pitchFamily="34" charset="-120"/>
              </a:rPr>
              <a:t>｜</a:t>
            </a:r>
            <a:pPr algn="l" indent="0" marL="0">
              <a:buNone/>
            </a:pPr>
            <a:r>
              <a:rPr lang="en-US" sz="1060" b="1" dirty="0">
                <a:solidFill>
                  <a:srgbClr val="2D7A7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service </a:t>
            </a:r>
            <a:pPr algn="l" indent="0" marL="0">
              <a:buNone/>
            </a:pPr>
            <a:r>
              <a:rPr lang="en-US" sz="1060" b="1" dirty="0">
                <a:solidFill>
                  <a:srgbClr val="2D7A70"/>
                </a:solidFill>
                <a:latin typeface="標楷體" pitchFamily="34" charset="0"/>
                <a:ea typeface="標楷體" pitchFamily="34" charset="-122"/>
                <a:cs typeface="標楷體" pitchFamily="34" charset="-120"/>
              </a:rPr>
              <a:t>與</a:t>
            </a:r>
            <a:pPr algn="l" indent="0" marL="0">
              <a:buNone/>
            </a:pPr>
            <a:r>
              <a:rPr lang="en-US" sz="1060" b="1" dirty="0">
                <a:solidFill>
                  <a:srgbClr val="2D7A7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freshness </a:t>
            </a:r>
            <a:pPr algn="l" indent="0" marL="0">
              <a:buNone/>
            </a:pPr>
            <a:r>
              <a:rPr lang="en-US" sz="1060" b="1" dirty="0">
                <a:solidFill>
                  <a:srgbClr val="2D7A70"/>
                </a:solidFill>
                <a:latin typeface="標楷體" pitchFamily="34" charset="0"/>
                <a:ea typeface="標楷體" pitchFamily="34" charset="-122"/>
                <a:cs typeface="標楷體" pitchFamily="34" charset="-120"/>
              </a:rPr>
              <a:t>分開</a:t>
            </a:r>
            <a:endParaRPr lang="en-US" sz="1060" dirty="0"/>
          </a:p>
        </p:txBody>
      </p:sp>
      <p:sp>
        <p:nvSpPr>
          <p:cNvPr id="75" name="Shape 73"/>
          <p:cNvSpPr/>
          <p:nvPr/>
        </p:nvSpPr>
        <p:spPr>
          <a:xfrm>
            <a:off x="3840480" y="5458968"/>
            <a:ext cx="100584" cy="100584"/>
          </a:xfrm>
          <a:prstGeom prst="ellipse">
            <a:avLst/>
          </a:prstGeom>
          <a:solidFill>
            <a:srgbClr val="7257A1"/>
          </a:solidFill>
          <a:ln w="5080">
            <a:solidFill>
              <a:srgbClr val="7257A1"/>
            </a:solidFill>
            <a:prstDash val="solid"/>
          </a:ln>
        </p:spPr>
      </p:sp>
      <p:sp>
        <p:nvSpPr>
          <p:cNvPr id="76" name="Text 74"/>
          <p:cNvSpPr/>
          <p:nvPr/>
        </p:nvSpPr>
        <p:spPr>
          <a:xfrm>
            <a:off x="3995928" y="5468112"/>
            <a:ext cx="3822192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60" b="1" dirty="0">
                <a:solidFill>
                  <a:srgbClr val="7257A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DESIGN INFERENCE</a:t>
            </a:r>
            <a:pPr algn="l" indent="0" marL="0">
              <a:buNone/>
            </a:pPr>
            <a:r>
              <a:rPr lang="en-US" sz="1060" b="1" dirty="0">
                <a:solidFill>
                  <a:srgbClr val="7257A1"/>
                </a:solidFill>
                <a:latin typeface="標楷體" pitchFamily="34" charset="0"/>
                <a:ea typeface="標楷體" pitchFamily="34" charset="-122"/>
                <a:cs typeface="標楷體" pitchFamily="34" charset="-120"/>
              </a:rPr>
              <a:t>｜設計估計：</a:t>
            </a:r>
            <a:pPr algn="l" indent="0" marL="0">
              <a:buNone/>
            </a:pPr>
            <a:r>
              <a:rPr lang="en-US" sz="1060" b="1" dirty="0">
                <a:solidFill>
                  <a:srgbClr val="7257A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6–7 </a:t>
            </a:r>
            <a:pPr algn="l" indent="0" marL="0">
              <a:buNone/>
            </a:pPr>
            <a:r>
              <a:rPr lang="en-US" sz="1060" b="1" dirty="0">
                <a:solidFill>
                  <a:srgbClr val="7257A1"/>
                </a:solidFill>
                <a:latin typeface="標楷體" pitchFamily="34" charset="0"/>
                <a:ea typeface="標楷體" pitchFamily="34" charset="-122"/>
                <a:cs typeface="標楷體" pitchFamily="34" charset="-120"/>
              </a:rPr>
              <a:t>頁＋</a:t>
            </a:r>
            <a:pPr algn="l" indent="0" marL="0">
              <a:buNone/>
            </a:pPr>
            <a:r>
              <a:rPr lang="en-US" sz="1060" b="1" dirty="0">
                <a:solidFill>
                  <a:srgbClr val="7257A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 lab</a:t>
            </a:r>
            <a:pPr algn="l" indent="0" marL="0">
              <a:buNone/>
            </a:pPr>
            <a:r>
              <a:rPr lang="en-US" sz="1060" b="1" dirty="0">
                <a:solidFill>
                  <a:srgbClr val="7257A1"/>
                </a:solidFill>
                <a:latin typeface="標楷體" pitchFamily="34" charset="0"/>
                <a:ea typeface="標楷體" pitchFamily="34" charset="-122"/>
                <a:cs typeface="標楷體" pitchFamily="34" charset="-120"/>
              </a:rPr>
              <a:t>；時序待核</a:t>
            </a:r>
            <a:endParaRPr lang="en-US" sz="1060" dirty="0"/>
          </a:p>
        </p:txBody>
      </p:sp>
      <p:sp>
        <p:nvSpPr>
          <p:cNvPr id="77" name="Shape 75"/>
          <p:cNvSpPr/>
          <p:nvPr/>
        </p:nvSpPr>
        <p:spPr>
          <a:xfrm>
            <a:off x="8001000" y="5458968"/>
            <a:ext cx="100584" cy="100584"/>
          </a:xfrm>
          <a:prstGeom prst="ellipse">
            <a:avLst/>
          </a:prstGeom>
          <a:solidFill>
            <a:srgbClr val="98514F"/>
          </a:solidFill>
          <a:ln w="5080">
            <a:solidFill>
              <a:srgbClr val="98514F"/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8156448" y="5468112"/>
            <a:ext cx="356616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60" b="1" dirty="0">
                <a:solidFill>
                  <a:srgbClr val="98514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UNKNOWN</a:t>
            </a:r>
            <a:pPr algn="l" indent="0" marL="0">
              <a:buNone/>
            </a:pPr>
            <a:r>
              <a:rPr lang="en-US" sz="1060" b="1" dirty="0">
                <a:solidFill>
                  <a:srgbClr val="98514F"/>
                </a:solidFill>
                <a:latin typeface="標楷體" pitchFamily="34" charset="0"/>
                <a:ea typeface="標楷體" pitchFamily="34" charset="-122"/>
                <a:cs typeface="標楷體" pitchFamily="34" charset="-120"/>
              </a:rPr>
              <a:t>｜</a:t>
            </a:r>
            <a:pPr algn="l" indent="0" marL="0">
              <a:buNone/>
            </a:pPr>
            <a:r>
              <a:rPr lang="en-US" sz="1060" b="1" dirty="0">
                <a:solidFill>
                  <a:srgbClr val="98514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schedule state</a:t>
            </a:r>
            <a:pPr algn="l" indent="0" marL="0">
              <a:buNone/>
            </a:pPr>
            <a:r>
              <a:rPr lang="en-US" sz="1060" b="1" dirty="0">
                <a:solidFill>
                  <a:srgbClr val="98514F"/>
                </a:solidFill>
                <a:latin typeface="標楷體" pitchFamily="34" charset="0"/>
                <a:ea typeface="標楷體" pitchFamily="34" charset="-122"/>
                <a:cs typeface="標楷體" pitchFamily="34" charset="-120"/>
              </a:rPr>
              <a:t>／</a:t>
            </a:r>
            <a:pPr algn="l" indent="0" marL="0">
              <a:buNone/>
            </a:pPr>
            <a:r>
              <a:rPr lang="en-US" sz="1060" b="1" dirty="0">
                <a:solidFill>
                  <a:srgbClr val="98514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withheld </a:t>
            </a:r>
            <a:pPr algn="l" indent="0" marL="0">
              <a:buNone/>
            </a:pPr>
            <a:r>
              <a:rPr lang="en-US" sz="1060" b="1" dirty="0">
                <a:solidFill>
                  <a:srgbClr val="98514F"/>
                </a:solidFill>
                <a:latin typeface="標楷體" pitchFamily="34" charset="0"/>
                <a:ea typeface="標楷體" pitchFamily="34" charset="-122"/>
                <a:cs typeface="標楷體" pitchFamily="34" charset="-120"/>
              </a:rPr>
              <a:t>未驗證</a:t>
            </a:r>
            <a:endParaRPr lang="en-US" sz="106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34700" y="6340475"/>
            <a:ext cx="889000" cy="47625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400">
                <a:solidFill>
                  <a:srgbClr val="35377F"/>
                </a:solidFill>
                <a:latin typeface="Times New Roman"/>
                <a:ea typeface="Times New Roman"/>
                <a:cs typeface="Times New Roman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6591" y="187008"/>
            <a:ext cx="2176272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35377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92–106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2916936" y="265176"/>
            <a:ext cx="0" cy="310896"/>
          </a:xfrm>
          <a:prstGeom prst="line">
            <a:avLst/>
          </a:prstGeom>
          <a:noFill/>
          <a:ln w="19050">
            <a:solidFill>
              <a:srgbClr val="35377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136392" y="187008"/>
            <a:ext cx="6982968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35377F"/>
                </a:solidFill>
                <a:latin typeface="標楷體" pitchFamily="34" charset="0"/>
                <a:ea typeface="標楷體" pitchFamily="34" charset="-122"/>
                <a:cs typeface="標楷體" pitchFamily="34" charset="-120"/>
              </a:rPr>
              <a:t>證據檢核｜預測不等於節能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749808" y="969264"/>
            <a:ext cx="969264" cy="301752"/>
          </a:xfrm>
          <a:prstGeom prst="roundRect">
            <a:avLst/>
          </a:prstGeom>
          <a:solidFill>
            <a:srgbClr val="8468B5"/>
          </a:solidFill>
          <a:ln w="10160">
            <a:solidFill>
              <a:srgbClr val="8468B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04672" y="987552"/>
            <a:ext cx="85953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20" b="1" dirty="0">
                <a:solidFill>
                  <a:srgbClr val="FFFFFF"/>
                </a:solidFill>
                <a:latin typeface="標楷體" pitchFamily="34" charset="0"/>
                <a:ea typeface="標楷體" pitchFamily="34" charset="-122"/>
                <a:cs typeface="標楷體" pitchFamily="34" charset="-120"/>
              </a:rPr>
              <a:t>核心問題</a:t>
            </a:r>
            <a:endParaRPr lang="en-US" sz="1220" dirty="0"/>
          </a:p>
        </p:txBody>
      </p:sp>
      <p:sp>
        <p:nvSpPr>
          <p:cNvPr id="7" name="Text 5"/>
          <p:cNvSpPr/>
          <p:nvPr/>
        </p:nvSpPr>
        <p:spPr>
          <a:xfrm>
            <a:off x="1883664" y="960120"/>
            <a:ext cx="65653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243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99% accuracy </a:t>
            </a:r>
            <a:pPr algn="l" indent="0" marL="0">
              <a:buNone/>
            </a:pPr>
            <a:r>
              <a:rPr lang="en-US" sz="2000" b="1" dirty="0">
                <a:solidFill>
                  <a:srgbClr val="1E2430"/>
                </a:solidFill>
                <a:latin typeface="標楷體" pitchFamily="34" charset="0"/>
                <a:ea typeface="標楷體" pitchFamily="34" charset="-122"/>
                <a:cs typeface="標楷體" pitchFamily="34" charset="-120"/>
              </a:rPr>
              <a:t>能證明節能嗎？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8549640" y="964692"/>
            <a:ext cx="317296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80" b="1" dirty="0">
                <a:solidFill>
                  <a:srgbClr val="8468B5"/>
                </a:solidFill>
                <a:latin typeface="標楷體" pitchFamily="34" charset="0"/>
                <a:ea typeface="標楷體" pitchFamily="34" charset="-122"/>
                <a:cs typeface="標楷體" pitchFamily="34" charset="-120"/>
              </a:rPr>
              <a:t>先判斷｜當下可用的特徵</a:t>
            </a:r>
            <a:endParaRPr lang="en-US" sz="1380" dirty="0"/>
          </a:p>
        </p:txBody>
      </p:sp>
      <p:sp>
        <p:nvSpPr>
          <p:cNvPr id="9" name="Shape 7"/>
          <p:cNvSpPr/>
          <p:nvPr/>
        </p:nvSpPr>
        <p:spPr>
          <a:xfrm>
            <a:off x="749808" y="1353312"/>
            <a:ext cx="10972800" cy="0"/>
          </a:xfrm>
          <a:prstGeom prst="line">
            <a:avLst/>
          </a:prstGeom>
          <a:noFill/>
          <a:ln w="13335">
            <a:solidFill>
              <a:srgbClr val="8468B5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49808" y="1536192"/>
            <a:ext cx="10972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7257A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ONE COHERENT CASE</a:t>
            </a:r>
            <a:pPr algn="ctr" indent="0" marL="0">
              <a:buNone/>
            </a:pPr>
            <a:r>
              <a:rPr lang="en-US" sz="1500" b="1" dirty="0">
                <a:solidFill>
                  <a:srgbClr val="7257A1"/>
                </a:solidFill>
                <a:latin typeface="標楷體" pitchFamily="34" charset="0"/>
                <a:ea typeface="標楷體" pitchFamily="34" charset="-122"/>
                <a:cs typeface="標楷體" pitchFamily="34" charset="-120"/>
              </a:rPr>
              <a:t>｜沿</a:t>
            </a:r>
            <a:pPr algn="ctr" indent="0" marL="0">
              <a:buNone/>
            </a:pPr>
            <a:r>
              <a:rPr lang="en-US" sz="1500" b="1" dirty="0">
                <a:solidFill>
                  <a:srgbClr val="7257A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timestamp </a:t>
            </a:r>
            <a:pPr algn="ctr" indent="0" marL="0">
              <a:buNone/>
            </a:pPr>
            <a:r>
              <a:rPr lang="en-US" sz="1500" b="1" dirty="0">
                <a:solidFill>
                  <a:srgbClr val="7257A1"/>
                </a:solidFill>
                <a:latin typeface="標楷體" pitchFamily="34" charset="0"/>
                <a:ea typeface="標楷體" pitchFamily="34" charset="-122"/>
                <a:cs typeface="標楷體" pitchFamily="34" charset="-120"/>
              </a:rPr>
              <a:t>判斷可用性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3840480" y="2404872"/>
            <a:ext cx="603504" cy="0"/>
          </a:xfrm>
          <a:prstGeom prst="line">
            <a:avLst/>
          </a:prstGeom>
          <a:noFill/>
          <a:ln w="20320">
            <a:solidFill>
              <a:srgbClr val="8A70BF"/>
            </a:solidFill>
            <a:prstDash val="solid"/>
            <a:headEnd type="none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749808" y="1865376"/>
            <a:ext cx="3090672" cy="1115568"/>
          </a:xfrm>
          <a:prstGeom prst="roundRect">
            <a:avLst/>
          </a:prstGeom>
          <a:solidFill>
            <a:srgbClr val="FFFFFF"/>
          </a:solidFill>
          <a:ln w="13335">
            <a:solidFill>
              <a:srgbClr val="4EA978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969264" y="2048256"/>
            <a:ext cx="1417320" cy="292608"/>
          </a:xfrm>
          <a:prstGeom prst="roundRect">
            <a:avLst/>
          </a:prstGeom>
          <a:solidFill>
            <a:srgbClr val="4EA978"/>
          </a:solidFill>
          <a:ln w="10160">
            <a:solidFill>
              <a:srgbClr val="4EA97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24128" y="2066544"/>
            <a:ext cx="13075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3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AVAILABLE</a:t>
            </a:r>
            <a:endParaRPr lang="en-US" sz="1130" dirty="0"/>
          </a:p>
        </p:txBody>
      </p:sp>
      <p:sp>
        <p:nvSpPr>
          <p:cNvPr id="15" name="Text 13"/>
          <p:cNvSpPr/>
          <p:nvPr/>
        </p:nvSpPr>
        <p:spPr>
          <a:xfrm>
            <a:off x="969264" y="2468880"/>
            <a:ext cx="26517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20" b="1" dirty="0">
                <a:solidFill>
                  <a:srgbClr val="1E243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load(t−2) · quality(t−1)</a:t>
            </a:r>
            <a:endParaRPr lang="en-US" sz="1420" dirty="0"/>
          </a:p>
        </p:txBody>
      </p:sp>
      <p:sp>
        <p:nvSpPr>
          <p:cNvPr id="16" name="Shape 14"/>
          <p:cNvSpPr/>
          <p:nvPr/>
        </p:nvSpPr>
        <p:spPr>
          <a:xfrm>
            <a:off x="7498080" y="2404872"/>
            <a:ext cx="603504" cy="0"/>
          </a:xfrm>
          <a:prstGeom prst="line">
            <a:avLst/>
          </a:prstGeom>
          <a:noFill/>
          <a:ln w="20320">
            <a:solidFill>
              <a:srgbClr val="8A70BF"/>
            </a:solidFill>
            <a:prstDash val="solid"/>
            <a:headEnd type="none"/>
            <a:tailEnd type="triangle"/>
          </a:ln>
        </p:spPr>
      </p:sp>
      <p:sp>
        <p:nvSpPr>
          <p:cNvPr id="17" name="Shape 15"/>
          <p:cNvSpPr/>
          <p:nvPr/>
        </p:nvSpPr>
        <p:spPr>
          <a:xfrm>
            <a:off x="4443984" y="1865376"/>
            <a:ext cx="3054096" cy="1115568"/>
          </a:xfrm>
          <a:prstGeom prst="roundRect">
            <a:avLst/>
          </a:prstGeom>
          <a:solidFill>
            <a:srgbClr val="FFFFFF"/>
          </a:solidFill>
          <a:ln w="13335">
            <a:solidFill>
              <a:srgbClr val="8A70BF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663440" y="2048256"/>
            <a:ext cx="1417320" cy="292608"/>
          </a:xfrm>
          <a:prstGeom prst="roundRect">
            <a:avLst/>
          </a:prstGeom>
          <a:solidFill>
            <a:srgbClr val="8A70BF"/>
          </a:solidFill>
          <a:ln w="10160">
            <a:solidFill>
              <a:srgbClr val="8A70B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718304" y="2066544"/>
            <a:ext cx="13075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3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CHECK</a:t>
            </a:r>
            <a:endParaRPr lang="en-US" sz="1130" dirty="0"/>
          </a:p>
        </p:txBody>
      </p:sp>
      <p:sp>
        <p:nvSpPr>
          <p:cNvPr id="20" name="Text 18"/>
          <p:cNvSpPr/>
          <p:nvPr/>
        </p:nvSpPr>
        <p:spPr>
          <a:xfrm>
            <a:off x="4663440" y="2468880"/>
            <a:ext cx="261518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20" b="1" dirty="0">
                <a:solidFill>
                  <a:srgbClr val="1E2430"/>
                </a:solidFill>
                <a:latin typeface="標楷體" pitchFamily="34" charset="0"/>
                <a:ea typeface="標楷體" pitchFamily="34" charset="-122"/>
                <a:cs typeface="標楷體" pitchFamily="34" charset="-120"/>
              </a:rPr>
              <a:t>查看</a:t>
            </a:r>
            <a:pPr algn="ctr" indent="0" marL="0">
              <a:buNone/>
            </a:pPr>
            <a:r>
              <a:rPr lang="en-US" sz="1420" b="1" dirty="0">
                <a:solidFill>
                  <a:srgbClr val="1E243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timestamp </a:t>
            </a:r>
            <a:pPr algn="ctr" indent="0" marL="0">
              <a:buNone/>
            </a:pPr>
            <a:r>
              <a:rPr lang="en-US" sz="1420" b="1" dirty="0">
                <a:solidFill>
                  <a:srgbClr val="1E2430"/>
                </a:solidFill>
                <a:latin typeface="標楷體" pitchFamily="34" charset="0"/>
                <a:ea typeface="標楷體" pitchFamily="34" charset="-122"/>
                <a:cs typeface="標楷體" pitchFamily="34" charset="-120"/>
              </a:rPr>
              <a:t>再決定</a:t>
            </a:r>
            <a:endParaRPr lang="en-US" sz="1420" dirty="0"/>
          </a:p>
        </p:txBody>
      </p:sp>
      <p:sp>
        <p:nvSpPr>
          <p:cNvPr id="21" name="Shape 19"/>
          <p:cNvSpPr/>
          <p:nvPr/>
        </p:nvSpPr>
        <p:spPr>
          <a:xfrm>
            <a:off x="8101584" y="1865376"/>
            <a:ext cx="3621024" cy="1115568"/>
          </a:xfrm>
          <a:prstGeom prst="roundRect">
            <a:avLst/>
          </a:prstGeom>
          <a:solidFill>
            <a:srgbClr val="FFFFFF"/>
          </a:solidFill>
          <a:ln w="13335">
            <a:solidFill>
              <a:srgbClr val="C96F6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8321040" y="2048256"/>
            <a:ext cx="1417320" cy="292608"/>
          </a:xfrm>
          <a:prstGeom prst="roundRect">
            <a:avLst/>
          </a:prstGeom>
          <a:solidFill>
            <a:srgbClr val="C96F67"/>
          </a:solidFill>
          <a:ln w="10160">
            <a:solidFill>
              <a:srgbClr val="C96F6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375904" y="2066544"/>
            <a:ext cx="13075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3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LEAKAGE</a:t>
            </a:r>
            <a:pPr algn="ctr" indent="0" marL="0">
              <a:buNone/>
            </a:pPr>
            <a:r>
              <a:rPr lang="en-US" sz="1130" b="1" dirty="0">
                <a:solidFill>
                  <a:srgbClr val="FFFFFF"/>
                </a:solidFill>
                <a:latin typeface="標楷體" pitchFamily="34" charset="0"/>
                <a:ea typeface="標楷體" pitchFamily="34" charset="-122"/>
                <a:cs typeface="標楷體" pitchFamily="34" charset="-120"/>
              </a:rPr>
              <a:t>｜</a:t>
            </a:r>
            <a:pPr algn="ctr" indent="0" marL="0">
              <a:buNone/>
            </a:pPr>
            <a:r>
              <a:rPr lang="en-US" sz="113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t+1</a:t>
            </a:r>
            <a:endParaRPr lang="en-US" sz="1130" dirty="0"/>
          </a:p>
        </p:txBody>
      </p:sp>
      <p:sp>
        <p:nvSpPr>
          <p:cNvPr id="24" name="Text 22"/>
          <p:cNvSpPr/>
          <p:nvPr/>
        </p:nvSpPr>
        <p:spPr>
          <a:xfrm>
            <a:off x="8321040" y="2468880"/>
            <a:ext cx="318211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20" b="1" dirty="0">
                <a:solidFill>
                  <a:srgbClr val="1E2430"/>
                </a:solidFill>
                <a:latin typeface="標楷體" pitchFamily="34" charset="0"/>
                <a:ea typeface="標楷體" pitchFamily="34" charset="-122"/>
                <a:cs typeface="標楷體" pitchFamily="34" charset="-120"/>
              </a:rPr>
              <a:t>行動後結果不可偷看</a:t>
            </a:r>
            <a:endParaRPr lang="en-US" sz="1420" dirty="0"/>
          </a:p>
        </p:txBody>
      </p:sp>
      <p:sp>
        <p:nvSpPr>
          <p:cNvPr id="25" name="Shape 23"/>
          <p:cNvSpPr/>
          <p:nvPr/>
        </p:nvSpPr>
        <p:spPr>
          <a:xfrm>
            <a:off x="6711696" y="1947672"/>
            <a:ext cx="457200" cy="457200"/>
          </a:xfrm>
          <a:prstGeom prst="ellipse">
            <a:avLst/>
          </a:prstGeom>
          <a:solidFill>
            <a:srgbClr val="FFFFFF"/>
          </a:solidFill>
          <a:ln w="17780">
            <a:solidFill>
              <a:srgbClr val="8A70B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711696" y="2093976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8A70B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t0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3090672" y="3538728"/>
            <a:ext cx="310896" cy="0"/>
          </a:xfrm>
          <a:prstGeom prst="line">
            <a:avLst/>
          </a:prstGeom>
          <a:noFill/>
          <a:ln w="19050">
            <a:solidFill>
              <a:srgbClr val="28AFC0"/>
            </a:solidFill>
            <a:prstDash val="solid"/>
            <a:headEnd type="none"/>
            <a:tailEnd type="triangle"/>
          </a:ln>
        </p:spPr>
      </p:sp>
      <p:sp>
        <p:nvSpPr>
          <p:cNvPr id="28" name="Shape 26"/>
          <p:cNvSpPr/>
          <p:nvPr/>
        </p:nvSpPr>
        <p:spPr>
          <a:xfrm>
            <a:off x="749808" y="3236976"/>
            <a:ext cx="2340864" cy="58521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4EA97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877824" y="3401568"/>
            <a:ext cx="20848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20" b="1" dirty="0">
                <a:solidFill>
                  <a:srgbClr val="4EA978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wait</a:t>
            </a:r>
            <a:pPr algn="ctr" indent="0" marL="0">
              <a:buNone/>
            </a:pPr>
            <a:r>
              <a:rPr lang="en-US" sz="1520" b="1" dirty="0">
                <a:solidFill>
                  <a:srgbClr val="4EA978"/>
                </a:solidFill>
                <a:latin typeface="標楷體" pitchFamily="34" charset="0"/>
                <a:ea typeface="標楷體" pitchFamily="34" charset="-122"/>
                <a:cs typeface="標楷體" pitchFamily="34" charset="-120"/>
              </a:rPr>
              <a:t>／</a:t>
            </a:r>
            <a:pPr algn="ctr" indent="0" marL="0">
              <a:buNone/>
            </a:pPr>
            <a:r>
              <a:rPr lang="en-US" sz="1520" b="1" dirty="0">
                <a:solidFill>
                  <a:srgbClr val="4EA978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send</a:t>
            </a:r>
            <a:endParaRPr lang="en-US" sz="1520" dirty="0"/>
          </a:p>
        </p:txBody>
      </p:sp>
      <p:sp>
        <p:nvSpPr>
          <p:cNvPr id="30" name="Shape 28"/>
          <p:cNvSpPr/>
          <p:nvPr/>
        </p:nvSpPr>
        <p:spPr>
          <a:xfrm>
            <a:off x="5614416" y="3538728"/>
            <a:ext cx="310896" cy="0"/>
          </a:xfrm>
          <a:prstGeom prst="line">
            <a:avLst/>
          </a:prstGeom>
          <a:noFill/>
          <a:ln w="19050">
            <a:solidFill>
              <a:srgbClr val="28AFC0"/>
            </a:solidFill>
            <a:prstDash val="solid"/>
            <a:headEnd type="none"/>
            <a:tailEnd type="triangle"/>
          </a:ln>
        </p:spPr>
      </p:sp>
      <p:sp>
        <p:nvSpPr>
          <p:cNvPr id="31" name="Shape 29"/>
          <p:cNvSpPr/>
          <p:nvPr/>
        </p:nvSpPr>
        <p:spPr>
          <a:xfrm>
            <a:off x="3401568" y="3236976"/>
            <a:ext cx="2212848" cy="58521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A70BF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529584" y="3401568"/>
            <a:ext cx="1956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20" b="1" dirty="0">
                <a:solidFill>
                  <a:srgbClr val="8A70B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freeze 1</a:t>
            </a:r>
            <a:endParaRPr lang="en-US" sz="1520" dirty="0"/>
          </a:p>
        </p:txBody>
      </p:sp>
      <p:sp>
        <p:nvSpPr>
          <p:cNvPr id="33" name="Shape 31"/>
          <p:cNvSpPr/>
          <p:nvPr/>
        </p:nvSpPr>
        <p:spPr>
          <a:xfrm>
            <a:off x="8412480" y="3538728"/>
            <a:ext cx="310896" cy="0"/>
          </a:xfrm>
          <a:prstGeom prst="line">
            <a:avLst/>
          </a:prstGeom>
          <a:noFill/>
          <a:ln w="19050">
            <a:solidFill>
              <a:srgbClr val="28AFC0"/>
            </a:solidFill>
            <a:prstDash val="solid"/>
            <a:headEnd type="none"/>
            <a:tailEnd type="triangle"/>
          </a:ln>
        </p:spPr>
      </p:sp>
      <p:sp>
        <p:nvSpPr>
          <p:cNvPr id="34" name="Shape 32"/>
          <p:cNvSpPr/>
          <p:nvPr/>
        </p:nvSpPr>
        <p:spPr>
          <a:xfrm>
            <a:off x="5925312" y="3236976"/>
            <a:ext cx="2487168" cy="58521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A70BF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053328" y="3401568"/>
            <a:ext cx="22311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20" b="1" dirty="0">
                <a:solidFill>
                  <a:srgbClr val="8A70B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held-out replay</a:t>
            </a:r>
            <a:endParaRPr lang="en-US" sz="1520" dirty="0"/>
          </a:p>
        </p:txBody>
      </p:sp>
      <p:sp>
        <p:nvSpPr>
          <p:cNvPr id="36" name="Shape 34"/>
          <p:cNvSpPr/>
          <p:nvPr/>
        </p:nvSpPr>
        <p:spPr>
          <a:xfrm>
            <a:off x="8723376" y="3236976"/>
            <a:ext cx="2999232" cy="58521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2D7A7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8851392" y="3401568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20" b="1" dirty="0">
                <a:solidFill>
                  <a:srgbClr val="2D7A7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score ∥ service</a:t>
            </a:r>
            <a:pPr algn="ctr" indent="0" marL="0">
              <a:buNone/>
            </a:pPr>
            <a:r>
              <a:rPr lang="en-US" sz="1520" b="1" dirty="0">
                <a:solidFill>
                  <a:srgbClr val="2D7A70"/>
                </a:solidFill>
                <a:latin typeface="標楷體" pitchFamily="34" charset="0"/>
                <a:ea typeface="標楷體" pitchFamily="34" charset="-122"/>
                <a:cs typeface="標楷體" pitchFamily="34" charset="-120"/>
              </a:rPr>
              <a:t>／</a:t>
            </a:r>
            <a:pPr algn="ctr" indent="0" marL="0">
              <a:buNone/>
            </a:pPr>
            <a:r>
              <a:rPr lang="en-US" sz="1520" b="1" dirty="0">
                <a:solidFill>
                  <a:srgbClr val="2D7A7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J</a:t>
            </a:r>
            <a:endParaRPr lang="en-US" sz="1520" dirty="0"/>
          </a:p>
        </p:txBody>
      </p:sp>
      <p:sp>
        <p:nvSpPr>
          <p:cNvPr id="38" name="Shape 36"/>
          <p:cNvSpPr/>
          <p:nvPr/>
        </p:nvSpPr>
        <p:spPr>
          <a:xfrm>
            <a:off x="5385816" y="4041648"/>
            <a:ext cx="987552" cy="274320"/>
          </a:xfrm>
          <a:prstGeom prst="roundRect">
            <a:avLst/>
          </a:prstGeom>
          <a:solidFill>
            <a:srgbClr val="14213D"/>
          </a:solidFill>
          <a:ln w="10160">
            <a:solidFill>
              <a:srgbClr val="14213D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5440680" y="4059936"/>
            <a:ext cx="8778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3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CLAIM</a:t>
            </a:r>
            <a:endParaRPr lang="en-US" sz="1130" dirty="0"/>
          </a:p>
        </p:txBody>
      </p:sp>
      <p:sp>
        <p:nvSpPr>
          <p:cNvPr id="40" name="Text 38"/>
          <p:cNvSpPr/>
          <p:nvPr/>
        </p:nvSpPr>
        <p:spPr>
          <a:xfrm>
            <a:off x="6528816" y="4041648"/>
            <a:ext cx="21396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7257A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prediction ≠ saving</a:t>
            </a:r>
            <a:endParaRPr lang="en-US" sz="1500" dirty="0"/>
          </a:p>
        </p:txBody>
      </p:sp>
      <p:sp>
        <p:nvSpPr>
          <p:cNvPr id="41" name="Shape 39"/>
          <p:cNvSpPr/>
          <p:nvPr/>
        </p:nvSpPr>
        <p:spPr>
          <a:xfrm>
            <a:off x="749808" y="4480560"/>
            <a:ext cx="10972800" cy="640080"/>
          </a:xfrm>
          <a:prstGeom prst="roundRect">
            <a:avLst/>
          </a:prstGeom>
          <a:solidFill>
            <a:srgbClr val="F3EFFA"/>
          </a:solidFill>
          <a:ln w="12065">
            <a:solidFill>
              <a:srgbClr val="8468B5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868680" y="4572000"/>
            <a:ext cx="250545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80" b="1" dirty="0">
                <a:solidFill>
                  <a:srgbClr val="8468B5"/>
                </a:solidFill>
                <a:latin typeface="標楷體" pitchFamily="34" charset="0"/>
                <a:ea typeface="標楷體" pitchFamily="34" charset="-122"/>
                <a:cs typeface="標楷體" pitchFamily="34" charset="-120"/>
              </a:rPr>
              <a:t>操作</a:t>
            </a:r>
            <a:endParaRPr lang="en-US" sz="1080" dirty="0"/>
          </a:p>
        </p:txBody>
      </p:sp>
      <p:sp>
        <p:nvSpPr>
          <p:cNvPr id="43" name="Text 41"/>
          <p:cNvSpPr/>
          <p:nvPr/>
        </p:nvSpPr>
        <p:spPr>
          <a:xfrm>
            <a:off x="868680" y="4764024"/>
            <a:ext cx="2505456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243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timestamp → freeze → replay</a:t>
            </a:r>
            <a:endParaRPr lang="en-US" sz="1300" dirty="0"/>
          </a:p>
        </p:txBody>
      </p:sp>
      <p:sp>
        <p:nvSpPr>
          <p:cNvPr id="44" name="Shape 42"/>
          <p:cNvSpPr/>
          <p:nvPr/>
        </p:nvSpPr>
        <p:spPr>
          <a:xfrm>
            <a:off x="3493008" y="4572000"/>
            <a:ext cx="0" cy="457200"/>
          </a:xfrm>
          <a:prstGeom prst="line">
            <a:avLst/>
          </a:prstGeom>
          <a:noFill/>
          <a:ln w="10160">
            <a:solidFill>
              <a:srgbClr val="D5DDE4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611880" y="4572000"/>
            <a:ext cx="250545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80" b="1" dirty="0">
                <a:solidFill>
                  <a:srgbClr val="8468B5"/>
                </a:solidFill>
                <a:latin typeface="標楷體" pitchFamily="34" charset="0"/>
                <a:ea typeface="標楷體" pitchFamily="34" charset="-122"/>
                <a:cs typeface="標楷體" pitchFamily="34" charset="-120"/>
              </a:rPr>
              <a:t>證據</a:t>
            </a:r>
            <a:endParaRPr lang="en-US" sz="1080" dirty="0"/>
          </a:p>
        </p:txBody>
      </p:sp>
      <p:sp>
        <p:nvSpPr>
          <p:cNvPr id="46" name="Text 44"/>
          <p:cNvSpPr/>
          <p:nvPr/>
        </p:nvSpPr>
        <p:spPr>
          <a:xfrm>
            <a:off x="3611880" y="4764024"/>
            <a:ext cx="2505456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243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score </a:t>
            </a:r>
            <a:pPr algn="ctr" indent="0" marL="0">
              <a:buNone/>
            </a:pPr>
            <a:r>
              <a:rPr lang="en-US" sz="1300" b="1" dirty="0">
                <a:solidFill>
                  <a:srgbClr val="1E2430"/>
                </a:solidFill>
                <a:latin typeface="標楷體" pitchFamily="34" charset="0"/>
                <a:ea typeface="標楷體" pitchFamily="34" charset="-122"/>
                <a:cs typeface="標楷體" pitchFamily="34" charset="-120"/>
              </a:rPr>
              <a:t>與</a:t>
            </a:r>
            <a:pPr algn="ctr" indent="0" marL="0">
              <a:buNone/>
            </a:pPr>
            <a:r>
              <a:rPr lang="en-US" sz="1300" b="1" dirty="0">
                <a:solidFill>
                  <a:srgbClr val="1E243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service</a:t>
            </a:r>
            <a:pPr algn="ctr" indent="0" marL="0">
              <a:buNone/>
            </a:pPr>
            <a:r>
              <a:rPr lang="en-US" sz="1300" b="1" dirty="0">
                <a:solidFill>
                  <a:srgbClr val="1E2430"/>
                </a:solidFill>
                <a:latin typeface="標楷體" pitchFamily="34" charset="0"/>
                <a:ea typeface="標楷體" pitchFamily="34" charset="-122"/>
                <a:cs typeface="標楷體" pitchFamily="34" charset="-120"/>
              </a:rPr>
              <a:t>／</a:t>
            </a:r>
            <a:pPr algn="ctr" indent="0" marL="0">
              <a:buNone/>
            </a:pPr>
            <a:r>
              <a:rPr lang="en-US" sz="1300" b="1" dirty="0">
                <a:solidFill>
                  <a:srgbClr val="1E243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J </a:t>
            </a:r>
            <a:pPr algn="ctr" indent="0" marL="0">
              <a:buNone/>
            </a:pPr>
            <a:r>
              <a:rPr lang="en-US" sz="1300" b="1" dirty="0">
                <a:solidFill>
                  <a:srgbClr val="1E2430"/>
                </a:solidFill>
                <a:latin typeface="標楷體" pitchFamily="34" charset="0"/>
                <a:ea typeface="標楷體" pitchFamily="34" charset="-122"/>
                <a:cs typeface="標楷體" pitchFamily="34" charset="-120"/>
              </a:rPr>
              <a:t>並列</a:t>
            </a:r>
            <a:endParaRPr lang="en-US" sz="1300" dirty="0"/>
          </a:p>
        </p:txBody>
      </p:sp>
      <p:sp>
        <p:nvSpPr>
          <p:cNvPr id="47" name="Shape 45"/>
          <p:cNvSpPr/>
          <p:nvPr/>
        </p:nvSpPr>
        <p:spPr>
          <a:xfrm>
            <a:off x="6236208" y="4572000"/>
            <a:ext cx="0" cy="457200"/>
          </a:xfrm>
          <a:prstGeom prst="line">
            <a:avLst/>
          </a:prstGeom>
          <a:noFill/>
          <a:ln w="10160">
            <a:solidFill>
              <a:srgbClr val="D5DDE4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6355080" y="4572000"/>
            <a:ext cx="250545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80" b="1" dirty="0">
                <a:solidFill>
                  <a:srgbClr val="8468B5"/>
                </a:solidFill>
                <a:latin typeface="標楷體" pitchFamily="34" charset="0"/>
                <a:ea typeface="標楷體" pitchFamily="34" charset="-122"/>
                <a:cs typeface="標楷體" pitchFamily="34" charset="-120"/>
              </a:rPr>
              <a:t>意義</a:t>
            </a:r>
            <a:endParaRPr lang="en-US" sz="1080" dirty="0"/>
          </a:p>
        </p:txBody>
      </p:sp>
      <p:sp>
        <p:nvSpPr>
          <p:cNvPr id="49" name="Text 47"/>
          <p:cNvSpPr/>
          <p:nvPr/>
        </p:nvSpPr>
        <p:spPr>
          <a:xfrm>
            <a:off x="6355080" y="4764024"/>
            <a:ext cx="2505456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243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prediction ≠ saving</a:t>
            </a:r>
            <a:endParaRPr lang="en-US" sz="1300" dirty="0"/>
          </a:p>
        </p:txBody>
      </p:sp>
      <p:sp>
        <p:nvSpPr>
          <p:cNvPr id="50" name="Shape 48"/>
          <p:cNvSpPr/>
          <p:nvPr/>
        </p:nvSpPr>
        <p:spPr>
          <a:xfrm>
            <a:off x="8979408" y="4572000"/>
            <a:ext cx="0" cy="457200"/>
          </a:xfrm>
          <a:prstGeom prst="line">
            <a:avLst/>
          </a:prstGeom>
          <a:noFill/>
          <a:ln w="10160">
            <a:solidFill>
              <a:srgbClr val="D5DDE4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9098280" y="4572000"/>
            <a:ext cx="250545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80" b="1" dirty="0">
                <a:solidFill>
                  <a:srgbClr val="8468B5"/>
                </a:solidFill>
                <a:latin typeface="標楷體" pitchFamily="34" charset="0"/>
                <a:ea typeface="標楷體" pitchFamily="34" charset="-122"/>
                <a:cs typeface="標楷體" pitchFamily="34" charset="-120"/>
              </a:rPr>
              <a:t>回復</a:t>
            </a:r>
            <a:endParaRPr lang="en-US" sz="1080" dirty="0"/>
          </a:p>
        </p:txBody>
      </p:sp>
      <p:sp>
        <p:nvSpPr>
          <p:cNvPr id="52" name="Text 50"/>
          <p:cNvSpPr/>
          <p:nvPr/>
        </p:nvSpPr>
        <p:spPr>
          <a:xfrm>
            <a:off x="9098280" y="4764024"/>
            <a:ext cx="2505456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2430"/>
                </a:solidFill>
                <a:latin typeface="標楷體" pitchFamily="34" charset="0"/>
                <a:ea typeface="標楷體" pitchFamily="34" charset="-122"/>
                <a:cs typeface="標楷體" pitchFamily="34" charset="-120"/>
              </a:rPr>
              <a:t>提示／誠實</a:t>
            </a:r>
            <a:pPr algn="ctr" indent="0" marL="0">
              <a:buNone/>
            </a:pPr>
            <a:r>
              <a:rPr lang="en-US" sz="1300" b="1" dirty="0">
                <a:solidFill>
                  <a:srgbClr val="1E243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fallback</a:t>
            </a:r>
            <a:endParaRPr lang="en-US" sz="1300" dirty="0"/>
          </a:p>
        </p:txBody>
      </p:sp>
      <p:sp>
        <p:nvSpPr>
          <p:cNvPr id="53" name="Shape 51"/>
          <p:cNvSpPr/>
          <p:nvPr/>
        </p:nvSpPr>
        <p:spPr>
          <a:xfrm>
            <a:off x="749808" y="5349240"/>
            <a:ext cx="10972800" cy="0"/>
          </a:xfrm>
          <a:prstGeom prst="line">
            <a:avLst/>
          </a:prstGeom>
          <a:noFill/>
          <a:ln w="12700">
            <a:solidFill>
              <a:srgbClr val="D5DDE4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3749040" y="5440680"/>
            <a:ext cx="0" cy="457200"/>
          </a:xfrm>
          <a:prstGeom prst="line">
            <a:avLst/>
          </a:prstGeom>
          <a:noFill/>
          <a:ln w="10160">
            <a:solidFill>
              <a:srgbClr val="D5DDE4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7909560" y="5440680"/>
            <a:ext cx="0" cy="457200"/>
          </a:xfrm>
          <a:prstGeom prst="line">
            <a:avLst/>
          </a:prstGeom>
          <a:noFill/>
          <a:ln w="10160">
            <a:solidFill>
              <a:srgbClr val="D5DDE4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749808" y="5458968"/>
            <a:ext cx="100584" cy="100584"/>
          </a:xfrm>
          <a:prstGeom prst="ellipse">
            <a:avLst/>
          </a:prstGeom>
          <a:solidFill>
            <a:srgbClr val="2D7A70"/>
          </a:solidFill>
          <a:ln w="5080">
            <a:solidFill>
              <a:srgbClr val="2D7A70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905256" y="5468112"/>
            <a:ext cx="2770632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60" b="1" dirty="0">
                <a:solidFill>
                  <a:srgbClr val="2D7A7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FACT</a:t>
            </a:r>
            <a:pPr algn="l" indent="0" marL="0">
              <a:buNone/>
            </a:pPr>
            <a:r>
              <a:rPr lang="en-US" sz="1060" b="1" dirty="0">
                <a:solidFill>
                  <a:srgbClr val="2D7A70"/>
                </a:solidFill>
                <a:latin typeface="標楷體" pitchFamily="34" charset="0"/>
                <a:ea typeface="標楷體" pitchFamily="34" charset="-122"/>
                <a:cs typeface="標楷體" pitchFamily="34" charset="-120"/>
              </a:rPr>
              <a:t>｜模型分數非能耗公式項</a:t>
            </a:r>
            <a:endParaRPr lang="en-US" sz="1060" dirty="0"/>
          </a:p>
        </p:txBody>
      </p:sp>
      <p:sp>
        <p:nvSpPr>
          <p:cNvPr id="58" name="Shape 56"/>
          <p:cNvSpPr/>
          <p:nvPr/>
        </p:nvSpPr>
        <p:spPr>
          <a:xfrm>
            <a:off x="3840480" y="5458968"/>
            <a:ext cx="100584" cy="100584"/>
          </a:xfrm>
          <a:prstGeom prst="ellipse">
            <a:avLst/>
          </a:prstGeom>
          <a:solidFill>
            <a:srgbClr val="7257A1"/>
          </a:solidFill>
          <a:ln w="5080">
            <a:solidFill>
              <a:srgbClr val="7257A1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3995928" y="5468112"/>
            <a:ext cx="3822192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60" b="1" dirty="0">
                <a:solidFill>
                  <a:srgbClr val="7257A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DESIGN INFERENCE</a:t>
            </a:r>
            <a:pPr algn="l" indent="0" marL="0">
              <a:buNone/>
            </a:pPr>
            <a:r>
              <a:rPr lang="en-US" sz="1060" b="1" dirty="0">
                <a:solidFill>
                  <a:srgbClr val="7257A1"/>
                </a:solidFill>
                <a:latin typeface="標楷體" pitchFamily="34" charset="0"/>
                <a:ea typeface="標楷體" pitchFamily="34" charset="-122"/>
                <a:cs typeface="標楷體" pitchFamily="34" charset="-120"/>
              </a:rPr>
              <a:t>｜設計估計：</a:t>
            </a:r>
            <a:pPr algn="l" indent="0" marL="0">
              <a:buNone/>
            </a:pPr>
            <a:r>
              <a:rPr lang="en-US" sz="1060" b="1" dirty="0">
                <a:solidFill>
                  <a:srgbClr val="7257A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4–5 </a:t>
            </a:r>
            <a:pPr algn="l" indent="0" marL="0">
              <a:buNone/>
            </a:pPr>
            <a:r>
              <a:rPr lang="en-US" sz="1060" b="1" dirty="0">
                <a:solidFill>
                  <a:srgbClr val="7257A1"/>
                </a:solidFill>
                <a:latin typeface="標楷體" pitchFamily="34" charset="0"/>
                <a:ea typeface="標楷體" pitchFamily="34" charset="-122"/>
                <a:cs typeface="標楷體" pitchFamily="34" charset="-120"/>
              </a:rPr>
              <a:t>頁＋</a:t>
            </a:r>
            <a:pPr algn="l" indent="0" marL="0">
              <a:buNone/>
            </a:pPr>
            <a:r>
              <a:rPr lang="en-US" sz="1060" b="1" dirty="0">
                <a:solidFill>
                  <a:srgbClr val="7257A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 coherent case</a:t>
            </a:r>
            <a:endParaRPr lang="en-US" sz="1060" dirty="0"/>
          </a:p>
        </p:txBody>
      </p:sp>
      <p:sp>
        <p:nvSpPr>
          <p:cNvPr id="60" name="Shape 58"/>
          <p:cNvSpPr/>
          <p:nvPr/>
        </p:nvSpPr>
        <p:spPr>
          <a:xfrm>
            <a:off x="8001000" y="5458968"/>
            <a:ext cx="100584" cy="100584"/>
          </a:xfrm>
          <a:prstGeom prst="ellipse">
            <a:avLst/>
          </a:prstGeom>
          <a:solidFill>
            <a:srgbClr val="98514F"/>
          </a:solidFill>
          <a:ln w="5080">
            <a:solidFill>
              <a:srgbClr val="98514F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8156448" y="5468112"/>
            <a:ext cx="356616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60" b="1" dirty="0">
                <a:solidFill>
                  <a:srgbClr val="98514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UNKNOWN</a:t>
            </a:r>
            <a:pPr algn="l" indent="0" marL="0">
              <a:buNone/>
            </a:pPr>
            <a:r>
              <a:rPr lang="en-US" sz="1060" b="1" dirty="0">
                <a:solidFill>
                  <a:srgbClr val="98514F"/>
                </a:solidFill>
                <a:latin typeface="標楷體" pitchFamily="34" charset="0"/>
                <a:ea typeface="標楷體" pitchFamily="34" charset="-122"/>
                <a:cs typeface="標楷體" pitchFamily="34" charset="-120"/>
              </a:rPr>
              <a:t>｜</a:t>
            </a:r>
            <a:pPr algn="l" indent="0" marL="0">
              <a:buNone/>
            </a:pPr>
            <a:r>
              <a:rPr lang="en-US" sz="1060" b="1" dirty="0">
                <a:solidFill>
                  <a:srgbClr val="98514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timestamp</a:t>
            </a:r>
            <a:pPr algn="l" indent="0" marL="0">
              <a:buNone/>
            </a:pPr>
            <a:r>
              <a:rPr lang="en-US" sz="1060" b="1" dirty="0">
                <a:solidFill>
                  <a:srgbClr val="98514F"/>
                </a:solidFill>
                <a:latin typeface="標楷體" pitchFamily="34" charset="0"/>
                <a:ea typeface="標楷體" pitchFamily="34" charset="-122"/>
                <a:cs typeface="標楷體" pitchFamily="34" charset="-120"/>
              </a:rPr>
              <a:t>／</a:t>
            </a:r>
            <a:pPr algn="l" indent="0" marL="0">
              <a:buNone/>
            </a:pPr>
            <a:r>
              <a:rPr lang="en-US" sz="1060" b="1" dirty="0">
                <a:solidFill>
                  <a:srgbClr val="98514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held-out action </a:t>
            </a:r>
            <a:pPr algn="l" indent="0" marL="0">
              <a:buNone/>
            </a:pPr>
            <a:r>
              <a:rPr lang="en-US" sz="1060" b="1" dirty="0">
                <a:solidFill>
                  <a:srgbClr val="98514F"/>
                </a:solidFill>
                <a:latin typeface="標楷體" pitchFamily="34" charset="0"/>
                <a:ea typeface="標楷體" pitchFamily="34" charset="-122"/>
                <a:cs typeface="標楷體" pitchFamily="34" charset="-120"/>
              </a:rPr>
              <a:t>未驗證</a:t>
            </a:r>
            <a:endParaRPr lang="en-US" sz="106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34700" y="6340475"/>
            <a:ext cx="889000" cy="47625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400">
                <a:solidFill>
                  <a:srgbClr val="35377F"/>
                </a:solidFill>
                <a:latin typeface="Times New Roman"/>
                <a:ea typeface="Times New Roman"/>
                <a:cs typeface="Times New Roman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6591" y="187008"/>
            <a:ext cx="2176272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35377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106–120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2916936" y="265176"/>
            <a:ext cx="0" cy="310896"/>
          </a:xfrm>
          <a:prstGeom prst="line">
            <a:avLst/>
          </a:prstGeom>
          <a:noFill/>
          <a:ln w="19050">
            <a:solidFill>
              <a:srgbClr val="35377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136392" y="187008"/>
            <a:ext cx="6982968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35377F"/>
                </a:solidFill>
                <a:latin typeface="標楷體" pitchFamily="34" charset="0"/>
                <a:ea typeface="標楷體" pitchFamily="34" charset="-122"/>
                <a:cs typeface="標楷體" pitchFamily="34" charset="-120"/>
              </a:rPr>
              <a:t>競賽轉移與離場｜讓主張可被推翻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749808" y="969264"/>
            <a:ext cx="969264" cy="301752"/>
          </a:xfrm>
          <a:prstGeom prst="roundRect">
            <a:avLst/>
          </a:prstGeom>
          <a:solidFill>
            <a:srgbClr val="328E98"/>
          </a:solidFill>
          <a:ln w="10160">
            <a:solidFill>
              <a:srgbClr val="328E9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04672" y="987552"/>
            <a:ext cx="85953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20" b="1" dirty="0">
                <a:solidFill>
                  <a:srgbClr val="FFFFFF"/>
                </a:solidFill>
                <a:latin typeface="標楷體" pitchFamily="34" charset="0"/>
                <a:ea typeface="標楷體" pitchFamily="34" charset="-122"/>
                <a:cs typeface="標楷體" pitchFamily="34" charset="-120"/>
              </a:rPr>
              <a:t>核心問題</a:t>
            </a:r>
            <a:endParaRPr lang="en-US" sz="1220" dirty="0"/>
          </a:p>
        </p:txBody>
      </p:sp>
      <p:sp>
        <p:nvSpPr>
          <p:cNvPr id="7" name="Text 5"/>
          <p:cNvSpPr/>
          <p:nvPr/>
        </p:nvSpPr>
        <p:spPr>
          <a:xfrm>
            <a:off x="1883664" y="960120"/>
            <a:ext cx="65653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2430"/>
                </a:solidFill>
                <a:latin typeface="標楷體" pitchFamily="34" charset="0"/>
                <a:ea typeface="標楷體" pitchFamily="34" charset="-122"/>
                <a:cs typeface="標楷體" pitchFamily="34" charset="-120"/>
              </a:rPr>
              <a:t>換到新場景，主張如何被推翻？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8549640" y="964692"/>
            <a:ext cx="317296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80" b="1" dirty="0">
                <a:solidFill>
                  <a:srgbClr val="328E98"/>
                </a:solidFill>
                <a:latin typeface="標楷體" pitchFamily="34" charset="0"/>
                <a:ea typeface="標楷體" pitchFamily="34" charset="-122"/>
                <a:cs typeface="標楷體" pitchFamily="34" charset="-120"/>
              </a:rPr>
              <a:t>決定｜</a:t>
            </a:r>
            <a:pPr algn="r" indent="0" marL="0">
              <a:buNone/>
            </a:pPr>
            <a:r>
              <a:rPr lang="en-US" sz="1380" b="1" dirty="0">
                <a:solidFill>
                  <a:srgbClr val="328E98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new domain → falsifier</a:t>
            </a:r>
            <a:endParaRPr lang="en-US" sz="1380" dirty="0"/>
          </a:p>
        </p:txBody>
      </p:sp>
      <p:sp>
        <p:nvSpPr>
          <p:cNvPr id="9" name="Shape 7"/>
          <p:cNvSpPr/>
          <p:nvPr/>
        </p:nvSpPr>
        <p:spPr>
          <a:xfrm>
            <a:off x="749808" y="1353312"/>
            <a:ext cx="10972800" cy="0"/>
          </a:xfrm>
          <a:prstGeom prst="line">
            <a:avLst/>
          </a:prstGeom>
          <a:noFill/>
          <a:ln w="13335">
            <a:solidFill>
              <a:srgbClr val="328E9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49808" y="1499616"/>
            <a:ext cx="1188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80" b="1" dirty="0">
                <a:solidFill>
                  <a:srgbClr val="647187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TOKEN BANK</a:t>
            </a:r>
            <a:endParaRPr lang="en-US" sz="1180" dirty="0"/>
          </a:p>
        </p:txBody>
      </p:sp>
      <p:sp>
        <p:nvSpPr>
          <p:cNvPr id="11" name="Shape 9"/>
          <p:cNvSpPr/>
          <p:nvPr/>
        </p:nvSpPr>
        <p:spPr>
          <a:xfrm>
            <a:off x="749808" y="1773936"/>
            <a:ext cx="1188720" cy="292608"/>
          </a:xfrm>
          <a:prstGeom prst="roundRect">
            <a:avLst/>
          </a:prstGeom>
          <a:solidFill>
            <a:srgbClr val="8A70BF"/>
          </a:solidFill>
          <a:ln w="10160">
            <a:solidFill>
              <a:srgbClr val="8A70B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04672" y="1792224"/>
            <a:ext cx="10789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3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 pace</a:t>
            </a:r>
            <a:endParaRPr lang="en-US" sz="1130" dirty="0"/>
          </a:p>
        </p:txBody>
      </p:sp>
      <p:sp>
        <p:nvSpPr>
          <p:cNvPr id="13" name="Shape 11"/>
          <p:cNvSpPr/>
          <p:nvPr/>
        </p:nvSpPr>
        <p:spPr>
          <a:xfrm>
            <a:off x="2139696" y="1773936"/>
            <a:ext cx="1188720" cy="292608"/>
          </a:xfrm>
          <a:prstGeom prst="roundRect">
            <a:avLst/>
          </a:prstGeom>
          <a:solidFill>
            <a:srgbClr val="C96F67"/>
          </a:solidFill>
          <a:ln w="10160">
            <a:solidFill>
              <a:srgbClr val="C96F67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194560" y="1792224"/>
            <a:ext cx="10789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3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 policy</a:t>
            </a:r>
            <a:endParaRPr lang="en-US" sz="1130" dirty="0"/>
          </a:p>
        </p:txBody>
      </p:sp>
      <p:sp>
        <p:nvSpPr>
          <p:cNvPr id="15" name="Shape 13"/>
          <p:cNvSpPr/>
          <p:nvPr/>
        </p:nvSpPr>
        <p:spPr>
          <a:xfrm>
            <a:off x="3529584" y="1773936"/>
            <a:ext cx="1188720" cy="292608"/>
          </a:xfrm>
          <a:prstGeom prst="roundRect">
            <a:avLst/>
          </a:prstGeom>
          <a:solidFill>
            <a:srgbClr val="4EA978"/>
          </a:solidFill>
          <a:ln w="10160">
            <a:solidFill>
              <a:srgbClr val="4EA978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584448" y="1792224"/>
            <a:ext cx="10789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3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 schedule</a:t>
            </a:r>
            <a:endParaRPr lang="en-US" sz="1130" dirty="0"/>
          </a:p>
        </p:txBody>
      </p:sp>
      <p:sp>
        <p:nvSpPr>
          <p:cNvPr id="17" name="Shape 15"/>
          <p:cNvSpPr/>
          <p:nvPr/>
        </p:nvSpPr>
        <p:spPr>
          <a:xfrm>
            <a:off x="5065776" y="1773936"/>
            <a:ext cx="1371600" cy="292608"/>
          </a:xfrm>
          <a:prstGeom prst="roundRect">
            <a:avLst/>
          </a:prstGeom>
          <a:solidFill>
            <a:srgbClr val="28AFC0"/>
          </a:solidFill>
          <a:ln w="10160">
            <a:solidFill>
              <a:srgbClr val="28AFC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120640" y="1792224"/>
            <a:ext cx="12618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3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clinic claim</a:t>
            </a:r>
            <a:endParaRPr lang="en-US" sz="1130" dirty="0"/>
          </a:p>
        </p:txBody>
      </p:sp>
      <p:sp>
        <p:nvSpPr>
          <p:cNvPr id="19" name="Shape 17"/>
          <p:cNvSpPr/>
          <p:nvPr/>
        </p:nvSpPr>
        <p:spPr>
          <a:xfrm>
            <a:off x="6620256" y="1920240"/>
            <a:ext cx="530352" cy="0"/>
          </a:xfrm>
          <a:prstGeom prst="line">
            <a:avLst/>
          </a:prstGeom>
          <a:noFill/>
          <a:ln w="22860">
            <a:solidFill>
              <a:srgbClr val="28AFC0"/>
            </a:solidFill>
            <a:prstDash val="solid"/>
            <a:headEnd type="none"/>
            <a:tailEnd type="triangle"/>
          </a:ln>
        </p:spPr>
      </p:sp>
      <p:sp>
        <p:nvSpPr>
          <p:cNvPr id="20" name="Shape 18"/>
          <p:cNvSpPr/>
          <p:nvPr/>
        </p:nvSpPr>
        <p:spPr>
          <a:xfrm>
            <a:off x="7187184" y="1773936"/>
            <a:ext cx="1143000" cy="292608"/>
          </a:xfrm>
          <a:prstGeom prst="roundRect">
            <a:avLst/>
          </a:prstGeom>
          <a:solidFill>
            <a:srgbClr val="14213D"/>
          </a:solidFill>
          <a:ln w="10160">
            <a:solidFill>
              <a:srgbClr val="14213D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242048" y="1792224"/>
            <a:ext cx="10332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2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TRANSFER</a:t>
            </a:r>
            <a:endParaRPr lang="en-US" sz="1120" dirty="0"/>
          </a:p>
        </p:txBody>
      </p:sp>
      <p:sp>
        <p:nvSpPr>
          <p:cNvPr id="22" name="Text 20"/>
          <p:cNvSpPr/>
          <p:nvPr/>
        </p:nvSpPr>
        <p:spPr>
          <a:xfrm>
            <a:off x="8540496" y="1737360"/>
            <a:ext cx="31821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20" b="1" dirty="0">
                <a:solidFill>
                  <a:srgbClr val="1E2430"/>
                </a:solidFill>
                <a:latin typeface="標楷體" pitchFamily="34" charset="0"/>
                <a:ea typeface="標楷體" pitchFamily="34" charset="-122"/>
                <a:cs typeface="標楷體" pitchFamily="34" charset="-120"/>
              </a:rPr>
              <a:t>把機制與取捨帶走，不搬衛星數值</a:t>
            </a:r>
            <a:endParaRPr lang="en-US" sz="1320" dirty="0"/>
          </a:p>
        </p:txBody>
      </p:sp>
      <p:sp>
        <p:nvSpPr>
          <p:cNvPr id="23" name="Shape 21"/>
          <p:cNvSpPr/>
          <p:nvPr/>
        </p:nvSpPr>
        <p:spPr>
          <a:xfrm>
            <a:off x="749808" y="2267712"/>
            <a:ext cx="2395728" cy="1965960"/>
          </a:xfrm>
          <a:prstGeom prst="roundRect">
            <a:avLst/>
          </a:prstGeom>
          <a:solidFill>
            <a:srgbClr val="EAF7F8"/>
          </a:solidFill>
          <a:ln w="13970">
            <a:solidFill>
              <a:srgbClr val="328E98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097280" y="2487168"/>
            <a:ext cx="1700784" cy="292608"/>
          </a:xfrm>
          <a:prstGeom prst="roundRect">
            <a:avLst/>
          </a:prstGeom>
          <a:solidFill>
            <a:srgbClr val="328E98"/>
          </a:solidFill>
          <a:ln w="10160">
            <a:solidFill>
              <a:srgbClr val="328E98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1152144" y="2505456"/>
            <a:ext cx="15910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3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UNSEEN DOMAIN</a:t>
            </a:r>
            <a:endParaRPr lang="en-US" sz="1130" dirty="0"/>
          </a:p>
        </p:txBody>
      </p:sp>
      <p:sp>
        <p:nvSpPr>
          <p:cNvPr id="26" name="Text 24"/>
          <p:cNvSpPr/>
          <p:nvPr/>
        </p:nvSpPr>
        <p:spPr>
          <a:xfrm>
            <a:off x="950976" y="2944368"/>
            <a:ext cx="1993392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E243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SMART FARM</a:t>
            </a:r>
            <a:endParaRPr lang="en-US" sz="1800" dirty="0"/>
          </a:p>
        </p:txBody>
      </p:sp>
      <p:sp>
        <p:nvSpPr>
          <p:cNvPr id="27" name="Shape 25"/>
          <p:cNvSpPr/>
          <p:nvPr/>
        </p:nvSpPr>
        <p:spPr>
          <a:xfrm>
            <a:off x="1225296" y="3447288"/>
            <a:ext cx="329184" cy="329184"/>
          </a:xfrm>
          <a:prstGeom prst="ellipse">
            <a:avLst/>
          </a:prstGeom>
          <a:solidFill>
            <a:srgbClr val="28AFC0"/>
          </a:solidFill>
          <a:ln w="6350">
            <a:solidFill>
              <a:srgbClr val="28AFC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075688" y="3364992"/>
            <a:ext cx="0" cy="457200"/>
          </a:xfrm>
          <a:prstGeom prst="line">
            <a:avLst/>
          </a:prstGeom>
          <a:noFill/>
          <a:ln w="20320">
            <a:solidFill>
              <a:srgbClr val="4EA97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847088" y="3310128"/>
            <a:ext cx="310896" cy="256032"/>
          </a:xfrm>
          <a:prstGeom prst="arc">
            <a:avLst/>
          </a:prstGeom>
          <a:solidFill>
            <a:srgbClr val="FFFFFF">
              <a:alpha val="0"/>
            </a:srgbClr>
          </a:solidFill>
          <a:ln w="17780">
            <a:solidFill>
              <a:srgbClr val="4EA97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914400" y="3913632"/>
            <a:ext cx="206654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40" b="1" dirty="0">
                <a:solidFill>
                  <a:srgbClr val="328E98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moisture → irrigation</a:t>
            </a:r>
            <a:endParaRPr lang="en-US" sz="1240" dirty="0"/>
          </a:p>
        </p:txBody>
      </p:sp>
      <p:sp>
        <p:nvSpPr>
          <p:cNvPr id="31" name="Shape 29"/>
          <p:cNvSpPr/>
          <p:nvPr/>
        </p:nvSpPr>
        <p:spPr>
          <a:xfrm>
            <a:off x="3493008" y="2304288"/>
            <a:ext cx="2103120" cy="658368"/>
          </a:xfrm>
          <a:prstGeom prst="roundRect">
            <a:avLst/>
          </a:prstGeom>
          <a:solidFill>
            <a:srgbClr val="EAF7F8"/>
          </a:solidFill>
          <a:ln w="12700">
            <a:solidFill>
              <a:srgbClr val="28AFC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21024" y="2487168"/>
            <a:ext cx="18470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28AFC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  data</a:t>
            </a:r>
            <a:pPr algn="ctr" indent="0" marL="0">
              <a:buNone/>
            </a:pPr>
            <a:r>
              <a:rPr lang="en-US" sz="1450" b="1" dirty="0">
                <a:solidFill>
                  <a:srgbClr val="28AFC0"/>
                </a:solidFill>
                <a:latin typeface="標楷體" pitchFamily="34" charset="0"/>
                <a:ea typeface="標楷體" pitchFamily="34" charset="-122"/>
                <a:cs typeface="標楷體" pitchFamily="34" charset="-120"/>
              </a:rPr>
              <a:t>／</a:t>
            </a:r>
            <a:pPr algn="ctr" indent="0" marL="0">
              <a:buNone/>
            </a:pPr>
            <a:r>
              <a:rPr lang="en-US" sz="1450" b="1" dirty="0">
                <a:solidFill>
                  <a:srgbClr val="28AFC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time</a:t>
            </a:r>
            <a:endParaRPr lang="en-US" sz="1450" dirty="0"/>
          </a:p>
        </p:txBody>
      </p:sp>
      <p:sp>
        <p:nvSpPr>
          <p:cNvPr id="33" name="Shape 31"/>
          <p:cNvSpPr/>
          <p:nvPr/>
        </p:nvSpPr>
        <p:spPr>
          <a:xfrm>
            <a:off x="5989320" y="2304288"/>
            <a:ext cx="2103120" cy="658368"/>
          </a:xfrm>
          <a:prstGeom prst="roundRect">
            <a:avLst/>
          </a:prstGeom>
          <a:solidFill>
            <a:srgbClr val="14213D"/>
          </a:solidFill>
          <a:ln w="12700">
            <a:solidFill>
              <a:srgbClr val="14213D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117336" y="2487168"/>
            <a:ext cx="18470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2  control</a:t>
            </a:r>
            <a:endParaRPr lang="en-US" sz="1450" dirty="0"/>
          </a:p>
        </p:txBody>
      </p:sp>
      <p:sp>
        <p:nvSpPr>
          <p:cNvPr id="35" name="Shape 33"/>
          <p:cNvSpPr/>
          <p:nvPr/>
        </p:nvSpPr>
        <p:spPr>
          <a:xfrm>
            <a:off x="8485632" y="2304288"/>
            <a:ext cx="2103120" cy="658368"/>
          </a:xfrm>
          <a:prstGeom prst="roundRect">
            <a:avLst/>
          </a:prstGeom>
          <a:solidFill>
            <a:srgbClr val="ECF7F1"/>
          </a:solidFill>
          <a:ln w="12700">
            <a:solidFill>
              <a:srgbClr val="4EA97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8613648" y="2487168"/>
            <a:ext cx="18470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4EA978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3  service</a:t>
            </a:r>
            <a:endParaRPr lang="en-US" sz="1450" dirty="0"/>
          </a:p>
        </p:txBody>
      </p:sp>
      <p:sp>
        <p:nvSpPr>
          <p:cNvPr id="37" name="Shape 35"/>
          <p:cNvSpPr/>
          <p:nvPr/>
        </p:nvSpPr>
        <p:spPr>
          <a:xfrm>
            <a:off x="8485632" y="3355848"/>
            <a:ext cx="2103120" cy="658368"/>
          </a:xfrm>
          <a:prstGeom prst="roundRect">
            <a:avLst/>
          </a:prstGeom>
          <a:solidFill>
            <a:srgbClr val="F2EEFA"/>
          </a:solidFill>
          <a:ln w="12700">
            <a:solidFill>
              <a:srgbClr val="8A70BF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8613648" y="3538728"/>
            <a:ext cx="18470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8A70B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4  P×time</a:t>
            </a:r>
            <a:endParaRPr lang="en-US" sz="1450" dirty="0"/>
          </a:p>
        </p:txBody>
      </p:sp>
      <p:sp>
        <p:nvSpPr>
          <p:cNvPr id="39" name="Shape 37"/>
          <p:cNvSpPr/>
          <p:nvPr/>
        </p:nvSpPr>
        <p:spPr>
          <a:xfrm>
            <a:off x="5989320" y="3355848"/>
            <a:ext cx="2103120" cy="658368"/>
          </a:xfrm>
          <a:prstGeom prst="roundRect">
            <a:avLst/>
          </a:prstGeom>
          <a:solidFill>
            <a:srgbClr val="ECF7F1"/>
          </a:solidFill>
          <a:ln w="12700">
            <a:solidFill>
              <a:srgbClr val="2D7A7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117336" y="3538728"/>
            <a:ext cx="18470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2D7A7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5  J</a:t>
            </a:r>
            <a:endParaRPr lang="en-US" sz="1450" dirty="0"/>
          </a:p>
        </p:txBody>
      </p:sp>
      <p:sp>
        <p:nvSpPr>
          <p:cNvPr id="41" name="Shape 39"/>
          <p:cNvSpPr/>
          <p:nvPr/>
        </p:nvSpPr>
        <p:spPr>
          <a:xfrm>
            <a:off x="3493008" y="3355848"/>
            <a:ext cx="2103120" cy="658368"/>
          </a:xfrm>
          <a:prstGeom prst="roundRect">
            <a:avLst/>
          </a:prstGeom>
          <a:solidFill>
            <a:srgbClr val="FAEFED"/>
          </a:solidFill>
          <a:ln w="12700">
            <a:solidFill>
              <a:srgbClr val="C96F6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621024" y="3538728"/>
            <a:ext cx="18470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C96F67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6  </a:t>
            </a:r>
            <a:pPr algn="ctr" indent="0" marL="0">
              <a:buNone/>
            </a:pPr>
            <a:r>
              <a:rPr lang="en-US" sz="1450" b="1" dirty="0">
                <a:solidFill>
                  <a:srgbClr val="C96F67"/>
                </a:solidFill>
                <a:latin typeface="標楷體" pitchFamily="34" charset="0"/>
                <a:ea typeface="標楷體" pitchFamily="34" charset="-122"/>
                <a:cs typeface="標楷體" pitchFamily="34" charset="-120"/>
              </a:rPr>
              <a:t>量測／反證</a:t>
            </a:r>
            <a:endParaRPr lang="en-US" sz="1450" dirty="0"/>
          </a:p>
        </p:txBody>
      </p:sp>
      <p:sp>
        <p:nvSpPr>
          <p:cNvPr id="43" name="Shape 41"/>
          <p:cNvSpPr/>
          <p:nvPr/>
        </p:nvSpPr>
        <p:spPr>
          <a:xfrm>
            <a:off x="5632704" y="2633472"/>
            <a:ext cx="292608" cy="0"/>
          </a:xfrm>
          <a:prstGeom prst="line">
            <a:avLst/>
          </a:prstGeom>
          <a:noFill/>
          <a:ln w="18415">
            <a:solidFill>
              <a:srgbClr val="28AFC0"/>
            </a:solidFill>
            <a:prstDash val="solid"/>
            <a:headEnd type="none"/>
            <a:tailEnd type="triangle"/>
          </a:ln>
        </p:spPr>
      </p:sp>
      <p:sp>
        <p:nvSpPr>
          <p:cNvPr id="44" name="Shape 42"/>
          <p:cNvSpPr/>
          <p:nvPr/>
        </p:nvSpPr>
        <p:spPr>
          <a:xfrm>
            <a:off x="8129016" y="2633472"/>
            <a:ext cx="292608" cy="0"/>
          </a:xfrm>
          <a:prstGeom prst="line">
            <a:avLst/>
          </a:prstGeom>
          <a:noFill/>
          <a:ln w="18415">
            <a:solidFill>
              <a:srgbClr val="28AFC0"/>
            </a:solidFill>
            <a:prstDash val="solid"/>
            <a:headEnd type="none"/>
            <a:tailEnd type="triangle"/>
          </a:ln>
        </p:spPr>
      </p:sp>
      <p:sp>
        <p:nvSpPr>
          <p:cNvPr id="45" name="Shape 43"/>
          <p:cNvSpPr/>
          <p:nvPr/>
        </p:nvSpPr>
        <p:spPr>
          <a:xfrm>
            <a:off x="9537192" y="2980944"/>
            <a:ext cx="0" cy="310896"/>
          </a:xfrm>
          <a:prstGeom prst="line">
            <a:avLst/>
          </a:prstGeom>
          <a:noFill/>
          <a:ln w="18415">
            <a:solidFill>
              <a:srgbClr val="8A70BF"/>
            </a:solidFill>
            <a:prstDash val="solid"/>
            <a:headEnd type="none"/>
            <a:tailEnd type="triangle"/>
          </a:ln>
        </p:spPr>
      </p:sp>
      <p:sp>
        <p:nvSpPr>
          <p:cNvPr id="46" name="Shape 44"/>
          <p:cNvSpPr/>
          <p:nvPr/>
        </p:nvSpPr>
        <p:spPr>
          <a:xfrm>
            <a:off x="8439912" y="3685032"/>
            <a:ext cx="-292608" cy="0"/>
          </a:xfrm>
          <a:prstGeom prst="line">
            <a:avLst/>
          </a:prstGeom>
          <a:noFill/>
          <a:ln w="18415">
            <a:solidFill>
              <a:srgbClr val="8A70BF"/>
            </a:solidFill>
            <a:prstDash val="solid"/>
            <a:headEnd type="none"/>
            <a:tailEnd type="triangle"/>
          </a:ln>
        </p:spPr>
      </p:sp>
      <p:sp>
        <p:nvSpPr>
          <p:cNvPr id="47" name="Shape 45"/>
          <p:cNvSpPr/>
          <p:nvPr/>
        </p:nvSpPr>
        <p:spPr>
          <a:xfrm>
            <a:off x="5943600" y="3685032"/>
            <a:ext cx="-292608" cy="0"/>
          </a:xfrm>
          <a:prstGeom prst="line">
            <a:avLst/>
          </a:prstGeom>
          <a:noFill/>
          <a:ln w="18415">
            <a:solidFill>
              <a:srgbClr val="8A70BF"/>
            </a:solidFill>
            <a:prstDash val="solid"/>
            <a:headEnd type="none"/>
            <a:tailEnd type="triangle"/>
          </a:ln>
        </p:spPr>
      </p:sp>
      <p:sp>
        <p:nvSpPr>
          <p:cNvPr id="48" name="Shape 46"/>
          <p:cNvSpPr/>
          <p:nvPr/>
        </p:nvSpPr>
        <p:spPr>
          <a:xfrm>
            <a:off x="3493008" y="4206240"/>
            <a:ext cx="8101584" cy="713232"/>
          </a:xfrm>
          <a:prstGeom prst="roundRect">
            <a:avLst/>
          </a:prstGeom>
          <a:solidFill>
            <a:srgbClr val="FAF7F0"/>
          </a:solidFill>
          <a:ln w="12065">
            <a:solidFill>
              <a:srgbClr val="328E98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3703320" y="4407408"/>
            <a:ext cx="841248" cy="274320"/>
          </a:xfrm>
          <a:prstGeom prst="roundRect">
            <a:avLst/>
          </a:prstGeom>
          <a:solidFill>
            <a:srgbClr val="328E98"/>
          </a:solidFill>
          <a:ln w="10160">
            <a:solidFill>
              <a:srgbClr val="328E98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3758184" y="4425696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9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OUTPUT</a:t>
            </a:r>
            <a:endParaRPr lang="en-US" sz="1090" dirty="0"/>
          </a:p>
        </p:txBody>
      </p:sp>
      <p:sp>
        <p:nvSpPr>
          <p:cNvPr id="51" name="Text 49"/>
          <p:cNvSpPr/>
          <p:nvPr/>
        </p:nvSpPr>
        <p:spPr>
          <a:xfrm>
            <a:off x="4718304" y="4334256"/>
            <a:ext cx="49560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28E98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hypothesis</a:t>
            </a:r>
            <a:pPr algn="ctr" indent="0" marL="0">
              <a:buNone/>
            </a:pPr>
            <a:r>
              <a:rPr lang="en-US" sz="1500" b="1" dirty="0">
                <a:solidFill>
                  <a:srgbClr val="328E98"/>
                </a:solidFill>
                <a:latin typeface="標楷體" pitchFamily="34" charset="0"/>
                <a:ea typeface="標楷體" pitchFamily="34" charset="-122"/>
                <a:cs typeface="標楷體" pitchFamily="34" charset="-120"/>
              </a:rPr>
              <a:t>＋</a:t>
            </a:r>
            <a:pPr algn="ctr" indent="0" marL="0">
              <a:buNone/>
            </a:pPr>
            <a:r>
              <a:rPr lang="en-US" sz="1500" b="1" dirty="0">
                <a:solidFill>
                  <a:srgbClr val="328E98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falsifier → what-if → revise → export</a:t>
            </a:r>
            <a:endParaRPr lang="en-US" sz="1500" dirty="0"/>
          </a:p>
        </p:txBody>
      </p:sp>
      <p:sp>
        <p:nvSpPr>
          <p:cNvPr id="52" name="Text 50"/>
          <p:cNvSpPr/>
          <p:nvPr/>
        </p:nvSpPr>
        <p:spPr>
          <a:xfrm>
            <a:off x="3749040" y="4645152"/>
            <a:ext cx="760780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60" b="1" dirty="0">
                <a:solidFill>
                  <a:srgbClr val="647187"/>
                </a:solidFill>
                <a:latin typeface="標楷體" pitchFamily="34" charset="0"/>
                <a:ea typeface="標楷體" pitchFamily="34" charset="-122"/>
                <a:cs typeface="標楷體" pitchFamily="34" charset="-120"/>
              </a:rPr>
              <a:t>操作／證據｜映射後提出可被量測推翻的主張　　回復｜</a:t>
            </a:r>
            <a:pPr algn="ctr" indent="0" marL="0">
              <a:buNone/>
            </a:pPr>
            <a:r>
              <a:rPr lang="en-US" sz="1160" b="1" dirty="0">
                <a:solidFill>
                  <a:srgbClr val="647187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hint</a:t>
            </a:r>
            <a:pPr algn="ctr" indent="0" marL="0">
              <a:buNone/>
            </a:pPr>
            <a:r>
              <a:rPr lang="en-US" sz="1160" b="1" dirty="0">
                <a:solidFill>
                  <a:srgbClr val="647187"/>
                </a:solidFill>
                <a:latin typeface="標楷體" pitchFamily="34" charset="0"/>
                <a:ea typeface="標楷體" pitchFamily="34" charset="-122"/>
                <a:cs typeface="標楷體" pitchFamily="34" charset="-120"/>
              </a:rPr>
              <a:t>／</a:t>
            </a:r>
            <a:pPr algn="ctr" indent="0" marL="0">
              <a:buNone/>
            </a:pPr>
            <a:r>
              <a:rPr lang="en-US" sz="1160" b="1" dirty="0">
                <a:solidFill>
                  <a:srgbClr val="647187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system what-if</a:t>
            </a:r>
            <a:endParaRPr lang="en-US" sz="1160" dirty="0"/>
          </a:p>
        </p:txBody>
      </p:sp>
      <p:sp>
        <p:nvSpPr>
          <p:cNvPr id="53" name="Shape 51"/>
          <p:cNvSpPr/>
          <p:nvPr/>
        </p:nvSpPr>
        <p:spPr>
          <a:xfrm>
            <a:off x="749808" y="5349240"/>
            <a:ext cx="10972800" cy="0"/>
          </a:xfrm>
          <a:prstGeom prst="line">
            <a:avLst/>
          </a:prstGeom>
          <a:noFill/>
          <a:ln w="12700">
            <a:solidFill>
              <a:srgbClr val="D5DDE4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3749040" y="5440680"/>
            <a:ext cx="0" cy="457200"/>
          </a:xfrm>
          <a:prstGeom prst="line">
            <a:avLst/>
          </a:prstGeom>
          <a:noFill/>
          <a:ln w="10160">
            <a:solidFill>
              <a:srgbClr val="D5DDE4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7909560" y="5440680"/>
            <a:ext cx="0" cy="457200"/>
          </a:xfrm>
          <a:prstGeom prst="line">
            <a:avLst/>
          </a:prstGeom>
          <a:noFill/>
          <a:ln w="10160">
            <a:solidFill>
              <a:srgbClr val="D5DDE4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749808" y="5458968"/>
            <a:ext cx="100584" cy="100584"/>
          </a:xfrm>
          <a:prstGeom prst="ellipse">
            <a:avLst/>
          </a:prstGeom>
          <a:solidFill>
            <a:srgbClr val="2D7A70"/>
          </a:solidFill>
          <a:ln w="5080">
            <a:solidFill>
              <a:srgbClr val="2D7A70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905256" y="5468112"/>
            <a:ext cx="2770632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60" b="1" dirty="0">
                <a:solidFill>
                  <a:srgbClr val="2D7A7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FACT</a:t>
            </a:r>
            <a:pPr algn="l" indent="0" marL="0">
              <a:buNone/>
            </a:pPr>
            <a:r>
              <a:rPr lang="en-US" sz="1060" b="1" dirty="0">
                <a:solidFill>
                  <a:srgbClr val="2D7A70"/>
                </a:solidFill>
                <a:latin typeface="標楷體" pitchFamily="34" charset="0"/>
                <a:ea typeface="標楷體" pitchFamily="34" charset="-122"/>
                <a:cs typeface="標楷體" pitchFamily="34" charset="-120"/>
              </a:rPr>
              <a:t>｜分析／預測後形成節能控制</a:t>
            </a:r>
            <a:endParaRPr lang="en-US" sz="1060" dirty="0"/>
          </a:p>
        </p:txBody>
      </p:sp>
      <p:sp>
        <p:nvSpPr>
          <p:cNvPr id="58" name="Shape 56"/>
          <p:cNvSpPr/>
          <p:nvPr/>
        </p:nvSpPr>
        <p:spPr>
          <a:xfrm>
            <a:off x="3840480" y="5458968"/>
            <a:ext cx="100584" cy="100584"/>
          </a:xfrm>
          <a:prstGeom prst="ellipse">
            <a:avLst/>
          </a:prstGeom>
          <a:solidFill>
            <a:srgbClr val="7257A1"/>
          </a:solidFill>
          <a:ln w="5080">
            <a:solidFill>
              <a:srgbClr val="7257A1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3995928" y="5468112"/>
            <a:ext cx="3822192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60" b="1" dirty="0">
                <a:solidFill>
                  <a:srgbClr val="7257A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DESIGN INFERENCE</a:t>
            </a:r>
            <a:pPr algn="l" indent="0" marL="0">
              <a:buNone/>
            </a:pPr>
            <a:r>
              <a:rPr lang="en-US" sz="1060" b="1" dirty="0">
                <a:solidFill>
                  <a:srgbClr val="7257A1"/>
                </a:solidFill>
                <a:latin typeface="標楷體" pitchFamily="34" charset="0"/>
                <a:ea typeface="標楷體" pitchFamily="34" charset="-122"/>
                <a:cs typeface="標楷體" pitchFamily="34" charset="-120"/>
              </a:rPr>
              <a:t>｜設計估計：</a:t>
            </a:r>
            <a:pPr algn="l" indent="0" marL="0">
              <a:buNone/>
            </a:pPr>
            <a:r>
              <a:rPr lang="en-US" sz="1060" b="1" dirty="0">
                <a:solidFill>
                  <a:srgbClr val="7257A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4–5 </a:t>
            </a:r>
            <a:pPr algn="l" indent="0" marL="0">
              <a:buNone/>
            </a:pPr>
            <a:r>
              <a:rPr lang="en-US" sz="1060" b="1" dirty="0">
                <a:solidFill>
                  <a:srgbClr val="7257A1"/>
                </a:solidFill>
                <a:latin typeface="標楷體" pitchFamily="34" charset="0"/>
                <a:ea typeface="標楷體" pitchFamily="34" charset="-122"/>
                <a:cs typeface="標楷體" pitchFamily="34" charset="-120"/>
              </a:rPr>
              <a:t>頁＋</a:t>
            </a:r>
            <a:pPr algn="l" indent="0" marL="0">
              <a:buNone/>
            </a:pPr>
            <a:r>
              <a:rPr lang="en-US" sz="1060" b="1" dirty="0">
                <a:solidFill>
                  <a:srgbClr val="7257A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 transfer</a:t>
            </a:r>
            <a:endParaRPr lang="en-US" sz="1060" dirty="0"/>
          </a:p>
        </p:txBody>
      </p:sp>
      <p:sp>
        <p:nvSpPr>
          <p:cNvPr id="60" name="Shape 58"/>
          <p:cNvSpPr/>
          <p:nvPr/>
        </p:nvSpPr>
        <p:spPr>
          <a:xfrm>
            <a:off x="8001000" y="5458968"/>
            <a:ext cx="100584" cy="100584"/>
          </a:xfrm>
          <a:prstGeom prst="ellipse">
            <a:avLst/>
          </a:prstGeom>
          <a:solidFill>
            <a:srgbClr val="98514F"/>
          </a:solidFill>
          <a:ln w="5080">
            <a:solidFill>
              <a:srgbClr val="98514F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8156448" y="5468112"/>
            <a:ext cx="356616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60" b="1" dirty="0">
                <a:solidFill>
                  <a:srgbClr val="98514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UNKNOWN</a:t>
            </a:r>
            <a:pPr algn="l" indent="0" marL="0">
              <a:buNone/>
            </a:pPr>
            <a:r>
              <a:rPr lang="en-US" sz="1060" b="1" dirty="0">
                <a:solidFill>
                  <a:srgbClr val="98514F"/>
                </a:solidFill>
                <a:latin typeface="標楷體" pitchFamily="34" charset="0"/>
                <a:ea typeface="標楷體" pitchFamily="34" charset="-122"/>
                <a:cs typeface="標楷體" pitchFamily="34" charset="-120"/>
              </a:rPr>
              <a:t>｜</a:t>
            </a:r>
            <a:pPr algn="l" indent="0" marL="0">
              <a:buNone/>
            </a:pPr>
            <a:r>
              <a:rPr lang="en-US" sz="1060" b="1" dirty="0">
                <a:solidFill>
                  <a:srgbClr val="98514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causal transfer</a:t>
            </a:r>
            <a:pPr algn="l" indent="0" marL="0">
              <a:buNone/>
            </a:pPr>
            <a:r>
              <a:rPr lang="en-US" sz="1060" b="1" dirty="0">
                <a:solidFill>
                  <a:srgbClr val="98514F"/>
                </a:solidFill>
                <a:latin typeface="標楷體" pitchFamily="34" charset="0"/>
                <a:ea typeface="標楷體" pitchFamily="34" charset="-122"/>
                <a:cs typeface="標楷體" pitchFamily="34" charset="-120"/>
              </a:rPr>
              <a:t>／</a:t>
            </a:r>
            <a:pPr algn="l" indent="0" marL="0">
              <a:buNone/>
            </a:pPr>
            <a:r>
              <a:rPr lang="en-US" sz="1060" b="1" dirty="0">
                <a:solidFill>
                  <a:srgbClr val="98514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novice timing </a:t>
            </a:r>
            <a:pPr algn="l" indent="0" marL="0">
              <a:buNone/>
            </a:pPr>
            <a:r>
              <a:rPr lang="en-US" sz="1060" b="1" dirty="0">
                <a:solidFill>
                  <a:srgbClr val="98514F"/>
                </a:solidFill>
                <a:latin typeface="標楷體" pitchFamily="34" charset="0"/>
                <a:ea typeface="標楷體" pitchFamily="34" charset="-122"/>
                <a:cs typeface="標楷體" pitchFamily="34" charset="-120"/>
              </a:rPr>
              <a:t>未驗證</a:t>
            </a:r>
            <a:endParaRPr lang="en-US" sz="106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34700" y="6340475"/>
            <a:ext cx="889000" cy="47625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400">
                <a:solidFill>
                  <a:srgbClr val="35377F"/>
                </a:solidFill>
                <a:latin typeface="Times New Roman"/>
                <a:ea typeface="Times New Roman"/>
                <a:cs typeface="Times New Roman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標楷體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標楷體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C-120 course planning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C-120 LEO 能源決策課程 Phase 0 outline</dc:title>
  <dc:subject>Exact-120 energy-first LEO-as-index course outline</dc:subject>
  <dc:creator>C-120 Phase 0 owner-review checkpoint</dc:creator>
  <cp:lastModifiedBy>C-120 Phase 0 owner-review checkpoint</cp:lastModifiedBy>
  <cp:revision>1</cp:revision>
  <dcterms:created xsi:type="dcterms:W3CDTF">2026-08-10T04:08:23Z</dcterms:created>
  <dcterms:modified xsi:type="dcterms:W3CDTF">2026-08-10T04:08:23Z</dcterms:modified>
</cp:coreProperties>
</file>