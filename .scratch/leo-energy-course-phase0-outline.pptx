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32004" cy="32004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560320" y="219456"/>
            <a:ext cx="25603" cy="25603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297680" y="566928"/>
            <a:ext cx="20117" cy="20117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223760" y="274320"/>
            <a:ext cx="25603" cy="25603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321040" y="694944"/>
            <a:ext cx="20117" cy="20117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561320" y="182880"/>
            <a:ext cx="27432" cy="27432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475720" y="822960"/>
            <a:ext cx="22860" cy="22860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9418320" y="1051560"/>
            <a:ext cx="18288" cy="18288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760720" y="146304"/>
            <a:ext cx="16459" cy="16459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887761" y="637337"/>
            <a:ext cx="326441" cy="230429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0561320" y="618134"/>
            <a:ext cx="288036" cy="268834"/>
          </a:xfrm>
          <a:prstGeom prst="rect">
            <a:avLst/>
          </a:prstGeom>
          <a:solidFill>
            <a:srgbClr val="F4B942"/>
          </a:solidFill>
          <a:ln w="1270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1252606" y="618134"/>
            <a:ext cx="288036" cy="268834"/>
          </a:xfrm>
          <a:prstGeom prst="rect">
            <a:avLst/>
          </a:prstGeom>
          <a:solidFill>
            <a:srgbClr val="F4B942"/>
          </a:solidFill>
          <a:ln w="1270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849356" y="752551"/>
            <a:ext cx="403250" cy="0"/>
          </a:xfrm>
          <a:prstGeom prst="line">
            <a:avLst/>
          </a:prstGeom>
          <a:noFill/>
          <a:ln w="1778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 rot="10800000">
            <a:off x="10964570" y="906170"/>
            <a:ext cx="172822" cy="172822"/>
          </a:xfrm>
          <a:prstGeom prst="triangle">
            <a:avLst/>
          </a:prstGeom>
          <a:solidFill>
            <a:srgbClr val="F4B942">
              <a:alpha val="70000"/>
            </a:srgbClr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 rot="540000">
            <a:off x="8458200" y="292608"/>
            <a:ext cx="3063240" cy="1965960"/>
          </a:xfrm>
          <a:prstGeom prst="arc">
            <a:avLst/>
          </a:prstGeom>
          <a:solidFill>
            <a:srgbClr val="0B132B">
              <a:alpha val="0"/>
            </a:srgbClr>
          </a:solidFill>
          <a:ln w="20320">
            <a:solidFill>
              <a:srgbClr val="28B8C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006840" y="1975104"/>
            <a:ext cx="2194560" cy="0"/>
          </a:xfrm>
          <a:prstGeom prst="line">
            <a:avLst/>
          </a:prstGeom>
          <a:noFill/>
          <a:ln w="3048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9138514" y="1810512"/>
            <a:ext cx="285293" cy="164592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533534" y="1700784"/>
            <a:ext cx="351130" cy="27432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016338" y="1773936"/>
            <a:ext cx="395021" cy="201168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10543032" y="1645920"/>
            <a:ext cx="219456" cy="329184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10828325" y="1737360"/>
            <a:ext cx="241402" cy="237744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0389413" y="1517904"/>
            <a:ext cx="146304" cy="14630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0564978" y="1591056"/>
            <a:ext cx="0" cy="384048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9025128" y="20299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DF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NTPU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" y="493776"/>
            <a:ext cx="2907792" cy="310896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676656" y="512064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WORKING TITLE · OWNER REVIEW</a:t>
            </a:r>
            <a:endParaRPr lang="en-US" sz="1130" dirty="0"/>
          </a:p>
        </p:txBody>
      </p:sp>
      <p:sp>
        <p:nvSpPr>
          <p:cNvPr id="28" name="Text 26"/>
          <p:cNvSpPr txBox="1"/>
          <p:nvPr/>
        </p:nvSpPr>
        <p:spPr>
          <a:xfrm>
            <a:off x="603504" y="941832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軌跡會變，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節能判斷也要會變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" y="2093976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NTPU 低軌衛星情境 × 功率與時間 × 換手 × IoT × 競賽轉移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8613648" y="2267712"/>
            <a:ext cx="2971800" cy="384048"/>
          </a:xfrm>
          <a:prstGeom prst="roundRect">
            <a:avLst/>
          </a:prstGeom>
          <a:solidFill>
            <a:srgbClr val="172442"/>
          </a:solidFill>
          <a:ln w="12700">
            <a:solidFill>
              <a:srgbClr val="31526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8759952" y="2340864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不是衛星專家課｜是能源決策實驗室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2852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90 分鐘核心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" y="31821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CE9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E3 整段移除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874520" y="2779776"/>
            <a:ext cx="1353312" cy="640080"/>
          </a:xfrm>
          <a:prstGeom prst="roundRect">
            <a:avLst/>
          </a:prstGeom>
          <a:solidFill>
            <a:srgbClr val="163A4D"/>
          </a:solidFill>
          <a:ln w="12700">
            <a:solidFill>
              <a:srgbClr val="2E87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1984248" y="28620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350008" y="28529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TLE→NTPU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3273552" y="3099816"/>
            <a:ext cx="201168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3538728" y="2779776"/>
            <a:ext cx="1207008" cy="640080"/>
          </a:xfrm>
          <a:prstGeom prst="roundRect">
            <a:avLst/>
          </a:prstGeom>
          <a:solidFill>
            <a:srgbClr val="163A4D"/>
          </a:solidFill>
          <a:ln w="12700">
            <a:solidFill>
              <a:srgbClr val="2E87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 txBox="1"/>
          <p:nvPr/>
        </p:nvSpPr>
        <p:spPr>
          <a:xfrm>
            <a:off x="3648456" y="28620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014216" y="2852928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E1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791456" y="3099816"/>
            <a:ext cx="201168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5056632" y="2779776"/>
            <a:ext cx="1207008" cy="640080"/>
          </a:xfrm>
          <a:prstGeom prst="roundRect">
            <a:avLst/>
          </a:prstGeom>
          <a:solidFill>
            <a:srgbClr val="163A4D"/>
          </a:solidFill>
          <a:ln w="12700">
            <a:solidFill>
              <a:srgbClr val="2E87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 txBox="1"/>
          <p:nvPr/>
        </p:nvSpPr>
        <p:spPr>
          <a:xfrm>
            <a:off x="5166360" y="28620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532120" y="2852928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E2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309360" y="3099816"/>
            <a:ext cx="201168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574536" y="2779776"/>
            <a:ext cx="1417320" cy="640080"/>
          </a:xfrm>
          <a:prstGeom prst="roundRect">
            <a:avLst/>
          </a:prstGeom>
          <a:solidFill>
            <a:srgbClr val="253754"/>
          </a:solidFill>
          <a:ln w="12700">
            <a:solidFill>
              <a:srgbClr val="4551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 txBox="1"/>
          <p:nvPr/>
        </p:nvSpPr>
        <p:spPr>
          <a:xfrm>
            <a:off x="6684264" y="28620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050024" y="28529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IoT 挑戰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037576" y="3099816"/>
            <a:ext cx="201168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302752" y="2779776"/>
            <a:ext cx="1417320" cy="640080"/>
          </a:xfrm>
          <a:prstGeom prst="roundRect">
            <a:avLst/>
          </a:prstGeom>
          <a:solidFill>
            <a:srgbClr val="253754"/>
          </a:solidFill>
          <a:ln w="12700">
            <a:solidFill>
              <a:srgbClr val="4551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 txBox="1"/>
          <p:nvPr/>
        </p:nvSpPr>
        <p:spPr>
          <a:xfrm>
            <a:off x="8412480" y="28620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8778240" y="28529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競賽轉移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9765792" y="3099816"/>
            <a:ext cx="201168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10030968" y="2779776"/>
            <a:ext cx="1298448" cy="640080"/>
          </a:xfrm>
          <a:prstGeom prst="roundRect">
            <a:avLst/>
          </a:prstGeom>
          <a:solidFill>
            <a:srgbClr val="253754"/>
          </a:solidFill>
          <a:ln w="12700">
            <a:solidFill>
              <a:srgbClr val="4551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 txBox="1"/>
          <p:nvPr/>
        </p:nvSpPr>
        <p:spPr>
          <a:xfrm>
            <a:off x="10140696" y="28620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10506456" y="2852928"/>
            <a:ext cx="722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提取／緩衝</a:t>
            </a:r>
            <a:endParaRPr lang="en-US" sz="1350" dirty="0"/>
          </a:p>
        </p:txBody>
      </p:sp>
      <p:sp>
        <p:nvSpPr>
          <p:cNvPr id="57" name="Text 55"/>
          <p:cNvSpPr txBox="1"/>
          <p:nvPr/>
        </p:nvSpPr>
        <p:spPr>
          <a:xfrm>
            <a:off x="1874520" y="3511296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CE9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 + 22 + 22 + 18 + 12 + 6 = 90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621792" y="4023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120 分鐘路線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621792" y="43525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6DA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可拔除保留段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1874520" y="3950208"/>
            <a:ext cx="960120" cy="694944"/>
          </a:xfrm>
          <a:prstGeom prst="roundRect">
            <a:avLst/>
          </a:prstGeom>
          <a:solidFill>
            <a:srgbClr val="1B2C49"/>
          </a:solidFill>
          <a:ln w="13970">
            <a:solidFill>
              <a:srgbClr val="28B8C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 txBox="1"/>
          <p:nvPr/>
        </p:nvSpPr>
        <p:spPr>
          <a:xfrm>
            <a:off x="1965960" y="40416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2295144" y="4032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TLE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2871216" y="4297680"/>
            <a:ext cx="18288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2"/>
          <p:cNvSpPr/>
          <p:nvPr/>
        </p:nvSpPr>
        <p:spPr>
          <a:xfrm>
            <a:off x="3108960" y="3950208"/>
            <a:ext cx="960120" cy="694944"/>
          </a:xfrm>
          <a:prstGeom prst="roundRect">
            <a:avLst/>
          </a:prstGeom>
          <a:solidFill>
            <a:srgbClr val="1B2C49"/>
          </a:solidFill>
          <a:ln w="13970">
            <a:solidFill>
              <a:srgbClr val="28B8C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3"/>
          <p:cNvSpPr txBox="1"/>
          <p:nvPr/>
        </p:nvSpPr>
        <p:spPr>
          <a:xfrm>
            <a:off x="3200400" y="40416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3529584" y="4032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E1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4105656" y="4297680"/>
            <a:ext cx="18288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Shape 66"/>
          <p:cNvSpPr/>
          <p:nvPr/>
        </p:nvSpPr>
        <p:spPr>
          <a:xfrm>
            <a:off x="4343400" y="3950208"/>
            <a:ext cx="960120" cy="694944"/>
          </a:xfrm>
          <a:prstGeom prst="roundRect">
            <a:avLst/>
          </a:prstGeom>
          <a:solidFill>
            <a:srgbClr val="1B2C49"/>
          </a:solidFill>
          <a:ln w="13970">
            <a:solidFill>
              <a:srgbClr val="28B8C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7"/>
          <p:cNvSpPr txBox="1"/>
          <p:nvPr/>
        </p:nvSpPr>
        <p:spPr>
          <a:xfrm>
            <a:off x="4434840" y="40416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</a:t>
            </a:r>
            <a:endParaRPr lang="en-US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4764024" y="4032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E2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5340096" y="4297680"/>
            <a:ext cx="18288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Shape 70"/>
          <p:cNvSpPr/>
          <p:nvPr/>
        </p:nvSpPr>
        <p:spPr>
          <a:xfrm>
            <a:off x="5577840" y="3950208"/>
            <a:ext cx="1417320" cy="694944"/>
          </a:xfrm>
          <a:prstGeom prst="roundRect">
            <a:avLst/>
          </a:prstGeom>
          <a:solidFill>
            <a:srgbClr val="2B244C"/>
          </a:solidFill>
          <a:ln w="26670">
            <a:solidFill>
              <a:srgbClr val="9B79D0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Text 71"/>
          <p:cNvSpPr txBox="1"/>
          <p:nvPr/>
        </p:nvSpPr>
        <p:spPr>
          <a:xfrm>
            <a:off x="5669280" y="40416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DA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30</a:t>
            </a:r>
            <a:endParaRPr lang="en-US" sz="1500" dirty="0"/>
          </a:p>
        </p:txBody>
      </p:sp>
      <p:sp>
        <p:nvSpPr>
          <p:cNvPr id="74" name="Text 72"/>
          <p:cNvSpPr txBox="1"/>
          <p:nvPr/>
        </p:nvSpPr>
        <p:spPr>
          <a:xfrm>
            <a:off x="5998464" y="4032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E3｜條件式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7031736" y="4297680"/>
            <a:ext cx="182880" cy="0"/>
          </a:xfrm>
          <a:prstGeom prst="line">
            <a:avLst/>
          </a:prstGeom>
          <a:noFill/>
          <a:ln w="26670">
            <a:solidFill>
              <a:srgbClr val="9B79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Shape 74"/>
          <p:cNvSpPr/>
          <p:nvPr/>
        </p:nvSpPr>
        <p:spPr>
          <a:xfrm>
            <a:off x="7269480" y="3950208"/>
            <a:ext cx="960120" cy="694944"/>
          </a:xfrm>
          <a:prstGeom prst="roundRect">
            <a:avLst/>
          </a:prstGeom>
          <a:solidFill>
            <a:srgbClr val="1B2C49"/>
          </a:solidFill>
          <a:ln w="13970">
            <a:solidFill>
              <a:srgbClr val="4EA9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Text 75"/>
          <p:cNvSpPr txBox="1"/>
          <p:nvPr/>
        </p:nvSpPr>
        <p:spPr>
          <a:xfrm>
            <a:off x="7360920" y="40416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</a:t>
            </a:r>
            <a:endParaRPr lang="en-US" sz="1500" dirty="0"/>
          </a:p>
        </p:txBody>
      </p:sp>
      <p:sp>
        <p:nvSpPr>
          <p:cNvPr id="78" name="Text 76"/>
          <p:cNvSpPr txBox="1"/>
          <p:nvPr/>
        </p:nvSpPr>
        <p:spPr>
          <a:xfrm>
            <a:off x="7690104" y="4032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IoT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8266176" y="4297680"/>
            <a:ext cx="18288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Shape 78"/>
          <p:cNvSpPr/>
          <p:nvPr/>
        </p:nvSpPr>
        <p:spPr>
          <a:xfrm>
            <a:off x="8503920" y="3950208"/>
            <a:ext cx="960120" cy="694944"/>
          </a:xfrm>
          <a:prstGeom prst="roundRect">
            <a:avLst/>
          </a:prstGeom>
          <a:solidFill>
            <a:srgbClr val="1B2C49"/>
          </a:solidFill>
          <a:ln w="13970">
            <a:solidFill>
              <a:srgbClr val="4EA9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Text 79"/>
          <p:cNvSpPr txBox="1"/>
          <p:nvPr/>
        </p:nvSpPr>
        <p:spPr>
          <a:xfrm>
            <a:off x="8595360" y="40416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</a:t>
            </a:r>
            <a:endParaRPr lang="en-US" sz="1500" dirty="0"/>
          </a:p>
        </p:txBody>
      </p:sp>
      <p:sp>
        <p:nvSpPr>
          <p:cNvPr id="82" name="Text 80"/>
          <p:cNvSpPr txBox="1"/>
          <p:nvPr/>
        </p:nvSpPr>
        <p:spPr>
          <a:xfrm>
            <a:off x="8924544" y="4032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轉移</a:t>
            </a:r>
            <a:endParaRPr lang="en-US" sz="1350" dirty="0"/>
          </a:p>
        </p:txBody>
      </p:sp>
      <p:sp>
        <p:nvSpPr>
          <p:cNvPr id="83" name="Shape 81"/>
          <p:cNvSpPr/>
          <p:nvPr/>
        </p:nvSpPr>
        <p:spPr>
          <a:xfrm>
            <a:off x="9500616" y="4297680"/>
            <a:ext cx="18288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Shape 82"/>
          <p:cNvSpPr/>
          <p:nvPr/>
        </p:nvSpPr>
        <p:spPr>
          <a:xfrm>
            <a:off x="9738360" y="3950208"/>
            <a:ext cx="960120" cy="694944"/>
          </a:xfrm>
          <a:prstGeom prst="roundRect">
            <a:avLst/>
          </a:prstGeom>
          <a:solidFill>
            <a:srgbClr val="1B2C49"/>
          </a:solidFill>
          <a:ln w="13970">
            <a:solidFill>
              <a:srgbClr val="4EA9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3"/>
          <p:cNvSpPr txBox="1"/>
          <p:nvPr/>
        </p:nvSpPr>
        <p:spPr>
          <a:xfrm>
            <a:off x="9829800" y="40416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500" dirty="0"/>
          </a:p>
        </p:txBody>
      </p:sp>
      <p:sp>
        <p:nvSpPr>
          <p:cNvPr id="86" name="Text 84"/>
          <p:cNvSpPr txBox="1"/>
          <p:nvPr/>
        </p:nvSpPr>
        <p:spPr>
          <a:xfrm>
            <a:off x="10158984" y="4032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收束</a:t>
            </a:r>
            <a:endParaRPr lang="en-US" sz="1350" dirty="0"/>
          </a:p>
        </p:txBody>
      </p:sp>
      <p:sp>
        <p:nvSpPr>
          <p:cNvPr id="87" name="Text 85"/>
          <p:cNvSpPr txBox="1"/>
          <p:nvPr/>
        </p:nvSpPr>
        <p:spPr>
          <a:xfrm>
            <a:off x="1874520" y="4745736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DA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 + 22 + 22 + 30 + 18 + 12 + 6 = 120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621792" y="5230368"/>
            <a:ext cx="10972800" cy="941832"/>
          </a:xfrm>
          <a:prstGeom prst="roundRect">
            <a:avLst/>
          </a:prstGeom>
          <a:solidFill>
            <a:srgbClr val="15213C"/>
          </a:solidFill>
          <a:ln w="12700">
            <a:solidFill>
              <a:srgbClr val="3040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Text 87"/>
          <p:cNvSpPr txBox="1"/>
          <p:nvPr/>
        </p:nvSpPr>
        <p:spPr>
          <a:xfrm>
            <a:off x="841248" y="542239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共同判讀骨架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2267712" y="53949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</a:t>
            </a:r>
            <a:endParaRPr lang="en-US" sz="1700" dirty="0"/>
          </a:p>
        </p:txBody>
      </p:sp>
      <p:sp>
        <p:nvSpPr>
          <p:cNvPr id="91" name="Text 89"/>
          <p:cNvSpPr txBox="1"/>
          <p:nvPr/>
        </p:nvSpPr>
        <p:spPr>
          <a:xfrm>
            <a:off x="2130552" y="57058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當下功率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3035808" y="5596128"/>
            <a:ext cx="41148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Text 91"/>
          <p:cNvSpPr txBox="1"/>
          <p:nvPr/>
        </p:nvSpPr>
        <p:spPr>
          <a:xfrm>
            <a:off x="3895344" y="53949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時間</a:t>
            </a:r>
            <a:endParaRPr lang="en-US" sz="1700" dirty="0"/>
          </a:p>
        </p:txBody>
      </p:sp>
      <p:sp>
        <p:nvSpPr>
          <p:cNvPr id="94" name="Text 92"/>
          <p:cNvSpPr txBox="1"/>
          <p:nvPr/>
        </p:nvSpPr>
        <p:spPr>
          <a:xfrm>
            <a:off x="3758184" y="57058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累積多久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4663440" y="5596128"/>
            <a:ext cx="41148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Text 94"/>
          <p:cNvSpPr txBox="1"/>
          <p:nvPr/>
        </p:nvSpPr>
        <p:spPr>
          <a:xfrm>
            <a:off x="5522976" y="53949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</a:t>
            </a:r>
            <a:endParaRPr lang="en-US" sz="1700" dirty="0"/>
          </a:p>
        </p:txBody>
      </p:sp>
      <p:sp>
        <p:nvSpPr>
          <p:cNvPr id="97" name="Text 95"/>
          <p:cNvSpPr txBox="1"/>
          <p:nvPr/>
        </p:nvSpPr>
        <p:spPr>
          <a:xfrm>
            <a:off x="5385816" y="57058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總能源</a:t>
            </a:r>
            <a:endParaRPr lang="en-US" sz="1150" dirty="0"/>
          </a:p>
        </p:txBody>
      </p:sp>
      <p:sp>
        <p:nvSpPr>
          <p:cNvPr id="98" name="Shape 96"/>
          <p:cNvSpPr/>
          <p:nvPr/>
        </p:nvSpPr>
        <p:spPr>
          <a:xfrm>
            <a:off x="6291072" y="5596128"/>
            <a:ext cx="41148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Text 97"/>
          <p:cNvSpPr txBox="1"/>
          <p:nvPr/>
        </p:nvSpPr>
        <p:spPr>
          <a:xfrm>
            <a:off x="7150608" y="53949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5EAD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服務</a:t>
            </a:r>
            <a:endParaRPr lang="en-US" sz="1700" dirty="0"/>
          </a:p>
        </p:txBody>
      </p:sp>
      <p:sp>
        <p:nvSpPr>
          <p:cNvPr id="100" name="Text 98"/>
          <p:cNvSpPr txBox="1"/>
          <p:nvPr/>
        </p:nvSpPr>
        <p:spPr>
          <a:xfrm>
            <a:off x="7013448" y="57058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是否合格</a:t>
            </a:r>
            <a:endParaRPr lang="en-US" sz="1150" dirty="0"/>
          </a:p>
        </p:txBody>
      </p:sp>
      <p:sp>
        <p:nvSpPr>
          <p:cNvPr id="101" name="Shape 99"/>
          <p:cNvSpPr/>
          <p:nvPr/>
        </p:nvSpPr>
        <p:spPr>
          <a:xfrm>
            <a:off x="7918704" y="5596128"/>
            <a:ext cx="41148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Text 100"/>
          <p:cNvSpPr txBox="1"/>
          <p:nvPr/>
        </p:nvSpPr>
        <p:spPr>
          <a:xfrm>
            <a:off x="8778240" y="53949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bit/J</a:t>
            </a:r>
            <a:endParaRPr lang="en-US" sz="1700" dirty="0"/>
          </a:p>
        </p:txBody>
      </p:sp>
      <p:sp>
        <p:nvSpPr>
          <p:cNvPr id="103" name="Text 101"/>
          <p:cNvSpPr txBox="1"/>
          <p:nvPr/>
        </p:nvSpPr>
        <p:spPr>
          <a:xfrm>
            <a:off x="8641080" y="57058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合格邊界內的效率</a:t>
            </a:r>
            <a:endParaRPr lang="en-US" sz="1150" dirty="0"/>
          </a:p>
        </p:txBody>
      </p:sp>
      <p:sp>
        <p:nvSpPr>
          <p:cNvPr id="104" name="Text 102"/>
          <p:cNvSpPr txBox="1"/>
          <p:nvPr/>
        </p:nvSpPr>
        <p:spPr>
          <a:xfrm>
            <a:off x="502920" y="65288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0｜8 張 owner-review checkpoint</a:t>
            </a:r>
            <a:endParaRPr lang="en-US" sz="1150" dirty="0"/>
          </a:p>
        </p:txBody>
      </p:sp>
      <p:sp>
        <p:nvSpPr>
          <p:cNvPr id="105" name="Text 103"/>
          <p:cNvSpPr txBox="1"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7818120" y="6464808"/>
            <a:ext cx="3063240" cy="237744"/>
          </a:xfrm>
          <a:prstGeom prst="roundRect">
            <a:avLst/>
          </a:prstGeom>
          <a:solidFill>
            <a:srgbClr val="221C40"/>
          </a:solidFill>
          <a:ln w="12700">
            <a:solidFill>
              <a:srgbClr val="221C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Text 105"/>
          <p:cNvSpPr txBox="1"/>
          <p:nvPr/>
        </p:nvSpPr>
        <p:spPr>
          <a:xfrm>
            <a:off x="7936992" y="64876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模擬教學｜非即時｜非量測｜未驗證 parity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33272" cy="310896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85216" y="40233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STAGE 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43032" y="384048"/>
            <a:ext cx="11430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10616184" y="402336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00–10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0784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TLE-to-NTPU｜先知道場景從哪裡來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28B8C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核心問題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859536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一筆精簡軌道資料，如何成為眼前可用的 NTPU 衛星場景？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12064" y="1399032"/>
            <a:ext cx="7973568" cy="256032"/>
          </a:xfrm>
          <a:prstGeom prst="roundRect">
            <a:avLst/>
          </a:prstGeom>
          <a:solidFill>
            <a:srgbClr val="EBE6DC"/>
          </a:solidFill>
          <a:ln w="12700">
            <a:solidFill>
              <a:srgbClr val="EBE6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431036"/>
            <a:ext cx="7699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kern="0" spc="35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QUESTION  →  LEARNER ACTION  →  OBSERVABLE RESULT  →  MEANING  →  RECOVERY / STATUS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58368" y="1883664"/>
            <a:ext cx="2487168" cy="14813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8B8C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841248" y="2057400"/>
            <a:ext cx="1325880" cy="310896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207568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SOURCE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50545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固定 TLE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89864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讀來源與 epoch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182112" y="2633472"/>
            <a:ext cx="283464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538728" y="1883664"/>
            <a:ext cx="2487168" cy="14813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721608" y="2057400"/>
            <a:ext cx="1325880" cy="310896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3794760" y="207568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MODEL-DERIVED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721608" y="250545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位置／相對幾何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721608" y="289864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友善輸出＋單位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062472" y="2633472"/>
            <a:ext cx="283464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419088" y="1883664"/>
            <a:ext cx="2487168" cy="14813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9B79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601968" y="2057400"/>
            <a:ext cx="1325880" cy="310896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6675120" y="207568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COURSE ASSUMPTION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01968" y="250545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波束／流量／任務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601968" y="289864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後續才加入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942832" y="2633472"/>
            <a:ext cx="283464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9299448" y="1883664"/>
            <a:ext cx="2487168" cy="14813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4EA9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9482328" y="2057400"/>
            <a:ext cx="1325880" cy="310896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9555480" y="207568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NTPU SCENE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482328" y="250545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 scenario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482328" y="289864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版本化場景起點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94944" y="36027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8B8C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學員動作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3538728"/>
            <a:ext cx="9738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匯入 → 分類來源／推導／假設 → 指定 UTC → 逐站查看 → 生成同一個 NTPU scenario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58368" y="4096512"/>
            <a:ext cx="5458968" cy="969264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850392" y="4242816"/>
            <a:ext cx="1170432" cy="283464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 txBox="1"/>
          <p:nvPr/>
        </p:nvSpPr>
        <p:spPr>
          <a:xfrm>
            <a:off x="923544" y="4261104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可觀察結果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2212848" y="420624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每站都有 input、轉換、output／單位與用途；最終畫面消費同一 scenario。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272784" y="4096512"/>
            <a:ext cx="5340096" cy="969264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6464808" y="4242816"/>
            <a:ext cx="1042416" cy="283464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 txBox="1"/>
          <p:nvPr/>
        </p:nvSpPr>
        <p:spPr>
          <a:xfrm>
            <a:off x="6537960" y="4261104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架構界線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7699248" y="4197096"/>
            <a:ext cx="3630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TLE 不含波束、流量、功率或能源；這一段建立可信起點，不算節能證據。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530352" y="5376672"/>
            <a:ext cx="6812280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713232" y="5513832"/>
            <a:ext cx="1417320" cy="283464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 txBox="1"/>
          <p:nvPr/>
        </p:nvSpPr>
        <p:spPr>
          <a:xfrm>
            <a:off x="786384" y="55321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能源／競賽意義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2286000" y="5477256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先分清資料來源與課程假設，後續能源判斷才不是對著無來源動畫猜答案。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7516368" y="5376672"/>
            <a:ext cx="4142232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7699248" y="5513832"/>
            <a:ext cx="1207008" cy="283464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 txBox="1"/>
          <p:nvPr/>
        </p:nvSpPr>
        <p:spPr>
          <a:xfrm>
            <a:off x="7772400" y="5532120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復原／狀態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997696" y="54681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續接最後一站，或載入完全相同的 fallback scenario。</a:t>
            </a:r>
            <a:endParaRPr lang="en-US" sz="1450" dirty="0"/>
          </a:p>
        </p:txBody>
      </p:sp>
      <p:sp>
        <p:nvSpPr>
          <p:cNvPr id="52" name="Text 50"/>
          <p:cNvSpPr txBox="1"/>
          <p:nvPr/>
        </p:nvSpPr>
        <p:spPr>
          <a:xfrm>
            <a:off x="8997696" y="58704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核心已接受｜runtime／browser 未驗證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65288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0｜架構總覽，非完整教學頁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818120" y="6464808"/>
            <a:ext cx="3063240" cy="237744"/>
          </a:xfrm>
          <a:prstGeom prst="roundRect">
            <a:avLst/>
          </a:prstGeom>
          <a:solidFill>
            <a:srgbClr val="E8E3DA"/>
          </a:solidFill>
          <a:ln w="12700">
            <a:solidFill>
              <a:srgbClr val="E8E3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 txBox="1"/>
          <p:nvPr/>
        </p:nvSpPr>
        <p:spPr>
          <a:xfrm>
            <a:off x="7936992" y="64876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模擬教學｜非即時｜非量測｜未驗證 parity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33272" cy="310896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85216" y="40233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STAGE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43032" y="384048"/>
            <a:ext cx="11430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10616184" y="402336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10–32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0784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E1｜功率、啟用時間、能源與 EE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F4B9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核心問題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859536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降低發射功率，一定是最省能源、而且服務合格的選擇嗎？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12064" y="1399032"/>
            <a:ext cx="7973568" cy="256032"/>
          </a:xfrm>
          <a:prstGeom prst="roundRect">
            <a:avLst/>
          </a:prstGeom>
          <a:solidFill>
            <a:srgbClr val="EBE6DC"/>
          </a:solidFill>
          <a:ln w="12700">
            <a:solidFill>
              <a:srgbClr val="EBE6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431036"/>
            <a:ext cx="7699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kern="0" spc="35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QUESTION  →  LEARNER ACTION  →  OBSERVABLE RESULT  →  MEANING  →  RECOVERY / STATUS</a:t>
            </a:r>
            <a:endParaRPr lang="en-US" sz="1070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先預測，再完成三個離散策略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" y="2240280"/>
            <a:ext cx="3108960" cy="74980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8B8C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77240" y="2404872"/>
            <a:ext cx="1124712" cy="274320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850392" y="242316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BALANCED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084832" y="23591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共同參考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" y="3136392"/>
            <a:ext cx="3108960" cy="74980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4EA9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77240" y="3300984"/>
            <a:ext cx="1124712" cy="274320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850392" y="331927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LOW-POWER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084832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較低當下 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504" y="4032504"/>
            <a:ext cx="3108960" cy="74980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A6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777240" y="4197096"/>
            <a:ext cx="1124712" cy="274320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850392" y="421538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FAST-FINISH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084832" y="4151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較短啟用時間？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31920" y="3136392"/>
            <a:ext cx="594360" cy="0"/>
          </a:xfrm>
          <a:prstGeom prst="line">
            <a:avLst/>
          </a:prstGeom>
          <a:noFill/>
          <a:ln w="26670">
            <a:solidFill>
              <a:srgbClr val="F4B94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681728" y="1984248"/>
            <a:ext cx="2880360" cy="29260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5010912" y="222199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合格的能源判斷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596128" y="2816352"/>
            <a:ext cx="1051560" cy="10515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5742432" y="299008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服務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門檻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919472" y="2843784"/>
            <a:ext cx="658368" cy="658368"/>
          </a:xfrm>
          <a:prstGeom prst="ellipse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4965192" y="301752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665976" y="2834640"/>
            <a:ext cx="658368" cy="658368"/>
          </a:xfrm>
          <a:prstGeom prst="ellipse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6711696" y="300837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時間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5001768" y="3995928"/>
            <a:ext cx="658368" cy="658368"/>
          </a:xfrm>
          <a:prstGeom prst="ellipse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5047488" y="416966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6510528" y="4005072"/>
            <a:ext cx="658368" cy="658368"/>
          </a:xfrm>
          <a:prstGeom prst="ellipse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 txBox="1"/>
          <p:nvPr/>
        </p:nvSpPr>
        <p:spPr>
          <a:xfrm>
            <a:off x="6556248" y="41788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bit/J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7772400" y="1984248"/>
            <a:ext cx="3840480" cy="29260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8028432" y="2221992"/>
            <a:ext cx="1143000" cy="283464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 txBox="1"/>
          <p:nvPr/>
        </p:nvSpPr>
        <p:spPr>
          <a:xfrm>
            <a:off x="8101584" y="224028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可觀察結果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046720" y="2724912"/>
            <a:ext cx="749808" cy="26517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 txBox="1"/>
          <p:nvPr/>
        </p:nvSpPr>
        <p:spPr>
          <a:xfrm>
            <a:off x="8119872" y="274320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961120" y="27066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當下功率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046720" y="3118104"/>
            <a:ext cx="749808" cy="26517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 txBox="1"/>
          <p:nvPr/>
        </p:nvSpPr>
        <p:spPr>
          <a:xfrm>
            <a:off x="8119872" y="3136392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TIME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961120" y="3099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完成／啟用多久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046720" y="3511296"/>
            <a:ext cx="749808" cy="26517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 txBox="1"/>
          <p:nvPr/>
        </p:nvSpPr>
        <p:spPr>
          <a:xfrm>
            <a:off x="8119872" y="352958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961120" y="34930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累積能源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046720" y="3904488"/>
            <a:ext cx="749808" cy="265176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 txBox="1"/>
          <p:nvPr/>
        </p:nvSpPr>
        <p:spPr>
          <a:xfrm>
            <a:off x="8119872" y="3922776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SERVICE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961120" y="3886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交付量與期限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046720" y="4297680"/>
            <a:ext cx="749808" cy="26517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 txBox="1"/>
          <p:nvPr/>
        </p:nvSpPr>
        <p:spPr>
          <a:xfrm>
            <a:off x="8119872" y="4315968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EE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961120" y="4279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合格邊界內 bit/J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8065008" y="459943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中途更新一次預測；終點再作「接受／保留條件／拒絕」。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530352" y="5376672"/>
            <a:ext cx="6812280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5"/>
          <p:cNvSpPr/>
          <p:nvPr/>
        </p:nvSpPr>
        <p:spPr>
          <a:xfrm>
            <a:off x="713232" y="5513832"/>
            <a:ext cx="1417320" cy="283464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 txBox="1"/>
          <p:nvPr/>
        </p:nvSpPr>
        <p:spPr>
          <a:xfrm>
            <a:off x="786384" y="55321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能源／競賽意義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2286000" y="5477256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省 W 不等於省 J；較快也可能耗能過高。先通過服務門檻，才有資格比較 EE。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7516368" y="5376672"/>
            <a:ext cx="4142232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9"/>
          <p:cNvSpPr/>
          <p:nvPr/>
        </p:nvSpPr>
        <p:spPr>
          <a:xfrm>
            <a:off x="7699248" y="5513832"/>
            <a:ext cx="1207008" cy="283464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 txBox="1"/>
          <p:nvPr/>
        </p:nvSpPr>
        <p:spPr>
          <a:xfrm>
            <a:off x="7772400" y="5532120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復原／狀態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8997696" y="54681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提示 → 同任務回播 → 改試另一策略。</a:t>
            </a:r>
            <a:endParaRPr lang="en-US" sz="1450" dirty="0"/>
          </a:p>
        </p:txBody>
      </p:sp>
      <p:sp>
        <p:nvSpPr>
          <p:cNvPr id="64" name="Text 62"/>
          <p:cNvSpPr txBox="1"/>
          <p:nvPr/>
        </p:nvSpPr>
        <p:spPr>
          <a:xfrm>
            <a:off x="8997696" y="58704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核心已接受｜Phase-1 結果只可標示為模擬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502920" y="65288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0｜架構總覽，非完整教學頁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818120" y="6464808"/>
            <a:ext cx="3063240" cy="237744"/>
          </a:xfrm>
          <a:prstGeom prst="roundRect">
            <a:avLst/>
          </a:prstGeom>
          <a:solidFill>
            <a:srgbClr val="E8E3DA"/>
          </a:solidFill>
          <a:ln w="12700">
            <a:solidFill>
              <a:srgbClr val="E8E3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6"/>
          <p:cNvSpPr txBox="1"/>
          <p:nvPr/>
        </p:nvSpPr>
        <p:spPr>
          <a:xfrm>
            <a:off x="7936992" y="64876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模擬教學｜非即時｜非量測｜未驗證 parity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33272" cy="310896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85216" y="40233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STAGE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43032" y="384048"/>
            <a:ext cx="11430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10616184" y="402336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32–54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0784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E2｜換手時機與鏈路能源後果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EA6A5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核心問題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859536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另一個波束變好時，要現在換、等穩定再換，還是維持？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12064" y="1399032"/>
            <a:ext cx="7973568" cy="256032"/>
          </a:xfrm>
          <a:prstGeom prst="roundRect">
            <a:avLst/>
          </a:prstGeom>
          <a:solidFill>
            <a:srgbClr val="EBE6DC"/>
          </a:solidFill>
          <a:ln w="12700">
            <a:solidFill>
              <a:srgbClr val="EBE6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431036"/>
            <a:ext cx="7699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kern="0" spc="35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QUESTION  →  LEARNER ACTION  →  OBSERVABLE RESULT  →  MEANING  →  RECOVERY / STATUS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2162739" y="2020092"/>
            <a:ext cx="242499" cy="171176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920240" y="2005828"/>
            <a:ext cx="213970" cy="199705"/>
          </a:xfrm>
          <a:prstGeom prst="rect">
            <a:avLst/>
          </a:prstGeom>
          <a:solidFill>
            <a:srgbClr val="28B8C7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433767" y="2005828"/>
            <a:ext cx="213970" cy="199705"/>
          </a:xfrm>
          <a:prstGeom prst="rect">
            <a:avLst/>
          </a:prstGeom>
          <a:solidFill>
            <a:srgbClr val="28B8C7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134210" y="2105680"/>
            <a:ext cx="299557" cy="0"/>
          </a:xfrm>
          <a:prstGeom prst="line">
            <a:avLst/>
          </a:prstGeom>
          <a:noFill/>
          <a:ln w="1778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 rot="10800000">
            <a:off x="2219797" y="2219797"/>
            <a:ext cx="128382" cy="128382"/>
          </a:xfrm>
          <a:prstGeom prst="triangle">
            <a:avLst/>
          </a:prstGeom>
          <a:solidFill>
            <a:srgbClr val="28B8C7">
              <a:alpha val="70000"/>
            </a:srgbClr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900099" y="1928652"/>
            <a:ext cx="242499" cy="171176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657600" y="1914388"/>
            <a:ext cx="213970" cy="199705"/>
          </a:xfrm>
          <a:prstGeom prst="rect">
            <a:avLst/>
          </a:prstGeom>
          <a:solidFill>
            <a:srgbClr val="EA6A5A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171127" y="1914388"/>
            <a:ext cx="213970" cy="199705"/>
          </a:xfrm>
          <a:prstGeom prst="rect">
            <a:avLst/>
          </a:prstGeom>
          <a:solidFill>
            <a:srgbClr val="EA6A5A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3871570" y="2014240"/>
            <a:ext cx="299557" cy="0"/>
          </a:xfrm>
          <a:prstGeom prst="line">
            <a:avLst/>
          </a:prstGeom>
          <a:noFill/>
          <a:ln w="1778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 rot="10800000">
            <a:off x="3957157" y="2128357"/>
            <a:ext cx="128382" cy="128382"/>
          </a:xfrm>
          <a:prstGeom prst="triangle">
            <a:avLst/>
          </a:prstGeom>
          <a:solidFill>
            <a:srgbClr val="EA6A5A">
              <a:alpha val="70000"/>
            </a:srgbClr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 rot="10800000">
            <a:off x="1901952" y="2340864"/>
            <a:ext cx="1463040" cy="2148840"/>
          </a:xfrm>
          <a:prstGeom prst="triangle">
            <a:avLst/>
          </a:prstGeom>
          <a:solidFill>
            <a:srgbClr val="28B8C7">
              <a:alpha val="22000"/>
            </a:srgbClr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 rot="10800000">
            <a:off x="2971800" y="2249424"/>
            <a:ext cx="1600200" cy="2240280"/>
          </a:xfrm>
          <a:prstGeom prst="triangle">
            <a:avLst/>
          </a:prstGeom>
          <a:solidFill>
            <a:srgbClr val="EA6A5A">
              <a:alpha val="22000"/>
            </a:srgbClr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2834640" y="3044952"/>
            <a:ext cx="512064" cy="51206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2578608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決策點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73168" y="1975104"/>
            <a:ext cx="1572768" cy="603504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A6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4882896" y="211226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現在換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773168" y="2889504"/>
            <a:ext cx="1572768" cy="603504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4882896" y="302666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等穩定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773168" y="3803904"/>
            <a:ext cx="1572768" cy="603504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8B8C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4882896" y="394106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維持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078224" y="3209544"/>
            <a:ext cx="502920" cy="0"/>
          </a:xfrm>
          <a:prstGeom prst="line">
            <a:avLst/>
          </a:prstGeom>
          <a:noFill/>
          <a:ln w="26670">
            <a:solidFill>
              <a:srgbClr val="EA6A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6492240" y="3209544"/>
            <a:ext cx="566928" cy="0"/>
          </a:xfrm>
          <a:prstGeom prst="line">
            <a:avLst/>
          </a:prstGeom>
          <a:noFill/>
          <a:ln w="26670">
            <a:solidFill>
              <a:srgbClr val="EA6A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7223760" y="1920240"/>
            <a:ext cx="1865376" cy="274320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7516368" y="2157984"/>
            <a:ext cx="731520" cy="310896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7589520" y="217627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REPLAY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26700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回到同一點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試一個替代方案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790688" y="3429000"/>
            <a:ext cx="804672" cy="640080"/>
          </a:xfrm>
          <a:prstGeom prst="arc">
            <a:avLst/>
          </a:prstGeom>
          <a:solidFill>
            <a:srgbClr val="14213D">
              <a:alpha val="0"/>
            </a:srgbClr>
          </a:solidFill>
          <a:ln w="27940">
            <a:solidFill>
              <a:srgbClr val="28B8C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 txBox="1"/>
          <p:nvPr/>
        </p:nvSpPr>
        <p:spPr>
          <a:xfrm>
            <a:off x="7498080" y="401421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CE9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再凍結一條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BCE9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白話規則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9308592" y="1920240"/>
            <a:ext cx="2304288" cy="27432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9B79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9555480" y="2157984"/>
            <a:ext cx="877824" cy="310896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 txBox="1"/>
          <p:nvPr/>
        </p:nvSpPr>
        <p:spPr>
          <a:xfrm>
            <a:off x="9628632" y="2176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WITHHELD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546336" y="2642616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未知鏈路趨勢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546336" y="3026664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6A5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不重調規則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674352" y="3465576"/>
            <a:ext cx="1536192" cy="310896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 txBox="1"/>
          <p:nvPr/>
        </p:nvSpPr>
        <p:spPr>
          <a:xfrm>
            <a:off x="9747504" y="34838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服務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74352" y="3858768"/>
            <a:ext cx="1536192" cy="310896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 txBox="1"/>
          <p:nvPr/>
        </p:nvSpPr>
        <p:spPr>
          <a:xfrm>
            <a:off x="9747504" y="387705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時間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74352" y="4251960"/>
            <a:ext cx="1536192" cy="310896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 txBox="1"/>
          <p:nvPr/>
        </p:nvSpPr>
        <p:spPr>
          <a:xfrm>
            <a:off x="9747504" y="42702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W／J／EE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88289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可觀察結果｜服務／時間／W／J／EE 必須與同一狀態同步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30352" y="5376672"/>
            <a:ext cx="6812280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713232" y="5513832"/>
            <a:ext cx="1417320" cy="283464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 txBox="1"/>
          <p:nvPr/>
        </p:nvSpPr>
        <p:spPr>
          <a:xfrm>
            <a:off x="786384" y="55321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能源／競賽意義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2286000" y="5477256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換手時機先改變鏈路與服務速度，再透過啟用時間影響能源；不可把換手次數直接當成耗能量測。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7516368" y="5376672"/>
            <a:ext cx="4142232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4"/>
          <p:cNvSpPr/>
          <p:nvPr/>
        </p:nvSpPr>
        <p:spPr>
          <a:xfrm>
            <a:off x="7699248" y="5513832"/>
            <a:ext cx="1207008" cy="283464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 txBox="1"/>
          <p:nvPr/>
        </p:nvSpPr>
        <p:spPr>
          <a:xfrm>
            <a:off x="7772400" y="5532120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復原／狀態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8997696" y="54681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恢復單一決策點；若無差異，就誠實標示「無實質後果」。</a:t>
            </a:r>
            <a:endParaRPr lang="en-US" sz="1450" dirty="0"/>
          </a:p>
        </p:txBody>
      </p:sp>
      <p:sp>
        <p:nvSpPr>
          <p:cNvPr id="59" name="Text 57"/>
          <p:cNvSpPr txBox="1"/>
          <p:nvPr/>
        </p:nvSpPr>
        <p:spPr>
          <a:xfrm>
            <a:off x="8997696" y="58704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核心已接受｜事件能量未明列時不得宣稱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502920" y="65288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0｜架構總覽，非完整教學頁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818120" y="6464808"/>
            <a:ext cx="3063240" cy="237744"/>
          </a:xfrm>
          <a:prstGeom prst="roundRect">
            <a:avLst/>
          </a:prstGeom>
          <a:solidFill>
            <a:srgbClr val="E8E3DA"/>
          </a:solidFill>
          <a:ln w="12700">
            <a:solidFill>
              <a:srgbClr val="E8E3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1"/>
          <p:cNvSpPr txBox="1"/>
          <p:nvPr/>
        </p:nvSpPr>
        <p:spPr>
          <a:xfrm>
            <a:off x="7936992" y="64876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模擬教學｜非即時｜非量測｜未驗證 parity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32004" cy="32004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560320" y="219456"/>
            <a:ext cx="25603" cy="25603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297680" y="566928"/>
            <a:ext cx="20117" cy="20117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223760" y="274320"/>
            <a:ext cx="25603" cy="25603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321040" y="694944"/>
            <a:ext cx="20117" cy="20117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561320" y="182880"/>
            <a:ext cx="27432" cy="27432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475720" y="822960"/>
            <a:ext cx="22860" cy="22860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9418320" y="1051560"/>
            <a:ext cx="18288" cy="18288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760720" y="146304"/>
            <a:ext cx="16459" cy="16459"/>
          </a:xfrm>
          <a:prstGeom prst="ellipse">
            <a:avLst/>
          </a:prstGeom>
          <a:solidFill>
            <a:srgbClr val="A9BCD0"/>
          </a:solidFill>
          <a:ln w="12700">
            <a:solidFill>
              <a:srgbClr val="A9BC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12064" y="384048"/>
            <a:ext cx="1033272" cy="310896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585216" y="40233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STAGE 4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43032" y="384048"/>
            <a:ext cx="1143000" cy="310896"/>
          </a:xfrm>
          <a:prstGeom prst="roundRect">
            <a:avLst/>
          </a:prstGeom>
          <a:solidFill>
            <a:srgbClr val="2B244C"/>
          </a:solidFill>
          <a:ln w="12700">
            <a:solidFill>
              <a:srgbClr val="2B24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616184" y="402336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54–84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00784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條件式 E3｜外部接觸 artifact 與策略穩健性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9B79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核心問題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859536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較長接觸窗口一定較省嗎？凍結策略換到新軌跡仍成立嗎？</a:t>
            </a:r>
            <a:endParaRPr lang="en-US" sz="2150" dirty="0"/>
          </a:p>
        </p:txBody>
      </p:sp>
      <p:sp>
        <p:nvSpPr>
          <p:cNvPr id="18" name="Shape 16"/>
          <p:cNvSpPr/>
          <p:nvPr/>
        </p:nvSpPr>
        <p:spPr>
          <a:xfrm>
            <a:off x="512064" y="1399032"/>
            <a:ext cx="7973568" cy="256032"/>
          </a:xfrm>
          <a:prstGeom prst="roundRect">
            <a:avLst/>
          </a:prstGeom>
          <a:solidFill>
            <a:srgbClr val="211B39"/>
          </a:solidFill>
          <a:ln w="12700">
            <a:solidFill>
              <a:srgbClr val="211B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640080" y="1431036"/>
            <a:ext cx="7699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kern="0" spc="35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QUESTION  →  LEARNER ACTION  →  OBSERVABLE RESULT  →  MEANING  →  RECOVERY / STATUS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8302752" y="1664208"/>
            <a:ext cx="3273552" cy="347472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375904" y="168249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CONDITIONAL / RESEARCH-ONLY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1975104"/>
            <a:ext cx="2240280" cy="2505456"/>
          </a:xfrm>
          <a:prstGeom prst="roundRect">
            <a:avLst/>
          </a:prstGeom>
          <a:solidFill>
            <a:srgbClr val="221C40"/>
          </a:solidFill>
          <a:ln w="12700">
            <a:solidFill>
              <a:srgbClr val="4A3B6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77824" y="2212848"/>
            <a:ext cx="914400" cy="283464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950976" y="2231136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先凍結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86968" y="27889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E1 功率策略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＋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E2 換手規則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362456" y="3858768"/>
            <a:ext cx="713232" cy="502920"/>
          </a:xfrm>
          <a:prstGeom prst="arc">
            <a:avLst/>
          </a:prstGeom>
          <a:solidFill>
            <a:srgbClr val="221C40">
              <a:alpha val="0"/>
            </a:srgbClr>
          </a:solidFill>
          <a:ln w="25400">
            <a:solidFill>
              <a:srgbClr val="9B79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950976" y="4096512"/>
            <a:ext cx="1609344" cy="256032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1024128" y="41148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 RETUNING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63240" y="3218688"/>
            <a:ext cx="438912" cy="0"/>
          </a:xfrm>
          <a:prstGeom prst="line">
            <a:avLst/>
          </a:prstGeom>
          <a:noFill/>
          <a:ln w="26670">
            <a:solidFill>
              <a:srgbClr val="9B79D0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3694176" y="1975104"/>
            <a:ext cx="2743200" cy="2505456"/>
          </a:xfrm>
          <a:prstGeom prst="roundRect">
            <a:avLst/>
          </a:prstGeom>
          <a:solidFill>
            <a:srgbClr val="221C40"/>
          </a:solidFill>
          <a:ln w="12700">
            <a:solidFill>
              <a:srgbClr val="9B79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3968496" y="2212848"/>
            <a:ext cx="2048256" cy="283464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4041648" y="2231136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未來才可能的學員動作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995928" y="2770632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只改一個 contact condition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3913632" y="3355848"/>
            <a:ext cx="1024128" cy="274320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3986784" y="3374136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REFERENCE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138928" y="3355848"/>
            <a:ext cx="1024128" cy="274320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 txBox="1"/>
          <p:nvPr/>
        </p:nvSpPr>
        <p:spPr>
          <a:xfrm>
            <a:off x="5212080" y="3374136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CANDIDATE</a:t>
            </a:r>
            <a:endParaRPr lang="en-US" sz="980" dirty="0"/>
          </a:p>
        </p:txBody>
      </p:sp>
      <p:sp>
        <p:nvSpPr>
          <p:cNvPr id="38" name="Text 36"/>
          <p:cNvSpPr txBox="1"/>
          <p:nvPr/>
        </p:nvSpPr>
        <p:spPr>
          <a:xfrm>
            <a:off x="4005072" y="385876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同一任務／同一策略回播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629400" y="3218688"/>
            <a:ext cx="457200" cy="0"/>
          </a:xfrm>
          <a:prstGeom prst="line">
            <a:avLst/>
          </a:prstGeom>
          <a:noFill/>
          <a:ln w="26670">
            <a:solidFill>
              <a:srgbClr val="9B79D0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7278624" y="1975104"/>
            <a:ext cx="4315968" cy="2505456"/>
          </a:xfrm>
          <a:prstGeom prst="roundRect">
            <a:avLst/>
          </a:prstGeom>
          <a:solidFill>
            <a:srgbClr val="221C40"/>
          </a:solidFill>
          <a:ln w="12700">
            <a:solidFill>
              <a:srgbClr val="4A3B6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7562088" y="2212848"/>
            <a:ext cx="1700784" cy="283464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 txBox="1"/>
          <p:nvPr/>
        </p:nvSpPr>
        <p:spPr>
          <a:xfrm>
            <a:off x="7635240" y="223113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promotion gate 看什麼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571232" y="2770632"/>
            <a:ext cx="932688" cy="283464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 txBox="1"/>
          <p:nvPr/>
        </p:nvSpPr>
        <p:spPr>
          <a:xfrm>
            <a:off x="7644384" y="278892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ARTIFACT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14232" y="276148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producer／時間／單位／hash 完整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7571232" y="3273552"/>
            <a:ext cx="932688" cy="283464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 txBox="1"/>
          <p:nvPr/>
        </p:nvSpPr>
        <p:spPr>
          <a:xfrm>
            <a:off x="7644384" y="329184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SERVICE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714232" y="32644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一項服務結果改變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7571232" y="3776472"/>
            <a:ext cx="932688" cy="283464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 txBox="1"/>
          <p:nvPr/>
        </p:nvSpPr>
        <p:spPr>
          <a:xfrm>
            <a:off x="7644384" y="379476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ENERGY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714232" y="37673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一項能源結果改變</a:t>
            </a:r>
            <a:endParaRPr lang="en-US" sz="1450" dirty="0"/>
          </a:p>
        </p:txBody>
      </p:sp>
      <p:sp>
        <p:nvSpPr>
          <p:cNvPr id="52" name="Text 50"/>
          <p:cNvSpPr txBox="1"/>
          <p:nvPr/>
        </p:nvSpPr>
        <p:spPr>
          <a:xfrm>
            <a:off x="7589520" y="4233672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D5C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只有地圖改變＝E3 FAIL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40080" y="4681728"/>
            <a:ext cx="10972800" cy="493776"/>
          </a:xfrm>
          <a:prstGeom prst="roundRect">
            <a:avLst/>
          </a:prstGeom>
          <a:solidFill>
            <a:srgbClr val="2B244C"/>
          </a:solidFill>
          <a:ln w="12700">
            <a:solidFill>
              <a:srgbClr val="9B79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 txBox="1"/>
          <p:nvPr/>
        </p:nvSpPr>
        <p:spPr>
          <a:xfrm>
            <a:off x="868680" y="47823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DA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 prototype 排序｜Gpredict 2.5.2 first bounded prototype  →  GMAT R2026a engineering fallback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30352" y="5376672"/>
            <a:ext cx="6812280" cy="941832"/>
          </a:xfrm>
          <a:prstGeom prst="roundRect">
            <a:avLst/>
          </a:prstGeom>
          <a:solidFill>
            <a:srgbClr val="221C40"/>
          </a:solidFill>
          <a:ln w="12700">
            <a:solidFill>
              <a:srgbClr val="4A3B6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4"/>
          <p:cNvSpPr/>
          <p:nvPr/>
        </p:nvSpPr>
        <p:spPr>
          <a:xfrm>
            <a:off x="713232" y="5513832"/>
            <a:ext cx="1417320" cy="283464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 txBox="1"/>
          <p:nvPr/>
        </p:nvSpPr>
        <p:spPr>
          <a:xfrm>
            <a:off x="786384" y="55321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能源／競賽意義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2286000" y="5477256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外部工具只提供 contact／geometry 機會；課程 simulator 才套用服務、功率與能源邊界。這是一個凍結策略的穩健性測試。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7516368" y="5376672"/>
            <a:ext cx="4142232" cy="941832"/>
          </a:xfrm>
          <a:prstGeom prst="roundRect">
            <a:avLst/>
          </a:prstGeom>
          <a:solidFill>
            <a:srgbClr val="221C40"/>
          </a:solidFill>
          <a:ln w="12700">
            <a:solidFill>
              <a:srgbClr val="4A3B6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8"/>
          <p:cNvSpPr/>
          <p:nvPr/>
        </p:nvSpPr>
        <p:spPr>
          <a:xfrm>
            <a:off x="7699248" y="5513832"/>
            <a:ext cx="1207008" cy="283464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 txBox="1"/>
          <p:nvPr/>
        </p:nvSpPr>
        <p:spPr>
          <a:xfrm>
            <a:off x="7772400" y="5532120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復原／狀態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8997696" y="54681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兩分鐘內切到 known-good artifact，並標記 RECOVERY。</a:t>
            </a:r>
            <a:endParaRPr lang="en-US" sz="1450" dirty="0"/>
          </a:p>
        </p:txBody>
      </p:sp>
      <p:sp>
        <p:nvSpPr>
          <p:cNvPr id="63" name="Text 61"/>
          <p:cNvSpPr txBox="1"/>
          <p:nvPr/>
        </p:nvSpPr>
        <p:spPr>
          <a:xfrm>
            <a:off x="8997696" y="58704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尚未選工具｜尚未驗證 UI／parser／30:00／20 席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502920" y="65288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0｜只畫高階 reserve 架構；不是學生操作頁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818120" y="6464808"/>
            <a:ext cx="3063240" cy="237744"/>
          </a:xfrm>
          <a:prstGeom prst="roundRect">
            <a:avLst/>
          </a:prstGeom>
          <a:solidFill>
            <a:srgbClr val="221C40"/>
          </a:solidFill>
          <a:ln w="12700">
            <a:solidFill>
              <a:srgbClr val="221C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5"/>
          <p:cNvSpPr txBox="1"/>
          <p:nvPr/>
        </p:nvSpPr>
        <p:spPr>
          <a:xfrm>
            <a:off x="7936992" y="64876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A9BC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模擬教學｜非即時｜非量測｜未驗證 parity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33272" cy="310896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85216" y="40233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STAGE 5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43032" y="384048"/>
            <a:ext cx="11430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10616184" y="402336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84–102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0784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IoT 挑戰｜優先、批次與資料新鮮度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4EA9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核心問題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859536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有限傳輸機會下，哪些資料要現在送、批次送，或先排優先？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12064" y="1399032"/>
            <a:ext cx="7973568" cy="256032"/>
          </a:xfrm>
          <a:prstGeom prst="roundRect">
            <a:avLst/>
          </a:prstGeom>
          <a:solidFill>
            <a:srgbClr val="EBE6DC"/>
          </a:solidFill>
          <a:ln w="12700">
            <a:solidFill>
              <a:srgbClr val="EBE6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431036"/>
            <a:ext cx="7699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kern="0" spc="35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QUESTION  →  LEARNER ACTION  →  OBSERVABLE RESULT  →  MEANING  →  RECOVERY / STATUS</a:t>
            </a:r>
            <a:endParaRPr lang="en-US" sz="107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三張任務卡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" y="2212848"/>
            <a:ext cx="1627632" cy="11704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A6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77240" y="2404872"/>
            <a:ext cx="347472" cy="347472"/>
          </a:xfrm>
          <a:prstGeom prst="ellipse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1243584" y="23042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緊急警報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43584" y="27797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短期限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14016" y="2212848"/>
            <a:ext cx="1627632" cy="11704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4EA9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2569464" y="2404872"/>
            <a:ext cx="347472" cy="347472"/>
          </a:xfrm>
          <a:prstGeom prst="ellipse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3035808" y="23042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環境資料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035808" y="27797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保持新鮮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2212848"/>
            <a:ext cx="1627632" cy="11704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8B8C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361688" y="2404872"/>
            <a:ext cx="347472" cy="347472"/>
          </a:xfrm>
          <a:prstGeom prst="ellipse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4828032" y="23042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大量資料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27797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可延後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6027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先預測，再排入合法窗口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577840" y="2880360"/>
            <a:ext cx="502920" cy="0"/>
          </a:xfrm>
          <a:prstGeom prst="line">
            <a:avLst/>
          </a:prstGeom>
          <a:noFill/>
          <a:ln w="26670">
            <a:solidFill>
              <a:srgbClr val="4EA9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245352" y="1975104"/>
            <a:ext cx="2194560" cy="276148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6537960" y="221284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規則任務板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574536" y="2779776"/>
            <a:ext cx="804672" cy="310896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6647688" y="27980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3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BASELINE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574536" y="3200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每筆到達即傳送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501384" y="3730752"/>
            <a:ext cx="1207008" cy="310896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6574536" y="374904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LEARNER RULE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574536" y="41513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5EAD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排優先／批次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613648" y="2880360"/>
            <a:ext cx="502920" cy="0"/>
          </a:xfrm>
          <a:prstGeom prst="line">
            <a:avLst/>
          </a:prstGeom>
          <a:noFill/>
          <a:ln w="26670">
            <a:solidFill>
              <a:srgbClr val="4EA9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9299448" y="1975104"/>
            <a:ext cx="2313432" cy="276148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9537192" y="2212848"/>
            <a:ext cx="1115568" cy="283464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 txBox="1"/>
          <p:nvPr/>
        </p:nvSpPr>
        <p:spPr>
          <a:xfrm>
            <a:off x="9610344" y="2231136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可觀察結果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555480" y="2779776"/>
            <a:ext cx="1691640" cy="292608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 txBox="1"/>
          <p:nvPr/>
        </p:nvSpPr>
        <p:spPr>
          <a:xfrm>
            <a:off x="9628632" y="2798064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已交付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55480" y="3163824"/>
            <a:ext cx="1691640" cy="292608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 txBox="1"/>
          <p:nvPr/>
        </p:nvSpPr>
        <p:spPr>
          <a:xfrm>
            <a:off x="9628632" y="318211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已過期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555480" y="3547872"/>
            <a:ext cx="1691640" cy="292608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 txBox="1"/>
          <p:nvPr/>
        </p:nvSpPr>
        <p:spPr>
          <a:xfrm>
            <a:off x="9628632" y="356616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仍新鮮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555480" y="3931920"/>
            <a:ext cx="1691640" cy="292608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 txBox="1"/>
          <p:nvPr/>
        </p:nvSpPr>
        <p:spPr>
          <a:xfrm>
            <a:off x="9628632" y="395020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ACTIVE TIME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555480" y="4315968"/>
            <a:ext cx="1691640" cy="292608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 txBox="1"/>
          <p:nvPr/>
        </p:nvSpPr>
        <p:spPr>
          <a:xfrm>
            <a:off x="9628632" y="433425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 / EE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354312" y="4882896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基準 → 初版 → 修訂一次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30352" y="5376672"/>
            <a:ext cx="6812280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713232" y="5513832"/>
            <a:ext cx="1417320" cy="283464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 txBox="1"/>
          <p:nvPr/>
        </p:nvSpPr>
        <p:spPr>
          <a:xfrm>
            <a:off x="786384" y="55321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能源／競賽意義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2286000" y="5477256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節能不是把資料送得最少或最多；必須在能源邊界內同時守住警報、期限與新鮮度。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7516368" y="5376672"/>
            <a:ext cx="4142232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7699248" y="5513832"/>
            <a:ext cx="1207008" cy="283464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 txBox="1"/>
          <p:nvPr/>
        </p:nvSpPr>
        <p:spPr>
          <a:xfrm>
            <a:off x="7772400" y="5532120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復原／狀態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8997696" y="54681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重設任務板；逐步提示緊急度、active time 或服務價值。</a:t>
            </a:r>
            <a:endParaRPr lang="en-US" sz="1450" dirty="0"/>
          </a:p>
        </p:txBody>
      </p:sp>
      <p:sp>
        <p:nvSpPr>
          <p:cNvPr id="57" name="Text 55"/>
          <p:cNvSpPr txBox="1"/>
          <p:nvPr/>
        </p:nvSpPr>
        <p:spPr>
          <a:xfrm>
            <a:off x="8997696" y="58704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C-90 核心已接受｜任務板 runtime 未驗證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502920" y="65288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0｜架構總覽，非完整教學頁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818120" y="6464808"/>
            <a:ext cx="3063240" cy="237744"/>
          </a:xfrm>
          <a:prstGeom prst="roundRect">
            <a:avLst/>
          </a:prstGeom>
          <a:solidFill>
            <a:srgbClr val="E8E3DA"/>
          </a:solidFill>
          <a:ln w="12700">
            <a:solidFill>
              <a:srgbClr val="E8E3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 txBox="1"/>
          <p:nvPr/>
        </p:nvSpPr>
        <p:spPr>
          <a:xfrm>
            <a:off x="7936992" y="64876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模擬教學｜非即時｜非量測｜未驗證 parity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33272" cy="310896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85216" y="40233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STAGE 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43032" y="384048"/>
            <a:ext cx="11430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10616184" y="402336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102–114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0784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競賽轉移｜從機制到可否證構想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28B8C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核心問題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859536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哪一個課中機制，可以變成智慧節能或 IoT 的競賽方向？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12064" y="1399032"/>
            <a:ext cx="7973568" cy="256032"/>
          </a:xfrm>
          <a:prstGeom prst="roundRect">
            <a:avLst/>
          </a:prstGeom>
          <a:solidFill>
            <a:srgbClr val="EBE6DC"/>
          </a:solidFill>
          <a:ln w="12700">
            <a:solidFill>
              <a:srgbClr val="EBE6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431036"/>
            <a:ext cx="7699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kern="0" spc="35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QUESTION  →  LEARNER ACTION  →  OBSERVABLE RESULT  →  MEANING  →  RECOVERY / STATUS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40080" y="1965960"/>
            <a:ext cx="2057400" cy="8229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95528" y="2212848"/>
            <a:ext cx="502920" cy="274320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2231136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21214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功率／時間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2926080" y="1965960"/>
            <a:ext cx="2057400" cy="8229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A6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081528" y="2212848"/>
            <a:ext cx="502920" cy="274320"/>
          </a:xfrm>
          <a:prstGeom prst="round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3154680" y="2231136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21608" y="21214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狀態趨勢／切換時機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212080" y="1965960"/>
            <a:ext cx="2057400" cy="8229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4EA9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5367528" y="2212848"/>
            <a:ext cx="502920" cy="274320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5440680" y="2231136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IoT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07608" y="21214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優先／批次／新鮮度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543800" y="2386584"/>
            <a:ext cx="685800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8412480" y="1874520"/>
            <a:ext cx="3182112" cy="100584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05088" y="2084832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一張可否證的構想卡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750808" y="248716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CE9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不是「加上 AI」四個字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154680"/>
            <a:ext cx="5285232" cy="768096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8B8C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841248" y="3300984"/>
            <a:ext cx="438912" cy="438912"/>
          </a:xfrm>
          <a:prstGeom prst="ellipse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886968" y="33924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444752" y="3282696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 ＋ 預測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32552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感測什麼？要分析或預測哪個狀態？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99632" y="3154680"/>
            <a:ext cx="5285232" cy="768096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A6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400800" y="3300984"/>
            <a:ext cx="438912" cy="438912"/>
          </a:xfrm>
          <a:prstGeom prst="ellipse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6446520" y="33924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004304" y="3282696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基準 ＋ 控制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988552" y="32552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原本怎麼做？改變哪個機制？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40080" y="4114800"/>
            <a:ext cx="5285232" cy="768096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841248" y="4261104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 txBox="1"/>
          <p:nvPr/>
        </p:nvSpPr>
        <p:spPr>
          <a:xfrm>
            <a:off x="886968" y="43525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444752" y="4242816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功率／時間 ＋ 能源邊界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3429000" y="4215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預期如何影響 W、時間或 J？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199632" y="4114800"/>
            <a:ext cx="5285232" cy="768096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4EA9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6400800" y="4261104"/>
            <a:ext cx="438912" cy="438912"/>
          </a:xfrm>
          <a:prstGeom prst="ellipse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 txBox="1"/>
          <p:nvPr/>
        </p:nvSpPr>
        <p:spPr>
          <a:xfrm>
            <a:off x="6446520" y="43525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004304" y="4242816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服務限制 ＋ 可推翻證據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8988552" y="4215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什麼結果會證明「沒有省」？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530352" y="5376672"/>
            <a:ext cx="6812280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713232" y="5513832"/>
            <a:ext cx="1417320" cy="283464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 txBox="1"/>
          <p:nvPr/>
        </p:nvSpPr>
        <p:spPr>
          <a:xfrm>
            <a:off x="786384" y="55321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能源／競賽意義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2286000" y="5477256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把衛星的「機制與取捨」帶走，不把衛星數值或公式硬套到 HVAC、edge AI 或其他 IoT 題目。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7516368" y="5376672"/>
            <a:ext cx="4142232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7699248" y="5513832"/>
            <a:ext cx="1207008" cy="283464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 txBox="1"/>
          <p:nvPr/>
        </p:nvSpPr>
        <p:spPr>
          <a:xfrm>
            <a:off x="7772400" y="5532120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復原／狀態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8997696" y="54681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缺哪一欄，就只問那一欄；不提供罐頭答案。</a:t>
            </a:r>
            <a:endParaRPr lang="en-US" sz="1450" dirty="0"/>
          </a:p>
        </p:txBody>
      </p:sp>
      <p:sp>
        <p:nvSpPr>
          <p:cNvPr id="55" name="Text 53"/>
          <p:cNvSpPr txBox="1"/>
          <p:nvPr/>
        </p:nvSpPr>
        <p:spPr>
          <a:xfrm>
            <a:off x="8997696" y="58704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核心成果已接受｜構想品質仍待學員驗證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502920" y="65288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0｜架構總覽，非完整教學頁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818120" y="6464808"/>
            <a:ext cx="3063240" cy="237744"/>
          </a:xfrm>
          <a:prstGeom prst="roundRect">
            <a:avLst/>
          </a:prstGeom>
          <a:solidFill>
            <a:srgbClr val="E8E3DA"/>
          </a:solidFill>
          <a:ln w="12700">
            <a:solidFill>
              <a:srgbClr val="E8E3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7"/>
          <p:cNvSpPr txBox="1"/>
          <p:nvPr/>
        </p:nvSpPr>
        <p:spPr>
          <a:xfrm>
            <a:off x="7936992" y="64876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模擬教學｜非即時｜非量測｜未驗證 parity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33272" cy="310896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85216" y="40233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STAGE 7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43032" y="384048"/>
            <a:ext cx="11430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10616184" y="402336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114–120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0784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提取、自學、匯出與硬緩衝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9B79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核心問題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859536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離開投影片後，能不能自己重建三條能源因果鏈？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12064" y="1399032"/>
            <a:ext cx="7973568" cy="256032"/>
          </a:xfrm>
          <a:prstGeom prst="roundRect">
            <a:avLst/>
          </a:prstGeom>
          <a:solidFill>
            <a:srgbClr val="EBE6DC"/>
          </a:solidFill>
          <a:ln w="12700">
            <a:solidFill>
              <a:srgbClr val="EBE6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431036"/>
            <a:ext cx="7699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kern="0" spc="35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QUESTION  →  LEARNER ACTION  →  OBSERVABLE RESULT  →  MEANING  →  RECOVERY / STATUS</a:t>
            </a:r>
            <a:endParaRPr lang="en-US" sz="107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883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不用投影片，回答三題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" y="2231136"/>
            <a:ext cx="2523744" cy="1225296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244144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850392" y="25420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80744" y="2395728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為何低功率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未必降低總能源？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28416" y="2231136"/>
            <a:ext cx="2523744" cy="1225296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A6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511296" y="2441448"/>
            <a:ext cx="438912" cy="438912"/>
          </a:xfrm>
          <a:prstGeom prst="ellipse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3557016" y="25420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087368" y="2395728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為何早換／少換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未必改善服務與能源？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5040" y="2231136"/>
            <a:ext cx="2523744" cy="1225296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4EA9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438912" cy="438912"/>
          </a:xfrm>
          <a:prstGeom prst="ellipse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6263640" y="25420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93992" y="2395728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你的競賽構想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靠哪個資料、控制與限制？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59952" y="2825496"/>
            <a:ext cx="475488" cy="0"/>
          </a:xfrm>
          <a:prstGeom prst="line">
            <a:avLst/>
          </a:prstGeom>
          <a:noFill/>
          <a:ln w="26670">
            <a:solidFill>
              <a:srgbClr val="9B79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2057400"/>
            <a:ext cx="2194560" cy="257860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9811512" y="2350008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LEARNING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BUNDLE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9802368" y="3072384"/>
            <a:ext cx="1444752" cy="31089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9893808" y="311810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802368" y="3438144"/>
            <a:ext cx="1444752" cy="310896"/>
          </a:xfrm>
          <a:prstGeom prst="rect">
            <a:avLst/>
          </a:prstGeom>
          <a:solidFill>
            <a:srgbClr val="EA6A5A"/>
          </a:solidFill>
          <a:ln w="12700">
            <a:solidFill>
              <a:srgbClr val="EA6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9893808" y="34838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802368" y="3803904"/>
            <a:ext cx="1444752" cy="310896"/>
          </a:xfrm>
          <a:prstGeom prst="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9893808" y="384962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IoT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802368" y="4169664"/>
            <a:ext cx="1444752" cy="310896"/>
          </a:xfrm>
          <a:prstGeom prst="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9893808" y="421538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" y="3822192"/>
            <a:ext cx="5394960" cy="1243584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9B79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859536" y="4041648"/>
            <a:ext cx="1261872" cy="283464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 txBox="1"/>
          <p:nvPr/>
        </p:nvSpPr>
        <p:spPr>
          <a:xfrm>
            <a:off x="932688" y="405993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課後自學循環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77824" y="4471416"/>
            <a:ext cx="4828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預測 → 選策略 → 看服務／時間／能源 → 修訂一次 → 解釋 → 轉移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199632" y="3822192"/>
            <a:ext cx="2395728" cy="1243584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6437376" y="4041648"/>
            <a:ext cx="1078992" cy="283464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 txBox="1"/>
          <p:nvPr/>
        </p:nvSpPr>
        <p:spPr>
          <a:xfrm>
            <a:off x="6510528" y="4059936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可觀察結果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547104" y="445312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三個白話回答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＋ 一個可讀 bundle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796528" y="4800600"/>
            <a:ext cx="2816352" cy="420624"/>
          </a:xfrm>
          <a:prstGeom prst="roundRect">
            <a:avLst/>
          </a:prstGeom>
          <a:solidFill>
            <a:srgbClr val="E6DAF6"/>
          </a:solidFill>
          <a:ln w="12700">
            <a:solidFill>
              <a:srgbClr val="9B79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 txBox="1"/>
          <p:nvPr/>
        </p:nvSpPr>
        <p:spPr>
          <a:xfrm>
            <a:off x="8942832" y="488289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最後 2 分鐘：硬緩衝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30352" y="5376672"/>
            <a:ext cx="6812280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713232" y="5513832"/>
            <a:ext cx="1417320" cy="283464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 txBox="1"/>
          <p:nvPr/>
        </p:nvSpPr>
        <p:spPr>
          <a:xfrm>
            <a:off x="786384" y="55321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能源／競賽意義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2286000" y="5477256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成功匯出不是理解證據；能在無提示下重建取捨、並知道什麼會推翻節能主張，才是可轉移成果。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7516368" y="5376672"/>
            <a:ext cx="4142232" cy="941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7699248" y="5513832"/>
            <a:ext cx="1207008" cy="283464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 txBox="1"/>
          <p:nvPr/>
        </p:nvSpPr>
        <p:spPr>
          <a:xfrm>
            <a:off x="7772400" y="5532120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復原／狀態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997696" y="54681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2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沿用各段 reset／replay；未用完緩衝才作可選回播。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8997696" y="58704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C-90 核心已接受｜bundle／retention 尚未驗證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65288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0｜架構總覽，非完整教學頁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818120" y="6464808"/>
            <a:ext cx="3063240" cy="237744"/>
          </a:xfrm>
          <a:prstGeom prst="roundRect">
            <a:avLst/>
          </a:prstGeom>
          <a:solidFill>
            <a:srgbClr val="E8E3DA"/>
          </a:solidFill>
          <a:ln w="12700">
            <a:solidFill>
              <a:srgbClr val="E8E3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 txBox="1"/>
          <p:nvPr/>
        </p:nvSpPr>
        <p:spPr>
          <a:xfrm>
            <a:off x="7936992" y="64876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070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模擬教學｜非即時｜非量測｜未驗證 parity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</Words>
  <Application>Microsoft Office PowerPoint</Application>
  <PresentationFormat>寬螢幕</PresentationFormat>
  <Paragraphs>300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Noto Sans TC</vt:lpstr>
      <vt:lpstr>Aptos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leo-satcom-lab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軌跡會變，節能判斷也要會變｜Phase 0</dc:title>
  <dc:subject>NTPU LEO energy-saving course, 120-minute capacity checkpoint</dc:subject>
  <dc:creator>OpenAI Codex — Phase 0 presentation architecture</dc:creator>
  <cp:lastModifiedBy>柏宏 吳</cp:lastModifiedBy>
  <cp:revision>2</cp:revision>
  <dcterms:created xsi:type="dcterms:W3CDTF">2026-08-09T08:27:05Z</dcterms:created>
  <dcterms:modified xsi:type="dcterms:W3CDTF">2026-08-09T09:23:06Z</dcterms:modified>
</cp:coreProperties>
</file>